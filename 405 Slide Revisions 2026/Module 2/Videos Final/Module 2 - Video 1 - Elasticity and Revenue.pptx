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0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CE759D-A173-45ED-B48A-26B5D0853028}"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3D31B-DD57-42B7-9C93-DCA493AC4DBB}" type="slidenum">
              <a:rPr lang="en-US" smtClean="0"/>
              <a:t>‹#›</a:t>
            </a:fld>
            <a:endParaRPr lang="en-US"/>
          </a:p>
        </p:txBody>
      </p:sp>
    </p:spTree>
    <p:extLst>
      <p:ext uri="{BB962C8B-B14F-4D97-AF65-F5344CB8AC3E}">
        <p14:creationId xmlns:p14="http://schemas.microsoft.com/office/powerpoint/2010/main" val="179189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endParaRPr/>
          </a:p>
          <a:p>
            <a:r>
              <a:t>When you lower your price and move down the demand curve, there are two effects on revenues: 1) a positive effect from more quantity sold and 2) a negative effect from a lower price per unit. Which area is bigger? It depends on the elasticity of demand.</a:t>
            </a:r>
          </a:p>
          <a:p>
            <a:r>
              <a:t> </a:t>
            </a:r>
          </a:p>
          <a:p>
            <a:r>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t> </a:t>
            </a:r>
          </a:p>
          <a:p>
            <a:r>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t> </a:t>
            </a:r>
          </a:p>
          <a:p>
            <a:r>
              <a:t>Does that mean that profits are maximized when E_d=-1? No. When E_d=-1, revenues are maximized. Marginal revenue is zero. That is not the same as MR=MC. Only when MR=MC are profits maximized. Usually, this is when E_d&lt;-1, i.e. in the elastic zone of the demand curve, where MR is positive and allows you to cover marginal cost. You only want to stop at MR=0 (E_d=-1) if MC=0.</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endParaRPr/>
          </a:p>
          <a:p>
            <a:r>
              <a:t>When you lower your price and move down the demand curve, there are two effects on revenues: 1) a positive effect from more quantity sold and 2) a negative effect from a lower price per unit. Which area is bigger? It depends on the elasticity of demand.</a:t>
            </a:r>
          </a:p>
          <a:p>
            <a:r>
              <a:t> </a:t>
            </a:r>
          </a:p>
          <a:p>
            <a:r>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t> </a:t>
            </a:r>
          </a:p>
          <a:p>
            <a:r>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t> </a:t>
            </a:r>
          </a:p>
          <a:p>
            <a:r>
              <a:t>Does that mean that profits are maximized when E_d=-1? No. When E_d=-1, revenues are maximized. Marginal revenue is zero. That is not the same as MR=MC. Only when MR=MC are profits maximized. Usually, this is when E_d&lt;-1, i.e. in the elastic zone of the demand curve, where MR is positive and allows you to cover marginal cost. You only want to stop at MR=0 (E_d=-1) if MC=0.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endParaRPr dirty="0"/>
          </a:p>
          <a:p>
            <a:r>
              <a:rPr dirty="0"/>
              <a:t>When you lower your price and move down the demand curve, there are two effects on revenues: 1) a positive effect from more quantity sold and 2) a negative effect from a lower price per unit. Which area is bigger? It depends on the elasticity of demand.</a:t>
            </a:r>
            <a:endParaRPr lang="en-US" dirty="0"/>
          </a:p>
          <a:p>
            <a:endParaRPr lang="en-US" dirty="0"/>
          </a:p>
          <a:p>
            <a:r>
              <a:rPr lang="en-US" dirty="0"/>
              <a:t>This is a powerful idea! If you know whether your demand is elastic or inelastic, you can predict whether revenues will rise of fall when you reduce prices (or vice-versa when you raise prices)</a:t>
            </a:r>
            <a:endParaRPr dirty="0"/>
          </a:p>
          <a:p>
            <a:r>
              <a:rPr dirty="0"/>
              <a:t> </a:t>
            </a:r>
          </a:p>
          <a:p>
            <a:r>
              <a:rPr dirty="0"/>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rPr dirty="0"/>
              <a:t> </a:t>
            </a:r>
          </a:p>
          <a:p>
            <a:r>
              <a:rPr dirty="0"/>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rPr dirty="0"/>
              <a:t> </a:t>
            </a:r>
          </a:p>
          <a:p>
            <a:r>
              <a:rPr dirty="0"/>
              <a:t>Does that mean that profits are maximized when </a:t>
            </a:r>
            <a:r>
              <a:rPr dirty="0" err="1"/>
              <a:t>E_d</a:t>
            </a:r>
            <a:r>
              <a:rPr dirty="0"/>
              <a:t>=-1? No. When </a:t>
            </a:r>
            <a:r>
              <a:rPr dirty="0" err="1"/>
              <a:t>E_d</a:t>
            </a:r>
            <a:r>
              <a:rPr dirty="0"/>
              <a:t>=-1, revenues are maximized. Marginal revenue is zero. That is not the same as MR=MC. Only when MR=MC are profits maximized. Usually, this is when </a:t>
            </a:r>
            <a:r>
              <a:rPr dirty="0" err="1"/>
              <a:t>E_d</a:t>
            </a:r>
            <a:r>
              <a:rPr dirty="0"/>
              <a:t>&lt;-1, i.e. in the elastic zone of the demand curve, where MR is positive and allows you to cover marginal cost. You only want to stop at MR=0 (</a:t>
            </a:r>
            <a:r>
              <a:rPr dirty="0" err="1"/>
              <a:t>E_d</a:t>
            </a:r>
            <a:r>
              <a:rPr dirty="0"/>
              <a:t>=-1) if MC=0.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current example, from early 2026: under a deal with the White House, Novo Nordisk cut the U.S. self-pay price of Ozempic and Wegovy from $499 to $349 a month. The company then guided 2026 sales revenues down by 5 to 13%. Ask yourself what a price cut that REDUCES revenue tells you about the elasticity of demand.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step further: profit is revenue minus costs. The price cut reduced revenue, and because quantity sold rises, production costs rise too — so profits fall on both ends. The market agreed: when Novo Nordisk warned in February 2026 that lower U.S. prices would push 2026 sales and operating profit down 5 to 13%, its shares tumbled about 18%.</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live example from 2025: McDonald's and its U.S. franchisees agreed to cut combo-meal prices by about 15% relative to buying the items separately, and extended the value menu in 2026. Notable detail for the franchisee question: McDonald's set aside roughly $35 million to compensate operators hit by the lower prices — side payments to align incentives across locations with different demand elasticities.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www.pharmaceutical-technology.com/news/trump-hits-long-term-pledge-as-us-prices-of-weight-loss-drugs-slash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pharmaceutical-technology.com/news/novo-nordisk-shares-tumble-18-after-2026-sales-dip-warning/"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923330"/>
          </a:xfrm>
          <a:prstGeom prst="rect">
            <a:avLst/>
          </a:prstGeom>
          <a:noFill/>
        </p:spPr>
        <p:txBody>
          <a:bodyPr wrap="square" lIns="0" tIns="0" rIns="0" bIns="0">
            <a:spAutoFit/>
          </a:bodyPr>
          <a:lstStyle/>
          <a:p>
            <a:pPr algn="ctr"/>
            <a:r>
              <a:rPr lang="en-US" sz="6000" b="1" i="0" u="none" dirty="0">
                <a:solidFill>
                  <a:srgbClr val="0B2B4E"/>
                </a:solidFill>
                <a:latin typeface="Calibri"/>
              </a:rPr>
              <a:t>Elasticity</a:t>
            </a:r>
            <a:r>
              <a:rPr sz="6000" b="1" i="0" u="none" dirty="0">
                <a:solidFill>
                  <a:srgbClr val="0B2B4E"/>
                </a:solidFill>
                <a:latin typeface="Calibri"/>
              </a:rPr>
              <a:t> and Revenue</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2  ·  Video 1</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Outline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580108"/>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BFBFBF"/>
                </a:solidFill>
                <a:latin typeface="Calibri"/>
              </a:rPr>
              <a:t>The </a:t>
            </a:r>
            <a:r>
              <a:rPr lang="en-US" sz="2500" b="1" dirty="0">
                <a:solidFill>
                  <a:srgbClr val="BFBFBF"/>
                </a:solidFill>
                <a:latin typeface="Calibri"/>
              </a:rPr>
              <a:t>L</a:t>
            </a:r>
            <a:r>
              <a:rPr sz="2500" b="1" dirty="0">
                <a:solidFill>
                  <a:srgbClr val="BFBFBF"/>
                </a:solidFill>
                <a:latin typeface="Calibri"/>
              </a:rPr>
              <a:t>aw of </a:t>
            </a:r>
            <a:r>
              <a:rPr lang="en-US" sz="2500" b="1" dirty="0">
                <a:solidFill>
                  <a:srgbClr val="BFBFBF"/>
                </a:solidFill>
                <a:latin typeface="Calibri"/>
              </a:rPr>
              <a:t>D</a:t>
            </a:r>
            <a:r>
              <a:rPr sz="2500" b="1" dirty="0">
                <a:solidFill>
                  <a:srgbClr val="BFBFBF"/>
                </a:solidFill>
                <a:latin typeface="Calibri"/>
              </a:rPr>
              <a:t>emand</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0" name="TextBox 9"/>
          <p:cNvSpPr txBox="1"/>
          <p:nvPr/>
        </p:nvSpPr>
        <p:spPr>
          <a:xfrm>
            <a:off x="1874519" y="241221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Elasticities</a:t>
            </a:r>
          </a:p>
        </p:txBody>
      </p:sp>
      <p:sp>
        <p:nvSpPr>
          <p:cNvPr id="11" name="Rounded Rectangle 10"/>
          <p:cNvSpPr/>
          <p:nvPr/>
        </p:nvSpPr>
        <p:spPr>
          <a:xfrm>
            <a:off x="822960" y="3104388"/>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3" name="TextBox 12"/>
          <p:cNvSpPr txBox="1"/>
          <p:nvPr/>
        </p:nvSpPr>
        <p:spPr>
          <a:xfrm>
            <a:off x="1874519" y="315925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0B2B4E"/>
                </a:solidFill>
                <a:latin typeface="Calibri"/>
              </a:rPr>
              <a:t>Demand and </a:t>
            </a:r>
            <a:r>
              <a:rPr lang="en-US" sz="2500" b="1" dirty="0">
                <a:solidFill>
                  <a:srgbClr val="0B2B4E"/>
                </a:solidFill>
                <a:latin typeface="Calibri"/>
              </a:rPr>
              <a:t>R</a:t>
            </a:r>
            <a:r>
              <a:rPr sz="2500" b="1" dirty="0">
                <a:solidFill>
                  <a:srgbClr val="0B2B4E"/>
                </a:solidFill>
                <a:latin typeface="Calibri"/>
              </a:rPr>
              <a:t>evenue</a:t>
            </a:r>
          </a:p>
          <a:p>
            <a:pPr algn="l">
              <a:spcBef>
                <a:spcPts val="0"/>
              </a:spcBef>
              <a:buNone/>
            </a:pPr>
            <a:r>
              <a:rPr sz="2200" dirty="0">
                <a:solidFill>
                  <a:srgbClr val="555B66"/>
                </a:solidFill>
                <a:latin typeface="Calibri"/>
              </a:rPr>
              <a:t>How the demand curve translates into total revenue</a:t>
            </a:r>
          </a:p>
        </p:txBody>
      </p:sp>
      <p:sp>
        <p:nvSpPr>
          <p:cNvPr id="14" name="Rounded Rectangle 13"/>
          <p:cNvSpPr/>
          <p:nvPr/>
        </p:nvSpPr>
        <p:spPr>
          <a:xfrm>
            <a:off x="1252728" y="3936492"/>
            <a:ext cx="10680192"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0B2B4E"/>
                </a:solidFill>
                <a:latin typeface="Calibri"/>
              </a:rPr>
              <a:t>3a</a:t>
            </a:r>
          </a:p>
        </p:txBody>
      </p:sp>
      <p:sp>
        <p:nvSpPr>
          <p:cNvPr id="16" name="TextBox 15"/>
          <p:cNvSpPr txBox="1"/>
          <p:nvPr/>
        </p:nvSpPr>
        <p:spPr>
          <a:xfrm>
            <a:off x="2084831" y="3991356"/>
            <a:ext cx="10058400" cy="677108"/>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dirty="0">
                <a:solidFill>
                  <a:srgbClr val="0B2B4E"/>
                </a:solidFill>
                <a:latin typeface="Calibri"/>
              </a:rPr>
              <a:t>Elasticity and </a:t>
            </a:r>
            <a:r>
              <a:rPr lang="en-US" sz="2200" b="1" dirty="0">
                <a:solidFill>
                  <a:srgbClr val="0B2B4E"/>
                </a:solidFill>
                <a:latin typeface="Calibri"/>
              </a:rPr>
              <a:t>R</a:t>
            </a:r>
            <a:r>
              <a:rPr sz="2200" b="1" dirty="0">
                <a:solidFill>
                  <a:srgbClr val="0B2B4E"/>
                </a:solidFill>
                <a:latin typeface="Calibri"/>
              </a:rPr>
              <a:t>evenue</a:t>
            </a:r>
          </a:p>
          <a:p>
            <a:pPr algn="l">
              <a:spcBef>
                <a:spcPts val="0"/>
              </a:spcBef>
              <a:buNone/>
            </a:pPr>
            <a:r>
              <a:rPr sz="2200" dirty="0">
                <a:solidFill>
                  <a:srgbClr val="555B66"/>
                </a:solidFill>
                <a:latin typeface="Calibri"/>
              </a:rPr>
              <a:t>When a price increase raises revenue – and when it backfires</a:t>
            </a:r>
          </a:p>
        </p:txBody>
      </p:sp>
      <p:sp>
        <p:nvSpPr>
          <p:cNvPr id="17" name="Oval 16"/>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BFBFBF"/>
                </a:solidFill>
                <a:latin typeface="Calibri"/>
              </a:rPr>
              <a:t>3b</a:t>
            </a:r>
          </a:p>
        </p:txBody>
      </p:sp>
      <p:sp>
        <p:nvSpPr>
          <p:cNvPr id="18" name="TextBox 17"/>
          <p:cNvSpPr txBox="1"/>
          <p:nvPr/>
        </p:nvSpPr>
        <p:spPr>
          <a:xfrm>
            <a:off x="2084831" y="4908524"/>
            <a:ext cx="10058400" cy="338554"/>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dirty="0">
                <a:solidFill>
                  <a:srgbClr val="BFBFBF"/>
                </a:solidFill>
                <a:latin typeface="Calibri"/>
              </a:rPr>
              <a:t>Marginal </a:t>
            </a:r>
            <a:r>
              <a:rPr lang="en-US" sz="2200" b="1" dirty="0">
                <a:solidFill>
                  <a:srgbClr val="BFBFBF"/>
                </a:solidFill>
                <a:latin typeface="Calibri"/>
              </a:rPr>
              <a:t>R</a:t>
            </a:r>
            <a:r>
              <a:rPr sz="2200" b="1" dirty="0">
                <a:solidFill>
                  <a:srgbClr val="BFBFBF"/>
                </a:solidFill>
                <a:latin typeface="Calibri"/>
              </a:rPr>
              <a:t>evenue</a:t>
            </a:r>
          </a:p>
        </p:txBody>
      </p:sp>
      <p:sp>
        <p:nvSpPr>
          <p:cNvPr id="19" name="Oval 18"/>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0" name="TextBox 19"/>
          <p:cNvSpPr txBox="1"/>
          <p:nvPr/>
        </p:nvSpPr>
        <p:spPr>
          <a:xfrm>
            <a:off x="1874519" y="5740628"/>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BFBFBF"/>
                </a:solidFill>
                <a:latin typeface="Calibri"/>
              </a:rPr>
              <a:t>Demand </a:t>
            </a:r>
            <a:r>
              <a:rPr lang="en-US" sz="2500" b="1" dirty="0">
                <a:solidFill>
                  <a:srgbClr val="BFBFBF"/>
                </a:solidFill>
                <a:latin typeface="Calibri"/>
              </a:rPr>
              <a:t>E</a:t>
            </a:r>
            <a:r>
              <a:rPr sz="2500" b="1" dirty="0">
                <a:solidFill>
                  <a:srgbClr val="BFBFBF"/>
                </a:solidFill>
                <a:latin typeface="Calibri"/>
              </a:rPr>
              <a:t>stimation</a:t>
            </a: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4" name="TextBox 23"/>
          <p:cNvSpPr txBox="1"/>
          <p:nvPr/>
        </p:nvSpPr>
        <p:spPr>
          <a:xfrm>
            <a:off x="11475720" y="6583680"/>
            <a:ext cx="502920" cy="292608"/>
          </a:xfrm>
          <a:prstGeom prst="rect">
            <a:avLst/>
          </a:prstGeom>
          <a:noFill/>
        </p:spPr>
        <p:txBody>
          <a:bodyPr wrap="none" lIns="0" tIns="0" rIns="0" bIns="0">
            <a:spAutoFit/>
          </a:bodyPr>
          <a:lstStyle/>
          <a:p>
            <a:pPr algn="r"/>
            <a:fld id="{B87BF060-47E1-5372-A36E-4FBB75A5DA1F}" type="slidenum">
              <a:rPr lang="en-US" sz="1200" dirty="0">
                <a:solidFill>
                  <a:srgbClr val="555B66"/>
                </a:solidFill>
                <a:latin typeface="Calibri"/>
              </a:rPr>
              <a:t>2</a:t>
            </a:fld>
            <a:endParaRPr lang="en-US" sz="1200" dirty="0">
              <a:solidFill>
                <a:srgbClr val="555B66"/>
              </a:solidFill>
              <a:latin typeface="Calibri"/>
            </a:endParaRPr>
          </a:p>
        </p:txBody>
      </p:sp>
      <p:sp>
        <p:nvSpPr>
          <p:cNvPr id="25" name="Rounded Rectangle 24"/>
          <p:cNvSpPr/>
          <p:nvPr/>
        </p:nvSpPr>
        <p:spPr>
          <a:xfrm>
            <a:off x="7498079" y="5735116"/>
            <a:ext cx="4480560" cy="658368"/>
          </a:xfrm>
          <a:prstGeom prst="roundRect">
            <a:avLst>
              <a:gd name="adj" fmla="val 20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B2B4E"/>
                </a:solidFill>
                <a:latin typeface="Calibri"/>
              </a:rPr>
              <a:t>▶  Teaching Note – Demand Elasticity and Total Revenue
On BL under “Module 2 Post-Work”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Plotting the (Inverse)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5870448"/>
            <a:ext cx="11064240" cy="353943"/>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buNone/>
            </a:pPr>
            <a:r>
              <a:rPr sz="2300" i="1" dirty="0">
                <a:solidFill>
                  <a:srgbClr val="555B66"/>
                </a:solidFill>
                <a:latin typeface="Calibri"/>
              </a:rPr>
              <a:t>Note: this is the </a:t>
            </a:r>
            <a:r>
              <a:rPr lang="en-US" sz="2300" i="1" dirty="0">
                <a:solidFill>
                  <a:srgbClr val="555B66"/>
                </a:solidFill>
                <a:latin typeface="Calibri"/>
              </a:rPr>
              <a:t>(inverse) </a:t>
            </a:r>
            <a:r>
              <a:rPr sz="2300" i="1" dirty="0">
                <a:solidFill>
                  <a:srgbClr val="555B66"/>
                </a:solidFill>
                <a:latin typeface="Calibri"/>
              </a:rPr>
              <a:t>demand function</a:t>
            </a:r>
            <a:r>
              <a:rPr lang="en-US" sz="2300" i="1" dirty="0">
                <a:solidFill>
                  <a:srgbClr val="555B66"/>
                </a:solidFill>
                <a:latin typeface="Calibri"/>
              </a:rPr>
              <a:t> that</a:t>
            </a:r>
            <a:r>
              <a:rPr sz="2300" i="1" dirty="0">
                <a:solidFill>
                  <a:srgbClr val="555B66"/>
                </a:solidFill>
                <a:latin typeface="Calibri"/>
              </a:rPr>
              <a:t> a single </a:t>
            </a:r>
            <a:r>
              <a:rPr sz="2300" b="1" i="1" dirty="0">
                <a:solidFill>
                  <a:srgbClr val="0B2B4E"/>
                </a:solidFill>
                <a:latin typeface="Calibri"/>
              </a:rPr>
              <a:t>firm</a:t>
            </a:r>
            <a:r>
              <a:rPr sz="2300" i="1" dirty="0">
                <a:solidFill>
                  <a:srgbClr val="555B66"/>
                </a:solidFill>
                <a:latin typeface="Calibri"/>
              </a:rPr>
              <a:t> faces</a:t>
            </a:r>
          </a:p>
        </p:txBody>
      </p:sp>
      <p:cxnSp>
        <p:nvCxnSpPr>
          <p:cNvPr id="8" name="Connector 7"/>
          <p:cNvCxnSpPr/>
          <p:nvPr/>
        </p:nvCxnSpPr>
        <p:spPr>
          <a:xfrm flipV="1">
            <a:off x="1005840" y="1545336"/>
            <a:ext cx="0" cy="3803904"/>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05840" y="5349240"/>
            <a:ext cx="59253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4088" y="1344168"/>
            <a:ext cx="603504" cy="310896"/>
          </a:xfrm>
          <a:prstGeom prst="rect">
            <a:avLst/>
          </a:prstGeom>
          <a:noFill/>
        </p:spPr>
        <p:txBody>
          <a:bodyPr wrap="square" lIns="0" tIns="0" rIns="0" bIns="0">
            <a:spAutoFit/>
          </a:bodyPr>
          <a:lstStyle/>
          <a:p>
            <a:pPr algn="l"/>
            <a:r>
              <a:rPr sz="1900" b="1" i="1" u="none">
                <a:solidFill>
                  <a:srgbClr val="0B2B4E"/>
                </a:solidFill>
                <a:latin typeface="Calibri"/>
              </a:rPr>
              <a:t>P</a:t>
            </a:r>
          </a:p>
        </p:txBody>
      </p:sp>
      <p:sp>
        <p:nvSpPr>
          <p:cNvPr id="11" name="TextBox 10"/>
          <p:cNvSpPr txBox="1"/>
          <p:nvPr/>
        </p:nvSpPr>
        <p:spPr>
          <a:xfrm>
            <a:off x="6464808" y="5440680"/>
            <a:ext cx="603504" cy="292608"/>
          </a:xfrm>
          <a:prstGeom prst="rect">
            <a:avLst/>
          </a:prstGeom>
          <a:noFill/>
        </p:spPr>
        <p:txBody>
          <a:bodyPr wrap="square" lIns="0" tIns="0" rIns="0" bIns="0">
            <a:spAutoFit/>
          </a:bodyPr>
          <a:lstStyle/>
          <a:p>
            <a:pPr algn="l"/>
            <a:r>
              <a:rPr sz="1900" b="1" i="1" u="none">
                <a:solidFill>
                  <a:srgbClr val="0B2B4E"/>
                </a:solidFill>
                <a:latin typeface="Calibri"/>
              </a:rPr>
              <a:t>Q</a:t>
            </a:r>
          </a:p>
        </p:txBody>
      </p:sp>
      <p:grpSp>
        <p:nvGrpSpPr>
          <p:cNvPr id="22" name="Group 21">
            <a:extLst>
              <a:ext uri="{FF2B5EF4-FFF2-40B4-BE49-F238E27FC236}">
                <a16:creationId xmlns:a16="http://schemas.microsoft.com/office/drawing/2014/main" id="{7513C213-6E74-D37D-C110-2C0AFEAF4B97}"/>
              </a:ext>
            </a:extLst>
          </p:cNvPr>
          <p:cNvGrpSpPr/>
          <p:nvPr/>
        </p:nvGrpSpPr>
        <p:grpSpPr>
          <a:xfrm>
            <a:off x="27432" y="2264236"/>
            <a:ext cx="7315200" cy="3414188"/>
            <a:chOff x="27432" y="2767156"/>
            <a:chExt cx="7315200" cy="3414188"/>
          </a:xfrm>
        </p:grpSpPr>
        <p:cxnSp>
          <p:nvCxnSpPr>
            <p:cNvPr id="12" name="Connector 11"/>
            <p:cNvCxnSpPr/>
            <p:nvPr/>
          </p:nvCxnSpPr>
          <p:spPr>
            <a:xfrm>
              <a:off x="1005840" y="2895172"/>
              <a:ext cx="4744750" cy="2956988"/>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 y="2767156"/>
              <a:ext cx="868680" cy="274320"/>
            </a:xfrm>
            <a:prstGeom prst="rect">
              <a:avLst/>
            </a:prstGeom>
            <a:noFill/>
          </p:spPr>
          <p:txBody>
            <a:bodyPr wrap="square" lIns="0" tIns="0" rIns="0" bIns="0">
              <a:spAutoFit/>
            </a:bodyPr>
            <a:lstStyle/>
            <a:p>
              <a:pPr algn="r"/>
              <a:r>
                <a:rPr sz="1800" b="0" i="0" u="none" dirty="0">
                  <a:solidFill>
                    <a:srgbClr val="0B2B4E"/>
                  </a:solidFill>
                  <a:latin typeface="Calibri"/>
                </a:rPr>
                <a:t>$400</a:t>
              </a:r>
            </a:p>
          </p:txBody>
        </p:sp>
        <p:sp>
          <p:nvSpPr>
            <p:cNvPr id="14" name="TextBox 13"/>
            <p:cNvSpPr txBox="1"/>
            <p:nvPr/>
          </p:nvSpPr>
          <p:spPr>
            <a:xfrm>
              <a:off x="5293390" y="5907024"/>
              <a:ext cx="914400" cy="274320"/>
            </a:xfrm>
            <a:prstGeom prst="rect">
              <a:avLst/>
            </a:prstGeom>
            <a:noFill/>
          </p:spPr>
          <p:txBody>
            <a:bodyPr wrap="square" lIns="0" tIns="0" rIns="0" bIns="0">
              <a:spAutoFit/>
            </a:bodyPr>
            <a:lstStyle/>
            <a:p>
              <a:pPr algn="ctr"/>
              <a:r>
                <a:rPr sz="1800" b="0" i="0" u="none">
                  <a:solidFill>
                    <a:srgbClr val="0B2B4E"/>
                  </a:solidFill>
                  <a:latin typeface="Calibri"/>
                </a:rPr>
                <a:t>1600</a:t>
              </a:r>
            </a:p>
          </p:txBody>
        </p:sp>
        <p:sp>
          <p:nvSpPr>
            <p:cNvPr id="15" name="TextBox 14"/>
            <p:cNvSpPr txBox="1"/>
            <p:nvPr/>
          </p:nvSpPr>
          <p:spPr>
            <a:xfrm>
              <a:off x="5879592" y="5541264"/>
              <a:ext cx="1463040" cy="310896"/>
            </a:xfrm>
            <a:prstGeom prst="rect">
              <a:avLst/>
            </a:prstGeom>
            <a:noFill/>
          </p:spPr>
          <p:txBody>
            <a:bodyPr wrap="square" lIns="0" tIns="0" rIns="0" bIns="0">
              <a:spAutoFit/>
            </a:bodyPr>
            <a:lstStyle/>
            <a:p>
              <a:pPr algn="l"/>
              <a:r>
                <a:rPr sz="2000" b="1" i="0" u="none">
                  <a:solidFill>
                    <a:srgbClr val="0B2B4E"/>
                  </a:solidFill>
                  <a:latin typeface="Calibri"/>
                </a:rPr>
                <a:t>D</a:t>
              </a:r>
            </a:p>
          </p:txBody>
        </p:sp>
      </p:grpSp>
      <p:grpSp>
        <p:nvGrpSpPr>
          <p:cNvPr id="121" name="Group pair 121"/>
          <p:cNvGrpSpPr/>
          <p:nvPr/>
        </p:nvGrpSpPr>
        <p:grpSpPr>
          <a:xfrm>
            <a:off x="7498079" y="1783080"/>
            <a:ext cx="3657600" cy="2971800"/>
            <a:chOff x="7498079" y="1783080"/>
            <a:chExt cx="3657600" cy="2971800"/>
          </a:xfrm>
        </p:grpSpPr>
        <p:sp>
          <p:nvSpPr>
            <p:cNvPr id="16" name="Rounded Rectangle 15"/>
            <p:cNvSpPr/>
            <p:nvPr/>
          </p:nvSpPr>
          <p:spPr>
            <a:xfrm>
              <a:off x="7498079" y="1783080"/>
              <a:ext cx="3657600" cy="29718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59" y="2176372"/>
              <a:ext cx="3291840" cy="2185214"/>
            </a:xfrm>
            <a:prstGeom prst="rect">
              <a:avLst/>
            </a:prstGeom>
            <a:noFill/>
          </p:spPr>
          <p:txBody>
            <a:bodyPr wrap="square" lIns="45720" tIns="0" rIns="45720" bIns="0" anchor="ctr">
              <a:spAutoFit/>
            </a:bodyPr>
            <a:lstStyle/>
            <a:p>
              <a:pPr algn="ctr"/>
              <a:r>
                <a:rPr sz="1900" b="1" i="0" u="none" dirty="0">
                  <a:solidFill>
                    <a:srgbClr val="0B2B4E"/>
                  </a:solidFill>
                  <a:latin typeface="Calibri"/>
                </a:rPr>
                <a:t>Demand function</a:t>
              </a:r>
              <a:r>
                <a:rPr sz="2200" b="0" i="1" u="none" dirty="0">
                  <a:solidFill>
                    <a:srgbClr val="0B2B4E"/>
                  </a:solidFill>
                  <a:latin typeface="Calibri"/>
                </a:rPr>
                <a:t>
Q = 1,600 − 4P</a:t>
              </a:r>
              <a:r>
                <a:rPr sz="1200" b="0" i="0" u="none" dirty="0">
                  <a:solidFill>
                    <a:srgbClr val="0B2B4E"/>
                  </a:solidFill>
                  <a:latin typeface="Calibri"/>
                </a:rPr>
                <a:t>
</a:t>
              </a:r>
              <a:r>
                <a:rPr sz="1900" b="1" i="1" u="none" dirty="0">
                  <a:solidFill>
                    <a:srgbClr val="0B2B4E"/>
                  </a:solidFill>
                  <a:latin typeface="Calibri"/>
                </a:rPr>
                <a:t>
Rearrange for P: </a:t>
              </a:r>
              <a:r>
                <a:rPr sz="1900" b="1" i="0" u="none" dirty="0">
                  <a:solidFill>
                    <a:srgbClr val="0B2B4E"/>
                  </a:solidFill>
                  <a:latin typeface="Calibri"/>
                </a:rPr>
                <a:t>
Inverse demand function</a:t>
              </a:r>
              <a:r>
                <a:rPr sz="2200" b="1" i="1" u="none" dirty="0">
                  <a:solidFill>
                    <a:srgbClr val="0B2B4E"/>
                  </a:solidFill>
                  <a:latin typeface="Calibri"/>
                </a:rPr>
                <a:t>
P = 400 − Q/4</a:t>
              </a:r>
              <a:endParaRPr lang="de-DE" sz="2200" b="1" i="1" u="none" dirty="0">
                <a:solidFill>
                  <a:srgbClr val="0B2B4E"/>
                </a:solidFill>
                <a:latin typeface="Calibri"/>
              </a:endParaRPr>
            </a:p>
            <a:p>
              <a:pPr algn="ctr"/>
              <a:r>
                <a:rPr lang="en-US" sz="1400" u="none" dirty="0">
                  <a:solidFill>
                    <a:srgbClr val="0B2B4E"/>
                  </a:solidFill>
                  <a:latin typeface="Calibri"/>
                </a:rPr>
                <a:t>[this is what we plot]</a:t>
              </a:r>
              <a:endParaRPr sz="1400" u="none" dirty="0">
                <a:solidFill>
                  <a:srgbClr val="0B2B4E"/>
                </a:solidFill>
                <a:latin typeface="Calibri"/>
              </a:endParaRPr>
            </a:p>
          </p:txBody>
        </p:sp>
      </p:gr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1" name="TextBox 20"/>
          <p:cNvSpPr txBox="1"/>
          <p:nvPr/>
        </p:nvSpPr>
        <p:spPr>
          <a:xfrm>
            <a:off x="11475720" y="6583680"/>
            <a:ext cx="502920" cy="292608"/>
          </a:xfrm>
          <a:prstGeom prst="rect">
            <a:avLst/>
          </a:prstGeom>
          <a:noFill/>
        </p:spPr>
        <p:txBody>
          <a:bodyPr wrap="none" lIns="0" tIns="0" rIns="0" bIns="0">
            <a:spAutoFit/>
          </a:bodyPr>
          <a:lstStyle/>
          <a:p>
            <a:pPr algn="r"/>
            <a:fld id="{E483B8E3-9AB7-5D66-AC98-1C6603CE0F26}"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From Demand to Total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6" name="Group pair 136"/>
          <p:cNvGrpSpPr/>
          <p:nvPr/>
        </p:nvGrpSpPr>
        <p:grpSpPr>
          <a:xfrm>
            <a:off x="1024127" y="1252728"/>
            <a:ext cx="5541265" cy="2651760"/>
            <a:chOff x="1024127" y="1252728"/>
            <a:chExt cx="5541265" cy="2651760"/>
          </a:xfrm>
        </p:grpSpPr>
        <p:cxnSp>
          <p:nvCxnSpPr>
            <p:cNvPr id="8" name="Connector 7"/>
            <p:cNvCxnSpPr/>
            <p:nvPr/>
          </p:nvCxnSpPr>
          <p:spPr>
            <a:xfrm flipV="1">
              <a:off x="1325880" y="1453896"/>
              <a:ext cx="0" cy="2066544"/>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325880" y="3520440"/>
              <a:ext cx="4782312"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24127" y="1252728"/>
              <a:ext cx="603504" cy="31089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1" name="TextBox 10"/>
            <p:cNvSpPr txBox="1"/>
            <p:nvPr/>
          </p:nvSpPr>
          <p:spPr>
            <a:xfrm>
              <a:off x="5961888" y="3611880"/>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cxnSp>
        <p:nvCxnSpPr>
          <p:cNvPr id="12" name="Connector 11"/>
          <p:cNvCxnSpPr/>
          <p:nvPr/>
        </p:nvCxnSpPr>
        <p:spPr>
          <a:xfrm flipV="1">
            <a:off x="1325880" y="3785616"/>
            <a:ext cx="0" cy="2203704"/>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5989320"/>
            <a:ext cx="4782312"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24127" y="3584448"/>
            <a:ext cx="603504" cy="310896"/>
          </a:xfrm>
          <a:prstGeom prst="rect">
            <a:avLst/>
          </a:prstGeom>
          <a:noFill/>
        </p:spPr>
        <p:txBody>
          <a:bodyPr wrap="square" lIns="0" tIns="0" rIns="0" bIns="0">
            <a:spAutoFit/>
          </a:bodyPr>
          <a:lstStyle/>
          <a:p>
            <a:pPr algn="l"/>
            <a:r>
              <a:rPr sz="1700" b="1" i="1" u="none">
                <a:solidFill>
                  <a:srgbClr val="0B2B4E"/>
                </a:solidFill>
                <a:latin typeface="Calibri"/>
              </a:rPr>
              <a:t>TR</a:t>
            </a:r>
          </a:p>
        </p:txBody>
      </p:sp>
      <p:sp>
        <p:nvSpPr>
          <p:cNvPr id="15" name="TextBox 14"/>
          <p:cNvSpPr txBox="1"/>
          <p:nvPr/>
        </p:nvSpPr>
        <p:spPr>
          <a:xfrm>
            <a:off x="5961888" y="6080759"/>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nvGrpSpPr>
          <p:cNvPr id="38" name="Group 37">
            <a:extLst>
              <a:ext uri="{FF2B5EF4-FFF2-40B4-BE49-F238E27FC236}">
                <a16:creationId xmlns:a16="http://schemas.microsoft.com/office/drawing/2014/main" id="{5DE6D8C1-ABD5-207B-0DC4-AF71BB3EF4D1}"/>
              </a:ext>
            </a:extLst>
          </p:cNvPr>
          <p:cNvGrpSpPr/>
          <p:nvPr/>
        </p:nvGrpSpPr>
        <p:grpSpPr>
          <a:xfrm>
            <a:off x="1325880" y="2781100"/>
            <a:ext cx="1878177" cy="739340"/>
            <a:chOff x="1325880" y="2781100"/>
            <a:chExt cx="1878177" cy="739340"/>
          </a:xfrm>
        </p:grpSpPr>
        <p:sp>
          <p:nvSpPr>
            <p:cNvPr id="7" name="Rectangle 6"/>
            <p:cNvSpPr/>
            <p:nvPr/>
          </p:nvSpPr>
          <p:spPr>
            <a:xfrm>
              <a:off x="1325880" y="2781100"/>
              <a:ext cx="1878171" cy="739340"/>
            </a:xfrm>
            <a:prstGeom prst="rect">
              <a:avLst/>
            </a:prstGeom>
            <a:solidFill>
              <a:srgbClr val="F6E8C9"/>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25880" y="2995574"/>
              <a:ext cx="1878177" cy="310896"/>
            </a:xfrm>
            <a:prstGeom prst="rect">
              <a:avLst/>
            </a:prstGeom>
            <a:noFill/>
          </p:spPr>
          <p:txBody>
            <a:bodyPr wrap="square" lIns="0" tIns="0" rIns="0" bIns="0">
              <a:spAutoFit/>
            </a:bodyPr>
            <a:lstStyle/>
            <a:p>
              <a:pPr algn="ctr"/>
              <a:r>
                <a:rPr sz="1600" b="1" i="0" u="none" dirty="0">
                  <a:solidFill>
                    <a:srgbClr val="0B2B4E"/>
                  </a:solidFill>
                  <a:latin typeface="Calibri"/>
                </a:rPr>
                <a:t>Total revenue</a:t>
              </a:r>
            </a:p>
          </p:txBody>
        </p:sp>
      </p:grpSp>
      <p:grpSp>
        <p:nvGrpSpPr>
          <p:cNvPr id="138" name="Group pair 138"/>
          <p:cNvGrpSpPr/>
          <p:nvPr/>
        </p:nvGrpSpPr>
        <p:grpSpPr>
          <a:xfrm>
            <a:off x="347471" y="1913744"/>
            <a:ext cx="6122823" cy="1935880"/>
            <a:chOff x="347471" y="1913744"/>
            <a:chExt cx="6122823" cy="1935880"/>
          </a:xfrm>
        </p:grpSpPr>
        <p:grpSp>
          <p:nvGrpSpPr>
            <p:cNvPr id="137" name="Group pair 137"/>
            <p:cNvGrpSpPr/>
            <p:nvPr/>
          </p:nvGrpSpPr>
          <p:grpSpPr>
            <a:xfrm>
              <a:off x="1325880" y="2041760"/>
              <a:ext cx="5144414" cy="1478680"/>
              <a:chOff x="1325880" y="2041760"/>
              <a:chExt cx="5144414" cy="1478680"/>
            </a:xfrm>
          </p:grpSpPr>
          <p:cxnSp>
            <p:nvCxnSpPr>
              <p:cNvPr id="19" name="Connector 18"/>
              <p:cNvCxnSpPr/>
              <p:nvPr/>
            </p:nvCxnSpPr>
            <p:spPr>
              <a:xfrm>
                <a:off x="1325880" y="2041760"/>
                <a:ext cx="3756343" cy="1478680"/>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07254" y="3173882"/>
                <a:ext cx="1463040" cy="261518"/>
              </a:xfrm>
              <a:prstGeom prst="rect">
                <a:avLst/>
              </a:prstGeom>
              <a:noFill/>
            </p:spPr>
            <p:txBody>
              <a:bodyPr wrap="square" lIns="0" tIns="0" rIns="0" bIns="0">
                <a:spAutoFit/>
              </a:bodyPr>
              <a:lstStyle/>
              <a:p>
                <a:pPr algn="l"/>
                <a:r>
                  <a:rPr sz="1700" b="1" i="0" u="none">
                    <a:solidFill>
                      <a:srgbClr val="0B2B4E"/>
                    </a:solidFill>
                    <a:latin typeface="Calibri"/>
                  </a:rPr>
                  <a:t>D</a:t>
                </a:r>
              </a:p>
            </p:txBody>
          </p:sp>
        </p:grpSp>
        <p:sp>
          <p:nvSpPr>
            <p:cNvPr id="21" name="TextBox 20"/>
            <p:cNvSpPr txBox="1"/>
            <p:nvPr/>
          </p:nvSpPr>
          <p:spPr>
            <a:xfrm>
              <a:off x="347471" y="1913744"/>
              <a:ext cx="868680" cy="274320"/>
            </a:xfrm>
            <a:prstGeom prst="rect">
              <a:avLst/>
            </a:prstGeom>
            <a:noFill/>
          </p:spPr>
          <p:txBody>
            <a:bodyPr wrap="square" lIns="0" tIns="0" rIns="0" bIns="0">
              <a:spAutoFit/>
            </a:bodyPr>
            <a:lstStyle/>
            <a:p>
              <a:pPr algn="r"/>
              <a:r>
                <a:rPr sz="1500" b="0" i="0" u="none" dirty="0">
                  <a:solidFill>
                    <a:srgbClr val="0B2B4E"/>
                  </a:solidFill>
                  <a:latin typeface="Calibri"/>
                </a:rPr>
                <a:t>$400</a:t>
              </a:r>
            </a:p>
          </p:txBody>
        </p:sp>
        <p:sp>
          <p:nvSpPr>
            <p:cNvPr id="22" name="TextBox 21"/>
            <p:cNvSpPr txBox="1"/>
            <p:nvPr/>
          </p:nvSpPr>
          <p:spPr>
            <a:xfrm>
              <a:off x="4625023" y="3575304"/>
              <a:ext cx="914400" cy="274320"/>
            </a:xfrm>
            <a:prstGeom prst="rect">
              <a:avLst/>
            </a:prstGeom>
            <a:noFill/>
          </p:spPr>
          <p:txBody>
            <a:bodyPr wrap="square" lIns="0" tIns="0" rIns="0" bIns="0">
              <a:spAutoFit/>
            </a:bodyPr>
            <a:lstStyle/>
            <a:p>
              <a:pPr algn="ctr"/>
              <a:r>
                <a:rPr sz="1500" b="0" i="0" u="none">
                  <a:solidFill>
                    <a:srgbClr val="0B2B4E"/>
                  </a:solidFill>
                  <a:latin typeface="Calibri"/>
                </a:rPr>
                <a:t>1600</a:t>
              </a:r>
            </a:p>
          </p:txBody>
        </p:sp>
      </p:grpSp>
      <p:grpSp>
        <p:nvGrpSpPr>
          <p:cNvPr id="37" name="Group 36">
            <a:extLst>
              <a:ext uri="{FF2B5EF4-FFF2-40B4-BE49-F238E27FC236}">
                <a16:creationId xmlns:a16="http://schemas.microsoft.com/office/drawing/2014/main" id="{B0EE42F8-DE3D-EC4A-8B1B-799E90AF2506}"/>
              </a:ext>
            </a:extLst>
          </p:cNvPr>
          <p:cNvGrpSpPr/>
          <p:nvPr/>
        </p:nvGrpSpPr>
        <p:grpSpPr>
          <a:xfrm>
            <a:off x="347471" y="2653084"/>
            <a:ext cx="3313780" cy="1196540"/>
            <a:chOff x="347471" y="2653084"/>
            <a:chExt cx="3313780" cy="1196540"/>
          </a:xfrm>
        </p:grpSpPr>
        <p:sp>
          <p:nvSpPr>
            <p:cNvPr id="17" name="TextBox 16"/>
            <p:cNvSpPr txBox="1"/>
            <p:nvPr/>
          </p:nvSpPr>
          <p:spPr>
            <a:xfrm>
              <a:off x="347471" y="2653084"/>
              <a:ext cx="868680" cy="274320"/>
            </a:xfrm>
            <a:prstGeom prst="rect">
              <a:avLst/>
            </a:prstGeom>
            <a:noFill/>
          </p:spPr>
          <p:txBody>
            <a:bodyPr wrap="square" lIns="0" tIns="0" rIns="0" bIns="0">
              <a:spAutoFit/>
            </a:bodyPr>
            <a:lstStyle/>
            <a:p>
              <a:pPr algn="r"/>
              <a:r>
                <a:rPr sz="1500" b="0" i="0" u="none" dirty="0">
                  <a:solidFill>
                    <a:srgbClr val="0B2B4E"/>
                  </a:solidFill>
                  <a:latin typeface="Calibri"/>
                </a:rPr>
                <a:t>200</a:t>
              </a:r>
            </a:p>
          </p:txBody>
        </p:sp>
        <p:sp>
          <p:nvSpPr>
            <p:cNvPr id="18" name="TextBox 17"/>
            <p:cNvSpPr txBox="1"/>
            <p:nvPr/>
          </p:nvSpPr>
          <p:spPr>
            <a:xfrm>
              <a:off x="2746851" y="3575304"/>
              <a:ext cx="914400" cy="274320"/>
            </a:xfrm>
            <a:prstGeom prst="rect">
              <a:avLst/>
            </a:prstGeom>
            <a:noFill/>
          </p:spPr>
          <p:txBody>
            <a:bodyPr wrap="square" lIns="0" tIns="0" rIns="0" bIns="0">
              <a:spAutoFit/>
            </a:bodyPr>
            <a:lstStyle/>
            <a:p>
              <a:pPr algn="ctr"/>
              <a:r>
                <a:rPr sz="1500" b="0" i="0" u="none">
                  <a:solidFill>
                    <a:srgbClr val="0B2B4E"/>
                  </a:solidFill>
                  <a:latin typeface="Calibri"/>
                </a:rPr>
                <a:t>800</a:t>
              </a:r>
            </a:p>
          </p:txBody>
        </p:sp>
        <p:cxnSp>
          <p:nvCxnSpPr>
            <p:cNvPr id="23" name="Connector 22"/>
            <p:cNvCxnSpPr/>
            <p:nvPr/>
          </p:nvCxnSpPr>
          <p:spPr>
            <a:xfrm>
              <a:off x="1325880" y="2781100"/>
              <a:ext cx="1878171"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204051" y="2781100"/>
              <a:ext cx="0" cy="73934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36FEFCDC-C291-240C-55C6-0471EBD36762}"/>
              </a:ext>
            </a:extLst>
          </p:cNvPr>
          <p:cNvGrpSpPr/>
          <p:nvPr/>
        </p:nvGrpSpPr>
        <p:grpSpPr>
          <a:xfrm>
            <a:off x="1325880" y="3827669"/>
            <a:ext cx="4213543" cy="2490834"/>
            <a:chOff x="1325880" y="3827669"/>
            <a:chExt cx="4213543" cy="2490834"/>
          </a:xfrm>
        </p:grpSpPr>
        <p:sp>
          <p:nvSpPr>
            <p:cNvPr id="25" name="Rectangle 24"/>
            <p:cNvSpPr/>
            <p:nvPr/>
          </p:nvSpPr>
          <p:spPr>
            <a:xfrm>
              <a:off x="1325880" y="3827669"/>
              <a:ext cx="3756343" cy="2161651"/>
            </a:xfrm>
            <a:custGeom>
              <a:avLst/>
              <a:gdLst/>
              <a:ahLst/>
              <a:cxnLst/>
              <a:rect l="0" t="0" r="3756343" b="2161651"/>
              <a:pathLst>
                <a:path w="3756343" h="2161651">
                  <a:moveTo>
                    <a:pt x="0" y="2161651"/>
                  </a:moveTo>
                  <a:cubicBezTo>
                    <a:pt x="1252114" y="0"/>
                    <a:pt x="2504228" y="0"/>
                    <a:pt x="3756343" y="2161651"/>
                  </a:cubicBezTo>
                </a:path>
              </a:pathLst>
            </a:custGeom>
            <a:noFill/>
            <a:ln w="38100" cap="rnd">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4625023" y="6044183"/>
              <a:ext cx="914400" cy="274320"/>
            </a:xfrm>
            <a:prstGeom prst="rect">
              <a:avLst/>
            </a:prstGeom>
            <a:noFill/>
          </p:spPr>
          <p:txBody>
            <a:bodyPr wrap="square" lIns="0" tIns="0" rIns="0" bIns="0">
              <a:spAutoFit/>
            </a:bodyPr>
            <a:lstStyle/>
            <a:p>
              <a:pPr algn="ctr"/>
              <a:r>
                <a:rPr sz="1500" b="0" i="0" u="none" dirty="0">
                  <a:solidFill>
                    <a:srgbClr val="0B2B4E"/>
                  </a:solidFill>
                  <a:latin typeface="Calibri"/>
                </a:rPr>
                <a:t>1600</a:t>
              </a:r>
            </a:p>
          </p:txBody>
        </p:sp>
      </p:grpSp>
      <p:grpSp>
        <p:nvGrpSpPr>
          <p:cNvPr id="39" name="Group 38">
            <a:extLst>
              <a:ext uri="{FF2B5EF4-FFF2-40B4-BE49-F238E27FC236}">
                <a16:creationId xmlns:a16="http://schemas.microsoft.com/office/drawing/2014/main" id="{0C639F3B-2976-B6B5-03C1-847C68F1FFD0}"/>
              </a:ext>
            </a:extLst>
          </p:cNvPr>
          <p:cNvGrpSpPr/>
          <p:nvPr/>
        </p:nvGrpSpPr>
        <p:grpSpPr>
          <a:xfrm>
            <a:off x="347471" y="4240066"/>
            <a:ext cx="3313780" cy="2078437"/>
            <a:chOff x="347471" y="4240066"/>
            <a:chExt cx="3313780" cy="2078437"/>
          </a:xfrm>
        </p:grpSpPr>
        <p:sp>
          <p:nvSpPr>
            <p:cNvPr id="26" name="TextBox 25"/>
            <p:cNvSpPr txBox="1"/>
            <p:nvPr/>
          </p:nvSpPr>
          <p:spPr>
            <a:xfrm>
              <a:off x="347471" y="4240066"/>
              <a:ext cx="868680" cy="274320"/>
            </a:xfrm>
            <a:prstGeom prst="rect">
              <a:avLst/>
            </a:prstGeom>
            <a:noFill/>
          </p:spPr>
          <p:txBody>
            <a:bodyPr wrap="square" lIns="0" tIns="0" rIns="0" bIns="0">
              <a:spAutoFit/>
            </a:bodyPr>
            <a:lstStyle/>
            <a:p>
              <a:pPr algn="r"/>
              <a:r>
                <a:rPr sz="1500" b="0" i="0" u="none">
                  <a:solidFill>
                    <a:srgbClr val="0B2B4E"/>
                  </a:solidFill>
                  <a:latin typeface="Calibri"/>
                </a:rPr>
                <a:t>$160,000</a:t>
              </a:r>
            </a:p>
          </p:txBody>
        </p:sp>
        <p:sp>
          <p:nvSpPr>
            <p:cNvPr id="27" name="TextBox 26"/>
            <p:cNvSpPr txBox="1"/>
            <p:nvPr/>
          </p:nvSpPr>
          <p:spPr>
            <a:xfrm>
              <a:off x="2746851" y="6044183"/>
              <a:ext cx="914400" cy="274320"/>
            </a:xfrm>
            <a:prstGeom prst="rect">
              <a:avLst/>
            </a:prstGeom>
            <a:noFill/>
          </p:spPr>
          <p:txBody>
            <a:bodyPr wrap="square" lIns="0" tIns="0" rIns="0" bIns="0">
              <a:spAutoFit/>
            </a:bodyPr>
            <a:lstStyle/>
            <a:p>
              <a:pPr algn="ctr"/>
              <a:r>
                <a:rPr sz="1500" b="0" i="0" u="none">
                  <a:solidFill>
                    <a:srgbClr val="0B2B4E"/>
                  </a:solidFill>
                  <a:latin typeface="Calibri"/>
                </a:rPr>
                <a:t>800</a:t>
              </a:r>
            </a:p>
          </p:txBody>
        </p:sp>
        <p:cxnSp>
          <p:nvCxnSpPr>
            <p:cNvPr id="29" name="Connector 28"/>
            <p:cNvCxnSpPr/>
            <p:nvPr/>
          </p:nvCxnSpPr>
          <p:spPr>
            <a:xfrm>
              <a:off x="1325880" y="4368082"/>
              <a:ext cx="1878171"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04051" y="4368082"/>
              <a:ext cx="0" cy="1621238"/>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sp>
        <p:nvSpPr>
          <p:cNvPr id="31" name="Rounded Rectangle 30"/>
          <p:cNvSpPr/>
          <p:nvPr/>
        </p:nvSpPr>
        <p:spPr>
          <a:xfrm>
            <a:off x="7244791" y="2446924"/>
            <a:ext cx="4599432" cy="2161651"/>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77963" y="2552090"/>
            <a:ext cx="4134002" cy="1954381"/>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b="1" dirty="0">
                <a:latin typeface="Calibri"/>
              </a:rPr>
              <a:t>Inverse demand:  </a:t>
            </a:r>
            <a:r>
              <a:rPr i="1" dirty="0">
                <a:latin typeface="Calibri"/>
              </a:rPr>
              <a:t>P = 400 − Q/4</a:t>
            </a:r>
          </a:p>
          <a:p>
            <a:pPr algn="l"/>
            <a:r>
              <a:rPr b="1" dirty="0">
                <a:latin typeface="Calibri"/>
              </a:rPr>
              <a:t>Total revenue:  </a:t>
            </a:r>
            <a:r>
              <a:rPr i="1" dirty="0">
                <a:latin typeface="Calibri"/>
              </a:rPr>
              <a:t>TR = P · Q</a:t>
            </a:r>
          </a:p>
          <a:p>
            <a:pPr lvl="1" algn="l">
              <a:spcBef>
                <a:spcPts val="200"/>
              </a:spcBef>
              <a:buNone/>
            </a:pPr>
            <a:r>
              <a:rPr sz="2000" dirty="0">
                <a:solidFill>
                  <a:srgbClr val="555B66"/>
                </a:solidFill>
                <a:latin typeface="Calibri"/>
              </a:rPr>
              <a:t>(illustrate for P=200)</a:t>
            </a:r>
          </a:p>
          <a:p>
            <a:pPr algn="l"/>
            <a:r>
              <a:rPr b="1" dirty="0">
                <a:latin typeface="Calibri"/>
              </a:rPr>
              <a:t>Plug in for P:  </a:t>
            </a:r>
            <a:r>
              <a:rPr i="1" dirty="0">
                <a:latin typeface="Calibri"/>
              </a:rPr>
              <a:t>TR = (400 − Q/4) · Q</a:t>
            </a:r>
          </a:p>
          <a:p>
            <a:pPr lvl="1" algn="l">
              <a:spcBef>
                <a:spcPts val="200"/>
              </a:spcBef>
              <a:buNone/>
            </a:pPr>
            <a:r>
              <a:rPr lang="en-US" sz="2000" b="1" i="1" dirty="0">
                <a:solidFill>
                  <a:srgbClr val="E09F3E"/>
                </a:solidFill>
                <a:latin typeface="Calibri"/>
              </a:rPr>
              <a:t>                        </a:t>
            </a:r>
            <a:r>
              <a:rPr sz="2000" b="1" i="1" dirty="0">
                <a:solidFill>
                  <a:srgbClr val="E09F3E"/>
                </a:solidFill>
                <a:latin typeface="Calibri"/>
              </a:rPr>
              <a:t>TR = 400Q − Q²/4</a:t>
            </a:r>
          </a:p>
        </p:txBody>
      </p:sp>
      <p:sp>
        <p:nvSpPr>
          <p:cNvPr id="33" name="Rectangle 3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6" name="TextBox 35"/>
          <p:cNvSpPr txBox="1"/>
          <p:nvPr/>
        </p:nvSpPr>
        <p:spPr>
          <a:xfrm>
            <a:off x="11475720" y="6583680"/>
            <a:ext cx="502920" cy="292608"/>
          </a:xfrm>
          <a:prstGeom prst="rect">
            <a:avLst/>
          </a:prstGeom>
          <a:noFill/>
        </p:spPr>
        <p:txBody>
          <a:bodyPr wrap="none" lIns="0" tIns="0" rIns="0" bIns="0">
            <a:spAutoFit/>
          </a:bodyPr>
          <a:lstStyle/>
          <a:p>
            <a:pPr algn="r"/>
            <a:fld id="{9F0D0457-7DD9-5B24-A8D9-45B32F967A96}"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Effect of a Price Change on Total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V="1">
            <a:off x="1097280" y="1664208"/>
            <a:ext cx="0" cy="418795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97280" y="5852160"/>
            <a:ext cx="576072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56087" y="1389888"/>
            <a:ext cx="603504" cy="310896"/>
          </a:xfrm>
          <a:prstGeom prst="rect">
            <a:avLst/>
          </a:prstGeom>
          <a:noFill/>
        </p:spPr>
        <p:txBody>
          <a:bodyPr wrap="square" lIns="0" tIns="0" rIns="0" bIns="0">
            <a:spAutoFit/>
          </a:bodyPr>
          <a:lstStyle/>
          <a:p>
            <a:pPr algn="l"/>
            <a:r>
              <a:rPr sz="1900" b="1" i="1" u="none" dirty="0">
                <a:solidFill>
                  <a:srgbClr val="0B2B4E"/>
                </a:solidFill>
                <a:latin typeface="Calibri"/>
              </a:rPr>
              <a:t>P</a:t>
            </a:r>
          </a:p>
        </p:txBody>
      </p:sp>
      <p:sp>
        <p:nvSpPr>
          <p:cNvPr id="13" name="TextBox 12"/>
          <p:cNvSpPr txBox="1"/>
          <p:nvPr/>
        </p:nvSpPr>
        <p:spPr>
          <a:xfrm>
            <a:off x="6917436" y="5806440"/>
            <a:ext cx="603504" cy="292608"/>
          </a:xfrm>
          <a:prstGeom prst="rect">
            <a:avLst/>
          </a:prstGeom>
          <a:noFill/>
        </p:spPr>
        <p:txBody>
          <a:bodyPr wrap="square" lIns="0" tIns="0" rIns="0" bIns="0">
            <a:spAutoFit/>
          </a:bodyPr>
          <a:lstStyle/>
          <a:p>
            <a:pPr algn="l"/>
            <a:r>
              <a:rPr sz="1900" b="1" i="1" u="none" dirty="0">
                <a:solidFill>
                  <a:srgbClr val="0B2B4E"/>
                </a:solidFill>
                <a:latin typeface="Calibri"/>
              </a:rPr>
              <a:t>Q</a:t>
            </a:r>
          </a:p>
        </p:txBody>
      </p:sp>
      <p:cxnSp>
        <p:nvCxnSpPr>
          <p:cNvPr id="14" name="Connector 13"/>
          <p:cNvCxnSpPr/>
          <p:nvPr/>
        </p:nvCxnSpPr>
        <p:spPr>
          <a:xfrm>
            <a:off x="1097280" y="2231136"/>
            <a:ext cx="4937760" cy="362102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35827" y="5468112"/>
            <a:ext cx="320039" cy="310896"/>
          </a:xfrm>
          <a:prstGeom prst="rect">
            <a:avLst/>
          </a:prstGeom>
          <a:noFill/>
        </p:spPr>
        <p:txBody>
          <a:bodyPr wrap="square" lIns="0" tIns="0" rIns="0" bIns="0">
            <a:spAutoFit/>
          </a:bodyPr>
          <a:lstStyle/>
          <a:p>
            <a:pPr algn="l"/>
            <a:r>
              <a:rPr sz="2000" b="1" i="0" u="none" dirty="0">
                <a:solidFill>
                  <a:srgbClr val="0B2B4E"/>
                </a:solidFill>
                <a:latin typeface="Calibri"/>
              </a:rPr>
              <a:t>D</a:t>
            </a:r>
          </a:p>
        </p:txBody>
      </p:sp>
      <p:grpSp>
        <p:nvGrpSpPr>
          <p:cNvPr id="36" name="Group 35">
            <a:extLst>
              <a:ext uri="{FF2B5EF4-FFF2-40B4-BE49-F238E27FC236}">
                <a16:creationId xmlns:a16="http://schemas.microsoft.com/office/drawing/2014/main" id="{8106F35A-91BA-0030-28D7-DB5756CBB9DB}"/>
              </a:ext>
            </a:extLst>
          </p:cNvPr>
          <p:cNvGrpSpPr/>
          <p:nvPr/>
        </p:nvGrpSpPr>
        <p:grpSpPr>
          <a:xfrm>
            <a:off x="2743200" y="2843784"/>
            <a:ext cx="9070847" cy="3017518"/>
            <a:chOff x="2743200" y="2843784"/>
            <a:chExt cx="9070847" cy="3017518"/>
          </a:xfrm>
        </p:grpSpPr>
        <p:sp>
          <p:nvSpPr>
            <p:cNvPr id="9" name="Rectangle 8"/>
            <p:cNvSpPr/>
            <p:nvPr/>
          </p:nvSpPr>
          <p:spPr>
            <a:xfrm>
              <a:off x="2743200" y="3849622"/>
              <a:ext cx="548640" cy="201168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0" y="2843784"/>
              <a:ext cx="502920" cy="384048"/>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82127" y="2880360"/>
              <a:ext cx="3931920"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dirty="0">
                  <a:solidFill>
                    <a:srgbClr val="0B2B4E"/>
                  </a:solidFill>
                  <a:latin typeface="Calibri"/>
                </a:rPr>
                <a:t>Increase in </a:t>
              </a:r>
              <a:r>
                <a:rPr sz="2000" i="1" dirty="0">
                  <a:solidFill>
                    <a:srgbClr val="0B2B4E"/>
                  </a:solidFill>
                  <a:latin typeface="Calibri"/>
                </a:rPr>
                <a:t>TR</a:t>
              </a:r>
              <a:r>
                <a:rPr sz="2000" dirty="0">
                  <a:solidFill>
                    <a:srgbClr val="0B2B4E"/>
                  </a:solidFill>
                  <a:latin typeface="Calibri"/>
                </a:rPr>
                <a:t> from higher volume</a:t>
              </a:r>
            </a:p>
          </p:txBody>
        </p:sp>
      </p:grpSp>
      <p:sp>
        <p:nvSpPr>
          <p:cNvPr id="27" name="Rounded Rectangle 26"/>
          <p:cNvSpPr/>
          <p:nvPr/>
        </p:nvSpPr>
        <p:spPr>
          <a:xfrm>
            <a:off x="7381271" y="3831336"/>
            <a:ext cx="3843528" cy="804671"/>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B2B4E"/>
                </a:solidFill>
                <a:latin typeface="Calibri"/>
              </a:rPr>
              <a:t>Which area is bigger?</a:t>
            </a:r>
            <a:endParaRPr lang="en-US" sz="2400" b="1" dirty="0">
              <a:solidFill>
                <a:srgbClr val="0B2B4E"/>
              </a:solidFill>
              <a:latin typeface="Calibri"/>
            </a:endParaRPr>
          </a:p>
          <a:p>
            <a:pPr algn="ctr"/>
            <a:r>
              <a:rPr lang="en-US" b="1" dirty="0">
                <a:solidFill>
                  <a:srgbClr val="0B2B4E"/>
                </a:solidFill>
                <a:latin typeface="Calibri"/>
                <a:sym typeface="Wingdings" panose="05000000000000000000" pitchFamily="2" charset="2"/>
              </a:rPr>
              <a:t> Determines the net effect on TR</a:t>
            </a:r>
            <a:endParaRPr b="1" dirty="0">
              <a:solidFill>
                <a:srgbClr val="0B2B4E"/>
              </a:solidFill>
              <a:latin typeface="Calibri"/>
            </a:endParaRP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DD0FF23F-2665-581F-B7D1-2CC5B078E18B}" type="slidenum">
              <a:rPr lang="en-US" sz="1200" dirty="0">
                <a:solidFill>
                  <a:srgbClr val="555B66"/>
                </a:solidFill>
                <a:latin typeface="Calibri"/>
              </a:rPr>
              <a:t>5</a:t>
            </a:fld>
            <a:endParaRPr lang="en-US" sz="1200" dirty="0">
              <a:solidFill>
                <a:srgbClr val="555B66"/>
              </a:solidFill>
              <a:latin typeface="Calibri"/>
            </a:endParaRPr>
          </a:p>
        </p:txBody>
      </p:sp>
      <p:grpSp>
        <p:nvGrpSpPr>
          <p:cNvPr id="49" name="Group 48">
            <a:extLst>
              <a:ext uri="{FF2B5EF4-FFF2-40B4-BE49-F238E27FC236}">
                <a16:creationId xmlns:a16="http://schemas.microsoft.com/office/drawing/2014/main" id="{81E06EF5-B127-570B-564A-2DFA4FBFA5C4}"/>
              </a:ext>
            </a:extLst>
          </p:cNvPr>
          <p:cNvGrpSpPr/>
          <p:nvPr/>
        </p:nvGrpSpPr>
        <p:grpSpPr>
          <a:xfrm>
            <a:off x="2743200" y="3849622"/>
            <a:ext cx="987552" cy="2441450"/>
            <a:chOff x="2743200" y="3849622"/>
            <a:chExt cx="987552" cy="2441450"/>
          </a:xfrm>
        </p:grpSpPr>
        <p:grpSp>
          <p:nvGrpSpPr>
            <p:cNvPr id="34" name="Group 33">
              <a:extLst>
                <a:ext uri="{FF2B5EF4-FFF2-40B4-BE49-F238E27FC236}">
                  <a16:creationId xmlns:a16="http://schemas.microsoft.com/office/drawing/2014/main" id="{5D6E0625-B760-081D-0032-0089D819C8EC}"/>
                </a:ext>
              </a:extLst>
            </p:cNvPr>
            <p:cNvGrpSpPr/>
            <p:nvPr/>
          </p:nvGrpSpPr>
          <p:grpSpPr>
            <a:xfrm>
              <a:off x="2743200" y="5907022"/>
              <a:ext cx="987552" cy="384050"/>
              <a:chOff x="2743200" y="5907022"/>
              <a:chExt cx="987552" cy="384050"/>
            </a:xfrm>
          </p:grpSpPr>
          <p:sp>
            <p:nvSpPr>
              <p:cNvPr id="18" name="TextBox 17"/>
              <p:cNvSpPr txBox="1"/>
              <p:nvPr/>
            </p:nvSpPr>
            <p:spPr>
              <a:xfrm>
                <a:off x="3182112" y="5907022"/>
                <a:ext cx="548640" cy="310896"/>
              </a:xfrm>
              <a:prstGeom prst="rect">
                <a:avLst/>
              </a:prstGeom>
              <a:noFill/>
            </p:spPr>
            <p:txBody>
              <a:bodyPr wrap="square" lIns="0" tIns="0" rIns="0" bIns="0">
                <a:spAutoFit/>
              </a:bodyPr>
              <a:lstStyle/>
              <a:p>
                <a:pPr algn="l"/>
                <a:r>
                  <a:rPr sz="2000" b="1" i="0" u="none" dirty="0">
                    <a:solidFill>
                      <a:srgbClr val="0B2B4E"/>
                    </a:solidFill>
                    <a:latin typeface="Calibri"/>
                  </a:rPr>
                  <a:t>Q</a:t>
                </a:r>
                <a:r>
                  <a:rPr sz="2000" b="1" i="0" u="none" baseline="-25000" dirty="0">
                    <a:solidFill>
                      <a:srgbClr val="0B2B4E"/>
                    </a:solidFill>
                    <a:latin typeface="Calibri"/>
                  </a:rPr>
                  <a:t>1</a:t>
                </a:r>
              </a:p>
            </p:txBody>
          </p:sp>
          <p:cxnSp>
            <p:nvCxnSpPr>
              <p:cNvPr id="20" name="Connector 19"/>
              <p:cNvCxnSpPr/>
              <p:nvPr/>
            </p:nvCxnSpPr>
            <p:spPr>
              <a:xfrm>
                <a:off x="2743200" y="6291072"/>
                <a:ext cx="576072" cy="0"/>
              </a:xfrm>
              <a:prstGeom prst="line">
                <a:avLst/>
              </a:prstGeom>
              <a:ln w="2857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cxnSp>
          <p:nvCxnSpPr>
            <p:cNvPr id="37" name="Connector 29">
              <a:extLst>
                <a:ext uri="{FF2B5EF4-FFF2-40B4-BE49-F238E27FC236}">
                  <a16:creationId xmlns:a16="http://schemas.microsoft.com/office/drawing/2014/main" id="{223D6CB3-6686-55E4-3865-9838C86E452F}"/>
                </a:ext>
              </a:extLst>
            </p:cNvPr>
            <p:cNvCxnSpPr>
              <a:cxnSpLocks/>
            </p:cNvCxnSpPr>
            <p:nvPr/>
          </p:nvCxnSpPr>
          <p:spPr>
            <a:xfrm>
              <a:off x="3291840" y="3849622"/>
              <a:ext cx="0" cy="205740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21702318-517F-4553-8D85-31018736F005}"/>
              </a:ext>
            </a:extLst>
          </p:cNvPr>
          <p:cNvGrpSpPr/>
          <p:nvPr/>
        </p:nvGrpSpPr>
        <p:grpSpPr>
          <a:xfrm>
            <a:off x="681767" y="3246120"/>
            <a:ext cx="2504917" cy="2953513"/>
            <a:chOff x="681767" y="3246120"/>
            <a:chExt cx="2504917" cy="2953513"/>
          </a:xfrm>
        </p:grpSpPr>
        <p:grpSp>
          <p:nvGrpSpPr>
            <p:cNvPr id="32" name="Group 31">
              <a:extLst>
                <a:ext uri="{FF2B5EF4-FFF2-40B4-BE49-F238E27FC236}">
                  <a16:creationId xmlns:a16="http://schemas.microsoft.com/office/drawing/2014/main" id="{F5AE463E-A911-538B-551A-815203F776E3}"/>
                </a:ext>
              </a:extLst>
            </p:cNvPr>
            <p:cNvGrpSpPr/>
            <p:nvPr/>
          </p:nvGrpSpPr>
          <p:grpSpPr>
            <a:xfrm>
              <a:off x="681767" y="3246120"/>
              <a:ext cx="2504917" cy="2953513"/>
              <a:chOff x="681767" y="3246120"/>
              <a:chExt cx="2504917" cy="2953513"/>
            </a:xfrm>
          </p:grpSpPr>
          <p:sp>
            <p:nvSpPr>
              <p:cNvPr id="7" name="Rectangle 6"/>
              <p:cNvSpPr/>
              <p:nvPr/>
            </p:nvSpPr>
            <p:spPr>
              <a:xfrm>
                <a:off x="1097280" y="3461002"/>
                <a:ext cx="1645918" cy="2391158"/>
              </a:xfrm>
              <a:prstGeom prst="rect">
                <a:avLst/>
              </a:prstGeom>
              <a:solidFill>
                <a:srgbClr val="F6E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767" y="3246120"/>
                <a:ext cx="548640" cy="310896"/>
              </a:xfrm>
              <a:prstGeom prst="rect">
                <a:avLst/>
              </a:prstGeom>
              <a:noFill/>
            </p:spPr>
            <p:txBody>
              <a:bodyPr wrap="square" lIns="0" tIns="0" rIns="0" bIns="0">
                <a:spAutoFit/>
              </a:bodyPr>
              <a:lstStyle/>
              <a:p>
                <a:pPr algn="l"/>
                <a:r>
                  <a:rPr sz="2200" b="1" i="0" u="none" dirty="0">
                    <a:solidFill>
                      <a:srgbClr val="0B2B4E"/>
                    </a:solidFill>
                    <a:latin typeface="Calibri"/>
                  </a:rPr>
                  <a:t>P</a:t>
                </a:r>
                <a:r>
                  <a:rPr sz="2200" b="1" i="0" u="none" baseline="-25000" dirty="0">
                    <a:solidFill>
                      <a:srgbClr val="0B2B4E"/>
                    </a:solidFill>
                    <a:latin typeface="Calibri"/>
                  </a:rPr>
                  <a:t>0</a:t>
                </a:r>
              </a:p>
            </p:txBody>
          </p:sp>
          <p:sp>
            <p:nvSpPr>
              <p:cNvPr id="17" name="TextBox 16"/>
              <p:cNvSpPr txBox="1"/>
              <p:nvPr/>
            </p:nvSpPr>
            <p:spPr>
              <a:xfrm>
                <a:off x="2638044" y="5888737"/>
                <a:ext cx="548640" cy="310896"/>
              </a:xfrm>
              <a:prstGeom prst="rect">
                <a:avLst/>
              </a:prstGeom>
              <a:noFill/>
            </p:spPr>
            <p:txBody>
              <a:bodyPr wrap="square" lIns="0" tIns="0" rIns="0" bIns="0">
                <a:spAutoFit/>
              </a:bodyPr>
              <a:lstStyle/>
              <a:p>
                <a:pPr algn="l"/>
                <a:r>
                  <a:rPr sz="2000" b="1" i="0" u="none" dirty="0">
                    <a:solidFill>
                      <a:srgbClr val="0B2B4E"/>
                    </a:solidFill>
                    <a:latin typeface="Calibri"/>
                  </a:rPr>
                  <a:t>Q</a:t>
                </a:r>
                <a:r>
                  <a:rPr sz="2000" b="1" i="0" u="none" baseline="-25000" dirty="0">
                    <a:solidFill>
                      <a:srgbClr val="0B2B4E"/>
                    </a:solidFill>
                    <a:latin typeface="Calibri"/>
                  </a:rPr>
                  <a:t>0</a:t>
                </a:r>
              </a:p>
            </p:txBody>
          </p:sp>
          <p:sp>
            <p:nvSpPr>
              <p:cNvPr id="22" name="TextBox 21"/>
              <p:cNvSpPr txBox="1"/>
              <p:nvPr/>
            </p:nvSpPr>
            <p:spPr>
              <a:xfrm>
                <a:off x="1097280" y="4663440"/>
                <a:ext cx="1645920" cy="338554"/>
              </a:xfrm>
              <a:prstGeom prst="rect">
                <a:avLst/>
              </a:prstGeom>
              <a:noFill/>
            </p:spPr>
            <p:txBody>
              <a:bodyPr wrap="square" lIns="0" tIns="0" rIns="0" bIns="0">
                <a:spAutoFit/>
              </a:bodyPr>
              <a:lstStyle/>
              <a:p>
                <a:pPr algn="ctr"/>
                <a:r>
                  <a:rPr sz="2200" b="1" i="1" u="none" dirty="0">
                    <a:solidFill>
                      <a:srgbClr val="0B2B4E"/>
                    </a:solidFill>
                    <a:latin typeface="Calibri"/>
                  </a:rPr>
                  <a:t>TR</a:t>
                </a:r>
                <a:r>
                  <a:rPr lang="en-US" sz="2200" b="1" i="1" u="none" baseline="-25000" dirty="0">
                    <a:solidFill>
                      <a:srgbClr val="0B2B4E"/>
                    </a:solidFill>
                    <a:latin typeface="Calibri"/>
                  </a:rPr>
                  <a:t>0</a:t>
                </a:r>
                <a:endParaRPr sz="2200" b="1" i="1" u="none" baseline="-25000" dirty="0">
                  <a:solidFill>
                    <a:srgbClr val="0B2B4E"/>
                  </a:solidFill>
                  <a:latin typeface="Calibri"/>
                </a:endParaRPr>
              </a:p>
            </p:txBody>
          </p:sp>
        </p:grpSp>
        <p:grpSp>
          <p:nvGrpSpPr>
            <p:cNvPr id="44" name="Group 43">
              <a:extLst>
                <a:ext uri="{FF2B5EF4-FFF2-40B4-BE49-F238E27FC236}">
                  <a16:creationId xmlns:a16="http://schemas.microsoft.com/office/drawing/2014/main" id="{CF759CFC-9EA4-80BC-D061-19C030737316}"/>
                </a:ext>
              </a:extLst>
            </p:cNvPr>
            <p:cNvGrpSpPr/>
            <p:nvPr/>
          </p:nvGrpSpPr>
          <p:grpSpPr>
            <a:xfrm>
              <a:off x="1097278" y="3429000"/>
              <a:ext cx="1645922" cy="2423160"/>
              <a:chOff x="1097278" y="3429000"/>
              <a:chExt cx="1645922" cy="2423160"/>
            </a:xfrm>
          </p:grpSpPr>
          <p:cxnSp>
            <p:nvCxnSpPr>
              <p:cNvPr id="39" name="Connector 29">
                <a:extLst>
                  <a:ext uri="{FF2B5EF4-FFF2-40B4-BE49-F238E27FC236}">
                    <a16:creationId xmlns:a16="http://schemas.microsoft.com/office/drawing/2014/main" id="{09F7F403-90DC-FF62-3DB9-F320AD90C274}"/>
                  </a:ext>
                </a:extLst>
              </p:cNvPr>
              <p:cNvCxnSpPr>
                <a:cxnSpLocks/>
              </p:cNvCxnSpPr>
              <p:nvPr/>
            </p:nvCxnSpPr>
            <p:spPr>
              <a:xfrm>
                <a:off x="2743200" y="3429000"/>
                <a:ext cx="0" cy="242316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29">
                <a:extLst>
                  <a:ext uri="{FF2B5EF4-FFF2-40B4-BE49-F238E27FC236}">
                    <a16:creationId xmlns:a16="http://schemas.microsoft.com/office/drawing/2014/main" id="{9C9FBD4C-B686-3427-0FD8-17D286AA5032}"/>
                  </a:ext>
                </a:extLst>
              </p:cNvPr>
              <p:cNvCxnSpPr>
                <a:cxnSpLocks/>
              </p:cNvCxnSpPr>
              <p:nvPr/>
            </p:nvCxnSpPr>
            <p:spPr>
              <a:xfrm flipV="1">
                <a:off x="1097278" y="3447286"/>
                <a:ext cx="1645922" cy="13716"/>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grpSp>
        <p:nvGrpSpPr>
          <p:cNvPr id="48" name="Group 47">
            <a:extLst>
              <a:ext uri="{FF2B5EF4-FFF2-40B4-BE49-F238E27FC236}">
                <a16:creationId xmlns:a16="http://schemas.microsoft.com/office/drawing/2014/main" id="{C32A2D02-7F14-FF0E-209D-89EC94B5D5B3}"/>
              </a:ext>
            </a:extLst>
          </p:cNvPr>
          <p:cNvGrpSpPr/>
          <p:nvPr/>
        </p:nvGrpSpPr>
        <p:grpSpPr>
          <a:xfrm>
            <a:off x="539496" y="3408425"/>
            <a:ext cx="2702737" cy="580643"/>
            <a:chOff x="539496" y="3408425"/>
            <a:chExt cx="2702737" cy="580643"/>
          </a:xfrm>
        </p:grpSpPr>
        <p:grpSp>
          <p:nvGrpSpPr>
            <p:cNvPr id="33" name="Group 32">
              <a:extLst>
                <a:ext uri="{FF2B5EF4-FFF2-40B4-BE49-F238E27FC236}">
                  <a16:creationId xmlns:a16="http://schemas.microsoft.com/office/drawing/2014/main" id="{934D2FC0-6348-2524-9FA9-6C7E23EADDB0}"/>
                </a:ext>
              </a:extLst>
            </p:cNvPr>
            <p:cNvGrpSpPr/>
            <p:nvPr/>
          </p:nvGrpSpPr>
          <p:grpSpPr>
            <a:xfrm>
              <a:off x="539496" y="3408425"/>
              <a:ext cx="690911" cy="580643"/>
              <a:chOff x="539496" y="3408425"/>
              <a:chExt cx="690911" cy="580643"/>
            </a:xfrm>
          </p:grpSpPr>
          <p:sp>
            <p:nvSpPr>
              <p:cNvPr id="16" name="TextBox 15"/>
              <p:cNvSpPr txBox="1"/>
              <p:nvPr/>
            </p:nvSpPr>
            <p:spPr>
              <a:xfrm>
                <a:off x="681767" y="3678172"/>
                <a:ext cx="548640" cy="310896"/>
              </a:xfrm>
              <a:prstGeom prst="rect">
                <a:avLst/>
              </a:prstGeom>
              <a:noFill/>
            </p:spPr>
            <p:txBody>
              <a:bodyPr wrap="square" lIns="0" tIns="0" rIns="0" bIns="0">
                <a:spAutoFit/>
              </a:bodyPr>
              <a:lstStyle/>
              <a:p>
                <a:pPr algn="l"/>
                <a:r>
                  <a:rPr sz="2200" b="1" i="0" u="none" dirty="0">
                    <a:solidFill>
                      <a:srgbClr val="0B2B4E"/>
                    </a:solidFill>
                    <a:latin typeface="Calibri"/>
                  </a:rPr>
                  <a:t>P</a:t>
                </a:r>
                <a:r>
                  <a:rPr sz="2200" b="1" i="0" u="none" baseline="-25000" dirty="0">
                    <a:solidFill>
                      <a:srgbClr val="0B2B4E"/>
                    </a:solidFill>
                    <a:latin typeface="Calibri"/>
                  </a:rPr>
                  <a:t>1</a:t>
                </a:r>
              </a:p>
            </p:txBody>
          </p:sp>
          <p:cxnSp>
            <p:nvCxnSpPr>
              <p:cNvPr id="19" name="Connector 18"/>
              <p:cNvCxnSpPr/>
              <p:nvPr/>
            </p:nvCxnSpPr>
            <p:spPr>
              <a:xfrm>
                <a:off x="539496" y="3408425"/>
                <a:ext cx="0" cy="425195"/>
              </a:xfrm>
              <a:prstGeom prst="line">
                <a:avLst/>
              </a:prstGeom>
              <a:ln w="2857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cxnSp>
          <p:nvCxnSpPr>
            <p:cNvPr id="46" name="Connector 29">
              <a:extLst>
                <a:ext uri="{FF2B5EF4-FFF2-40B4-BE49-F238E27FC236}">
                  <a16:creationId xmlns:a16="http://schemas.microsoft.com/office/drawing/2014/main" id="{3F1A6F3D-6907-928A-ECFF-56AD2300E0CA}"/>
                </a:ext>
              </a:extLst>
            </p:cNvPr>
            <p:cNvCxnSpPr>
              <a:cxnSpLocks/>
            </p:cNvCxnSpPr>
            <p:nvPr/>
          </p:nvCxnSpPr>
          <p:spPr>
            <a:xfrm flipV="1">
              <a:off x="1097276" y="3856480"/>
              <a:ext cx="2144957" cy="13714"/>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35" name="Group 34">
            <a:extLst>
              <a:ext uri="{FF2B5EF4-FFF2-40B4-BE49-F238E27FC236}">
                <a16:creationId xmlns:a16="http://schemas.microsoft.com/office/drawing/2014/main" id="{AFF92A75-7E8E-BF25-78C1-530110AA8C08}"/>
              </a:ext>
            </a:extLst>
          </p:cNvPr>
          <p:cNvGrpSpPr/>
          <p:nvPr/>
        </p:nvGrpSpPr>
        <p:grpSpPr>
          <a:xfrm>
            <a:off x="1097278" y="2194560"/>
            <a:ext cx="10716769" cy="1655062"/>
            <a:chOff x="1097278" y="2194560"/>
            <a:chExt cx="10716769" cy="1655062"/>
          </a:xfrm>
        </p:grpSpPr>
        <p:sp>
          <p:nvSpPr>
            <p:cNvPr id="8" name="Rectangle 7"/>
            <p:cNvSpPr/>
            <p:nvPr/>
          </p:nvSpPr>
          <p:spPr>
            <a:xfrm>
              <a:off x="1097278" y="3447286"/>
              <a:ext cx="1645920" cy="402336"/>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Rectangle 22"/>
            <p:cNvSpPr/>
            <p:nvPr/>
          </p:nvSpPr>
          <p:spPr>
            <a:xfrm>
              <a:off x="7315200" y="2194560"/>
              <a:ext cx="502920" cy="3840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82127" y="2231136"/>
              <a:ext cx="3931920"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dirty="0">
                  <a:solidFill>
                    <a:srgbClr val="0B2B4E"/>
                  </a:solidFill>
                  <a:latin typeface="Calibri"/>
                </a:rPr>
                <a:t>Reduction in </a:t>
              </a:r>
              <a:r>
                <a:rPr sz="2000" i="1" dirty="0">
                  <a:solidFill>
                    <a:srgbClr val="0B2B4E"/>
                  </a:solidFill>
                  <a:latin typeface="Calibri"/>
                </a:rPr>
                <a:t>TR</a:t>
              </a:r>
              <a:r>
                <a:rPr sz="2000" dirty="0">
                  <a:solidFill>
                    <a:srgbClr val="0B2B4E"/>
                  </a:solidFill>
                  <a:latin typeface="Calibri"/>
                </a:rPr>
                <a:t> from a lower price</a:t>
              </a:r>
            </a:p>
          </p:txBody>
        </p:sp>
      </p:grpSp>
      <p:sp>
        <p:nvSpPr>
          <p:cNvPr id="50" name="Rounded Rectangle 6">
            <a:extLst>
              <a:ext uri="{FF2B5EF4-FFF2-40B4-BE49-F238E27FC236}">
                <a16:creationId xmlns:a16="http://schemas.microsoft.com/office/drawing/2014/main" id="{4D896386-77F3-9B9C-209C-39B9223B53FA}"/>
              </a:ext>
            </a:extLst>
          </p:cNvPr>
          <p:cNvSpPr/>
          <p:nvPr/>
        </p:nvSpPr>
        <p:spPr>
          <a:xfrm>
            <a:off x="7150608" y="5001993"/>
            <a:ext cx="4704588" cy="667285"/>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b="1" dirty="0">
                <a:solidFill>
                  <a:srgbClr val="FFFFFF"/>
                </a:solidFill>
                <a:latin typeface="Calibri"/>
              </a:rPr>
              <a:t>We will see next: Which area is bigger depends on the elasticity of demand and P</a:t>
            </a:r>
            <a:r>
              <a:rPr lang="en-US" b="1" baseline="-25000" dirty="0">
                <a:solidFill>
                  <a:srgbClr val="FFFFFF"/>
                </a:solidFill>
                <a:latin typeface="Calibri"/>
              </a:rPr>
              <a:t>0</a:t>
            </a:r>
            <a:endParaRPr b="1" baseline="-25000" dirty="0">
              <a:solidFill>
                <a:srgbClr val="FFFFFF"/>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Effect of a Price Change on Total Revenue: It Depends on 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560320" y="1481328"/>
            <a:ext cx="0" cy="235915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60320" y="3840480"/>
            <a:ext cx="585216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377440" y="1298448"/>
            <a:ext cx="603504" cy="310896"/>
          </a:xfrm>
          <a:prstGeom prst="rect">
            <a:avLst/>
          </a:prstGeom>
          <a:noFill/>
        </p:spPr>
        <p:txBody>
          <a:bodyPr wrap="square" lIns="0" tIns="0" rIns="0" bIns="0">
            <a:spAutoFit/>
          </a:bodyPr>
          <a:lstStyle/>
          <a:p>
            <a:pPr algn="l"/>
            <a:r>
              <a:rPr sz="1700" b="1" i="1" u="none" dirty="0">
                <a:solidFill>
                  <a:srgbClr val="0B2B4E"/>
                </a:solidFill>
                <a:latin typeface="Calibri"/>
              </a:rPr>
              <a:t>P</a:t>
            </a:r>
          </a:p>
        </p:txBody>
      </p:sp>
      <p:sp>
        <p:nvSpPr>
          <p:cNvPr id="10" name="TextBox 9"/>
          <p:cNvSpPr txBox="1"/>
          <p:nvPr/>
        </p:nvSpPr>
        <p:spPr>
          <a:xfrm>
            <a:off x="8453675" y="3781044"/>
            <a:ext cx="603504" cy="292608"/>
          </a:xfrm>
          <a:prstGeom prst="rect">
            <a:avLst/>
          </a:prstGeom>
          <a:noFill/>
        </p:spPr>
        <p:txBody>
          <a:bodyPr wrap="square" lIns="0" tIns="0" rIns="0" bIns="0">
            <a:spAutoFit/>
          </a:bodyPr>
          <a:lstStyle/>
          <a:p>
            <a:pPr algn="l"/>
            <a:r>
              <a:rPr sz="1700" b="1" i="1" u="none" dirty="0">
                <a:solidFill>
                  <a:srgbClr val="0B2B4E"/>
                </a:solidFill>
                <a:latin typeface="Calibri"/>
              </a:rPr>
              <a:t>Q</a:t>
            </a:r>
          </a:p>
        </p:txBody>
      </p:sp>
      <p:grpSp>
        <p:nvGrpSpPr>
          <p:cNvPr id="35" name="Group 34">
            <a:extLst>
              <a:ext uri="{FF2B5EF4-FFF2-40B4-BE49-F238E27FC236}">
                <a16:creationId xmlns:a16="http://schemas.microsoft.com/office/drawing/2014/main" id="{5CCD0DB0-63DC-9A76-797F-8CFC01E4823D}"/>
              </a:ext>
            </a:extLst>
          </p:cNvPr>
          <p:cNvGrpSpPr/>
          <p:nvPr/>
        </p:nvGrpSpPr>
        <p:grpSpPr>
          <a:xfrm>
            <a:off x="2560320" y="1865376"/>
            <a:ext cx="6592824" cy="2011680"/>
            <a:chOff x="2560320" y="1865376"/>
            <a:chExt cx="6592824" cy="2011680"/>
          </a:xfrm>
        </p:grpSpPr>
        <p:cxnSp>
          <p:nvCxnSpPr>
            <p:cNvPr id="11" name="Connector 10"/>
            <p:cNvCxnSpPr/>
            <p:nvPr/>
          </p:nvCxnSpPr>
          <p:spPr>
            <a:xfrm>
              <a:off x="2560320" y="1865376"/>
              <a:ext cx="5020055" cy="197510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690104" y="3566160"/>
              <a:ext cx="1463040" cy="310896"/>
            </a:xfrm>
            <a:prstGeom prst="rect">
              <a:avLst/>
            </a:prstGeom>
            <a:noFill/>
          </p:spPr>
          <p:txBody>
            <a:bodyPr wrap="square" lIns="0" tIns="0" rIns="0" bIns="0">
              <a:spAutoFit/>
            </a:bodyPr>
            <a:lstStyle/>
            <a:p>
              <a:pPr algn="l"/>
              <a:r>
                <a:rPr sz="1700" b="1" i="0" u="none" dirty="0">
                  <a:solidFill>
                    <a:srgbClr val="0B2B4E"/>
                  </a:solidFill>
                  <a:latin typeface="Calibri"/>
                </a:rPr>
                <a:t>D</a:t>
              </a:r>
            </a:p>
          </p:txBody>
        </p:sp>
      </p:grpSp>
      <p:grpSp>
        <p:nvGrpSpPr>
          <p:cNvPr id="36" name="Group 35">
            <a:extLst>
              <a:ext uri="{FF2B5EF4-FFF2-40B4-BE49-F238E27FC236}">
                <a16:creationId xmlns:a16="http://schemas.microsoft.com/office/drawing/2014/main" id="{E9681456-6729-9A08-6239-4E3AE6D2C14A}"/>
              </a:ext>
            </a:extLst>
          </p:cNvPr>
          <p:cNvGrpSpPr/>
          <p:nvPr/>
        </p:nvGrpSpPr>
        <p:grpSpPr>
          <a:xfrm>
            <a:off x="2530847" y="1682496"/>
            <a:ext cx="3732793" cy="654221"/>
            <a:chOff x="2530847" y="1682496"/>
            <a:chExt cx="3732793" cy="654221"/>
          </a:xfrm>
        </p:grpSpPr>
        <p:sp>
          <p:nvSpPr>
            <p:cNvPr id="14" name="Right Brace 13"/>
            <p:cNvSpPr/>
            <p:nvPr/>
          </p:nvSpPr>
          <p:spPr>
            <a:xfrm rot="17488607">
              <a:off x="3717590" y="854826"/>
              <a:ext cx="295148" cy="2668634"/>
            </a:xfrm>
            <a:prstGeom prst="rightBrace">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20440" y="1682496"/>
              <a:ext cx="2743200" cy="310896"/>
            </a:xfrm>
            <a:prstGeom prst="rect">
              <a:avLst/>
            </a:prstGeom>
            <a:noFill/>
          </p:spPr>
          <p:txBody>
            <a:bodyPr wrap="square" lIns="0" tIns="0" rIns="0" bIns="0">
              <a:spAutoFit/>
            </a:bodyPr>
            <a:lstStyle/>
            <a:p>
              <a:pPr algn="l"/>
              <a:r>
                <a:rPr sz="1600" b="1" i="0" u="none">
                  <a:solidFill>
                    <a:srgbClr val="0070C0"/>
                  </a:solidFill>
                  <a:latin typeface="Calibri"/>
                </a:rPr>
                <a:t>E</a:t>
              </a:r>
              <a:r>
                <a:rPr sz="1600" b="1" i="0" u="none" baseline="-25000">
                  <a:solidFill>
                    <a:srgbClr val="0070C0"/>
                  </a:solidFill>
                  <a:latin typeface="Calibri"/>
                </a:rPr>
                <a:t>D</a:t>
              </a:r>
              <a:r>
                <a:rPr sz="1600" b="1" i="0" u="none">
                  <a:solidFill>
                    <a:srgbClr val="0070C0"/>
                  </a:solidFill>
                  <a:latin typeface="Calibri"/>
                </a:rPr>
                <a:t> &lt; −1   elastic</a:t>
              </a:r>
            </a:p>
          </p:txBody>
        </p:sp>
      </p:grpSp>
      <p:grpSp>
        <p:nvGrpSpPr>
          <p:cNvPr id="37" name="Group 36">
            <a:extLst>
              <a:ext uri="{FF2B5EF4-FFF2-40B4-BE49-F238E27FC236}">
                <a16:creationId xmlns:a16="http://schemas.microsoft.com/office/drawing/2014/main" id="{E78BCE45-7A64-2FD0-C13E-8978C3510E5F}"/>
              </a:ext>
            </a:extLst>
          </p:cNvPr>
          <p:cNvGrpSpPr/>
          <p:nvPr/>
        </p:nvGrpSpPr>
        <p:grpSpPr>
          <a:xfrm>
            <a:off x="5102174" y="2703880"/>
            <a:ext cx="4356379" cy="623404"/>
            <a:chOff x="5102174" y="2703880"/>
            <a:chExt cx="4356379" cy="623404"/>
          </a:xfrm>
        </p:grpSpPr>
        <p:sp>
          <p:nvSpPr>
            <p:cNvPr id="16" name="Right Brace 15"/>
            <p:cNvSpPr/>
            <p:nvPr/>
          </p:nvSpPr>
          <p:spPr>
            <a:xfrm rot="17488607">
              <a:off x="6257346" y="1879504"/>
              <a:ext cx="292608" cy="2602951"/>
            </a:xfrm>
            <a:prstGeom prst="rightBrace">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66713" y="2703880"/>
              <a:ext cx="3291840" cy="310896"/>
            </a:xfrm>
            <a:prstGeom prst="rect">
              <a:avLst/>
            </a:prstGeom>
            <a:noFill/>
          </p:spPr>
          <p:txBody>
            <a:bodyPr wrap="square" lIns="0" tIns="0" rIns="0" bIns="0">
              <a:spAutoFit/>
            </a:bodyPr>
            <a:lstStyle/>
            <a:p>
              <a:pPr algn="l"/>
              <a:r>
                <a:rPr sz="1600" b="1" i="0" u="none">
                  <a:solidFill>
                    <a:srgbClr val="0070C0"/>
                  </a:solidFill>
                  <a:latin typeface="Calibri"/>
                </a:rPr>
                <a:t>−1 &lt; E</a:t>
              </a:r>
              <a:r>
                <a:rPr sz="1600" b="1" i="0" u="none" baseline="-25000">
                  <a:solidFill>
                    <a:srgbClr val="0070C0"/>
                  </a:solidFill>
                  <a:latin typeface="Calibri"/>
                </a:rPr>
                <a:t>D</a:t>
              </a:r>
              <a:r>
                <a:rPr sz="1600" b="1" i="0" u="none">
                  <a:solidFill>
                    <a:srgbClr val="0070C0"/>
                  </a:solidFill>
                  <a:latin typeface="Calibri"/>
                </a:rPr>
                <a:t> &lt; 0   inelastic</a:t>
              </a:r>
            </a:p>
          </p:txBody>
        </p:sp>
      </p:grpSp>
      <p:grpSp>
        <p:nvGrpSpPr>
          <p:cNvPr id="34" name="Group 33">
            <a:extLst>
              <a:ext uri="{FF2B5EF4-FFF2-40B4-BE49-F238E27FC236}">
                <a16:creationId xmlns:a16="http://schemas.microsoft.com/office/drawing/2014/main" id="{13A4ED95-5FC2-8821-99C3-A9EE74C92270}"/>
              </a:ext>
            </a:extLst>
          </p:cNvPr>
          <p:cNvGrpSpPr/>
          <p:nvPr/>
        </p:nvGrpSpPr>
        <p:grpSpPr>
          <a:xfrm>
            <a:off x="5070348" y="2217420"/>
            <a:ext cx="1696212" cy="1623060"/>
            <a:chOff x="5070348" y="2217420"/>
            <a:chExt cx="1696212" cy="1623060"/>
          </a:xfrm>
        </p:grpSpPr>
        <p:cxnSp>
          <p:nvCxnSpPr>
            <p:cNvPr id="12" name="Connector 11"/>
            <p:cNvCxnSpPr/>
            <p:nvPr/>
          </p:nvCxnSpPr>
          <p:spPr>
            <a:xfrm flipV="1">
              <a:off x="5070348" y="2852928"/>
              <a:ext cx="0" cy="987552"/>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120640" y="2217420"/>
              <a:ext cx="1645920" cy="310896"/>
            </a:xfrm>
            <a:prstGeom prst="rect">
              <a:avLst/>
            </a:prstGeom>
            <a:noFill/>
          </p:spPr>
          <p:txBody>
            <a:bodyPr wrap="square" lIns="0" tIns="0" rIns="0" bIns="0">
              <a:spAutoFit/>
            </a:bodyPr>
            <a:lstStyle/>
            <a:p>
              <a:pPr algn="l"/>
              <a:r>
                <a:rPr sz="1600" b="1" i="0" u="none">
                  <a:solidFill>
                    <a:srgbClr val="C0504D"/>
                  </a:solidFill>
                  <a:latin typeface="Calibri"/>
                </a:rPr>
                <a:t>E</a:t>
              </a:r>
              <a:r>
                <a:rPr sz="1600" b="1" i="0" u="none" baseline="-25000">
                  <a:solidFill>
                    <a:srgbClr val="C0504D"/>
                  </a:solidFill>
                  <a:latin typeface="Calibri"/>
                </a:rPr>
                <a:t>D</a:t>
              </a:r>
              <a:r>
                <a:rPr sz="1600" b="1" i="0" u="none">
                  <a:solidFill>
                    <a:srgbClr val="C0504D"/>
                  </a:solidFill>
                  <a:latin typeface="Calibri"/>
                </a:rPr>
                <a:t> = −1</a:t>
              </a:r>
            </a:p>
          </p:txBody>
        </p:sp>
        <p:cxnSp>
          <p:nvCxnSpPr>
            <p:cNvPr id="19" name="Connector 18"/>
            <p:cNvCxnSpPr/>
            <p:nvPr/>
          </p:nvCxnSpPr>
          <p:spPr>
            <a:xfrm flipH="1">
              <a:off x="5097780" y="2592324"/>
              <a:ext cx="80467" cy="234086"/>
            </a:xfrm>
            <a:prstGeom prst="line">
              <a:avLst/>
            </a:prstGeom>
            <a:ln w="22225">
              <a:solidFill>
                <a:srgbClr val="C0504D"/>
              </a:solidFill>
            </a:ln>
          </p:spPr>
          <p:style>
            <a:lnRef idx="2">
              <a:schemeClr val="accent1"/>
            </a:lnRef>
            <a:fillRef idx="0">
              <a:schemeClr val="accent1"/>
            </a:fillRef>
            <a:effectRef idx="1">
              <a:schemeClr val="accent1"/>
            </a:effectRef>
            <a:fontRef idx="minor">
              <a:schemeClr val="tx1"/>
            </a:fontRef>
          </p:style>
        </p:cxnSp>
      </p:grpSp>
      <p:cxnSp>
        <p:nvCxnSpPr>
          <p:cNvPr id="20" name="Connector 19"/>
          <p:cNvCxnSpPr/>
          <p:nvPr/>
        </p:nvCxnSpPr>
        <p:spPr>
          <a:xfrm flipV="1">
            <a:off x="2560320" y="3950208"/>
            <a:ext cx="0" cy="222199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60320" y="6172200"/>
            <a:ext cx="585216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453675" y="6092190"/>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nvGrpSpPr>
          <p:cNvPr id="38" name="Group 37">
            <a:extLst>
              <a:ext uri="{FF2B5EF4-FFF2-40B4-BE49-F238E27FC236}">
                <a16:creationId xmlns:a16="http://schemas.microsoft.com/office/drawing/2014/main" id="{E05F1A85-96BE-35E4-DC0F-E2497B43A983}"/>
              </a:ext>
            </a:extLst>
          </p:cNvPr>
          <p:cNvGrpSpPr/>
          <p:nvPr/>
        </p:nvGrpSpPr>
        <p:grpSpPr>
          <a:xfrm>
            <a:off x="2560320" y="3858158"/>
            <a:ext cx="5020055" cy="2314042"/>
            <a:chOff x="2560320" y="3858158"/>
            <a:chExt cx="5020055" cy="2314042"/>
          </a:xfrm>
        </p:grpSpPr>
        <p:sp>
          <p:nvSpPr>
            <p:cNvPr id="23" name="Rectangle 22"/>
            <p:cNvSpPr/>
            <p:nvPr/>
          </p:nvSpPr>
          <p:spPr>
            <a:xfrm>
              <a:off x="2560320" y="3858158"/>
              <a:ext cx="5020055" cy="2314042"/>
            </a:xfrm>
            <a:custGeom>
              <a:avLst/>
              <a:gdLst/>
              <a:ahLst/>
              <a:cxnLst/>
              <a:rect l="0" t="0" r="5020055" b="2314042"/>
              <a:pathLst>
                <a:path w="5020055" h="2314042">
                  <a:moveTo>
                    <a:pt x="0" y="2314042"/>
                  </a:moveTo>
                  <a:cubicBezTo>
                    <a:pt x="1673352" y="0"/>
                    <a:pt x="3346704" y="0"/>
                    <a:pt x="5020055" y="2314042"/>
                  </a:cubicBezTo>
                </a:path>
              </a:pathLst>
            </a:custGeom>
            <a:noFill/>
            <a:ln w="38100" cap="rnd">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flipV="1">
              <a:off x="5070348" y="4436668"/>
              <a:ext cx="0" cy="1735532"/>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808476" y="4366260"/>
              <a:ext cx="1463040" cy="310896"/>
            </a:xfrm>
            <a:prstGeom prst="rect">
              <a:avLst/>
            </a:prstGeom>
            <a:noFill/>
          </p:spPr>
          <p:txBody>
            <a:bodyPr wrap="square" lIns="0" tIns="0" rIns="0" bIns="0">
              <a:spAutoFit/>
            </a:bodyPr>
            <a:lstStyle/>
            <a:p>
              <a:pPr algn="l"/>
              <a:r>
                <a:rPr sz="1800" b="1" i="0" u="none">
                  <a:solidFill>
                    <a:srgbClr val="E09F3E"/>
                  </a:solidFill>
                  <a:latin typeface="Calibri"/>
                </a:rPr>
                <a:t>TR</a:t>
              </a:r>
            </a:p>
          </p:txBody>
        </p:sp>
      </p:grpSp>
      <p:cxnSp>
        <p:nvCxnSpPr>
          <p:cNvPr id="26" name="Connector 25"/>
          <p:cNvCxnSpPr>
            <a:cxnSpLocks/>
          </p:cNvCxnSpPr>
          <p:nvPr/>
        </p:nvCxnSpPr>
        <p:spPr>
          <a:xfrm flipV="1">
            <a:off x="3520440" y="4777740"/>
            <a:ext cx="836676" cy="632764"/>
          </a:xfrm>
          <a:prstGeom prst="line">
            <a:avLst/>
          </a:prstGeom>
          <a:ln w="25400">
            <a:solidFill>
              <a:schemeClr val="accent3">
                <a:lumMod val="75000"/>
              </a:schemeClr>
            </a:solidFill>
            <a:tailEnd type="triangle" w="med"/>
          </a:ln>
        </p:spPr>
        <p:style>
          <a:lnRef idx="2">
            <a:schemeClr val="accent1"/>
          </a:lnRef>
          <a:fillRef idx="0">
            <a:schemeClr val="accent1"/>
          </a:fillRef>
          <a:effectRef idx="1">
            <a:schemeClr val="accent1"/>
          </a:effectRef>
          <a:fontRef idx="minor">
            <a:schemeClr val="tx1"/>
          </a:fontRef>
        </p:style>
      </p:cxnSp>
      <p:cxnSp>
        <p:nvCxnSpPr>
          <p:cNvPr id="27" name="Connector 26"/>
          <p:cNvCxnSpPr>
            <a:cxnSpLocks/>
          </p:cNvCxnSpPr>
          <p:nvPr/>
        </p:nvCxnSpPr>
        <p:spPr>
          <a:xfrm>
            <a:off x="5861304" y="4777740"/>
            <a:ext cx="862279" cy="632764"/>
          </a:xfrm>
          <a:prstGeom prst="line">
            <a:avLst/>
          </a:prstGeom>
          <a:ln w="2540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204057" y="5582412"/>
            <a:ext cx="1687982" cy="43068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1400" b="0">
                <a:solidFill>
                  <a:srgbClr val="0B2B4E"/>
                </a:solidFill>
                <a:latin typeface="Calibri"/>
              </a:defRPr>
            </a:lvl1pPr>
            <a:lvl2pPr marL="685800" indent="-228600">
              <a:spcBef>
                <a:spcPts val="300"/>
              </a:spcBef>
              <a:buClr>
                <a:srgbClr val="555B66"/>
              </a:buClr>
              <a:buFont typeface="Calibri"/>
              <a:buChar char="–"/>
              <a:defRPr sz="1000" b="0">
                <a:solidFill>
                  <a:srgbClr val="555B66"/>
                </a:solidFill>
                <a:latin typeface="Calibri"/>
              </a:defRPr>
            </a:lvl2pPr>
          </a:lstStyle>
          <a:p>
            <a:pPr algn="l">
              <a:buNone/>
            </a:pPr>
            <a:r>
              <a:rPr sz="1400" b="1" dirty="0">
                <a:solidFill>
                  <a:srgbClr val="0B2B4E"/>
                </a:solidFill>
                <a:latin typeface="Calibri"/>
              </a:rPr>
              <a:t>Elastic region</a:t>
            </a:r>
            <a:r>
              <a:rPr sz="1400" dirty="0">
                <a:solidFill>
                  <a:srgbClr val="0B2B4E"/>
                </a:solidFill>
                <a:latin typeface="Calibri"/>
              </a:rPr>
              <a:t>:  P falls
→ Q rises → </a:t>
            </a:r>
            <a:r>
              <a:rPr sz="1400" b="1" dirty="0">
                <a:solidFill>
                  <a:srgbClr val="E09F3E"/>
                </a:solidFill>
                <a:latin typeface="Calibri"/>
              </a:rPr>
              <a:t>TR </a:t>
            </a:r>
            <a:r>
              <a:rPr sz="1400" b="1" u="sng" dirty="0">
                <a:solidFill>
                  <a:schemeClr val="accent3">
                    <a:lumMod val="50000"/>
                  </a:schemeClr>
                </a:solidFill>
                <a:latin typeface="Calibri"/>
              </a:rPr>
              <a:t>rises</a:t>
            </a:r>
          </a:p>
        </p:txBody>
      </p:sp>
      <p:sp>
        <p:nvSpPr>
          <p:cNvPr id="29" name="TextBox 28"/>
          <p:cNvSpPr txBox="1"/>
          <p:nvPr/>
        </p:nvSpPr>
        <p:spPr>
          <a:xfrm>
            <a:off x="5296204" y="5576011"/>
            <a:ext cx="1700784" cy="43068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1400" b="0">
                <a:solidFill>
                  <a:srgbClr val="0B2B4E"/>
                </a:solidFill>
                <a:latin typeface="Calibri"/>
              </a:defRPr>
            </a:lvl1pPr>
            <a:lvl2pPr marL="685800" indent="-228600">
              <a:spcBef>
                <a:spcPts val="300"/>
              </a:spcBef>
              <a:buClr>
                <a:srgbClr val="555B66"/>
              </a:buClr>
              <a:buFont typeface="Calibri"/>
              <a:buChar char="–"/>
              <a:defRPr sz="1000" b="0">
                <a:solidFill>
                  <a:srgbClr val="555B66"/>
                </a:solidFill>
                <a:latin typeface="Calibri"/>
              </a:defRPr>
            </a:lvl2pPr>
          </a:lstStyle>
          <a:p>
            <a:pPr algn="l">
              <a:buNone/>
            </a:pPr>
            <a:r>
              <a:rPr sz="1400" b="1" dirty="0">
                <a:solidFill>
                  <a:srgbClr val="0B2B4E"/>
                </a:solidFill>
                <a:latin typeface="Calibri"/>
              </a:rPr>
              <a:t>Inelastic region</a:t>
            </a:r>
            <a:r>
              <a:rPr sz="1400" dirty="0">
                <a:solidFill>
                  <a:srgbClr val="0B2B4E"/>
                </a:solidFill>
                <a:latin typeface="Calibri"/>
              </a:rPr>
              <a:t>:  P falls
→ Q rises → </a:t>
            </a:r>
            <a:r>
              <a:rPr sz="1400" b="1" dirty="0">
                <a:solidFill>
                  <a:srgbClr val="E09F3E"/>
                </a:solidFill>
                <a:latin typeface="Calibri"/>
              </a:rPr>
              <a:t>TR </a:t>
            </a:r>
            <a:r>
              <a:rPr sz="1400" b="1" u="sng" dirty="0">
                <a:solidFill>
                  <a:srgbClr val="C00000"/>
                </a:solidFill>
                <a:latin typeface="Calibri"/>
              </a:rPr>
              <a:t>falls</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30F67572-56A1-533B-9B3B-08B9F7B2B9A8}" type="slidenum">
              <a:rPr lang="en-US" sz="1200" dirty="0">
                <a:solidFill>
                  <a:srgbClr val="555B66"/>
                </a:solidFill>
                <a:latin typeface="Calibri"/>
              </a:rPr>
              <a:t>6</a:t>
            </a:fld>
            <a:endParaRPr lang="en-US" sz="1200" dirty="0">
              <a:solidFill>
                <a:srgbClr val="555B66"/>
              </a:solidFill>
              <a:latin typeface="Calibri"/>
            </a:endParaRPr>
          </a:p>
        </p:txBody>
      </p:sp>
      <p:sp>
        <p:nvSpPr>
          <p:cNvPr id="40" name="TextBox 39">
            <a:extLst>
              <a:ext uri="{FF2B5EF4-FFF2-40B4-BE49-F238E27FC236}">
                <a16:creationId xmlns:a16="http://schemas.microsoft.com/office/drawing/2014/main" id="{613DBD64-099C-730C-ED2D-7848E33A878F}"/>
              </a:ext>
            </a:extLst>
          </p:cNvPr>
          <p:cNvSpPr txBox="1"/>
          <p:nvPr/>
        </p:nvSpPr>
        <p:spPr>
          <a:xfrm>
            <a:off x="2267711" y="3822192"/>
            <a:ext cx="603504" cy="261610"/>
          </a:xfrm>
          <a:prstGeom prst="rect">
            <a:avLst/>
          </a:prstGeom>
          <a:noFill/>
        </p:spPr>
        <p:txBody>
          <a:bodyPr wrap="square" lIns="0" tIns="0" rIns="0" bIns="0">
            <a:spAutoFit/>
          </a:bodyPr>
          <a:lstStyle/>
          <a:p>
            <a:pPr algn="l"/>
            <a:r>
              <a:rPr lang="en-US" sz="1700" b="1" i="1" u="none" dirty="0">
                <a:solidFill>
                  <a:srgbClr val="0B2B4E"/>
                </a:solidFill>
                <a:latin typeface="Calibri"/>
              </a:rPr>
              <a:t>TR</a:t>
            </a:r>
            <a:endParaRPr sz="1700" b="1" i="1" u="none"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Effect of a Price Change on Total Revenue: It Depends on 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389159" y="1600200"/>
                <a:ext cx="11338560" cy="789960"/>
              </a:xfrm>
              <a:prstGeom prst="rect">
                <a:avLst/>
              </a:prstGeom>
              <a:noFill/>
            </p:spPr>
            <p:txBody>
              <a:bodyPr wrap="square" lIns="45720" tIns="0" rIns="45720" bIns="0">
                <a:spAutoFit/>
              </a:bodyPr>
              <a:lstStyle/>
              <a:p>
                <a:r>
                  <a:rPr lang="en-US" sz="2400" dirty="0">
                    <a:solidFill>
                      <a:srgbClr val="0B2B4E"/>
                    </a:solidFill>
                    <a:latin typeface="Calibri"/>
                  </a:rPr>
                  <a:t>Total Revenues:   </a:t>
                </a:r>
                <a14:m>
                  <m:oMath xmlns:m="http://schemas.openxmlformats.org/officeDocument/2006/math">
                    <m:r>
                      <m:rPr>
                        <m:sty m:val="p"/>
                      </m:rPr>
                      <a:rPr lang="en-US" sz="2400" b="0" i="0">
                        <a:solidFill>
                          <a:srgbClr val="0B2B4E"/>
                        </a:solidFill>
                        <a:latin typeface="Cambria Math"/>
                      </a:rPr>
                      <m:t>TR</m:t>
                    </m:r>
                    <m:r>
                      <a:rPr lang="en-US" sz="2400" b="0" i="0">
                        <a:solidFill>
                          <a:srgbClr val="0B2B4E"/>
                        </a:solidFill>
                        <a:latin typeface="Cambria Math"/>
                      </a:rPr>
                      <m:t> = </m:t>
                    </m:r>
                    <m:r>
                      <a:rPr lang="en-US" sz="2400" b="0" i="1">
                        <a:solidFill>
                          <a:srgbClr val="0B2B4E"/>
                        </a:solidFill>
                        <a:latin typeface="Cambria Math"/>
                        <a:ea typeface="Cambria Math"/>
                      </a:rPr>
                      <m:t>𝑃</m:t>
                    </m:r>
                    <m:r>
                      <a:rPr lang="en-US" sz="2400" b="0" i="0">
                        <a:solidFill>
                          <a:srgbClr val="0B2B4E"/>
                        </a:solidFill>
                        <a:latin typeface="Cambria Math"/>
                      </a:rPr>
                      <m:t> ⋅ </m:t>
                    </m:r>
                    <m:r>
                      <a:rPr lang="en-US" sz="2400" b="0" i="1">
                        <a:solidFill>
                          <a:srgbClr val="0B2B4E"/>
                        </a:solidFill>
                        <a:latin typeface="Cambria Math"/>
                        <a:ea typeface="Cambria Math"/>
                      </a:rPr>
                      <m:t>𝑄</m:t>
                    </m:r>
                  </m:oMath>
                </a14:m>
                <a:endParaRPr lang="en-US" dirty="0"/>
              </a:p>
              <a:p>
                <a:pPr>
                  <a:spcBef>
                    <a:spcPts val="400"/>
                  </a:spcBef>
                </a:pPr>
                <a:r>
                  <a:rPr lang="en-US" sz="2400" b="1" dirty="0">
                    <a:solidFill>
                      <a:srgbClr val="0B2B4E"/>
                    </a:solidFill>
                    <a:latin typeface="Calibri"/>
                  </a:rPr>
                  <a:t>In % changes</a:t>
                </a:r>
                <a:r>
                  <a:rPr lang="en-US" sz="2400" dirty="0">
                    <a:solidFill>
                      <a:srgbClr val="0B2B4E"/>
                    </a:solidFill>
                    <a:latin typeface="Calibri"/>
                  </a:rPr>
                  <a:t>, this implies:   </a:t>
                </a:r>
                <a14:m>
                  <m:oMath xmlns:m="http://schemas.openxmlformats.org/officeDocument/2006/math">
                    <m:r>
                      <a:rPr lang="en-US" sz="2400" b="1" i="0">
                        <a:solidFill>
                          <a:srgbClr val="0B2B4E"/>
                        </a:solidFill>
                        <a:latin typeface="Cambria Math"/>
                      </a:rPr>
                      <m:t>%</m:t>
                    </m:r>
                    <m:r>
                      <a:rPr lang="en-US" sz="2400" b="1" i="0">
                        <a:solidFill>
                          <a:srgbClr val="0B2B4E"/>
                        </a:solidFill>
                        <a:latin typeface="Cambria Math"/>
                      </a:rPr>
                      <m:t>𝚫</m:t>
                    </m:r>
                    <m:r>
                      <a:rPr lang="en-US" sz="2400" b="1" i="0">
                        <a:solidFill>
                          <a:srgbClr val="0B2B4E"/>
                        </a:solidFill>
                        <a:latin typeface="Cambria Math"/>
                      </a:rPr>
                      <m:t>𝐓𝐑</m:t>
                    </m:r>
                    <m:r>
                      <a:rPr lang="en-US" sz="2400" b="1" i="0">
                        <a:solidFill>
                          <a:srgbClr val="0B2B4E"/>
                        </a:solidFill>
                        <a:latin typeface="Cambria Math"/>
                      </a:rPr>
                      <m:t> = %</m:t>
                    </m:r>
                    <m:r>
                      <a:rPr lang="en-US" sz="2400" b="1" i="0">
                        <a:solidFill>
                          <a:srgbClr val="0B2B4E"/>
                        </a:solidFill>
                        <a:latin typeface="Cambria Math"/>
                      </a:rPr>
                      <m:t>𝚫</m:t>
                    </m:r>
                    <m:r>
                      <a:rPr lang="en-US" sz="2400" b="1" i="1">
                        <a:solidFill>
                          <a:srgbClr val="0B2B4E"/>
                        </a:solidFill>
                        <a:latin typeface="Cambria Math"/>
                        <a:ea typeface="Cambria Math"/>
                      </a:rPr>
                      <m:t>𝑷</m:t>
                    </m:r>
                    <m:r>
                      <a:rPr lang="en-US" sz="2400" b="1" i="0">
                        <a:solidFill>
                          <a:srgbClr val="0B2B4E"/>
                        </a:solidFill>
                        <a:latin typeface="Cambria Math"/>
                      </a:rPr>
                      <m:t> + %</m:t>
                    </m:r>
                    <m:r>
                      <a:rPr lang="en-US" sz="2400" b="1" i="0">
                        <a:solidFill>
                          <a:srgbClr val="0B2B4E"/>
                        </a:solidFill>
                        <a:latin typeface="Cambria Math"/>
                      </a:rPr>
                      <m:t>𝚫</m:t>
                    </m:r>
                    <m:r>
                      <a:rPr lang="en-US" sz="2400" b="1" i="1">
                        <a:solidFill>
                          <a:srgbClr val="0B2B4E"/>
                        </a:solidFill>
                        <a:latin typeface="Cambria Math"/>
                        <a:ea typeface="Cambria Math"/>
                      </a:rPr>
                      <m:t>𝑸</m:t>
                    </m:r>
                  </m:oMath>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389159" y="1600200"/>
                <a:ext cx="11338560" cy="789960"/>
              </a:xfrm>
              <a:prstGeom prst="rect">
                <a:avLst/>
              </a:prstGeom>
              <a:blipFill>
                <a:blip r:embed="rId2"/>
                <a:stretch>
                  <a:fillRect l="-1237" t="-12403" b="-22481"/>
                </a:stretch>
              </a:blipFill>
            </p:spPr>
            <p:txBody>
              <a:bodyPr/>
              <a:lstStyle/>
              <a:p>
                <a:r>
                  <a:rPr lang="en-US">
                    <a:noFill/>
                  </a:rPr>
                  <a:t> </a:t>
                </a:r>
              </a:p>
            </p:txBody>
          </p:sp>
        </mc:Fallback>
      </mc:AlternateContent>
      <p:sp>
        <p:nvSpPr>
          <p:cNvPr id="8" name="TextBox 7"/>
          <p:cNvSpPr txBox="1"/>
          <p:nvPr/>
        </p:nvSpPr>
        <p:spPr>
          <a:xfrm>
            <a:off x="389159" y="2880360"/>
            <a:ext cx="11338560" cy="82296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dirty="0">
                <a:latin typeface="Calibri"/>
              </a:rPr>
              <a:t>To assess the effect of a </a:t>
            </a:r>
            <a:r>
              <a:rPr b="1" dirty="0">
                <a:solidFill>
                  <a:srgbClr val="C00000"/>
                </a:solidFill>
                <a:latin typeface="Calibri"/>
              </a:rPr>
              <a:t>price decrease</a:t>
            </a:r>
            <a:r>
              <a:rPr dirty="0">
                <a:latin typeface="Calibri"/>
              </a:rPr>
              <a:t> on revenue, ask:</a:t>
            </a:r>
          </a:p>
          <a:p>
            <a:pPr marL="0" indent="0" algn="l">
              <a:spcBef>
                <a:spcPts val="0"/>
              </a:spcBef>
              <a:buNone/>
            </a:pPr>
            <a:r>
              <a:rPr sz="1800" i="1" dirty="0">
                <a:solidFill>
                  <a:srgbClr val="0B2B4E"/>
                </a:solidFill>
                <a:latin typeface="Calibri"/>
              </a:rPr>
              <a:t>        [note: if P decreases, Q must increase]</a:t>
            </a:r>
          </a:p>
        </p:txBody>
      </p:sp>
      <p:grpSp>
        <p:nvGrpSpPr>
          <p:cNvPr id="116" name="Group pair 116"/>
          <p:cNvGrpSpPr/>
          <p:nvPr/>
        </p:nvGrpSpPr>
        <p:grpSpPr>
          <a:xfrm>
            <a:off x="251999" y="3930091"/>
            <a:ext cx="5806815" cy="1126540"/>
            <a:chOff x="663854" y="3930091"/>
            <a:chExt cx="5394960" cy="1327708"/>
          </a:xfrm>
        </p:grpSpPr>
        <p:sp>
          <p:nvSpPr>
            <p:cNvPr id="9" name="Rounded Rectangle 8"/>
            <p:cNvSpPr/>
            <p:nvPr/>
          </p:nvSpPr>
          <p:spPr>
            <a:xfrm>
              <a:off x="663854" y="3930091"/>
              <a:ext cx="5394960" cy="1327708"/>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6734" y="4039819"/>
              <a:ext cx="5029200" cy="1108252"/>
            </a:xfrm>
            <a:prstGeom prst="rect">
              <a:avLst/>
            </a:prstGeom>
            <a:noFill/>
          </p:spPr>
          <p:txBody>
            <a:bodyPr wrap="square" lIns="45720" tIns="0" rIns="45720" bIns="0" anchor="ctr">
              <a:spAutoFit/>
            </a:bodyPr>
            <a:lstStyle/>
            <a:p>
              <a:pPr algn="l"/>
              <a:r>
                <a:rPr sz="1800" b="0" i="0" u="none" dirty="0">
                  <a:solidFill>
                    <a:srgbClr val="0B2B4E"/>
                  </a:solidFill>
                  <a:latin typeface="Calibri"/>
                </a:rPr>
                <a:t>Is the % reduction in </a:t>
              </a:r>
              <a:r>
                <a:rPr sz="1800" b="0" i="1" u="none" dirty="0">
                  <a:solidFill>
                    <a:srgbClr val="0B2B4E"/>
                  </a:solidFill>
                  <a:latin typeface="Calibri"/>
                </a:rPr>
                <a:t>P</a:t>
              </a:r>
              <a:r>
                <a:rPr sz="1800" b="0" i="0" u="none" dirty="0">
                  <a:solidFill>
                    <a:srgbClr val="0B2B4E"/>
                  </a:solidFill>
                  <a:latin typeface="Calibri"/>
                </a:rPr>
                <a:t> </a:t>
              </a:r>
              <a:r>
                <a:rPr sz="1800" b="1" i="0" u="sng" dirty="0">
                  <a:solidFill>
                    <a:srgbClr val="0B2B4E"/>
                  </a:solidFill>
                  <a:latin typeface="Calibri"/>
                </a:rPr>
                <a:t>smaller</a:t>
              </a:r>
              <a:r>
                <a:rPr sz="1800" b="0" i="0" u="none" dirty="0">
                  <a:solidFill>
                    <a:srgbClr val="0B2B4E"/>
                  </a:solidFill>
                  <a:latin typeface="Calibri"/>
                </a:rPr>
                <a:t> than the % increase in </a:t>
              </a:r>
              <a:r>
                <a:rPr sz="1800" b="0" i="1" u="none" dirty="0">
                  <a:solidFill>
                    <a:srgbClr val="0B2B4E"/>
                  </a:solidFill>
                  <a:latin typeface="Calibri"/>
                </a:rPr>
                <a:t>Q</a:t>
              </a:r>
              <a:r>
                <a:rPr sz="1800" b="0" i="0" u="none" dirty="0">
                  <a:solidFill>
                    <a:srgbClr val="0B2B4E"/>
                  </a:solidFill>
                  <a:latin typeface="Calibri"/>
                </a:rPr>
                <a:t>?
If yes: total revenue rises
→ Demand is </a:t>
              </a:r>
              <a:r>
                <a:rPr sz="1800" b="1" i="0" u="none" dirty="0">
                  <a:solidFill>
                    <a:srgbClr val="0070C0"/>
                  </a:solidFill>
                  <a:latin typeface="Calibri"/>
                </a:rPr>
                <a:t>elastic</a:t>
              </a:r>
            </a:p>
          </p:txBody>
        </p:sp>
      </p:grpSp>
      <p:grpSp>
        <p:nvGrpSpPr>
          <p:cNvPr id="117" name="Group pair 117"/>
          <p:cNvGrpSpPr/>
          <p:nvPr/>
        </p:nvGrpSpPr>
        <p:grpSpPr>
          <a:xfrm>
            <a:off x="6355080" y="3930091"/>
            <a:ext cx="5623560" cy="1126540"/>
            <a:chOff x="6355080" y="3930091"/>
            <a:chExt cx="5394960" cy="1327708"/>
          </a:xfrm>
        </p:grpSpPr>
        <p:sp>
          <p:nvSpPr>
            <p:cNvPr id="11" name="Rounded Rectangle 10"/>
            <p:cNvSpPr/>
            <p:nvPr/>
          </p:nvSpPr>
          <p:spPr>
            <a:xfrm>
              <a:off x="6355080" y="3930091"/>
              <a:ext cx="5394960" cy="1327708"/>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4039819"/>
              <a:ext cx="5029200" cy="1108252"/>
            </a:xfrm>
            <a:prstGeom prst="rect">
              <a:avLst/>
            </a:prstGeom>
            <a:noFill/>
          </p:spPr>
          <p:txBody>
            <a:bodyPr wrap="square" lIns="45720" tIns="0" rIns="45720" bIns="0" anchor="ctr">
              <a:spAutoFit/>
            </a:bodyPr>
            <a:lstStyle/>
            <a:p>
              <a:pPr algn="l"/>
              <a:r>
                <a:rPr sz="1800" b="0" i="0" u="none" dirty="0">
                  <a:solidFill>
                    <a:srgbClr val="0B2B4E"/>
                  </a:solidFill>
                  <a:latin typeface="Calibri"/>
                </a:rPr>
                <a:t>Is the % reduction in </a:t>
              </a:r>
              <a:r>
                <a:rPr sz="1800" b="0" i="1" u="none" dirty="0">
                  <a:solidFill>
                    <a:srgbClr val="0B2B4E"/>
                  </a:solidFill>
                  <a:latin typeface="Calibri"/>
                </a:rPr>
                <a:t>P</a:t>
              </a:r>
              <a:r>
                <a:rPr sz="1800" b="0" i="0" u="none" dirty="0">
                  <a:solidFill>
                    <a:srgbClr val="0B2B4E"/>
                  </a:solidFill>
                  <a:latin typeface="Calibri"/>
                </a:rPr>
                <a:t> </a:t>
              </a:r>
              <a:r>
                <a:rPr sz="1800" b="1" i="0" u="sng" dirty="0">
                  <a:solidFill>
                    <a:srgbClr val="0B2B4E"/>
                  </a:solidFill>
                  <a:latin typeface="Calibri"/>
                </a:rPr>
                <a:t>larger</a:t>
              </a:r>
              <a:r>
                <a:rPr sz="1800" b="0" i="0" u="none" dirty="0">
                  <a:solidFill>
                    <a:srgbClr val="0B2B4E"/>
                  </a:solidFill>
                  <a:latin typeface="Calibri"/>
                </a:rPr>
                <a:t> than the % increase in </a:t>
              </a:r>
              <a:r>
                <a:rPr sz="1800" b="0" i="1" u="none" dirty="0">
                  <a:solidFill>
                    <a:srgbClr val="0B2B4E"/>
                  </a:solidFill>
                  <a:latin typeface="Calibri"/>
                </a:rPr>
                <a:t>Q</a:t>
              </a:r>
              <a:r>
                <a:rPr sz="1800" b="0" i="0" u="none" dirty="0">
                  <a:solidFill>
                    <a:srgbClr val="0B2B4E"/>
                  </a:solidFill>
                  <a:latin typeface="Calibri"/>
                </a:rPr>
                <a:t>?
If yes: total revenue declines
→ Demand is </a:t>
              </a:r>
              <a:r>
                <a:rPr sz="1800" b="1" i="0" u="none" dirty="0">
                  <a:solidFill>
                    <a:srgbClr val="0070C0"/>
                  </a:solidFill>
                  <a:latin typeface="Calibri"/>
                </a:rPr>
                <a:t>inelastic</a:t>
              </a:r>
            </a:p>
          </p:txBody>
        </p:sp>
      </p:gr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FFEA4D40-B8B2-522C-98C7-92A233DE4E34}"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116"/>
                                        </p:tgtEl>
                                        <p:attrNameLst>
                                          <p:attrName>style.visibility</p:attrName>
                                        </p:attrNameLst>
                                      </p:cBhvr>
                                      <p:to>
                                        <p:strVal val="visible"/>
                                      </p:to>
                                    </p:set>
                                    <p:animEffect transition="in" filter="fade">
                                      <p:cBhvr>
                                        <p:cTn id="15" dur="500"/>
                                        <p:tgtEl>
                                          <p:spTgt spid="1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7"/>
                                        </p:tgtEl>
                                        <p:attrNameLst>
                                          <p:attrName>style.visibility</p:attrName>
                                        </p:attrNameLst>
                                      </p:cBhvr>
                                      <p:to>
                                        <p:strVal val="visible"/>
                                      </p:to>
                                    </p:set>
                                    <p:animEffect transition="in" filter="fade">
                                      <p:cBhvr>
                                        <p:cTn id="20"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What can a Price Cut and Revenues tell us about the Elasticity?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828800"/>
            <a:ext cx="6309360" cy="4011355"/>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dirty="0">
                <a:latin typeface="Calibri"/>
              </a:rPr>
              <a:t>Novo Nordisk</a:t>
            </a:r>
            <a:r>
              <a:rPr dirty="0">
                <a:latin typeface="Calibri"/>
              </a:rPr>
              <a:t> lowered its U.S. price for Ozempic and </a:t>
            </a:r>
            <a:r>
              <a:rPr dirty="0" err="1">
                <a:latin typeface="Calibri"/>
              </a:rPr>
              <a:t>Wegovy</a:t>
            </a:r>
            <a:r>
              <a:rPr dirty="0">
                <a:latin typeface="Calibri"/>
              </a:rPr>
              <a:t> under a deal with the White House</a:t>
            </a:r>
          </a:p>
          <a:p>
            <a:pPr algn="l"/>
            <a:r>
              <a:rPr dirty="0">
                <a:latin typeface="Calibri"/>
              </a:rPr>
              <a:t>As a result, revenues are forecasted to fall 5–13%</a:t>
            </a:r>
          </a:p>
          <a:p>
            <a:pPr algn="l"/>
            <a:r>
              <a:rPr dirty="0">
                <a:latin typeface="Calibri"/>
              </a:rPr>
              <a:t>What does this imply about the </a:t>
            </a:r>
            <a:r>
              <a:rPr b="1" dirty="0">
                <a:solidFill>
                  <a:srgbClr val="0070C0"/>
                </a:solidFill>
                <a:latin typeface="Calibri"/>
              </a:rPr>
              <a:t>elasticity of demand</a:t>
            </a:r>
            <a:r>
              <a:rPr dirty="0">
                <a:latin typeface="Calibri"/>
              </a:rPr>
              <a:t>?</a:t>
            </a:r>
            <a:endParaRPr lang="en-US" dirty="0">
              <a:latin typeface="Calibri"/>
            </a:endParaRPr>
          </a:p>
          <a:p>
            <a:pPr lvl="1"/>
            <a:r>
              <a:rPr lang="en-US" dirty="0"/>
              <a:t>Elastic?</a:t>
            </a:r>
          </a:p>
          <a:p>
            <a:pPr lvl="1"/>
            <a:r>
              <a:rPr lang="en-US" dirty="0">
                <a:latin typeface="Calibri"/>
              </a:rPr>
              <a:t>Inelastic?</a:t>
            </a:r>
          </a:p>
          <a:p>
            <a:pPr lvl="1"/>
            <a:r>
              <a:rPr lang="en-US" dirty="0"/>
              <a:t>E</a:t>
            </a:r>
            <a:r>
              <a:rPr lang="en-US" baseline="-25000" dirty="0"/>
              <a:t>D</a:t>
            </a:r>
            <a:r>
              <a:rPr lang="en-US" dirty="0"/>
              <a:t>=0 (unit elastic)?</a:t>
            </a:r>
          </a:p>
          <a:p>
            <a:pPr lvl="1"/>
            <a:r>
              <a:rPr lang="en-US" dirty="0">
                <a:latin typeface="Calibri"/>
              </a:rPr>
              <a:t>Need more information?</a:t>
            </a:r>
          </a:p>
        </p:txBody>
      </p:sp>
      <p:grpSp>
        <p:nvGrpSpPr>
          <p:cNvPr id="9702" name="Group pair 9702"/>
          <p:cNvGrpSpPr/>
          <p:nvPr/>
        </p:nvGrpSpPr>
        <p:grpSpPr>
          <a:xfrm>
            <a:off x="6995160" y="2103120"/>
            <a:ext cx="4251960" cy="3264408"/>
            <a:chOff x="6995160" y="2103120"/>
            <a:chExt cx="4251960" cy="3264408"/>
          </a:xfrm>
        </p:grpSpPr>
        <p:pic>
          <p:nvPicPr>
            <p:cNvPr id="8" name="Picture 7" descr="ct_ozempic_image1.png"/>
            <p:cNvPicPr>
              <a:picLocks noChangeAspect="1"/>
            </p:cNvPicPr>
            <p:nvPr/>
          </p:nvPicPr>
          <p:blipFill>
            <a:blip r:embed="rId3"/>
            <a:stretch>
              <a:fillRect/>
            </a:stretch>
          </p:blipFill>
          <p:spPr>
            <a:xfrm>
              <a:off x="6995160" y="2103120"/>
              <a:ext cx="4251960" cy="288036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6995160" y="5074920"/>
              <a:ext cx="4251960" cy="292608"/>
            </a:xfrm>
            <a:prstGeom prst="rect">
              <a:avLst/>
            </a:prstGeom>
            <a:noFill/>
          </p:spPr>
          <p:txBody>
            <a:bodyPr wrap="square" lIns="0" tIns="0" rIns="0" bIns="0">
              <a:spAutoFit/>
            </a:bodyPr>
            <a:lstStyle/>
            <a:p>
              <a:pPr algn="ctr"/>
              <a:r>
                <a:rPr sz="1200" b="0" i="1" u="sng">
                  <a:solidFill>
                    <a:srgbClr val="555B66"/>
                  </a:solidFill>
                  <a:latin typeface="Calibri"/>
                  <a:hlinkClick r:id="rId4">
                    <a:extLst>
                      <a:ext uri="{A12FA001-AC4F-418D-AE19-62706E023703}">
                        <ahyp:hlinkClr xmlns:ahyp="http://schemas.microsoft.com/office/drawing/2018/hyperlinkcolor" val="tx"/>
                      </a:ext>
                    </a:extLst>
                  </a:hlinkClick>
                </a:rPr>
                <a:t>Source: Pharmaceutical Technology</a:t>
              </a:r>
            </a:p>
          </p:txBody>
        </p:sp>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C7268266-B9CE-510E-8DAE-CCAC4EF4FAAA}" type="slidenum">
              <a:rPr lang="en-US" sz="1200" dirty="0">
                <a:solidFill>
                  <a:srgbClr val="555B66"/>
                </a:solidFill>
                <a:latin typeface="Calibri"/>
              </a:rPr>
              <a:t>8</a:t>
            </a:fld>
            <a:endParaRPr lang="en-US" sz="1200" dirty="0">
              <a:solidFill>
                <a:srgbClr val="555B66"/>
              </a:solidFill>
              <a:latin typeface="Calibri"/>
            </a:endParaRPr>
          </a:p>
        </p:txBody>
      </p:sp>
      <p:grpSp>
        <p:nvGrpSpPr>
          <p:cNvPr id="9600" name="Group 14">
            <a:extLst>
              <a:ext uri="{FF2B5EF4-FFF2-40B4-BE49-F238E27FC236}">
                <a16:creationId xmlns:a16="http://schemas.microsoft.com/office/drawing/2014/main" id="{C7881A0F-62FF-0536-16AD-55B1DC27DD3D}"/>
              </a:ext>
            </a:extLst>
          </p:cNvPr>
          <p:cNvGrpSpPr/>
          <p:nvPr/>
        </p:nvGrpSpPr>
        <p:grpSpPr>
          <a:xfrm>
            <a:off x="8641080" y="6190488"/>
            <a:ext cx="3298616" cy="539496"/>
            <a:chOff x="7550576" y="5715000"/>
            <a:chExt cx="4389120" cy="658368"/>
          </a:xfrm>
        </p:grpSpPr>
        <p:sp>
          <p:nvSpPr>
            <p:cNvPr id="96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703320" y="1874519"/>
            <a:ext cx="5486400" cy="731520"/>
          </a:xfrm>
          <a:prstGeom prst="rect">
            <a:avLst/>
          </a:prstGeom>
          <a:noFill/>
        </p:spPr>
        <p:txBody>
          <a:bodyPr wrap="square" lIns="45720" tIns="0" rIns="45720" bIns="0">
            <a:spAutoFit/>
          </a:bodyPr>
          <a:lstStyle/>
          <a:p>
            <a:r>
              <a:rPr lang="en-US" sz="3400">
                <a:solidFill>
                  <a:srgbClr val="0B2B4E"/>
                </a:solidFill>
                <a:latin typeface="Calibri"/>
              </a:rPr>
              <a:t>Demand is  </a:t>
            </a:r>
            <a:r>
              <a:rPr lang="en-US" sz="3400" b="1">
                <a:solidFill>
                  <a:srgbClr val="0070C0"/>
                </a:solidFill>
                <a:latin typeface="Calibri"/>
              </a:rPr>
              <a:t>inelastic</a:t>
            </a:r>
            <a:endParaRPr lang="en-US"/>
          </a:p>
        </p:txBody>
      </p:sp>
      <p:sp>
        <p:nvSpPr>
          <p:cNvPr id="8" name="TextBox 7"/>
          <p:cNvSpPr txBox="1"/>
          <p:nvPr/>
        </p:nvSpPr>
        <p:spPr>
          <a:xfrm>
            <a:off x="1005840" y="3246120"/>
            <a:ext cx="10241280" cy="1754326"/>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A price cut caused </a:t>
            </a:r>
            <a:r>
              <a:rPr lang="en-US" dirty="0">
                <a:latin typeface="Calibri"/>
              </a:rPr>
              <a:t>TR</a:t>
            </a:r>
            <a:r>
              <a:rPr dirty="0">
                <a:latin typeface="Calibri"/>
              </a:rPr>
              <a:t> to fall</a:t>
            </a:r>
          </a:p>
          <a:p>
            <a:pPr algn="l"/>
            <a:r>
              <a:rPr dirty="0">
                <a:latin typeface="Calibri"/>
              </a:rPr>
              <a:t>The quantity response was too small to offset the price cut</a:t>
            </a:r>
          </a:p>
          <a:p>
            <a:pPr algn="l"/>
            <a:r>
              <a:rPr b="1" dirty="0">
                <a:solidFill>
                  <a:srgbClr val="0070C0"/>
                </a:solidFill>
                <a:latin typeface="Calibri"/>
              </a:rPr>
              <a:t>Inelastic:  </a:t>
            </a:r>
            <a:r>
              <a:rPr i="1" dirty="0">
                <a:latin typeface="Calibri"/>
              </a:rPr>
              <a:t>|E</a:t>
            </a:r>
            <a:r>
              <a:rPr i="1" baseline="-25000" dirty="0">
                <a:latin typeface="Calibri"/>
              </a:rPr>
              <a:t>D</a:t>
            </a:r>
            <a:r>
              <a:rPr i="1" dirty="0">
                <a:latin typeface="Calibri"/>
              </a:rPr>
              <a:t>| &lt; 1</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08682F91-49E7-5EED-9DBC-C131636935DD}"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What About Profits?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46120" y="1645920"/>
            <a:ext cx="5715000" cy="8686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Profit  =  Revenue  −  Costs</a:t>
            </a:r>
          </a:p>
        </p:txBody>
      </p:sp>
      <p:sp>
        <p:nvSpPr>
          <p:cNvPr id="8" name="TextBox 7"/>
          <p:cNvSpPr txBox="1"/>
          <p:nvPr/>
        </p:nvSpPr>
        <p:spPr>
          <a:xfrm>
            <a:off x="1371600" y="2880360"/>
            <a:ext cx="9418320" cy="2092881"/>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lang="en-US" dirty="0">
                <a:latin typeface="Calibri"/>
              </a:rPr>
              <a:t>We know: </a:t>
            </a:r>
            <a:r>
              <a:rPr dirty="0">
                <a:latin typeface="Calibri"/>
              </a:rPr>
              <a:t>The price decrease caused </a:t>
            </a:r>
            <a:r>
              <a:rPr lang="en-US" dirty="0">
                <a:latin typeface="Calibri"/>
              </a:rPr>
              <a:t>TR </a:t>
            </a:r>
            <a:r>
              <a:rPr dirty="0">
                <a:latin typeface="Calibri"/>
              </a:rPr>
              <a:t>to decrease</a:t>
            </a:r>
          </a:p>
          <a:p>
            <a:pPr algn="l"/>
            <a:r>
              <a:rPr lang="en-US" dirty="0">
                <a:latin typeface="Calibri"/>
              </a:rPr>
              <a:t>A declining price also raises quantity produce/sold Q</a:t>
            </a:r>
            <a:r>
              <a:rPr dirty="0">
                <a:latin typeface="Calibri"/>
              </a:rPr>
              <a:t>  →  costs increase</a:t>
            </a:r>
          </a:p>
          <a:p>
            <a:pPr algn="l"/>
            <a:r>
              <a:rPr lang="en-US" dirty="0">
                <a:latin typeface="Calibri"/>
              </a:rPr>
              <a:t>Thus:</a:t>
            </a:r>
            <a:r>
              <a:rPr dirty="0">
                <a:latin typeface="Calibri"/>
              </a:rPr>
              <a:t> </a:t>
            </a:r>
            <a:r>
              <a:rPr lang="en-US" dirty="0">
                <a:latin typeface="Calibri"/>
              </a:rPr>
              <a:t>P</a:t>
            </a:r>
            <a:r>
              <a:rPr dirty="0">
                <a:latin typeface="Calibri"/>
              </a:rPr>
              <a:t>rofits fell</a:t>
            </a:r>
          </a:p>
          <a:p>
            <a:pPr algn="l"/>
            <a:r>
              <a:rPr dirty="0">
                <a:latin typeface="Calibri"/>
              </a:rPr>
              <a:t>Markets agreed:  </a:t>
            </a:r>
            <a:r>
              <a:rPr u="sng" dirty="0">
                <a:solidFill>
                  <a:srgbClr val="0070C0"/>
                </a:solidFill>
                <a:latin typeface="Calibri"/>
                <a:hlinkClick r:id="rId3">
                  <a:extLst>
                    <a:ext uri="{A12FA001-AC4F-418D-AE19-62706E023703}">
                      <ahyp:hlinkClr xmlns:ahyp="http://schemas.microsoft.com/office/drawing/2018/hyperlinkcolor" val="tx"/>
                    </a:ext>
                  </a:extLst>
                </a:hlinkClick>
              </a:rPr>
              <a:t>Novo Nordisk shares tumbled ~18%</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36B6251-3178-565F-97CD-AC46849C5395}" type="slidenum">
              <a:rPr lang="en-US" sz="1200" dirty="0">
                <a:solidFill>
                  <a:srgbClr val="555B66"/>
                </a:solidFill>
                <a:latin typeface="Calibri"/>
              </a:rPr>
              <a:t>10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fade">
                                      <p:cBhvr>
                                        <p:cTn id="11" dur="500"/>
                                        <p:tgtEl>
                                          <p:spTgt spid="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xEl>
                                              <p:pRg st="1" end="1"/>
                                            </p:txEl>
                                          </p:spTgt>
                                        </p:tgtEl>
                                        <p:attrNameLst>
                                          <p:attrName>style.visibility</p:attrName>
                                        </p:attrNameLst>
                                      </p:cBhvr>
                                      <p:to>
                                        <p:strVal val="visible"/>
                                      </p:to>
                                    </p:set>
                                    <p:animEffect transition="in" filter="fade">
                                      <p:cBhvr>
                                        <p:cTn id="16" dur="500"/>
                                        <p:tgtEl>
                                          <p:spTgt spid="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500"/>
                                        <p:tgtEl>
                                          <p:spTgt spid="8">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xEl>
                                              <p:pRg st="3" end="3"/>
                                            </p:txEl>
                                          </p:spTgt>
                                        </p:tgtEl>
                                        <p:attrNameLst>
                                          <p:attrName>style.visibility</p:attrName>
                                        </p:attrNameLst>
                                      </p:cBhvr>
                                      <p:to>
                                        <p:strVal val="visible"/>
                                      </p:to>
                                    </p:set>
                                    <p:animEffect transition="in" filter="fade">
                                      <p:cBhvr>
                                        <p:cTn id="26"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Summary: Effect of a Price Change on TR — It Depends on 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554480"/>
            <a:ext cx="11338560" cy="914400"/>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dirty="0">
                <a:latin typeface="Calibri"/>
              </a:rPr>
              <a:t>Is the percent reduction in price greater or smaller than the percent increase in quantity sold?</a:t>
            </a:r>
          </a:p>
          <a:p>
            <a:pPr algn="l"/>
            <a:r>
              <a:rPr dirty="0">
                <a:latin typeface="Calibri"/>
              </a:rPr>
              <a:t>More precisely: is demand elastic or inelastic?</a:t>
            </a:r>
          </a:p>
        </p:txBody>
      </p:sp>
      <p:grpSp>
        <p:nvGrpSpPr>
          <p:cNvPr id="113" name="Group pair 113"/>
          <p:cNvGrpSpPr/>
          <p:nvPr/>
        </p:nvGrpSpPr>
        <p:grpSpPr>
          <a:xfrm>
            <a:off x="640080" y="2651760"/>
            <a:ext cx="10881360" cy="3566160"/>
            <a:chOff x="640080" y="2651760"/>
            <a:chExt cx="10881360" cy="3566160"/>
          </a:xfrm>
        </p:grpSpPr>
        <p:sp>
          <p:nvSpPr>
            <p:cNvPr id="8" name="Rectangle 7"/>
            <p:cNvSpPr/>
            <p:nvPr/>
          </p:nvSpPr>
          <p:spPr>
            <a:xfrm>
              <a:off x="640080" y="2651760"/>
              <a:ext cx="10881360" cy="356616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extLst>
                <p:ext uri="{D42A27DB-BD31-4B8C-83A1-F6EECF244321}">
                  <p14:modId xmlns:p14="http://schemas.microsoft.com/office/powerpoint/2010/main" val="4179002274"/>
                </p:ext>
              </p:extLst>
            </p:nvPr>
          </p:nvGraphicFramePr>
          <p:xfrm>
            <a:off x="777240" y="2788920"/>
            <a:ext cx="10607040" cy="329184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658368">
                  <a:tc>
                    <a:txBody>
                      <a:bodyPr/>
                      <a:lstStyle/>
                      <a:p>
                        <a:pPr algn="ctr"/>
                        <a:r>
                          <a:rPr sz="1600" b="1">
                            <a:solidFill>
                              <a:srgbClr val="FFFFFF"/>
                            </a:solidFill>
                            <a:latin typeface="Calibri"/>
                          </a:rPr>
                          <a:t>% change in P</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600" b="1">
                            <a:solidFill>
                              <a:srgbClr val="FFFFFF"/>
                            </a:solidFill>
                            <a:latin typeface="Calibri"/>
                          </a:rPr>
                          <a:t>Resulting % change in 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600" b="1">
                            <a:solidFill>
                              <a:srgbClr val="FFFFFF"/>
                            </a:solidFill>
                            <a:latin typeface="Calibri"/>
                          </a:rPr>
                          <a:t>Demand is…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600" b="1">
                            <a:solidFill>
                              <a:srgbClr val="FFFFFF"/>
                            </a:solidFill>
                            <a:latin typeface="Calibri"/>
                          </a:rPr>
                          <a:t>Resulting change in revenue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658368">
                  <a:tc>
                    <a:txBody>
                      <a:bodyPr/>
                      <a:lstStyle/>
                      <a:p>
                        <a:pPr algn="l"/>
                        <a:r>
                          <a:rPr sz="1600" b="1">
                            <a:solidFill>
                              <a:srgbClr val="0B2B4E"/>
                            </a:solidFill>
                            <a:latin typeface="Calibri"/>
                          </a:rPr>
                          <a:t>If P decreases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lang="en-US" sz="1600" b="0" dirty="0">
                            <a:solidFill>
                              <a:srgbClr val="0B2B4E"/>
                            </a:solidFill>
                            <a:latin typeface="Calibri"/>
                          </a:rPr>
                          <a:t>Relatively large increase in </a:t>
                        </a:r>
                        <a:r>
                          <a:rPr sz="1600" b="0" dirty="0">
                            <a:solidFill>
                              <a:srgbClr val="0B2B4E"/>
                            </a:solidFill>
                            <a:latin typeface="Calibri"/>
                          </a:rPr>
                          <a:t>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600" b="0">
                            <a:solidFill>
                              <a:srgbClr val="0B2B4E"/>
                            </a:solidFill>
                            <a:latin typeface="Calibri"/>
                          </a:rPr>
                          <a:t>Elastic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600" b="0">
                            <a:solidFill>
                              <a:srgbClr val="0B2B4E"/>
                            </a:solidFill>
                            <a:latin typeface="Calibri"/>
                          </a:rPr>
                          <a:t>Revenue increases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658368">
                  <a:tc>
                    <a:txBody>
                      <a:bodyPr/>
                      <a:lstStyle/>
                      <a:p>
                        <a:pPr algn="l"/>
                        <a:r>
                          <a:rPr sz="1600" b="1">
                            <a:solidFill>
                              <a:srgbClr val="0B2B4E"/>
                            </a:solidFill>
                            <a:latin typeface="Calibri"/>
                          </a:rPr>
                          <a:t>If P decreases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lang="en-US" sz="1600" b="0" dirty="0">
                            <a:solidFill>
                              <a:srgbClr val="0B2B4E"/>
                            </a:solidFill>
                            <a:latin typeface="+mn-lt"/>
                          </a:rPr>
                          <a:t>Relatively small increase in 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600" b="0">
                            <a:solidFill>
                              <a:srgbClr val="0B2B4E"/>
                            </a:solidFill>
                            <a:latin typeface="Calibri"/>
                          </a:rPr>
                          <a:t>Inelastic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600" b="0">
                            <a:solidFill>
                              <a:srgbClr val="0B2B4E"/>
                            </a:solidFill>
                            <a:latin typeface="Calibri"/>
                          </a:rPr>
                          <a:t>Revenue decreases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658368">
                  <a:tc>
                    <a:txBody>
                      <a:bodyPr/>
                      <a:lstStyle/>
                      <a:p>
                        <a:pPr algn="l"/>
                        <a:r>
                          <a:rPr sz="1600" b="1">
                            <a:solidFill>
                              <a:srgbClr val="0B2B4E"/>
                            </a:solidFill>
                            <a:latin typeface="Calibri"/>
                          </a:rPr>
                          <a:t>If P increases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lang="en-US" sz="1600" b="0" dirty="0">
                            <a:solidFill>
                              <a:srgbClr val="0B2B4E"/>
                            </a:solidFill>
                            <a:latin typeface="+mn-lt"/>
                          </a:rPr>
                          <a:t>Relatively large decline in 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600" b="0">
                            <a:solidFill>
                              <a:srgbClr val="0B2B4E"/>
                            </a:solidFill>
                            <a:latin typeface="Calibri"/>
                          </a:rPr>
                          <a:t>Elastic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600" b="0">
                            <a:solidFill>
                              <a:srgbClr val="0B2B4E"/>
                            </a:solidFill>
                            <a:latin typeface="Calibri"/>
                          </a:rPr>
                          <a:t>Revenue decreases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658368">
                  <a:tc>
                    <a:txBody>
                      <a:bodyPr/>
                      <a:lstStyle/>
                      <a:p>
                        <a:pPr algn="l"/>
                        <a:r>
                          <a:rPr sz="1600" b="1">
                            <a:solidFill>
                              <a:srgbClr val="0B2B4E"/>
                            </a:solidFill>
                            <a:latin typeface="Calibri"/>
                          </a:rPr>
                          <a:t>If P increases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lang="en-US" sz="1600" b="0" dirty="0">
                            <a:solidFill>
                              <a:srgbClr val="0B2B4E"/>
                            </a:solidFill>
                            <a:latin typeface="+mn-lt"/>
                          </a:rPr>
                          <a:t>Relatively small decline in 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600" b="0">
                            <a:solidFill>
                              <a:srgbClr val="0B2B4E"/>
                            </a:solidFill>
                            <a:latin typeface="Calibri"/>
                          </a:rPr>
                          <a:t>Inelastic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600" b="0" dirty="0">
                            <a:solidFill>
                              <a:srgbClr val="0B2B4E"/>
                            </a:solidFill>
                            <a:latin typeface="Calibri"/>
                          </a:rPr>
                          <a:t>Revenue increases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bl>
            </a:graphicData>
          </a:graphic>
        </p:graphicFrame>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AF540A15-85A1-5986-921E-239DF3489994}" type="slidenum">
              <a:rPr lang="en-US" sz="1200" dirty="0">
                <a:solidFill>
                  <a:srgbClr val="555B66"/>
                </a:solidFill>
                <a:latin typeface="Calibri"/>
              </a:rPr>
              <a:t>11</a:t>
            </a:fld>
            <a:endParaRPr lang="en-US" sz="1200" dirty="0">
              <a:solidFill>
                <a:srgbClr val="555B66"/>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Why Is McDonald's Cutting Prices?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t_mcdonalds_image3.png"/>
          <p:cNvPicPr>
            <a:picLocks noChangeAspect="1"/>
          </p:cNvPicPr>
          <p:nvPr/>
        </p:nvPicPr>
        <p:blipFill>
          <a:blip r:embed="rId3"/>
          <a:stretch>
            <a:fillRect/>
          </a:stretch>
        </p:blipFill>
        <p:spPr>
          <a:xfrm>
            <a:off x="3124047" y="1371877"/>
            <a:ext cx="5943600" cy="1863171"/>
          </a:xfrm>
          <a:prstGeom prst="rect">
            <a:avLst/>
          </a:prstGeom>
        </p:spPr>
      </p:pic>
      <p:sp>
        <p:nvSpPr>
          <p:cNvPr id="8" name="TextBox 7"/>
          <p:cNvSpPr txBox="1"/>
          <p:nvPr/>
        </p:nvSpPr>
        <p:spPr>
          <a:xfrm>
            <a:off x="1166399" y="3381352"/>
            <a:ext cx="10058400" cy="3039294"/>
          </a:xfrm>
          <a:prstGeom prst="rect">
            <a:avLst/>
          </a:prstGeom>
          <a:noFill/>
        </p:spPr>
        <p:txBody>
          <a:bodyPr wrap="square" lIns="0" tIns="0" rIns="0" bIns="0">
            <a:spAutoFit/>
          </a:bodyPr>
          <a:lstStyle>
            <a:lvl1pPr marL="342900" indent="-342900">
              <a:spcBef>
                <a:spcPts val="12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dirty="0">
                <a:latin typeface="Calibri"/>
              </a:rPr>
              <a:t>What does this suggest about its demand</a:t>
            </a:r>
            <a:r>
              <a:rPr lang="en-US" dirty="0">
                <a:latin typeface="Calibri"/>
              </a:rPr>
              <a:t> elasticity</a:t>
            </a:r>
            <a:r>
              <a:rPr dirty="0">
                <a:latin typeface="Calibri"/>
              </a:rPr>
              <a:t>?</a:t>
            </a:r>
            <a:endParaRPr lang="en-US" dirty="0">
              <a:latin typeface="Calibri"/>
            </a:endParaRPr>
          </a:p>
          <a:p>
            <a:pPr lvl="1"/>
            <a:r>
              <a:rPr lang="en-US" dirty="0"/>
              <a:t>Elastic? </a:t>
            </a:r>
          </a:p>
          <a:p>
            <a:pPr lvl="1"/>
            <a:r>
              <a:rPr lang="en-US" dirty="0">
                <a:latin typeface="Calibri"/>
              </a:rPr>
              <a:t>Inelastic?</a:t>
            </a:r>
          </a:p>
          <a:p>
            <a:pPr lvl="1"/>
            <a:r>
              <a:rPr lang="en-US" dirty="0"/>
              <a:t>Need more information?</a:t>
            </a:r>
            <a:endParaRPr dirty="0">
              <a:latin typeface="Calibri"/>
            </a:endParaRPr>
          </a:p>
          <a:p>
            <a:pPr algn="l"/>
            <a:r>
              <a:rPr dirty="0">
                <a:latin typeface="Calibri"/>
              </a:rPr>
              <a:t>What are the implications for </a:t>
            </a:r>
            <a:r>
              <a:rPr lang="en-US" dirty="0">
                <a:latin typeface="Calibri"/>
              </a:rPr>
              <a:t>1) </a:t>
            </a:r>
            <a:r>
              <a:rPr dirty="0">
                <a:latin typeface="Calibri"/>
              </a:rPr>
              <a:t>revenue and </a:t>
            </a:r>
            <a:r>
              <a:rPr lang="en-US" dirty="0"/>
              <a:t>2) </a:t>
            </a:r>
            <a:r>
              <a:rPr dirty="0">
                <a:latin typeface="Calibri"/>
              </a:rPr>
              <a:t>profit given </a:t>
            </a:r>
            <a:r>
              <a:rPr lang="en-US" dirty="0">
                <a:latin typeface="Calibri"/>
              </a:rPr>
              <a:t>this elasticity</a:t>
            </a:r>
            <a:r>
              <a:rPr dirty="0">
                <a:latin typeface="Calibri"/>
              </a:rPr>
              <a:t>?</a:t>
            </a:r>
            <a:endParaRPr lang="en-US" dirty="0">
              <a:latin typeface="Calibri"/>
            </a:endParaRPr>
          </a:p>
          <a:p>
            <a:pPr lvl="1"/>
            <a:r>
              <a:rPr lang="en-US" dirty="0"/>
              <a:t>Rise?</a:t>
            </a:r>
          </a:p>
          <a:p>
            <a:pPr lvl="1"/>
            <a:r>
              <a:rPr lang="en-US" dirty="0">
                <a:latin typeface="Calibri"/>
              </a:rPr>
              <a:t>Fall?</a:t>
            </a:r>
          </a:p>
          <a:p>
            <a:pPr lvl="1"/>
            <a:r>
              <a:rPr lang="en-US" dirty="0"/>
              <a:t>Unchanged?</a:t>
            </a:r>
          </a:p>
          <a:p>
            <a:pPr lvl="1"/>
            <a:r>
              <a:rPr lang="en-US" dirty="0">
                <a:latin typeface="Calibri"/>
              </a:rPr>
              <a:t>Need more information?</a:t>
            </a:r>
            <a:endParaRPr dirty="0">
              <a:latin typeface="Calibri"/>
            </a:endParaRP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7EE5B772-28C2-5CCD-AA16-49F8FF391118}" type="slidenum">
              <a:rPr lang="en-US" sz="1200" dirty="0">
                <a:solidFill>
                  <a:srgbClr val="555B66"/>
                </a:solidFill>
                <a:latin typeface="Calibri"/>
              </a:rPr>
              <a:t>12</a:t>
            </a:fld>
            <a:endParaRPr lang="en-US" sz="1200" dirty="0">
              <a:solidFill>
                <a:srgbClr val="555B66"/>
              </a:solidFill>
              <a:latin typeface="Calibri"/>
            </a:endParaRPr>
          </a:p>
        </p:txBody>
      </p:sp>
      <p:grpSp>
        <p:nvGrpSpPr>
          <p:cNvPr id="13" name="Group 14">
            <a:extLst>
              <a:ext uri="{FF2B5EF4-FFF2-40B4-BE49-F238E27FC236}">
                <a16:creationId xmlns:a16="http://schemas.microsoft.com/office/drawing/2014/main" id="{96468D6C-F82B-F4F7-49CA-C690B4CA7030}"/>
              </a:ext>
            </a:extLst>
          </p:cNvPr>
          <p:cNvGrpSpPr/>
          <p:nvPr/>
        </p:nvGrpSpPr>
        <p:grpSpPr>
          <a:xfrm>
            <a:off x="8641080" y="6190488"/>
            <a:ext cx="3298616" cy="539496"/>
            <a:chOff x="7550576" y="5715000"/>
            <a:chExt cx="4389120" cy="658368"/>
          </a:xfrm>
        </p:grpSpPr>
        <p:sp>
          <p:nvSpPr>
            <p:cNvPr id="14" name="Rectangle 8">
              <a:extLst>
                <a:ext uri="{FF2B5EF4-FFF2-40B4-BE49-F238E27FC236}">
                  <a16:creationId xmlns:a16="http://schemas.microsoft.com/office/drawing/2014/main" id="{8318F9C4-CE9B-B68F-D8BE-4D96AD4AED1E}"/>
                </a:ext>
              </a:extLst>
            </p:cNvPr>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9">
              <a:extLst>
                <a:ext uri="{FF2B5EF4-FFF2-40B4-BE49-F238E27FC236}">
                  <a16:creationId xmlns:a16="http://schemas.microsoft.com/office/drawing/2014/main" id="{A7B20B48-21D7-44E6-58AB-A113862E64FC}"/>
                </a:ext>
              </a:extLst>
            </p:cNvPr>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500"/>
                                        <p:tgtEl>
                                          <p:spTgt spid="8">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5" end="5"/>
                                            </p:txEl>
                                          </p:spTgt>
                                        </p:tgtEl>
                                        <p:attrNameLst>
                                          <p:attrName>style.visibility</p:attrName>
                                        </p:attrNameLst>
                                      </p:cBhvr>
                                      <p:to>
                                        <p:strVal val="visible"/>
                                      </p:to>
                                    </p:set>
                                    <p:animEffect transition="in" filter="fade">
                                      <p:cBhvr>
                                        <p:cTn id="10" dur="500"/>
                                        <p:tgtEl>
                                          <p:spTgt spid="8">
                                            <p:txEl>
                                              <p:pRg st="5" end="5"/>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fade">
                                      <p:cBhvr>
                                        <p:cTn id="13" dur="500"/>
                                        <p:tgtEl>
                                          <p:spTgt spid="8">
                                            <p:txEl>
                                              <p:pRg st="6" end="6"/>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7" end="7"/>
                                            </p:txEl>
                                          </p:spTgt>
                                        </p:tgtEl>
                                        <p:attrNameLst>
                                          <p:attrName>style.visibility</p:attrName>
                                        </p:attrNameLst>
                                      </p:cBhvr>
                                      <p:to>
                                        <p:strVal val="visible"/>
                                      </p:to>
                                    </p:set>
                                    <p:animEffect transition="in" filter="fade">
                                      <p:cBhvr>
                                        <p:cTn id="16" dur="500"/>
                                        <p:tgtEl>
                                          <p:spTgt spid="8">
                                            <p:txEl>
                                              <p:pRg st="7" end="7"/>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animEffect transition="in" filter="fade">
                                      <p:cBhvr>
                                        <p:cTn id="19"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2858</Words>
  <Application>Microsoft Office PowerPoint</Application>
  <PresentationFormat>Widescreen</PresentationFormat>
  <Paragraphs>201</Paragraphs>
  <Slides>12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29</cp:revision>
  <dcterms:created xsi:type="dcterms:W3CDTF">2013-01-27T09:14:16Z</dcterms:created>
  <dcterms:modified xsi:type="dcterms:W3CDTF">2026-08-25T21:49:20Z</dcterms:modified>
  <cp:category/>
</cp:coreProperties>
</file>