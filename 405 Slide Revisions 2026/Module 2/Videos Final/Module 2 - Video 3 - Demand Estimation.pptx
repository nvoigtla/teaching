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83" r:id="rId2"/>
    <p:sldId id="284" r:id="rId3"/>
    <p:sldId id="285" r:id="rId4"/>
    <p:sldId id="286" r:id="rId5"/>
    <p:sldId id="287" r:id="rId6"/>
    <p:sldId id="288" r:id="rId7"/>
    <p:sldId id="289" r:id="rId8"/>
    <p:sldId id="290" r:id="rId9"/>
    <p:sldId id="291" r:id="rId10"/>
    <p:sldId id="292" r:id="rId11"/>
    <p:sldId id="293" r:id="rId12"/>
    <p:sldId id="294" r:id="rId13"/>
    <p:sldId id="297" r:id="rId14"/>
    <p:sldId id="300" r:id="rId15"/>
    <p:sldId id="303" r:id="rId16"/>
    <p:sldId id="306" r:id="rId17"/>
    <p:sldId id="295" r:id="rId18"/>
    <p:sldId id="296" r:id="rId19"/>
    <p:sldId id="307" r:id="rId20"/>
    <p:sldId id="308" r:id="rId21"/>
    <p:sldId id="309" r:id="rId22"/>
    <p:sldId id="310" r:id="rId23"/>
    <p:sldId id="311"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102" y="3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4B54A0-2E75-4067-A9D5-10D354C192DE}" type="datetimeFigureOut">
              <a:rPr lang="en-US" smtClean="0"/>
              <a:t>8/25/2026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4BCF77-3594-4A20-82CF-9DB1ACFB1D11}" type="slidenum">
              <a:rPr lang="en-US" smtClean="0"/>
              <a:t>‹#›</a:t>
            </a:fld>
            <a:endParaRPr lang="en-US"/>
          </a:p>
        </p:txBody>
      </p:sp>
    </p:spTree>
    <p:extLst>
      <p:ext uri="{BB962C8B-B14F-4D97-AF65-F5344CB8AC3E}">
        <p14:creationId xmlns:p14="http://schemas.microsoft.com/office/powerpoint/2010/main" val="1244736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can say that we'll focus on market experimentation = cleanest way + increasingly ued thanks to new technologies + we'll discuss at the end why better than using transaction data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camelcamelcamel.com is a free Amazon price tracker. It has followed Amazon listings since 2008 and plots the price history of a single product, marking the highest and lowest price it has ever recorded. The blue line on this slide is one listing over about five months, and the point is how restless it is: the price moves almost daily and swings between roughly $35 and $84 for the same item.</a:t>
            </a:r>
          </a:p>
          <a:p>
            <a:endParaRPr/>
          </a:p>
          <a:p>
            <a:r>
              <a:t>That is the illustration. Amazon is not running one A/B test and then settling on an answer, the way the previous slide's classic experiment does. It re-prices continuously, so the price variation we would need to estimate a demand curve is being generated all the time. The flip side is the warning that comes a few slides later: these price moves are not randomized, so quantity differences across high- and low-price days also reflect whatever else changed on those days (a holiday, a competitor's promotion, a stock-out).</a:t>
            </a:r>
          </a:p>
          <a:p>
            <a:endParaRPr/>
          </a:p>
          <a:p>
            <a:r>
              <a:t>The product above the chart is a Labubu, in case that name means nothing to you. Labubu is a character - an elf-like creature with pointed ears and a wide, serrated grin - created by the Hong Kong illustrator Kasing Lung for his picture-book series THE MONSTERS, which he started in 2015 and drew from Nordic folklore. In 2019 Lung signed an exclusive licence with Pop Mart, a Chinese designer-toy company, which turned the character into small vinyl and plush collectibles sold in BLIND BOXES: you pay for a sealed box and only find out which variant of the series you got when you open it, with one rare 'secret' version per case.</a:t>
            </a:r>
          </a:p>
          <a:p>
            <a:endParaRPr/>
          </a:p>
          <a:p>
            <a:r>
              <a:t>From about 2024 the toys became a global craze, helped by celebrities photographed with one clipped to a handbag, and Pop Mart's Labubu lines have been a large part of its revenue growth. The one on this slide is from the Coca-Cola collaboration series. That background is exactly why the price line is so restless: supply comes in limited drops, demand is faddish, and the listing gets re-priced constantly. Nothing in the economics turns on the product, though - any item with a volatile price would make the same point.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basic equation is a demand equation: Q=a+bP. We expect b&lt;0, because that determines that the own-price elasticity is negative.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4BCF77-3594-4A20-82CF-9DB1ACFB1D11}" type="slidenum">
              <a:rPr lang="en-US" smtClean="0"/>
              <a:t>10</a:t>
            </a:fld>
            <a:endParaRPr lang="en-US"/>
          </a:p>
        </p:txBody>
      </p:sp>
    </p:spTree>
    <p:extLst>
      <p:ext uri="{BB962C8B-B14F-4D97-AF65-F5344CB8AC3E}">
        <p14:creationId xmlns:p14="http://schemas.microsoft.com/office/powerpoint/2010/main" val="39960281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intercept term is the value of a: horizontal intercept. When the price is zero you sell 479 units.</a:t>
            </a:r>
          </a:p>
          <a:p>
            <a:endParaRPr/>
          </a:p>
          <a:p>
            <a:r>
              <a:t>The price has a negative coefficient: b=-1.64. Price and volume are inversely related, as in a demand function. For every unit you drop the price, you get a 1.64 unit expansion in volume sold.</a:t>
            </a:r>
          </a:p>
          <a:p>
            <a:endParaRPr/>
          </a:p>
          <a:p>
            <a:r>
              <a:t>So now we have our values for a and b, respectively.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can we do better than an R2 of 0.59? Yes. Economics tells us a lot of other things besides your own price drive demand: income, price of substitutes, how much you spend on promotion and advertising, etc. So let’s include them in the regression and see what happens. -&gt; even if we have randomized prices, these factors might change and including them will increase precisions</a:t>
            </a:r>
          </a:p>
          <a:p>
            <a:r>
              <a:t> </a:t>
            </a:r>
          </a:p>
          <a:p>
            <a:r>
              <a:t>The multivariate model includes two additional regressors or independent variables:</a:t>
            </a:r>
          </a:p>
          <a:p>
            <a:endParaRPr/>
          </a:p>
          <a:p>
            <a:r>
              <a:t>1. There is a competitor with a substitute product available (say United versus American)</a:t>
            </a:r>
          </a:p>
          <a:p>
            <a:r>
              <a:t>2. You have data on average income in the US at the time of the sales. That is a factor that influences demand (what is the expected direction? Positive if air travel is a normal good).</a:t>
            </a:r>
          </a:p>
          <a:p>
            <a:r>
              <a:t> </a:t>
            </a:r>
          </a:p>
          <a:p>
            <a:r>
              <a:t>Move to multiple regression module of the Excel workbook. Units are $ for price but an index for the income level. Run a multivariate regression of quantity on own price, price of substitute and income. The dependent variable stays the same, the independent variables now include Y and Pc.</a:t>
            </a:r>
          </a:p>
          <a:p>
            <a:endParaRPr/>
          </a:p>
          <a:p>
            <a:r>
              <a:t>On Problem Set 2, you will have the opportunity to run a regression, and interpret and use the coefficients!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82487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has changed? </a:t>
            </a:r>
          </a:p>
          <a:p>
            <a:r>
              <a:t> </a:t>
            </a:r>
          </a:p>
          <a:p>
            <a:r>
              <a:t>The coefficient on Pc, which is dQ/dPc, equals 1.04. This indicates how my quantity sold changes with a one unit change in the competitor’s price. Since the product is a substitute, I expect a positive sign, which is what we get.</a:t>
            </a:r>
          </a:p>
          <a:p>
            <a:endParaRPr/>
          </a:p>
          <a:p>
            <a:r>
              <a:t>The coefficient on Y is 3.09 indicating a normal good. For every 1 point increase in the index of income, you get a 3.09 increase in airline seats sold.</a:t>
            </a:r>
          </a:p>
          <a:p>
            <a:endParaRPr/>
          </a:p>
          <a:p>
            <a:r>
              <a:t>You can derive elasticities from these numbers.</a:t>
            </a:r>
          </a:p>
          <a:p>
            <a:endParaRPr/>
          </a:p>
          <a:p>
            <a:r>
              <a:t>There is not much meaning to the intercept here – value of Q is all the independent variables are zero.</a:t>
            </a:r>
          </a:p>
          <a:p>
            <a:endParaRPr/>
          </a:p>
          <a:p>
            <a:r>
              <a:t>Note that R2 (which is not stated on this slide) is now up to 0.88, which mean 88% of the variation in Q is explained by our model, so we are doing much better. R2 always goes up when you include more variables, but how much it goes up matters.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09836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Other reported statistics (by Excel, R, or Stata) are interesting. </a:t>
            </a:r>
          </a:p>
          <a:p>
            <a:endParaRPr/>
          </a:p>
          <a:p>
            <a:r>
              <a:t>— The first is a measure of FIT. The better the overall fit, the closer the data points are to the regression line, i.e. the regression line captures a lot of the variation in the data. A measure of what we can explain. Here R2 is about 60%. We can explain 60% of the variation in quantity only using the price. Not bad, but there is room for improvement – 40% to be precise. The logical next step is to try to explain more. You can do that by adding more variables on the right hand side. If all the points were exactly on the regression line, we would have R2=1. Needless to say, that is almost never the case.</a:t>
            </a:r>
          </a:p>
          <a:p>
            <a:endParaRPr/>
          </a:p>
          <a:p>
            <a:r>
              <a:t>The second set of statistics measure statistical significance – i.e. how precisely each individual coefficient is measured. You can look at the standard error of your estimate, or the t-statistic that is simply the coefficient divided by the standard error. The rule of thumb is you want the absolute value of the t-statistic to be greater than 2 – for enough precision you want your coefficient to be twice the magnitude of its standard error. Then you can be 95% certain that the true coefficient is different from zero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basic equation is a demand equation: Q=a+bP. We expect b&lt;0, because that determines that the own-price elasticity is negative.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Then we show the graph to say that when MR is negative it means you are in the inelastic portion and in this portion you always want to increase the price + we can ask them</a:t>
            </a:r>
          </a:p>
          <a:p>
            <a:r>
              <a:t>Then which value do you expect for the elasticity at the current price (should answer absolute value below 1)</a:t>
            </a:r>
          </a:p>
          <a:p>
            <a:r>
              <a:t>How would you compute it? + if time could be done on the board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call this omitted variable bias. </a:t>
            </a:r>
          </a:p>
          <a:p>
            <a:endParaRPr/>
          </a:p>
          <a:p>
            <a:r>
              <a:t>https://www.thegreatcoursesdaily.com/correlation-or-causality-wine-and-heart-health/ </a:t>
            </a:r>
          </a:p>
          <a:p>
            <a:r>
              <a:t>“But experts warn that the two studies, both published in the Annals of Internal Medicine, do not show that drinking coffee was behind the overall lower risk, pointing out that it could be that coffee drinkers are healthier in various ways or that those who are unwell drink less coffee. In addition, levels of coffee drinking were self-reported.”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hyperlink" Target="https://camelcamelcamel.com/product/B0DRVPMBX3" TargetMode="Externa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hyperlink" Target="https://www.tylervigen.com/spurious-correlations" TargetMode="Externa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12191695" cy="1005840"/>
          </a:xfrm>
          <a:prstGeom prst="rect">
            <a:avLst/>
          </a:prstGeom>
          <a:noFill/>
        </p:spPr>
        <p:txBody>
          <a:bodyPr wrap="square" lIns="0" tIns="0" rIns="0" bIns="0">
            <a:spAutoFit/>
          </a:bodyPr>
          <a:lstStyle/>
          <a:p>
            <a:pPr algn="ctr"/>
            <a:r>
              <a:rPr sz="6000" b="1" i="0" u="none">
                <a:solidFill>
                  <a:srgbClr val="0B2B4E"/>
                </a:solidFill>
                <a:latin typeface="Calibri"/>
              </a:rPr>
              <a:t>Demand Estimation</a:t>
            </a:r>
          </a:p>
        </p:txBody>
      </p:sp>
      <p:sp>
        <p:nvSpPr>
          <p:cNvPr id="3" name="TextBox 2"/>
          <p:cNvSpPr txBox="1"/>
          <p:nvPr/>
        </p:nvSpPr>
        <p:spPr>
          <a:xfrm>
            <a:off x="0" y="297180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2  ·  Video 3</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224528"/>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Outline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2</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51333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TextBox 7"/>
          <p:cNvSpPr txBox="1"/>
          <p:nvPr/>
        </p:nvSpPr>
        <p:spPr>
          <a:xfrm>
            <a:off x="1874519" y="1580108"/>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The Law of Demand</a:t>
            </a:r>
          </a:p>
        </p:txBody>
      </p:sp>
      <p:sp>
        <p:nvSpPr>
          <p:cNvPr id="9" name="Oval 8"/>
          <p:cNvSpPr/>
          <p:nvPr/>
        </p:nvSpPr>
        <p:spPr>
          <a:xfrm>
            <a:off x="1051560" y="234543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2</a:t>
            </a:r>
          </a:p>
        </p:txBody>
      </p:sp>
      <p:sp>
        <p:nvSpPr>
          <p:cNvPr id="10" name="TextBox 9"/>
          <p:cNvSpPr txBox="1"/>
          <p:nvPr/>
        </p:nvSpPr>
        <p:spPr>
          <a:xfrm>
            <a:off x="1874519" y="2412212"/>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Elasticities</a:t>
            </a:r>
          </a:p>
        </p:txBody>
      </p:sp>
      <p:sp>
        <p:nvSpPr>
          <p:cNvPr id="11" name="Oval 10"/>
          <p:cNvSpPr/>
          <p:nvPr/>
        </p:nvSpPr>
        <p:spPr>
          <a:xfrm>
            <a:off x="1051560" y="317754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3</a:t>
            </a:r>
          </a:p>
        </p:txBody>
      </p:sp>
      <p:sp>
        <p:nvSpPr>
          <p:cNvPr id="12" name="TextBox 11"/>
          <p:cNvSpPr txBox="1"/>
          <p:nvPr/>
        </p:nvSpPr>
        <p:spPr>
          <a:xfrm>
            <a:off x="1874519" y="3244316"/>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Demand and Revenue</a:t>
            </a:r>
          </a:p>
        </p:txBody>
      </p:sp>
      <p:sp>
        <p:nvSpPr>
          <p:cNvPr id="13" name="Oval 12"/>
          <p:cNvSpPr/>
          <p:nvPr/>
        </p:nvSpPr>
        <p:spPr>
          <a:xfrm>
            <a:off x="1481328" y="4064508"/>
            <a:ext cx="420624" cy="42062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a:solidFill>
                  <a:srgbClr val="BFBFBF"/>
                </a:solidFill>
                <a:latin typeface="Calibri"/>
              </a:rPr>
              <a:t>3a</a:t>
            </a:r>
          </a:p>
        </p:txBody>
      </p:sp>
      <p:sp>
        <p:nvSpPr>
          <p:cNvPr id="14" name="TextBox 13"/>
          <p:cNvSpPr txBox="1"/>
          <p:nvPr/>
        </p:nvSpPr>
        <p:spPr>
          <a:xfrm>
            <a:off x="2084831" y="4076420"/>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Elasticity and Revenue</a:t>
            </a:r>
          </a:p>
        </p:txBody>
      </p:sp>
      <p:sp>
        <p:nvSpPr>
          <p:cNvPr id="15" name="Oval 14"/>
          <p:cNvSpPr/>
          <p:nvPr/>
        </p:nvSpPr>
        <p:spPr>
          <a:xfrm>
            <a:off x="1481328" y="4896612"/>
            <a:ext cx="420624" cy="42062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a:solidFill>
                  <a:srgbClr val="BFBFBF"/>
                </a:solidFill>
                <a:latin typeface="Calibri"/>
              </a:rPr>
              <a:t>3b</a:t>
            </a:r>
          </a:p>
        </p:txBody>
      </p:sp>
      <p:sp>
        <p:nvSpPr>
          <p:cNvPr id="16" name="TextBox 15"/>
          <p:cNvSpPr txBox="1"/>
          <p:nvPr/>
        </p:nvSpPr>
        <p:spPr>
          <a:xfrm>
            <a:off x="2084831" y="4908524"/>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Marginal Revenue</a:t>
            </a:r>
          </a:p>
        </p:txBody>
      </p:sp>
      <p:sp>
        <p:nvSpPr>
          <p:cNvPr id="17" name="Rounded Rectangle 16"/>
          <p:cNvSpPr/>
          <p:nvPr/>
        </p:nvSpPr>
        <p:spPr>
          <a:xfrm>
            <a:off x="822960" y="5600700"/>
            <a:ext cx="11109960" cy="822960"/>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51560" y="567385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4</a:t>
            </a:r>
          </a:p>
        </p:txBody>
      </p:sp>
      <p:sp>
        <p:nvSpPr>
          <p:cNvPr id="19" name="TextBox 18"/>
          <p:cNvSpPr txBox="1"/>
          <p:nvPr/>
        </p:nvSpPr>
        <p:spPr>
          <a:xfrm>
            <a:off x="1874519" y="5655564"/>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Demand Estimation</a:t>
            </a:r>
          </a:p>
          <a:p>
            <a:pPr algn="l">
              <a:spcBef>
                <a:spcPts val="0"/>
              </a:spcBef>
              <a:buNone/>
            </a:pPr>
            <a:r>
              <a:rPr sz="2200">
                <a:solidFill>
                  <a:srgbClr val="555B66"/>
                </a:solidFill>
                <a:latin typeface="Calibri"/>
              </a:rPr>
              <a:t>Measuring demand from data – market experiments and regression</a:t>
            </a:r>
          </a:p>
        </p:txBody>
      </p:sp>
      <p:sp>
        <p:nvSpPr>
          <p:cNvPr id="20" name="Rectangle 1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23" name="TextBox 22"/>
          <p:cNvSpPr txBox="1"/>
          <p:nvPr/>
        </p:nvSpPr>
        <p:spPr>
          <a:xfrm>
            <a:off x="11475720" y="6583680"/>
            <a:ext cx="502920" cy="292608"/>
          </a:xfrm>
          <a:prstGeom prst="rect">
            <a:avLst/>
          </a:prstGeom>
          <a:noFill/>
        </p:spPr>
        <p:txBody>
          <a:bodyPr wrap="none" lIns="0" tIns="0" rIns="0" bIns="0">
            <a:spAutoFit/>
          </a:bodyPr>
          <a:lstStyle/>
          <a:p>
            <a:pPr algn="r"/>
            <a:fld id="{AE74B37C-B665-5DEA-BA51-58DA93724889}" type="slidenum">
              <a:rPr lang="en-US" sz="1200" dirty="0">
                <a:solidFill>
                  <a:srgbClr val="555B66"/>
                </a:solidFill>
                <a:latin typeface="Calibri"/>
              </a:rPr>
              <a:t>2</a:t>
            </a:fld>
            <a:endParaRPr lang="en-US" sz="1200" dirty="0">
              <a:solidFill>
                <a:srgbClr val="555B66"/>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How to Estimate a Demand Curve?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11687697" cy="2931572"/>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500" b="0">
                <a:solidFill>
                  <a:srgbClr val="555B66"/>
                </a:solidFill>
                <a:latin typeface="Calibri"/>
              </a:defRPr>
            </a:lvl2pPr>
          </a:lstStyle>
          <a:p>
            <a:pPr algn="l"/>
            <a:r>
              <a:rPr dirty="0">
                <a:latin typeface="Calibri"/>
              </a:rPr>
              <a:t>Use regression analysis to estimate the relationship between price and quantity</a:t>
            </a:r>
          </a:p>
          <a:p>
            <a:pPr algn="l"/>
            <a:r>
              <a:rPr dirty="0">
                <a:latin typeface="Calibri"/>
              </a:rPr>
              <a:t>Need data linking prices to quantities</a:t>
            </a:r>
          </a:p>
          <a:p>
            <a:pPr algn="l"/>
            <a:r>
              <a:rPr dirty="0">
                <a:latin typeface="Calibri"/>
              </a:rPr>
              <a:t>Several approaches</a:t>
            </a:r>
          </a:p>
          <a:p>
            <a:pPr lvl="1" algn="l"/>
            <a:r>
              <a:rPr dirty="0">
                <a:latin typeface="Calibri"/>
              </a:rPr>
              <a:t>Transaction data (marketing firms, internet</a:t>
            </a:r>
            <a:r>
              <a:rPr lang="en-US" dirty="0">
                <a:latin typeface="Calibri"/>
              </a:rPr>
              <a:t> shopping</a:t>
            </a:r>
            <a:r>
              <a:rPr dirty="0">
                <a:latin typeface="Calibri"/>
              </a:rPr>
              <a:t>, store club cards)</a:t>
            </a:r>
          </a:p>
          <a:p>
            <a:pPr lvl="1" algn="l"/>
            <a:r>
              <a:rPr dirty="0">
                <a:latin typeface="Calibri"/>
              </a:rPr>
              <a:t>Surveys</a:t>
            </a:r>
          </a:p>
          <a:p>
            <a:pPr lvl="1" algn="l"/>
            <a:r>
              <a:rPr b="1" dirty="0">
                <a:latin typeface="Calibri"/>
              </a:rPr>
              <a:t>Market experimentation</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7A9A74B7-DF7F-5EA1-924A-779BB974D1B0}" type="slidenum">
              <a:rPr lang="en-US" sz="1200" dirty="0">
                <a:solidFill>
                  <a:srgbClr val="555B66"/>
                </a:solidFill>
                <a:latin typeface="Calibri"/>
              </a:rPr>
              <a:t>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Effect transition="in" filter="fade">
                                      <p:cBhvr>
                                        <p:cTn id="15" dur="500"/>
                                        <p:tgtEl>
                                          <p:spTgt spid="7">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animEffect transition="in" filter="fade">
                                      <p:cBhvr>
                                        <p:cTn id="18" dur="500"/>
                                        <p:tgtEl>
                                          <p:spTgt spid="7">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animEffect transition="in" filter="fade">
                                      <p:cBhvr>
                                        <p:cTn id="21"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u="none" dirty="0">
                <a:solidFill>
                  <a:srgbClr val="0B2B4E"/>
                </a:solidFill>
                <a:latin typeface="Calibri"/>
              </a:rPr>
              <a:t>A/B Testing: What Is the Demand</a:t>
            </a:r>
            <a:r>
              <a:rPr lang="en-US" sz="3200" b="1" i="0" u="none" dirty="0">
                <a:solidFill>
                  <a:srgbClr val="0B2B4E"/>
                </a:solidFill>
                <a:latin typeface="Calibri"/>
              </a:rPr>
              <a:t> Function</a:t>
            </a:r>
            <a:r>
              <a:rPr sz="3200" b="1" i="0" u="none" dirty="0">
                <a:solidFill>
                  <a:srgbClr val="0B2B4E"/>
                </a:solidFill>
                <a:latin typeface="Calibri"/>
              </a:rPr>
              <a:t> for This Product?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t_abtest_image8.png"/>
          <p:cNvPicPr>
            <a:picLocks noChangeAspect="1"/>
          </p:cNvPicPr>
          <p:nvPr/>
        </p:nvPicPr>
        <p:blipFill>
          <a:blip r:embed="rId2"/>
          <a:stretch>
            <a:fillRect/>
          </a:stretch>
        </p:blipFill>
        <p:spPr>
          <a:xfrm>
            <a:off x="4434840" y="1463040"/>
            <a:ext cx="3657685" cy="4892040"/>
          </a:xfrm>
          <a:prstGeom prst="roundRect">
            <a:avLst>
              <a:gd name="adj" fmla="val 8000"/>
            </a:avLst>
          </a:prstGeom>
          <a:effectLst>
            <a:outerShdw blurRad="50800" dist="38100" dir="2700000" algn="tl" rotWithShape="0">
              <a:srgbClr val="000000">
                <a:alpha val="50000"/>
              </a:srgbClr>
            </a:outerShdw>
          </a:effectLst>
        </p:spPr>
      </p:pic>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53BCAF25-C377-5DA9-851D-16C0F8DFA561}"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A/B Testing: Amazon “Experiments”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t_amazonexp_image9.png"/>
          <p:cNvPicPr>
            <a:picLocks noChangeAspect="1"/>
          </p:cNvPicPr>
          <p:nvPr/>
        </p:nvPicPr>
        <p:blipFill>
          <a:blip r:embed="rId2"/>
          <a:stretch>
            <a:fillRect/>
          </a:stretch>
        </p:blipFill>
        <p:spPr>
          <a:xfrm>
            <a:off x="2331720" y="1554480"/>
            <a:ext cx="7498079" cy="4174038"/>
          </a:xfrm>
          <a:prstGeom prst="roundRect">
            <a:avLst>
              <a:gd name="adj" fmla="val 8000"/>
            </a:avLst>
          </a:prstGeom>
          <a:effectLst>
            <a:outerShdw blurRad="50800" dist="38100" dir="2700000" algn="tl" rotWithShape="0">
              <a:srgbClr val="000000">
                <a:alpha val="50000"/>
              </a:srgbClr>
            </a:outerShdw>
          </a:effectLst>
        </p:spPr>
      </p:pic>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17E18FD9-22B3-59C6-B4F5-392A7FD15CC9}" type="slidenum">
              <a:rPr lang="en-US" sz="1200" dirty="0">
                <a:solidFill>
                  <a:srgbClr val="555B66"/>
                </a:solidFill>
                <a:latin typeface="Calibri"/>
              </a:rPr>
              <a:t>5</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Recent Amazon “Experiments”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26" name="Group pair 126"/>
          <p:cNvGrpSpPr/>
          <p:nvPr/>
        </p:nvGrpSpPr>
        <p:grpSpPr>
          <a:xfrm>
            <a:off x="4641494" y="1234440"/>
            <a:ext cx="2926080" cy="1810736"/>
            <a:chOff x="4641494" y="1234440"/>
            <a:chExt cx="2926080" cy="1810736"/>
          </a:xfrm>
        </p:grpSpPr>
        <p:sp>
          <p:nvSpPr>
            <p:cNvPr id="7" name="TextBox 6"/>
            <p:cNvSpPr txBox="1"/>
            <p:nvPr/>
          </p:nvSpPr>
          <p:spPr>
            <a:xfrm>
              <a:off x="4641494" y="1234440"/>
              <a:ext cx="2926080" cy="274320"/>
            </a:xfrm>
            <a:prstGeom prst="rect">
              <a:avLst/>
            </a:prstGeom>
            <a:noFill/>
          </p:spPr>
          <p:txBody>
            <a:bodyPr wrap="square" lIns="0" tIns="0" rIns="0" bIns="0">
              <a:spAutoFit/>
            </a:bodyPr>
            <a:lstStyle/>
            <a:p>
              <a:pPr algn="ctr"/>
              <a:r>
                <a:rPr sz="1300" b="1" i="1" u="none">
                  <a:solidFill>
                    <a:srgbClr val="0B2B4E"/>
                  </a:solidFill>
                  <a:latin typeface="Calibri"/>
                </a:rPr>
                <a:t>Pop Mart × Coca-Cola Labubu keychain</a:t>
              </a:r>
            </a:p>
          </p:txBody>
        </p:sp>
        <p:pic>
          <p:nvPicPr>
            <p:cNvPr id="8" name="Picture 7" descr="ct_amazonrecent_image10.png"/>
            <p:cNvPicPr>
              <a:picLocks noChangeAspect="1"/>
            </p:cNvPicPr>
            <p:nvPr/>
          </p:nvPicPr>
          <p:blipFill>
            <a:blip r:embed="rId3"/>
            <a:stretch>
              <a:fillRect/>
            </a:stretch>
          </p:blipFill>
          <p:spPr>
            <a:xfrm>
              <a:off x="5114239" y="1536192"/>
              <a:ext cx="1979676" cy="1508984"/>
            </a:xfrm>
            <a:prstGeom prst="roundRect">
              <a:avLst>
                <a:gd name="adj" fmla="val 8000"/>
              </a:avLst>
            </a:prstGeom>
            <a:effectLst>
              <a:outerShdw blurRad="50800" dist="38100" dir="2700000" algn="tl" rotWithShape="0">
                <a:srgbClr val="000000">
                  <a:alpha val="50000"/>
                </a:srgbClr>
              </a:outerShdw>
            </a:effectLst>
          </p:spPr>
        </p:pic>
      </p:grpSp>
      <p:grpSp>
        <p:nvGrpSpPr>
          <p:cNvPr id="127" name="Group pair 127"/>
          <p:cNvGrpSpPr/>
          <p:nvPr/>
        </p:nvGrpSpPr>
        <p:grpSpPr>
          <a:xfrm>
            <a:off x="3108960" y="3154680"/>
            <a:ext cx="5696712" cy="3282696"/>
            <a:chOff x="3108960" y="3154680"/>
            <a:chExt cx="5696712" cy="3282696"/>
          </a:xfrm>
        </p:grpSpPr>
        <p:pic>
          <p:nvPicPr>
            <p:cNvPr id="9" name="Picture 8" descr="camel_plot.png"/>
            <p:cNvPicPr>
              <a:picLocks noChangeAspect="1"/>
            </p:cNvPicPr>
            <p:nvPr/>
          </p:nvPicPr>
          <p:blipFill>
            <a:blip r:embed="rId4"/>
            <a:stretch>
              <a:fillRect/>
            </a:stretch>
          </p:blipFill>
          <p:spPr>
            <a:xfrm>
              <a:off x="3108960" y="3154680"/>
              <a:ext cx="5696712" cy="2606457"/>
            </a:xfrm>
            <a:prstGeom prst="rect">
              <a:avLst/>
            </a:prstGeom>
          </p:spPr>
        </p:pic>
        <p:sp>
          <p:nvSpPr>
            <p:cNvPr id="22" name="TextBox 21"/>
            <p:cNvSpPr txBox="1"/>
            <p:nvPr/>
          </p:nvSpPr>
          <p:spPr>
            <a:xfrm>
              <a:off x="4585716" y="6126480"/>
              <a:ext cx="2743200" cy="310896"/>
            </a:xfrm>
            <a:prstGeom prst="rect">
              <a:avLst/>
            </a:prstGeom>
            <a:noFill/>
          </p:spPr>
          <p:txBody>
            <a:bodyPr wrap="square" lIns="0" tIns="0" rIns="0" bIns="0">
              <a:spAutoFit/>
            </a:bodyPr>
            <a:lstStyle/>
            <a:p>
              <a:pPr algn="ctr"/>
              <a:r>
                <a:rPr sz="1400" b="0" i="1" u="sng">
                  <a:solidFill>
                    <a:srgbClr val="0070C0"/>
                  </a:solidFill>
                  <a:latin typeface="Calibri"/>
                  <a:hlinkClick r:id="rId5">
                    <a:extLst>
                      <a:ext uri="{A12FA001-AC4F-418D-AE19-62706E023703}">
                        <ahyp:hlinkClr xmlns:ahyp="http://schemas.microsoft.com/office/drawing/2018/hyperlinkcolor" val="tx"/>
                      </a:ext>
                    </a:extLst>
                  </a:hlinkClick>
                </a:rPr>
                <a:t>camelcamelcamel.com</a:t>
              </a:r>
            </a:p>
          </p:txBody>
        </p:sp>
      </p:grpSp>
      <p:sp>
        <p:nvSpPr>
          <p:cNvPr id="10" name="TextBox 9"/>
          <p:cNvSpPr txBox="1"/>
          <p:nvPr/>
        </p:nvSpPr>
        <p:spPr>
          <a:xfrm>
            <a:off x="2414016" y="3071878"/>
            <a:ext cx="621792" cy="274320"/>
          </a:xfrm>
          <a:prstGeom prst="rect">
            <a:avLst/>
          </a:prstGeom>
          <a:noFill/>
        </p:spPr>
        <p:txBody>
          <a:bodyPr wrap="square" lIns="0" tIns="0" rIns="0" bIns="0">
            <a:spAutoFit/>
          </a:bodyPr>
          <a:lstStyle/>
          <a:p>
            <a:pPr algn="r"/>
            <a:r>
              <a:rPr sz="1700" b="1" i="0" u="none">
                <a:solidFill>
                  <a:srgbClr val="0B2B4E"/>
                </a:solidFill>
                <a:latin typeface="Calibri"/>
              </a:rPr>
              <a:t>$90</a:t>
            </a:r>
          </a:p>
        </p:txBody>
      </p:sp>
      <p:sp>
        <p:nvSpPr>
          <p:cNvPr id="11" name="TextBox 10"/>
          <p:cNvSpPr txBox="1"/>
          <p:nvPr/>
        </p:nvSpPr>
        <p:spPr>
          <a:xfrm>
            <a:off x="2414016" y="3916392"/>
            <a:ext cx="621792" cy="274320"/>
          </a:xfrm>
          <a:prstGeom prst="rect">
            <a:avLst/>
          </a:prstGeom>
          <a:noFill/>
        </p:spPr>
        <p:txBody>
          <a:bodyPr wrap="square" lIns="0" tIns="0" rIns="0" bIns="0">
            <a:spAutoFit/>
          </a:bodyPr>
          <a:lstStyle/>
          <a:p>
            <a:pPr algn="r"/>
            <a:r>
              <a:rPr sz="1700" b="1" i="0" u="none">
                <a:solidFill>
                  <a:srgbClr val="0B2B4E"/>
                </a:solidFill>
                <a:latin typeface="Calibri"/>
              </a:rPr>
              <a:t>$70</a:t>
            </a:r>
          </a:p>
        </p:txBody>
      </p:sp>
      <p:sp>
        <p:nvSpPr>
          <p:cNvPr id="12" name="TextBox 11"/>
          <p:cNvSpPr txBox="1"/>
          <p:nvPr/>
        </p:nvSpPr>
        <p:spPr>
          <a:xfrm>
            <a:off x="2414016" y="4760906"/>
            <a:ext cx="621792" cy="274320"/>
          </a:xfrm>
          <a:prstGeom prst="rect">
            <a:avLst/>
          </a:prstGeom>
          <a:noFill/>
        </p:spPr>
        <p:txBody>
          <a:bodyPr wrap="square" lIns="0" tIns="0" rIns="0" bIns="0">
            <a:spAutoFit/>
          </a:bodyPr>
          <a:lstStyle/>
          <a:p>
            <a:pPr algn="r"/>
            <a:r>
              <a:rPr sz="1700" b="1" i="0" u="none">
                <a:solidFill>
                  <a:srgbClr val="0B2B4E"/>
                </a:solidFill>
                <a:latin typeface="Calibri"/>
              </a:rPr>
              <a:t>$50</a:t>
            </a:r>
          </a:p>
        </p:txBody>
      </p:sp>
      <p:sp>
        <p:nvSpPr>
          <p:cNvPr id="13" name="TextBox 12"/>
          <p:cNvSpPr txBox="1"/>
          <p:nvPr/>
        </p:nvSpPr>
        <p:spPr>
          <a:xfrm>
            <a:off x="2414016" y="5605420"/>
            <a:ext cx="621792" cy="274320"/>
          </a:xfrm>
          <a:prstGeom prst="rect">
            <a:avLst/>
          </a:prstGeom>
          <a:noFill/>
        </p:spPr>
        <p:txBody>
          <a:bodyPr wrap="square" lIns="0" tIns="0" rIns="0" bIns="0">
            <a:spAutoFit/>
          </a:bodyPr>
          <a:lstStyle/>
          <a:p>
            <a:pPr algn="r"/>
            <a:r>
              <a:rPr sz="1700" b="1" i="0" u="none">
                <a:solidFill>
                  <a:srgbClr val="0B2B4E"/>
                </a:solidFill>
                <a:latin typeface="Calibri"/>
              </a:rPr>
              <a:t>$30</a:t>
            </a:r>
          </a:p>
        </p:txBody>
      </p:sp>
      <p:sp>
        <p:nvSpPr>
          <p:cNvPr id="14" name="TextBox 13"/>
          <p:cNvSpPr txBox="1"/>
          <p:nvPr/>
        </p:nvSpPr>
        <p:spPr>
          <a:xfrm>
            <a:off x="3538077" y="5788152"/>
            <a:ext cx="822960" cy="274320"/>
          </a:xfrm>
          <a:prstGeom prst="rect">
            <a:avLst/>
          </a:prstGeom>
          <a:noFill/>
        </p:spPr>
        <p:txBody>
          <a:bodyPr wrap="square" lIns="0" tIns="0" rIns="0" bIns="0">
            <a:spAutoFit/>
          </a:bodyPr>
          <a:lstStyle/>
          <a:p>
            <a:pPr algn="ctr"/>
            <a:r>
              <a:rPr sz="1700" b="1" i="0" u="none">
                <a:solidFill>
                  <a:srgbClr val="0B2B4E"/>
                </a:solidFill>
                <a:latin typeface="Calibri"/>
              </a:rPr>
              <a:t>May</a:t>
            </a:r>
          </a:p>
        </p:txBody>
      </p:sp>
      <p:sp>
        <p:nvSpPr>
          <p:cNvPr id="15" name="TextBox 14"/>
          <p:cNvSpPr txBox="1"/>
          <p:nvPr/>
        </p:nvSpPr>
        <p:spPr>
          <a:xfrm>
            <a:off x="4523814" y="5788152"/>
            <a:ext cx="822960" cy="274320"/>
          </a:xfrm>
          <a:prstGeom prst="rect">
            <a:avLst/>
          </a:prstGeom>
          <a:noFill/>
        </p:spPr>
        <p:txBody>
          <a:bodyPr wrap="square" lIns="0" tIns="0" rIns="0" bIns="0">
            <a:spAutoFit/>
          </a:bodyPr>
          <a:lstStyle/>
          <a:p>
            <a:pPr algn="ctr"/>
            <a:r>
              <a:rPr sz="1700" b="1" i="0" u="none">
                <a:solidFill>
                  <a:srgbClr val="0B2B4E"/>
                </a:solidFill>
                <a:latin typeface="Calibri"/>
              </a:rPr>
              <a:t>Jun</a:t>
            </a:r>
          </a:p>
        </p:txBody>
      </p:sp>
      <p:sp>
        <p:nvSpPr>
          <p:cNvPr id="16" name="TextBox 15"/>
          <p:cNvSpPr txBox="1"/>
          <p:nvPr/>
        </p:nvSpPr>
        <p:spPr>
          <a:xfrm>
            <a:off x="5473266" y="5788152"/>
            <a:ext cx="822960" cy="274320"/>
          </a:xfrm>
          <a:prstGeom prst="rect">
            <a:avLst/>
          </a:prstGeom>
          <a:noFill/>
        </p:spPr>
        <p:txBody>
          <a:bodyPr wrap="square" lIns="0" tIns="0" rIns="0" bIns="0">
            <a:spAutoFit/>
          </a:bodyPr>
          <a:lstStyle/>
          <a:p>
            <a:pPr algn="ctr"/>
            <a:r>
              <a:rPr sz="1700" b="1" i="0" u="none">
                <a:solidFill>
                  <a:srgbClr val="0B2B4E"/>
                </a:solidFill>
                <a:latin typeface="Calibri"/>
              </a:rPr>
              <a:t>Jul</a:t>
            </a:r>
          </a:p>
        </p:txBody>
      </p:sp>
      <p:sp>
        <p:nvSpPr>
          <p:cNvPr id="17" name="TextBox 16"/>
          <p:cNvSpPr txBox="1"/>
          <p:nvPr/>
        </p:nvSpPr>
        <p:spPr>
          <a:xfrm>
            <a:off x="6459003" y="5788152"/>
            <a:ext cx="822960" cy="274320"/>
          </a:xfrm>
          <a:prstGeom prst="rect">
            <a:avLst/>
          </a:prstGeom>
          <a:noFill/>
        </p:spPr>
        <p:txBody>
          <a:bodyPr wrap="square" lIns="0" tIns="0" rIns="0" bIns="0">
            <a:spAutoFit/>
          </a:bodyPr>
          <a:lstStyle/>
          <a:p>
            <a:pPr algn="ctr"/>
            <a:r>
              <a:rPr sz="1700" b="1" i="0" u="none">
                <a:solidFill>
                  <a:srgbClr val="0B2B4E"/>
                </a:solidFill>
                <a:latin typeface="Calibri"/>
              </a:rPr>
              <a:t>Aug</a:t>
            </a:r>
          </a:p>
        </p:txBody>
      </p:sp>
      <p:sp>
        <p:nvSpPr>
          <p:cNvPr id="18" name="TextBox 17"/>
          <p:cNvSpPr txBox="1"/>
          <p:nvPr/>
        </p:nvSpPr>
        <p:spPr>
          <a:xfrm>
            <a:off x="7444740" y="5788152"/>
            <a:ext cx="822960" cy="274320"/>
          </a:xfrm>
          <a:prstGeom prst="rect">
            <a:avLst/>
          </a:prstGeom>
          <a:noFill/>
        </p:spPr>
        <p:txBody>
          <a:bodyPr wrap="square" lIns="0" tIns="0" rIns="0" bIns="0">
            <a:spAutoFit/>
          </a:bodyPr>
          <a:lstStyle/>
          <a:p>
            <a:pPr algn="ctr"/>
            <a:r>
              <a:rPr sz="1700" b="1" i="0" u="none">
                <a:solidFill>
                  <a:srgbClr val="0B2B4E"/>
                </a:solidFill>
                <a:latin typeface="Calibri"/>
              </a:rPr>
              <a:t>Sep</a:t>
            </a:r>
          </a:p>
        </p:txBody>
      </p:sp>
      <p:sp>
        <p:nvSpPr>
          <p:cNvPr id="19" name="TextBox 18"/>
          <p:cNvSpPr txBox="1"/>
          <p:nvPr/>
        </p:nvSpPr>
        <p:spPr>
          <a:xfrm>
            <a:off x="8887968" y="3334798"/>
            <a:ext cx="1005840" cy="256032"/>
          </a:xfrm>
          <a:prstGeom prst="rect">
            <a:avLst/>
          </a:prstGeom>
          <a:noFill/>
        </p:spPr>
        <p:txBody>
          <a:bodyPr wrap="square" lIns="0" tIns="0" rIns="0" bIns="0">
            <a:spAutoFit/>
          </a:bodyPr>
          <a:lstStyle/>
          <a:p>
            <a:pPr algn="l"/>
            <a:r>
              <a:rPr sz="1600" b="1" i="0" u="none">
                <a:solidFill>
                  <a:srgbClr val="C0504D"/>
                </a:solidFill>
                <a:latin typeface="Calibri"/>
              </a:rPr>
              <a:t>$83.99</a:t>
            </a:r>
          </a:p>
        </p:txBody>
      </p:sp>
      <p:sp>
        <p:nvSpPr>
          <p:cNvPr id="20" name="TextBox 19"/>
          <p:cNvSpPr txBox="1"/>
          <p:nvPr/>
        </p:nvSpPr>
        <p:spPr>
          <a:xfrm>
            <a:off x="8887968" y="4221960"/>
            <a:ext cx="1005840" cy="256032"/>
          </a:xfrm>
          <a:prstGeom prst="rect">
            <a:avLst/>
          </a:prstGeom>
          <a:noFill/>
        </p:spPr>
        <p:txBody>
          <a:bodyPr wrap="square" lIns="0" tIns="0" rIns="0" bIns="0">
            <a:spAutoFit/>
          </a:bodyPr>
          <a:lstStyle/>
          <a:p>
            <a:pPr algn="l"/>
            <a:r>
              <a:rPr sz="1600" b="1" i="0" u="none">
                <a:solidFill>
                  <a:srgbClr val="0070C0"/>
                </a:solidFill>
                <a:latin typeface="Calibri"/>
              </a:rPr>
              <a:t>$62.98</a:t>
            </a:r>
          </a:p>
        </p:txBody>
      </p:sp>
      <p:sp>
        <p:nvSpPr>
          <p:cNvPr id="21" name="TextBox 20"/>
          <p:cNvSpPr txBox="1"/>
          <p:nvPr/>
        </p:nvSpPr>
        <p:spPr>
          <a:xfrm>
            <a:off x="8887968" y="5403435"/>
            <a:ext cx="1005840" cy="256032"/>
          </a:xfrm>
          <a:prstGeom prst="rect">
            <a:avLst/>
          </a:prstGeom>
          <a:noFill/>
        </p:spPr>
        <p:txBody>
          <a:bodyPr wrap="square" lIns="0" tIns="0" rIns="0" bIns="0">
            <a:spAutoFit/>
          </a:bodyPr>
          <a:lstStyle/>
          <a:p>
            <a:pPr algn="l"/>
            <a:r>
              <a:rPr sz="1600" b="1" i="0" u="none">
                <a:solidFill>
                  <a:srgbClr val="6E8B3D"/>
                </a:solidFill>
                <a:latin typeface="Calibri"/>
              </a:rPr>
              <a:t>$35.00</a:t>
            </a:r>
          </a:p>
        </p:txBody>
      </p:sp>
      <p:sp>
        <p:nvSpPr>
          <p:cNvPr id="23" name="Rectangle 2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26" name="TextBox 25"/>
          <p:cNvSpPr txBox="1"/>
          <p:nvPr/>
        </p:nvSpPr>
        <p:spPr>
          <a:xfrm>
            <a:off x="11475720" y="6583680"/>
            <a:ext cx="502920" cy="292608"/>
          </a:xfrm>
          <a:prstGeom prst="rect">
            <a:avLst/>
          </a:prstGeom>
          <a:noFill/>
        </p:spPr>
        <p:txBody>
          <a:bodyPr wrap="none" lIns="0" tIns="0" rIns="0" bIns="0">
            <a:spAutoFit/>
          </a:bodyPr>
          <a:lstStyle/>
          <a:p>
            <a:pPr algn="r"/>
            <a:fld id="{BB3661D5-2092-5197-9E3A-279E8634BA61}" type="slidenum">
              <a:rPr lang="en-US" sz="1200" dirty="0">
                <a:solidFill>
                  <a:srgbClr val="555B66"/>
                </a:solidFill>
                <a:latin typeface="Calibri"/>
              </a:rPr>
              <a:t>6</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6"/>
                                        </p:tgtEl>
                                        <p:attrNameLst>
                                          <p:attrName>style.visibility</p:attrName>
                                        </p:attrNameLst>
                                      </p:cBhvr>
                                      <p:to>
                                        <p:strVal val="visible"/>
                                      </p:to>
                                    </p:set>
                                    <p:animEffect transition="in" filter="fade">
                                      <p:cBhvr>
                                        <p:cTn id="7" dur="500"/>
                                        <p:tgtEl>
                                          <p:spTgt spid="1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7"/>
                                        </p:tgtEl>
                                        <p:attrNameLst>
                                          <p:attrName>style.visibility</p:attrName>
                                        </p:attrNameLst>
                                      </p:cBhvr>
                                      <p:to>
                                        <p:strVal val="visible"/>
                                      </p:to>
                                    </p:set>
                                    <p:animEffect transition="in" filter="fade">
                                      <p:cBhvr>
                                        <p:cTn id="12" dur="500"/>
                                        <p:tgtEl>
                                          <p:spTgt spid="127"/>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par>
                                <p:cTn id="43" presetID="10" presetClass="entr" presetSubtype="0"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par>
                                <p:cTn id="46" presetID="10" presetClass="entr" presetSubtype="0" fill="hold"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Econometric Estimates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11687697" cy="3000821"/>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lang="en-US" b="1" dirty="0">
                <a:latin typeface="Calibri"/>
              </a:rPr>
              <a:t>Econometrics</a:t>
            </a:r>
            <a:r>
              <a:rPr b="1" dirty="0">
                <a:latin typeface="Calibri"/>
              </a:rPr>
              <a:t>:  </a:t>
            </a:r>
            <a:r>
              <a:rPr dirty="0">
                <a:latin typeface="Calibri"/>
              </a:rPr>
              <a:t>combine economics, statistics, and mathematical model building</a:t>
            </a:r>
          </a:p>
          <a:p>
            <a:pPr lvl="1"/>
            <a:r>
              <a:rPr dirty="0">
                <a:latin typeface="Calibri"/>
              </a:rPr>
              <a:t>Develop hypotheses linking dependent variables (e.g., sales) to explanatory variables (e.g., price)</a:t>
            </a:r>
          </a:p>
          <a:p>
            <a:pPr algn="l"/>
            <a:r>
              <a:rPr b="1" dirty="0">
                <a:latin typeface="Calibri"/>
              </a:rPr>
              <a:t>How:  </a:t>
            </a:r>
            <a:r>
              <a:rPr lang="en-US" dirty="0">
                <a:latin typeface="Calibri"/>
              </a:rPr>
              <a:t>L</a:t>
            </a:r>
            <a:r>
              <a:rPr dirty="0">
                <a:latin typeface="Calibri"/>
              </a:rPr>
              <a:t>east </a:t>
            </a:r>
            <a:r>
              <a:rPr lang="en-US" dirty="0">
                <a:latin typeface="Calibri"/>
              </a:rPr>
              <a:t>S</a:t>
            </a:r>
            <a:r>
              <a:rPr dirty="0">
                <a:latin typeface="Calibri"/>
              </a:rPr>
              <a:t>quares regression analysis</a:t>
            </a:r>
          </a:p>
          <a:p>
            <a:pPr lvl="1" algn="l"/>
            <a:r>
              <a:rPr dirty="0">
                <a:latin typeface="Calibri"/>
              </a:rPr>
              <a:t>Covered in detail in your </a:t>
            </a:r>
            <a:r>
              <a:rPr b="1" dirty="0">
                <a:latin typeface="Calibri"/>
              </a:rPr>
              <a:t>Stats class</a:t>
            </a:r>
          </a:p>
          <a:p>
            <a:pPr lvl="1" algn="l"/>
            <a:r>
              <a:rPr dirty="0">
                <a:latin typeface="Calibri"/>
              </a:rPr>
              <a:t>Today: </a:t>
            </a:r>
            <a:r>
              <a:rPr lang="en-US" dirty="0">
                <a:latin typeface="Calibri"/>
              </a:rPr>
              <a:t>A</a:t>
            </a:r>
            <a:r>
              <a:rPr dirty="0">
                <a:latin typeface="Calibri"/>
              </a:rPr>
              <a:t> broad overview</a:t>
            </a:r>
          </a:p>
          <a:p>
            <a:pPr lvl="1" algn="l"/>
            <a:r>
              <a:rPr dirty="0">
                <a:latin typeface="Calibri"/>
              </a:rPr>
              <a:t>What you need </a:t>
            </a:r>
            <a:r>
              <a:rPr lang="en-US" dirty="0">
                <a:latin typeface="Calibri"/>
              </a:rPr>
              <a:t>for our class</a:t>
            </a:r>
            <a:r>
              <a:rPr dirty="0">
                <a:latin typeface="Calibri"/>
              </a:rPr>
              <a:t>: </a:t>
            </a:r>
            <a:r>
              <a:rPr lang="en-US" b="1" dirty="0">
                <a:latin typeface="Calibri"/>
              </a:rPr>
              <a:t>I</a:t>
            </a:r>
            <a:r>
              <a:rPr b="1" dirty="0">
                <a:latin typeface="Calibri"/>
              </a:rPr>
              <a:t>nterpret</a:t>
            </a:r>
            <a:r>
              <a:rPr dirty="0">
                <a:latin typeface="Calibri"/>
              </a:rPr>
              <a:t> </a:t>
            </a:r>
            <a:r>
              <a:rPr b="1" dirty="0">
                <a:latin typeface="Calibri"/>
              </a:rPr>
              <a:t>and use the </a:t>
            </a:r>
            <a:r>
              <a:rPr lang="en-US" b="1" dirty="0">
                <a:latin typeface="Calibri"/>
              </a:rPr>
              <a:t>estimated </a:t>
            </a:r>
            <a:r>
              <a:rPr b="1" dirty="0">
                <a:latin typeface="Calibri"/>
              </a:rPr>
              <a:t>coefficients</a:t>
            </a:r>
            <a:endParaRPr lang="en-US" b="1" dirty="0">
              <a:latin typeface="Calibri"/>
            </a:endParaRP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620F01A7-6A92-54D9-B022-88C72E5AF930}" type="slidenum">
              <a:rPr lang="en-US" sz="1200" dirty="0">
                <a:solidFill>
                  <a:srgbClr val="555B66"/>
                </a:solidFill>
                <a:latin typeface="Calibri"/>
              </a:rPr>
              <a:t>7</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Effect transition="in" filter="fade">
                                      <p:cBhvr>
                                        <p:cTn id="15" dur="500"/>
                                        <p:tgtEl>
                                          <p:spTgt spid="7">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animEffect transition="in" filter="fade">
                                      <p:cBhvr>
                                        <p:cTn id="18" dur="500"/>
                                        <p:tgtEl>
                                          <p:spTgt spid="7">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animEffect transition="in" filter="fade">
                                      <p:cBhvr>
                                        <p:cTn id="21"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u="none" dirty="0">
                <a:solidFill>
                  <a:srgbClr val="0B2B4E"/>
                </a:solidFill>
                <a:latin typeface="Calibri"/>
              </a:rPr>
              <a:t>Ordinary Least Squares: </a:t>
            </a:r>
            <a:r>
              <a:rPr lang="en-US" sz="3200" b="1" i="0" u="none" dirty="0">
                <a:solidFill>
                  <a:srgbClr val="0B2B4E"/>
                </a:solidFill>
                <a:latin typeface="Calibri"/>
              </a:rPr>
              <a:t>Estimating the</a:t>
            </a:r>
            <a:r>
              <a:rPr sz="3200" b="1" i="0" u="none" dirty="0">
                <a:solidFill>
                  <a:srgbClr val="0B2B4E"/>
                </a:solidFill>
                <a:latin typeface="Calibri"/>
              </a:rPr>
              <a:t> </a:t>
            </a:r>
            <a:r>
              <a:rPr lang="en-US" sz="3200" b="1" i="0" u="none">
                <a:solidFill>
                  <a:srgbClr val="0B2B4E"/>
                </a:solidFill>
                <a:latin typeface="Calibri"/>
              </a:rPr>
              <a:t>Demand</a:t>
            </a:r>
            <a:r>
              <a:rPr sz="3200" b="1" i="0" u="none">
                <a:solidFill>
                  <a:srgbClr val="0B2B4E"/>
                </a:solidFill>
                <a:latin typeface="Calibri"/>
              </a:rPr>
              <a:t> </a:t>
            </a:r>
            <a:r>
              <a:rPr lang="en-US" sz="3200" b="1" i="0" u="none">
                <a:solidFill>
                  <a:srgbClr val="0B2B4E"/>
                </a:solidFill>
                <a:latin typeface="Calibri"/>
              </a:rPr>
              <a:t>Function</a:t>
            </a:r>
            <a:endParaRPr sz="3200" b="1" i="0" u="none" dirty="0">
              <a:solidFill>
                <a:srgbClr val="0B2B4E"/>
              </a:solidFill>
              <a:latin typeface="Calibri"/>
            </a:endParaRP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813048" y="1417320"/>
            <a:ext cx="4572000" cy="914400"/>
          </a:xfrm>
          <a:prstGeom prst="roundRect">
            <a:avLst>
              <a:gd name="adj" fmla="val 14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200" b="1">
                <a:solidFill>
                  <a:srgbClr val="FFFFFF"/>
                </a:solidFill>
                <a:latin typeface="Calibri"/>
              </a:rPr>
              <a:t>Q = a + b · P</a:t>
            </a:r>
          </a:p>
        </p:txBody>
      </p:sp>
      <p:sp>
        <p:nvSpPr>
          <p:cNvPr id="8" name="TextBox 7"/>
          <p:cNvSpPr txBox="1"/>
          <p:nvPr/>
        </p:nvSpPr>
        <p:spPr>
          <a:xfrm>
            <a:off x="685800" y="2423160"/>
            <a:ext cx="10881360" cy="2077492"/>
          </a:xfrm>
          <a:prstGeom prst="rect">
            <a:avLst/>
          </a:prstGeom>
          <a:noFill/>
        </p:spPr>
        <p:txBody>
          <a:bodyPr wrap="square" lIns="0" tIns="0" rIns="0" bIns="0">
            <a:spAutoFit/>
          </a:bodyPr>
          <a:lstStyle>
            <a:lvl1pPr marL="342900" indent="-342900">
              <a:spcBef>
                <a:spcPts val="140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r>
              <a:rPr b="1" i="1" dirty="0">
                <a:latin typeface="Calibri"/>
              </a:rPr>
              <a:t>Q</a:t>
            </a:r>
            <a:r>
              <a:rPr dirty="0">
                <a:latin typeface="Calibri"/>
              </a:rPr>
              <a:t> = dependent variable</a:t>
            </a:r>
          </a:p>
          <a:p>
            <a:pPr algn="l"/>
            <a:r>
              <a:rPr b="1" i="1" dirty="0">
                <a:latin typeface="Calibri"/>
              </a:rPr>
              <a:t>P</a:t>
            </a:r>
            <a:r>
              <a:rPr dirty="0">
                <a:latin typeface="Calibri"/>
              </a:rPr>
              <a:t> = independent variable</a:t>
            </a:r>
          </a:p>
          <a:p>
            <a:pPr algn="l"/>
            <a:r>
              <a:rPr b="1" i="1" dirty="0">
                <a:latin typeface="Calibri"/>
              </a:rPr>
              <a:t>a</a:t>
            </a:r>
            <a:r>
              <a:rPr dirty="0">
                <a:latin typeface="Calibri"/>
              </a:rPr>
              <a:t> = intercept with the y-axis (Q on y-axis)</a:t>
            </a:r>
          </a:p>
          <a:p>
            <a:pPr algn="l"/>
            <a:r>
              <a:rPr b="1" i="1" dirty="0">
                <a:latin typeface="Calibri"/>
              </a:rPr>
              <a:t>b</a:t>
            </a:r>
            <a:r>
              <a:rPr dirty="0">
                <a:latin typeface="Calibri"/>
              </a:rPr>
              <a:t> = slope of the regression line (demand </a:t>
            </a:r>
            <a:r>
              <a:rPr lang="en-US" dirty="0"/>
              <a:t>curve</a:t>
            </a:r>
            <a:r>
              <a:rPr dirty="0">
                <a:latin typeface="Calibri"/>
              </a:rPr>
              <a:t>)</a:t>
            </a:r>
          </a:p>
        </p:txBody>
      </p:sp>
      <mc:AlternateContent xmlns:mc="http://schemas.openxmlformats.org/markup-compatibility/2006" xmlns:a14="http://schemas.microsoft.com/office/drawing/2010/main">
        <mc:Choice Requires="a14">
          <p:sp>
            <p:nvSpPr>
              <p:cNvPr id="9" name="TextBox 8"/>
              <p:cNvSpPr txBox="1"/>
              <p:nvPr/>
            </p:nvSpPr>
            <p:spPr>
              <a:xfrm>
                <a:off x="3988308" y="4803544"/>
                <a:ext cx="4215384" cy="979493"/>
              </a:xfrm>
              <a:prstGeom prst="roundRect">
                <a:avLst>
                  <a:gd name="adj" fmla="val 25000"/>
                </a:avLst>
              </a:prstGeom>
              <a:solidFill>
                <a:srgbClr val="FDF6E6"/>
              </a:solidFill>
              <a:ln w="9525">
                <a:solidFill>
                  <a:srgbClr val="0B2B4E"/>
                </a:solidFill>
              </a:ln>
              <a:effectLst>
                <a:outerShdw blurRad="50800" dist="38100" dir="2700000" algn="tl" rotWithShape="0">
                  <a:srgbClr val="000000">
                    <a:alpha val="45000"/>
                  </a:srgbClr>
                </a:outerShdw>
              </a:effectLst>
            </p:spPr>
            <p:txBody>
              <a:bodyPr wrap="square" anchor="ctr">
                <a:spAutoFit/>
              </a:bodyPr>
              <a:lstStyle/>
              <a:p>
                <a:pPr algn="ctr">
                  <a:defRPr sz="2400" b="0" i="1">
                    <a:solidFill>
                      <a:srgbClr val="0B2B4E"/>
                    </a:solidFill>
                    <a:latin typeface="Cambria Math"/>
                  </a:defRPr>
                </a:pPr>
                <a14:m>
                  <m:oMathPara xmlns:m="http://schemas.openxmlformats.org/officeDocument/2006/math">
                    <m:oMath>
                      <m:sSub>
                        <m:sSubPr>
                          <m:ctrlPr>
                            <a:rPr lang="en-US" sz="2400" b="0" i="1">
                              <a:solidFill>
                                <a:srgbClr val="0B2B4E"/>
                              </a:solidFill>
                              <a:latin typeface="Cambria Math"/>
                              <a:ea typeface="Cambria Math"/>
                            </a:rPr>
                          </m:ctrlPr>
                        </m:sSubPr>
                        <m:e>
                          <m:r>
                            <a:rPr lang="en-US" sz="2400" b="0" i="1">
                              <a:solidFill>
                                <a:srgbClr val="0B2B4E"/>
                              </a:solidFill>
                              <a:latin typeface="Cambria Math"/>
                              <a:ea typeface="Cambria Math"/>
                            </a:rPr>
                            <m:t>𝐸</m:t>
                          </m:r>
                        </m:e>
                        <m:sub>
                          <m:r>
                            <m:rPr>
                              <m:sty m:val="p"/>
                            </m:rPr>
                            <a:rPr lang="en-US" sz="2400" b="0" i="0">
                              <a:solidFill>
                                <a:srgbClr val="0B2B4E"/>
                              </a:solidFill>
                              <a:latin typeface="Cambria Math"/>
                            </a:rPr>
                            <m:t>D</m:t>
                          </m:r>
                        </m:sub>
                      </m:sSub>
                      <m:r>
                        <a:rPr lang="en-US" sz="2400" b="0" i="0">
                          <a:solidFill>
                            <a:srgbClr val="0B2B4E"/>
                          </a:solidFill>
                          <a:latin typeface="Cambria Math"/>
                        </a:rPr>
                        <m:t> = </m:t>
                      </m:r>
                      <m:f>
                        <m:fPr>
                          <m:ctrlPr>
                            <a:rPr lang="en-US" sz="2400" b="0" i="0">
                              <a:solidFill>
                                <a:srgbClr val="0B2B4E"/>
                              </a:solidFill>
                              <a:latin typeface="Cambria Math"/>
                            </a:rPr>
                          </m:ctrlPr>
                        </m:fPr>
                        <m:num>
                          <m:r>
                            <m:rPr>
                              <m:sty m:val="p"/>
                            </m:rPr>
                            <a:rPr lang="en-US" sz="2400" b="0" i="0">
                              <a:solidFill>
                                <a:srgbClr val="0B2B4E"/>
                              </a:solidFill>
                              <a:latin typeface="Cambria Math"/>
                            </a:rPr>
                            <m:t>Δ</m:t>
                          </m:r>
                          <m:r>
                            <a:rPr lang="en-US" sz="2400" b="0" i="1">
                              <a:solidFill>
                                <a:srgbClr val="0B2B4E"/>
                              </a:solidFill>
                              <a:latin typeface="Cambria Math"/>
                              <a:ea typeface="Cambria Math"/>
                            </a:rPr>
                            <m:t>𝑄</m:t>
                          </m:r>
                        </m:num>
                        <m:den>
                          <m:r>
                            <m:rPr>
                              <m:sty m:val="p"/>
                            </m:rPr>
                            <a:rPr lang="en-US" sz="2400" b="0" i="0">
                              <a:solidFill>
                                <a:srgbClr val="0B2B4E"/>
                              </a:solidFill>
                              <a:latin typeface="Cambria Math"/>
                            </a:rPr>
                            <m:t>Δ</m:t>
                          </m:r>
                          <m:r>
                            <a:rPr lang="en-US" sz="2400" b="0" i="1">
                              <a:solidFill>
                                <a:srgbClr val="0B2B4E"/>
                              </a:solidFill>
                              <a:latin typeface="Cambria Math"/>
                              <a:ea typeface="Cambria Math"/>
                            </a:rPr>
                            <m:t>𝑃</m:t>
                          </m:r>
                        </m:den>
                      </m:f>
                      <m:r>
                        <a:rPr lang="en-US" sz="2400" b="0" i="0">
                          <a:solidFill>
                            <a:srgbClr val="0B2B4E"/>
                          </a:solidFill>
                          <a:latin typeface="Cambria Math"/>
                        </a:rPr>
                        <m:t> · </m:t>
                      </m:r>
                      <m:f>
                        <m:fPr>
                          <m:ctrlPr>
                            <a:rPr lang="en-US" sz="2400" b="0" i="1">
                              <a:solidFill>
                                <a:srgbClr val="0B2B4E"/>
                              </a:solidFill>
                              <a:latin typeface="Cambria Math"/>
                              <a:ea typeface="Cambria Math"/>
                            </a:rPr>
                          </m:ctrlPr>
                        </m:fPr>
                        <m:num>
                          <m:r>
                            <a:rPr lang="en-US" sz="2400" b="0" i="1">
                              <a:solidFill>
                                <a:srgbClr val="0B2B4E"/>
                              </a:solidFill>
                              <a:latin typeface="Cambria Math"/>
                              <a:ea typeface="Cambria Math"/>
                            </a:rPr>
                            <m:t>𝑃</m:t>
                          </m:r>
                        </m:num>
                        <m:den>
                          <m:r>
                            <a:rPr lang="en-US" sz="2400" b="0" i="1">
                              <a:solidFill>
                                <a:srgbClr val="0B2B4E"/>
                              </a:solidFill>
                              <a:latin typeface="Cambria Math"/>
                              <a:ea typeface="Cambria Math"/>
                            </a:rPr>
                            <m:t>𝑄</m:t>
                          </m:r>
                        </m:den>
                      </m:f>
                      <m:r>
                        <a:rPr lang="en-US" sz="2400" b="0" i="0">
                          <a:solidFill>
                            <a:srgbClr val="0B2B4E"/>
                          </a:solidFill>
                          <a:latin typeface="Cambria Math"/>
                        </a:rPr>
                        <m:t> = </m:t>
                      </m:r>
                      <m:r>
                        <a:rPr lang="en-US" sz="2400" b="0" i="1">
                          <a:solidFill>
                            <a:srgbClr val="0B2B4E"/>
                          </a:solidFill>
                          <a:latin typeface="Cambria Math"/>
                          <a:ea typeface="Cambria Math"/>
                        </a:rPr>
                        <m:t>𝑏</m:t>
                      </m:r>
                      <m:r>
                        <a:rPr lang="en-US" sz="2400" b="0" i="0">
                          <a:solidFill>
                            <a:srgbClr val="0B2B4E"/>
                          </a:solidFill>
                          <a:latin typeface="Cambria Math"/>
                        </a:rPr>
                        <m:t> · </m:t>
                      </m:r>
                      <m:f>
                        <m:fPr>
                          <m:ctrlPr>
                            <a:rPr lang="en-US" sz="2400" b="0" i="1">
                              <a:solidFill>
                                <a:srgbClr val="0B2B4E"/>
                              </a:solidFill>
                              <a:latin typeface="Cambria Math"/>
                              <a:ea typeface="Cambria Math"/>
                            </a:rPr>
                          </m:ctrlPr>
                        </m:fPr>
                        <m:num>
                          <m:r>
                            <a:rPr lang="en-US" sz="2400" b="0" i="1">
                              <a:solidFill>
                                <a:srgbClr val="0B2B4E"/>
                              </a:solidFill>
                              <a:latin typeface="Cambria Math"/>
                              <a:ea typeface="Cambria Math"/>
                            </a:rPr>
                            <m:t>𝑃</m:t>
                          </m:r>
                        </m:num>
                        <m:den>
                          <m:r>
                            <a:rPr lang="en-US" sz="2400" b="0" i="1">
                              <a:solidFill>
                                <a:srgbClr val="0B2B4E"/>
                              </a:solidFill>
                              <a:latin typeface="Cambria Math"/>
                              <a:ea typeface="Cambria Math"/>
                            </a:rPr>
                            <m:t>𝑄</m:t>
                          </m:r>
                        </m:den>
                      </m:f>
                    </m:oMath>
                  </m:oMathPara>
                </a14:m>
                <a:endParaRPr lang="en-US" sz="2400" dirty="0"/>
              </a:p>
            </p:txBody>
          </p:sp>
        </mc:Choice>
        <mc:Fallback xmlns="">
          <p:sp>
            <p:nvSpPr>
              <p:cNvPr id="9" name="TextBox 8"/>
              <p:cNvSpPr txBox="1">
                <a:spLocks noRot="1" noChangeAspect="1" noMove="1" noResize="1" noEditPoints="1" noAdjustHandles="1" noChangeArrowheads="1" noChangeShapeType="1" noTextEdit="1"/>
              </p:cNvSpPr>
              <p:nvPr/>
            </p:nvSpPr>
            <p:spPr>
              <a:xfrm>
                <a:off x="3988308" y="4803544"/>
                <a:ext cx="4215384" cy="979493"/>
              </a:xfrm>
              <a:prstGeom prst="roundRect">
                <a:avLst>
                  <a:gd name="adj" fmla="val 25000"/>
                </a:avLst>
              </a:prstGeom>
              <a:blipFill>
                <a:blip r:embed="rId3"/>
                <a:stretch>
                  <a:fillRect/>
                </a:stretch>
              </a:blipFill>
              <a:ln w="9525">
                <a:solidFill>
                  <a:srgbClr val="0B2B4E"/>
                </a:solidFill>
              </a:ln>
              <a:effectLst>
                <a:outerShdw blurRad="50800" dist="38100" dir="2700000" algn="tl" rotWithShape="0">
                  <a:srgbClr val="000000">
                    <a:alpha val="45000"/>
                  </a:srgbClr>
                </a:outerShdw>
              </a:effectLst>
            </p:spPr>
            <p:txBody>
              <a:bodyPr/>
              <a:lstStyle/>
              <a:p>
                <a:r>
                  <a:rPr lang="en-US">
                    <a:noFill/>
                  </a:rPr>
                  <a:t> </a:t>
                </a:r>
              </a:p>
            </p:txBody>
          </p:sp>
        </mc:Fallback>
      </mc:AlternateContent>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A76FAE18-E794-5440-845E-93938A34ADB1}" type="slidenum">
              <a:rPr lang="en-US" sz="1200" dirty="0">
                <a:solidFill>
                  <a:srgbClr val="555B66"/>
                </a:solidFill>
                <a:latin typeface="Calibri"/>
              </a:rPr>
              <a:t>8</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u="none" dirty="0">
                <a:solidFill>
                  <a:srgbClr val="0B2B4E"/>
                </a:solidFill>
                <a:latin typeface="Calibri"/>
              </a:rPr>
              <a:t>Airline Ticket Experimentation</a:t>
            </a:r>
            <a:r>
              <a:rPr lang="en-US" sz="3200" b="1" i="0" u="none" dirty="0">
                <a:solidFill>
                  <a:srgbClr val="0B2B4E"/>
                </a:solidFill>
                <a:latin typeface="Calibri"/>
              </a:rPr>
              <a:t>: Data</a:t>
            </a:r>
            <a:endParaRPr sz="3200" b="1" i="0" u="none" dirty="0">
              <a:solidFill>
                <a:srgbClr val="0B2B4E"/>
              </a:solidFill>
              <a:latin typeface="Calibri"/>
            </a:endParaRP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13" name="Group pair 113"/>
          <p:cNvGrpSpPr/>
          <p:nvPr/>
        </p:nvGrpSpPr>
        <p:grpSpPr>
          <a:xfrm>
            <a:off x="2560320" y="1289304"/>
            <a:ext cx="4251959" cy="4572000"/>
            <a:chOff x="2560320" y="1289304"/>
            <a:chExt cx="4251959" cy="4572000"/>
          </a:xfrm>
        </p:grpSpPr>
        <p:sp>
          <p:nvSpPr>
            <p:cNvPr id="7" name="Rectangle 6"/>
            <p:cNvSpPr/>
            <p:nvPr/>
          </p:nvSpPr>
          <p:spPr>
            <a:xfrm>
              <a:off x="2560320" y="1289304"/>
              <a:ext cx="4251959" cy="457200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2697480" y="1426464"/>
            <a:ext cx="3977638" cy="4297680"/>
          </p:xfrm>
          <a:graphic>
            <a:graphicData uri="http://schemas.openxmlformats.org/drawingml/2006/table">
              <a:tbl>
                <a:tblPr/>
                <a:tblGrid>
                  <a:gridCol w="1988819">
                    <a:extLst>
                      <a:ext uri="{9D8B030D-6E8A-4147-A177-3AD203B41FA5}">
                        <a16:colId xmlns:a16="http://schemas.microsoft.com/office/drawing/2014/main" val="20000"/>
                      </a:ext>
                    </a:extLst>
                  </a:gridCol>
                  <a:gridCol w="1988819">
                    <a:extLst>
                      <a:ext uri="{9D8B030D-6E8A-4147-A177-3AD203B41FA5}">
                        <a16:colId xmlns:a16="http://schemas.microsoft.com/office/drawing/2014/main" val="20001"/>
                      </a:ext>
                    </a:extLst>
                  </a:gridCol>
                </a:tblGrid>
                <a:tr h="252804">
                  <a:tc>
                    <a:txBody>
                      <a:bodyPr/>
                      <a:lstStyle/>
                      <a:p>
                        <a:pPr algn="ctr"/>
                        <a:r>
                          <a:rPr sz="1400" b="1">
                            <a:solidFill>
                              <a:srgbClr val="FFFFFF"/>
                            </a:solidFill>
                            <a:latin typeface="Calibri"/>
                          </a:rPr>
                          <a:t>Price ($)</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1400" b="1">
                            <a:solidFill>
                              <a:srgbClr val="FFFFFF"/>
                            </a:solidFill>
                            <a:latin typeface="Calibri"/>
                          </a:rPr>
                          <a:t>Seats sold</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extLst>
                    <a:ext uri="{0D108BD9-81ED-4DB2-BD59-A6C34878D82A}">
                      <a16:rowId xmlns:a16="http://schemas.microsoft.com/office/drawing/2014/main" val="10000"/>
                    </a:ext>
                  </a:extLst>
                </a:tr>
                <a:tr h="252804">
                  <a:tc>
                    <a:txBody>
                      <a:bodyPr/>
                      <a:lstStyle/>
                      <a:p>
                        <a:pPr algn="l"/>
                        <a:r>
                          <a:rPr sz="1400" b="1">
                            <a:solidFill>
                              <a:srgbClr val="0B2B4E"/>
                            </a:solidFill>
                            <a:latin typeface="Calibri"/>
                          </a:rPr>
                          <a:t>250.00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64</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1"/>
                    </a:ext>
                  </a:extLst>
                </a:tr>
                <a:tr h="252804">
                  <a:tc>
                    <a:txBody>
                      <a:bodyPr/>
                      <a:lstStyle/>
                      <a:p>
                        <a:pPr algn="l"/>
                        <a:r>
                          <a:rPr sz="1400" b="1">
                            <a:solidFill>
                              <a:srgbClr val="0B2B4E"/>
                            </a:solidFill>
                            <a:latin typeface="Calibri"/>
                          </a:rPr>
                          <a:t>265.00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33</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2"/>
                    </a:ext>
                  </a:extLst>
                </a:tr>
                <a:tr h="252804">
                  <a:tc>
                    <a:txBody>
                      <a:bodyPr/>
                      <a:lstStyle/>
                      <a:p>
                        <a:pPr algn="l"/>
                        <a:r>
                          <a:rPr sz="1400" b="1">
                            <a:solidFill>
                              <a:srgbClr val="0B2B4E"/>
                            </a:solidFill>
                            <a:latin typeface="Calibri"/>
                          </a:rPr>
                          <a:t>265.00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37</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3"/>
                    </a:ext>
                  </a:extLst>
                </a:tr>
                <a:tr h="252804">
                  <a:tc>
                    <a:txBody>
                      <a:bodyPr/>
                      <a:lstStyle/>
                      <a:p>
                        <a:pPr algn="l"/>
                        <a:r>
                          <a:rPr sz="1400" b="1">
                            <a:solidFill>
                              <a:srgbClr val="0B2B4E"/>
                            </a:solidFill>
                            <a:latin typeface="Calibri"/>
                          </a:rPr>
                          <a:t>240.00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83</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4"/>
                    </a:ext>
                  </a:extLst>
                </a:tr>
                <a:tr h="252804">
                  <a:tc>
                    <a:txBody>
                      <a:bodyPr/>
                      <a:lstStyle/>
                      <a:p>
                        <a:pPr algn="l"/>
                        <a:r>
                          <a:rPr sz="1400" b="1">
                            <a:solidFill>
                              <a:srgbClr val="0B2B4E"/>
                            </a:solidFill>
                            <a:latin typeface="Calibri"/>
                          </a:rPr>
                          <a:t>230.00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111</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5"/>
                    </a:ext>
                  </a:extLst>
                </a:tr>
                <a:tr h="252804">
                  <a:tc>
                    <a:txBody>
                      <a:bodyPr/>
                      <a:lstStyle/>
                      <a:p>
                        <a:pPr algn="l"/>
                        <a:r>
                          <a:rPr sz="1400" b="1">
                            <a:solidFill>
                              <a:srgbClr val="0B2B4E"/>
                            </a:solidFill>
                            <a:latin typeface="Calibri"/>
                          </a:rPr>
                          <a:t>225.00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137</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6"/>
                    </a:ext>
                  </a:extLst>
                </a:tr>
                <a:tr h="252804">
                  <a:tc>
                    <a:txBody>
                      <a:bodyPr/>
                      <a:lstStyle/>
                      <a:p>
                        <a:pPr algn="l"/>
                        <a:r>
                          <a:rPr sz="1400" b="1">
                            <a:solidFill>
                              <a:srgbClr val="0B2B4E"/>
                            </a:solidFill>
                            <a:latin typeface="Calibri"/>
                          </a:rPr>
                          <a:t>225.00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109</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7"/>
                    </a:ext>
                  </a:extLst>
                </a:tr>
                <a:tr h="252804">
                  <a:tc>
                    <a:txBody>
                      <a:bodyPr/>
                      <a:lstStyle/>
                      <a:p>
                        <a:pPr algn="l"/>
                        <a:r>
                          <a:rPr sz="1400" b="1">
                            <a:solidFill>
                              <a:srgbClr val="0B2B4E"/>
                            </a:solidFill>
                            <a:latin typeface="Calibri"/>
                          </a:rPr>
                          <a:t>220.00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96</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8"/>
                    </a:ext>
                  </a:extLst>
                </a:tr>
                <a:tr h="252804">
                  <a:tc>
                    <a:txBody>
                      <a:bodyPr/>
                      <a:lstStyle/>
                      <a:p>
                        <a:pPr algn="l"/>
                        <a:r>
                          <a:rPr sz="1400" b="1">
                            <a:solidFill>
                              <a:srgbClr val="0B2B4E"/>
                            </a:solidFill>
                            <a:latin typeface="Calibri"/>
                          </a:rPr>
                          <a:t>230.00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59</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9"/>
                    </a:ext>
                  </a:extLst>
                </a:tr>
                <a:tr h="252804">
                  <a:tc>
                    <a:txBody>
                      <a:bodyPr/>
                      <a:lstStyle/>
                      <a:p>
                        <a:pPr algn="l"/>
                        <a:r>
                          <a:rPr sz="1400" b="1">
                            <a:solidFill>
                              <a:srgbClr val="0B2B4E"/>
                            </a:solidFill>
                            <a:latin typeface="Calibri"/>
                          </a:rPr>
                          <a:t>235.00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83</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10"/>
                    </a:ext>
                  </a:extLst>
                </a:tr>
                <a:tr h="252804">
                  <a:tc>
                    <a:txBody>
                      <a:bodyPr/>
                      <a:lstStyle/>
                      <a:p>
                        <a:pPr algn="l"/>
                        <a:r>
                          <a:rPr sz="1400" b="1">
                            <a:solidFill>
                              <a:srgbClr val="0B2B4E"/>
                            </a:solidFill>
                            <a:latin typeface="Calibri"/>
                          </a:rPr>
                          <a:t>245.00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90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11"/>
                    </a:ext>
                  </a:extLst>
                </a:tr>
                <a:tr h="252804">
                  <a:tc>
                    <a:txBody>
                      <a:bodyPr/>
                      <a:lstStyle/>
                      <a:p>
                        <a:pPr algn="l"/>
                        <a:r>
                          <a:rPr sz="1400" b="1">
                            <a:solidFill>
                              <a:srgbClr val="0B2B4E"/>
                            </a:solidFill>
                            <a:latin typeface="Calibri"/>
                          </a:rPr>
                          <a:t>240.00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105</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12"/>
                    </a:ext>
                  </a:extLst>
                </a:tr>
                <a:tr h="252804">
                  <a:tc>
                    <a:txBody>
                      <a:bodyPr/>
                      <a:lstStyle/>
                      <a:p>
                        <a:pPr algn="l"/>
                        <a:r>
                          <a:rPr sz="1400" b="1">
                            <a:solidFill>
                              <a:srgbClr val="0B2B4E"/>
                            </a:solidFill>
                            <a:latin typeface="Calibri"/>
                          </a:rPr>
                          <a:t>250.00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75</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13"/>
                    </a:ext>
                  </a:extLst>
                </a:tr>
                <a:tr h="252804">
                  <a:tc>
                    <a:txBody>
                      <a:bodyPr/>
                      <a:lstStyle/>
                      <a:p>
                        <a:pPr algn="l"/>
                        <a:r>
                          <a:rPr sz="1400" b="1">
                            <a:solidFill>
                              <a:srgbClr val="0B2B4E"/>
                            </a:solidFill>
                            <a:latin typeface="Calibri"/>
                          </a:rPr>
                          <a:t>240.00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91</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14"/>
                    </a:ext>
                  </a:extLst>
                </a:tr>
                <a:tr h="252804">
                  <a:tc>
                    <a:txBody>
                      <a:bodyPr/>
                      <a:lstStyle/>
                      <a:p>
                        <a:pPr algn="l"/>
                        <a:r>
                          <a:rPr sz="1400" b="1">
                            <a:solidFill>
                              <a:srgbClr val="0B2B4E"/>
                            </a:solidFill>
                            <a:latin typeface="Calibri"/>
                          </a:rPr>
                          <a:t>240.00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112</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15"/>
                    </a:ext>
                  </a:extLst>
                </a:tr>
                <a:tr h="252816">
                  <a:tc>
                    <a:txBody>
                      <a:bodyPr/>
                      <a:lstStyle/>
                      <a:p>
                        <a:pPr algn="l"/>
                        <a:r>
                          <a:rPr sz="1400" b="1">
                            <a:solidFill>
                              <a:srgbClr val="0B2B4E"/>
                            </a:solidFill>
                            <a:latin typeface="Calibri"/>
                          </a:rPr>
                          <a:t>235.00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102</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16"/>
                    </a:ext>
                  </a:extLst>
                </a:tr>
              </a:tbl>
            </a:graphicData>
          </a:graphic>
        </p:graphicFrame>
      </p:grpSp>
      <p:pic>
        <p:nvPicPr>
          <p:cNvPr id="9" name="Picture 8" descr="ct_airline_plane.png"/>
          <p:cNvPicPr>
            <a:picLocks noChangeAspect="1"/>
          </p:cNvPicPr>
          <p:nvPr/>
        </p:nvPicPr>
        <p:blipFill>
          <a:blip r:embed="rId2"/>
          <a:stretch>
            <a:fillRect/>
          </a:stretch>
        </p:blipFill>
        <p:spPr>
          <a:xfrm>
            <a:off x="7452360" y="2651760"/>
            <a:ext cx="3840480" cy="2641600"/>
          </a:xfrm>
          <a:prstGeom prst="rect">
            <a:avLst/>
          </a:prstGeom>
        </p:spPr>
      </p:pic>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B85D8FA1-40B8-5136-B161-3F66860BFBA4}" type="slidenum">
              <a:rPr lang="en-US" sz="1200" dirty="0">
                <a:solidFill>
                  <a:srgbClr val="555B66"/>
                </a:solidFill>
                <a:latin typeface="Calibri"/>
              </a:rPr>
              <a:t>9</a:t>
            </a:fld>
            <a:endParaRPr lang="en-US" sz="1200" dirty="0">
              <a:solidFill>
                <a:srgbClr val="555B66"/>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First Pass: Eyeball the Relationship</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0" y="1371600"/>
            <a:ext cx="6675120" cy="411480"/>
          </a:xfrm>
          <a:prstGeom prst="rect">
            <a:avLst/>
          </a:prstGeom>
          <a:noFill/>
        </p:spPr>
        <p:txBody>
          <a:bodyPr wrap="square" lIns="0" tIns="0" rIns="0" bIns="0">
            <a:spAutoFit/>
          </a:bodyPr>
          <a:lstStyle/>
          <a:p>
            <a:pPr algn="ctr"/>
            <a:r>
              <a:rPr sz="2000" b="1" i="1" u="none">
                <a:solidFill>
                  <a:srgbClr val="0B2B4E"/>
                </a:solidFill>
                <a:latin typeface="Calibri"/>
              </a:rPr>
              <a:t>Scatterplot of Q versus P</a:t>
            </a:r>
          </a:p>
        </p:txBody>
      </p:sp>
      <p:cxnSp>
        <p:nvCxnSpPr>
          <p:cNvPr id="8" name="Connector 7"/>
          <p:cNvCxnSpPr/>
          <p:nvPr/>
        </p:nvCxnSpPr>
        <p:spPr>
          <a:xfrm flipV="1">
            <a:off x="3108960" y="1938527"/>
            <a:ext cx="0" cy="382219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108960" y="5760720"/>
            <a:ext cx="6309359"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788920" y="1536191"/>
            <a:ext cx="1737360" cy="310896"/>
          </a:xfrm>
          <a:prstGeom prst="rect">
            <a:avLst/>
          </a:prstGeom>
          <a:noFill/>
        </p:spPr>
        <p:txBody>
          <a:bodyPr wrap="square" lIns="0" tIns="0" rIns="0" bIns="0">
            <a:spAutoFit/>
          </a:bodyPr>
          <a:lstStyle/>
          <a:p>
            <a:pPr algn="l"/>
            <a:r>
              <a:rPr sz="1700" b="1" i="1" u="none">
                <a:solidFill>
                  <a:srgbClr val="0B2B4E"/>
                </a:solidFill>
                <a:latin typeface="Calibri"/>
              </a:rPr>
              <a:t>Quantity</a:t>
            </a:r>
          </a:p>
        </p:txBody>
      </p:sp>
      <p:sp>
        <p:nvSpPr>
          <p:cNvPr id="11" name="TextBox 10"/>
          <p:cNvSpPr txBox="1"/>
          <p:nvPr/>
        </p:nvSpPr>
        <p:spPr>
          <a:xfrm>
            <a:off x="9409176" y="5875020"/>
            <a:ext cx="1463040" cy="310896"/>
          </a:xfrm>
          <a:prstGeom prst="rect">
            <a:avLst/>
          </a:prstGeom>
          <a:noFill/>
        </p:spPr>
        <p:txBody>
          <a:bodyPr wrap="square" lIns="0" tIns="0" rIns="0" bIns="0">
            <a:spAutoFit/>
          </a:bodyPr>
          <a:lstStyle/>
          <a:p>
            <a:pPr algn="l"/>
            <a:r>
              <a:rPr sz="1700" b="1" i="1" u="none">
                <a:solidFill>
                  <a:srgbClr val="0B2B4E"/>
                </a:solidFill>
                <a:latin typeface="Calibri"/>
              </a:rPr>
              <a:t>Price ($)</a:t>
            </a:r>
          </a:p>
        </p:txBody>
      </p:sp>
      <p:sp>
        <p:nvSpPr>
          <p:cNvPr id="12" name="TextBox 11"/>
          <p:cNvSpPr txBox="1"/>
          <p:nvPr/>
        </p:nvSpPr>
        <p:spPr>
          <a:xfrm>
            <a:off x="3579972" y="5815583"/>
            <a:ext cx="914400" cy="274320"/>
          </a:xfrm>
          <a:prstGeom prst="rect">
            <a:avLst/>
          </a:prstGeom>
          <a:noFill/>
        </p:spPr>
        <p:txBody>
          <a:bodyPr wrap="square" lIns="0" tIns="0" rIns="0" bIns="0">
            <a:spAutoFit/>
          </a:bodyPr>
          <a:lstStyle/>
          <a:p>
            <a:pPr algn="ctr"/>
            <a:r>
              <a:rPr sz="1500" b="0" i="0" u="none">
                <a:solidFill>
                  <a:srgbClr val="0B2B4E"/>
                </a:solidFill>
                <a:latin typeface="Calibri"/>
              </a:rPr>
              <a:t>220</a:t>
            </a:r>
          </a:p>
        </p:txBody>
      </p:sp>
      <p:sp>
        <p:nvSpPr>
          <p:cNvPr id="13" name="TextBox 12"/>
          <p:cNvSpPr txBox="1"/>
          <p:nvPr/>
        </p:nvSpPr>
        <p:spPr>
          <a:xfrm>
            <a:off x="5436398" y="5815583"/>
            <a:ext cx="914400" cy="274320"/>
          </a:xfrm>
          <a:prstGeom prst="rect">
            <a:avLst/>
          </a:prstGeom>
          <a:noFill/>
        </p:spPr>
        <p:txBody>
          <a:bodyPr wrap="square" lIns="0" tIns="0" rIns="0" bIns="0">
            <a:spAutoFit/>
          </a:bodyPr>
          <a:lstStyle/>
          <a:p>
            <a:pPr algn="ctr"/>
            <a:r>
              <a:rPr sz="1500" b="0" i="0" u="none">
                <a:solidFill>
                  <a:srgbClr val="0B2B4E"/>
                </a:solidFill>
                <a:latin typeface="Calibri"/>
              </a:rPr>
              <a:t>240</a:t>
            </a:r>
          </a:p>
        </p:txBody>
      </p:sp>
      <p:sp>
        <p:nvSpPr>
          <p:cNvPr id="14" name="TextBox 13"/>
          <p:cNvSpPr txBox="1"/>
          <p:nvPr/>
        </p:nvSpPr>
        <p:spPr>
          <a:xfrm>
            <a:off x="7292823" y="5815583"/>
            <a:ext cx="914400" cy="274320"/>
          </a:xfrm>
          <a:prstGeom prst="rect">
            <a:avLst/>
          </a:prstGeom>
          <a:noFill/>
        </p:spPr>
        <p:txBody>
          <a:bodyPr wrap="square" lIns="0" tIns="0" rIns="0" bIns="0">
            <a:spAutoFit/>
          </a:bodyPr>
          <a:lstStyle/>
          <a:p>
            <a:pPr algn="ctr"/>
            <a:r>
              <a:rPr sz="1500" b="0" i="0" u="none">
                <a:solidFill>
                  <a:srgbClr val="0B2B4E"/>
                </a:solidFill>
                <a:latin typeface="Calibri"/>
              </a:rPr>
              <a:t>260</a:t>
            </a:r>
          </a:p>
        </p:txBody>
      </p:sp>
      <p:sp>
        <p:nvSpPr>
          <p:cNvPr id="15" name="TextBox 14"/>
          <p:cNvSpPr txBox="1"/>
          <p:nvPr/>
        </p:nvSpPr>
        <p:spPr>
          <a:xfrm>
            <a:off x="2130552" y="4413504"/>
            <a:ext cx="868680" cy="274320"/>
          </a:xfrm>
          <a:prstGeom prst="rect">
            <a:avLst/>
          </a:prstGeom>
          <a:noFill/>
        </p:spPr>
        <p:txBody>
          <a:bodyPr wrap="square" lIns="0" tIns="0" rIns="0" bIns="0">
            <a:spAutoFit/>
          </a:bodyPr>
          <a:lstStyle/>
          <a:p>
            <a:pPr algn="r"/>
            <a:r>
              <a:rPr sz="1500" b="0" i="0" u="none">
                <a:solidFill>
                  <a:srgbClr val="0B2B4E"/>
                </a:solidFill>
                <a:latin typeface="Calibri"/>
              </a:rPr>
              <a:t>50</a:t>
            </a:r>
          </a:p>
        </p:txBody>
      </p:sp>
      <p:sp>
        <p:nvSpPr>
          <p:cNvPr id="16" name="TextBox 15"/>
          <p:cNvSpPr txBox="1"/>
          <p:nvPr/>
        </p:nvSpPr>
        <p:spPr>
          <a:xfrm>
            <a:off x="2130552" y="3194304"/>
            <a:ext cx="868680" cy="274320"/>
          </a:xfrm>
          <a:prstGeom prst="rect">
            <a:avLst/>
          </a:prstGeom>
          <a:noFill/>
        </p:spPr>
        <p:txBody>
          <a:bodyPr wrap="square" lIns="0" tIns="0" rIns="0" bIns="0">
            <a:spAutoFit/>
          </a:bodyPr>
          <a:lstStyle/>
          <a:p>
            <a:pPr algn="r"/>
            <a:r>
              <a:rPr sz="1500" b="0" i="0" u="none">
                <a:solidFill>
                  <a:srgbClr val="0B2B4E"/>
                </a:solidFill>
                <a:latin typeface="Calibri"/>
              </a:rPr>
              <a:t>100</a:t>
            </a:r>
          </a:p>
        </p:txBody>
      </p:sp>
      <p:sp>
        <p:nvSpPr>
          <p:cNvPr id="17" name="TextBox 16"/>
          <p:cNvSpPr txBox="1"/>
          <p:nvPr/>
        </p:nvSpPr>
        <p:spPr>
          <a:xfrm>
            <a:off x="2130552" y="1975104"/>
            <a:ext cx="868680" cy="274320"/>
          </a:xfrm>
          <a:prstGeom prst="rect">
            <a:avLst/>
          </a:prstGeom>
          <a:noFill/>
        </p:spPr>
        <p:txBody>
          <a:bodyPr wrap="square" lIns="0" tIns="0" rIns="0" bIns="0">
            <a:spAutoFit/>
          </a:bodyPr>
          <a:lstStyle/>
          <a:p>
            <a:pPr algn="r"/>
            <a:r>
              <a:rPr sz="1500" b="0" i="0" u="none">
                <a:solidFill>
                  <a:srgbClr val="0B2B4E"/>
                </a:solidFill>
                <a:latin typeface="Calibri"/>
              </a:rPr>
              <a:t>150</a:t>
            </a:r>
          </a:p>
        </p:txBody>
      </p:sp>
      <p:sp>
        <p:nvSpPr>
          <p:cNvPr id="18" name="Oval 17"/>
          <p:cNvSpPr/>
          <p:nvPr/>
        </p:nvSpPr>
        <p:spPr>
          <a:xfrm>
            <a:off x="6766946" y="4145280"/>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159265" y="4901184"/>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159265" y="4803648"/>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838734" y="3681983"/>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4910521" y="2999232"/>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446415" y="2365248"/>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446415" y="3048000"/>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3982308" y="3364992"/>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4910521" y="4267200"/>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5374627" y="3681983"/>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302840" y="3511296"/>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5838734" y="3145536"/>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766946" y="3877056"/>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5838734" y="3486911"/>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5838734" y="2974847"/>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5374627" y="3218687"/>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4" name="Connector 33"/>
          <p:cNvCxnSpPr/>
          <p:nvPr/>
        </p:nvCxnSpPr>
        <p:spPr>
          <a:xfrm>
            <a:off x="4037076" y="2517343"/>
            <a:ext cx="4271162" cy="2511857"/>
          </a:xfrm>
          <a:prstGeom prst="line">
            <a:avLst/>
          </a:prstGeom>
          <a:ln w="3810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37076" y="2907792"/>
            <a:ext cx="4456785" cy="1634032"/>
          </a:xfrm>
          <a:prstGeom prst="line">
            <a:avLst/>
          </a:prstGeom>
          <a:ln w="38100">
            <a:solidFill>
              <a:srgbClr val="E09F3E"/>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39" name="TextBox 38"/>
          <p:cNvSpPr txBox="1"/>
          <p:nvPr/>
        </p:nvSpPr>
        <p:spPr>
          <a:xfrm>
            <a:off x="11475720" y="6583680"/>
            <a:ext cx="502920" cy="292608"/>
          </a:xfrm>
          <a:prstGeom prst="rect">
            <a:avLst/>
          </a:prstGeom>
          <a:noFill/>
        </p:spPr>
        <p:txBody>
          <a:bodyPr wrap="none" lIns="0" tIns="0" rIns="0" bIns="0">
            <a:spAutoFit/>
          </a:bodyPr>
          <a:lstStyle/>
          <a:p>
            <a:pPr algn="r"/>
            <a:fld id="{D08F1797-AD54-52A3-A710-94438C6EF77E}" type="slidenum">
              <a:rPr lang="en-US" sz="1200" dirty="0">
                <a:solidFill>
                  <a:srgbClr val="555B66"/>
                </a:solidFill>
                <a:latin typeface="Calibri"/>
              </a:rPr>
              <a:t>10</a:t>
            </a:fld>
            <a:endParaRPr lang="en-US" sz="1200" dirty="0">
              <a:solidFill>
                <a:srgbClr val="555B66"/>
              </a:solidFill>
              <a:latin typeface="Calibri"/>
            </a:endParaRPr>
          </a:p>
        </p:txBody>
      </p:sp>
      <p:grpSp>
        <p:nvGrpSpPr>
          <p:cNvPr id="40" name="Group pair 9706">
            <a:extLst>
              <a:ext uri="{FF2B5EF4-FFF2-40B4-BE49-F238E27FC236}">
                <a16:creationId xmlns:a16="http://schemas.microsoft.com/office/drawing/2014/main" id="{BB08833C-9C9F-67D6-FABF-E00A6608CF2D}"/>
              </a:ext>
            </a:extLst>
          </p:cNvPr>
          <p:cNvGrpSpPr/>
          <p:nvPr/>
        </p:nvGrpSpPr>
        <p:grpSpPr>
          <a:xfrm>
            <a:off x="7752235" y="2969793"/>
            <a:ext cx="3313881" cy="815154"/>
            <a:chOff x="3108960" y="1882051"/>
            <a:chExt cx="5943600" cy="1676573"/>
          </a:xfrm>
        </p:grpSpPr>
        <p:sp>
          <p:nvSpPr>
            <p:cNvPr id="41" name="Rounded Rectangle 6">
              <a:extLst>
                <a:ext uri="{FF2B5EF4-FFF2-40B4-BE49-F238E27FC236}">
                  <a16:creationId xmlns:a16="http://schemas.microsoft.com/office/drawing/2014/main" id="{34733D70-49CE-4CF4-8386-0E10289CD8ED}"/>
                </a:ext>
              </a:extLst>
            </p:cNvPr>
            <p:cNvSpPr/>
            <p:nvPr/>
          </p:nvSpPr>
          <p:spPr>
            <a:xfrm>
              <a:off x="3108960" y="2194560"/>
              <a:ext cx="5943600" cy="105156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2" name="TextBox 41">
              <a:extLst>
                <a:ext uri="{FF2B5EF4-FFF2-40B4-BE49-F238E27FC236}">
                  <a16:creationId xmlns:a16="http://schemas.microsoft.com/office/drawing/2014/main" id="{1FF568C9-8F9C-5592-53E0-DB84ECBC1CAC}"/>
                </a:ext>
              </a:extLst>
            </p:cNvPr>
            <p:cNvSpPr txBox="1"/>
            <p:nvPr/>
          </p:nvSpPr>
          <p:spPr>
            <a:xfrm>
              <a:off x="3291840" y="1882051"/>
              <a:ext cx="5577840" cy="1676573"/>
            </a:xfrm>
            <a:prstGeom prst="rect">
              <a:avLst/>
            </a:prstGeom>
            <a:noFill/>
          </p:spPr>
          <p:txBody>
            <a:bodyPr wrap="square" lIns="45720" tIns="0" rIns="45720" bIns="0" anchor="ctr">
              <a:spAutoFit/>
            </a:bodyPr>
            <a:lstStyle/>
            <a:p>
              <a:pPr algn="ctr"/>
              <a:r>
                <a:rPr lang="en-US" b="0" i="1" u="none" dirty="0">
                  <a:solidFill>
                    <a:srgbClr val="0B2B4E"/>
                  </a:solidFill>
                  <a:latin typeface="Calibri"/>
                </a:rPr>
                <a:t>Which line provides the best fit?</a:t>
              </a:r>
              <a:endParaRPr b="0" i="1" u="none" dirty="0">
                <a:solidFill>
                  <a:srgbClr val="0B2B4E"/>
                </a:solidFill>
                <a:latin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fade">
                                      <p:cBhvr>
                                        <p:cTn id="1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Least Squares Estimation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914400" y="1847088"/>
            <a:ext cx="0" cy="391363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14400" y="5760720"/>
            <a:ext cx="5943600"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94360" y="1444752"/>
            <a:ext cx="1737360" cy="310896"/>
          </a:xfrm>
          <a:prstGeom prst="rect">
            <a:avLst/>
          </a:prstGeom>
          <a:noFill/>
        </p:spPr>
        <p:txBody>
          <a:bodyPr wrap="square" lIns="0" tIns="0" rIns="0" bIns="0">
            <a:spAutoFit/>
          </a:bodyPr>
          <a:lstStyle/>
          <a:p>
            <a:pPr algn="l"/>
            <a:r>
              <a:rPr sz="1700" b="1" i="1" u="none">
                <a:solidFill>
                  <a:srgbClr val="0B2B4E"/>
                </a:solidFill>
                <a:latin typeface="Calibri"/>
              </a:rPr>
              <a:t>Quantity</a:t>
            </a:r>
          </a:p>
        </p:txBody>
      </p:sp>
      <p:sp>
        <p:nvSpPr>
          <p:cNvPr id="10" name="TextBox 9"/>
          <p:cNvSpPr txBox="1"/>
          <p:nvPr/>
        </p:nvSpPr>
        <p:spPr>
          <a:xfrm>
            <a:off x="6848856" y="5875020"/>
            <a:ext cx="1463040" cy="310896"/>
          </a:xfrm>
          <a:prstGeom prst="rect">
            <a:avLst/>
          </a:prstGeom>
          <a:noFill/>
        </p:spPr>
        <p:txBody>
          <a:bodyPr wrap="square" lIns="0" tIns="0" rIns="0" bIns="0">
            <a:spAutoFit/>
          </a:bodyPr>
          <a:lstStyle/>
          <a:p>
            <a:pPr algn="l"/>
            <a:r>
              <a:rPr sz="1700" b="1" i="1" u="none">
                <a:solidFill>
                  <a:srgbClr val="0B2B4E"/>
                </a:solidFill>
                <a:latin typeface="Calibri"/>
              </a:rPr>
              <a:t>Price ($)</a:t>
            </a:r>
          </a:p>
        </p:txBody>
      </p:sp>
      <p:sp>
        <p:nvSpPr>
          <p:cNvPr id="11" name="TextBox 10"/>
          <p:cNvSpPr txBox="1"/>
          <p:nvPr/>
        </p:nvSpPr>
        <p:spPr>
          <a:xfrm>
            <a:off x="1330161" y="5815583"/>
            <a:ext cx="914400" cy="274320"/>
          </a:xfrm>
          <a:prstGeom prst="rect">
            <a:avLst/>
          </a:prstGeom>
          <a:noFill/>
        </p:spPr>
        <p:txBody>
          <a:bodyPr wrap="square" lIns="0" tIns="0" rIns="0" bIns="0">
            <a:spAutoFit/>
          </a:bodyPr>
          <a:lstStyle/>
          <a:p>
            <a:pPr algn="ctr"/>
            <a:r>
              <a:rPr sz="1500" b="0" i="0" u="none">
                <a:solidFill>
                  <a:srgbClr val="0B2B4E"/>
                </a:solidFill>
                <a:latin typeface="Calibri"/>
              </a:rPr>
              <a:t>220</a:t>
            </a:r>
          </a:p>
        </p:txBody>
      </p:sp>
      <p:sp>
        <p:nvSpPr>
          <p:cNvPr id="12" name="TextBox 11"/>
          <p:cNvSpPr txBox="1"/>
          <p:nvPr/>
        </p:nvSpPr>
        <p:spPr>
          <a:xfrm>
            <a:off x="3076085" y="5815583"/>
            <a:ext cx="914400" cy="274320"/>
          </a:xfrm>
          <a:prstGeom prst="rect">
            <a:avLst/>
          </a:prstGeom>
          <a:noFill/>
        </p:spPr>
        <p:txBody>
          <a:bodyPr wrap="square" lIns="0" tIns="0" rIns="0" bIns="0">
            <a:spAutoFit/>
          </a:bodyPr>
          <a:lstStyle/>
          <a:p>
            <a:pPr algn="ctr"/>
            <a:r>
              <a:rPr sz="1500" b="0" i="0" u="none">
                <a:solidFill>
                  <a:srgbClr val="0B2B4E"/>
                </a:solidFill>
                <a:latin typeface="Calibri"/>
              </a:rPr>
              <a:t>240</a:t>
            </a:r>
          </a:p>
        </p:txBody>
      </p:sp>
      <p:sp>
        <p:nvSpPr>
          <p:cNvPr id="13" name="TextBox 12"/>
          <p:cNvSpPr txBox="1"/>
          <p:nvPr/>
        </p:nvSpPr>
        <p:spPr>
          <a:xfrm>
            <a:off x="4822009" y="5815583"/>
            <a:ext cx="914400" cy="274320"/>
          </a:xfrm>
          <a:prstGeom prst="rect">
            <a:avLst/>
          </a:prstGeom>
          <a:noFill/>
        </p:spPr>
        <p:txBody>
          <a:bodyPr wrap="square" lIns="0" tIns="0" rIns="0" bIns="0">
            <a:spAutoFit/>
          </a:bodyPr>
          <a:lstStyle/>
          <a:p>
            <a:pPr algn="ctr"/>
            <a:r>
              <a:rPr sz="1500" b="0" i="0" u="none">
                <a:solidFill>
                  <a:srgbClr val="0B2B4E"/>
                </a:solidFill>
                <a:latin typeface="Calibri"/>
              </a:rPr>
              <a:t>260</a:t>
            </a:r>
          </a:p>
        </p:txBody>
      </p:sp>
      <p:sp>
        <p:nvSpPr>
          <p:cNvPr id="14" name="TextBox 13"/>
          <p:cNvSpPr txBox="1"/>
          <p:nvPr/>
        </p:nvSpPr>
        <p:spPr>
          <a:xfrm>
            <a:off x="-64008" y="4383024"/>
            <a:ext cx="868680" cy="274320"/>
          </a:xfrm>
          <a:prstGeom prst="rect">
            <a:avLst/>
          </a:prstGeom>
          <a:noFill/>
        </p:spPr>
        <p:txBody>
          <a:bodyPr wrap="square" lIns="0" tIns="0" rIns="0" bIns="0">
            <a:spAutoFit/>
          </a:bodyPr>
          <a:lstStyle/>
          <a:p>
            <a:pPr algn="r"/>
            <a:r>
              <a:rPr sz="1500" b="0" i="0" u="none">
                <a:solidFill>
                  <a:srgbClr val="0B2B4E"/>
                </a:solidFill>
                <a:latin typeface="Calibri"/>
              </a:rPr>
              <a:t>50</a:t>
            </a:r>
          </a:p>
        </p:txBody>
      </p:sp>
      <p:sp>
        <p:nvSpPr>
          <p:cNvPr id="15" name="TextBox 14"/>
          <p:cNvSpPr txBox="1"/>
          <p:nvPr/>
        </p:nvSpPr>
        <p:spPr>
          <a:xfrm>
            <a:off x="-64008" y="3133344"/>
            <a:ext cx="868680" cy="274320"/>
          </a:xfrm>
          <a:prstGeom prst="rect">
            <a:avLst/>
          </a:prstGeom>
          <a:noFill/>
        </p:spPr>
        <p:txBody>
          <a:bodyPr wrap="square" lIns="0" tIns="0" rIns="0" bIns="0">
            <a:spAutoFit/>
          </a:bodyPr>
          <a:lstStyle/>
          <a:p>
            <a:pPr algn="r"/>
            <a:r>
              <a:rPr sz="1500" b="0" i="0" u="none">
                <a:solidFill>
                  <a:srgbClr val="0B2B4E"/>
                </a:solidFill>
                <a:latin typeface="Calibri"/>
              </a:rPr>
              <a:t>100</a:t>
            </a:r>
          </a:p>
        </p:txBody>
      </p:sp>
      <p:sp>
        <p:nvSpPr>
          <p:cNvPr id="16" name="TextBox 15"/>
          <p:cNvSpPr txBox="1"/>
          <p:nvPr/>
        </p:nvSpPr>
        <p:spPr>
          <a:xfrm>
            <a:off x="-64008" y="1883664"/>
            <a:ext cx="868680" cy="274320"/>
          </a:xfrm>
          <a:prstGeom prst="rect">
            <a:avLst/>
          </a:prstGeom>
          <a:noFill/>
        </p:spPr>
        <p:txBody>
          <a:bodyPr wrap="square" lIns="0" tIns="0" rIns="0" bIns="0">
            <a:spAutoFit/>
          </a:bodyPr>
          <a:lstStyle/>
          <a:p>
            <a:pPr algn="r"/>
            <a:r>
              <a:rPr sz="1500" b="0" i="0" u="none">
                <a:solidFill>
                  <a:srgbClr val="0B2B4E"/>
                </a:solidFill>
                <a:latin typeface="Calibri"/>
              </a:rPr>
              <a:t>150</a:t>
            </a:r>
          </a:p>
        </p:txBody>
      </p:sp>
      <p:sp>
        <p:nvSpPr>
          <p:cNvPr id="17" name="Oval 16"/>
          <p:cNvSpPr/>
          <p:nvPr/>
        </p:nvSpPr>
        <p:spPr>
          <a:xfrm>
            <a:off x="4351383" y="4106265"/>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5660826" y="4881067"/>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660826" y="4781092"/>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3478421" y="3631387"/>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605459" y="2931566"/>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2168978" y="2281732"/>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2168978" y="2981553"/>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732497" y="3306470"/>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2605459" y="4231233"/>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3041940" y="3631387"/>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914902" y="3456432"/>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478421" y="3081528"/>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4351383" y="3831336"/>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478421" y="3431438"/>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3478421" y="2906572"/>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3041940" y="3156508"/>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p:cNvCxnSpPr/>
          <p:nvPr/>
        </p:nvCxnSpPr>
        <p:spPr>
          <a:xfrm>
            <a:off x="2048256" y="2930652"/>
            <a:ext cx="4535424" cy="2131466"/>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2659075" y="3217773"/>
            <a:ext cx="0" cy="1068019"/>
          </a:xfrm>
          <a:prstGeom prst="line">
            <a:avLst/>
          </a:prstGeom>
          <a:ln w="22860">
            <a:solidFill>
              <a:srgbClr val="C0504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966667" y="3511296"/>
            <a:ext cx="0" cy="320954"/>
          </a:xfrm>
          <a:prstGeom prst="line">
            <a:avLst/>
          </a:prstGeom>
          <a:ln w="22860">
            <a:solidFill>
              <a:srgbClr val="C0504D"/>
            </a:solidFill>
          </a:ln>
        </p:spPr>
        <p:style>
          <a:lnRef idx="2">
            <a:schemeClr val="accent1"/>
          </a:lnRef>
          <a:fillRef idx="0">
            <a:schemeClr val="accent1"/>
          </a:fillRef>
          <a:effectRef idx="1">
            <a:schemeClr val="accent1"/>
          </a:effectRef>
          <a:fontRef idx="minor">
            <a:schemeClr val="tx1"/>
          </a:fontRef>
        </p:style>
      </p:cxnSp>
      <p:grpSp>
        <p:nvGrpSpPr>
          <p:cNvPr id="141" name="Group pair 141"/>
          <p:cNvGrpSpPr/>
          <p:nvPr/>
        </p:nvGrpSpPr>
        <p:grpSpPr>
          <a:xfrm>
            <a:off x="7269480" y="2286000"/>
            <a:ext cx="4434840" cy="2697480"/>
            <a:chOff x="7269480" y="2286000"/>
            <a:chExt cx="4434840" cy="2697480"/>
          </a:xfrm>
        </p:grpSpPr>
        <p:sp>
          <p:nvSpPr>
            <p:cNvPr id="36" name="Rounded Rectangle 35"/>
            <p:cNvSpPr/>
            <p:nvPr/>
          </p:nvSpPr>
          <p:spPr>
            <a:xfrm>
              <a:off x="7269480" y="2286000"/>
              <a:ext cx="4434840" cy="2697480"/>
            </a:xfrm>
            <a:prstGeom prst="roundRect">
              <a:avLst>
                <a:gd name="adj" fmla="val 10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TextBox 36"/>
            <p:cNvSpPr txBox="1"/>
            <p:nvPr/>
          </p:nvSpPr>
          <p:spPr>
            <a:xfrm>
              <a:off x="7498079" y="2395728"/>
              <a:ext cx="4069080" cy="2468880"/>
            </a:xfrm>
            <a:prstGeom prst="rect">
              <a:avLst/>
            </a:prstGeom>
            <a:noFill/>
          </p:spPr>
          <p:txBody>
            <a:bodyPr wrap="square" lIns="0" tIns="0" rIns="0" bIns="0">
              <a:spAutoFit/>
            </a:bodyPr>
            <a:lstStyle>
              <a:lvl1pPr marL="342900" indent="-342900">
                <a:spcBef>
                  <a:spcPts val="100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0B2B4E"/>
                  </a:solidFill>
                  <a:latin typeface="Calibri"/>
                </a:rPr>
                <a:t>Least Squares Algorithm</a:t>
              </a:r>
            </a:p>
            <a:p>
              <a:pPr algn="l">
                <a:spcBef>
                  <a:spcPts val="1000"/>
                </a:spcBef>
                <a:buNone/>
              </a:pPr>
              <a:r>
                <a:rPr sz="1900">
                  <a:solidFill>
                    <a:srgbClr val="0B2B4E"/>
                  </a:solidFill>
                  <a:latin typeface="Calibri"/>
                </a:rPr>
                <a:t>1.  Calculate all vertical distances</a:t>
              </a:r>
            </a:p>
            <a:p>
              <a:pPr algn="l">
                <a:spcBef>
                  <a:spcPts val="1000"/>
                </a:spcBef>
                <a:buNone/>
              </a:pPr>
              <a:r>
                <a:rPr sz="1900">
                  <a:solidFill>
                    <a:srgbClr val="0B2B4E"/>
                  </a:solidFill>
                  <a:latin typeface="Calibri"/>
                </a:rPr>
                <a:t>2.  Square them</a:t>
              </a:r>
            </a:p>
            <a:p>
              <a:pPr algn="l">
                <a:spcBef>
                  <a:spcPts val="1000"/>
                </a:spcBef>
                <a:buNone/>
              </a:pPr>
              <a:r>
                <a:rPr sz="1900">
                  <a:solidFill>
                    <a:srgbClr val="0B2B4E"/>
                  </a:solidFill>
                  <a:latin typeface="Calibri"/>
                </a:rPr>
                <a:t>3.  Sum them over all data points</a:t>
              </a:r>
            </a:p>
            <a:p>
              <a:pPr algn="l">
                <a:spcBef>
                  <a:spcPts val="1000"/>
                </a:spcBef>
                <a:buNone/>
              </a:pPr>
              <a:r>
                <a:rPr sz="1900">
                  <a:solidFill>
                    <a:srgbClr val="0B2B4E"/>
                  </a:solidFill>
                  <a:latin typeface="Calibri"/>
                </a:rPr>
                <a:t>4.  Choose the line that minimizes the sum of squares</a:t>
              </a:r>
            </a:p>
          </p:txBody>
        </p:sp>
      </p:grpSp>
      <p:sp>
        <p:nvSpPr>
          <p:cNvPr id="38" name="Rectangle 3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41" name="TextBox 40"/>
          <p:cNvSpPr txBox="1"/>
          <p:nvPr/>
        </p:nvSpPr>
        <p:spPr>
          <a:xfrm>
            <a:off x="11475720" y="6583680"/>
            <a:ext cx="502920" cy="292608"/>
          </a:xfrm>
          <a:prstGeom prst="rect">
            <a:avLst/>
          </a:prstGeom>
          <a:noFill/>
        </p:spPr>
        <p:txBody>
          <a:bodyPr wrap="none" lIns="0" tIns="0" rIns="0" bIns="0">
            <a:spAutoFit/>
          </a:bodyPr>
          <a:lstStyle/>
          <a:p>
            <a:pPr algn="r"/>
            <a:fld id="{EDF708DD-CB73-56E8-9FB3-32D439A6BCE9}" type="slidenum">
              <a:rPr lang="en-US" sz="1200" dirty="0">
                <a:solidFill>
                  <a:srgbClr val="555B66"/>
                </a:solidFill>
                <a:latin typeface="Calibri"/>
              </a:rPr>
              <a:t>11</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u="none" dirty="0">
                <a:solidFill>
                  <a:srgbClr val="0B2B4E"/>
                </a:solidFill>
                <a:latin typeface="Calibri"/>
              </a:rPr>
              <a:t>Regression Results</a:t>
            </a:r>
            <a:r>
              <a:rPr lang="en-US" sz="3200" b="1" i="0" u="none" dirty="0">
                <a:solidFill>
                  <a:srgbClr val="0B2B4E"/>
                </a:solidFill>
                <a:latin typeface="Calibri"/>
              </a:rPr>
              <a:t> for the Airline Data</a:t>
            </a:r>
            <a:endParaRPr sz="3200" b="1" i="0" u="none" dirty="0">
              <a:solidFill>
                <a:srgbClr val="0B2B4E"/>
              </a:solidFill>
              <a:latin typeface="Calibri"/>
            </a:endParaRP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16" name="Group pair 116"/>
          <p:cNvGrpSpPr/>
          <p:nvPr/>
        </p:nvGrpSpPr>
        <p:grpSpPr>
          <a:xfrm>
            <a:off x="3127248" y="1325880"/>
            <a:ext cx="5943600" cy="2523744"/>
            <a:chOff x="3127248" y="1325880"/>
            <a:chExt cx="5943600" cy="2523744"/>
          </a:xfrm>
        </p:grpSpPr>
        <p:sp>
          <p:nvSpPr>
            <p:cNvPr id="7" name="Rectangle 6"/>
            <p:cNvSpPr/>
            <p:nvPr/>
          </p:nvSpPr>
          <p:spPr>
            <a:xfrm>
              <a:off x="3127248" y="1325880"/>
              <a:ext cx="5943600" cy="2523744"/>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3264408" y="1463040"/>
            <a:ext cx="5669280" cy="2365248"/>
          </p:xfrm>
          <a:graphic>
            <a:graphicData uri="http://schemas.openxmlformats.org/drawingml/2006/table">
              <a:tbl>
                <a:tblPr/>
                <a:tblGrid>
                  <a:gridCol w="28346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tblGrid>
                <a:tr h="749808">
                  <a:tc>
                    <a:txBody>
                      <a:bodyPr/>
                      <a:lstStyle/>
                      <a:p>
                        <a:pPr algn="ctr"/>
                        <a:r>
                          <a:rPr sz="2400" b="1">
                            <a:solidFill>
                              <a:srgbClr val="FFFFFF"/>
                            </a:solidFill>
                            <a:latin typeface="Calibri"/>
                          </a:rPr>
                          <a:t>Coefficient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2400" b="1">
                            <a:solidFill>
                              <a:srgbClr val="FFFFFF"/>
                            </a:solidFill>
                            <a:latin typeface="Calibri"/>
                          </a:rPr>
                          <a:t>Value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extLst>
                    <a:ext uri="{0D108BD9-81ED-4DB2-BD59-A6C34878D82A}">
                      <a16:rowId xmlns:a16="http://schemas.microsoft.com/office/drawing/2014/main" val="10000"/>
                    </a:ext>
                  </a:extLst>
                </a:tr>
                <a:tr h="749808">
                  <a:tc>
                    <a:txBody>
                      <a:bodyPr/>
                      <a:lstStyle/>
                      <a:p>
                        <a:pPr algn="l"/>
                        <a:r>
                          <a:rPr sz="2600" b="1">
                            <a:solidFill>
                              <a:srgbClr val="0B2B4E"/>
                            </a:solidFill>
                            <a:latin typeface="Calibri"/>
                          </a:rPr>
                          <a:t>Constant (intercept)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600" b="0">
                            <a:solidFill>
                              <a:srgbClr val="0B2B4E"/>
                            </a:solidFill>
                            <a:latin typeface="Calibri"/>
                          </a:rPr>
                          <a:t>478.95</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1"/>
                    </a:ext>
                  </a:extLst>
                </a:tr>
                <a:tr h="749808">
                  <a:tc>
                    <a:txBody>
                      <a:bodyPr/>
                      <a:lstStyle/>
                      <a:p>
                        <a:pPr algn="l"/>
                        <a:r>
                          <a:rPr sz="2600" b="1">
                            <a:solidFill>
                              <a:srgbClr val="0B2B4E"/>
                            </a:solidFill>
                            <a:latin typeface="Calibri"/>
                          </a:rPr>
                          <a:t>Own price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2600" b="0">
                            <a:solidFill>
                              <a:srgbClr val="0B2B4E"/>
                            </a:solidFill>
                            <a:latin typeface="Calibri"/>
                          </a:rPr>
                          <a:t>−1.64</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2"/>
                    </a:ext>
                  </a:extLst>
                </a:tr>
              </a:tbl>
            </a:graphicData>
          </a:graphic>
        </p:graphicFrame>
      </p:grpSp>
      <p:grpSp>
        <p:nvGrpSpPr>
          <p:cNvPr id="115" name="Group pair 115"/>
          <p:cNvGrpSpPr/>
          <p:nvPr/>
        </p:nvGrpSpPr>
        <p:grpSpPr>
          <a:xfrm>
            <a:off x="3520440" y="4114800"/>
            <a:ext cx="5166360" cy="960120"/>
            <a:chOff x="3520440" y="4114800"/>
            <a:chExt cx="5166360" cy="960120"/>
          </a:xfrm>
        </p:grpSpPr>
        <p:sp>
          <p:nvSpPr>
            <p:cNvPr id="9" name="Rounded Rectangle 8"/>
            <p:cNvSpPr/>
            <p:nvPr/>
          </p:nvSpPr>
          <p:spPr>
            <a:xfrm>
              <a:off x="3520440" y="4114800"/>
              <a:ext cx="5166360" cy="96012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703320" y="4224528"/>
              <a:ext cx="4800600" cy="740664"/>
            </a:xfrm>
            <a:prstGeom prst="rect">
              <a:avLst/>
            </a:prstGeom>
            <a:noFill/>
          </p:spPr>
          <p:txBody>
            <a:bodyPr wrap="square" lIns="45720" tIns="0" rIns="45720" bIns="0" anchor="ctr">
              <a:spAutoFit/>
            </a:bodyPr>
            <a:lstStyle/>
            <a:p>
              <a:pPr algn="ctr"/>
              <a:r>
                <a:rPr sz="3000" b="0" i="1" u="none">
                  <a:solidFill>
                    <a:srgbClr val="0B2B4E"/>
                  </a:solidFill>
                  <a:latin typeface="Calibri"/>
                </a:rPr>
                <a:t>Q = 478.95 − 1.64 P</a:t>
              </a:r>
            </a:p>
          </p:txBody>
        </p:sp>
      </p:grpSp>
      <p:sp>
        <p:nvSpPr>
          <p:cNvPr id="11" name="TextBox 10"/>
          <p:cNvSpPr txBox="1"/>
          <p:nvPr/>
        </p:nvSpPr>
        <p:spPr>
          <a:xfrm>
            <a:off x="914400" y="5577840"/>
            <a:ext cx="10360152" cy="646331"/>
          </a:xfrm>
          <a:prstGeom prst="rect">
            <a:avLst/>
          </a:prstGeom>
          <a:noFill/>
        </p:spPr>
        <p:txBody>
          <a:bodyPr wrap="square" lIns="0" tIns="0" rIns="0" bIns="0">
            <a:spAutoFit/>
          </a:bodyPr>
          <a:lstStyle/>
          <a:p>
            <a:pPr algn="ctr"/>
            <a:r>
              <a:rPr sz="2100" b="1" i="1" u="none" dirty="0">
                <a:solidFill>
                  <a:srgbClr val="0B2B4E"/>
                </a:solidFill>
                <a:latin typeface="Calibri"/>
              </a:rPr>
              <a:t>Now that we have </a:t>
            </a:r>
            <a:r>
              <a:rPr lang="en-US" sz="2100" b="1" i="1" u="none" dirty="0">
                <a:solidFill>
                  <a:srgbClr val="0B2B4E"/>
                </a:solidFill>
                <a:latin typeface="Calibri"/>
              </a:rPr>
              <a:t>and estimated </a:t>
            </a:r>
            <a:r>
              <a:rPr sz="2100" b="1" i="1" u="none" dirty="0">
                <a:solidFill>
                  <a:srgbClr val="0B2B4E"/>
                </a:solidFill>
                <a:latin typeface="Calibri"/>
              </a:rPr>
              <a:t>demand</a:t>
            </a:r>
            <a:r>
              <a:rPr lang="en-US" sz="2100" b="1" i="1" u="none" dirty="0">
                <a:solidFill>
                  <a:srgbClr val="0B2B4E"/>
                </a:solidFill>
                <a:latin typeface="Calibri"/>
              </a:rPr>
              <a:t> curve</a:t>
            </a:r>
            <a:r>
              <a:rPr sz="2100" b="1" i="1" u="none" dirty="0">
                <a:solidFill>
                  <a:srgbClr val="0B2B4E"/>
                </a:solidFill>
                <a:latin typeface="Calibri"/>
              </a:rPr>
              <a:t>, we can compute MR</a:t>
            </a:r>
            <a:r>
              <a:rPr lang="en-US" sz="2100" b="1" i="1" u="none" dirty="0">
                <a:solidFill>
                  <a:srgbClr val="0B2B4E"/>
                </a:solidFill>
                <a:latin typeface="Calibri"/>
              </a:rPr>
              <a:t> </a:t>
            </a:r>
            <a:br>
              <a:rPr lang="en-US" sz="2100" b="1" i="1" u="none" dirty="0">
                <a:solidFill>
                  <a:srgbClr val="0B2B4E"/>
                </a:solidFill>
                <a:latin typeface="Calibri"/>
              </a:rPr>
            </a:br>
            <a:r>
              <a:rPr lang="en-US" sz="2100" u="none" dirty="0">
                <a:solidFill>
                  <a:srgbClr val="0B2B4E"/>
                </a:solidFill>
                <a:latin typeface="Calibri"/>
              </a:rPr>
              <a:t>(Following the 3 steps we’ve seen above)</a:t>
            </a:r>
            <a:endParaRPr sz="2100" u="none" dirty="0">
              <a:solidFill>
                <a:srgbClr val="0B2B4E"/>
              </a:solidFill>
              <a:latin typeface="Calibri"/>
            </a:endParaRP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5" name="TextBox 14"/>
          <p:cNvSpPr txBox="1"/>
          <p:nvPr/>
        </p:nvSpPr>
        <p:spPr>
          <a:xfrm>
            <a:off x="11475720" y="6583680"/>
            <a:ext cx="502920" cy="292608"/>
          </a:xfrm>
          <a:prstGeom prst="rect">
            <a:avLst/>
          </a:prstGeom>
          <a:noFill/>
        </p:spPr>
        <p:txBody>
          <a:bodyPr wrap="none" lIns="0" tIns="0" rIns="0" bIns="0">
            <a:spAutoFit/>
          </a:bodyPr>
          <a:lstStyle/>
          <a:p>
            <a:pPr algn="r"/>
            <a:fld id="{309A7237-68A3-58BF-89D4-A14B9AA726D3}" type="slidenum">
              <a:rPr lang="en-US" sz="1200" dirty="0">
                <a:solidFill>
                  <a:srgbClr val="555B66"/>
                </a:solidFill>
                <a:latin typeface="Calibri"/>
              </a:rPr>
              <a:t>12</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fade">
                                      <p:cBhvr>
                                        <p:cTn id="7" dur="500"/>
                                        <p:tgtEl>
                                          <p:spTgt spid="1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u="none" dirty="0">
                <a:solidFill>
                  <a:srgbClr val="0B2B4E"/>
                </a:solidFill>
                <a:latin typeface="Calibri"/>
              </a:rPr>
              <a:t>Application</a:t>
            </a:r>
            <a:r>
              <a:rPr lang="en-US" sz="3200" b="1" i="0" u="none" dirty="0">
                <a:solidFill>
                  <a:srgbClr val="0B2B4E"/>
                </a:solidFill>
                <a:latin typeface="Calibri"/>
              </a:rPr>
              <a:t> Using the Airline Demand Function</a:t>
            </a:r>
            <a:endParaRPr sz="3200" b="1" i="0" u="none" dirty="0">
              <a:solidFill>
                <a:srgbClr val="0B2B4E"/>
              </a:solidFill>
              <a:latin typeface="Calibri"/>
            </a:endParaRP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9706" name="Group pair 9706"/>
          <p:cNvGrpSpPr/>
          <p:nvPr/>
        </p:nvGrpSpPr>
        <p:grpSpPr>
          <a:xfrm>
            <a:off x="3108960" y="1640652"/>
            <a:ext cx="5943600" cy="1051560"/>
            <a:chOff x="3108960" y="2194560"/>
            <a:chExt cx="5943600" cy="1051560"/>
          </a:xfrm>
        </p:grpSpPr>
        <p:sp>
          <p:nvSpPr>
            <p:cNvPr id="7" name="Rounded Rectangle 6"/>
            <p:cNvSpPr/>
            <p:nvPr/>
          </p:nvSpPr>
          <p:spPr>
            <a:xfrm>
              <a:off x="3108960" y="2194560"/>
              <a:ext cx="5943600" cy="105156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91840" y="2304288"/>
              <a:ext cx="5577840" cy="832104"/>
            </a:xfrm>
            <a:prstGeom prst="rect">
              <a:avLst/>
            </a:prstGeom>
            <a:noFill/>
          </p:spPr>
          <p:txBody>
            <a:bodyPr wrap="square" lIns="45720" tIns="0" rIns="45720" bIns="0" anchor="ctr">
              <a:spAutoFit/>
            </a:bodyPr>
            <a:lstStyle/>
            <a:p>
              <a:pPr algn="ctr"/>
              <a:r>
                <a:rPr sz="2800" b="0" i="1" u="none" dirty="0">
                  <a:solidFill>
                    <a:srgbClr val="0B2B4E"/>
                  </a:solidFill>
                  <a:latin typeface="Calibri"/>
                </a:rPr>
                <a:t>Q = 478.95 − 1.64 P</a:t>
              </a:r>
            </a:p>
          </p:txBody>
        </p:sp>
      </p:grpSp>
      <p:sp>
        <p:nvSpPr>
          <p:cNvPr id="9" name="TextBox 8"/>
          <p:cNvSpPr txBox="1"/>
          <p:nvPr/>
        </p:nvSpPr>
        <p:spPr>
          <a:xfrm>
            <a:off x="914400" y="3103692"/>
            <a:ext cx="10360152" cy="1938992"/>
          </a:xfrm>
          <a:prstGeom prst="rect">
            <a:avLst/>
          </a:prstGeom>
          <a:noFill/>
        </p:spPr>
        <p:txBody>
          <a:bodyPr wrap="square" lIns="0" tIns="0" rIns="0" bIns="0">
            <a:spAutoFit/>
          </a:bodyPr>
          <a:lstStyle/>
          <a:p>
            <a:pPr algn="ctr">
              <a:spcAft>
                <a:spcPts val="1200"/>
              </a:spcAft>
            </a:pPr>
            <a:r>
              <a:rPr sz="2400" b="1" i="0" u="none" dirty="0">
                <a:solidFill>
                  <a:srgbClr val="0B2B4E"/>
                </a:solidFill>
                <a:latin typeface="Calibri"/>
              </a:rPr>
              <a:t>Use the estimated airline demand to </a:t>
            </a:r>
            <a:r>
              <a:rPr lang="en-US" sz="2400" b="1" i="0" u="none" dirty="0">
                <a:solidFill>
                  <a:srgbClr val="0B2B4E"/>
                </a:solidFill>
                <a:latin typeface="Calibri"/>
              </a:rPr>
              <a:t>compute:</a:t>
            </a:r>
          </a:p>
          <a:p>
            <a:pPr marL="457200" indent="-457200" algn="ctr">
              <a:spcAft>
                <a:spcPts val="1200"/>
              </a:spcAft>
              <a:buFont typeface="+mj-lt"/>
              <a:buAutoNum type="arabicPeriod"/>
            </a:pPr>
            <a:r>
              <a:rPr lang="en-US" sz="2400" b="1" dirty="0">
                <a:solidFill>
                  <a:srgbClr val="0B2B4E"/>
                </a:solidFill>
              </a:rPr>
              <a:t>What Is E</a:t>
            </a:r>
            <a:r>
              <a:rPr lang="en-US" sz="2400" b="1" baseline="-25000" dirty="0">
                <a:solidFill>
                  <a:srgbClr val="0B2B4E"/>
                </a:solidFill>
              </a:rPr>
              <a:t>D</a:t>
            </a:r>
            <a:r>
              <a:rPr lang="en-US" sz="2400" b="1" dirty="0">
                <a:solidFill>
                  <a:srgbClr val="0B2B4E"/>
                </a:solidFill>
              </a:rPr>
              <a:t> at P = 140?</a:t>
            </a:r>
          </a:p>
          <a:p>
            <a:pPr marL="457200" indent="-457200" algn="ctr">
              <a:spcAft>
                <a:spcPts val="1200"/>
              </a:spcAft>
              <a:buFont typeface="+mj-lt"/>
              <a:buAutoNum type="arabicPeriod"/>
            </a:pPr>
            <a:r>
              <a:rPr lang="en-US" sz="2400" b="1" dirty="0">
                <a:solidFill>
                  <a:srgbClr val="0B2B4E"/>
                </a:solidFill>
              </a:rPr>
              <a:t>What Is MR at P = 140?</a:t>
            </a:r>
          </a:p>
          <a:p>
            <a:pPr marL="457200" indent="-457200" algn="ctr">
              <a:buFont typeface="+mj-lt"/>
              <a:buAutoNum type="arabicPeriod"/>
            </a:pPr>
            <a:r>
              <a:rPr lang="en-US" sz="2400" b="1" i="0" u="none" dirty="0">
                <a:solidFill>
                  <a:srgbClr val="0B2B4E"/>
                </a:solidFill>
                <a:latin typeface="Calibri"/>
              </a:rPr>
              <a:t>Can you provide a </a:t>
            </a:r>
            <a:r>
              <a:rPr lang="en-US" sz="2400" b="1" dirty="0">
                <a:solidFill>
                  <a:srgbClr val="0B2B4E"/>
                </a:solidFill>
              </a:rPr>
              <a:t>Pricing Recommendation?</a:t>
            </a:r>
            <a:endParaRPr sz="2400" b="1" i="0" u="none" dirty="0">
              <a:solidFill>
                <a:srgbClr val="0B2B4E"/>
              </a:solidFill>
              <a:latin typeface="Calibri"/>
            </a:endParaRPr>
          </a:p>
        </p:txBody>
      </p:sp>
      <p:sp>
        <p:nvSpPr>
          <p:cNvPr id="10" name="Rounded Rectangle 9"/>
          <p:cNvSpPr/>
          <p:nvPr/>
        </p:nvSpPr>
        <p:spPr>
          <a:xfrm>
            <a:off x="914400" y="5961888"/>
            <a:ext cx="2377440" cy="457200"/>
          </a:xfrm>
          <a:prstGeom prst="roundRect">
            <a:avLst>
              <a:gd name="adj" fmla="val 25000"/>
            </a:avLst>
          </a:prstGeom>
          <a:solidFill>
            <a:srgbClr val="FFFFFF"/>
          </a:solidFill>
          <a:ln w="1587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0B2B4E"/>
                </a:solidFill>
                <a:latin typeface="Calibri"/>
              </a:rPr>
              <a:t>✎  Problem Set 2</a:t>
            </a:r>
          </a:p>
        </p:txBody>
      </p:sp>
      <p:grpSp>
        <p:nvGrpSpPr>
          <p:cNvPr id="9600" name="Group 14">
            <a:extLst>
              <a:ext uri="{FF2B5EF4-FFF2-40B4-BE49-F238E27FC236}">
                <a16:creationId xmlns:a16="http://schemas.microsoft.com/office/drawing/2014/main" id="{C7881A0F-62FF-0536-16AD-55B1DC27DD3D}"/>
              </a:ext>
            </a:extLst>
          </p:cNvPr>
          <p:cNvGrpSpPr/>
          <p:nvPr/>
        </p:nvGrpSpPr>
        <p:grpSpPr>
          <a:xfrm>
            <a:off x="8641080" y="6190488"/>
            <a:ext cx="3298616" cy="539496"/>
            <a:chOff x="7550576" y="5715000"/>
            <a:chExt cx="4389120" cy="658368"/>
          </a:xfrm>
        </p:grpSpPr>
        <p:sp>
          <p:nvSpPr>
            <p:cNvPr id="9601" name="Rectangle 8"/>
            <p:cNvSpPr/>
            <p:nvPr/>
          </p:nvSpPr>
          <p:spPr>
            <a:xfrm>
              <a:off x="7550576" y="5715000"/>
              <a:ext cx="4389120" cy="658368"/>
            </a:xfrm>
            <a:custGeom>
              <a:avLst/>
              <a:gdLst/>
              <a:ahLst/>
              <a:cxnLst/>
              <a:rect l="15000" t="0" r="85000" b="100000"/>
              <a:pathLst>
                <a:path w="100000" h="100000">
                  <a:moveTo>
                    <a:pt x="20000" y="0"/>
                  </a:moveTo>
                  <a:lnTo>
                    <a:pt x="95000" y="0"/>
                  </a:lnTo>
                  <a:cubicBezTo>
                    <a:pt x="100000" y="0"/>
                    <a:pt x="100000" y="0"/>
                    <a:pt x="99250" y="5000"/>
                  </a:cubicBezTo>
                  <a:lnTo>
                    <a:pt x="85750" y="95000"/>
                  </a:lnTo>
                  <a:cubicBezTo>
                    <a:pt x="85000" y="100000"/>
                    <a:pt x="85000" y="100000"/>
                    <a:pt x="80000" y="100000"/>
                  </a:cubicBezTo>
                  <a:lnTo>
                    <a:pt x="5000" y="100000"/>
                  </a:lnTo>
                  <a:cubicBezTo>
                    <a:pt x="0" y="100000"/>
                    <a:pt x="0" y="100000"/>
                    <a:pt x="750" y="95000"/>
                  </a:cubicBezTo>
                  <a:lnTo>
                    <a:pt x="14250" y="5000"/>
                  </a:lnTo>
                  <a:cubicBezTo>
                    <a:pt x="15000" y="0"/>
                    <a:pt x="15000" y="0"/>
                    <a:pt x="20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02" name="TextBox 9"/>
            <p:cNvSpPr txBox="1"/>
            <p:nvPr/>
          </p:nvSpPr>
          <p:spPr>
            <a:xfrm>
              <a:off x="8208944" y="5715000"/>
              <a:ext cx="3072384" cy="658368"/>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
        <p:nvSpPr>
          <p:cNvPr id="9603" name="Rectangle 960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04" name="Rectangle 960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05" name="TextBox 960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9606" name="TextBox 9605"/>
          <p:cNvSpPr txBox="1"/>
          <p:nvPr/>
        </p:nvSpPr>
        <p:spPr>
          <a:xfrm>
            <a:off x="11475720" y="6583680"/>
            <a:ext cx="502920" cy="292608"/>
          </a:xfrm>
          <a:prstGeom prst="rect">
            <a:avLst/>
          </a:prstGeom>
          <a:noFill/>
        </p:spPr>
        <p:txBody>
          <a:bodyPr wrap="none" lIns="0" tIns="0" rIns="0" bIns="0">
            <a:spAutoFit/>
          </a:bodyPr>
          <a:lstStyle/>
          <a:p>
            <a:pPr algn="r"/>
            <a:fld id="{681580C5-F9E7-5F50-8570-4BB2D342F0A0}" type="slidenum">
              <a:rPr lang="en-US" sz="1200" dirty="0">
                <a:solidFill>
                  <a:srgbClr val="555B66"/>
                </a:solidFill>
                <a:latin typeface="Calibri"/>
              </a:rPr>
              <a:t>13</a:t>
            </a:fld>
            <a:endParaRPr lang="en-US" sz="1200" dirty="0">
              <a:solidFill>
                <a:srgbClr val="555B66"/>
              </a:solidFill>
              <a:latin typeface="Calibri"/>
            </a:endParaRPr>
          </a:p>
        </p:txBody>
      </p:sp>
    </p:spTree>
    <p:extLst>
      <p:ext uri="{BB962C8B-B14F-4D97-AF65-F5344CB8AC3E}">
        <p14:creationId xmlns:p14="http://schemas.microsoft.com/office/powerpoint/2010/main" val="3187345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r>
              <a:rPr sz="3200" b="1" i="0" u="none" dirty="0">
                <a:solidFill>
                  <a:srgbClr val="0B2B4E"/>
                </a:solidFill>
                <a:latin typeface="Calibri"/>
              </a:rPr>
              <a:t>Solution: E</a:t>
            </a:r>
            <a:r>
              <a:rPr sz="3200" b="1" i="0" u="none" baseline="-25000" dirty="0">
                <a:solidFill>
                  <a:srgbClr val="0B2B4E"/>
                </a:solidFill>
                <a:latin typeface="Calibri"/>
              </a:rPr>
              <a:t>D</a:t>
            </a:r>
            <a:r>
              <a:rPr lang="en-US" sz="3200" b="1" dirty="0">
                <a:solidFill>
                  <a:srgbClr val="0B2B4E"/>
                </a:solidFill>
              </a:rPr>
              <a:t> at P=140</a:t>
            </a:r>
            <a:endParaRPr sz="3200" b="1" i="0" u="none" baseline="-25000" dirty="0">
              <a:solidFill>
                <a:srgbClr val="0B2B4E"/>
              </a:solidFill>
              <a:latin typeface="Calibri"/>
            </a:endParaRP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325880"/>
            <a:ext cx="10789920" cy="5074920"/>
          </a:xfrm>
          <a:prstGeom prst="rect">
            <a:avLst/>
          </a:prstGeom>
          <a:noFill/>
        </p:spPr>
        <p:txBody>
          <a:bodyPr wrap="square" lIns="0" tIns="0" rIns="0" bIns="0">
            <a:spAutoFit/>
          </a:bodyPr>
          <a:lstStyle>
            <a:lvl1pPr marL="342900" indent="-342900">
              <a:spcBef>
                <a:spcPts val="1600"/>
              </a:spcBef>
              <a:buClr>
                <a:srgbClr val="0B2B4E"/>
              </a:buClr>
              <a:buFont typeface="Calibri"/>
              <a:buChar char="▪"/>
              <a:defRPr sz="2700" b="0">
                <a:solidFill>
                  <a:srgbClr val="0B2B4E"/>
                </a:solidFill>
                <a:latin typeface="Calibri"/>
              </a:defRPr>
            </a:lvl1pPr>
            <a:lvl2pPr marL="685800" indent="-228600">
              <a:spcBef>
                <a:spcPts val="300"/>
              </a:spcBef>
              <a:buClr>
                <a:srgbClr val="555B66"/>
              </a:buClr>
              <a:buFont typeface="Calibri"/>
              <a:buChar char="–"/>
              <a:defRPr sz="2300" b="0">
                <a:solidFill>
                  <a:srgbClr val="555B66"/>
                </a:solidFill>
                <a:latin typeface="Calibri"/>
              </a:defRPr>
            </a:lvl2pPr>
          </a:lstStyle>
          <a:p>
            <a:pPr algn="l"/>
            <a:r>
              <a:rPr b="1" i="1">
                <a:latin typeface="Calibri"/>
              </a:rPr>
              <a:t>Q = 478.95 − 1.64 P</a:t>
            </a:r>
          </a:p>
          <a:p>
            <a:pPr algn="l"/>
            <a:r>
              <a:rPr>
                <a:latin typeface="Calibri"/>
              </a:rPr>
              <a:t>Recall  </a:t>
            </a:r>
            <a:r>
              <a:rPr i="1">
                <a:latin typeface="Calibri"/>
              </a:rPr>
              <a:t>E</a:t>
            </a:r>
            <a:r>
              <a:rPr i="1" baseline="-25000">
                <a:latin typeface="Calibri"/>
              </a:rPr>
              <a:t>D</a:t>
            </a:r>
            <a:r>
              <a:rPr i="1">
                <a:latin typeface="Calibri"/>
              </a:rPr>
              <a:t> = (ΔQ/ΔP) · (P/Q)</a:t>
            </a:r>
          </a:p>
          <a:p>
            <a:pPr algn="l"/>
            <a:r>
              <a:rPr i="1">
                <a:latin typeface="Calibri"/>
              </a:rPr>
              <a:t>ΔQ/ΔP</a:t>
            </a:r>
            <a:r>
              <a:rPr>
                <a:latin typeface="Calibri"/>
              </a:rPr>
              <a:t> is the slope of demand  ⇒  ΔQ/ΔP = </a:t>
            </a:r>
            <a:r>
              <a:rPr b="1">
                <a:latin typeface="Calibri"/>
              </a:rPr>
              <a:t>−1.64</a:t>
            </a:r>
          </a:p>
          <a:p>
            <a:pPr algn="l"/>
            <a:r>
              <a:rPr>
                <a:latin typeface="Calibri"/>
              </a:rPr>
              <a:t>Plug </a:t>
            </a:r>
            <a:r>
              <a:rPr i="1">
                <a:latin typeface="Calibri"/>
              </a:rPr>
              <a:t>P</a:t>
            </a:r>
            <a:r>
              <a:rPr>
                <a:latin typeface="Calibri"/>
              </a:rPr>
              <a:t> in to get </a:t>
            </a:r>
            <a:r>
              <a:rPr i="1">
                <a:latin typeface="Calibri"/>
              </a:rPr>
              <a:t>Q</a:t>
            </a:r>
            <a:r>
              <a:rPr>
                <a:latin typeface="Calibri"/>
              </a:rPr>
              <a:t>:  </a:t>
            </a:r>
            <a:r>
              <a:rPr b="1" i="1">
                <a:latin typeface="Calibri"/>
              </a:rPr>
              <a:t>Q = 478.95 − 1.64 · 140 = 249.35</a:t>
            </a:r>
          </a:p>
          <a:p>
            <a:pPr algn="l"/>
            <a:r>
              <a:rPr i="1">
                <a:latin typeface="Calibri"/>
              </a:rPr>
              <a:t>E</a:t>
            </a:r>
            <a:r>
              <a:rPr i="1" baseline="-25000">
                <a:latin typeface="Calibri"/>
              </a:rPr>
              <a:t>D</a:t>
            </a:r>
            <a:r>
              <a:rPr i="1">
                <a:latin typeface="Calibri"/>
              </a:rPr>
              <a:t> = </a:t>
            </a:r>
            <a:r>
              <a:rPr>
                <a:latin typeface="Calibri"/>
              </a:rPr>
              <a:t>−1.64 · (140 / 249.35) = </a:t>
            </a:r>
            <a:r>
              <a:rPr b="1">
                <a:latin typeface="Calibri"/>
              </a:rPr>
              <a:t>−0.92</a:t>
            </a:r>
          </a:p>
          <a:p>
            <a:pPr algn="l"/>
            <a:r>
              <a:rPr>
                <a:latin typeface="Calibri"/>
              </a:rPr>
              <a:t>Demand is </a:t>
            </a:r>
            <a:r>
              <a:rPr b="1">
                <a:solidFill>
                  <a:srgbClr val="0070C0"/>
                </a:solidFill>
                <a:latin typeface="Calibri"/>
              </a:rPr>
              <a:t>inelastic</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598FEED1-0EF8-5FBE-A609-6A5C9704C17A}" type="slidenum">
              <a:rPr lang="en-US" sz="1200" dirty="0">
                <a:solidFill>
                  <a:srgbClr val="555B66"/>
                </a:solidFill>
                <a:latin typeface="Calibri"/>
              </a:rPr>
              <a:t>14</a:t>
            </a:fld>
            <a:endParaRPr lang="en-US" sz="1200" dirty="0">
              <a:solidFill>
                <a:srgbClr val="555B66"/>
              </a:solidFill>
              <a:latin typeface="Calibri"/>
            </a:endParaRPr>
          </a:p>
        </p:txBody>
      </p:sp>
    </p:spTree>
    <p:extLst>
      <p:ext uri="{BB962C8B-B14F-4D97-AF65-F5344CB8AC3E}">
        <p14:creationId xmlns:p14="http://schemas.microsoft.com/office/powerpoint/2010/main" val="2036339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u="none" dirty="0">
                <a:solidFill>
                  <a:srgbClr val="0B2B4E"/>
                </a:solidFill>
                <a:latin typeface="Calibri"/>
              </a:rPr>
              <a:t>Solution: MR</a:t>
            </a:r>
            <a:r>
              <a:rPr lang="en-US" sz="3200" b="1" i="0" u="none" dirty="0">
                <a:solidFill>
                  <a:srgbClr val="0B2B4E"/>
                </a:solidFill>
                <a:latin typeface="Calibri"/>
              </a:rPr>
              <a:t> at P=140</a:t>
            </a:r>
            <a:endParaRPr sz="3200" b="1" i="0" u="none" dirty="0">
              <a:solidFill>
                <a:srgbClr val="0B2B4E"/>
              </a:solidFill>
              <a:latin typeface="Calibri"/>
            </a:endParaRP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325880"/>
            <a:ext cx="10789920" cy="5074920"/>
          </a:xfrm>
          <a:prstGeom prst="rect">
            <a:avLst/>
          </a:prstGeom>
          <a:noFill/>
        </p:spPr>
        <p:txBody>
          <a:bodyPr wrap="square" lIns="0" tIns="0" rIns="0" bIns="0">
            <a:spAutoFit/>
          </a:bodyPr>
          <a:lstStyle>
            <a:lvl1pPr marL="342900" indent="-342900">
              <a:spcBef>
                <a:spcPts val="1400"/>
              </a:spcBef>
              <a:buClr>
                <a:srgbClr val="0B2B4E"/>
              </a:buClr>
              <a:buFont typeface="Calibri"/>
              <a:buChar char="▪"/>
              <a:defRPr sz="2700" b="0">
                <a:solidFill>
                  <a:srgbClr val="0B2B4E"/>
                </a:solidFill>
                <a:latin typeface="Calibri"/>
              </a:defRPr>
            </a:lvl1pPr>
            <a:lvl2pPr marL="685800" indent="-228600">
              <a:spcBef>
                <a:spcPts val="300"/>
              </a:spcBef>
              <a:buClr>
                <a:srgbClr val="555B66"/>
              </a:buClr>
              <a:buFont typeface="Calibri"/>
              <a:buChar char="–"/>
              <a:defRPr sz="2600" b="0">
                <a:solidFill>
                  <a:srgbClr val="555B66"/>
                </a:solidFill>
                <a:latin typeface="Calibri"/>
              </a:defRPr>
            </a:lvl2pPr>
          </a:lstStyle>
          <a:p>
            <a:pPr algn="l"/>
            <a:r>
              <a:rPr b="1" dirty="0">
                <a:latin typeface="Calibri"/>
              </a:rPr>
              <a:t>3-step method</a:t>
            </a:r>
          </a:p>
          <a:p>
            <a:pPr lvl="1" algn="l">
              <a:spcBef>
                <a:spcPts val="300"/>
              </a:spcBef>
              <a:buNone/>
            </a:pPr>
            <a:r>
              <a:rPr sz="2600" b="1" dirty="0">
                <a:solidFill>
                  <a:srgbClr val="555B66"/>
                </a:solidFill>
                <a:latin typeface="Calibri"/>
              </a:rPr>
              <a:t>1.  Inverse demand:   </a:t>
            </a:r>
            <a:r>
              <a:rPr sz="2600" i="1" dirty="0">
                <a:solidFill>
                  <a:srgbClr val="555B66"/>
                </a:solidFill>
                <a:latin typeface="Calibri"/>
              </a:rPr>
              <a:t>P = 292 − (1/1.64) Q</a:t>
            </a:r>
          </a:p>
          <a:p>
            <a:pPr lvl="1" algn="l">
              <a:spcBef>
                <a:spcPts val="300"/>
              </a:spcBef>
              <a:buNone/>
            </a:pPr>
            <a:r>
              <a:rPr sz="2600" b="1" dirty="0">
                <a:solidFill>
                  <a:srgbClr val="555B66"/>
                </a:solidFill>
                <a:latin typeface="Calibri"/>
              </a:rPr>
              <a:t>2.  Total revenue:   </a:t>
            </a:r>
            <a:r>
              <a:rPr sz="2600" i="1" dirty="0">
                <a:solidFill>
                  <a:srgbClr val="555B66"/>
                </a:solidFill>
                <a:latin typeface="Calibri"/>
              </a:rPr>
              <a:t>TR = 292 Q − (1/1.64) Q²</a:t>
            </a:r>
          </a:p>
          <a:p>
            <a:pPr lvl="1" algn="l">
              <a:spcBef>
                <a:spcPts val="300"/>
              </a:spcBef>
              <a:buNone/>
            </a:pPr>
            <a:r>
              <a:rPr sz="2600" b="1" dirty="0">
                <a:solidFill>
                  <a:srgbClr val="555B66"/>
                </a:solidFill>
                <a:latin typeface="Calibri"/>
              </a:rPr>
              <a:t>3.  Derivative:   </a:t>
            </a:r>
            <a:r>
              <a:rPr sz="2600" i="1" dirty="0">
                <a:solidFill>
                  <a:srgbClr val="555B66"/>
                </a:solidFill>
                <a:latin typeface="Calibri"/>
              </a:rPr>
              <a:t>MR = 292 − 1.22 Q</a:t>
            </a:r>
          </a:p>
          <a:p>
            <a:pPr algn="l"/>
            <a:r>
              <a:rPr b="1" dirty="0">
                <a:latin typeface="Calibri"/>
              </a:rPr>
              <a:t>MR at P = 140?</a:t>
            </a:r>
          </a:p>
          <a:p>
            <a:pPr lvl="1" algn="l">
              <a:spcBef>
                <a:spcPts val="300"/>
              </a:spcBef>
              <a:buNone/>
            </a:pPr>
            <a:r>
              <a:rPr sz="2600" dirty="0">
                <a:solidFill>
                  <a:srgbClr val="555B66"/>
                </a:solidFill>
                <a:latin typeface="Calibri"/>
              </a:rPr>
              <a:t>P = 140  →  Q = 249.35  →  </a:t>
            </a:r>
            <a:r>
              <a:rPr sz="2600" b="1" i="1" dirty="0">
                <a:solidFill>
                  <a:srgbClr val="555B66"/>
                </a:solidFill>
                <a:latin typeface="Calibri"/>
              </a:rPr>
              <a:t>MR = −12</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D9A67DD4-F7AE-544E-90A8-A1061E835C94}" type="slidenum">
              <a:rPr lang="en-US" sz="1200" dirty="0">
                <a:solidFill>
                  <a:srgbClr val="555B66"/>
                </a:solidFill>
                <a:latin typeface="Calibri"/>
              </a:rPr>
              <a:t>15</a:t>
            </a:fld>
            <a:endParaRPr lang="en-US" sz="1200" dirty="0">
              <a:solidFill>
                <a:srgbClr val="555B66"/>
              </a:solidFill>
              <a:latin typeface="Calibri"/>
            </a:endParaRPr>
          </a:p>
        </p:txBody>
      </p:sp>
    </p:spTree>
    <p:extLst>
      <p:ext uri="{BB962C8B-B14F-4D97-AF65-F5344CB8AC3E}">
        <p14:creationId xmlns:p14="http://schemas.microsoft.com/office/powerpoint/2010/main" val="888918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animEffect transition="in" filter="fade">
                                      <p:cBhvr>
                                        <p:cTn id="19" dur="500"/>
                                        <p:tgtEl>
                                          <p:spTgt spid="7">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xEl>
                                              <p:pRg st="5" end="5"/>
                                            </p:txEl>
                                          </p:spTgt>
                                        </p:tgtEl>
                                        <p:attrNameLst>
                                          <p:attrName>style.visibility</p:attrName>
                                        </p:attrNameLst>
                                      </p:cBhvr>
                                      <p:to>
                                        <p:strVal val="visible"/>
                                      </p:to>
                                    </p:set>
                                    <p:animEffect transition="in" filter="fade">
                                      <p:cBhvr>
                                        <p:cTn id="22"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Solution: Raise the Price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54480"/>
            <a:ext cx="5943600" cy="329184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b="1" i="1">
                <a:latin typeface="Calibri"/>
              </a:rPr>
              <a:t>MR</a:t>
            </a:r>
            <a:r>
              <a:rPr>
                <a:latin typeface="Calibri"/>
              </a:rPr>
              <a:t> is negative</a:t>
            </a:r>
          </a:p>
          <a:p>
            <a:pPr algn="l"/>
            <a:r>
              <a:rPr>
                <a:latin typeface="Calibri"/>
              </a:rPr>
              <a:t>So you want to sell </a:t>
            </a:r>
            <a:r>
              <a:rPr b="1">
                <a:latin typeface="Calibri"/>
              </a:rPr>
              <a:t>less</a:t>
            </a:r>
          </a:p>
          <a:p>
            <a:pPr algn="l"/>
            <a:r>
              <a:rPr>
                <a:latin typeface="Calibri"/>
              </a:rPr>
              <a:t>By </a:t>
            </a:r>
            <a:r>
              <a:rPr b="1">
                <a:latin typeface="Calibri"/>
              </a:rPr>
              <a:t>increasing the price</a:t>
            </a:r>
          </a:p>
        </p:txBody>
      </p:sp>
      <p:cxnSp>
        <p:nvCxnSpPr>
          <p:cNvPr id="8" name="Connector 7"/>
          <p:cNvCxnSpPr/>
          <p:nvPr/>
        </p:nvCxnSpPr>
        <p:spPr>
          <a:xfrm flipV="1">
            <a:off x="6949440" y="1664208"/>
            <a:ext cx="0" cy="4096512"/>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949440" y="5760720"/>
            <a:ext cx="4754880" cy="0"/>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647688" y="1298448"/>
            <a:ext cx="603504" cy="310896"/>
          </a:xfrm>
          <a:prstGeom prst="rect">
            <a:avLst/>
          </a:prstGeom>
          <a:noFill/>
        </p:spPr>
        <p:txBody>
          <a:bodyPr wrap="square" lIns="0" tIns="0" rIns="0" bIns="0">
            <a:spAutoFit/>
          </a:bodyPr>
          <a:lstStyle/>
          <a:p>
            <a:pPr algn="l"/>
            <a:r>
              <a:rPr sz="1800" b="1" i="1" u="none">
                <a:solidFill>
                  <a:srgbClr val="0B2B4E"/>
                </a:solidFill>
                <a:latin typeface="Calibri"/>
              </a:rPr>
              <a:t>P</a:t>
            </a:r>
          </a:p>
        </p:txBody>
      </p:sp>
      <p:sp>
        <p:nvSpPr>
          <p:cNvPr id="11" name="TextBox 10"/>
          <p:cNvSpPr txBox="1"/>
          <p:nvPr/>
        </p:nvSpPr>
        <p:spPr>
          <a:xfrm>
            <a:off x="11402568" y="5852160"/>
            <a:ext cx="603504" cy="292608"/>
          </a:xfrm>
          <a:prstGeom prst="rect">
            <a:avLst/>
          </a:prstGeom>
          <a:noFill/>
        </p:spPr>
        <p:txBody>
          <a:bodyPr wrap="square" lIns="0" tIns="0" rIns="0" bIns="0">
            <a:spAutoFit/>
          </a:bodyPr>
          <a:lstStyle/>
          <a:p>
            <a:pPr algn="l"/>
            <a:r>
              <a:rPr sz="1800" b="1" i="1" u="none">
                <a:solidFill>
                  <a:srgbClr val="0B2B4E"/>
                </a:solidFill>
                <a:latin typeface="Calibri"/>
              </a:rPr>
              <a:t>Q</a:t>
            </a:r>
          </a:p>
        </p:txBody>
      </p:sp>
      <p:cxnSp>
        <p:nvCxnSpPr>
          <p:cNvPr id="12" name="Connector 11"/>
          <p:cNvCxnSpPr/>
          <p:nvPr/>
        </p:nvCxnSpPr>
        <p:spPr>
          <a:xfrm>
            <a:off x="6949440" y="2281428"/>
            <a:ext cx="4127601" cy="3479292"/>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949440" y="2281428"/>
            <a:ext cx="2326233" cy="3924604"/>
          </a:xfrm>
          <a:prstGeom prst="line">
            <a:avLst/>
          </a:prstGeom>
          <a:ln w="38100">
            <a:solidFill>
              <a:srgbClr val="E09F3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9008668" y="4021531"/>
            <a:ext cx="0" cy="1739189"/>
          </a:xfrm>
          <a:prstGeom prst="line">
            <a:avLst/>
          </a:prstGeom>
          <a:ln w="17780">
            <a:solidFill>
              <a:srgbClr val="0B2B4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742224" y="4306824"/>
            <a:ext cx="1188720" cy="310896"/>
          </a:xfrm>
          <a:prstGeom prst="rect">
            <a:avLst/>
          </a:prstGeom>
          <a:noFill/>
        </p:spPr>
        <p:txBody>
          <a:bodyPr wrap="square" lIns="0" tIns="0" rIns="0" bIns="0">
            <a:spAutoFit/>
          </a:bodyPr>
          <a:lstStyle/>
          <a:p>
            <a:pPr algn="l"/>
            <a:r>
              <a:rPr sz="2200" b="1" i="0" u="none">
                <a:solidFill>
                  <a:srgbClr val="E09F3E"/>
                </a:solidFill>
                <a:latin typeface="Calibri"/>
              </a:rPr>
              <a:t>MR</a:t>
            </a:r>
          </a:p>
        </p:txBody>
      </p:sp>
      <p:sp>
        <p:nvSpPr>
          <p:cNvPr id="16" name="TextBox 15"/>
          <p:cNvSpPr txBox="1"/>
          <p:nvPr/>
        </p:nvSpPr>
        <p:spPr>
          <a:xfrm>
            <a:off x="11048695" y="5339181"/>
            <a:ext cx="914400" cy="310896"/>
          </a:xfrm>
          <a:prstGeom prst="rect">
            <a:avLst/>
          </a:prstGeom>
          <a:noFill/>
        </p:spPr>
        <p:txBody>
          <a:bodyPr wrap="square" lIns="0" tIns="0" rIns="0" bIns="0">
            <a:spAutoFit/>
          </a:bodyPr>
          <a:lstStyle/>
          <a:p>
            <a:pPr algn="l"/>
            <a:r>
              <a:rPr sz="2200" b="1" i="0" u="none">
                <a:solidFill>
                  <a:srgbClr val="0B2B4E"/>
                </a:solidFill>
                <a:latin typeface="Calibri"/>
              </a:rPr>
              <a:t>D</a:t>
            </a:r>
          </a:p>
        </p:txBody>
      </p:sp>
      <p:sp>
        <p:nvSpPr>
          <p:cNvPr id="17" name="TextBox 16"/>
          <p:cNvSpPr txBox="1"/>
          <p:nvPr/>
        </p:nvSpPr>
        <p:spPr>
          <a:xfrm>
            <a:off x="8991295" y="3674059"/>
            <a:ext cx="2103120" cy="310896"/>
          </a:xfrm>
          <a:prstGeom prst="rect">
            <a:avLst/>
          </a:prstGeom>
          <a:noFill/>
        </p:spPr>
        <p:txBody>
          <a:bodyPr wrap="square" lIns="0" tIns="0" rIns="0" bIns="0">
            <a:spAutoFit/>
          </a:bodyPr>
          <a:lstStyle/>
          <a:p>
            <a:pPr algn="l"/>
            <a:r>
              <a:rPr sz="1800" b="1" i="0" u="none">
                <a:solidFill>
                  <a:srgbClr val="0B2B4E"/>
                </a:solidFill>
                <a:latin typeface="Calibri"/>
              </a:rPr>
              <a:t>E</a:t>
            </a:r>
            <a:r>
              <a:rPr sz="1800" b="1" i="0" u="none" baseline="-25000">
                <a:solidFill>
                  <a:srgbClr val="0B2B4E"/>
                </a:solidFill>
                <a:latin typeface="Calibri"/>
              </a:rPr>
              <a:t>D</a:t>
            </a:r>
            <a:r>
              <a:rPr sz="1800" b="1" i="0" u="none">
                <a:solidFill>
                  <a:srgbClr val="0B2B4E"/>
                </a:solidFill>
                <a:latin typeface="Calibri"/>
              </a:rPr>
              <a:t> = −1</a:t>
            </a:r>
          </a:p>
        </p:txBody>
      </p:sp>
      <p:sp>
        <p:nvSpPr>
          <p:cNvPr id="18" name="TextBox 17"/>
          <p:cNvSpPr txBox="1"/>
          <p:nvPr/>
        </p:nvSpPr>
        <p:spPr>
          <a:xfrm>
            <a:off x="7851952" y="2532888"/>
            <a:ext cx="1737360" cy="310896"/>
          </a:xfrm>
          <a:prstGeom prst="rect">
            <a:avLst/>
          </a:prstGeom>
          <a:noFill/>
        </p:spPr>
        <p:txBody>
          <a:bodyPr wrap="square" lIns="0" tIns="0" rIns="0" bIns="0">
            <a:spAutoFit/>
          </a:bodyPr>
          <a:lstStyle/>
          <a:p>
            <a:pPr algn="l"/>
            <a:r>
              <a:rPr sz="1800" b="1" i="0" u="none">
                <a:solidFill>
                  <a:srgbClr val="0070C0"/>
                </a:solidFill>
                <a:latin typeface="Calibri"/>
              </a:rPr>
              <a:t>Elastic</a:t>
            </a:r>
          </a:p>
        </p:txBody>
      </p:sp>
      <p:sp>
        <p:nvSpPr>
          <p:cNvPr id="19" name="TextBox 18"/>
          <p:cNvSpPr txBox="1"/>
          <p:nvPr/>
        </p:nvSpPr>
        <p:spPr>
          <a:xfrm>
            <a:off x="10068458" y="4440326"/>
            <a:ext cx="1920240" cy="310896"/>
          </a:xfrm>
          <a:prstGeom prst="rect">
            <a:avLst/>
          </a:prstGeom>
          <a:noFill/>
        </p:spPr>
        <p:txBody>
          <a:bodyPr wrap="square" lIns="0" tIns="0" rIns="0" bIns="0">
            <a:spAutoFit/>
          </a:bodyPr>
          <a:lstStyle/>
          <a:p>
            <a:pPr algn="l"/>
            <a:r>
              <a:rPr sz="1800" b="1" i="0" u="none">
                <a:solidFill>
                  <a:srgbClr val="0070C0"/>
                </a:solidFill>
                <a:latin typeface="Calibri"/>
              </a:rPr>
              <a:t>Inelastic</a:t>
            </a:r>
          </a:p>
        </p:txBody>
      </p:sp>
      <p:sp>
        <p:nvSpPr>
          <p:cNvPr id="20" name="Rectangle 1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23" name="TextBox 22"/>
          <p:cNvSpPr txBox="1"/>
          <p:nvPr/>
        </p:nvSpPr>
        <p:spPr>
          <a:xfrm>
            <a:off x="11475720" y="6583680"/>
            <a:ext cx="502920" cy="292608"/>
          </a:xfrm>
          <a:prstGeom prst="rect">
            <a:avLst/>
          </a:prstGeom>
          <a:noFill/>
        </p:spPr>
        <p:txBody>
          <a:bodyPr wrap="none" lIns="0" tIns="0" rIns="0" bIns="0">
            <a:spAutoFit/>
          </a:bodyPr>
          <a:lstStyle/>
          <a:p>
            <a:pPr algn="r"/>
            <a:fld id="{5408FD56-BFF0-5DB7-9236-61A05EBE3659}" type="slidenum">
              <a:rPr lang="en-US" sz="1200" dirty="0">
                <a:solidFill>
                  <a:srgbClr val="555B66"/>
                </a:solidFill>
                <a:latin typeface="Calibri"/>
              </a:rPr>
              <a:t>16</a:t>
            </a:fld>
            <a:endParaRPr lang="en-US" sz="1200" dirty="0">
              <a:solidFill>
                <a:srgbClr val="555B66"/>
              </a:solidFill>
              <a:latin typeface="Calibri"/>
            </a:endParaRPr>
          </a:p>
        </p:txBody>
      </p:sp>
    </p:spTree>
    <p:extLst>
      <p:ext uri="{BB962C8B-B14F-4D97-AF65-F5344CB8AC3E}">
        <p14:creationId xmlns:p14="http://schemas.microsoft.com/office/powerpoint/2010/main" val="2611668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7">
                                            <p:txEl>
                                              <p:pRg st="2" end="2"/>
                                            </p:txEl>
                                          </p:spTgt>
                                        </p:tgtEl>
                                        <p:attrNameLst>
                                          <p:attrName>style.visibility</p:attrName>
                                        </p:attrNameLst>
                                      </p:cBhvr>
                                      <p:to>
                                        <p:strVal val="visible"/>
                                      </p:to>
                                    </p:set>
                                    <p:animEffect transition="in" filter="fade">
                                      <p:cBhvr>
                                        <p:cTn id="45"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r>
              <a:rPr lang="en-US" sz="3200" b="1" dirty="0">
                <a:solidFill>
                  <a:srgbClr val="0B2B4E"/>
                </a:solidFill>
              </a:rPr>
              <a:t>Note: We can also Run </a:t>
            </a:r>
            <a:r>
              <a:rPr sz="3200" b="1" i="0" u="none" dirty="0">
                <a:solidFill>
                  <a:srgbClr val="0B2B4E"/>
                </a:solidFill>
                <a:latin typeface="Calibri"/>
              </a:rPr>
              <a:t>Multivariate Regression</a:t>
            </a:r>
            <a:r>
              <a:rPr lang="en-US" sz="3200" b="1" i="0" u="none" dirty="0">
                <a:solidFill>
                  <a:srgbClr val="0B2B4E"/>
                </a:solidFill>
                <a:latin typeface="Calibri"/>
              </a:rPr>
              <a:t>s</a:t>
            </a:r>
            <a:endParaRPr sz="3200" b="1" i="0" u="none" dirty="0">
              <a:solidFill>
                <a:srgbClr val="0B2B4E"/>
              </a:solidFill>
              <a:latin typeface="Calibri"/>
            </a:endParaRP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1280160"/>
            <a:ext cx="11640312" cy="457200"/>
          </a:xfrm>
          <a:prstGeom prst="rect">
            <a:avLst/>
          </a:prstGeom>
          <a:noFill/>
        </p:spPr>
        <p:txBody>
          <a:bodyPr wrap="square" lIns="0" tIns="0" rIns="0" bIns="0">
            <a:spAutoFit/>
          </a:bodyPr>
          <a:lstStyle/>
          <a:p>
            <a:pPr algn="ctr"/>
            <a:r>
              <a:rPr sz="2300" b="1" i="1" u="none">
                <a:solidFill>
                  <a:srgbClr val="0B2B4E"/>
                </a:solidFill>
                <a:latin typeface="Calibri"/>
              </a:rPr>
              <a:t>Incorporating other determinants of demand</a:t>
            </a:r>
          </a:p>
        </p:txBody>
      </p:sp>
      <mc:AlternateContent xmlns:mc="http://schemas.openxmlformats.org/markup-compatibility/2006" xmlns:a14="http://schemas.microsoft.com/office/drawing/2010/main">
        <mc:Choice Requires="a14">
          <p:sp>
            <p:nvSpPr>
              <p:cNvPr id="8" name="TextBox 7"/>
              <p:cNvSpPr txBox="1"/>
              <p:nvPr/>
            </p:nvSpPr>
            <p:spPr>
              <a:xfrm>
                <a:off x="2898648" y="1874519"/>
                <a:ext cx="6400800" cy="960120"/>
              </a:xfrm>
              <a:prstGeom prst="roundRect">
                <a:avLst>
                  <a:gd name="adj" fmla="val 25000"/>
                </a:avLst>
              </a:prstGeom>
              <a:solidFill>
                <a:srgbClr val="0B2B4E"/>
              </a:solidFill>
              <a:effectLst>
                <a:outerShdw blurRad="50800" dist="38100" dir="2700000" algn="tl" rotWithShape="0">
                  <a:srgbClr val="000000">
                    <a:alpha val="45000"/>
                  </a:srgbClr>
                </a:outerShdw>
              </a:effectLst>
            </p:spPr>
            <p:txBody>
              <a:bodyPr wrap="square" anchor="ctr">
                <a:spAutoFit/>
              </a:bodyPr>
              <a:lstStyle/>
              <a:p>
                <a:pPr algn="ctr">
                  <a:defRPr sz="3100" b="0" i="1">
                    <a:solidFill>
                      <a:srgbClr val="FFFFFF"/>
                    </a:solidFill>
                    <a:latin typeface="Cambria Math"/>
                  </a:defRPr>
                </a:pPr>
                <a14:m>
                  <m:oMathPara xmlns:m="http://schemas.openxmlformats.org/officeDocument/2006/math">
                    <m:oMath>
                      <m:r>
                        <a:rPr lang="en-US" sz="3100" b="0" i="1">
                          <a:solidFill>
                            <a:srgbClr val="FFFFFF"/>
                          </a:solidFill>
                          <a:latin typeface="Cambria Math"/>
                          <a:ea typeface="Cambria Math"/>
                        </a:rPr>
                        <m:t>𝑄</m:t>
                      </m:r>
                      <m:r>
                        <a:rPr lang="en-US" sz="3100" b="0" i="0">
                          <a:solidFill>
                            <a:srgbClr val="FFFFFF"/>
                          </a:solidFill>
                          <a:latin typeface="Cambria Math"/>
                        </a:rPr>
                        <m:t> = </m:t>
                      </m:r>
                      <m:r>
                        <a:rPr lang="en-US" sz="3100" b="0" i="1">
                          <a:solidFill>
                            <a:srgbClr val="FFFFFF"/>
                          </a:solidFill>
                          <a:latin typeface="Cambria Math"/>
                          <a:ea typeface="Cambria Math"/>
                        </a:rPr>
                        <m:t>𝑎</m:t>
                      </m:r>
                      <m:r>
                        <a:rPr lang="en-US" sz="3100" b="0" i="0">
                          <a:solidFill>
                            <a:srgbClr val="FFFFFF"/>
                          </a:solidFill>
                          <a:latin typeface="Cambria Math"/>
                        </a:rPr>
                        <m:t> + </m:t>
                      </m:r>
                      <m:r>
                        <a:rPr lang="en-US" sz="3100" b="0" i="1">
                          <a:solidFill>
                            <a:srgbClr val="FFFFFF"/>
                          </a:solidFill>
                          <a:latin typeface="Cambria Math"/>
                          <a:ea typeface="Cambria Math"/>
                        </a:rPr>
                        <m:t>𝑏</m:t>
                      </m:r>
                      <m:r>
                        <a:rPr lang="en-US" sz="3100" b="0" i="0">
                          <a:solidFill>
                            <a:srgbClr val="FFFFFF"/>
                          </a:solidFill>
                          <a:latin typeface="Cambria Math"/>
                        </a:rPr>
                        <m:t> · </m:t>
                      </m:r>
                      <m:r>
                        <a:rPr lang="en-US" sz="3100" b="0" i="1">
                          <a:solidFill>
                            <a:srgbClr val="FFFFFF"/>
                          </a:solidFill>
                          <a:latin typeface="Cambria Math"/>
                          <a:ea typeface="Cambria Math"/>
                        </a:rPr>
                        <m:t>𝑃</m:t>
                      </m:r>
                      <m:r>
                        <a:rPr lang="en-US" sz="3100" b="0" i="0">
                          <a:solidFill>
                            <a:srgbClr val="FFFFFF"/>
                          </a:solidFill>
                          <a:latin typeface="Cambria Math"/>
                        </a:rPr>
                        <m:t> + </m:t>
                      </m:r>
                      <m:r>
                        <a:rPr lang="en-US" sz="3100" b="0" i="1">
                          <a:solidFill>
                            <a:srgbClr val="FFFFFF"/>
                          </a:solidFill>
                          <a:latin typeface="Cambria Math"/>
                          <a:ea typeface="Cambria Math"/>
                        </a:rPr>
                        <m:t>𝑐</m:t>
                      </m:r>
                      <m:r>
                        <a:rPr lang="en-US" sz="3100" b="0" i="0">
                          <a:solidFill>
                            <a:srgbClr val="FFFFFF"/>
                          </a:solidFill>
                          <a:latin typeface="Cambria Math"/>
                        </a:rPr>
                        <m:t> · </m:t>
                      </m:r>
                      <m:sSub>
                        <m:sSubPr>
                          <m:ctrlPr>
                            <a:rPr lang="en-US" sz="3100" b="0" i="1">
                              <a:solidFill>
                                <a:srgbClr val="FFFFFF"/>
                              </a:solidFill>
                              <a:latin typeface="Cambria Math"/>
                              <a:ea typeface="Cambria Math"/>
                            </a:rPr>
                          </m:ctrlPr>
                        </m:sSubPr>
                        <m:e>
                          <m:r>
                            <a:rPr lang="en-US" sz="3100" b="0" i="1">
                              <a:solidFill>
                                <a:srgbClr val="FFFFFF"/>
                              </a:solidFill>
                              <a:latin typeface="Cambria Math"/>
                              <a:ea typeface="Cambria Math"/>
                            </a:rPr>
                            <m:t>𝑃</m:t>
                          </m:r>
                        </m:e>
                        <m:sub>
                          <m:r>
                            <m:rPr>
                              <m:sty m:val="p"/>
                            </m:rPr>
                            <a:rPr lang="en-US" sz="3100" b="0" i="0">
                              <a:solidFill>
                                <a:srgbClr val="FFFFFF"/>
                              </a:solidFill>
                              <a:latin typeface="Cambria Math"/>
                            </a:rPr>
                            <m:t>c</m:t>
                          </m:r>
                        </m:sub>
                      </m:sSub>
                      <m:r>
                        <a:rPr lang="en-US" sz="3100" b="0" i="0">
                          <a:solidFill>
                            <a:srgbClr val="FFFFFF"/>
                          </a:solidFill>
                          <a:latin typeface="Cambria Math"/>
                        </a:rPr>
                        <m:t> + </m:t>
                      </m:r>
                      <m:r>
                        <a:rPr lang="en-US" sz="3100" b="0" i="1">
                          <a:solidFill>
                            <a:srgbClr val="FFFFFF"/>
                          </a:solidFill>
                          <a:latin typeface="Cambria Math"/>
                          <a:ea typeface="Cambria Math"/>
                        </a:rPr>
                        <m:t>𝑑</m:t>
                      </m:r>
                      <m:r>
                        <a:rPr lang="en-US" sz="3100" b="0" i="0">
                          <a:solidFill>
                            <a:srgbClr val="FFFFFF"/>
                          </a:solidFill>
                          <a:latin typeface="Cambria Math"/>
                        </a:rPr>
                        <m:t> · </m:t>
                      </m:r>
                      <m:r>
                        <a:rPr lang="en-US" sz="3100" b="0" i="1">
                          <a:solidFill>
                            <a:srgbClr val="FFFFFF"/>
                          </a:solidFill>
                          <a:latin typeface="Cambria Math"/>
                          <a:ea typeface="Cambria Math"/>
                        </a:rPr>
                        <m:t>𝑌</m:t>
                      </m:r>
                    </m:oMath>
                  </m:oMathPara>
                </a14:m>
                <a:endParaRPr lang="en-US" sz="3100"/>
              </a:p>
            </p:txBody>
          </p:sp>
        </mc:Choice>
        <mc:Fallback xmlns="">
          <p:sp>
            <p:nvSpPr>
              <p:cNvPr id="8" name="TextBox 7"/>
              <p:cNvSpPr txBox="1">
                <a:spLocks noRot="1" noChangeAspect="1" noMove="1" noResize="1" noEditPoints="1" noAdjustHandles="1" noChangeArrowheads="1" noChangeShapeType="1" noTextEdit="1"/>
              </p:cNvSpPr>
              <p:nvPr/>
            </p:nvSpPr>
            <p:spPr>
              <a:xfrm>
                <a:off x="2898648" y="1874519"/>
                <a:ext cx="6400800" cy="960120"/>
              </a:xfrm>
              <a:prstGeom prst="roundRect">
                <a:avLst>
                  <a:gd name="adj" fmla="val 25000"/>
                </a:avLst>
              </a:prstGeom>
              <a:blipFill>
                <a:blip r:embed="rId3"/>
                <a:stretch>
                  <a:fillRect/>
                </a:stretch>
              </a:blipFill>
              <a:effectLst>
                <a:outerShdw blurRad="50800" dist="38100" dir="2700000" algn="tl" rotWithShape="0">
                  <a:srgbClr val="000000">
                    <a:alpha val="45000"/>
                  </a:srgbClr>
                </a:outerShdw>
              </a:effectLst>
            </p:spPr>
            <p:txBody>
              <a:bodyPr/>
              <a:lstStyle/>
              <a:p>
                <a:r>
                  <a:rPr lang="en-US">
                    <a:noFill/>
                  </a:rPr>
                  <a:t> </a:t>
                </a:r>
              </a:p>
            </p:txBody>
          </p:sp>
        </mc:Fallback>
      </mc:AlternateContent>
      <p:sp>
        <p:nvSpPr>
          <p:cNvPr id="9" name="TextBox 8"/>
          <p:cNvSpPr txBox="1"/>
          <p:nvPr/>
        </p:nvSpPr>
        <p:spPr>
          <a:xfrm>
            <a:off x="3246120" y="3017520"/>
            <a:ext cx="6309360" cy="3200400"/>
          </a:xfrm>
          <a:prstGeom prst="rect">
            <a:avLst/>
          </a:prstGeom>
          <a:noFill/>
        </p:spPr>
        <p:txBody>
          <a:bodyPr wrap="square" lIns="0" tIns="0" rIns="0" bIns="0">
            <a:spAutoFit/>
          </a:bodyPr>
          <a:lstStyle>
            <a:lvl1pPr marL="342900" indent="-342900">
              <a:spcBef>
                <a:spcPts val="1600"/>
              </a:spcBef>
              <a:buClr>
                <a:srgbClr val="0B2B4E"/>
              </a:buClr>
              <a:buFont typeface="Calibri"/>
              <a:buChar char="▪"/>
              <a:defRPr sz="2900" b="0">
                <a:solidFill>
                  <a:srgbClr val="0B2B4E"/>
                </a:solidFill>
                <a:latin typeface="Calibri"/>
              </a:defRPr>
            </a:lvl1pPr>
            <a:lvl2pPr marL="685800" indent="-228600">
              <a:spcBef>
                <a:spcPts val="300"/>
              </a:spcBef>
              <a:buClr>
                <a:srgbClr val="555B66"/>
              </a:buClr>
              <a:buFont typeface="Calibri"/>
              <a:buChar char="–"/>
              <a:defRPr sz="2500" b="0">
                <a:solidFill>
                  <a:srgbClr val="555B66"/>
                </a:solidFill>
                <a:latin typeface="Calibri"/>
              </a:defRPr>
            </a:lvl2pPr>
          </a:lstStyle>
          <a:p>
            <a:pPr algn="l"/>
            <a:r>
              <a:rPr b="1" i="1">
                <a:latin typeface="Calibri"/>
              </a:rPr>
              <a:t>Q</a:t>
            </a:r>
            <a:r>
              <a:rPr>
                <a:latin typeface="Calibri"/>
              </a:rPr>
              <a:t> = amount purchased</a:t>
            </a:r>
          </a:p>
          <a:p>
            <a:pPr algn="l"/>
            <a:r>
              <a:rPr b="1" i="1">
                <a:latin typeface="Calibri"/>
              </a:rPr>
              <a:t>P</a:t>
            </a:r>
            <a:r>
              <a:rPr>
                <a:latin typeface="Calibri"/>
              </a:rPr>
              <a:t> = own price</a:t>
            </a:r>
          </a:p>
          <a:p>
            <a:pPr algn="l"/>
            <a:r>
              <a:rPr b="1" i="1">
                <a:latin typeface="Calibri"/>
              </a:rPr>
              <a:t>P</a:t>
            </a:r>
            <a:r>
              <a:rPr b="1" i="1" baseline="-25000">
                <a:latin typeface="Calibri"/>
              </a:rPr>
              <a:t>C</a:t>
            </a:r>
            <a:r>
              <a:rPr>
                <a:latin typeface="Calibri"/>
              </a:rPr>
              <a:t> = competitor’s price</a:t>
            </a:r>
          </a:p>
          <a:p>
            <a:pPr algn="l"/>
            <a:r>
              <a:rPr b="1" i="1">
                <a:latin typeface="Calibri"/>
              </a:rPr>
              <a:t>Y</a:t>
            </a:r>
            <a:r>
              <a:rPr>
                <a:latin typeface="Calibri"/>
              </a:rPr>
              <a:t> = income</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B551B001-1FD0-5D4A-BFED-2042C378193A}" type="slidenum">
              <a:rPr lang="en-US" sz="1200" dirty="0">
                <a:solidFill>
                  <a:srgbClr val="555B66"/>
                </a:solidFill>
                <a:latin typeface="Calibri"/>
              </a:rPr>
              <a:t>17</a:t>
            </a:fld>
            <a:endParaRPr lang="en-US" sz="1200" dirty="0">
              <a:solidFill>
                <a:srgbClr val="555B66"/>
              </a:solidFill>
              <a:latin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u="none" dirty="0">
                <a:solidFill>
                  <a:srgbClr val="0B2B4E"/>
                </a:solidFill>
                <a:latin typeface="Calibri"/>
              </a:rPr>
              <a:t>Results With Added Variables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15" name="Group pair 115"/>
          <p:cNvGrpSpPr/>
          <p:nvPr/>
        </p:nvGrpSpPr>
        <p:grpSpPr>
          <a:xfrm>
            <a:off x="2990088" y="1691640"/>
            <a:ext cx="6217920" cy="3291840"/>
            <a:chOff x="2990088" y="1691640"/>
            <a:chExt cx="6217920" cy="3291840"/>
          </a:xfrm>
        </p:grpSpPr>
        <p:sp>
          <p:nvSpPr>
            <p:cNvPr id="7" name="Rectangle 6"/>
            <p:cNvSpPr/>
            <p:nvPr/>
          </p:nvSpPr>
          <p:spPr>
            <a:xfrm>
              <a:off x="2990088" y="1691640"/>
              <a:ext cx="6217920" cy="329184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3127248" y="1828800"/>
            <a:ext cx="5943600" cy="3017520"/>
          </p:xfrm>
          <a:graphic>
            <a:graphicData uri="http://schemas.openxmlformats.org/drawingml/2006/table">
              <a:tbl>
                <a:tblPr/>
                <a:tblGrid>
                  <a:gridCol w="35661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tblGrid>
                <a:tr h="603504">
                  <a:tc>
                    <a:txBody>
                      <a:bodyPr/>
                      <a:lstStyle/>
                      <a:p>
                        <a:pPr algn="ctr"/>
                        <a:r>
                          <a:rPr sz="2200" b="1">
                            <a:solidFill>
                              <a:srgbClr val="FFFFFF"/>
                            </a:solidFill>
                            <a:latin typeface="Calibri"/>
                          </a:rPr>
                          <a:t>Coefficient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2200" b="1">
                            <a:solidFill>
                              <a:srgbClr val="FFFFFF"/>
                            </a:solidFill>
                            <a:latin typeface="Calibri"/>
                          </a:rPr>
                          <a:t>Value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extLst>
                    <a:ext uri="{0D108BD9-81ED-4DB2-BD59-A6C34878D82A}">
                      <a16:rowId xmlns:a16="http://schemas.microsoft.com/office/drawing/2014/main" val="10000"/>
                    </a:ext>
                  </a:extLst>
                </a:tr>
                <a:tr h="603504">
                  <a:tc>
                    <a:txBody>
                      <a:bodyPr/>
                      <a:lstStyle/>
                      <a:p>
                        <a:pPr algn="l"/>
                        <a:r>
                          <a:rPr sz="2300" b="1">
                            <a:solidFill>
                              <a:srgbClr val="0B2B4E"/>
                            </a:solidFill>
                            <a:latin typeface="Calibri"/>
                          </a:rPr>
                          <a:t>Constant (intercept)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300" b="0">
                            <a:solidFill>
                              <a:srgbClr val="0B2B4E"/>
                            </a:solidFill>
                            <a:latin typeface="Calibri"/>
                          </a:rPr>
                          <a:t>26.70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1"/>
                    </a:ext>
                  </a:extLst>
                </a:tr>
                <a:tr h="603504">
                  <a:tc>
                    <a:txBody>
                      <a:bodyPr/>
                      <a:lstStyle/>
                      <a:p>
                        <a:pPr algn="l"/>
                        <a:r>
                          <a:rPr sz="2300" b="1">
                            <a:solidFill>
                              <a:srgbClr val="0B2B4E"/>
                            </a:solidFill>
                            <a:latin typeface="Calibri"/>
                          </a:rPr>
                          <a:t>Own price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2300" b="0">
                            <a:solidFill>
                              <a:srgbClr val="0B2B4E"/>
                            </a:solidFill>
                            <a:latin typeface="Calibri"/>
                          </a:rPr>
                          <a:t>−2.13</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2"/>
                    </a:ext>
                  </a:extLst>
                </a:tr>
                <a:tr h="603504">
                  <a:tc>
                    <a:txBody>
                      <a:bodyPr/>
                      <a:lstStyle/>
                      <a:p>
                        <a:pPr algn="l"/>
                        <a:r>
                          <a:rPr sz="2300" b="1">
                            <a:solidFill>
                              <a:srgbClr val="0B2B4E"/>
                            </a:solidFill>
                            <a:latin typeface="Calibri"/>
                          </a:rPr>
                          <a:t>Competitor’s price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300" b="0">
                            <a:solidFill>
                              <a:srgbClr val="0B2B4E"/>
                            </a:solidFill>
                            <a:latin typeface="Calibri"/>
                          </a:rPr>
                          <a:t>1.04</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3"/>
                    </a:ext>
                  </a:extLst>
                </a:tr>
                <a:tr h="603504">
                  <a:tc>
                    <a:txBody>
                      <a:bodyPr/>
                      <a:lstStyle/>
                      <a:p>
                        <a:pPr algn="l"/>
                        <a:r>
                          <a:rPr sz="2300" b="1">
                            <a:solidFill>
                              <a:srgbClr val="0B2B4E"/>
                            </a:solidFill>
                            <a:latin typeface="Calibri"/>
                          </a:rPr>
                          <a:t>Income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2300" b="0">
                            <a:solidFill>
                              <a:srgbClr val="0B2B4E"/>
                            </a:solidFill>
                            <a:latin typeface="Calibri"/>
                          </a:rPr>
                          <a:t>3.10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4"/>
                    </a:ext>
                  </a:extLst>
                </a:tr>
              </a:tbl>
            </a:graphicData>
          </a:graphic>
        </p:graphicFrame>
      </p:grpSp>
      <p:grpSp>
        <p:nvGrpSpPr>
          <p:cNvPr id="114" name="Group pair 114"/>
          <p:cNvGrpSpPr/>
          <p:nvPr/>
        </p:nvGrpSpPr>
        <p:grpSpPr>
          <a:xfrm>
            <a:off x="2606040" y="5166360"/>
            <a:ext cx="6995160" cy="896112"/>
            <a:chOff x="2606040" y="5166360"/>
            <a:chExt cx="6995160" cy="896112"/>
          </a:xfrm>
        </p:grpSpPr>
        <p:sp>
          <p:nvSpPr>
            <p:cNvPr id="9" name="Rounded Rectangle 8"/>
            <p:cNvSpPr/>
            <p:nvPr/>
          </p:nvSpPr>
          <p:spPr>
            <a:xfrm>
              <a:off x="2606040" y="5166360"/>
              <a:ext cx="6995160" cy="896112"/>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88920" y="5276088"/>
              <a:ext cx="6629400" cy="676656"/>
            </a:xfrm>
            <a:prstGeom prst="rect">
              <a:avLst/>
            </a:prstGeom>
            <a:noFill/>
          </p:spPr>
          <p:txBody>
            <a:bodyPr wrap="square" lIns="45720" tIns="0" rIns="45720" bIns="0" anchor="ctr">
              <a:spAutoFit/>
            </a:bodyPr>
            <a:lstStyle/>
            <a:p>
              <a:pPr algn="ctr"/>
              <a:r>
                <a:rPr sz="2600" b="0" i="1" u="none">
                  <a:solidFill>
                    <a:srgbClr val="0B2B4E"/>
                  </a:solidFill>
                  <a:latin typeface="Calibri"/>
                </a:rPr>
                <a:t>Q = 26.70 − 2.13 P + 1.04 P</a:t>
              </a:r>
              <a:r>
                <a:rPr sz="2600" b="0" i="1" u="none" baseline="-25000">
                  <a:solidFill>
                    <a:srgbClr val="0B2B4E"/>
                  </a:solidFill>
                  <a:latin typeface="Calibri"/>
                </a:rPr>
                <a:t>C</a:t>
              </a:r>
              <a:r>
                <a:rPr sz="2600" b="0" i="1" u="none">
                  <a:solidFill>
                    <a:srgbClr val="0B2B4E"/>
                  </a:solidFill>
                  <a:latin typeface="Calibri"/>
                </a:rPr>
                <a:t> + 3.10 Y</a:t>
              </a:r>
            </a:p>
          </p:txBody>
        </p:sp>
      </p:gr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4" name="TextBox 13"/>
          <p:cNvSpPr txBox="1"/>
          <p:nvPr/>
        </p:nvSpPr>
        <p:spPr>
          <a:xfrm>
            <a:off x="11475720" y="6583680"/>
            <a:ext cx="502920" cy="292608"/>
          </a:xfrm>
          <a:prstGeom prst="rect">
            <a:avLst/>
          </a:prstGeom>
          <a:noFill/>
        </p:spPr>
        <p:txBody>
          <a:bodyPr wrap="none" lIns="0" tIns="0" rIns="0" bIns="0">
            <a:spAutoFit/>
          </a:bodyPr>
          <a:lstStyle/>
          <a:p>
            <a:pPr algn="r"/>
            <a:fld id="{7A060044-857B-5EDC-8811-7472FED22B15}" type="slidenum">
              <a:rPr lang="en-US" sz="1200" dirty="0">
                <a:solidFill>
                  <a:srgbClr val="555B66"/>
                </a:solidFill>
                <a:latin typeface="Calibri"/>
              </a:rPr>
              <a:t>18</a:t>
            </a:fld>
            <a:endParaRPr lang="en-US" sz="1200" dirty="0">
              <a:solidFill>
                <a:srgbClr val="555B66"/>
              </a:solidFill>
              <a:latin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Issues With Transaction Data: Why Randomization Is Key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11687697" cy="4062651"/>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b="1" dirty="0">
                <a:latin typeface="Calibri"/>
              </a:rPr>
              <a:t>Transaction data:  </a:t>
            </a:r>
            <a:r>
              <a:rPr dirty="0">
                <a:latin typeface="Calibri"/>
              </a:rPr>
              <a:t>prices and quantities evolving over time, across locations and stores</a:t>
            </a:r>
          </a:p>
          <a:p>
            <a:pPr algn="l"/>
            <a:r>
              <a:rPr dirty="0">
                <a:latin typeface="Calibri"/>
              </a:rPr>
              <a:t>Can we be sure the change in quantity is due to the price change?</a:t>
            </a:r>
          </a:p>
          <a:p>
            <a:pPr algn="l"/>
            <a:r>
              <a:rPr b="1" dirty="0">
                <a:latin typeface="Calibri"/>
              </a:rPr>
              <a:t>Airline example:  </a:t>
            </a:r>
            <a:endParaRPr lang="en-US" b="1" dirty="0">
              <a:latin typeface="Calibri"/>
            </a:endParaRPr>
          </a:p>
          <a:p>
            <a:pPr lvl="1"/>
            <a:r>
              <a:rPr lang="en-US" dirty="0"/>
              <a:t>August</a:t>
            </a:r>
            <a:r>
              <a:rPr lang="en-US" dirty="0">
                <a:latin typeface="Calibri"/>
              </a:rPr>
              <a:t>: Sell</a:t>
            </a:r>
            <a:r>
              <a:rPr dirty="0">
                <a:latin typeface="Calibri"/>
              </a:rPr>
              <a:t> </a:t>
            </a:r>
            <a:r>
              <a:rPr lang="en-US" dirty="0">
                <a:latin typeface="Calibri"/>
              </a:rPr>
              <a:t>5000</a:t>
            </a:r>
            <a:r>
              <a:rPr dirty="0">
                <a:latin typeface="Calibri"/>
              </a:rPr>
              <a:t> tickets </a:t>
            </a:r>
            <a:r>
              <a:rPr lang="en-US" dirty="0">
                <a:latin typeface="Calibri"/>
              </a:rPr>
              <a:t>to Hawaii for</a:t>
            </a:r>
            <a:r>
              <a:rPr dirty="0">
                <a:latin typeface="Calibri"/>
              </a:rPr>
              <a:t> $</a:t>
            </a:r>
            <a:r>
              <a:rPr lang="en-US" dirty="0">
                <a:latin typeface="Calibri"/>
              </a:rPr>
              <a:t>6</a:t>
            </a:r>
            <a:r>
              <a:rPr dirty="0">
                <a:latin typeface="Calibri"/>
              </a:rPr>
              <a:t>00</a:t>
            </a:r>
            <a:endParaRPr lang="en-US" dirty="0">
              <a:latin typeface="Calibri"/>
            </a:endParaRPr>
          </a:p>
          <a:p>
            <a:pPr lvl="1"/>
            <a:r>
              <a:rPr lang="en-US" dirty="0"/>
              <a:t>September</a:t>
            </a:r>
            <a:r>
              <a:rPr lang="en-US" dirty="0">
                <a:latin typeface="Calibri"/>
              </a:rPr>
              <a:t>: Sell</a:t>
            </a:r>
            <a:r>
              <a:rPr dirty="0">
                <a:latin typeface="Calibri"/>
              </a:rPr>
              <a:t> </a:t>
            </a:r>
            <a:r>
              <a:rPr lang="en-US" dirty="0">
                <a:latin typeface="Calibri"/>
              </a:rPr>
              <a:t>3,500 tickets</a:t>
            </a:r>
            <a:r>
              <a:rPr dirty="0">
                <a:latin typeface="Calibri"/>
              </a:rPr>
              <a:t> at $</a:t>
            </a:r>
            <a:r>
              <a:rPr lang="en-US" dirty="0">
                <a:latin typeface="Calibri"/>
              </a:rPr>
              <a:t>50</a:t>
            </a:r>
            <a:r>
              <a:rPr dirty="0">
                <a:latin typeface="Calibri"/>
              </a:rPr>
              <a:t>0</a:t>
            </a:r>
            <a:endParaRPr lang="en-US" dirty="0">
              <a:latin typeface="Calibri"/>
            </a:endParaRPr>
          </a:p>
          <a:p>
            <a:pPr marL="457200" lvl="1" indent="0">
              <a:buNone/>
            </a:pPr>
            <a:endParaRPr lang="en-US" dirty="0">
              <a:latin typeface="Calibri"/>
            </a:endParaRPr>
          </a:p>
          <a:p>
            <a:pPr lvl="1">
              <a:buFont typeface="Wingdings" panose="05000000000000000000" pitchFamily="2" charset="2"/>
              <a:buChar char="à"/>
            </a:pPr>
            <a:r>
              <a:rPr dirty="0">
                <a:latin typeface="Calibri"/>
              </a:rPr>
              <a:t>Should we conclude demand slopes upward?</a:t>
            </a:r>
            <a:endParaRPr lang="en-US" dirty="0">
              <a:latin typeface="Calibri"/>
            </a:endParaRPr>
          </a:p>
          <a:p>
            <a:pPr marL="457200" lvl="1" indent="0">
              <a:buNone/>
            </a:pPr>
            <a:endParaRPr dirty="0">
              <a:latin typeface="Calibri"/>
            </a:endParaRPr>
          </a:p>
          <a:p>
            <a:pPr lvl="1" algn="l"/>
            <a:r>
              <a:rPr dirty="0">
                <a:latin typeface="Calibri"/>
              </a:rPr>
              <a:t>What else changed between those two periods?</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EC69781D-FAF3-5E5A-B5F5-5C7A4C1C5FAA}" type="slidenum">
              <a:rPr lang="en-US" sz="1200" dirty="0">
                <a:solidFill>
                  <a:srgbClr val="555B66"/>
                </a:solidFill>
                <a:latin typeface="Calibri"/>
              </a:rPr>
              <a:t>19</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Correlation Does Not Mean Causation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10725912" cy="91440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700" b="0">
                <a:solidFill>
                  <a:srgbClr val="0B2B4E"/>
                </a:solidFill>
                <a:latin typeface="Calibri"/>
              </a:defRPr>
            </a:lvl1pPr>
            <a:lvl2pPr marL="685800" indent="-228600">
              <a:spcBef>
                <a:spcPts val="300"/>
              </a:spcBef>
              <a:buClr>
                <a:srgbClr val="555B66"/>
              </a:buClr>
              <a:buFont typeface="Calibri"/>
              <a:buChar char="–"/>
              <a:defRPr sz="2300" b="0">
                <a:solidFill>
                  <a:srgbClr val="555B66"/>
                </a:solidFill>
                <a:latin typeface="Calibri"/>
              </a:defRPr>
            </a:lvl2pPr>
          </a:lstStyle>
          <a:p>
            <a:pPr algn="l">
              <a:buNone/>
            </a:pPr>
            <a:r>
              <a:rPr sz="2700" b="1" dirty="0">
                <a:solidFill>
                  <a:srgbClr val="0B2B4E"/>
                </a:solidFill>
                <a:latin typeface="Calibri"/>
              </a:rPr>
              <a:t>Example:  </a:t>
            </a:r>
            <a:r>
              <a:rPr sz="2700" dirty="0">
                <a:solidFill>
                  <a:srgbClr val="0B2B4E"/>
                </a:solidFill>
                <a:latin typeface="Calibri"/>
              </a:rPr>
              <a:t>on average, people who drink two glasses of wine a day are healthier than those who drink none</a:t>
            </a:r>
          </a:p>
        </p:txBody>
      </p:sp>
      <p:sp>
        <p:nvSpPr>
          <p:cNvPr id="8" name="TextBox 7"/>
          <p:cNvSpPr txBox="1"/>
          <p:nvPr/>
        </p:nvSpPr>
        <p:spPr>
          <a:xfrm>
            <a:off x="731520" y="2697480"/>
            <a:ext cx="10725912" cy="54864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buNone/>
            </a:pPr>
            <a:r>
              <a:rPr sz="2600" b="1" dirty="0">
                <a:solidFill>
                  <a:srgbClr val="0B2B4E"/>
                </a:solidFill>
                <a:latin typeface="Calibri"/>
              </a:rPr>
              <a:t>Causal interpretation:  </a:t>
            </a:r>
            <a:r>
              <a:rPr sz="2600" i="1" dirty="0">
                <a:solidFill>
                  <a:srgbClr val="0B2B4E"/>
                </a:solidFill>
                <a:latin typeface="Calibri"/>
              </a:rPr>
              <a:t>wine improves health (I wish!)</a:t>
            </a:r>
          </a:p>
        </p:txBody>
      </p:sp>
      <p:pic>
        <p:nvPicPr>
          <p:cNvPr id="9" name="Picture 8" descr="ct_s57_image19.png"/>
          <p:cNvPicPr>
            <a:picLocks noChangeAspect="1"/>
          </p:cNvPicPr>
          <p:nvPr/>
        </p:nvPicPr>
        <p:blipFill>
          <a:blip r:embed="rId2"/>
          <a:stretch>
            <a:fillRect/>
          </a:stretch>
        </p:blipFill>
        <p:spPr>
          <a:xfrm>
            <a:off x="3108960" y="3657600"/>
            <a:ext cx="2194560" cy="1367736"/>
          </a:xfrm>
          <a:prstGeom prst="roundRect">
            <a:avLst>
              <a:gd name="adj" fmla="val 8000"/>
            </a:avLst>
          </a:prstGeom>
          <a:effectLst>
            <a:outerShdw blurRad="50800" dist="38100" dir="2700000" algn="tl" rotWithShape="0">
              <a:srgbClr val="000000">
                <a:alpha val="50000"/>
              </a:srgbClr>
            </a:outerShdw>
          </a:effectLst>
        </p:spPr>
      </p:pic>
      <p:cxnSp>
        <p:nvCxnSpPr>
          <p:cNvPr id="10" name="Connector 9"/>
          <p:cNvCxnSpPr/>
          <p:nvPr/>
        </p:nvCxnSpPr>
        <p:spPr>
          <a:xfrm>
            <a:off x="5577840" y="4434840"/>
            <a:ext cx="1188720" cy="0"/>
          </a:xfrm>
          <a:prstGeom prst="line">
            <a:avLst/>
          </a:prstGeom>
          <a:ln w="381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pic>
        <p:nvPicPr>
          <p:cNvPr id="11" name="Picture 10" descr="ct_s57_image20.png"/>
          <p:cNvPicPr>
            <a:picLocks noChangeAspect="1"/>
          </p:cNvPicPr>
          <p:nvPr/>
        </p:nvPicPr>
        <p:blipFill>
          <a:blip r:embed="rId3"/>
          <a:stretch>
            <a:fillRect/>
          </a:stretch>
        </p:blipFill>
        <p:spPr>
          <a:xfrm>
            <a:off x="7040880" y="3657600"/>
            <a:ext cx="2194560" cy="1455089"/>
          </a:xfrm>
          <a:prstGeom prst="roundRect">
            <a:avLst>
              <a:gd name="adj" fmla="val 8000"/>
            </a:avLst>
          </a:prstGeom>
          <a:effectLst>
            <a:outerShdw blurRad="50800" dist="38100" dir="2700000" algn="tl" rotWithShape="0">
              <a:srgbClr val="000000">
                <a:alpha val="50000"/>
              </a:srgbClr>
            </a:outerShdw>
          </a:effectLst>
        </p:spPr>
      </p:pic>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5" name="TextBox 14"/>
          <p:cNvSpPr txBox="1"/>
          <p:nvPr/>
        </p:nvSpPr>
        <p:spPr>
          <a:xfrm>
            <a:off x="11475720" y="6583680"/>
            <a:ext cx="502920" cy="292608"/>
          </a:xfrm>
          <a:prstGeom prst="rect">
            <a:avLst/>
          </a:prstGeom>
          <a:noFill/>
        </p:spPr>
        <p:txBody>
          <a:bodyPr wrap="none" lIns="0" tIns="0" rIns="0" bIns="0">
            <a:spAutoFit/>
          </a:bodyPr>
          <a:lstStyle/>
          <a:p>
            <a:pPr algn="r"/>
            <a:fld id="{C2A3D6DF-E3F9-5513-AEB0-3E3022388832}" type="slidenum">
              <a:rPr lang="en-US" sz="1200" dirty="0">
                <a:solidFill>
                  <a:srgbClr val="555B66"/>
                </a:solidFill>
                <a:latin typeface="Calibri"/>
              </a:rPr>
              <a:t>20</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Correlation Does Not Mean Causation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10725912" cy="73152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700" b="0">
                <a:solidFill>
                  <a:srgbClr val="0B2B4E"/>
                </a:solidFill>
                <a:latin typeface="Calibri"/>
              </a:defRPr>
            </a:lvl1pPr>
            <a:lvl2pPr marL="685800" indent="-228600">
              <a:spcBef>
                <a:spcPts val="300"/>
              </a:spcBef>
              <a:buClr>
                <a:srgbClr val="555B66"/>
              </a:buClr>
              <a:buFont typeface="Calibri"/>
              <a:buChar char="–"/>
              <a:defRPr sz="2300" b="0">
                <a:solidFill>
                  <a:srgbClr val="555B66"/>
                </a:solidFill>
                <a:latin typeface="Calibri"/>
              </a:defRPr>
            </a:lvl2pPr>
          </a:lstStyle>
          <a:p>
            <a:pPr algn="l">
              <a:buNone/>
            </a:pPr>
            <a:r>
              <a:rPr sz="2700" b="1">
                <a:solidFill>
                  <a:srgbClr val="0B2B4E"/>
                </a:solidFill>
                <a:latin typeface="Calibri"/>
              </a:rPr>
              <a:t>Potential problem:  </a:t>
            </a:r>
            <a:r>
              <a:rPr sz="2700">
                <a:solidFill>
                  <a:srgbClr val="0B2B4E"/>
                </a:solidFill>
                <a:latin typeface="Calibri"/>
              </a:rPr>
              <a:t>some other factor is causing the correlation</a:t>
            </a:r>
          </a:p>
        </p:txBody>
      </p:sp>
      <p:pic>
        <p:nvPicPr>
          <p:cNvPr id="8" name="Picture 7" descr="ct_s58_image21.png"/>
          <p:cNvPicPr>
            <a:picLocks noChangeAspect="1"/>
          </p:cNvPicPr>
          <p:nvPr/>
        </p:nvPicPr>
        <p:blipFill>
          <a:blip r:embed="rId2"/>
          <a:stretch>
            <a:fillRect/>
          </a:stretch>
        </p:blipFill>
        <p:spPr>
          <a:xfrm>
            <a:off x="5029200" y="2286000"/>
            <a:ext cx="2148840" cy="1241391"/>
          </a:xfrm>
          <a:prstGeom prst="roundRect">
            <a:avLst>
              <a:gd name="adj" fmla="val 8000"/>
            </a:avLst>
          </a:prstGeom>
          <a:effectLst>
            <a:outerShdw blurRad="50800" dist="38100" dir="2700000" algn="tl" rotWithShape="0">
              <a:srgbClr val="000000">
                <a:alpha val="50000"/>
              </a:srgbClr>
            </a:outerShdw>
          </a:effectLst>
        </p:spPr>
      </p:pic>
      <p:cxnSp>
        <p:nvCxnSpPr>
          <p:cNvPr id="9" name="Connector 8"/>
          <p:cNvCxnSpPr/>
          <p:nvPr/>
        </p:nvCxnSpPr>
        <p:spPr>
          <a:xfrm flipH="1">
            <a:off x="4251960" y="3840480"/>
            <a:ext cx="914400" cy="731520"/>
          </a:xfrm>
          <a:prstGeom prst="line">
            <a:avLst/>
          </a:prstGeom>
          <a:ln w="31750">
            <a:solidFill>
              <a:srgbClr val="C0504D"/>
            </a:solidFill>
            <a:tailEnd type="triangle" w="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903720" y="3840480"/>
            <a:ext cx="914400" cy="731520"/>
          </a:xfrm>
          <a:prstGeom prst="line">
            <a:avLst/>
          </a:prstGeom>
          <a:ln w="31750">
            <a:solidFill>
              <a:srgbClr val="C0504D"/>
            </a:solidFill>
            <a:tailEnd type="triangle" w="med"/>
          </a:ln>
        </p:spPr>
        <p:style>
          <a:lnRef idx="2">
            <a:schemeClr val="accent1"/>
          </a:lnRef>
          <a:fillRef idx="0">
            <a:schemeClr val="accent1"/>
          </a:fillRef>
          <a:effectRef idx="1">
            <a:schemeClr val="accent1"/>
          </a:effectRef>
          <a:fontRef idx="minor">
            <a:schemeClr val="tx1"/>
          </a:fontRef>
        </p:style>
      </p:cxnSp>
      <p:pic>
        <p:nvPicPr>
          <p:cNvPr id="11" name="Picture 10" descr="ct_s57_image19.png"/>
          <p:cNvPicPr>
            <a:picLocks noChangeAspect="1"/>
          </p:cNvPicPr>
          <p:nvPr/>
        </p:nvPicPr>
        <p:blipFill>
          <a:blip r:embed="rId3"/>
          <a:stretch>
            <a:fillRect/>
          </a:stretch>
        </p:blipFill>
        <p:spPr>
          <a:xfrm>
            <a:off x="3017520" y="4617720"/>
            <a:ext cx="2103120" cy="1310747"/>
          </a:xfrm>
          <a:prstGeom prst="roundRect">
            <a:avLst>
              <a:gd name="adj" fmla="val 8000"/>
            </a:avLst>
          </a:prstGeom>
          <a:effectLst>
            <a:outerShdw blurRad="50800" dist="38100" dir="2700000" algn="tl" rotWithShape="0">
              <a:srgbClr val="000000">
                <a:alpha val="50000"/>
              </a:srgbClr>
            </a:outerShdw>
          </a:effectLst>
        </p:spPr>
      </p:pic>
      <p:pic>
        <p:nvPicPr>
          <p:cNvPr id="12" name="Picture 11" descr="ct_s57_image20.png"/>
          <p:cNvPicPr>
            <a:picLocks noChangeAspect="1"/>
          </p:cNvPicPr>
          <p:nvPr/>
        </p:nvPicPr>
        <p:blipFill>
          <a:blip r:embed="rId4"/>
          <a:stretch>
            <a:fillRect/>
          </a:stretch>
        </p:blipFill>
        <p:spPr>
          <a:xfrm>
            <a:off x="7040880" y="4617720"/>
            <a:ext cx="2103120" cy="1394460"/>
          </a:xfrm>
          <a:prstGeom prst="roundRect">
            <a:avLst>
              <a:gd name="adj" fmla="val 8000"/>
            </a:avLst>
          </a:prstGeom>
          <a:effectLst>
            <a:outerShdw blurRad="50800" dist="38100" dir="2700000" algn="tl" rotWithShape="0">
              <a:srgbClr val="000000">
                <a:alpha val="50000"/>
              </a:srgbClr>
            </a:outerShdw>
          </a:effectLst>
        </p:spPr>
      </p:pic>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6" name="TextBox 15"/>
          <p:cNvSpPr txBox="1"/>
          <p:nvPr/>
        </p:nvSpPr>
        <p:spPr>
          <a:xfrm>
            <a:off x="11475720" y="6583680"/>
            <a:ext cx="502920" cy="292608"/>
          </a:xfrm>
          <a:prstGeom prst="rect">
            <a:avLst/>
          </a:prstGeom>
          <a:noFill/>
        </p:spPr>
        <p:txBody>
          <a:bodyPr wrap="none" lIns="0" tIns="0" rIns="0" bIns="0">
            <a:spAutoFit/>
          </a:bodyPr>
          <a:lstStyle/>
          <a:p>
            <a:pPr algn="r"/>
            <a:fld id="{6B316F47-2D5B-5841-BECC-F01A646B7EC0}" type="slidenum">
              <a:rPr lang="en-US" sz="1200" dirty="0">
                <a:solidFill>
                  <a:srgbClr val="555B66"/>
                </a:solidFill>
                <a:latin typeface="Calibri"/>
              </a:rPr>
              <a:t>21</a:t>
            </a:fld>
            <a:endParaRPr lang="en-US" sz="1200" dirty="0">
              <a:solidFill>
                <a:srgbClr val="555B66"/>
              </a:solidFill>
              <a:latin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Spurious Correlations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t_s59_image22.png"/>
          <p:cNvPicPr>
            <a:picLocks noChangeAspect="1"/>
          </p:cNvPicPr>
          <p:nvPr/>
        </p:nvPicPr>
        <p:blipFill>
          <a:blip r:embed="rId3"/>
          <a:stretch>
            <a:fillRect/>
          </a:stretch>
        </p:blipFill>
        <p:spPr>
          <a:xfrm>
            <a:off x="424281" y="1828800"/>
            <a:ext cx="5323636" cy="3565991"/>
          </a:xfrm>
          <a:prstGeom prst="rect">
            <a:avLst/>
          </a:prstGeom>
          <a:effectLst>
            <a:outerShdw blurRad="50800" dist="38100" dir="2700000" algn="tl" rotWithShape="0">
              <a:srgbClr val="000000">
                <a:alpha val="45000"/>
              </a:srgbClr>
            </a:outerShdw>
          </a:effectLst>
        </p:spPr>
      </p:pic>
      <p:pic>
        <p:nvPicPr>
          <p:cNvPr id="8" name="Picture 7" descr="ct_s59_image23.png"/>
          <p:cNvPicPr>
            <a:picLocks noChangeAspect="1"/>
          </p:cNvPicPr>
          <p:nvPr/>
        </p:nvPicPr>
        <p:blipFill>
          <a:blip r:embed="rId4"/>
          <a:stretch>
            <a:fillRect/>
          </a:stretch>
        </p:blipFill>
        <p:spPr>
          <a:xfrm>
            <a:off x="5982919" y="1828800"/>
            <a:ext cx="5864961" cy="3566132"/>
          </a:xfrm>
          <a:prstGeom prst="rect">
            <a:avLst/>
          </a:prstGeom>
          <a:effectLst>
            <a:outerShdw blurRad="50800" dist="38100" dir="2700000" algn="tl" rotWithShape="0">
              <a:srgbClr val="000000">
                <a:alpha val="45000"/>
              </a:srgbClr>
            </a:outerShdw>
          </a:effectLst>
        </p:spPr>
      </p:pic>
      <p:sp>
        <p:nvSpPr>
          <p:cNvPr id="9" name="TextBox 8"/>
          <p:cNvSpPr txBox="1"/>
          <p:nvPr/>
        </p:nvSpPr>
        <p:spPr>
          <a:xfrm>
            <a:off x="274320" y="6172200"/>
            <a:ext cx="11640312" cy="310896"/>
          </a:xfrm>
          <a:prstGeom prst="rect">
            <a:avLst/>
          </a:prstGeom>
          <a:noFill/>
        </p:spPr>
        <p:txBody>
          <a:bodyPr wrap="square" lIns="0" tIns="0" rIns="0" bIns="0">
            <a:spAutoFit/>
          </a:bodyPr>
          <a:lstStyle/>
          <a:p>
            <a:pPr algn="ctr"/>
            <a:r>
              <a:rPr sz="1400" b="0" i="1" u="sng">
                <a:solidFill>
                  <a:srgbClr val="0070C0"/>
                </a:solidFill>
                <a:latin typeface="Calibri"/>
                <a:hlinkClick r:id="rId5">
                  <a:extLst>
                    <a:ext uri="{A12FA001-AC4F-418D-AE19-62706E023703}">
                      <ahyp:hlinkClr xmlns:ahyp="http://schemas.microsoft.com/office/drawing/2018/hyperlinkcolor" val="tx"/>
                    </a:ext>
                  </a:extLst>
                </a:hlinkClick>
              </a:rPr>
              <a:t>tylervigen.com/spurious-correlations</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92F0233B-FA12-5BD7-869B-26D085D25AB3}" type="slidenum">
              <a:rPr lang="en-US" sz="1200" dirty="0">
                <a:solidFill>
                  <a:srgbClr val="555B66"/>
                </a:solidFill>
                <a:latin typeface="Calibri"/>
              </a:rPr>
              <a:t>22</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Why Randomization Is Key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1417320"/>
            <a:ext cx="10058400" cy="475488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700" b="0">
                <a:solidFill>
                  <a:srgbClr val="0B2B4E"/>
                </a:solidFill>
                <a:latin typeface="Calibri"/>
              </a:defRPr>
            </a:lvl1pPr>
            <a:lvl2pPr marL="685800" indent="-228600">
              <a:spcBef>
                <a:spcPts val="300"/>
              </a:spcBef>
              <a:buClr>
                <a:srgbClr val="555B66"/>
              </a:buClr>
              <a:buFont typeface="Calibri"/>
              <a:buChar char="–"/>
              <a:defRPr sz="2300" b="0">
                <a:solidFill>
                  <a:srgbClr val="555B66"/>
                </a:solidFill>
                <a:latin typeface="Calibri"/>
              </a:defRPr>
            </a:lvl2pPr>
          </a:lstStyle>
          <a:p>
            <a:pPr algn="l"/>
            <a:r>
              <a:rPr>
                <a:latin typeface="Calibri"/>
              </a:rPr>
              <a:t>Randomizing prices ensures that </a:t>
            </a:r>
            <a:r>
              <a:rPr b="1">
                <a:latin typeface="Calibri"/>
              </a:rPr>
              <a:t>“all else is equal”</a:t>
            </a:r>
            <a:r>
              <a:rPr>
                <a:latin typeface="Calibri"/>
              </a:rPr>
              <a:t> other than the price change</a:t>
            </a:r>
          </a:p>
          <a:p>
            <a:pPr algn="l"/>
            <a:r>
              <a:rPr>
                <a:latin typeface="Calibri"/>
              </a:rPr>
              <a:t>Allows us to estimate the </a:t>
            </a:r>
            <a:r>
              <a:rPr b="1">
                <a:solidFill>
                  <a:srgbClr val="0070C0"/>
                </a:solidFill>
                <a:latin typeface="Calibri"/>
              </a:rPr>
              <a:t>causal effect</a:t>
            </a:r>
            <a:r>
              <a:rPr>
                <a:latin typeface="Calibri"/>
              </a:rPr>
              <a:t> of price on quantity demanded  →  the demand curve!</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1C9AF297-709C-5291-9F97-67F6EA752D3C}" type="slidenum">
              <a:rPr lang="en-US" sz="1200" dirty="0">
                <a:solidFill>
                  <a:srgbClr val="555B66"/>
                </a:solidFill>
                <a:latin typeface="Calibri"/>
              </a:rPr>
              <a:t>23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2638</Words>
  <Application>Microsoft Office PowerPoint</Application>
  <PresentationFormat>Widescreen</PresentationFormat>
  <Paragraphs>312</Paragraphs>
  <Slides>23</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Arial</vt:lpstr>
      <vt:lpstr>Calibri</vt:lpstr>
      <vt:lpstr>Cambria Math</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Nico Voigtlaender</dc:creator>
  <cp:keywords/>
  <dc:description>generated using python-pptx</dc:description>
  <cp:lastModifiedBy>Voigtlaender, Nico</cp:lastModifiedBy>
  <cp:revision>24</cp:revision>
  <dcterms:created xsi:type="dcterms:W3CDTF">2013-01-27T09:14:16Z</dcterms:created>
  <dcterms:modified xsi:type="dcterms:W3CDTF">2026-08-25T21:52:21Z</dcterms:modified>
  <cp:category/>
</cp:coreProperties>
</file>