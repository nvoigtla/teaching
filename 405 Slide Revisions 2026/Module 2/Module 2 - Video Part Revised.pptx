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pe09_notes.xml" ContentType="application/vnd.openxmlformats-officedocument.presentationml.notesSlide+xml"/>
  <Override PartName="/ppt/tags/pe09_tag4.xml" ContentType="application/vnd.openxmlformats-officedocument.presentationml.tags+xml"/>
  <Override PartName="/ppt/notesSlides/pe28_notes.xml" ContentType="application/vnd.openxmlformats-officedocument.presentationml.notesSlide+xml"/>
  <Override PartName="/ppt/tags/pe28_tag7.xml" ContentType="application/vnd.openxmlformats-officedocument.presentationml.tag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pe09_notes.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pe28_notes.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current example, from early 2026: under a deal with the White House, Novo Nordisk cut the U.S. self-pay price of Ozempic and Wegovy from $499 to $349 a month. The company then guided 2026 sales down by 5 to 13%. Ask yourself what a price cut that REDUCES revenue tells you about the elasticity of demand.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step further: profit is revenue minus costs. The price cut reduced revenue, and because quantity sold rises, production costs rise too — so profits fall on both ends. The market agreed: when Novo Nordisk warned in February 2026 that lower U.S. prices would push 2026 sales and operating profit down 5 to 13%, its shares tumbled about 18%.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live example from 2025: McDonald's and its U.S. franchisees agreed to cut combo-meal prices by about 15% relative to buying the items separately, and extended the value menu in 2026. Notable detail for the franchisee question: McDonald's set aside roughly $35 million to compensate operators hit by the lower prices — side payments to align incentives across locations with different demand elasticities.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Mega Millions. Method 1 gave us an elasticity of about −0.47 — inelastic — which suggests the price increase should raise revenue. In fact, revenue per drawing FELL from roughly $3.8 million to $2.8 million. The catch: the price rose 150%, and Method 1 is a small-change approximation. With changes this large, the initial-point elasticity and the revenue rule based on it can point the wrong way — a good reason to be careful before applying the rule to big price moves.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Marginal Revenue = Marginal Cost when Demand is Linear</a:t>
            </a:r>
          </a:p>
          <a:p>
            <a:r>
              <a:t>To set MR=MC, you need to know MC. For now, we assume a constant marginal cost: MC=$200. The harder part is MR. What is marginal revenue? In words, it is the change in revenues when you sell one more unit of the good. To get there, we want to find out what total revenue is only as a function of Q, so that we can take the derivative of revenue with respect to Q. </a:t>
            </a:r>
          </a:p>
          <a:p/>
          <a:p>
            <a:r>
              <a:t>Let's write down a specific demand function and work through an example using this demand function:</a:t>
            </a:r>
          </a:p>
          <a:p>
            <a:r>
              <a:t>Q=1600-4P</a:t>
            </a:r>
          </a:p>
          <a:p/>
          <a:p>
            <a:r>
              <a:t>The Recipe</a:t>
            </a:r>
          </a:p>
          <a:p>
            <a:r>
              <a:t>There are three steps to get to the mathematical answer for MR. You can apply this recipe whenever you face this type of problem:</a:t>
            </a:r>
          </a:p>
          <a:p/>
          <a:p>
            <a:r>
              <a:t>Invert your demand. That's the inconvenient legacy of Alfred Marshall that I mentioned in class:</a:t>
            </a:r>
          </a:p>
          <a:p>
            <a:r>
              <a:t>P=400 - 1/4 Q</a:t>
            </a:r>
          </a:p>
          <a:p>
            <a:r>
              <a:t>(If you're wondering what I did here, I just took our demand function, put P on the left side, Q on the right side and divided everything by 4).</a:t>
            </a:r>
          </a:p>
          <a:p/>
          <a:p>
            <a:r>
              <a:t>Write down total revenue. What's total revenue? It is P times Q. So:</a:t>
            </a:r>
          </a:p>
          <a:p>
            <a:r>
              <a:t>PQ=400Q-1/4 * Q^2</a:t>
            </a:r>
          </a:p>
          <a:p>
            <a:r>
              <a:t>(Here I just multiplied the previous equation by Q: easy!)</a:t>
            </a:r>
          </a:p>
          <a:p/>
          <a:p>
            <a:r>
              <a:t>Find Marginal Revenue. That's the hardest step. It entails taking the derivative of PQ with respect to Q. You may or may not know any calculus. But (I promise!) you can do this even if you don't know any calculus. All you need to know is that the derivative of Q with respect to Q is 1, and that the derivative of Q2 with respect to Q is 2Q:</a:t>
            </a:r>
          </a:p>
          <a:p/>
          <a:p>
            <a:r>
              <a:t>MR=(∆PQ)/∆Q=400-1/2Q</a:t>
            </a:r>
          </a:p>
          <a:p/>
          <a:p>
            <a:r>
              <a:t>So now we have MR. You will notice that MR has twice the slope of the inverse demand function. The slope of the inverse demand function is -1/4 and the slope of MR is -1/2. When demand is linear, MR is always twice as steep as demand.  </a:t>
            </a:r>
          </a:p>
          <a:p>
            <a:r>
              <a:t> </a:t>
            </a:r>
          </a:p>
          <a:p>
            <a:r>
              <a:t>Where MR=0, demand is unit elastic</a:t>
            </a:r>
          </a:p>
          <a:p>
            <a:r>
              <a:t> </a:t>
            </a:r>
          </a:p>
          <a:p>
            <a:r>
              <a:t>Try to understand intuitively why the elasticity of demand is exactly -1 when MR=0!</a:t>
            </a:r>
          </a:p>
          <a:p/>
          <a:p>
            <a:r>
              <a:t>Total revenue is maximized where E_d=-1. If MR&gt;0, then TR must be rising as Q increases. If MR&lt;0, then TR must be declining. </a:t>
            </a:r>
          </a:p>
          <a:p>
            <a:r>
              <a:t> </a:t>
            </a:r>
          </a:p>
          <a:p>
            <a:r>
              <a:t>Note that your goal is to maximize profits, not total revenue. A consideration of costs matters.</a:t>
            </a:r>
          </a:p>
          <a:p/>
          <a:p>
            <a:r>
              <a:t>Now we set MR equal to MC ($200) and we are done:</a:t>
            </a:r>
          </a:p>
          <a:p>
            <a:r>
              <a:t>MR=MC</a:t>
            </a:r>
          </a:p>
          <a:p>
            <a:r>
              <a:t>400-12Q=200</a:t>
            </a:r>
          </a:p>
          <a:p>
            <a:r>
              <a:t>Q=400</a:t>
            </a:r>
          </a:p>
          <a:p/>
          <a:p>
            <a:r>
              <a:t>So now we know that maximizing profits entails setting Q=400. What about the price P? Well, that's easy to find: our price-quantity combination must be located on the demand curve. So from the inverse demand we derived earlier, we find:</a:t>
            </a:r>
          </a:p>
          <a:p/>
          <a:p>
            <a:r>
              <a:t>P=400-1/4Q=400-100=$300</a:t>
            </a:r>
          </a:p>
          <a:p/>
          <a:p>
            <a:r>
              <a:t>Maximizing profits, here, entails setting Q=400 units and P=$300.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isn’t MR just P? </a:t>
            </a:r>
          </a:p>
          <a:p/>
          <a:p>
            <a:r>
              <a:t>For a firm with market power (which we will assume here), they will face downward sloping demand. In order to sell additional unit, it will have to lower the price. It will lower the price not just for the marginal unit, but for all units. This reduces the revenue the firm receives for the other units it sells. When computing the marginal revenue from the additional unit, it must also subtract the loss it suffers on every other unit.</a:t>
            </a:r>
          </a:p>
          <a:p/>
          <a:p>
            <a:r>
              <a:t>Is there any situation under which MR=P? </a:t>
            </a:r>
          </a:p>
          <a:p/>
          <a:p>
            <a:r>
              <a:t>Infinite elasticity. When the good is perfectly elastic, a firm doesn’t have to lower the price in order to sell more goods [quantity doesn’t depend on price]; the firm can sell any amount at a given price, so marginal revenue just equals P. This is known as perfect competition, which we will return to in the second half of the course when we discuss market power.</a:t>
            </a:r>
          </a:p>
          <a:p/>
          <a:p>
            <a:r>
              <a:t>Can MR be negative? </a:t>
            </a:r>
          </a:p>
          <a:p/>
          <a:p>
            <a:r>
              <a:t>Yes! In the left side of this plot, we see that MR is negative. To the right of the point of unit elasticity, TR is declining, meaning that each additional unit contributes negatively. That is another way of saying that MR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can say that we'll focus on market experimentation = cleanest way + increasingly ued thanks to new technologies + we'll discuss at the end why better than using transaction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basic equation is a demand equation: Q=a+bP. We expect b&lt;0, because that determines that the own-price elasticity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intercept term is the value of a: horizontal intercept. When the price is zero you sell 479 units.</a:t>
            </a:r>
          </a:p>
          <a:p/>
          <a:p>
            <a:r>
              <a:t>The price has a negative coefficient: b=-1.64. Price and volume are inversely related, as in a demand function. For every unit you drop the price, you get a 1.64 unit expansion in volume sold.</a:t>
            </a:r>
          </a:p>
          <a:p/>
          <a:p>
            <a:r>
              <a:t>So now we have our values for a and b,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Other reported statistics (by Excel, R, or Stata) are interesting. </a:t>
            </a:r>
          </a:p>
          <a:p/>
          <a:p>
            <a:r>
              <a:t>— The first is a measure of FIT. The better the overall fit, the closer the data points are to the regression line, i.e. the regression line captures a lot of the variation in the data. A measure of what we can explain. Here R2 is about 60%. We can explain 60% of the variation in quantity only using the price. Not bad, but there is room for improvement – 40% to be precise. The logical next step is to try to explain more. You can do that by adding more variables on the right hand side. If all the points were exactly on the regression line, we would have R2=1. Needless to say, that is almost never the case.</a:t>
            </a:r>
          </a:p>
          <a:p/>
          <a:p>
            <a:r>
              <a:t>The second set of statistics measure statistical significance – i.e. how precisely each individual coefficient is measured. You can look at the standard error of your estimate, or the t-statistic that is simply the coefficient divided by the standard error. The rule of thumb is you want the absolute value of the t-statistic to be greater than 2 – for enough precision you want your coefficient to be twice the magnitude of its standard error. Then you can be 95% certain that the true coefficient is different from zero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basic equation is a demand equation: Q=a+bP. We expect b&lt;0, because that determines that the own-price elasticity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can we do better than an R2 of 0.59? Yes. Economics tells us a lot of other things besides your own price drive demand: income, price of substitutes, how much you spend on promotion and advertising, etc. So let’s include them in the regression and see what happens. -&gt; even if we have randomized prices, these factors might change and including them will increase precisions</a:t>
            </a:r>
          </a:p>
          <a:p>
            <a:r>
              <a:t> </a:t>
            </a:r>
          </a:p>
          <a:p>
            <a:r>
              <a:t>The multivariate model includes two additional regressors or independent variables:</a:t>
            </a:r>
          </a:p>
          <a:p/>
          <a:p>
            <a:r>
              <a:t>1. There is a competitor with a substitute product available (say United versus American)</a:t>
            </a:r>
          </a:p>
          <a:p>
            <a:r>
              <a:t>2. You have data on average income in the US at the time of the sales. That is a factor that influences demand (what is the expected direction? Positive if air travel is a normal good).</a:t>
            </a:r>
          </a:p>
          <a:p>
            <a:r>
              <a:t> </a:t>
            </a:r>
          </a:p>
          <a:p>
            <a:r>
              <a:t>Move to multiple regression module of the Excel workbook. Units are $ for price but an index for the income level. Run a multivariate regression of quantity on own price, price of substitute and income. The dependent variable stays the same, the independent variables now include Y and Pc.</a:t>
            </a:r>
          </a:p>
          <a:p/>
          <a:p>
            <a:r>
              <a:t>On Problem Set 2, you will have the opportunity to run a regression, and interpret and use the coefficients!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has changed? </a:t>
            </a:r>
          </a:p>
          <a:p>
            <a:r>
              <a:t> </a:t>
            </a:r>
          </a:p>
          <a:p>
            <a:r>
              <a:t>The coefficient on Pc, which is dQ/dPc, equals 1.04. This indicates how my quantity sold changes with a one unit change in the competitor’s price. Since the product is a substitute, I expect a positive sign, which is what we get.</a:t>
            </a:r>
          </a:p>
          <a:p/>
          <a:p>
            <a:r>
              <a:t>The coefficient on Y is 3.09 indicating a normal good. For every 1 point increase in the index of income, you get a 3.09 increase in airline seats sold.</a:t>
            </a:r>
          </a:p>
          <a:p/>
          <a:p>
            <a:r>
              <a:t>You can derive elasticities from these numbers.</a:t>
            </a:r>
          </a:p>
          <a:p/>
          <a:p>
            <a:r>
              <a:t>There is not much meaning to the intercept here – value of Q is all the independent variables are zero.</a:t>
            </a:r>
          </a:p>
          <a:p/>
          <a:p>
            <a:r>
              <a:t>Note that R2 (which is not stated on this slide) is now up to 0.88, which mean 88% of the variation in Q is explained by our model, so we are doing much better. R2 always goes up when you include more variables, but how much it goes up matters.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show the graph to say that when MR is negative it means you are in the inelastic portion and in this portion you always want to increase the price + we can ask them</a:t>
            </a:r>
          </a:p>
          <a:p>
            <a:r>
              <a:t>Then which value do you expect for the elasticity at the current price (should answer absolute value below 1)</a:t>
            </a:r>
          </a:p>
          <a:p>
            <a:r>
              <a:t>How would you compute it? + if time could be done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call this omitted variable bias. </a:t>
            </a:r>
          </a:p>
          <a:p/>
          <a:p>
            <a:r>
              <a:t>https://www.thegreatcoursesdaily.com/correlation-or-causality-wine-and-heart-health/ </a:t>
            </a:r>
          </a:p>
          <a:p>
            <a:r>
              <a:t>“But experts warn that the two studies, both published in the Annals of Internal Medicine, do not show that drinking coffee was behind the overall lower risk, pointing out that it could be that coffee drinkers are healthier in various ways or that those who are unwell drink less coffee. In addition, levels of coffee drinking were self-reported.”</a:t>
            </a:r>
          </a:p>
        </p:txBody>
      </p:sp>
      <p:sp>
        <p:nvSpPr>
          <p:cNvPr id="4" name="Slide Number Placeholder 3"/>
          <p:cNvSpPr>
            <a:spLocks noGrp="1"/>
          </p:cNvSpPr>
          <p:nvPr>
            <p:ph type="sldNum" idx="5" sz="quarter"/>
          </p:nvPr>
        </p:nvSpPr>
        <p:spPr/>
      </p:sp>
    </p:spTree>
  </p:cSld>
  <p:clrMapOvr>
    <a:masterClrMapping/>
  </p:clrMapOvr>
</p:notes>
</file>

<file path=ppt/notesSlides/pe09_notes.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Demand for Wrigley's chewing gum is...
https://www.polleverywhere.com/multiple_choice_polls/geg4OW3J173fOJpvFakHJ?flow=Default&amp;onscreen=persist</a:t>
            </a:r>
          </a:p>
        </p:txBody>
      </p:sp>
      <p:sp>
        <p:nvSpPr>
          <p:cNvPr id="4" name="Slide Number Placeholder 3"/>
          <p:cNvSpPr>
            <a:spLocks noGrp="1"/>
          </p:cNvSpPr>
          <p:nvPr>
            <p:ph type="sldNum" sz="quarter" idx="5"/>
          </p:nvPr>
        </p:nvSpPr>
        <p:spPr/>
        <p:txBody>
          <a:bodyPr/>
          <a:lstStyle/>
          <a:p>
            <a:fld id="{8D36AC2A-E969-3C46-9ED8-B46D40C5E669}" type="slidenum">
              <a:rPr lang="en-US" smtClean="0"/>
              <a:t>9</a:t>
            </a:fld>
            <a:endParaRPr lang="en-US"/>
          </a:p>
        </p:txBody>
      </p:sp>
      <p:sp>
        <p:nvSpPr>
          <p:cNvPr id="5" name="TextBox 4">
            <a:extLst>
              <a:ext uri="{FF2B5EF4-FFF2-40B4-BE49-F238E27FC236}">
                <a16:creationId xmlns:a16="http://schemas.microsoft.com/office/drawing/2014/main" id="{968BDA2B-9A70-4644-AF8C-974FC97028B6}"/>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129308686"/>
      </p:ext>
    </p:extLst>
  </p:cSld>
  <p:clrMapOvr>
    <a:masterClrMapping/>
  </p:clrMapOvr>
</p:notes>
</file>

<file path=ppt/notesSlides/pe28_notes.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What is Marginal Revenue when Q=10-0.5P?
https://www.polleverywhere.com/multiple_choice_polls/C5Wxwwh4hdr3oNiTVckkc?flow=Default&amp;onscreen=persist</a:t>
            </a:r>
          </a:p>
        </p:txBody>
      </p:sp>
      <p:sp>
        <p:nvSpPr>
          <p:cNvPr id="4" name="Slide Number Placeholder 3"/>
          <p:cNvSpPr>
            <a:spLocks noGrp="1"/>
          </p:cNvSpPr>
          <p:nvPr>
            <p:ph type="sldNum" sz="quarter" idx="5"/>
          </p:nvPr>
        </p:nvSpPr>
        <p:spPr/>
        <p:txBody>
          <a:bodyPr/>
          <a:lstStyle/>
          <a:p>
            <a:fld id="{8D36AC2A-E969-3C46-9ED8-B46D40C5E669}" type="slidenum">
              <a:rPr lang="en-US" smtClean="0"/>
              <a:t>20</a:t>
            </a:fld>
            <a:endParaRPr lang="en-US"/>
          </a:p>
        </p:txBody>
      </p:sp>
      <p:sp>
        <p:nvSpPr>
          <p:cNvPr id="5" name="TextBox 4">
            <a:extLst>
              <a:ext uri="{FF2B5EF4-FFF2-40B4-BE49-F238E27FC236}">
                <a16:creationId xmlns:a16="http://schemas.microsoft.com/office/drawing/2014/main" id="{4821B7E2-5DB7-4132-AC27-6C4EA27E5205}"/>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3304149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pe09_notes.xml" /><Relationship Id="rId3" Type="http://schemas.openxmlformats.org/officeDocument/2006/relationships/tags" Target="../tags/pe09_tag4.xml" /><Relationship Id="rId4" Type="http://schemas.openxmlformats.org/officeDocument/2006/relationships/image" Target="../media/pe09_image14.png"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pe28_notes.xml" /><Relationship Id="rId3" Type="http://schemas.openxmlformats.org/officeDocument/2006/relationships/tags" Target="../tags/pe28_tag7.xml" /><Relationship Id="rId4" Type="http://schemas.openxmlformats.org/officeDocument/2006/relationships/image" Target="../media/pe28_image15.png" /></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jpg"/><Relationship Id="rId4" Type="http://schemas.openxmlformats.org/officeDocument/2006/relationships/image" Target="../media/image9.png"/><Relationship Id="rId5" Type="http://schemas.openxmlformats.org/officeDocument/2006/relationships/notesSlide" Target="../notesSlides/notesSlide1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Demand and Revenue</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1</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Outline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1</a:t>
            </a:r>
          </a:p>
        </p:txBody>
      </p:sp>
      <p:sp>
        <p:nvSpPr>
          <p:cNvPr id="8" name="TextBox 7"/>
          <p:cNvSpPr txBox="1"/>
          <p:nvPr/>
        </p:nvSpPr>
        <p:spPr>
          <a:xfrm>
            <a:off x="1874519" y="149504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The law of demand</a:t>
            </a:r>
          </a:p>
        </p:txBody>
      </p:sp>
      <p:sp>
        <p:nvSpPr>
          <p:cNvPr id="9" name="Oval 8"/>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2</a:t>
            </a:r>
          </a:p>
        </p:txBody>
      </p:sp>
      <p:sp>
        <p:nvSpPr>
          <p:cNvPr id="10" name="TextBox 9"/>
          <p:cNvSpPr txBox="1"/>
          <p:nvPr/>
        </p:nvSpPr>
        <p:spPr>
          <a:xfrm>
            <a:off x="1874519" y="232714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Elasticities</a:t>
            </a:r>
          </a:p>
        </p:txBody>
      </p:sp>
      <p:sp>
        <p:nvSpPr>
          <p:cNvPr id="11" name="Rounded Rectangle 10"/>
          <p:cNvSpPr/>
          <p:nvPr/>
        </p:nvSpPr>
        <p:spPr>
          <a:xfrm>
            <a:off x="822960" y="3104388"/>
            <a:ext cx="11109960"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3</a:t>
            </a:r>
          </a:p>
        </p:txBody>
      </p:sp>
      <p:sp>
        <p:nvSpPr>
          <p:cNvPr id="13" name="TextBox 12"/>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and revenue</a:t>
            </a:r>
          </a:p>
          <a:p>
            <a:pPr algn="l">
              <a:spcBef>
                <a:spcPts val="0"/>
              </a:spcBef>
              <a:buNone/>
            </a:pPr>
            <a:r>
              <a:rPr sz="2200">
                <a:solidFill>
                  <a:srgbClr val="555B66"/>
                </a:solidFill>
                <a:latin typeface="Calibri"/>
              </a:rPr>
              <a:t>How the demand curve translates into total revenue</a:t>
            </a:r>
          </a:p>
        </p:txBody>
      </p:sp>
      <p:sp>
        <p:nvSpPr>
          <p:cNvPr id="14" name="Rounded Rectangle 13"/>
          <p:cNvSpPr/>
          <p:nvPr/>
        </p:nvSpPr>
        <p:spPr>
          <a:xfrm>
            <a:off x="822960" y="3936492"/>
            <a:ext cx="11109960"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51560" y="400964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4</a:t>
            </a:r>
          </a:p>
        </p:txBody>
      </p:sp>
      <p:sp>
        <p:nvSpPr>
          <p:cNvPr id="16" name="TextBox 15"/>
          <p:cNvSpPr txBox="1"/>
          <p:nvPr/>
        </p:nvSpPr>
        <p:spPr>
          <a:xfrm>
            <a:off x="1874519"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Elasticity and revenue</a:t>
            </a:r>
          </a:p>
          <a:p>
            <a:pPr algn="l">
              <a:spcBef>
                <a:spcPts val="0"/>
              </a:spcBef>
              <a:buNone/>
            </a:pPr>
            <a:r>
              <a:rPr sz="2200">
                <a:solidFill>
                  <a:srgbClr val="555B66"/>
                </a:solidFill>
                <a:latin typeface="Calibri"/>
              </a:rPr>
              <a:t>When a price increase raises revenue – and when it backfires</a:t>
            </a:r>
          </a:p>
        </p:txBody>
      </p:sp>
      <p:sp>
        <p:nvSpPr>
          <p:cNvPr id="17" name="Oval 16"/>
          <p:cNvSpPr/>
          <p:nvPr/>
        </p:nvSpPr>
        <p:spPr>
          <a:xfrm>
            <a:off x="1051560" y="4841748"/>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5</a:t>
            </a:r>
          </a:p>
        </p:txBody>
      </p:sp>
      <p:sp>
        <p:nvSpPr>
          <p:cNvPr id="18" name="TextBox 17"/>
          <p:cNvSpPr txBox="1"/>
          <p:nvPr/>
        </p:nvSpPr>
        <p:spPr>
          <a:xfrm>
            <a:off x="1874519"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Marginal revenue</a:t>
            </a:r>
          </a:p>
        </p:txBody>
      </p:sp>
      <p:sp>
        <p:nvSpPr>
          <p:cNvPr id="19" name="Oval 18"/>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6</a:t>
            </a:r>
          </a:p>
        </p:txBody>
      </p:sp>
      <p:sp>
        <p:nvSpPr>
          <p:cNvPr id="20" name="TextBox 19"/>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estimation</a:t>
            </a:r>
          </a:p>
        </p:txBody>
      </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4" name="TextBox 23"/>
          <p:cNvSpPr txBox="1"/>
          <p:nvPr/>
        </p:nvSpPr>
        <p:spPr>
          <a:xfrm>
            <a:off x="11475720" y="6583680"/>
            <a:ext cx="502920" cy="292608"/>
          </a:xfrm>
          <a:prstGeom prst="rect">
            <a:avLst/>
          </a:prstGeom>
          <a:noFill/>
        </p:spPr>
        <p:txBody>
          <a:bodyPr wrap="none" lIns="0" rIns="0" tIns="0" bIns="0">
            <a:spAutoFit/>
          </a:bodyPr>
          <a:lstStyle/>
          <a:p>
            <a:pPr algn="r"/>
            <a:fld id="{B87BF060-47E1-5372-A36E-4FBB75A5DA1F}" type="slidenum">
              <a:rPr lang="en-US" sz="1200" dirty="0">
                <a:solidFill>
                  <a:srgbClr val="555B66"/>
                </a:solidFill>
                <a:latin typeface="Calibri"/>
              </a:rPr>
              <a:t>2</a:t>
            </a:fld>
          </a:p>
        </p:txBody>
      </p:sp>
      <p:sp>
        <p:nvSpPr>
          <p:cNvPr id="25" name="Rounded Rectangle 24"/>
          <p:cNvSpPr/>
          <p:nvPr/>
        </p:nvSpPr>
        <p:spPr>
          <a:xfrm>
            <a:off x="7452360" y="6108192"/>
            <a:ext cx="4480560" cy="658368"/>
          </a:xfrm>
          <a:prstGeom prst="roundRect">
            <a:avLst>
              <a:gd name="adj" fmla="val 20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0B2B4E"/>
                </a:solidFill>
                <a:latin typeface="Calibri"/>
              </a:rPr>
              <a:t>▶  Teaching Note – Demand Elasticity and Total Revenue
On BL under “Module 2 Post-Work”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Plotting (Inverse) Demand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783080" y="1755647"/>
            <a:ext cx="0" cy="4005073"/>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783080" y="5760720"/>
            <a:ext cx="5833872"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280160" y="1508759"/>
            <a:ext cx="640080" cy="320040"/>
          </a:xfrm>
          <a:prstGeom prst="rect">
            <a:avLst/>
          </a:prstGeom>
          <a:noFill/>
        </p:spPr>
        <p:txBody>
          <a:bodyPr wrap="square" lIns="0" rIns="0" tIns="0" bIns="0">
            <a:spAutoFit/>
          </a:bodyPr>
          <a:lstStyle/>
          <a:p>
            <a:pPr algn="l"/>
            <a:r>
              <a:rPr sz="2000" b="1" i="1" u="none">
                <a:solidFill>
                  <a:srgbClr val="0B2B4E"/>
                </a:solidFill>
                <a:latin typeface="Calibri"/>
              </a:rPr>
              <a:t>P</a:t>
            </a:r>
          </a:p>
        </p:txBody>
      </p:sp>
      <p:sp>
        <p:nvSpPr>
          <p:cNvPr id="10" name="TextBox 9"/>
          <p:cNvSpPr txBox="1"/>
          <p:nvPr/>
        </p:nvSpPr>
        <p:spPr>
          <a:xfrm>
            <a:off x="7498080" y="5715000"/>
            <a:ext cx="640080" cy="320040"/>
          </a:xfrm>
          <a:prstGeom prst="rect">
            <a:avLst/>
          </a:prstGeom>
          <a:noFill/>
        </p:spPr>
        <p:txBody>
          <a:bodyPr wrap="square" lIns="0" rIns="0" tIns="0" bIns="0">
            <a:spAutoFit/>
          </a:bodyPr>
          <a:lstStyle/>
          <a:p>
            <a:pPr algn="l"/>
            <a:r>
              <a:rPr sz="2000" b="1" i="1" u="none">
                <a:solidFill>
                  <a:srgbClr val="0B2B4E"/>
                </a:solidFill>
                <a:latin typeface="Calibri"/>
              </a:rPr>
              <a:t>Q</a:t>
            </a:r>
          </a:p>
        </p:txBody>
      </p:sp>
      <p:cxnSp>
        <p:nvCxnSpPr>
          <p:cNvPr id="11" name="Connector 10"/>
          <p:cNvCxnSpPr/>
          <p:nvPr/>
        </p:nvCxnSpPr>
        <p:spPr>
          <a:xfrm>
            <a:off x="1783080" y="2346960"/>
            <a:ext cx="5039360" cy="341376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04671" y="2218944"/>
            <a:ext cx="868680" cy="274320"/>
          </a:xfrm>
          <a:prstGeom prst="rect">
            <a:avLst/>
          </a:prstGeom>
          <a:noFill/>
        </p:spPr>
        <p:txBody>
          <a:bodyPr wrap="square" lIns="0" rIns="0" tIns="0" bIns="0">
            <a:spAutoFit/>
          </a:bodyPr>
          <a:lstStyle/>
          <a:p>
            <a:pPr algn="r"/>
            <a:r>
              <a:rPr sz="1800" b="0" i="0" u="none">
                <a:solidFill>
                  <a:srgbClr val="0B2B4E"/>
                </a:solidFill>
                <a:latin typeface="Calibri"/>
              </a:rPr>
              <a:t>$400</a:t>
            </a:r>
          </a:p>
        </p:txBody>
      </p:sp>
      <p:sp>
        <p:nvSpPr>
          <p:cNvPr id="13" name="TextBox 12"/>
          <p:cNvSpPr txBox="1"/>
          <p:nvPr/>
        </p:nvSpPr>
        <p:spPr>
          <a:xfrm>
            <a:off x="6365240" y="5815583"/>
            <a:ext cx="914400" cy="274320"/>
          </a:xfrm>
          <a:prstGeom prst="rect">
            <a:avLst/>
          </a:prstGeom>
          <a:noFill/>
        </p:spPr>
        <p:txBody>
          <a:bodyPr wrap="square" lIns="0" rIns="0" tIns="0" bIns="0">
            <a:spAutoFit/>
          </a:bodyPr>
          <a:lstStyle/>
          <a:p>
            <a:pPr algn="ctr"/>
            <a:r>
              <a:rPr sz="1800" b="0" i="0" u="none">
                <a:solidFill>
                  <a:srgbClr val="0B2B4E"/>
                </a:solidFill>
                <a:latin typeface="Calibri"/>
              </a:rPr>
              <a:t>1600</a:t>
            </a:r>
          </a:p>
        </p:txBody>
      </p:sp>
      <p:grpSp>
        <p:nvGrpSpPr>
          <p:cNvPr id="120" name="Group pair 120"/>
          <p:cNvGrpSpPr/>
          <p:nvPr/>
        </p:nvGrpSpPr>
        <p:grpSpPr>
          <a:xfrm>
            <a:off x="8001000" y="1874519"/>
            <a:ext cx="3794760" cy="2148840"/>
            <a:chOff x="8001000" y="1874519"/>
            <a:chExt cx="3794760" cy="2148840"/>
          </a:xfrm>
        </p:grpSpPr>
        <p:sp>
          <p:nvSpPr>
            <p:cNvPr id="14" name="Rounded Rectangle 13"/>
            <p:cNvSpPr/>
            <p:nvPr/>
          </p:nvSpPr>
          <p:spPr>
            <a:xfrm>
              <a:off x="8001000" y="1874519"/>
              <a:ext cx="3794760" cy="214884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1984247"/>
              <a:ext cx="3429000" cy="1929384"/>
            </a:xfrm>
            <a:prstGeom prst="rect">
              <a:avLst/>
            </a:prstGeom>
            <a:noFill/>
          </p:spPr>
          <p:txBody>
            <a:bodyPr wrap="square" lIns="45720" rIns="45720" tIns="0" bIns="0" anchor="ctr">
              <a:spAutoFit/>
            </a:bodyPr>
            <a:lstStyle/>
            <a:p>
              <a:pPr algn="l"/>
              <a:r>
                <a:rPr sz="1800" b="0" i="0" u="sng">
                  <a:solidFill>
                    <a:srgbClr val="0B2B4E"/>
                  </a:solidFill>
                  <a:latin typeface="Calibri"/>
                </a:rPr>
                <a:t>Demand function:</a:t>
              </a:r>
              <a:r>
                <a:rPr sz="1800" b="0" i="1" u="none">
                  <a:solidFill>
                    <a:srgbClr val="0B2B4E"/>
                  </a:solidFill>
                  <a:latin typeface="Calibri"/>
                </a:rPr>
                <a:t>
Q = 1,600 – 4P</a:t>
              </a:r>
              <a:r>
                <a:rPr sz="1800" b="0" i="0" u="sng">
                  <a:solidFill>
                    <a:srgbClr val="0B2B4E"/>
                  </a:solidFill>
                  <a:latin typeface="Calibri"/>
                </a:rPr>
                <a:t>
Rearrange to get inverse demand function:</a:t>
              </a:r>
              <a:r>
                <a:rPr sz="1800" b="1" i="1" u="none">
                  <a:solidFill>
                    <a:srgbClr val="C00000"/>
                  </a:solidFill>
                  <a:latin typeface="Calibri"/>
                </a:rPr>
                <a:t>
P = 400 – Q/4</a:t>
              </a:r>
            </a:p>
          </p:txBody>
        </p:sp>
      </p:grpSp>
      <p:sp>
        <p:nvSpPr>
          <p:cNvPr id="16" name="TextBox 15"/>
          <p:cNvSpPr txBox="1"/>
          <p:nvPr/>
        </p:nvSpPr>
        <p:spPr>
          <a:xfrm>
            <a:off x="8001000" y="4389120"/>
            <a:ext cx="393192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a:solidFill>
                  <a:srgbClr val="C00000"/>
                </a:solidFill>
                <a:latin typeface="Calibri"/>
              </a:rPr>
              <a:t>This is the demand function that a </a:t>
            </a:r>
            <a:r>
              <a:rPr sz="2000" u="sng">
                <a:solidFill>
                  <a:srgbClr val="C00000"/>
                </a:solidFill>
                <a:latin typeface="Calibri"/>
              </a:rPr>
              <a:t>firm</a:t>
            </a:r>
            <a:r>
              <a:rPr sz="2000">
                <a:solidFill>
                  <a:srgbClr val="C00000"/>
                </a:solidFill>
                <a:latin typeface="Calibri"/>
              </a:rPr>
              <a:t> faces</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0" name="TextBox 19"/>
          <p:cNvSpPr txBox="1"/>
          <p:nvPr/>
        </p:nvSpPr>
        <p:spPr>
          <a:xfrm>
            <a:off x="11475720" y="6583680"/>
            <a:ext cx="502920" cy="292608"/>
          </a:xfrm>
          <a:prstGeom prst="rect">
            <a:avLst/>
          </a:prstGeom>
          <a:noFill/>
        </p:spPr>
        <p:txBody>
          <a:bodyPr wrap="none" lIns="0" rIns="0" tIns="0" bIns="0">
            <a:spAutoFit/>
          </a:bodyPr>
          <a:lstStyle/>
          <a:p>
            <a:pPr algn="r"/>
            <a:fld id="{E483B8E3-9AB7-5D66-AC98-1C6603CE0F26}" type="slidenum">
              <a:rPr lang="en-US" sz="1200" dirty="0">
                <a:solidFill>
                  <a:srgbClr val="555B66"/>
                </a:solidFill>
                <a:latin typeface="Calibri"/>
              </a:rPr>
              <a:t>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0"/>
                                        </p:tgtEl>
                                        <p:attrNameLst>
                                          <p:attrName>style.visibility</p:attrName>
                                        </p:attrNameLst>
                                      </p:cBhvr>
                                      <p:to>
                                        <p:strVal val="visible"/>
                                      </p:to>
                                    </p:set>
                                    <p:animEffect transition="in" filter="fade">
                                      <p:cBhvr>
                                        <p:cTn id="12" dur="500"/>
                                        <p:tgtEl>
                                          <p:spTgt spid="1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Relationship Between Demand and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600200" y="1572768"/>
            <a:ext cx="0" cy="2130552"/>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600200" y="3703320"/>
            <a:ext cx="5925312" cy="0"/>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97280" y="1353312"/>
            <a:ext cx="640080" cy="292608"/>
          </a:xfrm>
          <a:prstGeom prst="rect">
            <a:avLst/>
          </a:prstGeom>
          <a:noFill/>
        </p:spPr>
        <p:txBody>
          <a:bodyPr wrap="square" lIns="0" rIns="0" tIns="0" bIns="0">
            <a:spAutoFit/>
          </a:bodyPr>
          <a:lstStyle/>
          <a:p>
            <a:pPr algn="l"/>
            <a:r>
              <a:rPr sz="1600" b="1" i="1" u="none">
                <a:solidFill>
                  <a:srgbClr val="0B2B4E"/>
                </a:solidFill>
                <a:latin typeface="Calibri"/>
              </a:rPr>
              <a:t>P</a:t>
            </a:r>
          </a:p>
        </p:txBody>
      </p:sp>
      <p:sp>
        <p:nvSpPr>
          <p:cNvPr id="10" name="TextBox 9"/>
          <p:cNvSpPr txBox="1"/>
          <p:nvPr/>
        </p:nvSpPr>
        <p:spPr>
          <a:xfrm>
            <a:off x="7379208" y="3657600"/>
            <a:ext cx="548640" cy="292608"/>
          </a:xfrm>
          <a:prstGeom prst="rect">
            <a:avLst/>
          </a:prstGeom>
          <a:noFill/>
        </p:spPr>
        <p:txBody>
          <a:bodyPr wrap="square" lIns="0" rIns="0" tIns="0" bIns="0">
            <a:spAutoFit/>
          </a:bodyPr>
          <a:lstStyle/>
          <a:p>
            <a:pPr algn="l"/>
            <a:r>
              <a:rPr sz="1600" b="1" i="1" u="none">
                <a:solidFill>
                  <a:srgbClr val="0B2B4E"/>
                </a:solidFill>
                <a:latin typeface="Calibri"/>
              </a:rPr>
              <a:t>Q</a:t>
            </a:r>
          </a:p>
        </p:txBody>
      </p:sp>
      <p:cxnSp>
        <p:nvCxnSpPr>
          <p:cNvPr id="11" name="Connector 10"/>
          <p:cNvCxnSpPr/>
          <p:nvPr/>
        </p:nvCxnSpPr>
        <p:spPr>
          <a:xfrm flipV="1">
            <a:off x="1600200" y="4133087"/>
            <a:ext cx="0" cy="2130553"/>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00200" y="6263640"/>
            <a:ext cx="5925312" cy="0"/>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97280" y="3913631"/>
            <a:ext cx="640080" cy="292608"/>
          </a:xfrm>
          <a:prstGeom prst="rect">
            <a:avLst/>
          </a:prstGeom>
          <a:noFill/>
        </p:spPr>
        <p:txBody>
          <a:bodyPr wrap="square" lIns="0" rIns="0" tIns="0" bIns="0">
            <a:spAutoFit/>
          </a:bodyPr>
          <a:lstStyle/>
          <a:p>
            <a:pPr algn="l"/>
            <a:r>
              <a:rPr sz="1600" b="1" i="1" u="none">
                <a:solidFill>
                  <a:srgbClr val="0B2B4E"/>
                </a:solidFill>
                <a:latin typeface="Calibri"/>
              </a:rPr>
              <a:t>TR</a:t>
            </a:r>
          </a:p>
        </p:txBody>
      </p:sp>
      <p:sp>
        <p:nvSpPr>
          <p:cNvPr id="14" name="TextBox 13"/>
          <p:cNvSpPr txBox="1"/>
          <p:nvPr/>
        </p:nvSpPr>
        <p:spPr>
          <a:xfrm>
            <a:off x="7379208" y="6217920"/>
            <a:ext cx="548640" cy="292608"/>
          </a:xfrm>
          <a:prstGeom prst="rect">
            <a:avLst/>
          </a:prstGeom>
          <a:noFill/>
        </p:spPr>
        <p:txBody>
          <a:bodyPr wrap="square" lIns="0" rIns="0" tIns="0" bIns="0">
            <a:spAutoFit/>
          </a:bodyPr>
          <a:lstStyle/>
          <a:p>
            <a:pPr algn="l"/>
            <a:r>
              <a:rPr sz="1600" b="1" i="1" u="none">
                <a:solidFill>
                  <a:srgbClr val="0B2B4E"/>
                </a:solidFill>
                <a:latin typeface="Calibri"/>
              </a:rPr>
              <a:t>Q</a:t>
            </a:r>
          </a:p>
        </p:txBody>
      </p:sp>
      <p:cxnSp>
        <p:nvCxnSpPr>
          <p:cNvPr id="15" name="Connector 14"/>
          <p:cNvCxnSpPr/>
          <p:nvPr/>
        </p:nvCxnSpPr>
        <p:spPr>
          <a:xfrm>
            <a:off x="1600200" y="1955799"/>
            <a:ext cx="5120640" cy="174752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84848" y="3310127"/>
            <a:ext cx="457200" cy="320040"/>
          </a:xfrm>
          <a:prstGeom prst="rect">
            <a:avLst/>
          </a:prstGeom>
          <a:noFill/>
        </p:spPr>
        <p:txBody>
          <a:bodyPr wrap="square" lIns="0" rIns="0" tIns="0" bIns="0">
            <a:spAutoFit/>
          </a:bodyPr>
          <a:lstStyle/>
          <a:p>
            <a:pPr algn="l"/>
            <a:r>
              <a:rPr sz="1800" b="1" i="1" u="none">
                <a:solidFill>
                  <a:srgbClr val="C00000"/>
                </a:solidFill>
                <a:latin typeface="Calibri"/>
              </a:rPr>
              <a:t>D</a:t>
            </a:r>
          </a:p>
        </p:txBody>
      </p:sp>
      <p:sp>
        <p:nvSpPr>
          <p:cNvPr id="17" name="TextBox 16"/>
          <p:cNvSpPr txBox="1"/>
          <p:nvPr/>
        </p:nvSpPr>
        <p:spPr>
          <a:xfrm>
            <a:off x="621792" y="1827783"/>
            <a:ext cx="868680" cy="274320"/>
          </a:xfrm>
          <a:prstGeom prst="rect">
            <a:avLst/>
          </a:prstGeom>
          <a:noFill/>
        </p:spPr>
        <p:txBody>
          <a:bodyPr wrap="square" lIns="0" rIns="0" tIns="0" bIns="0">
            <a:spAutoFit/>
          </a:bodyPr>
          <a:lstStyle/>
          <a:p>
            <a:pPr algn="r"/>
            <a:r>
              <a:rPr sz="1500" b="0" i="0" u="none">
                <a:solidFill>
                  <a:srgbClr val="0B2B4E"/>
                </a:solidFill>
                <a:latin typeface="Calibri"/>
              </a:rPr>
              <a:t>$400</a:t>
            </a:r>
          </a:p>
        </p:txBody>
      </p:sp>
      <p:sp>
        <p:nvSpPr>
          <p:cNvPr id="18" name="TextBox 17"/>
          <p:cNvSpPr txBox="1"/>
          <p:nvPr/>
        </p:nvSpPr>
        <p:spPr>
          <a:xfrm>
            <a:off x="621792" y="2701543"/>
            <a:ext cx="868680" cy="274320"/>
          </a:xfrm>
          <a:prstGeom prst="rect">
            <a:avLst/>
          </a:prstGeom>
          <a:noFill/>
        </p:spPr>
        <p:txBody>
          <a:bodyPr wrap="square" lIns="0" rIns="0" tIns="0" bIns="0">
            <a:spAutoFit/>
          </a:bodyPr>
          <a:lstStyle/>
          <a:p>
            <a:pPr algn="r"/>
            <a:r>
              <a:rPr sz="1500" b="0" i="0" u="none">
                <a:solidFill>
                  <a:srgbClr val="0B2B4E"/>
                </a:solidFill>
                <a:latin typeface="Calibri"/>
              </a:rPr>
              <a:t>200</a:t>
            </a:r>
          </a:p>
        </p:txBody>
      </p:sp>
      <p:sp>
        <p:nvSpPr>
          <p:cNvPr id="19" name="TextBox 18"/>
          <p:cNvSpPr txBox="1"/>
          <p:nvPr/>
        </p:nvSpPr>
        <p:spPr>
          <a:xfrm>
            <a:off x="3703320" y="3758183"/>
            <a:ext cx="914400" cy="274320"/>
          </a:xfrm>
          <a:prstGeom prst="rect">
            <a:avLst/>
          </a:prstGeom>
          <a:noFill/>
        </p:spPr>
        <p:txBody>
          <a:bodyPr wrap="square" lIns="0" rIns="0" tIns="0" bIns="0">
            <a:spAutoFit/>
          </a:bodyPr>
          <a:lstStyle/>
          <a:p>
            <a:pPr algn="ctr"/>
            <a:r>
              <a:rPr sz="1500" b="0" i="0" u="none">
                <a:solidFill>
                  <a:srgbClr val="0B2B4E"/>
                </a:solidFill>
                <a:latin typeface="Calibri"/>
              </a:rPr>
              <a:t>800</a:t>
            </a:r>
          </a:p>
        </p:txBody>
      </p:sp>
      <p:sp>
        <p:nvSpPr>
          <p:cNvPr id="20" name="TextBox 19"/>
          <p:cNvSpPr txBox="1"/>
          <p:nvPr/>
        </p:nvSpPr>
        <p:spPr>
          <a:xfrm>
            <a:off x="6263640" y="3758183"/>
            <a:ext cx="914400" cy="274320"/>
          </a:xfrm>
          <a:prstGeom prst="rect">
            <a:avLst/>
          </a:prstGeom>
          <a:noFill/>
        </p:spPr>
        <p:txBody>
          <a:bodyPr wrap="square" lIns="0" rIns="0" tIns="0" bIns="0">
            <a:spAutoFit/>
          </a:bodyPr>
          <a:lstStyle/>
          <a:p>
            <a:pPr algn="ctr"/>
            <a:r>
              <a:rPr sz="1500" b="0" i="0" u="none">
                <a:solidFill>
                  <a:srgbClr val="0B2B4E"/>
                </a:solidFill>
                <a:latin typeface="Calibri"/>
              </a:rPr>
              <a:t>1600</a:t>
            </a:r>
          </a:p>
        </p:txBody>
      </p:sp>
      <p:cxnSp>
        <p:nvCxnSpPr>
          <p:cNvPr id="21" name="Connector 20"/>
          <p:cNvCxnSpPr/>
          <p:nvPr/>
        </p:nvCxnSpPr>
        <p:spPr>
          <a:xfrm>
            <a:off x="1600200" y="2829559"/>
            <a:ext cx="2560320"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160520" y="2829559"/>
            <a:ext cx="0" cy="87376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1600200" y="3933613"/>
            <a:ext cx="5120640" cy="2330027"/>
          </a:xfrm>
          <a:custGeom>
            <a:avLst/>
            <a:gdLst/>
            <a:ahLst/>
            <a:cxnLst/>
            <a:rect l="0" t="0" r="5120640" b="2330027"/>
            <a:pathLst>
              <a:path w="5120640" h="2330027">
                <a:moveTo>
                  <a:pt x="0" y="2330027"/>
                </a:moveTo>
                <a:cubicBezTo>
                  <a:pt x="1706880" y="0"/>
                  <a:pt x="3413760" y="0"/>
                  <a:pt x="5120640" y="2330027"/>
                </a:cubicBezTo>
              </a:path>
            </a:pathLst>
          </a:custGeom>
          <a:noFill/>
          <a:effectLst/>
          <a:ln w="38100" cap="rnd">
            <a:solidFill>
              <a:srgbClr val="E09F3E"/>
            </a:solidFill>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620" y="4625339"/>
            <a:ext cx="1645920" cy="320040"/>
          </a:xfrm>
          <a:prstGeom prst="rect">
            <a:avLst/>
          </a:prstGeom>
          <a:noFill/>
        </p:spPr>
        <p:txBody>
          <a:bodyPr wrap="square" lIns="0" rIns="0" tIns="0" bIns="0">
            <a:spAutoFit/>
          </a:bodyPr>
          <a:lstStyle/>
          <a:p>
            <a:pPr algn="l"/>
            <a:r>
              <a:rPr sz="1600" b="1" i="1" u="none">
                <a:solidFill>
                  <a:srgbClr val="E09F3E"/>
                </a:solidFill>
                <a:latin typeface="Calibri"/>
              </a:rPr>
              <a:t>Total revenue</a:t>
            </a:r>
          </a:p>
        </p:txBody>
      </p:sp>
      <p:sp>
        <p:nvSpPr>
          <p:cNvPr id="25" name="TextBox 24"/>
          <p:cNvSpPr txBox="1"/>
          <p:nvPr/>
        </p:nvSpPr>
        <p:spPr>
          <a:xfrm>
            <a:off x="621792" y="4388103"/>
            <a:ext cx="868680" cy="274320"/>
          </a:xfrm>
          <a:prstGeom prst="rect">
            <a:avLst/>
          </a:prstGeom>
          <a:noFill/>
        </p:spPr>
        <p:txBody>
          <a:bodyPr wrap="square" lIns="0" rIns="0" tIns="0" bIns="0">
            <a:spAutoFit/>
          </a:bodyPr>
          <a:lstStyle/>
          <a:p>
            <a:pPr algn="r"/>
            <a:r>
              <a:rPr sz="1500" b="0" i="0" u="none">
                <a:solidFill>
                  <a:srgbClr val="0B2B4E"/>
                </a:solidFill>
                <a:latin typeface="Calibri"/>
              </a:rPr>
              <a:t>$160,000</a:t>
            </a:r>
          </a:p>
        </p:txBody>
      </p:sp>
      <p:sp>
        <p:nvSpPr>
          <p:cNvPr id="26" name="TextBox 25"/>
          <p:cNvSpPr txBox="1"/>
          <p:nvPr/>
        </p:nvSpPr>
        <p:spPr>
          <a:xfrm>
            <a:off x="3703320" y="6318503"/>
            <a:ext cx="914400" cy="274320"/>
          </a:xfrm>
          <a:prstGeom prst="rect">
            <a:avLst/>
          </a:prstGeom>
          <a:noFill/>
        </p:spPr>
        <p:txBody>
          <a:bodyPr wrap="square" lIns="0" rIns="0" tIns="0" bIns="0">
            <a:spAutoFit/>
          </a:bodyPr>
          <a:lstStyle/>
          <a:p>
            <a:pPr algn="ctr"/>
            <a:r>
              <a:rPr sz="1500" b="0" i="0" u="none">
                <a:solidFill>
                  <a:srgbClr val="0B2B4E"/>
                </a:solidFill>
                <a:latin typeface="Calibri"/>
              </a:rPr>
              <a:t>800</a:t>
            </a:r>
          </a:p>
        </p:txBody>
      </p:sp>
      <p:sp>
        <p:nvSpPr>
          <p:cNvPr id="27" name="TextBox 26"/>
          <p:cNvSpPr txBox="1"/>
          <p:nvPr/>
        </p:nvSpPr>
        <p:spPr>
          <a:xfrm>
            <a:off x="6263640" y="6318503"/>
            <a:ext cx="914400" cy="274320"/>
          </a:xfrm>
          <a:prstGeom prst="rect">
            <a:avLst/>
          </a:prstGeom>
          <a:noFill/>
        </p:spPr>
        <p:txBody>
          <a:bodyPr wrap="square" lIns="0" rIns="0" tIns="0" bIns="0">
            <a:spAutoFit/>
          </a:bodyPr>
          <a:lstStyle/>
          <a:p>
            <a:pPr algn="ctr"/>
            <a:r>
              <a:rPr sz="1500" b="0" i="0" u="none">
                <a:solidFill>
                  <a:srgbClr val="0B2B4E"/>
                </a:solidFill>
                <a:latin typeface="Calibri"/>
              </a:rPr>
              <a:t>1600</a:t>
            </a:r>
          </a:p>
        </p:txBody>
      </p:sp>
      <p:cxnSp>
        <p:nvCxnSpPr>
          <p:cNvPr id="28" name="Connector 27"/>
          <p:cNvCxnSpPr/>
          <p:nvPr/>
        </p:nvCxnSpPr>
        <p:spPr>
          <a:xfrm>
            <a:off x="1600200" y="4516119"/>
            <a:ext cx="2560320"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160520" y="4516119"/>
            <a:ext cx="0" cy="174752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grpSp>
        <p:nvGrpSpPr>
          <p:cNvPr id="135" name="Group pair 135"/>
          <p:cNvGrpSpPr/>
          <p:nvPr/>
        </p:nvGrpSpPr>
        <p:grpSpPr>
          <a:xfrm>
            <a:off x="8001000" y="1691640"/>
            <a:ext cx="3886200" cy="2514600"/>
            <a:chOff x="8001000" y="1691640"/>
            <a:chExt cx="3886200" cy="2514600"/>
          </a:xfrm>
        </p:grpSpPr>
        <p:sp>
          <p:nvSpPr>
            <p:cNvPr id="30" name="Rounded Rectangle 29"/>
            <p:cNvSpPr/>
            <p:nvPr/>
          </p:nvSpPr>
          <p:spPr>
            <a:xfrm>
              <a:off x="8001000" y="1691640"/>
              <a:ext cx="3886200" cy="25146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1801368"/>
              <a:ext cx="3520440" cy="2295144"/>
            </a:xfrm>
            <a:prstGeom prst="rect">
              <a:avLst/>
            </a:prstGeom>
            <a:noFill/>
          </p:spPr>
          <p:txBody>
            <a:bodyPr wrap="square" lIns="45720" rIns="45720" tIns="0" bIns="0" anchor="ctr">
              <a:spAutoFit/>
            </a:bodyPr>
            <a:lstStyle/>
            <a:p>
              <a:pPr algn="l"/>
              <a:r>
                <a:rPr sz="1700" b="0" i="0" u="sng">
                  <a:solidFill>
                    <a:srgbClr val="0B2B4E"/>
                  </a:solidFill>
                  <a:latin typeface="Calibri"/>
                </a:rPr>
                <a:t>Inverse demand function:</a:t>
              </a:r>
              <a:r>
                <a:rPr sz="1700" b="0" i="1" u="none">
                  <a:solidFill>
                    <a:srgbClr val="C00000"/>
                  </a:solidFill>
                  <a:latin typeface="Calibri"/>
                </a:rPr>
                <a:t>
P = 400 – Q/4</a:t>
              </a:r>
              <a:r>
                <a:rPr sz="1700" b="0" i="0" u="sng">
                  <a:solidFill>
                    <a:srgbClr val="0B2B4E"/>
                  </a:solidFill>
                  <a:latin typeface="Calibri"/>
                </a:rPr>
                <a:t>
Total Revenue:  TR = P∙Q</a:t>
              </a:r>
              <a:r>
                <a:rPr sz="1700" b="0" i="0" u="sng">
                  <a:solidFill>
                    <a:srgbClr val="0B2B4E"/>
                  </a:solidFill>
                  <a:latin typeface="Calibri"/>
                </a:rPr>
                <a:t>
Plug in for P:</a:t>
              </a:r>
              <a:r>
                <a:rPr sz="1700" b="0" i="1" u="none">
                  <a:solidFill>
                    <a:srgbClr val="0B2B4E"/>
                  </a:solidFill>
                  <a:latin typeface="Calibri"/>
                </a:rPr>
                <a:t>
TR = (400 – Q/4) ∙ Q</a:t>
              </a:r>
              <a:r>
                <a:rPr sz="1700" b="0" i="1" u="none">
                  <a:solidFill>
                    <a:srgbClr val="0B2B4E"/>
                  </a:solidFill>
                  <a:latin typeface="Calibri"/>
                </a:rPr>
                <a:t>
      = 400Q – Q²/4</a:t>
              </a:r>
            </a:p>
          </p:txBody>
        </p:sp>
      </p:grpSp>
      <p:sp>
        <p:nvSpPr>
          <p:cNvPr id="32" name="Rectangle 3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5" name="TextBox 34"/>
          <p:cNvSpPr txBox="1"/>
          <p:nvPr/>
        </p:nvSpPr>
        <p:spPr>
          <a:xfrm>
            <a:off x="11475720" y="6583680"/>
            <a:ext cx="502920" cy="292608"/>
          </a:xfrm>
          <a:prstGeom prst="rect">
            <a:avLst/>
          </a:prstGeom>
          <a:noFill/>
        </p:spPr>
        <p:txBody>
          <a:bodyPr wrap="none" lIns="0" rIns="0" tIns="0" bIns="0">
            <a:spAutoFit/>
          </a:bodyPr>
          <a:lstStyle/>
          <a:p>
            <a:pPr algn="r"/>
            <a:fld id="{9F0D0457-7DD9-5B24-A8D9-45B32F967A96}" type="slidenum">
              <a:rPr lang="en-US" sz="1200" dirty="0">
                <a:solidFill>
                  <a:srgbClr val="555B66"/>
                </a:solidFill>
                <a:latin typeface="Calibri"/>
              </a:rPr>
              <a:t>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00"/>
                                        <p:tgtEl>
                                          <p:spTgt spid="2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5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500"/>
                                        <p:tgtEl>
                                          <p:spTgt spid="2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5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Effect of Price Changes on Total Revenue: A Graphical Approach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880360" y="3108960"/>
            <a:ext cx="1645920" cy="822960"/>
          </a:xfrm>
          <a:prstGeom prst="rect">
            <a:avLst/>
          </a:prstGeom>
          <a:solidFill>
            <a:srgbClr val="F2C4C4"/>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26280" y="3931920"/>
            <a:ext cx="1097280" cy="2057400"/>
          </a:xfrm>
          <a:prstGeom prst="rect">
            <a:avLst/>
          </a:prstGeom>
          <a:solidFill>
            <a:srgbClr val="C9E3C9"/>
          </a:solidFill>
          <a:ln w="12700">
            <a:solidFill>
              <a:srgbClr val="1B5E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flipV="1">
            <a:off x="2880360" y="1709928"/>
            <a:ext cx="0" cy="4279392"/>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0360" y="5989320"/>
            <a:ext cx="5650992"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77439" y="1463039"/>
            <a:ext cx="640080" cy="320040"/>
          </a:xfrm>
          <a:prstGeom prst="rect">
            <a:avLst/>
          </a:prstGeom>
          <a:noFill/>
        </p:spPr>
        <p:txBody>
          <a:bodyPr wrap="square" lIns="0" rIns="0" tIns="0" bIns="0">
            <a:spAutoFit/>
          </a:bodyPr>
          <a:lstStyle/>
          <a:p>
            <a:pPr algn="l"/>
            <a:r>
              <a:rPr sz="2000" b="1" i="1" u="none">
                <a:solidFill>
                  <a:srgbClr val="0B2B4E"/>
                </a:solidFill>
                <a:latin typeface="Calibri"/>
              </a:rPr>
              <a:t>P</a:t>
            </a:r>
          </a:p>
        </p:txBody>
      </p:sp>
      <p:sp>
        <p:nvSpPr>
          <p:cNvPr id="12" name="TextBox 11"/>
          <p:cNvSpPr txBox="1"/>
          <p:nvPr/>
        </p:nvSpPr>
        <p:spPr>
          <a:xfrm>
            <a:off x="8412480" y="5943600"/>
            <a:ext cx="640080" cy="320040"/>
          </a:xfrm>
          <a:prstGeom prst="rect">
            <a:avLst/>
          </a:prstGeom>
          <a:noFill/>
        </p:spPr>
        <p:txBody>
          <a:bodyPr wrap="square" lIns="0" rIns="0" tIns="0" bIns="0">
            <a:spAutoFit/>
          </a:bodyPr>
          <a:lstStyle/>
          <a:p>
            <a:pPr algn="l"/>
            <a:r>
              <a:rPr sz="2000" b="1" i="1" u="none">
                <a:solidFill>
                  <a:srgbClr val="0B2B4E"/>
                </a:solidFill>
                <a:latin typeface="Calibri"/>
              </a:rPr>
              <a:t>Q</a:t>
            </a:r>
          </a:p>
        </p:txBody>
      </p:sp>
      <p:cxnSp>
        <p:nvCxnSpPr>
          <p:cNvPr id="13" name="Connector 12"/>
          <p:cNvCxnSpPr/>
          <p:nvPr/>
        </p:nvCxnSpPr>
        <p:spPr>
          <a:xfrm>
            <a:off x="3209544" y="2121407"/>
            <a:ext cx="4828032" cy="3621025"/>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79208" y="4919472"/>
            <a:ext cx="1463040" cy="365760"/>
          </a:xfrm>
          <a:prstGeom prst="rect">
            <a:avLst/>
          </a:prstGeom>
          <a:noFill/>
        </p:spPr>
        <p:txBody>
          <a:bodyPr wrap="square" lIns="0" rIns="0" tIns="0" bIns="0">
            <a:spAutoFit/>
          </a:bodyPr>
          <a:lstStyle/>
          <a:p>
            <a:pPr algn="l"/>
            <a:r>
              <a:rPr sz="1800" b="1" i="1" u="none">
                <a:solidFill>
                  <a:srgbClr val="0B2B4E"/>
                </a:solidFill>
                <a:latin typeface="Calibri"/>
              </a:rPr>
              <a:t>Demand</a:t>
            </a:r>
          </a:p>
        </p:txBody>
      </p:sp>
      <p:sp>
        <p:nvSpPr>
          <p:cNvPr id="15" name="TextBox 14"/>
          <p:cNvSpPr txBox="1"/>
          <p:nvPr/>
        </p:nvSpPr>
        <p:spPr>
          <a:xfrm>
            <a:off x="1901952" y="2980944"/>
            <a:ext cx="868680" cy="274320"/>
          </a:xfrm>
          <a:prstGeom prst="rect">
            <a:avLst/>
          </a:prstGeom>
          <a:noFill/>
        </p:spPr>
        <p:txBody>
          <a:bodyPr wrap="square" lIns="0" rIns="0" tIns="0" bIns="0">
            <a:spAutoFit/>
          </a:bodyPr>
          <a:lstStyle/>
          <a:p>
            <a:pPr algn="r"/>
            <a:r>
              <a:rPr sz="1800" b="0" i="0" u="none">
                <a:solidFill>
                  <a:srgbClr val="0B2B4E"/>
                </a:solidFill>
                <a:latin typeface="Calibri"/>
              </a:rPr>
              <a:t>P₀</a:t>
            </a:r>
          </a:p>
        </p:txBody>
      </p:sp>
      <p:cxnSp>
        <p:nvCxnSpPr>
          <p:cNvPr id="16" name="Connector 15"/>
          <p:cNvCxnSpPr/>
          <p:nvPr/>
        </p:nvCxnSpPr>
        <p:spPr>
          <a:xfrm>
            <a:off x="2880360" y="3108960"/>
            <a:ext cx="1645920" cy="0"/>
          </a:xfrm>
          <a:prstGeom prst="line">
            <a:avLst/>
          </a:prstGeom>
          <a:ln w="1270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901952" y="3803904"/>
            <a:ext cx="868680" cy="274320"/>
          </a:xfrm>
          <a:prstGeom prst="rect">
            <a:avLst/>
          </a:prstGeom>
          <a:noFill/>
        </p:spPr>
        <p:txBody>
          <a:bodyPr wrap="square" lIns="0" rIns="0" tIns="0" bIns="0">
            <a:spAutoFit/>
          </a:bodyPr>
          <a:lstStyle/>
          <a:p>
            <a:pPr algn="r"/>
            <a:r>
              <a:rPr sz="1800" b="0" i="0" u="none">
                <a:solidFill>
                  <a:srgbClr val="0B2B4E"/>
                </a:solidFill>
                <a:latin typeface="Calibri"/>
              </a:rPr>
              <a:t>P₁</a:t>
            </a:r>
          </a:p>
        </p:txBody>
      </p:sp>
      <p:cxnSp>
        <p:nvCxnSpPr>
          <p:cNvPr id="18" name="Connector 17"/>
          <p:cNvCxnSpPr/>
          <p:nvPr/>
        </p:nvCxnSpPr>
        <p:spPr>
          <a:xfrm>
            <a:off x="2880360" y="3931920"/>
            <a:ext cx="2743200" cy="0"/>
          </a:xfrm>
          <a:prstGeom prst="line">
            <a:avLst/>
          </a:prstGeom>
          <a:ln w="1270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069080" y="6044183"/>
            <a:ext cx="914400" cy="274320"/>
          </a:xfrm>
          <a:prstGeom prst="rect">
            <a:avLst/>
          </a:prstGeom>
          <a:noFill/>
        </p:spPr>
        <p:txBody>
          <a:bodyPr wrap="square" lIns="0" rIns="0" tIns="0" bIns="0">
            <a:spAutoFit/>
          </a:bodyPr>
          <a:lstStyle/>
          <a:p>
            <a:pPr algn="ctr"/>
            <a:r>
              <a:rPr sz="1800" b="0" i="0" u="none">
                <a:solidFill>
                  <a:srgbClr val="0B2B4E"/>
                </a:solidFill>
                <a:latin typeface="Calibri"/>
              </a:rPr>
              <a:t>Q₀</a:t>
            </a:r>
          </a:p>
        </p:txBody>
      </p:sp>
      <p:cxnSp>
        <p:nvCxnSpPr>
          <p:cNvPr id="20" name="Connector 19"/>
          <p:cNvCxnSpPr/>
          <p:nvPr/>
        </p:nvCxnSpPr>
        <p:spPr>
          <a:xfrm>
            <a:off x="4526280" y="3108960"/>
            <a:ext cx="0" cy="2880360"/>
          </a:xfrm>
          <a:prstGeom prst="line">
            <a:avLst/>
          </a:prstGeom>
          <a:ln w="1270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166360" y="6044183"/>
            <a:ext cx="914400" cy="274320"/>
          </a:xfrm>
          <a:prstGeom prst="rect">
            <a:avLst/>
          </a:prstGeom>
          <a:noFill/>
        </p:spPr>
        <p:txBody>
          <a:bodyPr wrap="square" lIns="0" rIns="0" tIns="0" bIns="0">
            <a:spAutoFit/>
          </a:bodyPr>
          <a:lstStyle/>
          <a:p>
            <a:pPr algn="ctr"/>
            <a:r>
              <a:rPr sz="1800" b="0" i="0" u="none">
                <a:solidFill>
                  <a:srgbClr val="0B2B4E"/>
                </a:solidFill>
                <a:latin typeface="Calibri"/>
              </a:rPr>
              <a:t>Q₁</a:t>
            </a:r>
          </a:p>
        </p:txBody>
      </p:sp>
      <p:cxnSp>
        <p:nvCxnSpPr>
          <p:cNvPr id="22" name="Connector 21"/>
          <p:cNvCxnSpPr/>
          <p:nvPr/>
        </p:nvCxnSpPr>
        <p:spPr>
          <a:xfrm>
            <a:off x="5623560" y="3931920"/>
            <a:ext cx="0" cy="2057400"/>
          </a:xfrm>
          <a:prstGeom prst="line">
            <a:avLst/>
          </a:prstGeom>
          <a:ln w="1270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99816" y="4178808"/>
            <a:ext cx="1280160" cy="365760"/>
          </a:xfrm>
          <a:prstGeom prst="rect">
            <a:avLst/>
          </a:prstGeom>
          <a:noFill/>
        </p:spPr>
        <p:txBody>
          <a:bodyPr wrap="square" lIns="0" rIns="0" tIns="0" bIns="0">
            <a:spAutoFit/>
          </a:bodyPr>
          <a:lstStyle/>
          <a:p>
            <a:pPr algn="l"/>
            <a:r>
              <a:rPr sz="1600" b="1" i="1" u="none">
                <a:solidFill>
                  <a:srgbClr val="C00000"/>
                </a:solidFill>
                <a:latin typeface="Calibri"/>
              </a:rPr>
              <a:t>TR₀</a:t>
            </a:r>
          </a:p>
        </p:txBody>
      </p:sp>
      <p:sp>
        <p:nvSpPr>
          <p:cNvPr id="24" name="TextBox 23"/>
          <p:cNvSpPr txBox="1"/>
          <p:nvPr/>
        </p:nvSpPr>
        <p:spPr>
          <a:xfrm>
            <a:off x="3758184" y="4754879"/>
            <a:ext cx="1280160" cy="365760"/>
          </a:xfrm>
          <a:prstGeom prst="rect">
            <a:avLst/>
          </a:prstGeom>
          <a:noFill/>
        </p:spPr>
        <p:txBody>
          <a:bodyPr wrap="square" lIns="0" rIns="0" tIns="0" bIns="0">
            <a:spAutoFit/>
          </a:bodyPr>
          <a:lstStyle/>
          <a:p>
            <a:pPr algn="l"/>
            <a:r>
              <a:rPr sz="1600" b="1" i="1" u="none">
                <a:solidFill>
                  <a:srgbClr val="1B5E20"/>
                </a:solidFill>
                <a:latin typeface="Calibri"/>
              </a:rPr>
              <a:t>TR₁</a:t>
            </a:r>
          </a:p>
        </p:txBody>
      </p:sp>
      <p:grpSp>
        <p:nvGrpSpPr>
          <p:cNvPr id="136" name="Group pair 136"/>
          <p:cNvGrpSpPr/>
          <p:nvPr/>
        </p:nvGrpSpPr>
        <p:grpSpPr>
          <a:xfrm>
            <a:off x="8732520" y="1691640"/>
            <a:ext cx="3108960" cy="868680"/>
            <a:chOff x="8732520" y="1691640"/>
            <a:chExt cx="3108960" cy="868680"/>
          </a:xfrm>
        </p:grpSpPr>
        <p:sp>
          <p:nvSpPr>
            <p:cNvPr id="25" name="Rounded Rectangle 24"/>
            <p:cNvSpPr/>
            <p:nvPr/>
          </p:nvSpPr>
          <p:spPr>
            <a:xfrm>
              <a:off x="8732520" y="1691640"/>
              <a:ext cx="3108960" cy="8686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15400" y="1801368"/>
              <a:ext cx="2743200" cy="649224"/>
            </a:xfrm>
            <a:prstGeom prst="rect">
              <a:avLst/>
            </a:prstGeom>
            <a:noFill/>
          </p:spPr>
          <p:txBody>
            <a:bodyPr wrap="square" lIns="45720" rIns="45720" tIns="0" bIns="0" anchor="ctr">
              <a:spAutoFit/>
            </a:bodyPr>
            <a:lstStyle/>
            <a:p>
              <a:pPr algn="l"/>
              <a:r>
                <a:rPr sz="1500" b="0" i="0" u="none">
                  <a:solidFill>
                    <a:srgbClr val="C00000"/>
                  </a:solidFill>
                  <a:latin typeface="Calibri"/>
                </a:rPr>
                <a:t>Reduction in TR from lower price</a:t>
              </a:r>
            </a:p>
          </p:txBody>
        </p:sp>
      </p:grpSp>
      <p:cxnSp>
        <p:nvCxnSpPr>
          <p:cNvPr id="27" name="Connector 26"/>
          <p:cNvCxnSpPr/>
          <p:nvPr/>
        </p:nvCxnSpPr>
        <p:spPr>
          <a:xfrm flipH="1">
            <a:off x="3703320" y="2148840"/>
            <a:ext cx="4983480" cy="1371599"/>
          </a:xfrm>
          <a:prstGeom prst="line">
            <a:avLst/>
          </a:prstGeom>
          <a:ln w="22225">
            <a:solidFill>
              <a:srgbClr val="C00000"/>
            </a:solidFill>
            <a:tailEnd type="triangle" w="med" h="med"/>
          </a:ln>
        </p:spPr>
        <p:style>
          <a:lnRef idx="2">
            <a:schemeClr val="accent1"/>
          </a:lnRef>
          <a:fillRef idx="0">
            <a:schemeClr val="accent1"/>
          </a:fillRef>
          <a:effectRef idx="1">
            <a:schemeClr val="accent1"/>
          </a:effectRef>
          <a:fontRef idx="minor">
            <a:schemeClr val="tx1"/>
          </a:fontRef>
        </p:style>
      </p:cxnSp>
      <p:grpSp>
        <p:nvGrpSpPr>
          <p:cNvPr id="137" name="Group pair 137"/>
          <p:cNvGrpSpPr/>
          <p:nvPr/>
        </p:nvGrpSpPr>
        <p:grpSpPr>
          <a:xfrm>
            <a:off x="8732520" y="2880360"/>
            <a:ext cx="3108960" cy="868680"/>
            <a:chOff x="8732520" y="2880360"/>
            <a:chExt cx="3108960" cy="868680"/>
          </a:xfrm>
        </p:grpSpPr>
        <p:sp>
          <p:nvSpPr>
            <p:cNvPr id="28" name="Rounded Rectangle 27"/>
            <p:cNvSpPr/>
            <p:nvPr/>
          </p:nvSpPr>
          <p:spPr>
            <a:xfrm>
              <a:off x="8732520" y="2880360"/>
              <a:ext cx="3108960" cy="8686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15400" y="2990088"/>
              <a:ext cx="2743200" cy="649224"/>
            </a:xfrm>
            <a:prstGeom prst="rect">
              <a:avLst/>
            </a:prstGeom>
            <a:noFill/>
          </p:spPr>
          <p:txBody>
            <a:bodyPr wrap="square" lIns="45720" rIns="45720" tIns="0" bIns="0" anchor="ctr">
              <a:spAutoFit/>
            </a:bodyPr>
            <a:lstStyle/>
            <a:p>
              <a:pPr algn="l"/>
              <a:r>
                <a:rPr sz="1500" b="0" i="0" u="none">
                  <a:solidFill>
                    <a:srgbClr val="1B5E20"/>
                  </a:solidFill>
                  <a:latin typeface="Calibri"/>
                </a:rPr>
                <a:t>Increase in TR from higher volume</a:t>
              </a:r>
            </a:p>
          </p:txBody>
        </p:sp>
      </p:grpSp>
      <p:cxnSp>
        <p:nvCxnSpPr>
          <p:cNvPr id="30" name="Connector 29"/>
          <p:cNvCxnSpPr/>
          <p:nvPr/>
        </p:nvCxnSpPr>
        <p:spPr>
          <a:xfrm flipH="1">
            <a:off x="5074920" y="3337560"/>
            <a:ext cx="3611880" cy="1623060"/>
          </a:xfrm>
          <a:prstGeom prst="line">
            <a:avLst/>
          </a:prstGeom>
          <a:ln w="22225">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732520" y="4343400"/>
            <a:ext cx="3108960" cy="777240"/>
          </a:xfrm>
          <a:prstGeom prst="roundRect">
            <a:avLst>
              <a:gd name="adj" fmla="val 1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Which area is bigger?</a:t>
            </a:r>
          </a:p>
        </p:txBody>
      </p:sp>
      <p:sp>
        <p:nvSpPr>
          <p:cNvPr id="32" name="TextBox 31"/>
          <p:cNvSpPr txBox="1"/>
          <p:nvPr/>
        </p:nvSpPr>
        <p:spPr>
          <a:xfrm>
            <a:off x="8732520" y="5440680"/>
            <a:ext cx="320040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6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buNone/>
            </a:pPr>
            <a:r>
              <a:rPr sz="1600">
                <a:solidFill>
                  <a:srgbClr val="0B2B4E"/>
                </a:solidFill>
                <a:latin typeface="Calibri"/>
              </a:rPr>
              <a:t>Total revenue  </a:t>
            </a:r>
            <a:r>
              <a:rPr sz="1600" b="1" i="1">
                <a:solidFill>
                  <a:srgbClr val="0B2B4E"/>
                </a:solidFill>
                <a:latin typeface="Calibri"/>
              </a:rPr>
              <a:t>TR = P · Q</a:t>
            </a:r>
          </a:p>
        </p:txBody>
      </p:sp>
      <p:sp>
        <p:nvSpPr>
          <p:cNvPr id="33" name="Rectangle 3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6" name="TextBox 35"/>
          <p:cNvSpPr txBox="1"/>
          <p:nvPr/>
        </p:nvSpPr>
        <p:spPr>
          <a:xfrm>
            <a:off x="11475720" y="6583680"/>
            <a:ext cx="502920" cy="292608"/>
          </a:xfrm>
          <a:prstGeom prst="rect">
            <a:avLst/>
          </a:prstGeom>
          <a:noFill/>
        </p:spPr>
        <p:txBody>
          <a:bodyPr wrap="none" lIns="0" rIns="0" tIns="0" bIns="0">
            <a:spAutoFit/>
          </a:bodyPr>
          <a:lstStyle/>
          <a:p>
            <a:pPr algn="r"/>
            <a:fld id="{DD0FF23F-2665-581F-B7D1-2CC5B078E18B}" type="slidenum">
              <a:rPr lang="en-US" sz="1200" dirty="0">
                <a:solidFill>
                  <a:srgbClr val="555B66"/>
                </a:solidFill>
                <a:latin typeface="Calibri"/>
              </a:rPr>
              <a:t>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500"/>
                                        <p:tgtEl>
                                          <p:spTgt spid="18"/>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5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500"/>
                                        <p:tgtEl>
                                          <p:spTgt spid="2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5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6" dur="500"/>
                                        <p:tgtEl>
                                          <p:spTgt spid="2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fade">
                                      <p:cBhvr>
                                        <p:cTn id="41" dur="500"/>
                                        <p:tgtEl>
                                          <p:spTgt spid="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6"/>
                                        </p:tgtEl>
                                        <p:attrNameLst>
                                          <p:attrName>style.visibility</p:attrName>
                                        </p:attrNameLst>
                                      </p:cBhvr>
                                      <p:to>
                                        <p:strVal val="visible"/>
                                      </p:to>
                                    </p:set>
                                    <p:animEffect transition="in" filter="fade">
                                      <p:cBhvr>
                                        <p:cTn id="44" dur="500"/>
                                        <p:tgtEl>
                                          <p:spTgt spid="13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500"/>
                                        <p:tgtEl>
                                          <p:spTgt spid="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37"/>
                                        </p:tgtEl>
                                        <p:attrNameLst>
                                          <p:attrName>style.visibility</p:attrName>
                                        </p:attrNameLst>
                                      </p:cBhvr>
                                      <p:to>
                                        <p:strVal val="visible"/>
                                      </p:to>
                                    </p:set>
                                    <p:animEffect transition="in" filter="fade">
                                      <p:cBhvr>
                                        <p:cTn id="55" dur="500"/>
                                        <p:tgtEl>
                                          <p:spTgt spid="1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0"/>
                                        </p:tgtEl>
                                        <p:attrNameLst>
                                          <p:attrName>style.visibility</p:attrName>
                                        </p:attrNameLst>
                                      </p:cBhvr>
                                      <p:to>
                                        <p:strVal val="visible"/>
                                      </p:to>
                                    </p:set>
                                    <p:animEffect transition="in" filter="fade">
                                      <p:cBhvr>
                                        <p:cTn id="58" dur="500"/>
                                        <p:tgtEl>
                                          <p:spTgt spid="3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500"/>
                                        <p:tgtEl>
                                          <p:spTgt spid="3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2"/>
                                        </p:tgtEl>
                                        <p:attrNameLst>
                                          <p:attrName>style.visibility</p:attrName>
                                        </p:attrNameLst>
                                      </p:cBhvr>
                                      <p:to>
                                        <p:strVal val="visible"/>
                                      </p:to>
                                    </p:set>
                                    <p:animEffect transition="in" filter="fade">
                                      <p:cBhvr>
                                        <p:cTn id="66"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Own-Price Elasticity (Eᴅ) and Total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600200" y="1572768"/>
            <a:ext cx="0" cy="2130552"/>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600200" y="3703320"/>
            <a:ext cx="5925312" cy="0"/>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97280" y="1353312"/>
            <a:ext cx="640080" cy="292608"/>
          </a:xfrm>
          <a:prstGeom prst="rect">
            <a:avLst/>
          </a:prstGeom>
          <a:noFill/>
        </p:spPr>
        <p:txBody>
          <a:bodyPr wrap="square" lIns="0" rIns="0" tIns="0" bIns="0">
            <a:spAutoFit/>
          </a:bodyPr>
          <a:lstStyle/>
          <a:p>
            <a:pPr algn="l"/>
            <a:r>
              <a:rPr sz="1600" b="1" i="1" u="none">
                <a:solidFill>
                  <a:srgbClr val="0B2B4E"/>
                </a:solidFill>
                <a:latin typeface="Calibri"/>
              </a:rPr>
              <a:t>P</a:t>
            </a:r>
          </a:p>
        </p:txBody>
      </p:sp>
      <p:sp>
        <p:nvSpPr>
          <p:cNvPr id="10" name="TextBox 9"/>
          <p:cNvSpPr txBox="1"/>
          <p:nvPr/>
        </p:nvSpPr>
        <p:spPr>
          <a:xfrm>
            <a:off x="7379208" y="3657600"/>
            <a:ext cx="548640" cy="292608"/>
          </a:xfrm>
          <a:prstGeom prst="rect">
            <a:avLst/>
          </a:prstGeom>
          <a:noFill/>
        </p:spPr>
        <p:txBody>
          <a:bodyPr wrap="square" lIns="0" rIns="0" tIns="0" bIns="0">
            <a:spAutoFit/>
          </a:bodyPr>
          <a:lstStyle/>
          <a:p>
            <a:pPr algn="l"/>
            <a:r>
              <a:rPr sz="1600" b="1" i="1" u="none">
                <a:solidFill>
                  <a:srgbClr val="0B2B4E"/>
                </a:solidFill>
                <a:latin typeface="Calibri"/>
              </a:rPr>
              <a:t>Q</a:t>
            </a:r>
          </a:p>
        </p:txBody>
      </p:sp>
      <p:cxnSp>
        <p:nvCxnSpPr>
          <p:cNvPr id="11" name="Connector 10"/>
          <p:cNvCxnSpPr/>
          <p:nvPr/>
        </p:nvCxnSpPr>
        <p:spPr>
          <a:xfrm flipV="1">
            <a:off x="1600200" y="4133087"/>
            <a:ext cx="0" cy="2130553"/>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00200" y="6263640"/>
            <a:ext cx="5925312" cy="0"/>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97280" y="3913631"/>
            <a:ext cx="640080" cy="292608"/>
          </a:xfrm>
          <a:prstGeom prst="rect">
            <a:avLst/>
          </a:prstGeom>
          <a:noFill/>
        </p:spPr>
        <p:txBody>
          <a:bodyPr wrap="square" lIns="0" rIns="0" tIns="0" bIns="0">
            <a:spAutoFit/>
          </a:bodyPr>
          <a:lstStyle/>
          <a:p>
            <a:pPr algn="l"/>
            <a:r>
              <a:rPr sz="1600" b="1" i="1" u="none">
                <a:solidFill>
                  <a:srgbClr val="0B2B4E"/>
                </a:solidFill>
                <a:latin typeface="Calibri"/>
              </a:rPr>
              <a:t>TR</a:t>
            </a:r>
          </a:p>
        </p:txBody>
      </p:sp>
      <p:sp>
        <p:nvSpPr>
          <p:cNvPr id="14" name="TextBox 13"/>
          <p:cNvSpPr txBox="1"/>
          <p:nvPr/>
        </p:nvSpPr>
        <p:spPr>
          <a:xfrm>
            <a:off x="7379208" y="6217920"/>
            <a:ext cx="548640" cy="292608"/>
          </a:xfrm>
          <a:prstGeom prst="rect">
            <a:avLst/>
          </a:prstGeom>
          <a:noFill/>
        </p:spPr>
        <p:txBody>
          <a:bodyPr wrap="square" lIns="0" rIns="0" tIns="0" bIns="0">
            <a:spAutoFit/>
          </a:bodyPr>
          <a:lstStyle/>
          <a:p>
            <a:pPr algn="l"/>
            <a:r>
              <a:rPr sz="1600" b="1" i="1" u="none">
                <a:solidFill>
                  <a:srgbClr val="0B2B4E"/>
                </a:solidFill>
                <a:latin typeface="Calibri"/>
              </a:rPr>
              <a:t>Q</a:t>
            </a:r>
          </a:p>
        </p:txBody>
      </p:sp>
      <p:cxnSp>
        <p:nvCxnSpPr>
          <p:cNvPr id="15" name="Connector 14"/>
          <p:cNvCxnSpPr/>
          <p:nvPr/>
        </p:nvCxnSpPr>
        <p:spPr>
          <a:xfrm>
            <a:off x="1600200" y="1955799"/>
            <a:ext cx="5120640" cy="174752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84848" y="3310127"/>
            <a:ext cx="457200" cy="320040"/>
          </a:xfrm>
          <a:prstGeom prst="rect">
            <a:avLst/>
          </a:prstGeom>
          <a:noFill/>
        </p:spPr>
        <p:txBody>
          <a:bodyPr wrap="square" lIns="0" rIns="0" tIns="0" bIns="0">
            <a:spAutoFit/>
          </a:bodyPr>
          <a:lstStyle/>
          <a:p>
            <a:pPr algn="l"/>
            <a:r>
              <a:rPr sz="1800" b="1" i="1" u="none">
                <a:solidFill>
                  <a:srgbClr val="C00000"/>
                </a:solidFill>
                <a:latin typeface="Calibri"/>
              </a:rPr>
              <a:t>D</a:t>
            </a:r>
          </a:p>
        </p:txBody>
      </p:sp>
      <p:sp>
        <p:nvSpPr>
          <p:cNvPr id="17" name="Oval 16"/>
          <p:cNvSpPr/>
          <p:nvPr/>
        </p:nvSpPr>
        <p:spPr>
          <a:xfrm>
            <a:off x="4105656" y="2774695"/>
            <a:ext cx="109728" cy="109728"/>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540" y="2589276"/>
            <a:ext cx="1463040" cy="320040"/>
          </a:xfrm>
          <a:prstGeom prst="rect">
            <a:avLst/>
          </a:prstGeom>
          <a:noFill/>
        </p:spPr>
        <p:txBody>
          <a:bodyPr wrap="square" lIns="0" rIns="0" tIns="0" bIns="0">
            <a:spAutoFit/>
          </a:bodyPr>
          <a:lstStyle/>
          <a:p>
            <a:pPr algn="l"/>
            <a:r>
              <a:rPr sz="1500" b="1" i="0" u="none">
                <a:solidFill>
                  <a:srgbClr val="C00000"/>
                </a:solidFill>
                <a:latin typeface="Calibri"/>
              </a:rPr>
              <a:t>Eᴅ = −1</a:t>
            </a:r>
          </a:p>
        </p:txBody>
      </p:sp>
      <p:sp>
        <p:nvSpPr>
          <p:cNvPr id="19" name="TextBox 18"/>
          <p:cNvSpPr txBox="1"/>
          <p:nvPr/>
        </p:nvSpPr>
        <p:spPr>
          <a:xfrm>
            <a:off x="1792224" y="1824735"/>
            <a:ext cx="2194560" cy="292608"/>
          </a:xfrm>
          <a:prstGeom prst="rect">
            <a:avLst/>
          </a:prstGeom>
          <a:noFill/>
        </p:spPr>
        <p:txBody>
          <a:bodyPr wrap="square" lIns="0" rIns="0" tIns="0" bIns="0">
            <a:spAutoFit/>
          </a:bodyPr>
          <a:lstStyle/>
          <a:p>
            <a:pPr algn="l"/>
            <a:r>
              <a:rPr sz="1400" b="1" i="0" u="none">
                <a:solidFill>
                  <a:srgbClr val="0B2B4E"/>
                </a:solidFill>
                <a:latin typeface="Calibri"/>
              </a:rPr>
              <a:t>Eᴅ &lt; −1   “elastic”</a:t>
            </a:r>
          </a:p>
        </p:txBody>
      </p:sp>
      <p:sp>
        <p:nvSpPr>
          <p:cNvPr id="20" name="TextBox 19"/>
          <p:cNvSpPr txBox="1"/>
          <p:nvPr/>
        </p:nvSpPr>
        <p:spPr>
          <a:xfrm>
            <a:off x="4480560" y="3091688"/>
            <a:ext cx="2560320" cy="292608"/>
          </a:xfrm>
          <a:prstGeom prst="rect">
            <a:avLst/>
          </a:prstGeom>
          <a:noFill/>
        </p:spPr>
        <p:txBody>
          <a:bodyPr wrap="square" lIns="0" rIns="0" tIns="0" bIns="0">
            <a:spAutoFit/>
          </a:bodyPr>
          <a:lstStyle/>
          <a:p>
            <a:pPr algn="l"/>
            <a:r>
              <a:rPr sz="1400" b="1" i="0" u="none">
                <a:solidFill>
                  <a:srgbClr val="0B2B4E"/>
                </a:solidFill>
                <a:latin typeface="Calibri"/>
              </a:rPr>
              <a:t>−1 &lt; Eᴅ &lt; 0   “inelastic”</a:t>
            </a:r>
          </a:p>
        </p:txBody>
      </p:sp>
      <p:sp>
        <p:nvSpPr>
          <p:cNvPr id="21" name="Rectangle 20"/>
          <p:cNvSpPr/>
          <p:nvPr/>
        </p:nvSpPr>
        <p:spPr>
          <a:xfrm>
            <a:off x="1600200" y="3933613"/>
            <a:ext cx="5120640" cy="2330027"/>
          </a:xfrm>
          <a:custGeom>
            <a:avLst/>
            <a:gdLst/>
            <a:ahLst/>
            <a:cxnLst/>
            <a:rect l="0" t="0" r="5120640" b="2330027"/>
            <a:pathLst>
              <a:path w="5120640" h="2330027">
                <a:moveTo>
                  <a:pt x="0" y="2330027"/>
                </a:moveTo>
                <a:cubicBezTo>
                  <a:pt x="1706880" y="0"/>
                  <a:pt x="3413760" y="0"/>
                  <a:pt x="5120640" y="2330027"/>
                </a:cubicBezTo>
              </a:path>
            </a:pathLst>
          </a:custGeom>
          <a:noFill/>
          <a:effectLst/>
          <a:ln w="38100" cap="rnd">
            <a:solidFill>
              <a:srgbClr val="E09F3E"/>
            </a:solidFill>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00700" y="4843779"/>
            <a:ext cx="731520" cy="320040"/>
          </a:xfrm>
          <a:prstGeom prst="rect">
            <a:avLst/>
          </a:prstGeom>
          <a:noFill/>
        </p:spPr>
        <p:txBody>
          <a:bodyPr wrap="square" lIns="0" rIns="0" tIns="0" bIns="0">
            <a:spAutoFit/>
          </a:bodyPr>
          <a:lstStyle/>
          <a:p>
            <a:pPr algn="l"/>
            <a:r>
              <a:rPr sz="1600" b="1" i="1" u="none">
                <a:solidFill>
                  <a:srgbClr val="E09F3E"/>
                </a:solidFill>
                <a:latin typeface="Calibri"/>
              </a:rPr>
              <a:t>TR</a:t>
            </a:r>
          </a:p>
        </p:txBody>
      </p:sp>
      <p:cxnSp>
        <p:nvCxnSpPr>
          <p:cNvPr id="23" name="Connector 22"/>
          <p:cNvCxnSpPr/>
          <p:nvPr/>
        </p:nvCxnSpPr>
        <p:spPr>
          <a:xfrm>
            <a:off x="4160520" y="2829559"/>
            <a:ext cx="0" cy="343408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grpSp>
        <p:nvGrpSpPr>
          <p:cNvPr id="133" name="Group pair 133"/>
          <p:cNvGrpSpPr/>
          <p:nvPr/>
        </p:nvGrpSpPr>
        <p:grpSpPr>
          <a:xfrm>
            <a:off x="8001000" y="1554480"/>
            <a:ext cx="3886200" cy="960120"/>
            <a:chOff x="8001000" y="1554480"/>
            <a:chExt cx="3886200" cy="960120"/>
          </a:xfrm>
        </p:grpSpPr>
        <p:sp>
          <p:nvSpPr>
            <p:cNvPr id="24" name="Rounded Rectangle 23"/>
            <p:cNvSpPr/>
            <p:nvPr/>
          </p:nvSpPr>
          <p:spPr>
            <a:xfrm>
              <a:off x="8001000" y="1554480"/>
              <a:ext cx="3886200" cy="9601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80" y="1664208"/>
              <a:ext cx="3520440" cy="740664"/>
            </a:xfrm>
            <a:prstGeom prst="rect">
              <a:avLst/>
            </a:prstGeom>
            <a:noFill/>
          </p:spPr>
          <p:txBody>
            <a:bodyPr wrap="square" lIns="45720" rIns="45720" tIns="0" bIns="0" anchor="ctr">
              <a:spAutoFit/>
            </a:bodyPr>
            <a:lstStyle/>
            <a:p>
              <a:pPr algn="l"/>
              <a:r>
                <a:rPr sz="1600" b="0" i="0" u="sng">
                  <a:solidFill>
                    <a:srgbClr val="0B2B4E"/>
                  </a:solidFill>
                  <a:latin typeface="Calibri"/>
                </a:rPr>
                <a:t>Inverse demand function:</a:t>
              </a:r>
              <a:r>
                <a:rPr sz="1600" b="0" i="1" u="none">
                  <a:solidFill>
                    <a:srgbClr val="C00000"/>
                  </a:solidFill>
                  <a:latin typeface="Calibri"/>
                </a:rPr>
                <a:t>
P = 400 – Q/4</a:t>
              </a:r>
            </a:p>
          </p:txBody>
        </p:sp>
      </p:grpSp>
      <p:grpSp>
        <p:nvGrpSpPr>
          <p:cNvPr id="134" name="Group pair 134"/>
          <p:cNvGrpSpPr/>
          <p:nvPr/>
        </p:nvGrpSpPr>
        <p:grpSpPr>
          <a:xfrm>
            <a:off x="8001000" y="2834640"/>
            <a:ext cx="3886200" cy="1371600"/>
            <a:chOff x="8001000" y="2834640"/>
            <a:chExt cx="3886200" cy="1371600"/>
          </a:xfrm>
        </p:grpSpPr>
        <p:sp>
          <p:nvSpPr>
            <p:cNvPr id="26" name="Rounded Rectangle 25"/>
            <p:cNvSpPr/>
            <p:nvPr/>
          </p:nvSpPr>
          <p:spPr>
            <a:xfrm>
              <a:off x="8001000" y="2834640"/>
              <a:ext cx="3886200" cy="13716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83880" y="2944368"/>
              <a:ext cx="3520440" cy="1152144"/>
            </a:xfrm>
            <a:prstGeom prst="rect">
              <a:avLst/>
            </a:prstGeom>
            <a:noFill/>
          </p:spPr>
          <p:txBody>
            <a:bodyPr wrap="square" lIns="45720" rIns="45720" tIns="0" bIns="0" anchor="ctr">
              <a:spAutoFit/>
            </a:bodyPr>
            <a:lstStyle/>
            <a:p>
              <a:pPr algn="l"/>
              <a:r>
                <a:rPr sz="1600" b="1" i="0" u="none">
                  <a:solidFill>
                    <a:srgbClr val="0B2B4E"/>
                  </a:solidFill>
                  <a:latin typeface="Calibri"/>
                </a:rPr>
                <a:t>Elastic region:</a:t>
              </a:r>
              <a:r>
                <a:rPr sz="1600" b="0" i="0" u="none">
                  <a:solidFill>
                    <a:srgbClr val="0B2B4E"/>
                  </a:solidFill>
                  <a:latin typeface="Calibri"/>
                </a:rPr>
                <a:t>  P falls → Q rises
→ </a:t>
              </a:r>
              <a:r>
                <a:rPr sz="1600" b="1" i="0" u="none">
                  <a:solidFill>
                    <a:srgbClr val="1B5E20"/>
                  </a:solidFill>
                  <a:latin typeface="Calibri"/>
                </a:rPr>
                <a:t>TR rises</a:t>
              </a:r>
            </a:p>
          </p:txBody>
        </p:sp>
      </p:grpSp>
      <p:grpSp>
        <p:nvGrpSpPr>
          <p:cNvPr id="135" name="Group pair 135"/>
          <p:cNvGrpSpPr/>
          <p:nvPr/>
        </p:nvGrpSpPr>
        <p:grpSpPr>
          <a:xfrm>
            <a:off x="8001000" y="4480560"/>
            <a:ext cx="3886200" cy="1371600"/>
            <a:chOff x="8001000" y="4480560"/>
            <a:chExt cx="3886200" cy="1371600"/>
          </a:xfrm>
        </p:grpSpPr>
        <p:sp>
          <p:nvSpPr>
            <p:cNvPr id="28" name="Rounded Rectangle 27"/>
            <p:cNvSpPr/>
            <p:nvPr/>
          </p:nvSpPr>
          <p:spPr>
            <a:xfrm>
              <a:off x="8001000" y="4480560"/>
              <a:ext cx="3886200" cy="13716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4590288"/>
              <a:ext cx="3520440" cy="1152144"/>
            </a:xfrm>
            <a:prstGeom prst="rect">
              <a:avLst/>
            </a:prstGeom>
            <a:noFill/>
          </p:spPr>
          <p:txBody>
            <a:bodyPr wrap="square" lIns="45720" rIns="45720" tIns="0" bIns="0" anchor="ctr">
              <a:spAutoFit/>
            </a:bodyPr>
            <a:lstStyle/>
            <a:p>
              <a:pPr algn="l"/>
              <a:r>
                <a:rPr sz="1600" b="1" i="0" u="none">
                  <a:solidFill>
                    <a:srgbClr val="0B2B4E"/>
                  </a:solidFill>
                  <a:latin typeface="Calibri"/>
                </a:rPr>
                <a:t>Inelastic region:</a:t>
              </a:r>
              <a:r>
                <a:rPr sz="1600" b="0" i="0" u="none">
                  <a:solidFill>
                    <a:srgbClr val="0B2B4E"/>
                  </a:solidFill>
                  <a:latin typeface="Calibri"/>
                </a:rPr>
                <a:t>  P falls → Q rises
→ </a:t>
              </a:r>
              <a:r>
                <a:rPr sz="1600" b="1" i="0" u="none">
                  <a:solidFill>
                    <a:srgbClr val="C00000"/>
                  </a:solidFill>
                  <a:latin typeface="Calibri"/>
                </a:rPr>
                <a:t>TR falls</a:t>
              </a:r>
            </a:p>
          </p:txBody>
        </p:sp>
      </p:grpSp>
      <p:sp>
        <p:nvSpPr>
          <p:cNvPr id="30" name="Rectangle 2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3" name="TextBox 32"/>
          <p:cNvSpPr txBox="1"/>
          <p:nvPr/>
        </p:nvSpPr>
        <p:spPr>
          <a:xfrm>
            <a:off x="11475720" y="6583680"/>
            <a:ext cx="502920" cy="292608"/>
          </a:xfrm>
          <a:prstGeom prst="rect">
            <a:avLst/>
          </a:prstGeom>
          <a:noFill/>
        </p:spPr>
        <p:txBody>
          <a:bodyPr wrap="none" lIns="0" rIns="0" tIns="0" bIns="0">
            <a:spAutoFit/>
          </a:bodyPr>
          <a:lstStyle/>
          <a:p>
            <a:pPr algn="r"/>
            <a:fld id="{30F67572-56A1-533B-9B3B-08B9F7B2B9A8}" type="slidenum">
              <a:rPr lang="en-US" sz="1200" dirty="0">
                <a:solidFill>
                  <a:srgbClr val="555B66"/>
                </a:solidFill>
                <a:latin typeface="Calibri"/>
              </a:rPr>
              <a:t>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500"/>
                                        <p:tgtEl>
                                          <p:spTgt spid="1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500"/>
                                        <p:tgtEl>
                                          <p:spTgt spid="2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00"/>
                                        <p:tgtEl>
                                          <p:spTgt spid="2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34"/>
                                        </p:tgtEl>
                                        <p:attrNameLst>
                                          <p:attrName>style.visibility</p:attrName>
                                        </p:attrNameLst>
                                      </p:cBhvr>
                                      <p:to>
                                        <p:strVal val="visible"/>
                                      </p:to>
                                    </p:set>
                                    <p:animEffect transition="in" filter="fade">
                                      <p:cBhvr>
                                        <p:cTn id="36" dur="500"/>
                                        <p:tgtEl>
                                          <p:spTgt spid="13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35"/>
                                        </p:tgtEl>
                                        <p:attrNameLst>
                                          <p:attrName>style.visibility</p:attrName>
                                        </p:attrNameLst>
                                      </p:cBhvr>
                                      <p:to>
                                        <p:strVal val="visible"/>
                                      </p:to>
                                    </p:set>
                                    <p:animEffect transition="in" filter="fade">
                                      <p:cBhvr>
                                        <p:cTn id="41" dur="5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Effect of a Price Change on Total Revenue: It Depends on Eᴅ</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00200"/>
            <a:ext cx="11338560" cy="123444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a:solidFill>
                  <a:srgbClr val="0B2B4E"/>
                </a:solidFill>
                <a:latin typeface="Calibri"/>
              </a:rPr>
              <a:t>Total Revenues:   </a:t>
            </a:r>
            <a14:m>
              <m:oMath>
                <m:r>
                  <m:rPr>
                    <m:sty m:val="p"/>
                  </m:rPr>
                  <a:rPr lang="en-US" b="0" i="0" sz="2400">
                    <a:solidFill>
                      <a:srgbClr val="0B2B4E"/>
                    </a:solidFill>
                    <a:latin typeface="Cambria Math"/>
                  </a:rPr>
                  <m:t xml:space="preserve">TR</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P</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Q</m:t>
                </m:r>
              </m:oMath>
            </a14:m>
            <a:endParaRPr lang="en-US"/>
          </a:p>
          <a:p xmlns:m="http://schemas.openxmlformats.org/officeDocument/2006/math" xmlns:a14="http://schemas.microsoft.com/office/drawing/2010/main">
            <a:r>
              <a:rPr lang="en-US" sz="2400">
                <a:solidFill>
                  <a:srgbClr val="0B2B4E"/>
                </a:solidFill>
                <a:latin typeface="Calibri"/>
              </a:rPr>
              <a:t>In % changes, this implies:   </a:t>
            </a:r>
            <a14:m>
              <m:oMath>
                <m:r>
                  <m:rPr>
                    <m:sty m:val="p"/>
                  </m:rPr>
                  <a:rPr lang="en-US" b="0" i="0" sz="2400">
                    <a:solidFill>
                      <a:srgbClr val="0B2B4E"/>
                    </a:solidFill>
                    <a:latin typeface="Cambria Math"/>
                  </a:rPr>
                  <m:t xml:space="preserve">%Δ</m:t>
                </m:r>
                <m:r>
                  <m:rPr>
                    <m:sty m:val="p"/>
                  </m:rPr>
                  <a:rPr lang="en-US" b="0" i="0" sz="2400">
                    <a:solidFill>
                      <a:srgbClr val="0B2B4E"/>
                    </a:solidFill>
                    <a:latin typeface="Cambria Math"/>
                  </a:rPr>
                  <m:t xml:space="preserve">TR</m:t>
                </m:r>
                <m:r>
                  <m:rPr>
                    <m:sty m:val="p"/>
                  </m:rPr>
                  <a:rPr lang="en-US" b="0" i="0" sz="2400">
                    <a:solidFill>
                      <a:srgbClr val="0B2B4E"/>
                    </a:solidFill>
                    <a:latin typeface="Cambria Math"/>
                  </a:rPr>
                  <m:t xml:space="preserve"> = %Δ</m:t>
                </m:r>
                <m:r>
                  <a:rPr lang="en-US" b="0" i="1" sz="2400">
                    <a:solidFill>
                      <a:srgbClr val="0B2B4E"/>
                    </a:solidFill>
                    <a:latin typeface="Cambria Math"/>
                    <a:ea typeface="Cambria Math"/>
                  </a:rPr>
                  <m:t>P</m:t>
                </m:r>
                <m:r>
                  <m:rPr>
                    <m:sty m:val="p"/>
                  </m:rPr>
                  <a:rPr lang="en-US" b="0" i="0" sz="2400">
                    <a:solidFill>
                      <a:srgbClr val="0B2B4E"/>
                    </a:solidFill>
                    <a:latin typeface="Cambria Math"/>
                  </a:rPr>
                  <m:t xml:space="preserve"> + %Δ</m:t>
                </m:r>
                <m:r>
                  <a:rPr lang="en-US" b="0" i="1" sz="2400">
                    <a:solidFill>
                      <a:srgbClr val="0B2B4E"/>
                    </a:solidFill>
                    <a:latin typeface="Cambria Math"/>
                    <a:ea typeface="Cambria Math"/>
                  </a:rPr>
                  <m:t>Q</m:t>
                </m:r>
              </m:oMath>
            </a14:m>
            <a:endParaRPr lang="en-US"/>
          </a:p>
        </p:txBody>
      </p:sp>
      <p:sp>
        <p:nvSpPr>
          <p:cNvPr id="8" name="TextBox 7"/>
          <p:cNvSpPr txBox="1"/>
          <p:nvPr/>
        </p:nvSpPr>
        <p:spPr>
          <a:xfrm>
            <a:off x="389159" y="2880360"/>
            <a:ext cx="113385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To assess the effect of a </a:t>
            </a:r>
            <a:r>
              <a:rPr b="1">
                <a:latin typeface="Calibri"/>
              </a:rPr>
              <a:t>price decrease</a:t>
            </a:r>
            <a:r>
              <a:rPr>
                <a:latin typeface="Calibri"/>
              </a:rPr>
              <a:t> on revenue, ask:  </a:t>
            </a:r>
            <a:r>
              <a:rPr sz="1800" i="1">
                <a:latin typeface="Calibri"/>
              </a:rPr>
              <a:t>[note: if P decreases, Q must increase]</a:t>
            </a:r>
          </a:p>
        </p:txBody>
      </p:sp>
      <p:grpSp>
        <p:nvGrpSpPr>
          <p:cNvPr id="116" name="Group pair 116"/>
          <p:cNvGrpSpPr/>
          <p:nvPr/>
        </p:nvGrpSpPr>
        <p:grpSpPr>
          <a:xfrm>
            <a:off x="685800" y="3794760"/>
            <a:ext cx="5394960" cy="2103120"/>
            <a:chOff x="685800" y="3794760"/>
            <a:chExt cx="5394960" cy="2103120"/>
          </a:xfrm>
        </p:grpSpPr>
        <p:sp>
          <p:nvSpPr>
            <p:cNvPr id="9" name="Rounded Rectangle 8"/>
            <p:cNvSpPr/>
            <p:nvPr/>
          </p:nvSpPr>
          <p:spPr>
            <a:xfrm>
              <a:off x="685800" y="3794760"/>
              <a:ext cx="5394960" cy="21031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904488"/>
              <a:ext cx="5029200" cy="1883664"/>
            </a:xfrm>
            <a:prstGeom prst="rect">
              <a:avLst/>
            </a:prstGeom>
            <a:noFill/>
          </p:spPr>
          <p:txBody>
            <a:bodyPr wrap="square" lIns="45720" rIns="45720" tIns="0" bIns="0" anchor="ctr">
              <a:spAutoFit/>
            </a:bodyPr>
            <a:lstStyle/>
            <a:p>
              <a:pPr algn="l"/>
              <a:r>
                <a:rPr sz="1800" b="0" i="0" u="none">
                  <a:solidFill>
                    <a:srgbClr val="0B2B4E"/>
                  </a:solidFill>
                  <a:latin typeface="Calibri"/>
                </a:rPr>
                <a:t>Is the % reduction in P </a:t>
              </a:r>
              <a:r>
                <a:rPr sz="1800" b="1" i="0" u="sng">
                  <a:solidFill>
                    <a:srgbClr val="0B2B4E"/>
                  </a:solidFill>
                  <a:latin typeface="Calibri"/>
                </a:rPr>
                <a:t>smaller</a:t>
              </a:r>
              <a:r>
                <a:rPr sz="1800" b="0" i="0" u="none">
                  <a:solidFill>
                    <a:srgbClr val="0B2B4E"/>
                  </a:solidFill>
                  <a:latin typeface="Calibri"/>
                </a:rPr>
                <a:t> than the % increase in Q?
</a:t>
              </a:r>
              <a:r>
                <a:rPr sz="1800" b="0" i="0" u="none">
                  <a:solidFill>
                    <a:srgbClr val="0B2B4E"/>
                  </a:solidFill>
                  <a:latin typeface="Calibri"/>
                </a:rPr>
                <a:t>If yes: total revenue rises
</a:t>
              </a:r>
              <a:r>
                <a:rPr sz="1800" b="0" i="0" u="none">
                  <a:solidFill>
                    <a:srgbClr val="0B2B4E"/>
                  </a:solidFill>
                  <a:latin typeface="Calibri"/>
                </a:rPr>
                <a:t>→ Demand is </a:t>
              </a:r>
              <a:r>
                <a:rPr sz="1800" b="1" i="0" u="none">
                  <a:solidFill>
                    <a:srgbClr val="0070C0"/>
                  </a:solidFill>
                  <a:latin typeface="Calibri"/>
                </a:rPr>
                <a:t>elastic</a:t>
              </a:r>
            </a:p>
          </p:txBody>
        </p:sp>
      </p:grpSp>
      <p:grpSp>
        <p:nvGrpSpPr>
          <p:cNvPr id="117" name="Group pair 117"/>
          <p:cNvGrpSpPr/>
          <p:nvPr/>
        </p:nvGrpSpPr>
        <p:grpSpPr>
          <a:xfrm>
            <a:off x="6355080" y="3794760"/>
            <a:ext cx="5394960" cy="2103120"/>
            <a:chOff x="6355080" y="3794760"/>
            <a:chExt cx="5394960" cy="2103120"/>
          </a:xfrm>
        </p:grpSpPr>
        <p:sp>
          <p:nvSpPr>
            <p:cNvPr id="11" name="Rounded Rectangle 10"/>
            <p:cNvSpPr/>
            <p:nvPr/>
          </p:nvSpPr>
          <p:spPr>
            <a:xfrm>
              <a:off x="6355080" y="3794760"/>
              <a:ext cx="5394960" cy="21031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3904488"/>
              <a:ext cx="5029200" cy="1883664"/>
            </a:xfrm>
            <a:prstGeom prst="rect">
              <a:avLst/>
            </a:prstGeom>
            <a:noFill/>
          </p:spPr>
          <p:txBody>
            <a:bodyPr wrap="square" lIns="45720" rIns="45720" tIns="0" bIns="0" anchor="ctr">
              <a:spAutoFit/>
            </a:bodyPr>
            <a:lstStyle/>
            <a:p>
              <a:pPr algn="l"/>
              <a:r>
                <a:rPr sz="1800" b="0" i="0" u="none">
                  <a:solidFill>
                    <a:srgbClr val="0B2B4E"/>
                  </a:solidFill>
                  <a:latin typeface="Calibri"/>
                </a:rPr>
                <a:t>Is the % reduction in P </a:t>
              </a:r>
              <a:r>
                <a:rPr sz="1800" b="1" i="0" u="sng">
                  <a:solidFill>
                    <a:srgbClr val="0B2B4E"/>
                  </a:solidFill>
                  <a:latin typeface="Calibri"/>
                </a:rPr>
                <a:t>larger</a:t>
              </a:r>
              <a:r>
                <a:rPr sz="1800" b="0" i="0" u="none">
                  <a:solidFill>
                    <a:srgbClr val="0B2B4E"/>
                  </a:solidFill>
                  <a:latin typeface="Calibri"/>
                </a:rPr>
                <a:t> than the % increase in Q?
</a:t>
              </a:r>
              <a:r>
                <a:rPr sz="1800" b="0" i="0" u="none">
                  <a:solidFill>
                    <a:srgbClr val="0B2B4E"/>
                  </a:solidFill>
                  <a:latin typeface="Calibri"/>
                </a:rPr>
                <a:t>If yes: total revenue declines
</a:t>
              </a:r>
              <a:r>
                <a:rPr sz="1800" b="0" i="0" u="none">
                  <a:solidFill>
                    <a:srgbClr val="0B2B4E"/>
                  </a:solidFill>
                  <a:latin typeface="Calibri"/>
                </a:rPr>
                <a:t>→ Demand is </a:t>
              </a:r>
              <a:r>
                <a:rPr sz="1800" b="1" i="0" u="none">
                  <a:solidFill>
                    <a:srgbClr val="0070C0"/>
                  </a:solidFill>
                  <a:latin typeface="Calibri"/>
                </a:rPr>
                <a:t>inelastic</a:t>
              </a:r>
            </a:p>
          </p:txBody>
        </p:sp>
      </p:gr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FFEA4D40-B8B2-522C-98C7-92A233DE4E34}" type="slidenum">
              <a:rPr lang="en-US" sz="1200" dirty="0">
                <a:solidFill>
                  <a:srgbClr val="555B66"/>
                </a:solidFill>
                <a:latin typeface="Calibri"/>
              </a:rPr>
              <a:t>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6"/>
                                        </p:tgtEl>
                                        <p:attrNameLst>
                                          <p:attrName>style.visibility</p:attrName>
                                        </p:attrNameLst>
                                      </p:cBhvr>
                                      <p:to>
                                        <p:strVal val="visible"/>
                                      </p:to>
                                    </p:set>
                                    <p:animEffect transition="in" filter="fade">
                                      <p:cBhvr>
                                        <p:cTn id="17" dur="500"/>
                                        <p:tgtEl>
                                          <p:spTgt spid="1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7"/>
                                        </p:tgtEl>
                                        <p:attrNameLst>
                                          <p:attrName>style.visibility</p:attrName>
                                        </p:attrNameLst>
                                      </p:cBhvr>
                                      <p:to>
                                        <p:strVal val="visible"/>
                                      </p:to>
                                    </p:set>
                                    <p:animEffect transition="in" filter="fade">
                                      <p:cBhvr>
                                        <p:cTn id="22" dur="5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Example: Demand for Chewing Gum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783080"/>
            <a:ext cx="6949440" cy="402336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buNone/>
            </a:pPr>
            <a:r>
              <a:rPr sz="2400" b="1">
                <a:solidFill>
                  <a:srgbClr val="0B2B4E"/>
                </a:solidFill>
                <a:latin typeface="Calibri"/>
              </a:rPr>
              <a:t>Information</a:t>
            </a:r>
          </a:p>
          <a:p>
            <a:pPr algn="l"/>
            <a:r>
              <a:rPr>
                <a:latin typeface="Calibri"/>
              </a:rPr>
              <a:t>Retail prices of Wrigley’s chewing gum increased (slightly)</a:t>
            </a:r>
          </a:p>
          <a:p>
            <a:pPr algn="l"/>
            <a:r>
              <a:rPr>
                <a:latin typeface="Calibri"/>
              </a:rPr>
              <a:t>As a result, the company's </a:t>
            </a:r>
            <a:r>
              <a:rPr u="sng">
                <a:latin typeface="Calibri"/>
              </a:rPr>
              <a:t>sales revenues</a:t>
            </a:r>
            <a:r>
              <a:rPr>
                <a:latin typeface="Calibri"/>
              </a:rPr>
              <a:t> increased (slightly)</a:t>
            </a:r>
          </a:p>
          <a:p>
            <a:pPr algn="l">
              <a:spcBef>
                <a:spcPts val="1600"/>
              </a:spcBef>
              <a:buNone/>
            </a:pPr>
            <a:r>
              <a:rPr sz="2400" b="1">
                <a:solidFill>
                  <a:srgbClr val="0B2B4E"/>
                </a:solidFill>
                <a:latin typeface="Calibri"/>
              </a:rPr>
              <a:t>What can we say about the elasticity of demand?</a:t>
            </a:r>
          </a:p>
        </p:txBody>
      </p:sp>
      <p:pic>
        <p:nvPicPr>
          <p:cNvPr id="8" name="Picture 7" descr="image13.jpg"/>
          <p:cNvPicPr>
            <a:picLocks noChangeAspect="1"/>
          </p:cNvPicPr>
          <p:nvPr/>
        </p:nvPicPr>
        <p:blipFill>
          <a:blip r:embed="rId2"/>
          <a:stretch>
            <a:fillRect/>
          </a:stretch>
        </p:blipFill>
        <p:spPr>
          <a:xfrm>
            <a:off x="7818120" y="1737360"/>
            <a:ext cx="3063240" cy="4282255"/>
          </a:xfrm>
          <a:prstGeom prst="roundRect">
            <a:avLst>
              <a:gd name="adj" fmla="val 8000"/>
            </a:avLst>
          </a:prstGeom>
          <a:effectLst>
            <a:outerShdw blurRad="50800" dist="38100" dir="2700000" algn="tl" rotWithShape="0">
              <a:srgbClr val="000000">
                <a:alpha val="50000"/>
              </a:srgbClr>
            </a:outerShdw>
          </a:effectLst>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C7268266-B9CE-510E-8DAE-CCAC4EF4FAAA}" type="slidenum">
              <a:rPr lang="en-US" sz="1200" dirty="0">
                <a:solidFill>
                  <a:srgbClr val="555B66"/>
                </a:solidFill>
                <a:latin typeface="Calibri"/>
              </a:rPr>
              <a:t>8</a:t>
            </a:fld>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1524000" y="0"/>
          <a:ext cx="0" cy="0"/>
          <a:chOff x="0" y="0"/>
          <a:chExt cx="0" cy="0"/>
        </a:xfrm>
      </p:grpSpPr>
      <p:pic>
        <p:nvPicPr>
          <p:cNvPr id="3" name="Picture 2">
            <a:extLst>
              <a:ext uri="{FF2B5EF4-FFF2-40B4-BE49-F238E27FC236}">
                <a16:creationId xmlns:a16="http://schemas.microsoft.com/office/drawing/2014/main" id="{26DBF4B3-3C23-4A01-A686-B6C88976410F}"/>
              </a:ext>
            </a:extLst>
          </p:cNvPr>
          <p:cNvPicPr>
            <a:picLocks/>
          </p:cNvPicPr>
          <p:nvPr>
            <p:custDataLst>
              <p:tags r:id="rId3"/>
            </p:custDataLst>
          </p:nvPr>
        </p:nvPicPr>
        <p:blipFill>
          <a:blip r:embed="rId4"/>
          <a:stretch>
            <a:fillRect/>
          </a:stretch>
        </p:blipFill>
        <p:spPr>
          <a:xfrm>
            <a:off x="2288161" y="419370"/>
            <a:ext cx="7615677" cy="5611779"/>
          </a:xfrm>
          <a:prstGeom prst="rect">
            <a:avLst/>
          </a:prstGeom>
        </p:spPr>
      </p:pic>
      <p:sp>
        <p:nvSpPr>
          <p:cNvPr id="9802" name="PageNum"/>
          <p:cNvSpPr txBox="1"/>
          <p:nvPr/>
        </p:nvSpPr>
        <p:spPr>
          <a:xfrm>
            <a:off x="11475720" y="6583680"/>
            <a:ext cx="502920" cy="292608"/>
          </a:xfrm>
          <a:prstGeom prst="rect">
            <a:avLst/>
          </a:prstGeom>
          <a:noFill/>
        </p:spPr>
        <p:txBody>
          <a:bodyPr wrap="none" lIns="0" tIns="0" rIns="0" bIns="0"/>
          <a:lstStyle/>
          <a:p>
            <a:pPr algn="r"/>
            <a:fld id="{43D41983-4E8D-5041-9127-CFDE102F7E8C}" type="slidenum">
              <a:rPr lang="en-US" sz="1200" dirty="0">
                <a:solidFill>
                  <a:srgbClr val="555B66"/>
                </a:solidFill>
                <a:latin typeface="Calibri"/>
              </a:rPr>
              <a:t>9</a:t>
            </a:fld>
          </a:p>
        </p:txBody>
      </p:sp>
    </p:spTree>
    <p:extLst>
      <p:ext uri="{BB962C8B-B14F-4D97-AF65-F5344CB8AC3E}">
        <p14:creationId xmlns:p14="http://schemas.microsoft.com/office/powerpoint/2010/main" val="2205982620"/>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Demand is </a:t>
            </a:r>
            <a:r>
              <a:rPr b="1">
                <a:solidFill>
                  <a:srgbClr val="0070C0"/>
                </a:solidFill>
                <a:latin typeface="Calibri"/>
              </a:rPr>
              <a:t>inelastic</a:t>
            </a:r>
          </a:p>
          <a:p>
            <a:pPr algn="l" lvl="1"/>
            <a:r>
              <a:rPr>
                <a:latin typeface="Calibri"/>
              </a:rPr>
              <a:t>A price increase caused total revenue to increase</a:t>
            </a:r>
          </a:p>
          <a:p>
            <a:pPr algn="l" lvl="1"/>
            <a:r>
              <a:rPr>
                <a:latin typeface="Calibri"/>
              </a:rPr>
              <a:t>This means that the %change in price was larger than the %decline in quantity  →  inelastic response of quantity to the price change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A36B6251-3178-565F-97CD-AC46849C5395}" type="slidenum">
              <a:rPr lang="en-US" sz="1200" dirty="0">
                <a:solidFill>
                  <a:srgbClr val="555B66"/>
                </a:solidFill>
                <a:latin typeface="Calibri"/>
              </a:rPr>
              <a:t>10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Does a Price Cut Raise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828800"/>
            <a:ext cx="6309360" cy="356616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Novo Nordisk</a:t>
            </a:r>
            <a:r>
              <a:rPr>
                <a:latin typeface="Calibri"/>
              </a:rPr>
              <a:t> lowered its U.S. price for Ozempic and Wegovy under a deal with the White House</a:t>
            </a:r>
          </a:p>
          <a:p>
            <a:pPr algn="l"/>
            <a:r>
              <a:rPr>
                <a:latin typeface="Calibri"/>
              </a:rPr>
              <a:t>As a result, sales are forecasted to fall 5–13%</a:t>
            </a:r>
          </a:p>
          <a:p>
            <a:pPr algn="l"/>
            <a:r>
              <a:rPr>
                <a:latin typeface="Calibri"/>
              </a:rPr>
              <a:t>What does this imply about the </a:t>
            </a:r>
            <a:r>
              <a:rPr b="1">
                <a:solidFill>
                  <a:srgbClr val="0070C0"/>
                </a:solidFill>
                <a:latin typeface="Calibri"/>
              </a:rPr>
              <a:t>elasticity of demand</a:t>
            </a:r>
            <a:r>
              <a:rPr>
                <a:latin typeface="Calibri"/>
              </a:rPr>
              <a:t>?</a:t>
            </a:r>
          </a:p>
        </p:txBody>
      </p:sp>
      <p:grpSp>
        <p:nvGrpSpPr>
          <p:cNvPr id="9802" name="Group pair 9802"/>
          <p:cNvGrpSpPr/>
          <p:nvPr/>
        </p:nvGrpSpPr>
        <p:grpSpPr>
          <a:xfrm>
            <a:off x="6995160" y="2103120"/>
            <a:ext cx="4251960" cy="3264408"/>
            <a:chOff x="6995160" y="2103120"/>
            <a:chExt cx="4251960" cy="3264408"/>
          </a:xfrm>
        </p:grpSpPr>
        <p:pic>
          <p:nvPicPr>
            <p:cNvPr id="8" name="Picture 7" descr="ct_ozempic_image1.png"/>
            <p:cNvPicPr>
              <a:picLocks noChangeAspect="1"/>
            </p:cNvPicPr>
            <p:nvPr/>
          </p:nvPicPr>
          <p:blipFill>
            <a:blip r:embed="rId2"/>
            <a:stretch>
              <a:fillRect/>
            </a:stretch>
          </p:blipFill>
          <p:spPr>
            <a:xfrm>
              <a:off x="6995160" y="2103120"/>
              <a:ext cx="4251960" cy="288036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6995160" y="5074920"/>
              <a:ext cx="4251960" cy="292608"/>
            </a:xfrm>
            <a:prstGeom prst="rect">
              <a:avLst/>
            </a:prstGeom>
            <a:noFill/>
          </p:spPr>
          <p:txBody>
            <a:bodyPr wrap="square" lIns="0" rIns="0" tIns="0" bIns="0">
              <a:spAutoFit/>
            </a:bodyPr>
            <a:lstStyle/>
            <a:p>
              <a:pPr algn="ctr"/>
              <a:r>
                <a:rPr sz="1200" b="0" i="1" u="none">
                  <a:solidFill>
                    <a:srgbClr val="555B66"/>
                  </a:solidFill>
                  <a:latin typeface="Calibri"/>
                </a:rPr>
                <a:t>Source: Pharmaceutical Technology</a:t>
              </a:r>
            </a:p>
          </p:txBody>
        </p:sp>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AF540A15-85A1-5986-921E-239DF3489994}" type="slidenum">
              <a:rPr lang="en-US" sz="1200" dirty="0">
                <a:solidFill>
                  <a:srgbClr val="555B66"/>
                </a:solidFill>
                <a:latin typeface="Calibri"/>
              </a:rPr>
              <a:t>11</a:t>
            </a:fld>
          </a:p>
        </p:txBody>
      </p:sp>
      <p:grpSp>
        <p:nvGrpSpPr>
          <p:cNvPr id="9700" name="Group 14">
            <a:extLst>
              <a:ext uri="{FF2B5EF4-FFF2-40B4-BE49-F238E27FC236}">
                <a16:creationId xmlns:a16="http://schemas.microsoft.com/office/drawing/2014/main" id="{C7881A0F-62FF-0536-16AD-55B1DC27DD3D}"/>
              </a:ext>
            </a:extLst>
          </p:cNvPr>
          <p:cNvGrpSpPr/>
          <p:nvPr/>
        </p:nvGrpSpPr>
        <p:grpSpPr>
          <a:xfrm>
            <a:off x="6826842" y="6190488"/>
            <a:ext cx="5112854" cy="539496"/>
            <a:chOff x="7550576" y="5715000"/>
            <a:chExt cx="4389120" cy="658368"/>
          </a:xfrm>
        </p:grpSpPr>
        <p:sp>
          <p:nvSpPr>
            <p:cNvPr id="97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1874519"/>
            <a:ext cx="5486400" cy="731520"/>
          </a:xfrm>
          <a:prstGeom prst="rect">
            <a:avLst/>
          </a:prstGeom>
          <a:noFill/>
        </p:spPr>
        <p:txBody>
          <a:bodyPr wrap="square" lIns="45720" rIns="45720" tIns="0" bIns="0">
            <a:spAutoFit/>
          </a:bodyPr>
          <a:lstStyle/>
          <a:p xmlns:m="http://schemas.openxmlformats.org/officeDocument/2006/math" xmlns:a14="http://schemas.microsoft.com/office/drawing/2010/main">
            <a:r>
              <a:rPr lang="en-US" sz="3400">
                <a:solidFill>
                  <a:srgbClr val="0B2B4E"/>
                </a:solidFill>
                <a:latin typeface="Calibri"/>
              </a:rPr>
              <a:t>Demand is  </a:t>
            </a:r>
            <a:r>
              <a:rPr lang="en-US" sz="3400" b="1">
                <a:solidFill>
                  <a:srgbClr val="0070C0"/>
                </a:solidFill>
                <a:latin typeface="Calibri"/>
              </a:rPr>
              <a:t>inelastic</a:t>
            </a:r>
            <a:endParaRPr lang="en-US"/>
          </a:p>
        </p:txBody>
      </p:sp>
      <p:sp>
        <p:nvSpPr>
          <p:cNvPr id="8" name="TextBox 7"/>
          <p:cNvSpPr txBox="1"/>
          <p:nvPr/>
        </p:nvSpPr>
        <p:spPr>
          <a:xfrm>
            <a:off x="1005840" y="3246120"/>
            <a:ext cx="10241280" cy="21945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A price cut caused total revenue to fall</a:t>
            </a:r>
          </a:p>
          <a:p>
            <a:pPr algn="l"/>
            <a:r>
              <a:rPr>
                <a:latin typeface="Calibri"/>
              </a:rPr>
              <a:t>The quantity response was too small to offset the price cut</a:t>
            </a:r>
          </a:p>
          <a:p>
            <a:pPr algn="l"/>
            <a:r>
              <a:rPr b="1">
                <a:solidFill>
                  <a:srgbClr val="0070C0"/>
                </a:solidFill>
                <a:latin typeface="Calibri"/>
              </a:rPr>
              <a:t>Inelastic:  </a:t>
            </a:r>
            <a:r>
              <a:rPr i="1">
                <a:latin typeface="Calibri"/>
              </a:rPr>
              <a:t>|Eᴅ| &lt; 1</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E78DDFAD-BFD6-5411-B71F-E4CA0CA35FDF}" type="slidenum">
              <a:rPr lang="en-US" sz="1200" dirty="0">
                <a:solidFill>
                  <a:srgbClr val="555B66"/>
                </a:solidFill>
                <a:latin typeface="Calibri"/>
              </a:rPr>
              <a:t>12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0" end="0"/>
                                            </p:txEl>
                                          </p:spTgt>
                                        </p:tgtEl>
                                        <p:attrNameLst>
                                          <p:attrName>style.visibility</p:attrName>
                                        </p:attrNameLst>
                                      </p:cBhvr>
                                      <p:to>
                                        <p:strVal val="visible"/>
                                      </p:to>
                                    </p:set>
                                    <p:animEffect transition="in" filter="fade">
                                      <p:cBhvr>
                                        <p:cTn id="12" dur="500"/>
                                        <p:tgtEl>
                                          <p:spTgt spid="8">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1" end="1"/>
                                            </p:txEl>
                                          </p:spTgt>
                                        </p:tgtEl>
                                        <p:attrNameLst>
                                          <p:attrName>style.visibility</p:attrName>
                                        </p:attrNameLst>
                                      </p:cBhvr>
                                      <p:to>
                                        <p:strVal val="visible"/>
                                      </p:to>
                                    </p:set>
                                    <p:animEffect transition="in" filter="fade">
                                      <p:cBhvr>
                                        <p:cTn id="17" dur="500"/>
                                        <p:tgtEl>
                                          <p:spTgt spid="8">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xEl>
                                              <p:pRg st="2" end="2"/>
                                            </p:txEl>
                                          </p:spTgt>
                                        </p:tgtEl>
                                        <p:attrNameLst>
                                          <p:attrName>style.visibility</p:attrName>
                                        </p:attrNameLst>
                                      </p:cBhvr>
                                      <p:to>
                                        <p:strVal val="visible"/>
                                      </p:to>
                                    </p:set>
                                    <p:animEffect transition="in" filter="fade">
                                      <p:cBhvr>
                                        <p:cTn id="22" dur="5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What About Profits?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645920"/>
            <a:ext cx="5715000" cy="86868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Profit  =  Revenue  −  Costs</a:t>
            </a:r>
          </a:p>
        </p:txBody>
      </p:sp>
      <p:sp>
        <p:nvSpPr>
          <p:cNvPr id="8" name="TextBox 7"/>
          <p:cNvSpPr txBox="1"/>
          <p:nvPr/>
        </p:nvSpPr>
        <p:spPr>
          <a:xfrm>
            <a:off x="1371600" y="2880360"/>
            <a:ext cx="9418320" cy="310896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The price decrease caused total revenue to decrease</a:t>
            </a:r>
          </a:p>
          <a:p>
            <a:pPr algn="l"/>
            <a:r>
              <a:rPr>
                <a:latin typeface="Calibri"/>
              </a:rPr>
              <a:t>It also raised the quantity produced/sold  →  costs increase</a:t>
            </a:r>
          </a:p>
          <a:p>
            <a:pPr algn="l"/>
            <a:r>
              <a:rPr>
                <a:latin typeface="Calibri"/>
              </a:rPr>
              <a:t>So profits fell</a:t>
            </a:r>
          </a:p>
          <a:p>
            <a:pPr algn="l"/>
            <a:r>
              <a:rPr>
                <a:latin typeface="Calibri"/>
              </a:rPr>
              <a:t>Markets agreed:  </a:t>
            </a:r>
            <a:r>
              <a:rPr u="sng">
                <a:solidFill>
                  <a:srgbClr val="0070C0"/>
                </a:solidFill>
                <a:latin typeface="Calibri"/>
              </a:rPr>
              <a:t>Novo Nordisk shares tumbled ~18%</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B45C40F2-F2B4-5868-BF9F-18E8E5BC9381}" type="slidenum">
              <a:rPr lang="en-US" sz="1200" dirty="0">
                <a:solidFill>
                  <a:srgbClr val="555B66"/>
                </a:solidFill>
                <a:latin typeface="Calibri"/>
              </a:rPr>
              <a:t>13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xEl>
                                              <p:pRg st="3" end="3"/>
                                            </p:txEl>
                                          </p:spTgt>
                                        </p:tgtEl>
                                        <p:attrNameLst>
                                          <p:attrName>style.visibility</p:attrName>
                                        </p:attrNameLst>
                                      </p:cBhvr>
                                      <p:to>
                                        <p:strVal val="visible"/>
                                      </p:to>
                                    </p:set>
                                    <p:animEffect transition="in" filter="fade">
                                      <p:cBhvr>
                                        <p:cTn id="22"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Summary: Effect of a Price Change on TR — It Depends on Eᴅ</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554480"/>
            <a:ext cx="11338560" cy="9144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Is the percent reduction in price greater or smaller than the percent increase in quantity sold?</a:t>
            </a:r>
          </a:p>
          <a:p>
            <a:pPr algn="l"/>
            <a:r>
              <a:rPr>
                <a:latin typeface="Calibri"/>
              </a:rPr>
              <a:t>More precisely: is demand elastic or inelastic?</a:t>
            </a:r>
          </a:p>
        </p:txBody>
      </p:sp>
      <p:grpSp>
        <p:nvGrpSpPr>
          <p:cNvPr id="113" name="Group pair 113"/>
          <p:cNvGrpSpPr/>
          <p:nvPr/>
        </p:nvGrpSpPr>
        <p:grpSpPr>
          <a:xfrm>
            <a:off x="640080" y="2651760"/>
            <a:ext cx="10881360" cy="3566160"/>
            <a:chOff x="640080" y="2651760"/>
            <a:chExt cx="10881360" cy="3566160"/>
          </a:xfrm>
        </p:grpSpPr>
        <p:sp>
          <p:nvSpPr>
            <p:cNvPr id="8" name="Rectangle 7"/>
            <p:cNvSpPr/>
            <p:nvPr/>
          </p:nvSpPr>
          <p:spPr>
            <a:xfrm>
              <a:off x="640080" y="2651760"/>
              <a:ext cx="10881360" cy="35661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777240" y="2788920"/>
            <a:ext cx="10607040" cy="3291840"/>
          </p:xfrm>
          <a:graphic>
            <a:graphicData uri="http://schemas.openxmlformats.org/drawingml/2006/table">
              <a:tbl>
                <a:tblPr firstRow="0" bandRow="0"/>
                <a:tblGrid>
                  <a:gridCol w="2651760"/>
                  <a:gridCol w="2651760"/>
                  <a:gridCol w="2651760"/>
                  <a:gridCol w="2651760"/>
                </a:tblGrid>
                <a:tr h="658368">
                  <a:tc>
                    <a:txBody>
                      <a:bodyPr wrap="square"/>
                      <a:lstStyle/>
                      <a:p>
                        <a:pPr algn="ctr"/>
                        <a:r>
                          <a:rPr sz="1600" b="1">
                            <a:solidFill>
                              <a:srgbClr val="FFFFFF"/>
                            </a:solidFill>
                            <a:latin typeface="Calibri"/>
                          </a:rPr>
                          <a:t>% change in P</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Resulting % change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Demand is…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Resulting change in revenue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658368">
                  <a:tc>
                    <a:txBody>
                      <a:bodyPr wrap="square"/>
                      <a:lstStyle/>
                      <a:p>
                        <a:pPr algn="l"/>
                        <a:r>
                          <a:rPr sz="1600" b="1">
                            <a:solidFill>
                              <a:srgbClr val="0B2B4E"/>
                            </a:solidFill>
                            <a:latin typeface="Calibri"/>
                          </a:rPr>
                          <a:t>If P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Q increases by MORE than P falls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Revenue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58368">
                  <a:tc>
                    <a:txBody>
                      <a:bodyPr wrap="square"/>
                      <a:lstStyle/>
                      <a:p>
                        <a:pPr algn="l"/>
                        <a:r>
                          <a:rPr sz="1600" b="1">
                            <a:solidFill>
                              <a:srgbClr val="0B2B4E"/>
                            </a:solidFill>
                            <a:latin typeface="Calibri"/>
                          </a:rPr>
                          <a:t>If P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Q increases by LESS than P falls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Inelastic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Revenue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658368">
                  <a:tc>
                    <a:txBody>
                      <a:bodyPr wrap="square"/>
                      <a:lstStyle/>
                      <a:p>
                        <a:pPr algn="l"/>
                        <a:r>
                          <a:rPr sz="1600" b="1">
                            <a:solidFill>
                              <a:srgbClr val="0B2B4E"/>
                            </a:solidFill>
                            <a:latin typeface="Calibri"/>
                          </a:rPr>
                          <a:t>If P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Q decreases by MORE than P rises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Revenue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58368">
                  <a:tc>
                    <a:txBody>
                      <a:bodyPr wrap="square"/>
                      <a:lstStyle/>
                      <a:p>
                        <a:pPr algn="l"/>
                        <a:r>
                          <a:rPr sz="1600" b="1">
                            <a:solidFill>
                              <a:srgbClr val="0B2B4E"/>
                            </a:solidFill>
                            <a:latin typeface="Calibri"/>
                          </a:rPr>
                          <a:t>If P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Q decreases by LESS than P rises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Inelastic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Revenue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7EE5B772-28C2-5CCD-AA16-49F8FF391118}" type="slidenum">
              <a:rPr lang="en-US" sz="1200" dirty="0">
                <a:solidFill>
                  <a:srgbClr val="555B66"/>
                </a:solidFill>
                <a:latin typeface="Calibri"/>
              </a:rPr>
              <a:t>14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The Netflix 2014 Price Increase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2039" y="1783080"/>
            <a:ext cx="10607040" cy="39319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In 2014, Netflix raised its monthly price by $1, from $7.99 to $8.99</a:t>
            </a:r>
          </a:p>
          <a:p>
            <a:pPr algn="l"/>
            <a:r>
              <a:rPr>
                <a:latin typeface="Calibri"/>
              </a:rPr>
              <a:t>Then: 50 million subscribers, own-price elasticity of demand </a:t>
            </a:r>
            <a:r>
              <a:rPr b="1">
                <a:solidFill>
                  <a:srgbClr val="0070C0"/>
                </a:solidFill>
                <a:latin typeface="Calibri"/>
              </a:rPr>
              <a:t>≈ −2</a:t>
            </a:r>
          </a:p>
          <a:p>
            <a:pPr algn="l"/>
            <a:r>
              <a:rPr>
                <a:latin typeface="Calibri"/>
              </a:rPr>
              <a:t>Implications of the price increase for:</a:t>
            </a:r>
          </a:p>
          <a:p>
            <a:pPr algn="l" lvl="1"/>
            <a:r>
              <a:rPr>
                <a:latin typeface="Calibri"/>
              </a:rPr>
              <a:t>Number of subscriptions (quantitative)?</a:t>
            </a:r>
          </a:p>
          <a:p>
            <a:pPr algn="l" lvl="1"/>
            <a:r>
              <a:rPr>
                <a:latin typeface="Calibri"/>
              </a:rPr>
              <a:t>Revenue (qualitative)?</a:t>
            </a:r>
          </a:p>
          <a:p>
            <a:pPr algn="l" lvl="1"/>
            <a:r>
              <a:rPr>
                <a:latin typeface="Calibri"/>
              </a:rPr>
              <a:t>Profits (speculative)?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5064C755-CC80-55A3-BB83-1820E17D2280}" type="slidenum">
              <a:rPr lang="en-US" sz="1200" dirty="0">
                <a:solidFill>
                  <a:srgbClr val="555B66"/>
                </a:solidFill>
                <a:latin typeface="Calibri"/>
              </a:rPr>
              <a:t>15</a:t>
            </a:fld>
          </a:p>
        </p:txBody>
      </p:sp>
      <p:grpSp>
        <p:nvGrpSpPr>
          <p:cNvPr id="9700" name="Group 14">
            <a:extLst>
              <a:ext uri="{FF2B5EF4-FFF2-40B4-BE49-F238E27FC236}">
                <a16:creationId xmlns:a16="http://schemas.microsoft.com/office/drawing/2014/main" id="{C7881A0F-62FF-0536-16AD-55B1DC27DD3D}"/>
              </a:ext>
            </a:extLst>
          </p:cNvPr>
          <p:cNvGrpSpPr/>
          <p:nvPr/>
        </p:nvGrpSpPr>
        <p:grpSpPr>
          <a:xfrm>
            <a:off x="6826842" y="6190488"/>
            <a:ext cx="5112854" cy="539496"/>
            <a:chOff x="7550576" y="5715000"/>
            <a:chExt cx="4389120" cy="658368"/>
          </a:xfrm>
        </p:grpSpPr>
        <p:sp>
          <p:nvSpPr>
            <p:cNvPr id="97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Netflix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00200"/>
            <a:ext cx="1133856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Subscriptions decline</a:t>
            </a:r>
            <a:r>
              <a:rPr sz="2200">
                <a:solidFill>
                  <a:srgbClr val="0B2B4E"/>
                </a:solidFill>
                <a:latin typeface="Calibri"/>
              </a:rPr>
              <a:t> — by how much? Use Method 1 with </a:t>
            </a:r>
            <a:r>
              <a:rPr sz="2200" b="1">
                <a:solidFill>
                  <a:srgbClr val="0070C0"/>
                </a:solidFill>
                <a:latin typeface="Calibri"/>
              </a:rPr>
              <a:t>Eᴅ = −2</a:t>
            </a:r>
            <a:r>
              <a:rPr sz="2200">
                <a:solidFill>
                  <a:srgbClr val="0B2B4E"/>
                </a:solidFill>
                <a:latin typeface="Calibri"/>
              </a:rPr>
              <a:t> :</a:t>
            </a:r>
          </a:p>
        </p:txBody>
      </p:sp>
      <p:sp>
        <p:nvSpPr>
          <p:cNvPr id="8" name="TextBox 7"/>
          <p:cNvSpPr txBox="1"/>
          <p:nvPr/>
        </p:nvSpPr>
        <p:spPr>
          <a:xfrm>
            <a:off x="2423160" y="2331720"/>
            <a:ext cx="7315200" cy="1051560"/>
          </a:xfrm>
          <a:prstGeom prst="rect">
            <a:avLst/>
          </a:prstGeom>
          <a:noFill/>
        </p:spPr>
        <p:txBody>
          <a:bodyPr wrap="square" anchor="ctr">
            <a:spAutoFit/>
          </a:bodyPr>
          <a:lstStyle/>
          <a:p xmlns:m="http://schemas.openxmlformats.org/officeDocument/2006/math" xmlns:a14="http://schemas.microsoft.com/office/drawing/2010/main">
            <a:pPr algn="ctr">
              <a:defRPr sz="2600" b="0" i="1">
                <a:solidFill>
                  <a:srgbClr val="0B2B4E"/>
                </a:solidFill>
                <a:latin typeface="Cambria Math"/>
              </a:defRPr>
            </a:pPr>
            <a14:m>
              <m:oMathPara>
                <m:oMathParaPr>
                  <m:jc m:val="centerGroup"/>
                </m:oMathParaPr>
                <m:oMath>
                  <m:sSub>
                    <m:sSubPr>
                      <m:ctrlPr>
                        <a:rPr lang="en-US" i="1">
                          <a:latin typeface="Cambria Math"/>
                        </a:rPr>
                      </m:ctrlPr>
                    </m:sSubPr>
                    <m:e>
                      <m:r>
                        <a:rPr lang="en-US" b="0" i="1" sz="2600">
                          <a:solidFill>
                            <a:srgbClr val="0B2B4E"/>
                          </a:solidFill>
                          <a:latin typeface="Cambria Math"/>
                          <a:ea typeface="Cambria Math"/>
                        </a:rPr>
                        <m:t>E</m:t>
                      </m:r>
                    </m:e>
                    <m:sub>
                      <m:r>
                        <m:rPr>
                          <m:sty m:val="p"/>
                        </m:rPr>
                        <a:rPr lang="en-US" b="0" i="0" sz="2600">
                          <a:solidFill>
                            <a:srgbClr val="0B2B4E"/>
                          </a:solidFill>
                          <a:latin typeface="Cambria Math"/>
                        </a:rPr>
                        <m:t xml:space="preserve">D</m:t>
                      </m:r>
                    </m:sub>
                  </m:sSub>
                  <m:r>
                    <m:rPr>
                      <m:sty m:val="p"/>
                    </m:rPr>
                    <a:rPr lang="en-US" b="0" i="0" sz="2600">
                      <a:solidFill>
                        <a:srgbClr val="0B2B4E"/>
                      </a:solidFill>
                      <a:latin typeface="Cambria Math"/>
                    </a:rPr>
                    <m:t xml:space="preserve"> = </m:t>
                  </m:r>
                  <m:f>
                    <m:fPr>
                      <m:ctrlPr>
                        <a:rPr lang="en-US" i="1">
                          <a:latin typeface="Cambria Math"/>
                        </a:rPr>
                      </m:ctrlPr>
                    </m:fPr>
                    <m:num>
                      <m:r>
                        <m:rPr>
                          <m:sty m:val="p"/>
                        </m:rPr>
                        <a:rPr lang="en-US" b="0" i="0" sz="2600">
                          <a:solidFill>
                            <a:srgbClr val="0B2B4E"/>
                          </a:solidFill>
                          <a:latin typeface="Cambria Math"/>
                        </a:rPr>
                        <m:t xml:space="preserve">%Δ</m:t>
                      </m:r>
                      <m:r>
                        <a:rPr lang="en-US" b="0" i="1" sz="2600">
                          <a:solidFill>
                            <a:srgbClr val="0B2B4E"/>
                          </a:solidFill>
                          <a:latin typeface="Cambria Math"/>
                          <a:ea typeface="Cambria Math"/>
                        </a:rPr>
                        <m:t>Q</m:t>
                      </m:r>
                    </m:num>
                    <m:den>
                      <m:r>
                        <m:rPr>
                          <m:sty m:val="p"/>
                        </m:rPr>
                        <a:rPr lang="en-US" b="0" i="0" sz="2600">
                          <a:solidFill>
                            <a:srgbClr val="0B2B4E"/>
                          </a:solidFill>
                          <a:latin typeface="Cambria Math"/>
                        </a:rPr>
                        <m:t xml:space="preserve">%Δ</m:t>
                      </m:r>
                      <m:r>
                        <a:rPr lang="en-US" b="0" i="1" sz="2600">
                          <a:solidFill>
                            <a:srgbClr val="0B2B4E"/>
                          </a:solidFill>
                          <a:latin typeface="Cambria Math"/>
                          <a:ea typeface="Cambria Math"/>
                        </a:rPr>
                        <m:t>P</m:t>
                      </m:r>
                    </m:den>
                  </m:f>
                  <m:r>
                    <m:rPr>
                      <m:sty m:val="p"/>
                    </m:rPr>
                    <a:rPr lang="en-US" b="0" i="0" sz="2600">
                      <a:solidFill>
                        <a:srgbClr val="0B2B4E"/>
                      </a:solidFill>
                      <a:latin typeface="Cambria Math"/>
                    </a:rPr>
                    <m:t xml:space="preserve"> = </m:t>
                  </m:r>
                  <m:f>
                    <m:fPr>
                      <m:ctrlPr>
                        <a:rPr lang="en-US" i="1">
                          <a:latin typeface="Cambria Math"/>
                        </a:rPr>
                      </m:ctrlPr>
                    </m:fPr>
                    <m:num>
                      <m:r>
                        <m:rPr>
                          <m:sty m:val="p"/>
                        </m:rPr>
                        <a:rPr lang="en-US" b="0" i="0" sz="2600">
                          <a:solidFill>
                            <a:srgbClr val="0B2B4E"/>
                          </a:solidFill>
                          <a:latin typeface="Cambria Math"/>
                        </a:rPr>
                        <m:t xml:space="preserve">%Δ</m:t>
                      </m:r>
                      <m:r>
                        <a:rPr lang="en-US" b="0" i="1" sz="2600">
                          <a:solidFill>
                            <a:srgbClr val="0B2B4E"/>
                          </a:solidFill>
                          <a:latin typeface="Cambria Math"/>
                          <a:ea typeface="Cambria Math"/>
                        </a:rPr>
                        <m:t>Q</m:t>
                      </m:r>
                    </m:num>
                    <m:den>
                      <m:r>
                        <m:rPr>
                          <m:sty m:val="p"/>
                        </m:rPr>
                        <a:rPr lang="en-US" b="0" i="0" sz="2600">
                          <a:solidFill>
                            <a:srgbClr val="0B2B4E"/>
                          </a:solidFill>
                          <a:latin typeface="Cambria Math"/>
                        </a:rPr>
                        <m:t xml:space="preserve">12.5%</m:t>
                      </m:r>
                    </m:den>
                  </m:f>
                  <m:r>
                    <m:rPr>
                      <m:sty m:val="p"/>
                    </m:rPr>
                    <a:rPr lang="en-US" b="0" i="0" sz="2600">
                      <a:solidFill>
                        <a:srgbClr val="0B2B4E"/>
                      </a:solidFill>
                      <a:latin typeface="Cambria Math"/>
                    </a:rPr>
                    <m:t xml:space="preserve"> = −2</m:t>
                  </m:r>
                </m:oMath>
              </m:oMathPara>
            </a14:m>
            <a:endParaRPr lang="en-US" sz="2600"/>
          </a:p>
        </p:txBody>
      </p:sp>
      <p:sp>
        <p:nvSpPr>
          <p:cNvPr id="9" name="TextBox 8"/>
          <p:cNvSpPr txBox="1"/>
          <p:nvPr/>
        </p:nvSpPr>
        <p:spPr>
          <a:xfrm>
            <a:off x="754919" y="3566160"/>
            <a:ext cx="10972800" cy="4572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a:solidFill>
                  <a:srgbClr val="0B2B4E"/>
                </a:solidFill>
                <a:latin typeface="Calibri"/>
              </a:rPr>
              <a:t>where  %ΔP = (8.99 − 7.99) / 7.99 = +12.5%,   so   %ΔQ = −25%</a:t>
            </a:r>
          </a:p>
        </p:txBody>
      </p:sp>
      <p:sp>
        <p:nvSpPr>
          <p:cNvPr id="10" name="TextBox 9"/>
          <p:cNvSpPr txBox="1"/>
          <p:nvPr/>
        </p:nvSpPr>
        <p:spPr>
          <a:xfrm>
            <a:off x="389159" y="4297680"/>
            <a:ext cx="11338560" cy="192024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a:solidFill>
                  <a:srgbClr val="0B2B4E"/>
                </a:solidFill>
                <a:latin typeface="Calibri"/>
              </a:rPr>
              <a:t>→  a </a:t>
            </a:r>
            <a:r>
              <a:rPr sz="2200" b="1">
                <a:solidFill>
                  <a:srgbClr val="0070C0"/>
                </a:solidFill>
                <a:latin typeface="Calibri"/>
              </a:rPr>
              <a:t>25% decline</a:t>
            </a:r>
            <a:r>
              <a:rPr sz="2200">
                <a:solidFill>
                  <a:srgbClr val="0B2B4E"/>
                </a:solidFill>
                <a:latin typeface="Calibri"/>
              </a:rPr>
              <a:t> in subscriptions</a:t>
            </a:r>
          </a:p>
          <a:p>
            <a:pPr algn="l"/>
            <a:r>
              <a:rPr b="1">
                <a:latin typeface="Calibri"/>
              </a:rPr>
              <a:t>Revenue:</a:t>
            </a:r>
            <a:r>
              <a:rPr>
                <a:latin typeface="Calibri"/>
              </a:rPr>
              <a:t> demand is </a:t>
            </a:r>
            <a:r>
              <a:rPr b="1">
                <a:solidFill>
                  <a:srgbClr val="0070C0"/>
                </a:solidFill>
                <a:latin typeface="Calibri"/>
              </a:rPr>
              <a:t>elastic</a:t>
            </a:r>
            <a:r>
              <a:rPr>
                <a:latin typeface="Calibri"/>
              </a:rPr>
              <a:t>, so quantity outweighs price  →  revenue falls</a:t>
            </a:r>
          </a:p>
          <a:p>
            <a:pPr algn="l"/>
            <a:r>
              <a:rPr b="1">
                <a:latin typeface="Calibri"/>
              </a:rPr>
              <a:t>Profits:</a:t>
            </a:r>
            <a:r>
              <a:rPr>
                <a:latin typeface="Calibri"/>
              </a:rPr>
              <a:t> fewer subscribers, near-zero cost savings  →  profits likely fell too</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0A1C9B1D-C6FC-5AB0-8DBD-C1AF56BDAF72}" type="slidenum">
              <a:rPr lang="en-US" sz="1200" dirty="0">
                <a:solidFill>
                  <a:srgbClr val="555B66"/>
                </a:solidFill>
                <a:latin typeface="Calibri"/>
              </a:rPr>
              <a:t>16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fade">
                                      <p:cBhvr>
                                        <p:cTn id="17" dur="5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xEl>
                                              <p:pRg st="1" end="1"/>
                                            </p:txEl>
                                          </p:spTgt>
                                        </p:tgtEl>
                                        <p:attrNameLst>
                                          <p:attrName>style.visibility</p:attrName>
                                        </p:attrNameLst>
                                      </p:cBhvr>
                                      <p:to>
                                        <p:strVal val="visible"/>
                                      </p:to>
                                    </p:set>
                                    <p:animEffect transition="in" filter="fade">
                                      <p:cBhvr>
                                        <p:cTn id="22" dur="500"/>
                                        <p:tgtEl>
                                          <p:spTgt spid="10">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xEl>
                                              <p:pRg st="2" end="2"/>
                                            </p:txEl>
                                          </p:spTgt>
                                        </p:tgtEl>
                                        <p:attrNameLst>
                                          <p:attrName>style.visibility</p:attrName>
                                        </p:attrNameLst>
                                      </p:cBhvr>
                                      <p:to>
                                        <p:strVal val="visible"/>
                                      </p:to>
                                    </p:set>
                                    <p:animEffect transition="in" filter="fade">
                                      <p:cBhvr>
                                        <p:cTn id="27" dur="50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Is McDonald's Cutting Prices?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mcdonalds_image3.png"/>
          <p:cNvPicPr>
            <a:picLocks noChangeAspect="1"/>
          </p:cNvPicPr>
          <p:nvPr/>
        </p:nvPicPr>
        <p:blipFill>
          <a:blip r:embed="rId2"/>
          <a:stretch>
            <a:fillRect/>
          </a:stretch>
        </p:blipFill>
        <p:spPr>
          <a:xfrm>
            <a:off x="3108960" y="1463040"/>
            <a:ext cx="5943600" cy="1863171"/>
          </a:xfrm>
          <a:prstGeom prst="rect">
            <a:avLst/>
          </a:prstGeom>
        </p:spPr>
      </p:pic>
      <p:sp>
        <p:nvSpPr>
          <p:cNvPr id="8" name="TextBox 7"/>
          <p:cNvSpPr txBox="1"/>
          <p:nvPr/>
        </p:nvSpPr>
        <p:spPr>
          <a:xfrm>
            <a:off x="1097280" y="3657600"/>
            <a:ext cx="10058400" cy="256032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What does this suggest about its demand?</a:t>
            </a:r>
          </a:p>
          <a:p>
            <a:pPr algn="l"/>
            <a:r>
              <a:rPr>
                <a:latin typeface="Calibri"/>
              </a:rPr>
              <a:t>How did it persuade franchisees to adopt the cuts?</a:t>
            </a:r>
          </a:p>
          <a:p>
            <a:pPr algn="l"/>
            <a:r>
              <a:rPr>
                <a:latin typeface="Calibri"/>
              </a:rPr>
              <a:t>What does this reveal about demand across locations?</a:t>
            </a:r>
          </a:p>
          <a:p>
            <a:pPr algn="l"/>
            <a:r>
              <a:rPr>
                <a:latin typeface="Calibri"/>
              </a:rPr>
              <a:t>What are the implications for revenue and profit given a franchise's </a:t>
            </a:r>
            <a:r>
              <a:rPr b="1">
                <a:solidFill>
                  <a:srgbClr val="0070C0"/>
                </a:solidFill>
                <a:latin typeface="Calibri"/>
              </a:rPr>
              <a:t>Eᴅ</a:t>
            </a:r>
            <a:r>
              <a:rPr>
                <a:latin typeface="Calibri"/>
              </a:rPr>
              <a: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D11E3725-2B2B-5068-95F8-EA42C5BEA37A}" type="slidenum">
              <a:rPr lang="en-US" sz="1200" dirty="0">
                <a:solidFill>
                  <a:srgbClr val="555B66"/>
                </a:solidFill>
                <a:latin typeface="Calibri"/>
              </a:rPr>
              <a:t>17</a:t>
            </a:fld>
          </a:p>
        </p:txBody>
      </p:sp>
      <p:grpSp>
        <p:nvGrpSpPr>
          <p:cNvPr id="9700" name="Group 14">
            <a:extLst>
              <a:ext uri="{FF2B5EF4-FFF2-40B4-BE49-F238E27FC236}">
                <a16:creationId xmlns:a16="http://schemas.microsoft.com/office/drawing/2014/main" id="{C7881A0F-62FF-0536-16AD-55B1DC27DD3D}"/>
              </a:ext>
            </a:extLst>
          </p:cNvPr>
          <p:cNvGrpSpPr/>
          <p:nvPr/>
        </p:nvGrpSpPr>
        <p:grpSpPr>
          <a:xfrm>
            <a:off x="6826842" y="6190488"/>
            <a:ext cx="5112854" cy="539496"/>
            <a:chOff x="7550576" y="5715000"/>
            <a:chExt cx="4389120" cy="658368"/>
          </a:xfrm>
        </p:grpSpPr>
        <p:sp>
          <p:nvSpPr>
            <p:cNvPr id="97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animEffect transition="in" filter="fade">
                                      <p:cBhvr>
                                        <p:cTn id="7" dur="500"/>
                                        <p:tgtEl>
                                          <p:spTgt spid="8">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2" end="2"/>
                                            </p:txEl>
                                          </p:spTgt>
                                        </p:tgtEl>
                                        <p:attrNameLst>
                                          <p:attrName>style.visibility</p:attrName>
                                        </p:attrNameLst>
                                      </p:cBhvr>
                                      <p:to>
                                        <p:strVal val="visible"/>
                                      </p:to>
                                    </p:set>
                                    <p:animEffect transition="in" filter="fade">
                                      <p:cBhvr>
                                        <p:cTn id="12" dur="500"/>
                                        <p:tgtEl>
                                          <p:spTgt spid="8">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3" end="3"/>
                                            </p:txEl>
                                          </p:spTgt>
                                        </p:tgtEl>
                                        <p:attrNameLst>
                                          <p:attrName>style.visibility</p:attrName>
                                        </p:attrNameLst>
                                      </p:cBhvr>
                                      <p:to>
                                        <p:strVal val="visible"/>
                                      </p:to>
                                    </p:set>
                                    <p:animEffect transition="in" filter="fade">
                                      <p:cBhvr>
                                        <p:cTn id="17"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Mega Millions, Revisited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2039" y="1783080"/>
            <a:ext cx="10881360" cy="329184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April 2025: Mega Millions raised its ticket price from $2 to $5  (+150%)</a:t>
            </a:r>
          </a:p>
          <a:p>
            <a:pPr algn="l"/>
            <a:r>
              <a:rPr>
                <a:latin typeface="Calibri"/>
              </a:rPr>
              <a:t>In New York, tickets sold per drawing fell from ~1.9 million to ~560,000  (≈ −70%)</a:t>
            </a:r>
          </a:p>
          <a:p>
            <a:pPr algn="l"/>
            <a:r>
              <a:rPr>
                <a:latin typeface="Calibri"/>
              </a:rPr>
              <a:t>We computed  </a:t>
            </a:r>
            <a:r>
              <a:rPr b="1">
                <a:solidFill>
                  <a:srgbClr val="0070C0"/>
                </a:solidFill>
                <a:latin typeface="Calibri"/>
              </a:rPr>
              <a:t>Eᴅ ≈ −0.47</a:t>
            </a:r>
            <a:r>
              <a:rPr>
                <a:latin typeface="Calibri"/>
              </a:rPr>
              <a:t>  →  inelastic</a:t>
            </a:r>
          </a:p>
          <a:p>
            <a:pPr algn="l"/>
            <a:r>
              <a:rPr b="1">
                <a:latin typeface="Calibri"/>
              </a:rPr>
              <a:t>Inelastic demand suggests revenue should RISE when the price rises. Did it?</a:t>
            </a:r>
          </a:p>
        </p:txBody>
      </p:sp>
      <p:sp>
        <p:nvSpPr>
          <p:cNvPr id="8" name="Rounded Rectangle 7"/>
          <p:cNvSpPr/>
          <p:nvPr/>
        </p:nvSpPr>
        <p:spPr>
          <a:xfrm>
            <a:off x="1417320" y="5257800"/>
            <a:ext cx="9326880" cy="77724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5367528"/>
            <a:ext cx="8961120" cy="557784"/>
          </a:xfrm>
          <a:prstGeom prst="rect">
            <a:avLst/>
          </a:prstGeom>
          <a:noFill/>
        </p:spPr>
        <p:txBody>
          <a:bodyPr wrap="square" lIns="45720" rIns="45720" tIns="0" bIns="0" anchor="ctr">
            <a:spAutoFit/>
          </a:bodyPr>
          <a:lstStyle/>
          <a:p>
            <a:pPr algn="l"/>
            <a:r>
              <a:rPr sz="1500" b="1" i="0" u="none">
                <a:solidFill>
                  <a:srgbClr val="0B2B4E"/>
                </a:solidFill>
                <a:latin typeface="Calibri"/>
              </a:rPr>
              <a:t>Caution: </a:t>
            </a:r>
            <a:r>
              <a:rPr sz="1500" b="0" i="0" u="none">
                <a:solidFill>
                  <a:srgbClr val="0B2B4E"/>
                </a:solidFill>
                <a:latin typeface="Calibri"/>
              </a:rPr>
              <a:t>Method 1 approximates % changes – for LARGE changes like this one, the elasticity-revenue rule can mislead</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1F781904-1376-5E0B-A609-DB08D4E0BB65}" type="slidenum">
              <a:rPr lang="en-US" sz="1200" dirty="0">
                <a:solidFill>
                  <a:srgbClr val="555B66"/>
                </a:solidFill>
                <a:latin typeface="Calibri"/>
              </a:rPr>
              <a:t>18</a:t>
            </a:fld>
          </a:p>
        </p:txBody>
      </p:sp>
      <p:grpSp>
        <p:nvGrpSpPr>
          <p:cNvPr id="9700" name="Group 14">
            <a:extLst>
              <a:ext uri="{FF2B5EF4-FFF2-40B4-BE49-F238E27FC236}">
                <a16:creationId xmlns:a16="http://schemas.microsoft.com/office/drawing/2014/main" id="{C7881A0F-62FF-0536-16AD-55B1DC27DD3D}"/>
              </a:ext>
            </a:extLst>
          </p:cNvPr>
          <p:cNvGrpSpPr/>
          <p:nvPr/>
        </p:nvGrpSpPr>
        <p:grpSpPr>
          <a:xfrm>
            <a:off x="6826842" y="6190488"/>
            <a:ext cx="5112854" cy="539496"/>
            <a:chOff x="7550576" y="5715000"/>
            <a:chExt cx="4389120" cy="658368"/>
          </a:xfrm>
        </p:grpSpPr>
        <p:sp>
          <p:nvSpPr>
            <p:cNvPr id="97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700"/>
                                        </p:tgtEl>
                                        <p:attrNameLst>
                                          <p:attrName>style.visibility</p:attrName>
                                        </p:attrNameLst>
                                      </p:cBhvr>
                                      <p:to>
                                        <p:strVal val="visible"/>
                                      </p:to>
                                    </p:set>
                                    <p:animEffect transition="in" filter="fade">
                                      <p:cBhvr>
                                        <p:cTn id="22" dur="500"/>
                                        <p:tgtEl>
                                          <p:spTgt spid="97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Marginal Revenue</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2</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Outline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1</a:t>
            </a:r>
          </a:p>
        </p:txBody>
      </p:sp>
      <p:sp>
        <p:nvSpPr>
          <p:cNvPr id="8" name="TextBox 7"/>
          <p:cNvSpPr txBox="1"/>
          <p:nvPr/>
        </p:nvSpPr>
        <p:spPr>
          <a:xfrm>
            <a:off x="1874519" y="149504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The law of demand</a:t>
            </a:r>
          </a:p>
        </p:txBody>
      </p:sp>
      <p:sp>
        <p:nvSpPr>
          <p:cNvPr id="9" name="Oval 8"/>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2</a:t>
            </a:r>
          </a:p>
        </p:txBody>
      </p:sp>
      <p:sp>
        <p:nvSpPr>
          <p:cNvPr id="10" name="TextBox 9"/>
          <p:cNvSpPr txBox="1"/>
          <p:nvPr/>
        </p:nvSpPr>
        <p:spPr>
          <a:xfrm>
            <a:off x="1874519" y="232714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Elasticities</a:t>
            </a:r>
          </a:p>
        </p:txBody>
      </p:sp>
      <p:sp>
        <p:nvSpPr>
          <p:cNvPr id="11" name="Oval 10"/>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3</a:t>
            </a:r>
          </a:p>
        </p:txBody>
      </p:sp>
      <p:sp>
        <p:nvSpPr>
          <p:cNvPr id="12" name="TextBox 11"/>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and revenue</a:t>
            </a:r>
          </a:p>
        </p:txBody>
      </p:sp>
      <p:sp>
        <p:nvSpPr>
          <p:cNvPr id="13" name="Oval 12"/>
          <p:cNvSpPr/>
          <p:nvPr/>
        </p:nvSpPr>
        <p:spPr>
          <a:xfrm>
            <a:off x="1051560" y="400964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4</a:t>
            </a:r>
          </a:p>
        </p:txBody>
      </p:sp>
      <p:sp>
        <p:nvSpPr>
          <p:cNvPr id="14" name="TextBox 13"/>
          <p:cNvSpPr txBox="1"/>
          <p:nvPr/>
        </p:nvSpPr>
        <p:spPr>
          <a:xfrm>
            <a:off x="1874519"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Elasticity and revenue</a:t>
            </a:r>
          </a:p>
        </p:txBody>
      </p:sp>
      <p:sp>
        <p:nvSpPr>
          <p:cNvPr id="15" name="Rounded Rectangle 14"/>
          <p:cNvSpPr/>
          <p:nvPr/>
        </p:nvSpPr>
        <p:spPr>
          <a:xfrm>
            <a:off x="822960" y="4768596"/>
            <a:ext cx="11109960"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841748"/>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5</a:t>
            </a:r>
          </a:p>
        </p:txBody>
      </p:sp>
      <p:sp>
        <p:nvSpPr>
          <p:cNvPr id="17" name="TextBox 16"/>
          <p:cNvSpPr txBox="1"/>
          <p:nvPr/>
        </p:nvSpPr>
        <p:spPr>
          <a:xfrm>
            <a:off x="1874519"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Marginal revenue</a:t>
            </a:r>
          </a:p>
          <a:p>
            <a:pPr algn="l">
              <a:spcBef>
                <a:spcPts val="0"/>
              </a:spcBef>
              <a:buNone/>
            </a:pPr>
            <a:r>
              <a:rPr sz="2200">
                <a:solidFill>
                  <a:srgbClr val="555B66"/>
                </a:solidFill>
                <a:latin typeface="Calibri"/>
              </a:rPr>
              <a:t>The extra revenue from selling one more unit</a:t>
            </a:r>
          </a:p>
        </p:txBody>
      </p:sp>
      <p:sp>
        <p:nvSpPr>
          <p:cNvPr id="18" name="Oval 17"/>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6</a:t>
            </a:r>
          </a:p>
        </p:txBody>
      </p:sp>
      <p:sp>
        <p:nvSpPr>
          <p:cNvPr id="19" name="TextBox 18"/>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estimation</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3" name="TextBox 22"/>
          <p:cNvSpPr txBox="1"/>
          <p:nvPr/>
        </p:nvSpPr>
        <p:spPr>
          <a:xfrm>
            <a:off x="11475720" y="6583680"/>
            <a:ext cx="502920" cy="292608"/>
          </a:xfrm>
          <a:prstGeom prst="rect">
            <a:avLst/>
          </a:prstGeom>
          <a:noFill/>
        </p:spPr>
        <p:txBody>
          <a:bodyPr wrap="none" lIns="0" rIns="0" tIns="0" bIns="0">
            <a:spAutoFit/>
          </a:bodyPr>
          <a:lstStyle/>
          <a:p>
            <a:pPr algn="r"/>
            <a:fld id="{5DCA6EF3-CA19-5683-AC1B-F9B07305DAD0}" type="slidenum">
              <a:rPr lang="en-US" sz="1200" dirty="0">
                <a:solidFill>
                  <a:srgbClr val="555B66"/>
                </a:solidFill>
                <a:latin typeface="Calibri"/>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Do We Care About Marginal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General objective: Maximize </a:t>
            </a:r>
            <a:r>
              <a:rPr b="1">
                <a:latin typeface="Calibri"/>
              </a:rPr>
              <a:t>net benefits</a:t>
            </a:r>
          </a:p>
          <a:p>
            <a:pPr algn="l" lvl="1"/>
            <a:r>
              <a:rPr>
                <a:latin typeface="Calibri"/>
              </a:rPr>
              <a:t>Use marginal analysis</a:t>
            </a:r>
          </a:p>
          <a:p>
            <a:pPr algn="l" lvl="1"/>
            <a:r>
              <a:rPr>
                <a:latin typeface="Calibri"/>
              </a:rPr>
              <a:t>Rule: net benefits are maximized where </a:t>
            </a:r>
            <a:r>
              <a:rPr b="1" i="1">
                <a:latin typeface="Calibri"/>
              </a:rPr>
              <a:t>MB = MC</a:t>
            </a:r>
          </a:p>
          <a:p>
            <a:pPr algn="l" lvl="1"/>
            <a:r>
              <a:rPr>
                <a:latin typeface="Calibri"/>
              </a:rPr>
              <a:t>Example: Optimal amount of running</a:t>
            </a:r>
          </a:p>
          <a:p>
            <a:pPr algn="l"/>
            <a:r>
              <a:rPr>
                <a:latin typeface="Calibri"/>
              </a:rPr>
              <a:t>Firms’ objective: </a:t>
            </a:r>
            <a:r>
              <a:rPr b="1">
                <a:solidFill>
                  <a:srgbClr val="C00000"/>
                </a:solidFill>
                <a:latin typeface="Calibri"/>
              </a:rPr>
              <a:t>Maximize profits</a:t>
            </a:r>
          </a:p>
          <a:p>
            <a:pPr algn="l" lvl="1"/>
            <a:r>
              <a:rPr>
                <a:latin typeface="Calibri"/>
              </a:rPr>
              <a:t>Rule: produce where  </a:t>
            </a:r>
            <a:r>
              <a:rPr b="1" i="1">
                <a:latin typeface="Calibri"/>
              </a:rPr>
              <a:t>Marginal Revenue = Marginal Cost   (MR = MC)</a:t>
            </a:r>
          </a:p>
          <a:p>
            <a:pPr algn="l"/>
            <a:r>
              <a:rPr>
                <a:latin typeface="Calibri"/>
              </a:rPr>
              <a:t>Today: how to compute </a:t>
            </a:r>
            <a:r>
              <a:rPr b="1" i="1">
                <a:solidFill>
                  <a:srgbClr val="C00000"/>
                </a:solidFill>
                <a:latin typeface="Calibri"/>
              </a:rPr>
              <a:t>MR</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8805CC04-5CE8-5D74-9E68-D8915217C41F}" type="slidenum">
              <a:rPr lang="en-US" sz="1200" dirty="0">
                <a:solidFill>
                  <a:srgbClr val="555B66"/>
                </a:solidFill>
                <a:latin typeface="Calibri"/>
              </a:rPr>
              <a:t>21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4" end="4"/>
                                            </p:txEl>
                                          </p:spTgt>
                                        </p:tgtEl>
                                        <p:attrNameLst>
                                          <p:attrName>style.visibility</p:attrName>
                                        </p:attrNameLst>
                                      </p:cBhvr>
                                      <p:to>
                                        <p:strVal val="visible"/>
                                      </p:to>
                                    </p:set>
                                    <p:animEffect transition="in" filter="fade">
                                      <p:cBhvr>
                                        <p:cTn id="7" dur="500"/>
                                        <p:tgtEl>
                                          <p:spTgt spid="7">
                                            <p:txEl>
                                              <p:pRg st="4" end="4"/>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5" end="5"/>
                                            </p:txEl>
                                          </p:spTgt>
                                        </p:tgtEl>
                                        <p:attrNameLst>
                                          <p:attrName>style.visibility</p:attrName>
                                        </p:attrNameLst>
                                      </p:cBhvr>
                                      <p:to>
                                        <p:strVal val="visible"/>
                                      </p:to>
                                    </p:set>
                                    <p:animEffect transition="in" filter="fade">
                                      <p:cBhvr>
                                        <p:cTn id="10" dur="500"/>
                                        <p:tgtEl>
                                          <p:spTgt spid="7">
                                            <p:txEl>
                                              <p:pRg st="5" end="5"/>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6" end="6"/>
                                            </p:txEl>
                                          </p:spTgt>
                                        </p:tgtEl>
                                        <p:attrNameLst>
                                          <p:attrName>style.visibility</p:attrName>
                                        </p:attrNameLst>
                                      </p:cBhvr>
                                      <p:to>
                                        <p:strVal val="visible"/>
                                      </p:to>
                                    </p:set>
                                    <p:animEffect transition="in" filter="fade">
                                      <p:cBhvr>
                                        <p:cTn id="15" dur="500"/>
                                        <p:tgtEl>
                                          <p:spTgt spid="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Marginal Revenue: Definition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737360"/>
            <a:ext cx="11338560" cy="13716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Intuitively:</a:t>
            </a:r>
            <a:r>
              <a:rPr>
                <a:latin typeface="Calibri"/>
              </a:rPr>
              <a:t>  Additional revenue from selling one more unit</a:t>
            </a:r>
          </a:p>
          <a:p>
            <a:pPr algn="l"/>
            <a:r>
              <a:rPr b="1">
                <a:latin typeface="Calibri"/>
              </a:rPr>
              <a:t>Mathematically:</a:t>
            </a:r>
            <a:r>
              <a:rPr>
                <a:latin typeface="Calibri"/>
              </a:rPr>
              <a:t>  How much total revenue changes when quantity sold increases by 1 unit</a:t>
            </a:r>
          </a:p>
        </p:txBody>
      </p:sp>
      <p:sp>
        <p:nvSpPr>
          <p:cNvPr id="8" name="TextBox 7"/>
          <p:cNvSpPr txBox="1"/>
          <p:nvPr/>
        </p:nvSpPr>
        <p:spPr>
          <a:xfrm>
            <a:off x="3977639" y="3429000"/>
            <a:ext cx="4206240" cy="12344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3000" b="0" i="1">
                <a:solidFill>
                  <a:srgbClr val="0B2B4E"/>
                </a:solidFill>
                <a:latin typeface="Cambria Math"/>
              </a:defRPr>
            </a:pPr>
            <a14:m>
              <m:oMathPara>
                <m:oMathParaPr>
                  <m:jc m:val="centerGroup"/>
                </m:oMathParaPr>
                <m:oMath>
                  <m:r>
                    <m:rPr>
                      <m:sty m:val="p"/>
                    </m:rPr>
                    <a:rPr lang="en-US" b="0" i="0" sz="3000">
                      <a:solidFill>
                        <a:srgbClr val="0B2B4E"/>
                      </a:solidFill>
                      <a:latin typeface="Cambria Math"/>
                    </a:rPr>
                    <m:t xml:space="preserve">MR</m:t>
                  </m:r>
                  <m:r>
                    <m:rPr>
                      <m:sty m:val="p"/>
                    </m:rPr>
                    <a:rPr lang="en-US" b="0" i="0" sz="3000">
                      <a:solidFill>
                        <a:srgbClr val="0B2B4E"/>
                      </a:solidFill>
                      <a:latin typeface="Cambria Math"/>
                    </a:rPr>
                    <m:t xml:space="preserve"> = </m:t>
                  </m:r>
                  <m:f>
                    <m:fPr>
                      <m:ctrlPr>
                        <a:rPr lang="en-US" i="1">
                          <a:latin typeface="Cambria Math"/>
                        </a:rPr>
                      </m:ctrlPr>
                    </m:fPr>
                    <m:num>
                      <m:r>
                        <m:rPr>
                          <m:sty m:val="p"/>
                        </m:rPr>
                        <a:rPr lang="en-US" b="0" i="0" sz="3000">
                          <a:solidFill>
                            <a:srgbClr val="0B2B4E"/>
                          </a:solidFill>
                          <a:latin typeface="Cambria Math"/>
                        </a:rPr>
                        <m:t xml:space="preserve">Δ</m:t>
                      </m:r>
                      <m:r>
                        <m:rPr>
                          <m:sty m:val="p"/>
                        </m:rPr>
                        <a:rPr lang="en-US" b="0" i="0" sz="3000">
                          <a:solidFill>
                            <a:srgbClr val="0B2B4E"/>
                          </a:solidFill>
                          <a:latin typeface="Cambria Math"/>
                        </a:rPr>
                        <m:t xml:space="preserve">TR</m:t>
                      </m:r>
                    </m:num>
                    <m:den>
                      <m:r>
                        <m:rPr>
                          <m:sty m:val="p"/>
                        </m:rPr>
                        <a:rPr lang="en-US" b="0" i="0" sz="3000">
                          <a:solidFill>
                            <a:srgbClr val="0B2B4E"/>
                          </a:solidFill>
                          <a:latin typeface="Cambria Math"/>
                        </a:rPr>
                        <m:t xml:space="preserve">Δ</m:t>
                      </m:r>
                      <m:r>
                        <a:rPr lang="en-US" b="0" i="1" sz="3000">
                          <a:solidFill>
                            <a:srgbClr val="0B2B4E"/>
                          </a:solidFill>
                          <a:latin typeface="Cambria Math"/>
                          <a:ea typeface="Cambria Math"/>
                        </a:rPr>
                        <m:t>Q</m:t>
                      </m:r>
                    </m:den>
                  </m:f>
                  <m:r>
                    <m:rPr>
                      <m:sty m:val="p"/>
                    </m:rPr>
                    <a:rPr lang="en-US" b="0" i="0" sz="3000">
                      <a:solidFill>
                        <a:srgbClr val="0B2B4E"/>
                      </a:solidFill>
                      <a:latin typeface="Cambria Math"/>
                    </a:rPr>
                    <m:t xml:space="preserve"> = </m:t>
                  </m:r>
                  <m:f>
                    <m:fPr>
                      <m:ctrlPr>
                        <a:rPr lang="en-US" i="1">
                          <a:latin typeface="Cambria Math"/>
                        </a:rPr>
                      </m:ctrlPr>
                    </m:fPr>
                    <m:num>
                      <m:r>
                        <a:rPr lang="en-US" b="0" i="1" sz="3000">
                          <a:solidFill>
                            <a:srgbClr val="0B2B4E"/>
                          </a:solidFill>
                          <a:latin typeface="Cambria Math"/>
                          <a:ea typeface="Cambria Math"/>
                        </a:rPr>
                        <m:t>d</m:t>
                      </m:r>
                      <m:r>
                        <m:rPr>
                          <m:sty m:val="p"/>
                        </m:rPr>
                        <a:rPr lang="en-US" b="0" i="0" sz="3000">
                          <a:solidFill>
                            <a:srgbClr val="0B2B4E"/>
                          </a:solidFill>
                          <a:latin typeface="Cambria Math"/>
                        </a:rPr>
                        <m:t xml:space="preserve">TR</m:t>
                      </m:r>
                    </m:num>
                    <m:den>
                      <m:r>
                        <a:rPr lang="en-US" b="0" i="1" sz="3000">
                          <a:solidFill>
                            <a:srgbClr val="0B2B4E"/>
                          </a:solidFill>
                          <a:latin typeface="Cambria Math"/>
                          <a:ea typeface="Cambria Math"/>
                        </a:rPr>
                        <m:t>d</m:t>
                      </m:r>
                      <m:r>
                        <a:rPr lang="en-US" b="0" i="1" sz="3000">
                          <a:solidFill>
                            <a:srgbClr val="0B2B4E"/>
                          </a:solidFill>
                          <a:latin typeface="Cambria Math"/>
                          <a:ea typeface="Cambria Math"/>
                        </a:rPr>
                        <m:t>Q</m:t>
                      </m:r>
                    </m:den>
                  </m:f>
                </m:oMath>
              </m:oMathPara>
            </a14:m>
            <a:endParaRPr lang="en-US" sz="3000"/>
          </a:p>
        </p:txBody>
      </p:sp>
      <p:sp>
        <p:nvSpPr>
          <p:cNvPr id="9" name="TextBox 8"/>
          <p:cNvSpPr txBox="1"/>
          <p:nvPr/>
        </p:nvSpPr>
        <p:spPr>
          <a:xfrm>
            <a:off x="8549640" y="3703320"/>
            <a:ext cx="1828800" cy="365760"/>
          </a:xfrm>
          <a:prstGeom prst="rect">
            <a:avLst/>
          </a:prstGeom>
          <a:noFill/>
        </p:spPr>
        <p:txBody>
          <a:bodyPr wrap="square" lIns="0" rIns="0" tIns="0" bIns="0">
            <a:spAutoFit/>
          </a:bodyPr>
          <a:lstStyle/>
          <a:p>
            <a:pPr algn="l"/>
            <a:r>
              <a:rPr sz="1800" b="1" i="0" u="none">
                <a:solidFill>
                  <a:srgbClr val="0070C0"/>
                </a:solidFill>
                <a:latin typeface="Calibri"/>
              </a:rPr>
              <a:t>Derivative</a:t>
            </a:r>
          </a:p>
        </p:txBody>
      </p:sp>
      <p:cxnSp>
        <p:nvCxnSpPr>
          <p:cNvPr id="10" name="Connector 9"/>
          <p:cNvCxnSpPr/>
          <p:nvPr/>
        </p:nvCxnSpPr>
        <p:spPr>
          <a:xfrm flipH="1">
            <a:off x="7909560" y="3886200"/>
            <a:ext cx="594360" cy="91439"/>
          </a:xfrm>
          <a:prstGeom prst="line">
            <a:avLst/>
          </a:prstGeom>
          <a:ln w="22225">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9159" y="5166360"/>
            <a:ext cx="11338560"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How to compute </a:t>
            </a:r>
            <a:r>
              <a:rPr b="1" i="1">
                <a:latin typeface="Calibri"/>
              </a:rPr>
              <a:t>MR</a:t>
            </a:r>
            <a:r>
              <a:rPr b="1">
                <a:latin typeface="Calibri"/>
              </a:rPr>
              <a:t> : start from the demand function and use a 3-step method</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57E788C4-EDEA-506B-9706-C2817ED5B6F6}" type="slidenum">
              <a:rPr lang="en-US" sz="1200" dirty="0">
                <a:solidFill>
                  <a:srgbClr val="555B66"/>
                </a:solidFill>
                <a:latin typeface="Calibri"/>
              </a:rPr>
              <a:t>22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Calculus Refresher: Derivatives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2039" y="1645920"/>
            <a:ext cx="11155680" cy="4023360"/>
          </a:xfrm>
          <a:prstGeom prst="rect">
            <a:avLst/>
          </a:prstGeom>
          <a:noFill/>
        </p:spPr>
        <p:txBody>
          <a:bodyPr wrap="square" lIns="45720" rIns="45720" tIns="0" bIns="0">
            <a:spAutoFit/>
          </a:bodyPr>
          <a:lstStyle/>
          <a:p xmlns:m="http://schemas.openxmlformats.org/officeDocument/2006/math" xmlns:a14="http://schemas.microsoft.com/office/drawing/2010/main">
            <a14:m>
              <m:oMath>
                <m:f>
                  <m:fPr>
                    <m:ctrlPr>
                      <a:rPr lang="en-US" i="1">
                        <a:latin typeface="Cambria Math"/>
                      </a:rPr>
                    </m:ctrlPr>
                  </m:fPr>
                  <m:num>
                    <m:r>
                      <a:rPr lang="en-US" b="0" i="1" sz="2400">
                        <a:solidFill>
                          <a:srgbClr val="0B2B4E"/>
                        </a:solidFill>
                        <a:latin typeface="Cambria Math"/>
                        <a:ea typeface="Cambria Math"/>
                      </a:rPr>
                      <m:t>dY</m:t>
                    </m:r>
                  </m:num>
                  <m:den>
                    <m:r>
                      <a:rPr lang="en-US" b="0" i="1" sz="2400">
                        <a:solidFill>
                          <a:srgbClr val="0B2B4E"/>
                        </a:solidFill>
                        <a:latin typeface="Cambria Math"/>
                        <a:ea typeface="Cambria Math"/>
                      </a:rPr>
                      <m:t>dX</m:t>
                    </m:r>
                  </m:den>
                </m:f>
              </m:oMath>
            </a14:m>
            <a:r>
              <a:rPr lang="en-US" sz="2200">
                <a:solidFill>
                  <a:srgbClr val="0B2B4E"/>
                </a:solidFill>
                <a:latin typeface="Calibri"/>
              </a:rPr>
              <a:t> :  derivative of Y with respect to X</a:t>
            </a:r>
            <a:endParaRPr lang="en-US"/>
          </a:p>
          <a:p xmlns:m="http://schemas.openxmlformats.org/officeDocument/2006/math" xmlns:a14="http://schemas.microsoft.com/office/drawing/2010/main">
            <a:r>
              <a:rPr lang="en-US" sz="2200">
                <a:solidFill>
                  <a:srgbClr val="0B2B4E"/>
                </a:solidFill>
                <a:latin typeface="Calibri"/>
              </a:rPr>
              <a:t>Corresponds to the change in Y due to a small (marginal) change in X</a:t>
            </a:r>
            <a:endParaRPr lang="en-US"/>
          </a:p>
          <a:p xmlns:m="http://schemas.openxmlformats.org/officeDocument/2006/math" xmlns:a14="http://schemas.microsoft.com/office/drawing/2010/main">
            <a:r>
              <a:rPr lang="en-US" sz="2200">
                <a:solidFill>
                  <a:srgbClr val="0B2B4E"/>
                </a:solidFill>
                <a:latin typeface="Calibri"/>
              </a:rPr>
              <a:t>Suppose   </a:t>
            </a:r>
            <a14:m>
              <m:oMath>
                <m:r>
                  <a:rPr lang="en-US" b="0" i="1" sz="2400">
                    <a:solidFill>
                      <a:srgbClr val="0B2B4E"/>
                    </a:solidFill>
                    <a:latin typeface="Cambria Math"/>
                    <a:ea typeface="Cambria Math"/>
                  </a:rPr>
                  <m:t>Y</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a</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bX</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c</m:t>
                </m:r>
                <m:sSup>
                  <m:sSupPr>
                    <m:ctrlPr>
                      <a:rPr lang="en-US" i="1">
                        <a:latin typeface="Cambria Math"/>
                      </a:rPr>
                    </m:ctrlPr>
                  </m:sSupPr>
                  <m:e>
                    <m:r>
                      <a:rPr lang="en-US" b="0" i="1" sz="2400">
                        <a:solidFill>
                          <a:srgbClr val="0B2B4E"/>
                        </a:solidFill>
                        <a:latin typeface="Cambria Math"/>
                        <a:ea typeface="Cambria Math"/>
                      </a:rPr>
                      <m:t>X</m:t>
                    </m:r>
                  </m:e>
                  <m:sup>
                    <m:r>
                      <m:rPr>
                        <m:sty m:val="p"/>
                      </m:rPr>
                      <a:rPr lang="en-US" b="0" i="0" sz="2400">
                        <a:solidFill>
                          <a:srgbClr val="0B2B4E"/>
                        </a:solidFill>
                        <a:latin typeface="Cambria Math"/>
                      </a:rPr>
                      <m:t xml:space="preserve">2</m:t>
                    </m:r>
                  </m:sup>
                </m:sSup>
              </m:oMath>
            </a14:m>
            <a:r>
              <a:rPr lang="en-US" sz="2000">
                <a:solidFill>
                  <a:srgbClr val="0B2B4E"/>
                </a:solidFill>
                <a:latin typeface="Calibri"/>
              </a:rPr>
              <a:t>    where a, b, c are constants</a:t>
            </a:r>
            <a:endParaRPr lang="en-US"/>
          </a:p>
          <a:p xmlns:m="http://schemas.openxmlformats.org/officeDocument/2006/math" xmlns:a14="http://schemas.microsoft.com/office/drawing/2010/main">
            <a:r>
              <a:rPr lang="en-US" sz="2200">
                <a:solidFill>
                  <a:srgbClr val="0B2B4E"/>
                </a:solidFill>
                <a:latin typeface="Calibri"/>
              </a:rPr>
              <a:t>E.g., a=1, b=3, c=2:   </a:t>
            </a:r>
            <a14:m>
              <m:oMath>
                <m:r>
                  <a:rPr lang="en-US" b="0" i="1" sz="2400">
                    <a:solidFill>
                      <a:srgbClr val="0B2B4E"/>
                    </a:solidFill>
                    <a:latin typeface="Cambria Math"/>
                    <a:ea typeface="Cambria Math"/>
                  </a:rPr>
                  <m:t>Y</m:t>
                </m:r>
                <m:r>
                  <m:rPr>
                    <m:sty m:val="p"/>
                  </m:rPr>
                  <a:rPr lang="en-US" b="0" i="0" sz="2400">
                    <a:solidFill>
                      <a:srgbClr val="0B2B4E"/>
                    </a:solidFill>
                    <a:latin typeface="Cambria Math"/>
                  </a:rPr>
                  <m:t xml:space="preserve"> = 1 + 3</m:t>
                </m:r>
                <m:r>
                  <a:rPr lang="en-US" b="0" i="1" sz="2400">
                    <a:solidFill>
                      <a:srgbClr val="0B2B4E"/>
                    </a:solidFill>
                    <a:latin typeface="Cambria Math"/>
                    <a:ea typeface="Cambria Math"/>
                  </a:rPr>
                  <m:t>X</m:t>
                </m:r>
                <m:r>
                  <m:rPr>
                    <m:sty m:val="p"/>
                  </m:rPr>
                  <a:rPr lang="en-US" b="0" i="0" sz="2400">
                    <a:solidFill>
                      <a:srgbClr val="0B2B4E"/>
                    </a:solidFill>
                    <a:latin typeface="Cambria Math"/>
                  </a:rPr>
                  <m:t xml:space="preserve"> + 2</m:t>
                </m:r>
                <m:sSup>
                  <m:sSupPr>
                    <m:ctrlPr>
                      <a:rPr lang="en-US" i="1">
                        <a:latin typeface="Cambria Math"/>
                      </a:rPr>
                    </m:ctrlPr>
                  </m:sSupPr>
                  <m:e>
                    <m:r>
                      <a:rPr lang="en-US" b="0" i="1" sz="2400">
                        <a:solidFill>
                          <a:srgbClr val="0B2B4E"/>
                        </a:solidFill>
                        <a:latin typeface="Cambria Math"/>
                        <a:ea typeface="Cambria Math"/>
                      </a:rPr>
                      <m:t>X</m:t>
                    </m:r>
                  </m:e>
                  <m:sup>
                    <m:r>
                      <m:rPr>
                        <m:sty m:val="p"/>
                      </m:rPr>
                      <a:rPr lang="en-US" b="0" i="0" sz="2400">
                        <a:solidFill>
                          <a:srgbClr val="0B2B4E"/>
                        </a:solidFill>
                        <a:latin typeface="Cambria Math"/>
                      </a:rPr>
                      <m:t xml:space="preserve">2</m:t>
                    </m:r>
                  </m:sup>
                </m:sSup>
              </m:oMath>
            </a14:m>
            <a:endParaRPr lang="en-US"/>
          </a:p>
          <a:p xmlns:m="http://schemas.openxmlformats.org/officeDocument/2006/math" xmlns:a14="http://schemas.microsoft.com/office/drawing/2010/main">
            <a:r>
              <a:rPr lang="en-US" sz="2200">
                <a:solidFill>
                  <a:srgbClr val="0B2B4E"/>
                </a:solidFill>
                <a:latin typeface="Calibri"/>
              </a:rPr>
              <a:t>Then:   </a:t>
            </a:r>
            <a14:m>
              <m:oMath>
                <m:f>
                  <m:fPr>
                    <m:ctrlPr>
                      <a:rPr lang="en-US" i="1">
                        <a:latin typeface="Cambria Math"/>
                      </a:rPr>
                    </m:ctrlPr>
                  </m:fPr>
                  <m:num>
                    <m:r>
                      <a:rPr lang="en-US" b="0" i="1" sz="2400">
                        <a:solidFill>
                          <a:srgbClr val="0B2B4E"/>
                        </a:solidFill>
                        <a:latin typeface="Cambria Math"/>
                        <a:ea typeface="Cambria Math"/>
                      </a:rPr>
                      <m:t>dY</m:t>
                    </m:r>
                  </m:num>
                  <m:den>
                    <m:r>
                      <a:rPr lang="en-US" b="0" i="1" sz="2400">
                        <a:solidFill>
                          <a:srgbClr val="0B2B4E"/>
                        </a:solidFill>
                        <a:latin typeface="Cambria Math"/>
                        <a:ea typeface="Cambria Math"/>
                      </a:rPr>
                      <m:t>dX</m:t>
                    </m:r>
                  </m:den>
                </m:f>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m:t>
                </m:r>
                <m:r>
                  <m:rPr>
                    <m:sty m:val="p"/>
                  </m:rPr>
                  <a:rPr lang="en-US" b="0" i="0" sz="2400">
                    <a:solidFill>
                      <a:srgbClr val="0B2B4E"/>
                    </a:solidFill>
                    <a:latin typeface="Cambria Math"/>
                  </a:rPr>
                  <m:t xml:space="preserve"> + 2</m:t>
                </m:r>
                <m:r>
                  <a:rPr lang="en-US" b="0" i="1" sz="2400">
                    <a:solidFill>
                      <a:srgbClr val="0B2B4E"/>
                    </a:solidFill>
                    <a:latin typeface="Cambria Math"/>
                    <a:ea typeface="Cambria Math"/>
                  </a:rPr>
                  <m:t>cX</m:t>
                </m:r>
              </m:oMath>
            </a14:m>
            <a:endParaRPr lang="en-US"/>
          </a:p>
          <a:p xmlns:m="http://schemas.openxmlformats.org/officeDocument/2006/math" xmlns:a14="http://schemas.microsoft.com/office/drawing/2010/main">
            <a:r>
              <a:rPr lang="en-US" sz="2200">
                <a:solidFill>
                  <a:srgbClr val="0B2B4E"/>
                </a:solidFill>
                <a:latin typeface="Calibri"/>
              </a:rPr>
              <a:t>In the above example:   </a:t>
            </a:r>
            <a14:m>
              <m:oMath>
                <m:f>
                  <m:fPr>
                    <m:ctrlPr>
                      <a:rPr lang="en-US" i="1">
                        <a:latin typeface="Cambria Math"/>
                      </a:rPr>
                    </m:ctrlPr>
                  </m:fPr>
                  <m:num>
                    <m:r>
                      <a:rPr lang="en-US" b="0" i="1" sz="2400">
                        <a:solidFill>
                          <a:srgbClr val="0B2B4E"/>
                        </a:solidFill>
                        <a:latin typeface="Cambria Math"/>
                        <a:ea typeface="Cambria Math"/>
                      </a:rPr>
                      <m:t>dY</m:t>
                    </m:r>
                  </m:num>
                  <m:den>
                    <m:r>
                      <a:rPr lang="en-US" b="0" i="1" sz="2400">
                        <a:solidFill>
                          <a:srgbClr val="0B2B4E"/>
                        </a:solidFill>
                        <a:latin typeface="Cambria Math"/>
                        <a:ea typeface="Cambria Math"/>
                      </a:rPr>
                      <m:t>dX</m:t>
                    </m:r>
                  </m:den>
                </m:f>
                <m:r>
                  <m:rPr>
                    <m:sty m:val="p"/>
                  </m:rPr>
                  <a:rPr lang="en-US" b="0" i="0" sz="2400">
                    <a:solidFill>
                      <a:srgbClr val="0B2B4E"/>
                    </a:solidFill>
                    <a:latin typeface="Cambria Math"/>
                  </a:rPr>
                  <m:t xml:space="preserve"> = 3 + 2⋅2⋅</m:t>
                </m:r>
                <m:r>
                  <a:rPr lang="en-US" b="0" i="1" sz="2400">
                    <a:solidFill>
                      <a:srgbClr val="0B2B4E"/>
                    </a:solidFill>
                    <a:latin typeface="Cambria Math"/>
                    <a:ea typeface="Cambria Math"/>
                  </a:rPr>
                  <m:t>X</m:t>
                </m:r>
                <m:r>
                  <m:rPr>
                    <m:sty m:val="p"/>
                  </m:rPr>
                  <a:rPr lang="en-US" b="0" i="0" sz="2400">
                    <a:solidFill>
                      <a:srgbClr val="0B2B4E"/>
                    </a:solidFill>
                    <a:latin typeface="Cambria Math"/>
                  </a:rPr>
                  <m:t xml:space="preserve"> = 3 + 4</m:t>
                </m:r>
                <m:r>
                  <a:rPr lang="en-US" b="0" i="1" sz="2400">
                    <a:solidFill>
                      <a:srgbClr val="0B2B4E"/>
                    </a:solidFill>
                    <a:latin typeface="Cambria Math"/>
                    <a:ea typeface="Cambria Math"/>
                  </a:rPr>
                  <m:t>X</m:t>
                </m:r>
              </m:oMath>
            </a14:m>
            <a:endParaRPr lang="en-US"/>
          </a:p>
        </p:txBody>
      </p:sp>
      <p:sp>
        <p:nvSpPr>
          <p:cNvPr id="8" name="Rounded Rectangle 7"/>
          <p:cNvSpPr/>
          <p:nvPr/>
        </p:nvSpPr>
        <p:spPr>
          <a:xfrm>
            <a:off x="251999" y="5870448"/>
            <a:ext cx="3749039"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See TA’s Math Review Videos</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AA790C0B-6B70-5B65-9ADE-9A8C3E542444}" type="slidenum">
              <a:rPr lang="en-US" sz="1200" dirty="0">
                <a:solidFill>
                  <a:srgbClr val="555B66"/>
                </a:solidFill>
                <a:latin typeface="Calibri"/>
              </a:rPr>
              <a:t>23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7">
                                            <p:txEl>
                                              <p:pRg st="4" end="4"/>
                                            </p:txEl>
                                          </p:spTgt>
                                        </p:tgtEl>
                                        <p:attrNameLst>
                                          <p:attrName>style.visibility</p:attrName>
                                        </p:attrNameLst>
                                      </p:cBhvr>
                                      <p:to>
                                        <p:strVal val="visible"/>
                                      </p:to>
                                    </p:set>
                                    <p:animEffect transition="in" filter="fade">
                                      <p:cBhvr>
                                        <p:cTn id="20" dur="500"/>
                                        <p:tgtEl>
                                          <p:spTgt spid="7">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7">
                                            <p:txEl>
                                              <p:pRg st="5" end="5"/>
                                            </p:txEl>
                                          </p:spTgt>
                                        </p:tgtEl>
                                        <p:attrNameLst>
                                          <p:attrName>style.visibility</p:attrName>
                                        </p:attrNameLst>
                                      </p:cBhvr>
                                      <p:to>
                                        <p:strVal val="visible"/>
                                      </p:to>
                                    </p:set>
                                    <p:animEffect transition="in" filter="fade">
                                      <p:cBhvr>
                                        <p:cTn id="25" dur="500"/>
                                        <p:tgtEl>
                                          <p:spTgt spid="7">
                                            <p:txEl>
                                              <p:pRg st="5" end="5"/>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3-Step Method in Action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8" name="Group pair 118"/>
          <p:cNvGrpSpPr/>
          <p:nvPr/>
        </p:nvGrpSpPr>
        <p:grpSpPr>
          <a:xfrm>
            <a:off x="389159" y="1508760"/>
            <a:ext cx="5394960" cy="685800"/>
            <a:chOff x="389159" y="1508760"/>
            <a:chExt cx="5394960" cy="685800"/>
          </a:xfrm>
        </p:grpSpPr>
        <p:sp>
          <p:nvSpPr>
            <p:cNvPr id="7" name="Rounded Rectangle 6"/>
            <p:cNvSpPr/>
            <p:nvPr/>
          </p:nvSpPr>
          <p:spPr>
            <a:xfrm>
              <a:off x="389159" y="1508760"/>
              <a:ext cx="5394960" cy="6858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2039" y="1618488"/>
              <a:ext cx="5029200" cy="466344"/>
            </a:xfrm>
            <a:prstGeom prst="rect">
              <a:avLst/>
            </a:prstGeom>
            <a:noFill/>
          </p:spPr>
          <p:txBody>
            <a:bodyPr wrap="square" lIns="45720" rIns="45720" tIns="0" bIns="0" anchor="ctr">
              <a:spAutoFit/>
            </a:bodyPr>
            <a:lstStyle/>
            <a:p>
              <a:pPr algn="l"/>
              <a:r>
                <a:rPr sz="1800" b="1" i="0" u="none">
                  <a:solidFill>
                    <a:srgbClr val="0B2B4E"/>
                  </a:solidFill>
                  <a:latin typeface="Calibri"/>
                </a:rPr>
                <a:t>Suppose demand is:   Q = 1,600 − 4P</a:t>
              </a:r>
            </a:p>
          </p:txBody>
        </p:sp>
      </p:grpSp>
      <p:sp>
        <p:nvSpPr>
          <p:cNvPr id="9" name="TextBox 8"/>
          <p:cNvSpPr txBox="1"/>
          <p:nvPr/>
        </p:nvSpPr>
        <p:spPr>
          <a:xfrm>
            <a:off x="389159" y="2715768"/>
            <a:ext cx="5394960" cy="9144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1:  Calculate inverse demand (solve for P)</a:t>
            </a:r>
          </a:p>
        </p:txBody>
      </p:sp>
      <p:sp>
        <p:nvSpPr>
          <p:cNvPr id="10" name="TextBox 9"/>
          <p:cNvSpPr txBox="1"/>
          <p:nvPr/>
        </p:nvSpPr>
        <p:spPr>
          <a:xfrm>
            <a:off x="5897880" y="2514600"/>
            <a:ext cx="5760720" cy="1051560"/>
          </a:xfrm>
          <a:prstGeom prst="roundRect">
            <a:avLst>
              <a:gd name="adj" fmla="val 25000"/>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a:rPr lang="en-US" b="0" i="1" sz="2100">
                      <a:solidFill>
                        <a:srgbClr val="0B2B4E"/>
                      </a:solidFill>
                      <a:latin typeface="Cambria Math"/>
                      <a:ea typeface="Cambria Math"/>
                    </a:rPr>
                    <m:t>P</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a:rPr lang="en-US" b="0" i="1" sz="2100">
                      <a:solidFill>
                        <a:srgbClr val="0B2B4E"/>
                      </a:solidFill>
                      <a:latin typeface="Cambria Math"/>
                      <a:ea typeface="Cambria Math"/>
                    </a:rPr>
                    <m:t>Q</m:t>
                  </m:r>
                </m:oMath>
              </m:oMathPara>
            </a14:m>
            <a:endParaRPr lang="en-US" sz="2100"/>
          </a:p>
        </p:txBody>
      </p:sp>
      <p:sp>
        <p:nvSpPr>
          <p:cNvPr id="11" name="TextBox 10"/>
          <p:cNvSpPr txBox="1"/>
          <p:nvPr/>
        </p:nvSpPr>
        <p:spPr>
          <a:xfrm>
            <a:off x="389159" y="3950208"/>
            <a:ext cx="5394960" cy="9144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2:  Calculate total revenue (multiply P by Q)</a:t>
            </a:r>
          </a:p>
        </p:txBody>
      </p:sp>
      <p:sp>
        <p:nvSpPr>
          <p:cNvPr id="12" name="TextBox 11"/>
          <p:cNvSpPr txBox="1"/>
          <p:nvPr/>
        </p:nvSpPr>
        <p:spPr>
          <a:xfrm>
            <a:off x="5897880" y="3749040"/>
            <a:ext cx="5760720" cy="1051560"/>
          </a:xfrm>
          <a:prstGeom prst="roundRect">
            <a:avLst>
              <a:gd name="adj" fmla="val 25000"/>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m:rPr>
                      <m:sty m:val="p"/>
                    </m:rPr>
                    <a:rPr lang="en-US" b="0" i="0" sz="2100">
                      <a:solidFill>
                        <a:srgbClr val="0B2B4E"/>
                      </a:solidFill>
                      <a:latin typeface="Cambria Math"/>
                    </a:rPr>
                    <m:t xml:space="preserve">TR</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400∙</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sSup>
                    <m:sSupPr>
                      <m:ctrlPr>
                        <a:rPr lang="en-US" i="1">
                          <a:latin typeface="Cambria Math"/>
                        </a:rPr>
                      </m:ctrlPr>
                    </m:sSupPr>
                    <m:e>
                      <m:r>
                        <a:rPr lang="en-US" b="0" i="1" sz="2100">
                          <a:solidFill>
                            <a:srgbClr val="0B2B4E"/>
                          </a:solidFill>
                          <a:latin typeface="Cambria Math"/>
                          <a:ea typeface="Cambria Math"/>
                        </a:rPr>
                        <m:t>Q</m:t>
                      </m:r>
                    </m:e>
                    <m:sup>
                      <m:r>
                        <m:rPr>
                          <m:sty m:val="p"/>
                        </m:rPr>
                        <a:rPr lang="en-US" b="0" i="0" sz="2100">
                          <a:solidFill>
                            <a:srgbClr val="0B2B4E"/>
                          </a:solidFill>
                          <a:latin typeface="Cambria Math"/>
                        </a:rPr>
                        <m:t xml:space="preserve">2</m:t>
                      </m:r>
                    </m:sup>
                  </m:sSup>
                </m:oMath>
              </m:oMathPara>
            </a14:m>
            <a:endParaRPr lang="en-US" sz="2100"/>
          </a:p>
        </p:txBody>
      </p:sp>
      <p:sp>
        <p:nvSpPr>
          <p:cNvPr id="13" name="TextBox 12"/>
          <p:cNvSpPr txBox="1"/>
          <p:nvPr/>
        </p:nvSpPr>
        <p:spPr>
          <a:xfrm>
            <a:off x="389159" y="5184648"/>
            <a:ext cx="5394960" cy="9144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3:  Marginal revenue from total revenue (MR = dTR/dQ)</a:t>
            </a:r>
          </a:p>
        </p:txBody>
      </p:sp>
      <p:sp>
        <p:nvSpPr>
          <p:cNvPr id="14" name="TextBox 13"/>
          <p:cNvSpPr txBox="1"/>
          <p:nvPr/>
        </p:nvSpPr>
        <p:spPr>
          <a:xfrm>
            <a:off x="5897880" y="4983480"/>
            <a:ext cx="5760720" cy="1051560"/>
          </a:xfrm>
          <a:prstGeom prst="roundRect">
            <a:avLst>
              <a:gd name="adj" fmla="val 25000"/>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m:rPr>
                      <m:sty m:val="p"/>
                    </m:rPr>
                    <a:rPr lang="en-US" b="0" i="0" sz="2100">
                      <a:solidFill>
                        <a:srgbClr val="0B2B4E"/>
                      </a:solidFill>
                      <a:latin typeface="Cambria Math"/>
                    </a:rPr>
                    <m:t xml:space="preserve">MR</m:t>
                  </m:r>
                  <m:r>
                    <m:rPr>
                      <m:sty m:val="p"/>
                    </m:rPr>
                    <a:rPr lang="en-US" b="0" i="0" sz="2100">
                      <a:solidFill>
                        <a:srgbClr val="0B2B4E"/>
                      </a:solidFill>
                      <a:latin typeface="Cambria Math"/>
                    </a:rPr>
                    <m:t xml:space="preserve"> = 400 − (2⋅</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m:rPr>
                      <m:sty m:val="p"/>
                    </m:rPr>
                    <a:rPr lang="en-US" b="0" i="0" sz="2100">
                      <a:solidFill>
                        <a:srgbClr val="0B2B4E"/>
                      </a:solidFill>
                      <a:latin typeface="Cambria Math"/>
                    </a:rPr>
                    <m:t xml:space="preserve">)∙</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2</m:t>
                      </m:r>
                    </m:den>
                  </m:f>
                  <m:r>
                    <a:rPr lang="en-US" b="0" i="1" sz="2100">
                      <a:solidFill>
                        <a:srgbClr val="0B2B4E"/>
                      </a:solidFill>
                      <a:latin typeface="Cambria Math"/>
                      <a:ea typeface="Cambria Math"/>
                    </a:rPr>
                    <m:t>Q</m:t>
                  </m:r>
                </m:oMath>
              </m:oMathPara>
            </a14:m>
            <a:endParaRPr lang="en-US" sz="2100"/>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8" name="TextBox 17"/>
          <p:cNvSpPr txBox="1"/>
          <p:nvPr/>
        </p:nvSpPr>
        <p:spPr>
          <a:xfrm>
            <a:off x="11475720" y="6583680"/>
            <a:ext cx="502920" cy="292608"/>
          </a:xfrm>
          <a:prstGeom prst="rect">
            <a:avLst/>
          </a:prstGeom>
          <a:noFill/>
        </p:spPr>
        <p:txBody>
          <a:bodyPr wrap="none" lIns="0" rIns="0" tIns="0" bIns="0">
            <a:spAutoFit/>
          </a:bodyPr>
          <a:lstStyle/>
          <a:p>
            <a:pPr algn="r"/>
            <a:fld id="{F3C05E7E-2C99-5896-A54A-FC60F35DB5B7}" type="slidenum">
              <a:rPr lang="en-US" sz="1200" dirty="0">
                <a:solidFill>
                  <a:srgbClr val="555B66"/>
                </a:solidFill>
                <a:latin typeface="Calibri"/>
              </a:rPr>
              <a:t>24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The “3-Step Method”: Summary Notes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2039" y="1691640"/>
            <a:ext cx="10972800" cy="384048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buNone/>
            </a:pPr>
            <a:r>
              <a:rPr sz="2400" b="1">
                <a:solidFill>
                  <a:srgbClr val="0B2B4E"/>
                </a:solidFill>
                <a:latin typeface="Calibri"/>
              </a:rPr>
              <a:t>1.  Calculate inverse demand</a:t>
            </a:r>
          </a:p>
          <a:p>
            <a:pPr algn="l" lvl="1"/>
            <a:r>
              <a:rPr>
                <a:latin typeface="Calibri"/>
              </a:rPr>
              <a:t>Rearrange demand such that P is expressed as a function of Q  (see Module 2, Video 1)</a:t>
            </a:r>
          </a:p>
          <a:p>
            <a:pPr algn="l">
              <a:spcBef>
                <a:spcPts val="1400"/>
              </a:spcBef>
              <a:buNone/>
            </a:pPr>
            <a:r>
              <a:rPr sz="2400" b="1">
                <a:solidFill>
                  <a:srgbClr val="0B2B4E"/>
                </a:solidFill>
                <a:latin typeface="Calibri"/>
              </a:rPr>
              <a:t>2.  Calculate total revenue   TR = P ∙ Q</a:t>
            </a:r>
          </a:p>
          <a:p>
            <a:pPr algn="l" lvl="1"/>
            <a:r>
              <a:rPr>
                <a:latin typeface="Calibri"/>
              </a:rPr>
              <a:t>Replace P by inverse demand so that TR is expressed as a function of Q only</a:t>
            </a:r>
          </a:p>
          <a:p>
            <a:pPr algn="l">
              <a:spcBef>
                <a:spcPts val="1400"/>
              </a:spcBef>
              <a:buNone/>
            </a:pPr>
            <a:r>
              <a:rPr sz="2400" b="1">
                <a:solidFill>
                  <a:srgbClr val="0B2B4E"/>
                </a:solidFill>
                <a:latin typeface="Calibri"/>
              </a:rPr>
              <a:t>3.  Calculate marginal revenue from total revenue</a:t>
            </a:r>
          </a:p>
          <a:p>
            <a:pPr algn="l" lvl="1"/>
            <a:r>
              <a:rPr>
                <a:latin typeface="Calibri"/>
              </a:rPr>
              <a:t>Derivation of TR with respect to Q</a:t>
            </a:r>
          </a:p>
        </p:txBody>
      </p:sp>
      <p:sp>
        <p:nvSpPr>
          <p:cNvPr id="8" name="Rounded Rectangle 7"/>
          <p:cNvSpPr/>
          <p:nvPr/>
        </p:nvSpPr>
        <p:spPr>
          <a:xfrm>
            <a:off x="251999" y="5870448"/>
            <a:ext cx="475488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PS 2 + Teaching Note Marginal Revenue</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E0729668-7938-543C-9968-420033430F3B}" type="slidenum">
              <a:rPr lang="en-US" sz="1200" dirty="0">
                <a:solidFill>
                  <a:srgbClr val="555B66"/>
                </a:solidFill>
                <a:latin typeface="Calibri"/>
              </a:rPr>
              <a:t>25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500"/>
                                        <p:tgtEl>
                                          <p:spTgt spid="7">
                                            <p:txEl>
                                              <p:pRg st="2" end="2"/>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3" end="3"/>
                                            </p:txEl>
                                          </p:spTgt>
                                        </p:tgtEl>
                                        <p:attrNameLst>
                                          <p:attrName>style.visibility</p:attrName>
                                        </p:attrNameLst>
                                      </p:cBhvr>
                                      <p:to>
                                        <p:strVal val="visible"/>
                                      </p:to>
                                    </p:set>
                                    <p:animEffect transition="in" filter="fade">
                                      <p:cBhvr>
                                        <p:cTn id="10" dur="500"/>
                                        <p:tgtEl>
                                          <p:spTgt spid="7">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animEffect transition="in" filter="fade">
                                      <p:cBhvr>
                                        <p:cTn id="15" dur="500"/>
                                        <p:tgtEl>
                                          <p:spTgt spid="7">
                                            <p:txEl>
                                              <p:pRg st="4" end="4"/>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5" end="5"/>
                                            </p:txEl>
                                          </p:spTgt>
                                        </p:tgtEl>
                                        <p:attrNameLst>
                                          <p:attrName>style.visibility</p:attrName>
                                        </p:attrNameLst>
                                      </p:cBhvr>
                                      <p:to>
                                        <p:strVal val="visible"/>
                                      </p:to>
                                    </p:set>
                                    <p:animEffect transition="in" filter="fade">
                                      <p:cBhvr>
                                        <p:cTn id="18" dur="500"/>
                                        <p:tgtEl>
                                          <p:spTgt spid="7">
                                            <p:txEl>
                                              <p:pRg st="5" end="5"/>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MR: Graphical Representation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600200" y="1572768"/>
            <a:ext cx="0" cy="2130552"/>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600200" y="3703320"/>
            <a:ext cx="5925312" cy="0"/>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97280" y="1353312"/>
            <a:ext cx="640080" cy="292608"/>
          </a:xfrm>
          <a:prstGeom prst="rect">
            <a:avLst/>
          </a:prstGeom>
          <a:noFill/>
        </p:spPr>
        <p:txBody>
          <a:bodyPr wrap="square" lIns="0" rIns="0" tIns="0" bIns="0">
            <a:spAutoFit/>
          </a:bodyPr>
          <a:lstStyle/>
          <a:p>
            <a:pPr algn="l"/>
            <a:r>
              <a:rPr sz="1600" b="1" i="1" u="none">
                <a:solidFill>
                  <a:srgbClr val="0B2B4E"/>
                </a:solidFill>
                <a:latin typeface="Calibri"/>
              </a:rPr>
              <a:t>P</a:t>
            </a:r>
          </a:p>
        </p:txBody>
      </p:sp>
      <p:sp>
        <p:nvSpPr>
          <p:cNvPr id="10" name="TextBox 9"/>
          <p:cNvSpPr txBox="1"/>
          <p:nvPr/>
        </p:nvSpPr>
        <p:spPr>
          <a:xfrm>
            <a:off x="7379208" y="3657600"/>
            <a:ext cx="548640" cy="292608"/>
          </a:xfrm>
          <a:prstGeom prst="rect">
            <a:avLst/>
          </a:prstGeom>
          <a:noFill/>
        </p:spPr>
        <p:txBody>
          <a:bodyPr wrap="square" lIns="0" rIns="0" tIns="0" bIns="0">
            <a:spAutoFit/>
          </a:bodyPr>
          <a:lstStyle/>
          <a:p>
            <a:pPr algn="l"/>
            <a:r>
              <a:rPr sz="1600" b="1" i="1" u="none">
                <a:solidFill>
                  <a:srgbClr val="0B2B4E"/>
                </a:solidFill>
                <a:latin typeface="Calibri"/>
              </a:rPr>
              <a:t>Q</a:t>
            </a:r>
          </a:p>
        </p:txBody>
      </p:sp>
      <p:cxnSp>
        <p:nvCxnSpPr>
          <p:cNvPr id="11" name="Connector 10"/>
          <p:cNvCxnSpPr/>
          <p:nvPr/>
        </p:nvCxnSpPr>
        <p:spPr>
          <a:xfrm flipV="1">
            <a:off x="1600200" y="4133087"/>
            <a:ext cx="0" cy="2130553"/>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00200" y="6263640"/>
            <a:ext cx="5925312" cy="0"/>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97280" y="3913631"/>
            <a:ext cx="640080" cy="292608"/>
          </a:xfrm>
          <a:prstGeom prst="rect">
            <a:avLst/>
          </a:prstGeom>
          <a:noFill/>
        </p:spPr>
        <p:txBody>
          <a:bodyPr wrap="square" lIns="0" rIns="0" tIns="0" bIns="0">
            <a:spAutoFit/>
          </a:bodyPr>
          <a:lstStyle/>
          <a:p>
            <a:pPr algn="l"/>
            <a:r>
              <a:rPr sz="1600" b="1" i="1" u="none">
                <a:solidFill>
                  <a:srgbClr val="0B2B4E"/>
                </a:solidFill>
                <a:latin typeface="Calibri"/>
              </a:rPr>
              <a:t>TR</a:t>
            </a:r>
          </a:p>
        </p:txBody>
      </p:sp>
      <p:sp>
        <p:nvSpPr>
          <p:cNvPr id="14" name="TextBox 13"/>
          <p:cNvSpPr txBox="1"/>
          <p:nvPr/>
        </p:nvSpPr>
        <p:spPr>
          <a:xfrm>
            <a:off x="7379208" y="6217920"/>
            <a:ext cx="548640" cy="292608"/>
          </a:xfrm>
          <a:prstGeom prst="rect">
            <a:avLst/>
          </a:prstGeom>
          <a:noFill/>
        </p:spPr>
        <p:txBody>
          <a:bodyPr wrap="square" lIns="0" rIns="0" tIns="0" bIns="0">
            <a:spAutoFit/>
          </a:bodyPr>
          <a:lstStyle/>
          <a:p>
            <a:pPr algn="l"/>
            <a:r>
              <a:rPr sz="1600" b="1" i="1" u="none">
                <a:solidFill>
                  <a:srgbClr val="0B2B4E"/>
                </a:solidFill>
                <a:latin typeface="Calibri"/>
              </a:rPr>
              <a:t>Q</a:t>
            </a:r>
          </a:p>
        </p:txBody>
      </p:sp>
      <p:cxnSp>
        <p:nvCxnSpPr>
          <p:cNvPr id="15" name="Connector 14"/>
          <p:cNvCxnSpPr/>
          <p:nvPr/>
        </p:nvCxnSpPr>
        <p:spPr>
          <a:xfrm>
            <a:off x="1600200" y="1955799"/>
            <a:ext cx="5120640" cy="174752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84848" y="3310127"/>
            <a:ext cx="457200" cy="320040"/>
          </a:xfrm>
          <a:prstGeom prst="rect">
            <a:avLst/>
          </a:prstGeom>
          <a:noFill/>
        </p:spPr>
        <p:txBody>
          <a:bodyPr wrap="square" lIns="0" rIns="0" tIns="0" bIns="0">
            <a:spAutoFit/>
          </a:bodyPr>
          <a:lstStyle/>
          <a:p>
            <a:pPr algn="l"/>
            <a:r>
              <a:rPr sz="1800" b="1" i="1" u="none">
                <a:solidFill>
                  <a:srgbClr val="C00000"/>
                </a:solidFill>
                <a:latin typeface="Calibri"/>
              </a:rPr>
              <a:t>D</a:t>
            </a:r>
          </a:p>
        </p:txBody>
      </p:sp>
      <p:cxnSp>
        <p:nvCxnSpPr>
          <p:cNvPr id="17" name="Connector 16"/>
          <p:cNvCxnSpPr/>
          <p:nvPr/>
        </p:nvCxnSpPr>
        <p:spPr>
          <a:xfrm>
            <a:off x="1600200" y="1955799"/>
            <a:ext cx="2560320" cy="1747521"/>
          </a:xfrm>
          <a:prstGeom prst="line">
            <a:avLst/>
          </a:prstGeom>
          <a:ln w="34925">
            <a:solidFill>
              <a:srgbClr val="0070C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848356" y="3026156"/>
            <a:ext cx="640080" cy="320040"/>
          </a:xfrm>
          <a:prstGeom prst="rect">
            <a:avLst/>
          </a:prstGeom>
          <a:noFill/>
        </p:spPr>
        <p:txBody>
          <a:bodyPr wrap="square" lIns="0" rIns="0" tIns="0" bIns="0">
            <a:spAutoFit/>
          </a:bodyPr>
          <a:lstStyle/>
          <a:p>
            <a:pPr algn="l"/>
            <a:r>
              <a:rPr sz="1600" b="1" i="1" u="none">
                <a:solidFill>
                  <a:srgbClr val="0070C0"/>
                </a:solidFill>
                <a:latin typeface="Calibri"/>
              </a:rPr>
              <a:t>MR</a:t>
            </a:r>
          </a:p>
        </p:txBody>
      </p:sp>
      <p:sp>
        <p:nvSpPr>
          <p:cNvPr id="19" name="TextBox 18"/>
          <p:cNvSpPr txBox="1"/>
          <p:nvPr/>
        </p:nvSpPr>
        <p:spPr>
          <a:xfrm>
            <a:off x="621792" y="1827783"/>
            <a:ext cx="868680" cy="274320"/>
          </a:xfrm>
          <a:prstGeom prst="rect">
            <a:avLst/>
          </a:prstGeom>
          <a:noFill/>
        </p:spPr>
        <p:txBody>
          <a:bodyPr wrap="square" lIns="0" rIns="0" tIns="0" bIns="0">
            <a:spAutoFit/>
          </a:bodyPr>
          <a:lstStyle/>
          <a:p>
            <a:pPr algn="r"/>
            <a:r>
              <a:rPr sz="1500" b="0" i="0" u="none">
                <a:solidFill>
                  <a:srgbClr val="0B2B4E"/>
                </a:solidFill>
                <a:latin typeface="Calibri"/>
              </a:rPr>
              <a:t>400</a:t>
            </a:r>
          </a:p>
        </p:txBody>
      </p:sp>
      <p:sp>
        <p:nvSpPr>
          <p:cNvPr id="20" name="TextBox 19"/>
          <p:cNvSpPr txBox="1"/>
          <p:nvPr/>
        </p:nvSpPr>
        <p:spPr>
          <a:xfrm>
            <a:off x="3703320" y="3758183"/>
            <a:ext cx="914400" cy="274320"/>
          </a:xfrm>
          <a:prstGeom prst="rect">
            <a:avLst/>
          </a:prstGeom>
          <a:noFill/>
        </p:spPr>
        <p:txBody>
          <a:bodyPr wrap="square" lIns="0" rIns="0" tIns="0" bIns="0">
            <a:spAutoFit/>
          </a:bodyPr>
          <a:lstStyle/>
          <a:p>
            <a:pPr algn="ctr"/>
            <a:r>
              <a:rPr sz="1500" b="0" i="0" u="none">
                <a:solidFill>
                  <a:srgbClr val="0B2B4E"/>
                </a:solidFill>
                <a:latin typeface="Calibri"/>
              </a:rPr>
              <a:t>800</a:t>
            </a:r>
          </a:p>
        </p:txBody>
      </p:sp>
      <p:sp>
        <p:nvSpPr>
          <p:cNvPr id="21" name="TextBox 20"/>
          <p:cNvSpPr txBox="1"/>
          <p:nvPr/>
        </p:nvSpPr>
        <p:spPr>
          <a:xfrm>
            <a:off x="6263640" y="3758183"/>
            <a:ext cx="914400" cy="274320"/>
          </a:xfrm>
          <a:prstGeom prst="rect">
            <a:avLst/>
          </a:prstGeom>
          <a:noFill/>
        </p:spPr>
        <p:txBody>
          <a:bodyPr wrap="square" lIns="0" rIns="0" tIns="0" bIns="0">
            <a:spAutoFit/>
          </a:bodyPr>
          <a:lstStyle/>
          <a:p>
            <a:pPr algn="ctr"/>
            <a:r>
              <a:rPr sz="1500" b="0" i="0" u="none">
                <a:solidFill>
                  <a:srgbClr val="0B2B4E"/>
                </a:solidFill>
                <a:latin typeface="Calibri"/>
              </a:rPr>
              <a:t>1600</a:t>
            </a:r>
          </a:p>
        </p:txBody>
      </p:sp>
      <p:sp>
        <p:nvSpPr>
          <p:cNvPr id="22" name="Oval 21"/>
          <p:cNvSpPr/>
          <p:nvPr/>
        </p:nvSpPr>
        <p:spPr>
          <a:xfrm>
            <a:off x="4110228" y="2779267"/>
            <a:ext cx="100584" cy="10058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20540" y="2589276"/>
            <a:ext cx="1371600" cy="292608"/>
          </a:xfrm>
          <a:prstGeom prst="rect">
            <a:avLst/>
          </a:prstGeom>
          <a:noFill/>
        </p:spPr>
        <p:txBody>
          <a:bodyPr wrap="square" lIns="0" rIns="0" tIns="0" bIns="0">
            <a:spAutoFit/>
          </a:bodyPr>
          <a:lstStyle/>
          <a:p>
            <a:pPr algn="l"/>
            <a:r>
              <a:rPr sz="1400" b="1" i="0" u="none">
                <a:solidFill>
                  <a:srgbClr val="C00000"/>
                </a:solidFill>
                <a:latin typeface="Calibri"/>
              </a:rPr>
              <a:t>Eᴅ = −1</a:t>
            </a:r>
          </a:p>
        </p:txBody>
      </p:sp>
      <p:sp>
        <p:nvSpPr>
          <p:cNvPr id="24" name="TextBox 23"/>
          <p:cNvSpPr txBox="1"/>
          <p:nvPr/>
        </p:nvSpPr>
        <p:spPr>
          <a:xfrm>
            <a:off x="1792224" y="1802892"/>
            <a:ext cx="1828800" cy="274320"/>
          </a:xfrm>
          <a:prstGeom prst="rect">
            <a:avLst/>
          </a:prstGeom>
          <a:noFill/>
        </p:spPr>
        <p:txBody>
          <a:bodyPr wrap="square" lIns="0" rIns="0" tIns="0" bIns="0">
            <a:spAutoFit/>
          </a:bodyPr>
          <a:lstStyle/>
          <a:p>
            <a:pPr algn="l"/>
            <a:r>
              <a:rPr sz="1300" b="0" i="1" u="none">
                <a:solidFill>
                  <a:srgbClr val="555B66"/>
                </a:solidFill>
                <a:latin typeface="Calibri"/>
              </a:rPr>
              <a:t>Elastic portion</a:t>
            </a:r>
          </a:p>
        </p:txBody>
      </p:sp>
      <p:sp>
        <p:nvSpPr>
          <p:cNvPr id="25" name="TextBox 24"/>
          <p:cNvSpPr txBox="1"/>
          <p:nvPr/>
        </p:nvSpPr>
        <p:spPr>
          <a:xfrm>
            <a:off x="4640580" y="3200908"/>
            <a:ext cx="2011680" cy="274320"/>
          </a:xfrm>
          <a:prstGeom prst="rect">
            <a:avLst/>
          </a:prstGeom>
          <a:noFill/>
        </p:spPr>
        <p:txBody>
          <a:bodyPr wrap="square" lIns="0" rIns="0" tIns="0" bIns="0">
            <a:spAutoFit/>
          </a:bodyPr>
          <a:lstStyle/>
          <a:p>
            <a:pPr algn="l"/>
            <a:r>
              <a:rPr sz="1300" b="0" i="1" u="none">
                <a:solidFill>
                  <a:srgbClr val="555B66"/>
                </a:solidFill>
                <a:latin typeface="Calibri"/>
              </a:rPr>
              <a:t>Inelastic portion</a:t>
            </a:r>
          </a:p>
        </p:txBody>
      </p:sp>
      <p:sp>
        <p:nvSpPr>
          <p:cNvPr id="26" name="Rectangle 25"/>
          <p:cNvSpPr/>
          <p:nvPr/>
        </p:nvSpPr>
        <p:spPr>
          <a:xfrm>
            <a:off x="1600200" y="3933613"/>
            <a:ext cx="5120640" cy="2330027"/>
          </a:xfrm>
          <a:custGeom>
            <a:avLst/>
            <a:gdLst/>
            <a:ahLst/>
            <a:cxnLst/>
            <a:rect l="0" t="0" r="5120640" b="2330027"/>
            <a:pathLst>
              <a:path w="5120640" h="2330027">
                <a:moveTo>
                  <a:pt x="0" y="2330027"/>
                </a:moveTo>
                <a:cubicBezTo>
                  <a:pt x="1706880" y="0"/>
                  <a:pt x="3413760" y="0"/>
                  <a:pt x="5120640" y="2330027"/>
                </a:cubicBezTo>
              </a:path>
            </a:pathLst>
          </a:custGeom>
          <a:noFill/>
          <a:effectLst/>
          <a:ln w="38100" cap="rnd">
            <a:solidFill>
              <a:srgbClr val="E09F3E"/>
            </a:solidFill>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00700" y="4843779"/>
            <a:ext cx="731520" cy="320040"/>
          </a:xfrm>
          <a:prstGeom prst="rect">
            <a:avLst/>
          </a:prstGeom>
          <a:noFill/>
        </p:spPr>
        <p:txBody>
          <a:bodyPr wrap="square" lIns="0" rIns="0" tIns="0" bIns="0">
            <a:spAutoFit/>
          </a:bodyPr>
          <a:lstStyle/>
          <a:p>
            <a:pPr algn="l"/>
            <a:r>
              <a:rPr sz="1600" b="1" i="1" u="none">
                <a:solidFill>
                  <a:srgbClr val="E09F3E"/>
                </a:solidFill>
                <a:latin typeface="Calibri"/>
              </a:rPr>
              <a:t>TR</a:t>
            </a:r>
          </a:p>
        </p:txBody>
      </p:sp>
      <p:sp>
        <p:nvSpPr>
          <p:cNvPr id="28" name="TextBox 27"/>
          <p:cNvSpPr txBox="1"/>
          <p:nvPr/>
        </p:nvSpPr>
        <p:spPr>
          <a:xfrm>
            <a:off x="3703320" y="6318503"/>
            <a:ext cx="914400" cy="274320"/>
          </a:xfrm>
          <a:prstGeom prst="rect">
            <a:avLst/>
          </a:prstGeom>
          <a:noFill/>
        </p:spPr>
        <p:txBody>
          <a:bodyPr wrap="square" lIns="0" rIns="0" tIns="0" bIns="0">
            <a:spAutoFit/>
          </a:bodyPr>
          <a:lstStyle/>
          <a:p>
            <a:pPr algn="ctr"/>
            <a:r>
              <a:rPr sz="1500" b="0" i="0" u="none">
                <a:solidFill>
                  <a:srgbClr val="0B2B4E"/>
                </a:solidFill>
                <a:latin typeface="Calibri"/>
              </a:rPr>
              <a:t>800</a:t>
            </a:r>
          </a:p>
        </p:txBody>
      </p:sp>
      <p:cxnSp>
        <p:nvCxnSpPr>
          <p:cNvPr id="29" name="Connector 28"/>
          <p:cNvCxnSpPr/>
          <p:nvPr/>
        </p:nvCxnSpPr>
        <p:spPr>
          <a:xfrm>
            <a:off x="4160520" y="2829559"/>
            <a:ext cx="0" cy="343408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grpSp>
        <p:nvGrpSpPr>
          <p:cNvPr id="138" name="Group pair 138"/>
          <p:cNvGrpSpPr/>
          <p:nvPr/>
        </p:nvGrpSpPr>
        <p:grpSpPr>
          <a:xfrm>
            <a:off x="8001000" y="1554480"/>
            <a:ext cx="3886200" cy="1965960"/>
            <a:chOff x="8001000" y="1554480"/>
            <a:chExt cx="3886200" cy="1965960"/>
          </a:xfrm>
        </p:grpSpPr>
        <p:sp>
          <p:nvSpPr>
            <p:cNvPr id="30" name="Rounded Rectangle 29"/>
            <p:cNvSpPr/>
            <p:nvPr/>
          </p:nvSpPr>
          <p:spPr>
            <a:xfrm>
              <a:off x="8001000" y="1554480"/>
              <a:ext cx="3886200" cy="196596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1664208"/>
              <a:ext cx="3520440" cy="1746504"/>
            </a:xfrm>
            <a:prstGeom prst="rect">
              <a:avLst/>
            </a:prstGeom>
            <a:noFill/>
          </p:spPr>
          <p:txBody>
            <a:bodyPr wrap="square" lIns="45720" rIns="45720" tIns="0" bIns="0" anchor="ctr">
              <a:spAutoFit/>
            </a:bodyPr>
            <a:lstStyle/>
            <a:p>
              <a:pPr algn="l"/>
              <a:r>
                <a:rPr sz="1700" b="0" i="1" u="none">
                  <a:solidFill>
                    <a:srgbClr val="0B2B4E"/>
                  </a:solidFill>
                  <a:latin typeface="Calibri"/>
                </a:rPr>
                <a:t>Q = 1,600 − 4P</a:t>
              </a:r>
              <a:r>
                <a:rPr sz="1700" b="0" i="1" u="none">
                  <a:solidFill>
                    <a:srgbClr val="0B2B4E"/>
                  </a:solidFill>
                  <a:latin typeface="Calibri"/>
                </a:rPr>
                <a:t>
P = 400 − Q/4</a:t>
              </a:r>
              <a:r>
                <a:rPr sz="1700" b="0" i="1" u="none">
                  <a:solidFill>
                    <a:srgbClr val="0B2B4E"/>
                  </a:solidFill>
                  <a:latin typeface="Calibri"/>
                </a:rPr>
                <a:t>
TR = 400Q − Q²/4</a:t>
              </a:r>
              <a:r>
                <a:rPr sz="1700" b="1" i="1" u="none">
                  <a:solidFill>
                    <a:srgbClr val="0070C0"/>
                  </a:solidFill>
                  <a:latin typeface="Calibri"/>
                </a:rPr>
                <a:t>
MR = 400 − Q/2</a:t>
              </a:r>
            </a:p>
          </p:txBody>
        </p:sp>
      </p:grpSp>
      <p:grpSp>
        <p:nvGrpSpPr>
          <p:cNvPr id="139" name="Group pair 139"/>
          <p:cNvGrpSpPr/>
          <p:nvPr/>
        </p:nvGrpSpPr>
        <p:grpSpPr>
          <a:xfrm>
            <a:off x="8001000" y="3977639"/>
            <a:ext cx="3886200" cy="914400"/>
            <a:chOff x="8001000" y="3977639"/>
            <a:chExt cx="3886200" cy="914400"/>
          </a:xfrm>
        </p:grpSpPr>
        <p:sp>
          <p:nvSpPr>
            <p:cNvPr id="32" name="Rounded Rectangle 31"/>
            <p:cNvSpPr/>
            <p:nvPr/>
          </p:nvSpPr>
          <p:spPr>
            <a:xfrm>
              <a:off x="8001000" y="3977639"/>
              <a:ext cx="3886200" cy="914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83880" y="4087367"/>
              <a:ext cx="3520440" cy="694944"/>
            </a:xfrm>
            <a:prstGeom prst="rect">
              <a:avLst/>
            </a:prstGeom>
            <a:noFill/>
          </p:spPr>
          <p:txBody>
            <a:bodyPr wrap="square" lIns="45720" rIns="45720" tIns="0" bIns="0" anchor="ctr">
              <a:spAutoFit/>
            </a:bodyPr>
            <a:lstStyle/>
            <a:p>
              <a:pPr algn="l"/>
              <a:r>
                <a:rPr sz="1700" b="1" i="0" u="none">
                  <a:solidFill>
                    <a:srgbClr val="0070C0"/>
                  </a:solidFill>
                  <a:latin typeface="Calibri"/>
                </a:rPr>
                <a:t>TR is max. where MR = 0</a:t>
              </a:r>
            </a:p>
          </p:txBody>
        </p:sp>
      </p:grpSp>
      <p:cxnSp>
        <p:nvCxnSpPr>
          <p:cNvPr id="34" name="Connector 33"/>
          <p:cNvCxnSpPr/>
          <p:nvPr/>
        </p:nvCxnSpPr>
        <p:spPr>
          <a:xfrm flipH="1">
            <a:off x="4256531" y="4434840"/>
            <a:ext cx="3698748" cy="103124"/>
          </a:xfrm>
          <a:prstGeom prst="line">
            <a:avLst/>
          </a:prstGeom>
          <a:ln w="22225">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8" name="TextBox 37"/>
          <p:cNvSpPr txBox="1"/>
          <p:nvPr/>
        </p:nvSpPr>
        <p:spPr>
          <a:xfrm>
            <a:off x="11475720" y="6583680"/>
            <a:ext cx="502920" cy="292608"/>
          </a:xfrm>
          <a:prstGeom prst="rect">
            <a:avLst/>
          </a:prstGeom>
          <a:noFill/>
        </p:spPr>
        <p:txBody>
          <a:bodyPr wrap="none" lIns="0" rIns="0" tIns="0" bIns="0">
            <a:spAutoFit/>
          </a:bodyPr>
          <a:lstStyle/>
          <a:p>
            <a:pPr algn="r"/>
            <a:fld id="{37B08771-CD11-5268-847D-22AE1355E9FC}" type="slidenum">
              <a:rPr lang="en-US" sz="1200" dirty="0">
                <a:solidFill>
                  <a:srgbClr val="555B66"/>
                </a:solidFill>
                <a:latin typeface="Calibri"/>
              </a:rPr>
              <a:t>26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00"/>
                                        <p:tgtEl>
                                          <p:spTgt spid="2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5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5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39"/>
                                        </p:tgtEl>
                                        <p:attrNameLst>
                                          <p:attrName>style.visibility</p:attrName>
                                        </p:attrNameLst>
                                      </p:cBhvr>
                                      <p:to>
                                        <p:strVal val="visible"/>
                                      </p:to>
                                    </p:set>
                                    <p:animEffect transition="in" filter="fade">
                                      <p:cBhvr>
                                        <p:cTn id="42" dur="500"/>
                                        <p:tgtEl>
                                          <p:spTgt spid="13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Is MR Different From the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i="1">
                <a:latin typeface="Calibri"/>
              </a:rPr>
              <a:t>MR</a:t>
            </a:r>
            <a:r>
              <a:rPr>
                <a:latin typeface="Calibri"/>
              </a:rPr>
              <a:t> : additional revenue from selling one more unit. Sounds like the price! But…</a:t>
            </a:r>
          </a:p>
          <a:p>
            <a:pPr algn="l"/>
            <a:r>
              <a:rPr>
                <a:latin typeface="Calibri"/>
              </a:rPr>
              <a:t>Law of demand: you need to lower the price to sell one more unit</a:t>
            </a:r>
          </a:p>
          <a:p>
            <a:pPr algn="l"/>
            <a:r>
              <a:rPr>
                <a:latin typeface="Calibri"/>
              </a:rPr>
              <a:t>The lower price will apply to </a:t>
            </a:r>
            <a:r>
              <a:rPr i="1">
                <a:latin typeface="Calibri"/>
              </a:rPr>
              <a:t>all</a:t>
            </a:r>
            <a:r>
              <a:rPr>
                <a:latin typeface="Calibri"/>
              </a:rPr>
              <a:t> units, not just the extra one</a:t>
            </a:r>
          </a:p>
          <a:p>
            <a:pPr algn="l"/>
            <a:r>
              <a:rPr i="1">
                <a:latin typeface="Calibri"/>
              </a:rPr>
              <a:t>MR</a:t>
            </a:r>
            <a:r>
              <a:rPr>
                <a:latin typeface="Calibri"/>
              </a:rPr>
              <a:t> from selling one additional unit takes into account the loss on every other unit  →  </a:t>
            </a:r>
            <a:r>
              <a:rPr b="1" i="1">
                <a:latin typeface="Calibri"/>
              </a:rPr>
              <a:t>MR &lt; P</a:t>
            </a:r>
          </a:p>
          <a:p>
            <a:pPr algn="l"/>
            <a:r>
              <a:rPr sz="2200" u="sng">
                <a:latin typeface="Calibri"/>
              </a:rPr>
              <a:t>Note</a:t>
            </a:r>
            <a:r>
              <a:rPr sz="2200">
                <a:latin typeface="Calibri"/>
              </a:rPr>
              <a:t>: Total Revenues (</a:t>
            </a:r>
            <a:r>
              <a:rPr sz="2200" i="1">
                <a:latin typeface="Calibri"/>
              </a:rPr>
              <a:t>TR</a:t>
            </a:r>
            <a:r>
              <a:rPr sz="2200">
                <a:latin typeface="Calibri"/>
              </a:rPr>
              <a:t>) may either increase or decrease when </a:t>
            </a:r>
            <a:r>
              <a:rPr sz="2200" i="1">
                <a:latin typeface="Calibri"/>
              </a:rPr>
              <a:t>Q</a:t>
            </a:r>
            <a:r>
              <a:rPr sz="2200">
                <a:latin typeface="Calibri"/>
              </a:rPr>
              <a:t> increases (depends on elastic vs. inelastic demand)</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F3B1110B-0D61-54FE-BA88-C776D06F94D7}" type="slidenum">
              <a:rPr lang="en-US" sz="1200" dirty="0">
                <a:solidFill>
                  <a:srgbClr val="555B66"/>
                </a:solidFill>
                <a:latin typeface="Calibri"/>
              </a:rPr>
              <a:t>27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1524000" y="0"/>
          <a:ext cx="0" cy="0"/>
          <a:chOff x="0" y="0"/>
          <a:chExt cx="0" cy="0"/>
        </a:xfrm>
      </p:grpSpPr>
      <p:pic>
        <p:nvPicPr>
          <p:cNvPr id="3" name="Picture 2">
            <a:extLst>
              <a:ext uri="{FF2B5EF4-FFF2-40B4-BE49-F238E27FC236}">
                <a16:creationId xmlns:a16="http://schemas.microsoft.com/office/drawing/2014/main" id="{79231CA4-4D2D-4D94-8499-FA3634C5072C}"/>
              </a:ext>
            </a:extLst>
          </p:cNvPr>
          <p:cNvPicPr>
            <a:picLocks/>
          </p:cNvPicPr>
          <p:nvPr>
            <p:custDataLst>
              <p:tags r:id="rId3"/>
            </p:custDataLst>
          </p:nvPr>
        </p:nvPicPr>
        <p:blipFill>
          <a:blip r:embed="rId4"/>
          <a:stretch>
            <a:fillRect/>
          </a:stretch>
        </p:blipFill>
        <p:spPr>
          <a:xfrm>
            <a:off x="1825557" y="253999"/>
            <a:ext cx="8588443" cy="6351081"/>
          </a:xfrm>
          <a:prstGeom prst="rect">
            <a:avLst/>
          </a:prstGeom>
        </p:spPr>
      </p:pic>
      <p:sp>
        <p:nvSpPr>
          <p:cNvPr id="9802" name="PageNum"/>
          <p:cNvSpPr txBox="1"/>
          <p:nvPr/>
        </p:nvSpPr>
        <p:spPr>
          <a:xfrm>
            <a:off x="11475720" y="6583680"/>
            <a:ext cx="502920" cy="292608"/>
          </a:xfrm>
          <a:prstGeom prst="rect">
            <a:avLst/>
          </a:prstGeom>
          <a:noFill/>
        </p:spPr>
        <p:txBody>
          <a:bodyPr wrap="none" lIns="0" tIns="0" rIns="0" bIns="0"/>
          <a:lstStyle/>
          <a:p>
            <a:pPr algn="r"/>
            <a:fld id="{FD727929-2A6B-50D4-98F7-CB79CC1F78A4}" type="slidenum">
              <a:rPr lang="en-US" sz="1200" dirty="0">
                <a:solidFill>
                  <a:srgbClr val="555B66"/>
                </a:solidFill>
                <a:latin typeface="Calibri"/>
              </a:rPr>
              <a:t>28</a:t>
            </a:fld>
          </a:p>
        </p:txBody>
      </p:sp>
    </p:spTree>
    <p:extLst>
      <p:ext uri="{BB962C8B-B14F-4D97-AF65-F5344CB8AC3E}">
        <p14:creationId xmlns:p14="http://schemas.microsoft.com/office/powerpoint/2010/main" val="1417714857"/>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Rectangle 3"/>
          <p:cNvSpPr/>
          <p:nvPr/>
        </p:nvSpPr>
        <p:spPr>
          <a:xfrm>
            <a:off x="251999" y="1170432"/>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51999" y="1156716"/>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1999" y="502920"/>
            <a:ext cx="11687697" cy="6400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buNone/>
            </a:pPr>
            <a:r>
              <a:rPr sz="3000" b="1">
                <a:solidFill>
                  <a:srgbClr val="0B2B4E"/>
                </a:solidFill>
                <a:latin typeface="Calibri"/>
              </a:rPr>
              <a:t>Solution: If  </a:t>
            </a:r>
            <a:r>
              <a:rPr sz="3000" b="1" i="1">
                <a:solidFill>
                  <a:srgbClr val="0B2B4E"/>
                </a:solidFill>
                <a:latin typeface="Calibri"/>
              </a:rPr>
              <a:t>Q = 10 − 0.5P</a:t>
            </a:r>
            <a:r>
              <a:rPr sz="3000" b="1">
                <a:solidFill>
                  <a:srgbClr val="0B2B4E"/>
                </a:solidFill>
                <a:latin typeface="Calibri"/>
              </a:rPr>
              <a:t> , What Is  </a:t>
            </a:r>
            <a:r>
              <a:rPr sz="3000" b="1" i="1">
                <a:solidFill>
                  <a:srgbClr val="0B2B4E"/>
                </a:solidFill>
                <a:latin typeface="Calibri"/>
              </a:rPr>
              <a:t>MR</a:t>
            </a:r>
            <a:r>
              <a:rPr sz="3000" b="1">
                <a:solidFill>
                  <a:srgbClr val="0B2B4E"/>
                </a:solidFill>
                <a:latin typeface="Calibri"/>
              </a:rPr>
              <a:t> ?</a:t>
            </a:r>
          </a:p>
        </p:txBody>
      </p:sp>
      <p:sp>
        <p:nvSpPr>
          <p:cNvPr id="7" name="TextBox 6"/>
          <p:cNvSpPr txBox="1"/>
          <p:nvPr/>
        </p:nvSpPr>
        <p:spPr>
          <a:xfrm>
            <a:off x="389159" y="216712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1.  Inverse Demand:</a:t>
            </a:r>
          </a:p>
        </p:txBody>
      </p:sp>
      <p:sp>
        <p:nvSpPr>
          <p:cNvPr id="8" name="TextBox 7"/>
          <p:cNvSpPr txBox="1"/>
          <p:nvPr/>
        </p:nvSpPr>
        <p:spPr>
          <a:xfrm>
            <a:off x="5532120" y="1965960"/>
            <a:ext cx="6126480" cy="1005840"/>
          </a:xfrm>
          <a:prstGeom prst="roundRect">
            <a:avLst>
              <a:gd name="adj" fmla="val 25000"/>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a:rPr lang="en-US" b="0" i="1" sz="2200">
                      <a:solidFill>
                        <a:srgbClr val="0B2B4E"/>
                      </a:solidFill>
                      <a:latin typeface="Cambria Math"/>
                      <a:ea typeface="Cambria Math"/>
                    </a:rPr>
                    <m:t>P</m:t>
                  </m:r>
                  <m:r>
                    <m:rPr>
                      <m:sty m:val="p"/>
                    </m:rPr>
                    <a:rPr lang="en-US" b="0" i="0" sz="2200">
                      <a:solidFill>
                        <a:srgbClr val="0B2B4E"/>
                      </a:solidFill>
                      <a:latin typeface="Cambria Math"/>
                    </a:rPr>
                    <m:t xml:space="preserve"> = 20 − 2</m:t>
                  </m:r>
                  <m:r>
                    <a:rPr lang="en-US" b="0" i="1" sz="2200">
                      <a:solidFill>
                        <a:srgbClr val="0B2B4E"/>
                      </a:solidFill>
                      <a:latin typeface="Cambria Math"/>
                      <a:ea typeface="Cambria Math"/>
                    </a:rPr>
                    <m:t>Q</m:t>
                  </m:r>
                </m:oMath>
              </m:oMathPara>
            </a14:m>
            <a:endParaRPr lang="en-US" sz="2200"/>
          </a:p>
        </p:txBody>
      </p:sp>
      <p:sp>
        <p:nvSpPr>
          <p:cNvPr id="9" name="TextBox 8"/>
          <p:cNvSpPr txBox="1"/>
          <p:nvPr/>
        </p:nvSpPr>
        <p:spPr>
          <a:xfrm>
            <a:off x="389159" y="349300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2.  Total revenue:  TR = P ∙ Q</a:t>
            </a:r>
          </a:p>
        </p:txBody>
      </p:sp>
      <p:sp>
        <p:nvSpPr>
          <p:cNvPr id="10" name="TextBox 9"/>
          <p:cNvSpPr txBox="1"/>
          <p:nvPr/>
        </p:nvSpPr>
        <p:spPr>
          <a:xfrm>
            <a:off x="5532120" y="3291840"/>
            <a:ext cx="6126480" cy="1005840"/>
          </a:xfrm>
          <a:prstGeom prst="roundRect">
            <a:avLst>
              <a:gd name="adj" fmla="val 25000"/>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solidFill>
                        <a:srgbClr val="0B2B4E"/>
                      </a:solidFill>
                      <a:latin typeface="Cambria Math"/>
                    </a:rPr>
                    <m:t xml:space="preserve">TR</m:t>
                  </m:r>
                  <m:r>
                    <m:rPr>
                      <m:sty m:val="p"/>
                    </m:rPr>
                    <a:rPr lang="en-US" b="0" i="0" sz="2200">
                      <a:solidFill>
                        <a:srgbClr val="0B2B4E"/>
                      </a:solidFill>
                      <a:latin typeface="Cambria Math"/>
                    </a:rPr>
                    <m:t xml:space="preserve"> = (20 − 2</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20</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− 2</m:t>
                  </m:r>
                  <m:sSup>
                    <m:sSupPr>
                      <m:ctrlPr>
                        <a:rPr lang="en-US" i="1">
                          <a:latin typeface="Cambria Math"/>
                        </a:rPr>
                      </m:ctrlPr>
                    </m:sSupPr>
                    <m:e>
                      <m:r>
                        <a:rPr lang="en-US" b="0" i="1" sz="2200">
                          <a:solidFill>
                            <a:srgbClr val="0B2B4E"/>
                          </a:solidFill>
                          <a:latin typeface="Cambria Math"/>
                          <a:ea typeface="Cambria Math"/>
                        </a:rPr>
                        <m:t>Q</m:t>
                      </m:r>
                    </m:e>
                    <m:sup>
                      <m:r>
                        <m:rPr>
                          <m:sty m:val="p"/>
                        </m:rPr>
                        <a:rPr lang="en-US" b="0" i="0" sz="2200">
                          <a:solidFill>
                            <a:srgbClr val="0B2B4E"/>
                          </a:solidFill>
                          <a:latin typeface="Cambria Math"/>
                        </a:rPr>
                        <m:t xml:space="preserve">2</m:t>
                      </m:r>
                    </m:sup>
                  </m:sSup>
                </m:oMath>
              </m:oMathPara>
            </a14:m>
            <a:endParaRPr lang="en-US" sz="2200"/>
          </a:p>
        </p:txBody>
      </p:sp>
      <p:sp>
        <p:nvSpPr>
          <p:cNvPr id="11" name="TextBox 10"/>
          <p:cNvSpPr txBox="1"/>
          <p:nvPr/>
        </p:nvSpPr>
        <p:spPr>
          <a:xfrm>
            <a:off x="389159" y="481888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3.  Derivative of TR w.r.t. Q:</a:t>
            </a:r>
          </a:p>
        </p:txBody>
      </p:sp>
      <p:sp>
        <p:nvSpPr>
          <p:cNvPr id="12" name="TextBox 11"/>
          <p:cNvSpPr txBox="1"/>
          <p:nvPr/>
        </p:nvSpPr>
        <p:spPr>
          <a:xfrm>
            <a:off x="5532120" y="4617720"/>
            <a:ext cx="6126480" cy="1005840"/>
          </a:xfrm>
          <a:prstGeom prst="roundRect">
            <a:avLst>
              <a:gd name="adj" fmla="val 25000"/>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C00000"/>
                </a:solidFill>
                <a:latin typeface="Cambria Math"/>
              </a:defRPr>
            </a:pPr>
            <a14:m>
              <m:oMathPara>
                <m:oMathParaPr>
                  <m:jc m:val="centerGroup"/>
                </m:oMathParaPr>
                <m:oMath>
                  <m:r>
                    <m:rPr>
                      <m:sty m:val="p"/>
                    </m:rPr>
                    <a:rPr lang="en-US" b="0" i="0" sz="2200">
                      <a:solidFill>
                        <a:srgbClr val="C00000"/>
                      </a:solidFill>
                      <a:latin typeface="Cambria Math"/>
                    </a:rPr>
                    <m:t xml:space="preserve">MR</m:t>
                  </m:r>
                  <m:r>
                    <m:rPr>
                      <m:sty m:val="p"/>
                    </m:rPr>
                    <a:rPr lang="en-US" b="0" i="0" sz="2200">
                      <a:solidFill>
                        <a:srgbClr val="C00000"/>
                      </a:solidFill>
                      <a:latin typeface="Cambria Math"/>
                    </a:rPr>
                    <m:t xml:space="preserve"> = </m:t>
                  </m:r>
                  <m:f>
                    <m:fPr>
                      <m:ctrlPr>
                        <a:rPr lang="en-US" i="1">
                          <a:latin typeface="Cambria Math"/>
                        </a:rPr>
                      </m:ctrlPr>
                    </m:fPr>
                    <m:num>
                      <m:r>
                        <a:rPr lang="en-US" b="0" i="1" sz="2200">
                          <a:solidFill>
                            <a:srgbClr val="C00000"/>
                          </a:solidFill>
                          <a:latin typeface="Cambria Math"/>
                          <a:ea typeface="Cambria Math"/>
                        </a:rPr>
                        <m:t>d</m:t>
                      </m:r>
                      <m:r>
                        <m:rPr>
                          <m:sty m:val="p"/>
                        </m:rPr>
                        <a:rPr lang="en-US" b="0" i="0" sz="2200">
                          <a:solidFill>
                            <a:srgbClr val="C00000"/>
                          </a:solidFill>
                          <a:latin typeface="Cambria Math"/>
                        </a:rPr>
                        <m:t xml:space="preserve">TR</m:t>
                      </m:r>
                    </m:num>
                    <m:den>
                      <m:r>
                        <a:rPr lang="en-US" b="0" i="1" sz="2200">
                          <a:solidFill>
                            <a:srgbClr val="C00000"/>
                          </a:solidFill>
                          <a:latin typeface="Cambria Math"/>
                          <a:ea typeface="Cambria Math"/>
                        </a:rPr>
                        <m:t>d</m:t>
                      </m:r>
                      <m:r>
                        <a:rPr lang="en-US" b="0" i="1" sz="2200">
                          <a:solidFill>
                            <a:srgbClr val="C00000"/>
                          </a:solidFill>
                          <a:latin typeface="Cambria Math"/>
                          <a:ea typeface="Cambria Math"/>
                        </a:rPr>
                        <m:t>Q</m:t>
                      </m:r>
                    </m:den>
                  </m:f>
                  <m:r>
                    <m:rPr>
                      <m:sty m:val="p"/>
                    </m:rPr>
                    <a:rPr lang="en-US" b="0" i="0" sz="2200">
                      <a:solidFill>
                        <a:srgbClr val="C00000"/>
                      </a:solidFill>
                      <a:latin typeface="Cambria Math"/>
                    </a:rPr>
                    <m:t xml:space="preserve"> = 20 − 4</m:t>
                  </m:r>
                  <m:r>
                    <a:rPr lang="en-US" b="0" i="1" sz="2200">
                      <a:solidFill>
                        <a:srgbClr val="C00000"/>
                      </a:solidFill>
                      <a:latin typeface="Cambria Math"/>
                      <a:ea typeface="Cambria Math"/>
                    </a:rPr>
                    <m:t>Q</m:t>
                  </m:r>
                </m:oMath>
              </m:oMathPara>
            </a14:m>
            <a:endParaRPr lang="en-US" sz="2200"/>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AE74B37C-B665-5DEA-BA51-58DA93724889}" type="slidenum">
              <a:rPr lang="en-US" sz="1200" dirty="0">
                <a:solidFill>
                  <a:srgbClr val="555B66"/>
                </a:solidFill>
                <a:latin typeface="Calibri"/>
              </a:rPr>
              <a:t>29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Inside Out 2's Marginal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783080"/>
            <a:ext cx="667512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Demand for streaming </a:t>
            </a:r>
            <a:r>
              <a:rPr i="1">
                <a:latin typeface="Calibri"/>
              </a:rPr>
              <a:t>Inside Out 2</a:t>
            </a:r>
            <a:r>
              <a:rPr>
                <a:latin typeface="Calibri"/>
              </a:rPr>
              <a:t> on Disney+   (Q: viewers, in millions):</a:t>
            </a:r>
          </a:p>
        </p:txBody>
      </p:sp>
      <p:sp>
        <p:nvSpPr>
          <p:cNvPr id="8" name="TextBox 7"/>
          <p:cNvSpPr txBox="1"/>
          <p:nvPr/>
        </p:nvSpPr>
        <p:spPr>
          <a:xfrm>
            <a:off x="1325880" y="2880360"/>
            <a:ext cx="402336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800" b="0" i="1">
                <a:solidFill>
                  <a:srgbClr val="0B2B4E"/>
                </a:solidFill>
                <a:latin typeface="Cambria Math"/>
              </a:defRPr>
            </a:pPr>
            <a14:m>
              <m:oMathPara>
                <m:oMathParaPr>
                  <m:jc m:val="centerGroup"/>
                </m:oMathParaPr>
                <m:oMath>
                  <m:r>
                    <a:rPr lang="en-US" b="0" i="1" sz="2800">
                      <a:solidFill>
                        <a:srgbClr val="0B2B4E"/>
                      </a:solidFill>
                      <a:latin typeface="Cambria Math"/>
                      <a:ea typeface="Cambria Math"/>
                    </a:rPr>
                    <m:t>Q</m:t>
                  </m:r>
                  <m:r>
                    <m:rPr>
                      <m:sty m:val="p"/>
                    </m:rPr>
                    <a:rPr lang="en-US" b="0" i="0" sz="2800">
                      <a:solidFill>
                        <a:srgbClr val="0B2B4E"/>
                      </a:solidFill>
                      <a:latin typeface="Cambria Math"/>
                    </a:rPr>
                    <m:t xml:space="preserve"> = 20 − </m:t>
                  </m:r>
                  <m:f>
                    <m:fPr>
                      <m:ctrlPr>
                        <a:rPr lang="en-US" i="1">
                          <a:latin typeface="Cambria Math"/>
                        </a:rPr>
                      </m:ctrlPr>
                    </m:fPr>
                    <m:num>
                      <m:r>
                        <m:rPr>
                          <m:sty m:val="p"/>
                        </m:rPr>
                        <a:rPr lang="en-US" b="0" i="0" sz="2800">
                          <a:solidFill>
                            <a:srgbClr val="0B2B4E"/>
                          </a:solidFill>
                          <a:latin typeface="Cambria Math"/>
                        </a:rPr>
                        <m:t xml:space="preserve">1</m:t>
                      </m:r>
                    </m:num>
                    <m:den>
                      <m:r>
                        <m:rPr>
                          <m:sty m:val="p"/>
                        </m:rPr>
                        <a:rPr lang="en-US" b="0" i="0" sz="2800">
                          <a:solidFill>
                            <a:srgbClr val="0B2B4E"/>
                          </a:solidFill>
                          <a:latin typeface="Cambria Math"/>
                        </a:rPr>
                        <m:t xml:space="preserve">2</m:t>
                      </m:r>
                    </m:den>
                  </m:f>
                  <m:r>
                    <a:rPr lang="en-US" b="0" i="1" sz="2800">
                      <a:solidFill>
                        <a:srgbClr val="0B2B4E"/>
                      </a:solidFill>
                      <a:latin typeface="Cambria Math"/>
                      <a:ea typeface="Cambria Math"/>
                    </a:rPr>
                    <m:t>P</m:t>
                  </m:r>
                </m:oMath>
              </m:oMathPara>
            </a14:m>
            <a:endParaRPr lang="en-US" sz="2800"/>
          </a:p>
        </p:txBody>
      </p:sp>
      <p:sp>
        <p:nvSpPr>
          <p:cNvPr id="9" name="TextBox 8"/>
          <p:cNvSpPr txBox="1"/>
          <p:nvPr/>
        </p:nvSpPr>
        <p:spPr>
          <a:xfrm>
            <a:off x="389159" y="4343400"/>
            <a:ext cx="6675120" cy="155448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What is the revenue-maximizing price?</a:t>
            </a:r>
          </a:p>
          <a:p>
            <a:pPr algn="l"/>
            <a:r>
              <a:rPr>
                <a:latin typeface="Calibri"/>
              </a:rPr>
              <a:t>Why might Disney care about </a:t>
            </a:r>
            <a:r>
              <a:rPr i="1">
                <a:latin typeface="Calibri"/>
              </a:rPr>
              <a:t>revenue</a:t>
            </a:r>
            <a:r>
              <a:rPr>
                <a:latin typeface="Calibri"/>
              </a:rPr>
              <a:t> maximization?</a:t>
            </a:r>
          </a:p>
        </p:txBody>
      </p:sp>
      <p:pic>
        <p:nvPicPr>
          <p:cNvPr id="10" name="Picture 9" descr="ct_insideout_image7.png"/>
          <p:cNvPicPr>
            <a:picLocks noChangeAspect="1"/>
          </p:cNvPicPr>
          <p:nvPr/>
        </p:nvPicPr>
        <p:blipFill>
          <a:blip r:embed="rId2"/>
          <a:stretch>
            <a:fillRect/>
          </a:stretch>
        </p:blipFill>
        <p:spPr>
          <a:xfrm>
            <a:off x="7635240" y="1737360"/>
            <a:ext cx="3840480" cy="1935320"/>
          </a:xfrm>
          <a:prstGeom prst="roundRect">
            <a:avLst>
              <a:gd name="adj" fmla="val 8000"/>
            </a:avLst>
          </a:prstGeom>
          <a:effectLst>
            <a:outerShdw blurRad="50800" dist="38100" dir="2700000" algn="tl" rotWithShape="0">
              <a:srgbClr val="000000">
                <a:alpha val="50000"/>
              </a:srgbClr>
            </a:outerShdw>
          </a:effectLst>
        </p:spPr>
      </p:pic>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7A9A74B7-DF7F-5EA1-924A-779BB974D1B0}" type="slidenum">
              <a:rPr lang="en-US" sz="1200" dirty="0">
                <a:solidFill>
                  <a:srgbClr val="555B66"/>
                </a:solidFill>
                <a:latin typeface="Calibri"/>
              </a:rPr>
              <a:t>30</a:t>
            </a:fld>
          </a:p>
        </p:txBody>
      </p:sp>
      <p:grpSp>
        <p:nvGrpSpPr>
          <p:cNvPr id="9700" name="Group 14">
            <a:extLst>
              <a:ext uri="{FF2B5EF4-FFF2-40B4-BE49-F238E27FC236}">
                <a16:creationId xmlns:a16="http://schemas.microsoft.com/office/drawing/2014/main" id="{C7881A0F-62FF-0536-16AD-55B1DC27DD3D}"/>
              </a:ext>
            </a:extLst>
          </p:cNvPr>
          <p:cNvGrpSpPr/>
          <p:nvPr/>
        </p:nvGrpSpPr>
        <p:grpSpPr>
          <a:xfrm>
            <a:off x="6826842" y="6190488"/>
            <a:ext cx="5112854" cy="539496"/>
            <a:chOff x="7550576" y="5715000"/>
            <a:chExt cx="4389120" cy="658368"/>
          </a:xfrm>
        </p:grpSpPr>
        <p:sp>
          <p:nvSpPr>
            <p:cNvPr id="97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fade">
                                      <p:cBhvr>
                                        <p:cTn id="12" dur="500"/>
                                        <p:tgtEl>
                                          <p:spTgt spid="9">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Inside Out 2's Revenue-Maximizing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00200"/>
            <a:ext cx="1133856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a:solidFill>
                  <a:srgbClr val="0B2B4E"/>
                </a:solidFill>
                <a:latin typeface="Calibri"/>
              </a:rPr>
              <a:t>Revenue is maximized where </a:t>
            </a:r>
            <a:r>
              <a:rPr sz="2200" b="1">
                <a:solidFill>
                  <a:srgbClr val="0070C0"/>
                </a:solidFill>
                <a:latin typeface="Calibri"/>
              </a:rPr>
              <a:t>MR = 0</a:t>
            </a:r>
            <a:r>
              <a:rPr sz="2200">
                <a:solidFill>
                  <a:srgbClr val="0B2B4E"/>
                </a:solidFill>
                <a:latin typeface="Calibri"/>
              </a:rPr>
              <a:t> .  Compute MR using the 3-step method:</a:t>
            </a:r>
          </a:p>
        </p:txBody>
      </p:sp>
      <p:sp>
        <p:nvSpPr>
          <p:cNvPr id="8" name="TextBox 7"/>
          <p:cNvSpPr txBox="1"/>
          <p:nvPr/>
        </p:nvSpPr>
        <p:spPr>
          <a:xfrm>
            <a:off x="572039" y="2331720"/>
            <a:ext cx="5852160" cy="228600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1.  Inverse demand:   </a:t>
            </a:r>
            <a:r>
              <a:rPr sz="2200" i="1">
                <a:solidFill>
                  <a:srgbClr val="0B2B4E"/>
                </a:solidFill>
                <a:latin typeface="Calibri"/>
              </a:rPr>
              <a:t>P = 40 − 2Q</a:t>
            </a:r>
          </a:p>
          <a:p>
            <a:pPr algn="l">
              <a:spcBef>
                <a:spcPts val="1600"/>
              </a:spcBef>
              <a:buNone/>
            </a:pPr>
            <a:r>
              <a:rPr sz="2200" b="1">
                <a:solidFill>
                  <a:srgbClr val="0B2B4E"/>
                </a:solidFill>
                <a:latin typeface="Calibri"/>
              </a:rPr>
              <a:t>2.  Total revenue:   </a:t>
            </a:r>
            <a:r>
              <a:rPr sz="2200" i="1">
                <a:solidFill>
                  <a:srgbClr val="0B2B4E"/>
                </a:solidFill>
                <a:latin typeface="Calibri"/>
              </a:rPr>
              <a:t>TR = 40Q − 2Q²</a:t>
            </a:r>
          </a:p>
          <a:p>
            <a:pPr algn="l">
              <a:spcBef>
                <a:spcPts val="1600"/>
              </a:spcBef>
              <a:buNone/>
            </a:pPr>
            <a:r>
              <a:rPr sz="2200" b="1">
                <a:solidFill>
                  <a:srgbClr val="0B2B4E"/>
                </a:solidFill>
                <a:latin typeface="Calibri"/>
              </a:rPr>
              <a:t>3.  Derivative:   </a:t>
            </a:r>
            <a:r>
              <a:rPr sz="2200" i="1">
                <a:solidFill>
                  <a:srgbClr val="0B2B4E"/>
                </a:solidFill>
                <a:latin typeface="Calibri"/>
              </a:rPr>
              <a:t>MR = 40 − 4Q</a:t>
            </a:r>
          </a:p>
        </p:txBody>
      </p:sp>
      <p:sp>
        <p:nvSpPr>
          <p:cNvPr id="9" name="TextBox 8"/>
          <p:cNvSpPr txBox="1"/>
          <p:nvPr/>
        </p:nvSpPr>
        <p:spPr>
          <a:xfrm>
            <a:off x="6812280" y="2377440"/>
            <a:ext cx="4754880" cy="182880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C00000"/>
                </a:solidFill>
                <a:latin typeface="Cambria Math"/>
              </a:defRPr>
            </a:pPr>
            <a14:m>
              <m:oMathPara>
                <m:oMathParaPr>
                  <m:jc m:val="centerGroup"/>
                </m:oMathParaPr>
                <m:oMath>
                  <m:r>
                    <m:rPr>
                      <m:sty m:val="p"/>
                    </m:rPr>
                    <a:rPr lang="en-US" b="0" i="0" sz="2400">
                      <a:solidFill>
                        <a:srgbClr val="C00000"/>
                      </a:solidFill>
                      <a:latin typeface="Cambria Math"/>
                    </a:rPr>
                    <m:t xml:space="preserve">MR</m:t>
                  </m:r>
                  <m:r>
                    <m:rPr>
                      <m:sty m:val="p"/>
                    </m:rPr>
                    <a:rPr lang="en-US" b="0" i="0" sz="2400">
                      <a:solidFill>
                        <a:srgbClr val="C00000"/>
                      </a:solidFill>
                      <a:latin typeface="Cambria Math"/>
                    </a:rPr>
                    <m:t xml:space="preserve"> = 0:  40 − 4</m:t>
                  </m:r>
                  <m:r>
                    <a:rPr lang="en-US" b="0" i="1" sz="2400">
                      <a:solidFill>
                        <a:srgbClr val="C00000"/>
                      </a:solidFill>
                      <a:latin typeface="Cambria Math"/>
                      <a:ea typeface="Cambria Math"/>
                    </a:rPr>
                    <m:t>Q</m:t>
                  </m:r>
                  <m:r>
                    <m:rPr>
                      <m:sty m:val="p"/>
                    </m:rPr>
                    <a:rPr lang="en-US" b="0" i="0" sz="2400">
                      <a:solidFill>
                        <a:srgbClr val="C00000"/>
                      </a:solidFill>
                      <a:latin typeface="Cambria Math"/>
                    </a:rPr>
                    <m:t xml:space="preserve"> = 0  ⇒  </m:t>
                  </m:r>
                  <m:r>
                    <a:rPr lang="en-US" b="0" i="1" sz="2400">
                      <a:solidFill>
                        <a:srgbClr val="C00000"/>
                      </a:solidFill>
                      <a:latin typeface="Cambria Math"/>
                      <a:ea typeface="Cambria Math"/>
                    </a:rPr>
                    <m:t>Q</m:t>
                  </m:r>
                  <m:r>
                    <m:rPr>
                      <m:sty m:val="p"/>
                    </m:rPr>
                    <a:rPr lang="en-US" b="0" i="0" sz="2400">
                      <a:solidFill>
                        <a:srgbClr val="C00000"/>
                      </a:solidFill>
                      <a:latin typeface="Cambria Math"/>
                    </a:rPr>
                    <m:t xml:space="preserve"> = 10  ⇒  </m:t>
                  </m:r>
                  <m:r>
                    <a:rPr lang="en-US" b="0" i="1" sz="2400">
                      <a:solidFill>
                        <a:srgbClr val="C00000"/>
                      </a:solidFill>
                      <a:latin typeface="Cambria Math"/>
                      <a:ea typeface="Cambria Math"/>
                    </a:rPr>
                    <m:t>P</m:t>
                  </m:r>
                  <m:r>
                    <m:rPr>
                      <m:sty m:val="p"/>
                    </m:rPr>
                    <a:rPr lang="en-US" b="0" i="0" sz="2400">
                      <a:solidFill>
                        <a:srgbClr val="C00000"/>
                      </a:solidFill>
                      <a:latin typeface="Cambria Math"/>
                    </a:rPr>
                    <m:t xml:space="preserve"> = $20</m:t>
                  </m:r>
                </m:oMath>
              </m:oMathPara>
            </a14:m>
            <a:endParaRPr lang="en-US" sz="2400"/>
          </a:p>
        </p:txBody>
      </p:sp>
      <p:sp>
        <p:nvSpPr>
          <p:cNvPr id="10" name="TextBox 9"/>
          <p:cNvSpPr txBox="1"/>
          <p:nvPr/>
        </p:nvSpPr>
        <p:spPr>
          <a:xfrm>
            <a:off x="389159" y="4892040"/>
            <a:ext cx="11338560" cy="11887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Why revenue maximization? The marginal cost of one more stream is </a:t>
            </a:r>
            <a:r>
              <a:rPr b="1">
                <a:latin typeface="Calibri"/>
              </a:rPr>
              <a:t>close to zero</a:t>
            </a:r>
            <a:r>
              <a:rPr>
                <a:latin typeface="Calibri"/>
              </a:rPr>
              <a:t> – so maximizing revenue is (almost) maximizing profit</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53BCAF25-C377-5DA9-851D-16C0F8DFA561}" type="slidenum">
              <a:rPr lang="en-US" sz="1200" dirty="0">
                <a:solidFill>
                  <a:srgbClr val="555B66"/>
                </a:solidFill>
                <a:latin typeface="Calibri"/>
              </a:rPr>
              <a:t>31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1" end="1"/>
                                            </p:txEl>
                                          </p:spTgt>
                                        </p:tgtEl>
                                        <p:attrNameLst>
                                          <p:attrName>style.visibility</p:attrName>
                                        </p:attrNameLst>
                                      </p:cBhvr>
                                      <p:to>
                                        <p:strVal val="visible"/>
                                      </p:to>
                                    </p:set>
                                    <p:animEffect transition="in" filter="fade">
                                      <p:cBhvr>
                                        <p:cTn id="10" dur="500"/>
                                        <p:tgtEl>
                                          <p:spTgt spid="8">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animEffect transition="in" filter="fade">
                                      <p:cBhvr>
                                        <p:cTn id="13" dur="500"/>
                                        <p:tgtEl>
                                          <p:spTgt spid="8">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0" end="0"/>
                                            </p:txEl>
                                          </p:spTgt>
                                        </p:tgtEl>
                                        <p:attrNameLst>
                                          <p:attrName>style.visibility</p:attrName>
                                        </p:attrNameLst>
                                      </p:cBhvr>
                                      <p:to>
                                        <p:strVal val="visible"/>
                                      </p:to>
                                    </p:set>
                                    <p:animEffect transition="in" filter="fade">
                                      <p:cBhvr>
                                        <p:cTn id="23" dur="5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10" grpId="0" build="p"/>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Demand Estimation</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3</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Outline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1</a:t>
            </a:r>
          </a:p>
        </p:txBody>
      </p:sp>
      <p:sp>
        <p:nvSpPr>
          <p:cNvPr id="8" name="TextBox 7"/>
          <p:cNvSpPr txBox="1"/>
          <p:nvPr/>
        </p:nvSpPr>
        <p:spPr>
          <a:xfrm>
            <a:off x="1874519" y="149504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The law of demand</a:t>
            </a:r>
          </a:p>
        </p:txBody>
      </p:sp>
      <p:sp>
        <p:nvSpPr>
          <p:cNvPr id="9" name="Oval 8"/>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2</a:t>
            </a:r>
          </a:p>
        </p:txBody>
      </p:sp>
      <p:sp>
        <p:nvSpPr>
          <p:cNvPr id="10" name="TextBox 9"/>
          <p:cNvSpPr txBox="1"/>
          <p:nvPr/>
        </p:nvSpPr>
        <p:spPr>
          <a:xfrm>
            <a:off x="1874519" y="232714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Elasticities</a:t>
            </a:r>
          </a:p>
        </p:txBody>
      </p:sp>
      <p:sp>
        <p:nvSpPr>
          <p:cNvPr id="11" name="Oval 10"/>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3</a:t>
            </a:r>
          </a:p>
        </p:txBody>
      </p:sp>
      <p:sp>
        <p:nvSpPr>
          <p:cNvPr id="12" name="TextBox 11"/>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and revenue</a:t>
            </a:r>
          </a:p>
        </p:txBody>
      </p:sp>
      <p:sp>
        <p:nvSpPr>
          <p:cNvPr id="13" name="Oval 12"/>
          <p:cNvSpPr/>
          <p:nvPr/>
        </p:nvSpPr>
        <p:spPr>
          <a:xfrm>
            <a:off x="1051560" y="400964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4</a:t>
            </a:r>
          </a:p>
        </p:txBody>
      </p:sp>
      <p:sp>
        <p:nvSpPr>
          <p:cNvPr id="14" name="TextBox 13"/>
          <p:cNvSpPr txBox="1"/>
          <p:nvPr/>
        </p:nvSpPr>
        <p:spPr>
          <a:xfrm>
            <a:off x="1874519"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Elasticity and revenue</a:t>
            </a:r>
          </a:p>
        </p:txBody>
      </p:sp>
      <p:sp>
        <p:nvSpPr>
          <p:cNvPr id="15" name="Oval 14"/>
          <p:cNvSpPr/>
          <p:nvPr/>
        </p:nvSpPr>
        <p:spPr>
          <a:xfrm>
            <a:off x="1051560" y="4841748"/>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5</a:t>
            </a:r>
          </a:p>
        </p:txBody>
      </p:sp>
      <p:sp>
        <p:nvSpPr>
          <p:cNvPr id="16" name="TextBox 15"/>
          <p:cNvSpPr txBox="1"/>
          <p:nvPr/>
        </p:nvSpPr>
        <p:spPr>
          <a:xfrm>
            <a:off x="1874519"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Marginal revenue</a:t>
            </a:r>
          </a:p>
        </p:txBody>
      </p:sp>
      <p:sp>
        <p:nvSpPr>
          <p:cNvPr id="17" name="Rounded Rectangle 16"/>
          <p:cNvSpPr/>
          <p:nvPr/>
        </p:nvSpPr>
        <p:spPr>
          <a:xfrm>
            <a:off x="822960" y="5600700"/>
            <a:ext cx="11109960"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6</a:t>
            </a:r>
          </a:p>
        </p:txBody>
      </p:sp>
      <p:sp>
        <p:nvSpPr>
          <p:cNvPr id="19" name="TextBox 18"/>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estimation</a:t>
            </a:r>
          </a:p>
          <a:p>
            <a:pPr algn="l">
              <a:spcBef>
                <a:spcPts val="0"/>
              </a:spcBef>
              <a:buNone/>
            </a:pPr>
            <a:r>
              <a:rPr sz="2200">
                <a:solidFill>
                  <a:srgbClr val="555B66"/>
                </a:solidFill>
                <a:latin typeface="Calibri"/>
              </a:rPr>
              <a:t>Measuring demand from data – market experiments and regression</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3" name="TextBox 22"/>
          <p:cNvSpPr txBox="1"/>
          <p:nvPr/>
        </p:nvSpPr>
        <p:spPr>
          <a:xfrm>
            <a:off x="11475720" y="6583680"/>
            <a:ext cx="502920" cy="292608"/>
          </a:xfrm>
          <a:prstGeom prst="rect">
            <a:avLst/>
          </a:prstGeom>
          <a:noFill/>
        </p:spPr>
        <p:txBody>
          <a:bodyPr wrap="none" lIns="0" rIns="0" tIns="0" bIns="0">
            <a:spAutoFit/>
          </a:bodyPr>
          <a:lstStyle/>
          <a:p>
            <a:pPr algn="r"/>
            <a:fld id="{BB3661D5-2092-5197-9E3A-279E8634BA61}" type="slidenum">
              <a:rPr lang="en-US" sz="1200" dirty="0">
                <a:solidFill>
                  <a:srgbClr val="555B66"/>
                </a:solidFill>
                <a:latin typeface="Calibri"/>
              </a:rPr>
              <a:t>33</a:t>
            </a:fld>
          </a:p>
        </p:txBody>
      </p:sp>
      <p:sp>
        <p:nvSpPr>
          <p:cNvPr id="24" name="Rounded Rectangle 23"/>
          <p:cNvSpPr/>
          <p:nvPr/>
        </p:nvSpPr>
        <p:spPr>
          <a:xfrm>
            <a:off x="8183879" y="4846320"/>
            <a:ext cx="3749039" cy="658368"/>
          </a:xfrm>
          <a:prstGeom prst="roundRect">
            <a:avLst>
              <a:gd name="adj" fmla="val 20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Problem Set 2
On BL under “Module 2 Post-Work”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How to Estimate a Demand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Use regression analysis to estimate the relationship between price and quantity</a:t>
            </a:r>
          </a:p>
          <a:p>
            <a:pPr algn="l"/>
            <a:r>
              <a:rPr>
                <a:latin typeface="Calibri"/>
              </a:rPr>
              <a:t>Need data linking prices and quantities</a:t>
            </a:r>
          </a:p>
          <a:p>
            <a:pPr algn="l"/>
            <a:r>
              <a:rPr>
                <a:latin typeface="Calibri"/>
              </a:rPr>
              <a:t>Several approaches</a:t>
            </a:r>
          </a:p>
          <a:p>
            <a:pPr algn="l" lvl="1"/>
            <a:r>
              <a:rPr>
                <a:latin typeface="Calibri"/>
              </a:rPr>
              <a:t>Transaction data (marketing research firms, internet, « Ralph cards »)</a:t>
            </a:r>
          </a:p>
          <a:p>
            <a:pPr algn="l" lvl="1"/>
            <a:r>
              <a:rPr>
                <a:latin typeface="Calibri"/>
              </a:rPr>
              <a:t>Surveys</a:t>
            </a:r>
          </a:p>
          <a:p>
            <a:pPr algn="l" lvl="1"/>
            <a:r>
              <a:rPr b="1">
                <a:latin typeface="Calibri"/>
              </a:rPr>
              <a:t>Market experimentation</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620F01A7-6A92-54D9-B022-88C72E5AF930}" type="slidenum">
              <a:rPr lang="en-US" sz="1200" dirty="0">
                <a:solidFill>
                  <a:srgbClr val="555B66"/>
                </a:solidFill>
                <a:latin typeface="Calibri"/>
              </a:rPr>
              <a:t>34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A/B Testing: What Is the Demand for This Product?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abtest_image8.png"/>
          <p:cNvPicPr>
            <a:picLocks noChangeAspect="1"/>
          </p:cNvPicPr>
          <p:nvPr/>
        </p:nvPicPr>
        <p:blipFill>
          <a:blip r:embed="rId2"/>
          <a:stretch>
            <a:fillRect/>
          </a:stretch>
        </p:blipFill>
        <p:spPr>
          <a:xfrm>
            <a:off x="4434840" y="1463040"/>
            <a:ext cx="3657685" cy="4892040"/>
          </a:xfrm>
          <a:prstGeom prst="roundRect">
            <a:avLst>
              <a:gd name="adj" fmla="val 8000"/>
            </a:avLst>
          </a:prstGeom>
          <a:effectLst>
            <a:outerShdw blurRad="50800" dist="38100" dir="2700000" algn="tl" rotWithShape="0">
              <a:srgbClr val="000000">
                <a:alpha val="50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A76FAE18-E794-5440-845E-93938A34ADB1}" type="slidenum">
              <a:rPr lang="en-US" sz="1200" dirty="0">
                <a:solidFill>
                  <a:srgbClr val="555B66"/>
                </a:solidFill>
                <a:latin typeface="Calibri"/>
              </a:rPr>
              <a:t>35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A/B Testing: Amazon “Experiments”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amazonexp_image9.png"/>
          <p:cNvPicPr>
            <a:picLocks noChangeAspect="1"/>
          </p:cNvPicPr>
          <p:nvPr/>
        </p:nvPicPr>
        <p:blipFill>
          <a:blip r:embed="rId2"/>
          <a:stretch>
            <a:fillRect/>
          </a:stretch>
        </p:blipFill>
        <p:spPr>
          <a:xfrm>
            <a:off x="2331720" y="1554480"/>
            <a:ext cx="7498079" cy="4174038"/>
          </a:xfrm>
          <a:prstGeom prst="roundRect">
            <a:avLst>
              <a:gd name="adj" fmla="val 8000"/>
            </a:avLst>
          </a:prstGeom>
          <a:effectLst>
            <a:outerShdw blurRad="50800" dist="38100" dir="2700000" algn="tl" rotWithShape="0">
              <a:srgbClr val="000000">
                <a:alpha val="50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B85D8FA1-40B8-5136-B161-3F66860BFBA4}" type="slidenum">
              <a:rPr lang="en-US" sz="1200" dirty="0">
                <a:solidFill>
                  <a:srgbClr val="555B66"/>
                </a:solidFill>
                <a:latin typeface="Calibri"/>
              </a:rPr>
              <a:t>36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Recent Amazon “Experiments”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amazonrecent_image10.png"/>
          <p:cNvPicPr>
            <a:picLocks noChangeAspect="1"/>
          </p:cNvPicPr>
          <p:nvPr/>
        </p:nvPicPr>
        <p:blipFill>
          <a:blip r:embed="rId2"/>
          <a:stretch>
            <a:fillRect/>
          </a:stretch>
        </p:blipFill>
        <p:spPr>
          <a:xfrm>
            <a:off x="777240" y="1691640"/>
            <a:ext cx="5212080" cy="3972844"/>
          </a:xfrm>
          <a:prstGeom prst="roundRect">
            <a:avLst>
              <a:gd name="adj" fmla="val 8000"/>
            </a:avLst>
          </a:prstGeom>
          <a:effectLst>
            <a:outerShdw blurRad="50800" dist="38100" dir="2700000" algn="tl" rotWithShape="0">
              <a:srgbClr val="000000">
                <a:alpha val="50000"/>
              </a:srgbClr>
            </a:outerShdw>
          </a:effectLst>
        </p:spPr>
      </p:pic>
      <p:pic>
        <p:nvPicPr>
          <p:cNvPr id="8" name="Picture 7" descr="ct_amazonrecent_image11.png"/>
          <p:cNvPicPr>
            <a:picLocks noChangeAspect="1"/>
          </p:cNvPicPr>
          <p:nvPr/>
        </p:nvPicPr>
        <p:blipFill>
          <a:blip r:embed="rId3"/>
          <a:stretch>
            <a:fillRect/>
          </a:stretch>
        </p:blipFill>
        <p:spPr>
          <a:xfrm>
            <a:off x="6263640" y="1691640"/>
            <a:ext cx="5212080" cy="2365019"/>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777240" y="6035040"/>
            <a:ext cx="10698480" cy="320040"/>
          </a:xfrm>
          <a:prstGeom prst="rect">
            <a:avLst/>
          </a:prstGeom>
          <a:noFill/>
        </p:spPr>
        <p:txBody>
          <a:bodyPr wrap="square" lIns="0" rIns="0" tIns="0" bIns="0">
            <a:spAutoFit/>
          </a:bodyPr>
          <a:lstStyle/>
          <a:p>
            <a:pPr algn="ctr"/>
            <a:r>
              <a:rPr sz="1300" b="0" i="1" u="none">
                <a:solidFill>
                  <a:srgbClr val="555B66"/>
                </a:solidFill>
                <a:latin typeface="Calibri"/>
              </a:rPr>
              <a:t>camelcamelcamel.com</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D08F1797-AD54-52A3-A710-94438C6EF77E}" type="slidenum">
              <a:rPr lang="en-US" sz="1200" dirty="0">
                <a:solidFill>
                  <a:srgbClr val="555B66"/>
                </a:solidFill>
                <a:latin typeface="Calibri"/>
              </a:rPr>
              <a:t>37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Econometric Estimates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b="1">
                <a:latin typeface="Calibri"/>
              </a:rPr>
              <a:t>Description:</a:t>
            </a:r>
            <a:r>
              <a:rPr>
                <a:latin typeface="Calibri"/>
              </a:rPr>
              <a:t> Combination of economics, statistics, and mathematical model building</a:t>
            </a:r>
          </a:p>
          <a:p>
            <a:pPr algn="l"/>
            <a:r>
              <a:rPr>
                <a:latin typeface="Calibri"/>
              </a:rPr>
              <a:t>Develop hypotheses about relationships between </a:t>
            </a:r>
            <a:r>
              <a:rPr>
                <a:solidFill>
                  <a:srgbClr val="C00000"/>
                </a:solidFill>
                <a:latin typeface="Calibri"/>
              </a:rPr>
              <a:t>dependent variables</a:t>
            </a:r>
            <a:r>
              <a:rPr>
                <a:latin typeface="Calibri"/>
              </a:rPr>
              <a:t> (quantity sold) and </a:t>
            </a:r>
            <a:r>
              <a:rPr>
                <a:solidFill>
                  <a:srgbClr val="C00000"/>
                </a:solidFill>
                <a:latin typeface="Calibri"/>
              </a:rPr>
              <a:t>independent/explanatory variables</a:t>
            </a:r>
            <a:r>
              <a:rPr>
                <a:latin typeface="Calibri"/>
              </a:rPr>
              <a:t> (e.g., price)</a:t>
            </a:r>
          </a:p>
          <a:p>
            <a:pPr algn="l"/>
            <a:r>
              <a:rPr b="1">
                <a:latin typeface="Calibri"/>
              </a:rPr>
              <a:t>Common method:</a:t>
            </a:r>
            <a:r>
              <a:rPr>
                <a:latin typeface="Calibri"/>
              </a:rPr>
              <a:t> </a:t>
            </a:r>
            <a:r>
              <a:rPr>
                <a:solidFill>
                  <a:srgbClr val="C00000"/>
                </a:solidFill>
                <a:latin typeface="Calibri"/>
              </a:rPr>
              <a:t>Least squares regression</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EDF708DD-CB73-56E8-9FB3-32D439A6BCE9}" type="slidenum">
              <a:rPr lang="en-US" sz="1200" dirty="0">
                <a:solidFill>
                  <a:srgbClr val="555B66"/>
                </a:solidFill>
                <a:latin typeface="Calibri"/>
              </a:rPr>
              <a:t>38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Ordinary Least Squares: The Basic Equation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77639" y="1554480"/>
            <a:ext cx="420624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3200" b="0" i="1">
                <a:solidFill>
                  <a:srgbClr val="0B2B4E"/>
                </a:solidFill>
                <a:latin typeface="Cambria Math"/>
              </a:defRPr>
            </a:pPr>
            <a14:m>
              <m:oMathPara>
                <m:oMathParaPr>
                  <m:jc m:val="centerGroup"/>
                </m:oMathParaPr>
                <m:oMath>
                  <m:r>
                    <a:rPr lang="en-US" b="0" i="1" sz="3200">
                      <a:solidFill>
                        <a:srgbClr val="0B2B4E"/>
                      </a:solidFill>
                      <a:latin typeface="Cambria Math"/>
                      <a:ea typeface="Cambria Math"/>
                    </a:rPr>
                    <m:t>Q</m:t>
                  </m:r>
                  <m:r>
                    <m:rPr>
                      <m:sty m:val="p"/>
                    </m:rPr>
                    <a:rPr lang="en-US" b="0" i="0" sz="3200">
                      <a:solidFill>
                        <a:srgbClr val="0B2B4E"/>
                      </a:solidFill>
                      <a:latin typeface="Cambria Math"/>
                    </a:rPr>
                    <m:t xml:space="preserve"> = </m:t>
                  </m:r>
                  <m:r>
                    <a:rPr lang="en-US" b="0" i="1" sz="3200">
                      <a:solidFill>
                        <a:srgbClr val="0B2B4E"/>
                      </a:solidFill>
                      <a:latin typeface="Cambria Math"/>
                      <a:ea typeface="Cambria Math"/>
                    </a:rPr>
                    <m:t>a</m:t>
                  </m:r>
                  <m:r>
                    <m:rPr>
                      <m:sty m:val="p"/>
                    </m:rPr>
                    <a:rPr lang="en-US" b="0" i="0" sz="3200">
                      <a:solidFill>
                        <a:srgbClr val="0B2B4E"/>
                      </a:solidFill>
                      <a:latin typeface="Cambria Math"/>
                    </a:rPr>
                    <m:t xml:space="preserve"> + </m:t>
                  </m:r>
                  <m:r>
                    <a:rPr lang="en-US" b="0" i="1" sz="3200">
                      <a:solidFill>
                        <a:srgbClr val="0B2B4E"/>
                      </a:solidFill>
                      <a:latin typeface="Cambria Math"/>
                      <a:ea typeface="Cambria Math"/>
                    </a:rPr>
                    <m:t>b</m:t>
                  </m:r>
                  <m:r>
                    <m:rPr>
                      <m:sty m:val="p"/>
                    </m:rPr>
                    <a:rPr lang="en-US" b="0" i="0" sz="3200">
                      <a:solidFill>
                        <a:srgbClr val="0B2B4E"/>
                      </a:solidFill>
                      <a:latin typeface="Cambria Math"/>
                    </a:rPr>
                    <m:t xml:space="preserve"> ∙ </m:t>
                  </m:r>
                  <m:r>
                    <a:rPr lang="en-US" b="0" i="1" sz="3200">
                      <a:solidFill>
                        <a:srgbClr val="0B2B4E"/>
                      </a:solidFill>
                      <a:latin typeface="Cambria Math"/>
                      <a:ea typeface="Cambria Math"/>
                    </a:rPr>
                    <m:t>P</m:t>
                  </m:r>
                </m:oMath>
              </m:oMathPara>
            </a14:m>
            <a:endParaRPr lang="en-US" sz="3200"/>
          </a:p>
        </p:txBody>
      </p:sp>
      <p:sp>
        <p:nvSpPr>
          <p:cNvPr id="8" name="TextBox 7"/>
          <p:cNvSpPr txBox="1"/>
          <p:nvPr/>
        </p:nvSpPr>
        <p:spPr>
          <a:xfrm>
            <a:off x="8458200" y="1828800"/>
            <a:ext cx="1280160" cy="365760"/>
          </a:xfrm>
          <a:prstGeom prst="rect">
            <a:avLst/>
          </a:prstGeom>
          <a:noFill/>
        </p:spPr>
        <p:txBody>
          <a:bodyPr wrap="square" lIns="0" rIns="0" tIns="0" bIns="0">
            <a:spAutoFit/>
          </a:bodyPr>
          <a:lstStyle/>
          <a:p>
            <a:pPr algn="l"/>
            <a:r>
              <a:rPr sz="1600" b="1" i="0" u="none">
                <a:solidFill>
                  <a:srgbClr val="C00000"/>
                </a:solidFill>
                <a:latin typeface="Calibri"/>
              </a:rPr>
              <a:t>Slope</a:t>
            </a:r>
          </a:p>
        </p:txBody>
      </p:sp>
      <p:cxnSp>
        <p:nvCxnSpPr>
          <p:cNvPr id="9" name="Connector 8"/>
          <p:cNvCxnSpPr/>
          <p:nvPr/>
        </p:nvCxnSpPr>
        <p:spPr>
          <a:xfrm flipH="1">
            <a:off x="7360920" y="2011680"/>
            <a:ext cx="1051560" cy="73151"/>
          </a:xfrm>
          <a:prstGeom prst="line">
            <a:avLst/>
          </a:prstGeom>
          <a:ln w="22225">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874519" y="3017520"/>
            <a:ext cx="8229600" cy="237744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buNone/>
            </a:pPr>
            <a:r>
              <a:rPr sz="2400">
                <a:solidFill>
                  <a:srgbClr val="0B2B4E"/>
                </a:solidFill>
                <a:latin typeface="Calibri"/>
              </a:rPr>
              <a:t>where:</a:t>
            </a:r>
          </a:p>
          <a:p>
            <a:pPr algn="l">
              <a:spcBef>
                <a:spcPts val="1200"/>
              </a:spcBef>
              <a:buNone/>
            </a:pPr>
            <a:r>
              <a:rPr sz="2400" i="1">
                <a:solidFill>
                  <a:srgbClr val="0B2B4E"/>
                </a:solidFill>
                <a:latin typeface="Calibri"/>
              </a:rPr>
              <a:t>Q</a:t>
            </a:r>
            <a:r>
              <a:rPr sz="2400">
                <a:solidFill>
                  <a:srgbClr val="0B2B4E"/>
                </a:solidFill>
                <a:latin typeface="Calibri"/>
              </a:rPr>
              <a:t> = Quantity sold (dependent variable)</a:t>
            </a:r>
          </a:p>
          <a:p>
            <a:pPr algn="l">
              <a:spcBef>
                <a:spcPts val="1200"/>
              </a:spcBef>
              <a:buNone/>
            </a:pPr>
            <a:r>
              <a:rPr sz="2400" i="1">
                <a:solidFill>
                  <a:srgbClr val="0B2B4E"/>
                </a:solidFill>
                <a:latin typeface="Calibri"/>
              </a:rPr>
              <a:t>P</a:t>
            </a:r>
            <a:r>
              <a:rPr sz="2400">
                <a:solidFill>
                  <a:srgbClr val="0B2B4E"/>
                </a:solidFill>
                <a:latin typeface="Calibri"/>
              </a:rPr>
              <a:t> = Price (explanatory variable)</a:t>
            </a:r>
          </a:p>
          <a:p>
            <a:pPr algn="l">
              <a:spcBef>
                <a:spcPts val="1200"/>
              </a:spcBef>
              <a:buNone/>
            </a:pPr>
            <a:r>
              <a:rPr sz="2400" i="1">
                <a:solidFill>
                  <a:srgbClr val="0B2B4E"/>
                </a:solidFill>
                <a:latin typeface="Calibri"/>
              </a:rPr>
              <a:t>a</a:t>
            </a:r>
            <a:r>
              <a:rPr sz="2400">
                <a:solidFill>
                  <a:srgbClr val="0B2B4E"/>
                </a:solidFill>
                <a:latin typeface="Calibri"/>
              </a:rPr>
              <a:t> = Intercept with y-axis (</a:t>
            </a:r>
            <a:r>
              <a:rPr sz="2400" i="1">
                <a:solidFill>
                  <a:srgbClr val="0B2B4E"/>
                </a:solidFill>
                <a:latin typeface="Calibri"/>
              </a:rPr>
              <a:t>Q</a:t>
            </a:r>
            <a:r>
              <a:rPr sz="2400">
                <a:solidFill>
                  <a:srgbClr val="0B2B4E"/>
                </a:solidFill>
                <a:latin typeface="Calibri"/>
              </a:rPr>
              <a:t> is on y-axis)</a:t>
            </a:r>
          </a:p>
          <a:p>
            <a:pPr algn="l">
              <a:spcBef>
                <a:spcPts val="1200"/>
              </a:spcBef>
              <a:buNone/>
            </a:pPr>
            <a:r>
              <a:rPr sz="2400" i="1">
                <a:solidFill>
                  <a:srgbClr val="0B2B4E"/>
                </a:solidFill>
                <a:latin typeface="Calibri"/>
              </a:rPr>
              <a:t>b</a:t>
            </a:r>
            <a:r>
              <a:rPr sz="2400">
                <a:solidFill>
                  <a:srgbClr val="0B2B4E"/>
                </a:solidFill>
                <a:latin typeface="Calibri"/>
              </a:rPr>
              <a:t> = Slope of </a:t>
            </a:r>
            <a:r>
              <a:rPr sz="2400">
                <a:solidFill>
                  <a:srgbClr val="C00000"/>
                </a:solidFill>
                <a:latin typeface="Calibri"/>
              </a:rPr>
              <a:t>regression line</a:t>
            </a:r>
          </a:p>
        </p:txBody>
      </p:sp>
      <p:sp>
        <p:nvSpPr>
          <p:cNvPr id="11" name="TextBox 10"/>
          <p:cNvSpPr txBox="1"/>
          <p:nvPr/>
        </p:nvSpPr>
        <p:spPr>
          <a:xfrm>
            <a:off x="7178040" y="5349240"/>
            <a:ext cx="4572000" cy="914400"/>
          </a:xfrm>
          <a:prstGeom prst="rect">
            <a:avLst/>
          </a:prstGeom>
          <a:noFill/>
        </p:spPr>
        <p:txBody>
          <a:bodyPr wrap="square" anchor="ctr">
            <a:spAutoFit/>
          </a:bodyPr>
          <a:lstStyle/>
          <a:p xmlns:m="http://schemas.openxmlformats.org/officeDocument/2006/math" xmlns:a14="http://schemas.microsoft.com/office/drawing/2010/main">
            <a:pPr algn="ctr">
              <a:defRPr sz="2000" b="0" i="1">
                <a:solidFill>
                  <a:srgbClr val="0B2B4E"/>
                </a:solidFill>
                <a:latin typeface="Cambria Math"/>
              </a:defRPr>
            </a:pPr>
            <a14:m>
              <m:oMathPara>
                <m:oMathParaPr>
                  <m:jc m:val="centerGroup"/>
                </m:oMathParaPr>
                <m:oMath>
                  <m:sSub>
                    <m:sSubPr>
                      <m:ctrlPr>
                        <a:rPr lang="en-US" i="1">
                          <a:latin typeface="Cambria Math"/>
                        </a:rPr>
                      </m:ctrlPr>
                    </m:sSubPr>
                    <m:e>
                      <m:r>
                        <a:rPr lang="en-US" b="0" i="1" sz="2000">
                          <a:solidFill>
                            <a:srgbClr val="0B2B4E"/>
                          </a:solidFill>
                          <a:latin typeface="Cambria Math"/>
                          <a:ea typeface="Cambria Math"/>
                        </a:rPr>
                        <m:t>E</m:t>
                      </m:r>
                    </m:e>
                    <m:sub>
                      <m:r>
                        <a:rPr lang="en-US" b="0" i="1" sz="2000">
                          <a:solidFill>
                            <a:srgbClr val="0B2B4E"/>
                          </a:solidFill>
                          <a:latin typeface="Cambria Math"/>
                          <a:ea typeface="Cambria Math"/>
                        </a:rPr>
                        <m:t>d</m:t>
                      </m:r>
                    </m:sub>
                  </m:sSub>
                  <m:r>
                    <m:rPr>
                      <m:sty m:val="p"/>
                    </m:rPr>
                    <a:rPr lang="en-US" b="0" i="0" sz="2000">
                      <a:solidFill>
                        <a:srgbClr val="0B2B4E"/>
                      </a:solidFill>
                      <a:latin typeface="Cambria Math"/>
                    </a:rPr>
                    <m:t xml:space="preserve"> = </m:t>
                  </m:r>
                  <m:f>
                    <m:fPr>
                      <m:ctrlPr>
                        <a:rPr lang="en-US" i="1">
                          <a:latin typeface="Cambria Math"/>
                        </a:rPr>
                      </m:ctrlPr>
                    </m:fPr>
                    <m:num>
                      <m:r>
                        <m:rPr>
                          <m:sty m:val="p"/>
                        </m:rPr>
                        <a:rPr lang="en-US" b="0" i="0" sz="2000">
                          <a:solidFill>
                            <a:srgbClr val="0B2B4E"/>
                          </a:solidFill>
                          <a:latin typeface="Cambria Math"/>
                        </a:rPr>
                        <m:t xml:space="preserve">Δ</m:t>
                      </m:r>
                      <m:r>
                        <a:rPr lang="en-US" b="0" i="1" sz="2000">
                          <a:solidFill>
                            <a:srgbClr val="0B2B4E"/>
                          </a:solidFill>
                          <a:latin typeface="Cambria Math"/>
                          <a:ea typeface="Cambria Math"/>
                        </a:rPr>
                        <m:t>Q</m:t>
                      </m:r>
                    </m:num>
                    <m:den>
                      <m:r>
                        <m:rPr>
                          <m:sty m:val="p"/>
                        </m:rPr>
                        <a:rPr lang="en-US" b="0" i="0" sz="2000">
                          <a:solidFill>
                            <a:srgbClr val="0B2B4E"/>
                          </a:solidFill>
                          <a:latin typeface="Cambria Math"/>
                        </a:rPr>
                        <m:t xml:space="preserve">Δ</m:t>
                      </m:r>
                      <m:r>
                        <a:rPr lang="en-US" b="0" i="1" sz="2000">
                          <a:solidFill>
                            <a:srgbClr val="0B2B4E"/>
                          </a:solidFill>
                          <a:latin typeface="Cambria Math"/>
                          <a:ea typeface="Cambria Math"/>
                        </a:rPr>
                        <m:t>P</m:t>
                      </m:r>
                    </m:den>
                  </m:f>
                  <m:r>
                    <m:rPr>
                      <m:sty m:val="p"/>
                    </m:rPr>
                    <a:rPr lang="en-US" b="0" i="0" sz="2000">
                      <a:solidFill>
                        <a:srgbClr val="0B2B4E"/>
                      </a:solidFill>
                      <a:latin typeface="Cambria Math"/>
                    </a:rPr>
                    <m:t xml:space="preserve"> ∙ </m:t>
                  </m:r>
                  <m:f>
                    <m:fPr>
                      <m:ctrlPr>
                        <a:rPr lang="en-US" i="1">
                          <a:latin typeface="Cambria Math"/>
                        </a:rPr>
                      </m:ctrlPr>
                    </m:fPr>
                    <m:num>
                      <m:r>
                        <a:rPr lang="en-US" b="0" i="1" sz="2000">
                          <a:solidFill>
                            <a:srgbClr val="0B2B4E"/>
                          </a:solidFill>
                          <a:latin typeface="Cambria Math"/>
                          <a:ea typeface="Cambria Math"/>
                        </a:rPr>
                        <m:t>P</m:t>
                      </m:r>
                    </m:num>
                    <m:den>
                      <m:r>
                        <a:rPr lang="en-US" b="0" i="1" sz="2000">
                          <a:solidFill>
                            <a:srgbClr val="0B2B4E"/>
                          </a:solidFill>
                          <a:latin typeface="Cambria Math"/>
                          <a:ea typeface="Cambria Math"/>
                        </a:rPr>
                        <m:t>Q</m:t>
                      </m:r>
                    </m:den>
                  </m:f>
                  <m:r>
                    <m:rPr>
                      <m:sty m:val="p"/>
                    </m:rPr>
                    <a:rPr lang="en-US" b="0" i="0" sz="2000">
                      <a:solidFill>
                        <a:srgbClr val="0B2B4E"/>
                      </a:solidFill>
                      <a:latin typeface="Cambria Math"/>
                    </a:rPr>
                    <m:t xml:space="preserve"> = </m:t>
                  </m:r>
                  <m:r>
                    <a:rPr lang="en-US" b="0" i="1" sz="2000">
                      <a:solidFill>
                        <a:srgbClr val="0B2B4E"/>
                      </a:solidFill>
                      <a:latin typeface="Cambria Math"/>
                      <a:ea typeface="Cambria Math"/>
                    </a:rPr>
                    <m:t>b</m:t>
                  </m:r>
                  <m:r>
                    <m:rPr>
                      <m:sty m:val="p"/>
                    </m:rPr>
                    <a:rPr lang="en-US" b="0" i="0" sz="2000">
                      <a:solidFill>
                        <a:srgbClr val="0B2B4E"/>
                      </a:solidFill>
                      <a:latin typeface="Cambria Math"/>
                    </a:rPr>
                    <m:t xml:space="preserve"> ∙ </m:t>
                  </m:r>
                  <m:f>
                    <m:fPr>
                      <m:ctrlPr>
                        <a:rPr lang="en-US" i="1">
                          <a:latin typeface="Cambria Math"/>
                        </a:rPr>
                      </m:ctrlPr>
                    </m:fPr>
                    <m:num>
                      <m:r>
                        <a:rPr lang="en-US" b="0" i="1" sz="2000">
                          <a:solidFill>
                            <a:srgbClr val="0B2B4E"/>
                          </a:solidFill>
                          <a:latin typeface="Cambria Math"/>
                          <a:ea typeface="Cambria Math"/>
                        </a:rPr>
                        <m:t>P</m:t>
                      </m:r>
                    </m:num>
                    <m:den>
                      <m:r>
                        <a:rPr lang="en-US" b="0" i="1" sz="2000">
                          <a:solidFill>
                            <a:srgbClr val="0B2B4E"/>
                          </a:solidFill>
                          <a:latin typeface="Cambria Math"/>
                          <a:ea typeface="Cambria Math"/>
                        </a:rPr>
                        <m:t>Q</m:t>
                      </m:r>
                    </m:den>
                  </m:f>
                </m:oMath>
              </m:oMathPara>
            </a14:m>
            <a:endParaRPr lang="en-US" sz="2000"/>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309A7237-68A3-58BF-89D4-A14B9AA726D3}" type="slidenum">
              <a:rPr lang="en-US" sz="1200" dirty="0">
                <a:solidFill>
                  <a:srgbClr val="555B66"/>
                </a:solidFill>
                <a:latin typeface="Calibri"/>
              </a:rPr>
              <a:t>39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Airline Ticket Experimentation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2" name="Group pair 112"/>
          <p:cNvGrpSpPr/>
          <p:nvPr/>
        </p:nvGrpSpPr>
        <p:grpSpPr>
          <a:xfrm>
            <a:off x="4023360" y="1344168"/>
            <a:ext cx="4114800" cy="5120640"/>
            <a:chOff x="4023360" y="1344168"/>
            <a:chExt cx="4114800" cy="5120640"/>
          </a:xfrm>
        </p:grpSpPr>
        <p:sp>
          <p:nvSpPr>
            <p:cNvPr id="7" name="Rectangle 6"/>
            <p:cNvSpPr/>
            <p:nvPr/>
          </p:nvSpPr>
          <p:spPr>
            <a:xfrm>
              <a:off x="4023360" y="1344168"/>
              <a:ext cx="4114800" cy="51206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4160520" y="1481328"/>
            <a:ext cx="3840480" cy="4846320"/>
          </p:xfrm>
          <a:graphic>
            <a:graphicData uri="http://schemas.openxmlformats.org/drawingml/2006/table">
              <a:tbl>
                <a:tblPr firstRow="0" bandRow="0"/>
                <a:tblGrid>
                  <a:gridCol w="1920240"/>
                  <a:gridCol w="1920240"/>
                </a:tblGrid>
                <a:tr h="285077">
                  <a:tc>
                    <a:txBody>
                      <a:bodyPr wrap="square"/>
                      <a:lstStyle/>
                      <a:p>
                        <a:pPr algn="ctr"/>
                        <a:r>
                          <a:rPr sz="1400" b="1">
                            <a:solidFill>
                              <a:srgbClr val="FFFFFF"/>
                            </a:solidFill>
                            <a:latin typeface="Calibri"/>
                          </a:rPr>
                          <a:t>Price ($)</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400" b="1">
                            <a:solidFill>
                              <a:srgbClr val="FFFFFF"/>
                            </a:solidFill>
                            <a:latin typeface="Calibri"/>
                          </a:rPr>
                          <a:t>Seats sold</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285077">
                  <a:tc>
                    <a:txBody>
                      <a:bodyPr wrap="square"/>
                      <a:lstStyle/>
                      <a:p>
                        <a:pPr algn="ctr"/>
                        <a:r>
                          <a:rPr sz="1300" b="0">
                            <a:solidFill>
                              <a:srgbClr val="0B2B4E"/>
                            </a:solidFill>
                            <a:latin typeface="Calibri"/>
                          </a:rPr>
                          <a:t>250.00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300" b="0">
                            <a:solidFill>
                              <a:srgbClr val="0B2B4E"/>
                            </a:solidFill>
                            <a:latin typeface="Calibri"/>
                          </a:rPr>
                          <a:t>64</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85077">
                  <a:tc>
                    <a:txBody>
                      <a:bodyPr wrap="square"/>
                      <a:lstStyle/>
                      <a:p>
                        <a:pPr algn="ctr"/>
                        <a:r>
                          <a:rPr sz="1300" b="0">
                            <a:solidFill>
                              <a:srgbClr val="0B2B4E"/>
                            </a:solidFill>
                            <a:latin typeface="Calibri"/>
                          </a:rPr>
                          <a:t>265.00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300" b="0">
                            <a:solidFill>
                              <a:srgbClr val="0B2B4E"/>
                            </a:solidFill>
                            <a:latin typeface="Calibri"/>
                          </a:rPr>
                          <a:t>33</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85077">
                  <a:tc>
                    <a:txBody>
                      <a:bodyPr wrap="square"/>
                      <a:lstStyle/>
                      <a:p>
                        <a:pPr algn="ctr"/>
                        <a:r>
                          <a:rPr sz="1300" b="0">
                            <a:solidFill>
                              <a:srgbClr val="0B2B4E"/>
                            </a:solidFill>
                            <a:latin typeface="Calibri"/>
                          </a:rPr>
                          <a:t>265.00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300" b="0">
                            <a:solidFill>
                              <a:srgbClr val="0B2B4E"/>
                            </a:solidFill>
                            <a:latin typeface="Calibri"/>
                          </a:rPr>
                          <a:t>37</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85077">
                  <a:tc>
                    <a:txBody>
                      <a:bodyPr wrap="square"/>
                      <a:lstStyle/>
                      <a:p>
                        <a:pPr algn="ctr"/>
                        <a:r>
                          <a:rPr sz="1300" b="0">
                            <a:solidFill>
                              <a:srgbClr val="0B2B4E"/>
                            </a:solidFill>
                            <a:latin typeface="Calibri"/>
                          </a:rPr>
                          <a:t>240.00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300" b="0">
                            <a:solidFill>
                              <a:srgbClr val="0B2B4E"/>
                            </a:solidFill>
                            <a:latin typeface="Calibri"/>
                          </a:rPr>
                          <a:t>83</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85077">
                  <a:tc>
                    <a:txBody>
                      <a:bodyPr wrap="square"/>
                      <a:lstStyle/>
                      <a:p>
                        <a:pPr algn="ctr"/>
                        <a:r>
                          <a:rPr sz="1300" b="0">
                            <a:solidFill>
                              <a:srgbClr val="0B2B4E"/>
                            </a:solidFill>
                            <a:latin typeface="Calibri"/>
                          </a:rPr>
                          <a:t>230.00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300" b="0">
                            <a:solidFill>
                              <a:srgbClr val="0B2B4E"/>
                            </a:solidFill>
                            <a:latin typeface="Calibri"/>
                          </a:rPr>
                          <a:t>111</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85077">
                  <a:tc>
                    <a:txBody>
                      <a:bodyPr wrap="square"/>
                      <a:lstStyle/>
                      <a:p>
                        <a:pPr algn="ctr"/>
                        <a:r>
                          <a:rPr sz="1300" b="0">
                            <a:solidFill>
                              <a:srgbClr val="0B2B4E"/>
                            </a:solidFill>
                            <a:latin typeface="Calibri"/>
                          </a:rPr>
                          <a:t>225.00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300" b="0">
                            <a:solidFill>
                              <a:srgbClr val="0B2B4E"/>
                            </a:solidFill>
                            <a:latin typeface="Calibri"/>
                          </a:rPr>
                          <a:t>137</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85077">
                  <a:tc>
                    <a:txBody>
                      <a:bodyPr wrap="square"/>
                      <a:lstStyle/>
                      <a:p>
                        <a:pPr algn="ctr"/>
                        <a:r>
                          <a:rPr sz="1300" b="0">
                            <a:solidFill>
                              <a:srgbClr val="0B2B4E"/>
                            </a:solidFill>
                            <a:latin typeface="Calibri"/>
                          </a:rPr>
                          <a:t>225.00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300" b="0">
                            <a:solidFill>
                              <a:srgbClr val="0B2B4E"/>
                            </a:solidFill>
                            <a:latin typeface="Calibri"/>
                          </a:rPr>
                          <a:t>109</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85077">
                  <a:tc>
                    <a:txBody>
                      <a:bodyPr wrap="square"/>
                      <a:lstStyle/>
                      <a:p>
                        <a:pPr algn="ctr"/>
                        <a:r>
                          <a:rPr sz="1300" b="0">
                            <a:solidFill>
                              <a:srgbClr val="0B2B4E"/>
                            </a:solidFill>
                            <a:latin typeface="Calibri"/>
                          </a:rPr>
                          <a:t>220.00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300" b="0">
                            <a:solidFill>
                              <a:srgbClr val="0B2B4E"/>
                            </a:solidFill>
                            <a:latin typeface="Calibri"/>
                          </a:rPr>
                          <a:t>96</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85077">
                  <a:tc>
                    <a:txBody>
                      <a:bodyPr wrap="square"/>
                      <a:lstStyle/>
                      <a:p>
                        <a:pPr algn="ctr"/>
                        <a:r>
                          <a:rPr sz="1300" b="0">
                            <a:solidFill>
                              <a:srgbClr val="0B2B4E"/>
                            </a:solidFill>
                            <a:latin typeface="Calibri"/>
                          </a:rPr>
                          <a:t>230.00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300" b="0">
                            <a:solidFill>
                              <a:srgbClr val="0B2B4E"/>
                            </a:solidFill>
                            <a:latin typeface="Calibri"/>
                          </a:rPr>
                          <a:t>59</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85077">
                  <a:tc>
                    <a:txBody>
                      <a:bodyPr wrap="square"/>
                      <a:lstStyle/>
                      <a:p>
                        <a:pPr algn="ctr"/>
                        <a:r>
                          <a:rPr sz="1300" b="0">
                            <a:solidFill>
                              <a:srgbClr val="0B2B4E"/>
                            </a:solidFill>
                            <a:latin typeface="Calibri"/>
                          </a:rPr>
                          <a:t>235.00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300" b="0">
                            <a:solidFill>
                              <a:srgbClr val="0B2B4E"/>
                            </a:solidFill>
                            <a:latin typeface="Calibri"/>
                          </a:rPr>
                          <a:t>83</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85077">
                  <a:tc>
                    <a:txBody>
                      <a:bodyPr wrap="square"/>
                      <a:lstStyle/>
                      <a:p>
                        <a:pPr algn="ctr"/>
                        <a:r>
                          <a:rPr sz="1300" b="0">
                            <a:solidFill>
                              <a:srgbClr val="0B2B4E"/>
                            </a:solidFill>
                            <a:latin typeface="Calibri"/>
                          </a:rPr>
                          <a:t>245.00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300" b="0">
                            <a:solidFill>
                              <a:srgbClr val="0B2B4E"/>
                            </a:solidFill>
                            <a:latin typeface="Calibri"/>
                          </a:rPr>
                          <a:t>90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85077">
                  <a:tc>
                    <a:txBody>
                      <a:bodyPr wrap="square"/>
                      <a:lstStyle/>
                      <a:p>
                        <a:pPr algn="ctr"/>
                        <a:r>
                          <a:rPr sz="1300" b="0">
                            <a:solidFill>
                              <a:srgbClr val="0B2B4E"/>
                            </a:solidFill>
                            <a:latin typeface="Calibri"/>
                          </a:rPr>
                          <a:t>240.00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300" b="0">
                            <a:solidFill>
                              <a:srgbClr val="0B2B4E"/>
                            </a:solidFill>
                            <a:latin typeface="Calibri"/>
                          </a:rPr>
                          <a:t>105</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85077">
                  <a:tc>
                    <a:txBody>
                      <a:bodyPr wrap="square"/>
                      <a:lstStyle/>
                      <a:p>
                        <a:pPr algn="ctr"/>
                        <a:r>
                          <a:rPr sz="1300" b="0">
                            <a:solidFill>
                              <a:srgbClr val="0B2B4E"/>
                            </a:solidFill>
                            <a:latin typeface="Calibri"/>
                          </a:rPr>
                          <a:t>250.00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300" b="0">
                            <a:solidFill>
                              <a:srgbClr val="0B2B4E"/>
                            </a:solidFill>
                            <a:latin typeface="Calibri"/>
                          </a:rPr>
                          <a:t>75</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85077">
                  <a:tc>
                    <a:txBody>
                      <a:bodyPr wrap="square"/>
                      <a:lstStyle/>
                      <a:p>
                        <a:pPr algn="ctr"/>
                        <a:r>
                          <a:rPr sz="1300" b="0">
                            <a:solidFill>
                              <a:srgbClr val="0B2B4E"/>
                            </a:solidFill>
                            <a:latin typeface="Calibri"/>
                          </a:rPr>
                          <a:t>240.00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300" b="0">
                            <a:solidFill>
                              <a:srgbClr val="0B2B4E"/>
                            </a:solidFill>
                            <a:latin typeface="Calibri"/>
                          </a:rPr>
                          <a:t>91</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85077">
                  <a:tc>
                    <a:txBody>
                      <a:bodyPr wrap="square"/>
                      <a:lstStyle/>
                      <a:p>
                        <a:pPr algn="ctr"/>
                        <a:r>
                          <a:rPr sz="1300" b="0">
                            <a:solidFill>
                              <a:srgbClr val="0B2B4E"/>
                            </a:solidFill>
                            <a:latin typeface="Calibri"/>
                          </a:rPr>
                          <a:t>240.00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300" b="0">
                            <a:solidFill>
                              <a:srgbClr val="0B2B4E"/>
                            </a:solidFill>
                            <a:latin typeface="Calibri"/>
                          </a:rPr>
                          <a:t>112</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85088">
                  <a:tc>
                    <a:txBody>
                      <a:bodyPr wrap="square"/>
                      <a:lstStyle/>
                      <a:p>
                        <a:pPr algn="ctr"/>
                        <a:r>
                          <a:rPr sz="1300" b="0">
                            <a:solidFill>
                              <a:srgbClr val="0B2B4E"/>
                            </a:solidFill>
                            <a:latin typeface="Calibri"/>
                          </a:rPr>
                          <a:t>235.00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300" b="0">
                            <a:solidFill>
                              <a:srgbClr val="0B2B4E"/>
                            </a:solidFill>
                            <a:latin typeface="Calibri"/>
                          </a:rPr>
                          <a:t>102</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B551B001-1FD0-5D4A-BFED-2042C378193A}" type="slidenum">
              <a:rPr lang="en-US" sz="1200" dirty="0">
                <a:solidFill>
                  <a:srgbClr val="555B66"/>
                </a:solidFill>
                <a:latin typeface="Calibri"/>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First Pass: Eyeball the Relationship — Is It Approximately Linear?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2240280" y="1709928"/>
            <a:ext cx="0" cy="4096512"/>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240280" y="5806440"/>
            <a:ext cx="7662671"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88720" y="1417319"/>
            <a:ext cx="1371600" cy="292608"/>
          </a:xfrm>
          <a:prstGeom prst="rect">
            <a:avLst/>
          </a:prstGeom>
          <a:noFill/>
        </p:spPr>
        <p:txBody>
          <a:bodyPr wrap="square" lIns="0" rIns="0" tIns="0" bIns="0">
            <a:spAutoFit/>
          </a:bodyPr>
          <a:lstStyle/>
          <a:p>
            <a:pPr algn="l"/>
            <a:r>
              <a:rPr sz="1600" b="1" i="1" u="none">
                <a:solidFill>
                  <a:srgbClr val="0B2B4E"/>
                </a:solidFill>
                <a:latin typeface="Calibri"/>
              </a:rPr>
              <a:t>Quantity</a:t>
            </a:r>
          </a:p>
        </p:txBody>
      </p:sp>
      <p:sp>
        <p:nvSpPr>
          <p:cNvPr id="10" name="TextBox 9"/>
          <p:cNvSpPr txBox="1"/>
          <p:nvPr/>
        </p:nvSpPr>
        <p:spPr>
          <a:xfrm>
            <a:off x="9464039" y="5879592"/>
            <a:ext cx="1280160" cy="292608"/>
          </a:xfrm>
          <a:prstGeom prst="rect">
            <a:avLst/>
          </a:prstGeom>
          <a:noFill/>
        </p:spPr>
        <p:txBody>
          <a:bodyPr wrap="square" lIns="0" rIns="0" tIns="0" bIns="0">
            <a:spAutoFit/>
          </a:bodyPr>
          <a:lstStyle/>
          <a:p>
            <a:pPr algn="l"/>
            <a:r>
              <a:rPr sz="1600" b="1" i="1" u="none">
                <a:solidFill>
                  <a:srgbClr val="0B2B4E"/>
                </a:solidFill>
                <a:latin typeface="Calibri"/>
              </a:rPr>
              <a:t>Price ($)</a:t>
            </a:r>
          </a:p>
        </p:txBody>
      </p:sp>
      <p:sp>
        <p:nvSpPr>
          <p:cNvPr id="11" name="TextBox 10"/>
          <p:cNvSpPr txBox="1"/>
          <p:nvPr/>
        </p:nvSpPr>
        <p:spPr>
          <a:xfrm>
            <a:off x="3032760" y="5861303"/>
            <a:ext cx="914400" cy="274320"/>
          </a:xfrm>
          <a:prstGeom prst="rect">
            <a:avLst/>
          </a:prstGeom>
          <a:noFill/>
        </p:spPr>
        <p:txBody>
          <a:bodyPr wrap="square" lIns="0" rIns="0" tIns="0" bIns="0">
            <a:spAutoFit/>
          </a:bodyPr>
          <a:lstStyle/>
          <a:p>
            <a:pPr algn="ctr"/>
            <a:r>
              <a:rPr sz="1400" b="0" i="0" u="none">
                <a:solidFill>
                  <a:srgbClr val="0B2B4E"/>
                </a:solidFill>
                <a:latin typeface="Calibri"/>
              </a:rPr>
              <a:t>220</a:t>
            </a:r>
          </a:p>
        </p:txBody>
      </p:sp>
      <p:sp>
        <p:nvSpPr>
          <p:cNvPr id="12" name="TextBox 11"/>
          <p:cNvSpPr txBox="1"/>
          <p:nvPr/>
        </p:nvSpPr>
        <p:spPr>
          <a:xfrm>
            <a:off x="4168832" y="5861303"/>
            <a:ext cx="914400" cy="274320"/>
          </a:xfrm>
          <a:prstGeom prst="rect">
            <a:avLst/>
          </a:prstGeom>
          <a:noFill/>
        </p:spPr>
        <p:txBody>
          <a:bodyPr wrap="square" lIns="0" rIns="0" tIns="0" bIns="0">
            <a:spAutoFit/>
          </a:bodyPr>
          <a:lstStyle/>
          <a:p>
            <a:pPr algn="ctr"/>
            <a:r>
              <a:rPr sz="1400" b="0" i="0" u="none">
                <a:solidFill>
                  <a:srgbClr val="0B2B4E"/>
                </a:solidFill>
                <a:latin typeface="Calibri"/>
              </a:rPr>
              <a:t>230</a:t>
            </a:r>
          </a:p>
        </p:txBody>
      </p:sp>
      <p:sp>
        <p:nvSpPr>
          <p:cNvPr id="13" name="TextBox 12"/>
          <p:cNvSpPr txBox="1"/>
          <p:nvPr/>
        </p:nvSpPr>
        <p:spPr>
          <a:xfrm>
            <a:off x="5304905" y="5861303"/>
            <a:ext cx="914400" cy="274320"/>
          </a:xfrm>
          <a:prstGeom prst="rect">
            <a:avLst/>
          </a:prstGeom>
          <a:noFill/>
        </p:spPr>
        <p:txBody>
          <a:bodyPr wrap="square" lIns="0" rIns="0" tIns="0" bIns="0">
            <a:spAutoFit/>
          </a:bodyPr>
          <a:lstStyle/>
          <a:p>
            <a:pPr algn="ctr"/>
            <a:r>
              <a:rPr sz="1400" b="0" i="0" u="none">
                <a:solidFill>
                  <a:srgbClr val="0B2B4E"/>
                </a:solidFill>
                <a:latin typeface="Calibri"/>
              </a:rPr>
              <a:t>240</a:t>
            </a:r>
          </a:p>
        </p:txBody>
      </p:sp>
      <p:sp>
        <p:nvSpPr>
          <p:cNvPr id="14" name="TextBox 13"/>
          <p:cNvSpPr txBox="1"/>
          <p:nvPr/>
        </p:nvSpPr>
        <p:spPr>
          <a:xfrm>
            <a:off x="6440978" y="5861303"/>
            <a:ext cx="914400" cy="274320"/>
          </a:xfrm>
          <a:prstGeom prst="rect">
            <a:avLst/>
          </a:prstGeom>
          <a:noFill/>
        </p:spPr>
        <p:txBody>
          <a:bodyPr wrap="square" lIns="0" rIns="0" tIns="0" bIns="0">
            <a:spAutoFit/>
          </a:bodyPr>
          <a:lstStyle/>
          <a:p>
            <a:pPr algn="ctr"/>
            <a:r>
              <a:rPr sz="1400" b="0" i="0" u="none">
                <a:solidFill>
                  <a:srgbClr val="0B2B4E"/>
                </a:solidFill>
                <a:latin typeface="Calibri"/>
              </a:rPr>
              <a:t>250</a:t>
            </a:r>
          </a:p>
        </p:txBody>
      </p:sp>
      <p:sp>
        <p:nvSpPr>
          <p:cNvPr id="15" name="TextBox 14"/>
          <p:cNvSpPr txBox="1"/>
          <p:nvPr/>
        </p:nvSpPr>
        <p:spPr>
          <a:xfrm>
            <a:off x="7577050" y="5861303"/>
            <a:ext cx="914400" cy="274320"/>
          </a:xfrm>
          <a:prstGeom prst="rect">
            <a:avLst/>
          </a:prstGeom>
          <a:noFill/>
        </p:spPr>
        <p:txBody>
          <a:bodyPr wrap="square" lIns="0" rIns="0" tIns="0" bIns="0">
            <a:spAutoFit/>
          </a:bodyPr>
          <a:lstStyle/>
          <a:p>
            <a:pPr algn="ctr"/>
            <a:r>
              <a:rPr sz="1400" b="0" i="0" u="none">
                <a:solidFill>
                  <a:srgbClr val="0B2B4E"/>
                </a:solidFill>
                <a:latin typeface="Calibri"/>
              </a:rPr>
              <a:t>260</a:t>
            </a:r>
          </a:p>
        </p:txBody>
      </p:sp>
      <p:sp>
        <p:nvSpPr>
          <p:cNvPr id="16" name="TextBox 15"/>
          <p:cNvSpPr txBox="1"/>
          <p:nvPr/>
        </p:nvSpPr>
        <p:spPr>
          <a:xfrm>
            <a:off x="1261872" y="4410062"/>
            <a:ext cx="868680" cy="274320"/>
          </a:xfrm>
          <a:prstGeom prst="rect">
            <a:avLst/>
          </a:prstGeom>
          <a:noFill/>
        </p:spPr>
        <p:txBody>
          <a:bodyPr wrap="square" lIns="0" rIns="0" tIns="0" bIns="0">
            <a:spAutoFit/>
          </a:bodyPr>
          <a:lstStyle/>
          <a:p>
            <a:pPr algn="r"/>
            <a:r>
              <a:rPr sz="1400" b="0" i="0" u="none">
                <a:solidFill>
                  <a:srgbClr val="0B2B4E"/>
                </a:solidFill>
                <a:latin typeface="Calibri"/>
              </a:rPr>
              <a:t>50</a:t>
            </a:r>
          </a:p>
        </p:txBody>
      </p:sp>
      <p:sp>
        <p:nvSpPr>
          <p:cNvPr id="17" name="TextBox 16"/>
          <p:cNvSpPr txBox="1"/>
          <p:nvPr/>
        </p:nvSpPr>
        <p:spPr>
          <a:xfrm>
            <a:off x="1261872" y="3141701"/>
            <a:ext cx="868680" cy="274320"/>
          </a:xfrm>
          <a:prstGeom prst="rect">
            <a:avLst/>
          </a:prstGeom>
          <a:noFill/>
        </p:spPr>
        <p:txBody>
          <a:bodyPr wrap="square" lIns="0" rIns="0" tIns="0" bIns="0">
            <a:spAutoFit/>
          </a:bodyPr>
          <a:lstStyle/>
          <a:p>
            <a:pPr algn="r"/>
            <a:r>
              <a:rPr sz="1400" b="0" i="0" u="none">
                <a:solidFill>
                  <a:srgbClr val="0B2B4E"/>
                </a:solidFill>
                <a:latin typeface="Calibri"/>
              </a:rPr>
              <a:t>100</a:t>
            </a:r>
          </a:p>
        </p:txBody>
      </p:sp>
      <p:sp>
        <p:nvSpPr>
          <p:cNvPr id="18" name="TextBox 17"/>
          <p:cNvSpPr txBox="1"/>
          <p:nvPr/>
        </p:nvSpPr>
        <p:spPr>
          <a:xfrm>
            <a:off x="1261872" y="1873340"/>
            <a:ext cx="868680" cy="274320"/>
          </a:xfrm>
          <a:prstGeom prst="rect">
            <a:avLst/>
          </a:prstGeom>
          <a:noFill/>
        </p:spPr>
        <p:txBody>
          <a:bodyPr wrap="square" lIns="0" rIns="0" tIns="0" bIns="0">
            <a:spAutoFit/>
          </a:bodyPr>
          <a:lstStyle/>
          <a:p>
            <a:pPr algn="r"/>
            <a:r>
              <a:rPr sz="1400" b="0" i="0" u="none">
                <a:solidFill>
                  <a:srgbClr val="0B2B4E"/>
                </a:solidFill>
                <a:latin typeface="Calibri"/>
              </a:rPr>
              <a:t>150</a:t>
            </a:r>
          </a:p>
        </p:txBody>
      </p:sp>
      <p:sp>
        <p:nvSpPr>
          <p:cNvPr id="19" name="Oval 18"/>
          <p:cNvSpPr/>
          <p:nvPr/>
        </p:nvSpPr>
        <p:spPr>
          <a:xfrm>
            <a:off x="6852458" y="4137217"/>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56567" y="4923601"/>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556567" y="4822132"/>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16385" y="3655240"/>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80312" y="2944957"/>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012276" y="2285410"/>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012276" y="2995692"/>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444240" y="3325466"/>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580312" y="4264053"/>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48349" y="3655240"/>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284421" y="3477669"/>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716385" y="3097161"/>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852458" y="3858178"/>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716385" y="3452302"/>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716385" y="2919590"/>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148349" y="3173262"/>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37560" y="1417320"/>
            <a:ext cx="4114800" cy="365760"/>
          </a:xfrm>
          <a:prstGeom prst="rect">
            <a:avLst/>
          </a:prstGeom>
          <a:noFill/>
        </p:spPr>
        <p:txBody>
          <a:bodyPr wrap="square" lIns="0" rIns="0" tIns="0" bIns="0">
            <a:spAutoFit/>
          </a:bodyPr>
          <a:lstStyle/>
          <a:p>
            <a:pPr algn="l"/>
            <a:r>
              <a:rPr sz="1600" b="0" i="1" u="none">
                <a:solidFill>
                  <a:srgbClr val="555B66"/>
                </a:solidFill>
                <a:latin typeface="Calibri"/>
              </a:rPr>
              <a:t>Scatterplot of Q versus P</a:t>
            </a:r>
          </a:p>
        </p:txBody>
      </p:sp>
      <p:sp>
        <p:nvSpPr>
          <p:cNvPr id="36" name="Rectangle 3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9" name="TextBox 38"/>
          <p:cNvSpPr txBox="1"/>
          <p:nvPr/>
        </p:nvSpPr>
        <p:spPr>
          <a:xfrm>
            <a:off x="11475720" y="6583680"/>
            <a:ext cx="502920" cy="292608"/>
          </a:xfrm>
          <a:prstGeom prst="rect">
            <a:avLst/>
          </a:prstGeom>
          <a:noFill/>
        </p:spPr>
        <p:txBody>
          <a:bodyPr wrap="none" lIns="0" rIns="0" tIns="0" bIns="0">
            <a:spAutoFit/>
          </a:bodyPr>
          <a:lstStyle/>
          <a:p>
            <a:pPr algn="r"/>
            <a:fld id="{7A060044-857B-5EDC-8811-7472FED22B15}" type="slidenum">
              <a:rPr lang="en-US" sz="1200" dirty="0">
                <a:solidFill>
                  <a:srgbClr val="555B66"/>
                </a:solidFill>
                <a:latin typeface="Calibri"/>
              </a:rPr>
              <a:t>41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5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5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5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5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5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5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Least Squares Estimation: Which Line Fits Best?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2240280" y="1709928"/>
            <a:ext cx="0" cy="4096512"/>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240280" y="5806440"/>
            <a:ext cx="7662671"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88720" y="1417319"/>
            <a:ext cx="1371600" cy="292608"/>
          </a:xfrm>
          <a:prstGeom prst="rect">
            <a:avLst/>
          </a:prstGeom>
          <a:noFill/>
        </p:spPr>
        <p:txBody>
          <a:bodyPr wrap="square" lIns="0" rIns="0" tIns="0" bIns="0">
            <a:spAutoFit/>
          </a:bodyPr>
          <a:lstStyle/>
          <a:p>
            <a:pPr algn="l"/>
            <a:r>
              <a:rPr sz="1600" b="1" i="1" u="none">
                <a:solidFill>
                  <a:srgbClr val="0B2B4E"/>
                </a:solidFill>
                <a:latin typeface="Calibri"/>
              </a:rPr>
              <a:t>Quantity</a:t>
            </a:r>
          </a:p>
        </p:txBody>
      </p:sp>
      <p:sp>
        <p:nvSpPr>
          <p:cNvPr id="10" name="TextBox 9"/>
          <p:cNvSpPr txBox="1"/>
          <p:nvPr/>
        </p:nvSpPr>
        <p:spPr>
          <a:xfrm>
            <a:off x="9464039" y="5879592"/>
            <a:ext cx="1280160" cy="292608"/>
          </a:xfrm>
          <a:prstGeom prst="rect">
            <a:avLst/>
          </a:prstGeom>
          <a:noFill/>
        </p:spPr>
        <p:txBody>
          <a:bodyPr wrap="square" lIns="0" rIns="0" tIns="0" bIns="0">
            <a:spAutoFit/>
          </a:bodyPr>
          <a:lstStyle/>
          <a:p>
            <a:pPr algn="l"/>
            <a:r>
              <a:rPr sz="1600" b="1" i="1" u="none">
                <a:solidFill>
                  <a:srgbClr val="0B2B4E"/>
                </a:solidFill>
                <a:latin typeface="Calibri"/>
              </a:rPr>
              <a:t>Price ($)</a:t>
            </a:r>
          </a:p>
        </p:txBody>
      </p:sp>
      <p:sp>
        <p:nvSpPr>
          <p:cNvPr id="11" name="TextBox 10"/>
          <p:cNvSpPr txBox="1"/>
          <p:nvPr/>
        </p:nvSpPr>
        <p:spPr>
          <a:xfrm>
            <a:off x="3032760" y="5861303"/>
            <a:ext cx="914400" cy="274320"/>
          </a:xfrm>
          <a:prstGeom prst="rect">
            <a:avLst/>
          </a:prstGeom>
          <a:noFill/>
        </p:spPr>
        <p:txBody>
          <a:bodyPr wrap="square" lIns="0" rIns="0" tIns="0" bIns="0">
            <a:spAutoFit/>
          </a:bodyPr>
          <a:lstStyle/>
          <a:p>
            <a:pPr algn="ctr"/>
            <a:r>
              <a:rPr sz="1400" b="0" i="0" u="none">
                <a:solidFill>
                  <a:srgbClr val="0B2B4E"/>
                </a:solidFill>
                <a:latin typeface="Calibri"/>
              </a:rPr>
              <a:t>220</a:t>
            </a:r>
          </a:p>
        </p:txBody>
      </p:sp>
      <p:sp>
        <p:nvSpPr>
          <p:cNvPr id="12" name="TextBox 11"/>
          <p:cNvSpPr txBox="1"/>
          <p:nvPr/>
        </p:nvSpPr>
        <p:spPr>
          <a:xfrm>
            <a:off x="4168832" y="5861303"/>
            <a:ext cx="914400" cy="274320"/>
          </a:xfrm>
          <a:prstGeom prst="rect">
            <a:avLst/>
          </a:prstGeom>
          <a:noFill/>
        </p:spPr>
        <p:txBody>
          <a:bodyPr wrap="square" lIns="0" rIns="0" tIns="0" bIns="0">
            <a:spAutoFit/>
          </a:bodyPr>
          <a:lstStyle/>
          <a:p>
            <a:pPr algn="ctr"/>
            <a:r>
              <a:rPr sz="1400" b="0" i="0" u="none">
                <a:solidFill>
                  <a:srgbClr val="0B2B4E"/>
                </a:solidFill>
                <a:latin typeface="Calibri"/>
              </a:rPr>
              <a:t>230</a:t>
            </a:r>
          </a:p>
        </p:txBody>
      </p:sp>
      <p:sp>
        <p:nvSpPr>
          <p:cNvPr id="13" name="TextBox 12"/>
          <p:cNvSpPr txBox="1"/>
          <p:nvPr/>
        </p:nvSpPr>
        <p:spPr>
          <a:xfrm>
            <a:off x="5304905" y="5861303"/>
            <a:ext cx="914400" cy="274320"/>
          </a:xfrm>
          <a:prstGeom prst="rect">
            <a:avLst/>
          </a:prstGeom>
          <a:noFill/>
        </p:spPr>
        <p:txBody>
          <a:bodyPr wrap="square" lIns="0" rIns="0" tIns="0" bIns="0">
            <a:spAutoFit/>
          </a:bodyPr>
          <a:lstStyle/>
          <a:p>
            <a:pPr algn="ctr"/>
            <a:r>
              <a:rPr sz="1400" b="0" i="0" u="none">
                <a:solidFill>
                  <a:srgbClr val="0B2B4E"/>
                </a:solidFill>
                <a:latin typeface="Calibri"/>
              </a:rPr>
              <a:t>240</a:t>
            </a:r>
          </a:p>
        </p:txBody>
      </p:sp>
      <p:sp>
        <p:nvSpPr>
          <p:cNvPr id="14" name="TextBox 13"/>
          <p:cNvSpPr txBox="1"/>
          <p:nvPr/>
        </p:nvSpPr>
        <p:spPr>
          <a:xfrm>
            <a:off x="6440978" y="5861303"/>
            <a:ext cx="914400" cy="274320"/>
          </a:xfrm>
          <a:prstGeom prst="rect">
            <a:avLst/>
          </a:prstGeom>
          <a:noFill/>
        </p:spPr>
        <p:txBody>
          <a:bodyPr wrap="square" lIns="0" rIns="0" tIns="0" bIns="0">
            <a:spAutoFit/>
          </a:bodyPr>
          <a:lstStyle/>
          <a:p>
            <a:pPr algn="ctr"/>
            <a:r>
              <a:rPr sz="1400" b="0" i="0" u="none">
                <a:solidFill>
                  <a:srgbClr val="0B2B4E"/>
                </a:solidFill>
                <a:latin typeface="Calibri"/>
              </a:rPr>
              <a:t>250</a:t>
            </a:r>
          </a:p>
        </p:txBody>
      </p:sp>
      <p:sp>
        <p:nvSpPr>
          <p:cNvPr id="15" name="TextBox 14"/>
          <p:cNvSpPr txBox="1"/>
          <p:nvPr/>
        </p:nvSpPr>
        <p:spPr>
          <a:xfrm>
            <a:off x="7577050" y="5861303"/>
            <a:ext cx="914400" cy="274320"/>
          </a:xfrm>
          <a:prstGeom prst="rect">
            <a:avLst/>
          </a:prstGeom>
          <a:noFill/>
        </p:spPr>
        <p:txBody>
          <a:bodyPr wrap="square" lIns="0" rIns="0" tIns="0" bIns="0">
            <a:spAutoFit/>
          </a:bodyPr>
          <a:lstStyle/>
          <a:p>
            <a:pPr algn="ctr"/>
            <a:r>
              <a:rPr sz="1400" b="0" i="0" u="none">
                <a:solidFill>
                  <a:srgbClr val="0B2B4E"/>
                </a:solidFill>
                <a:latin typeface="Calibri"/>
              </a:rPr>
              <a:t>260</a:t>
            </a:r>
          </a:p>
        </p:txBody>
      </p:sp>
      <p:sp>
        <p:nvSpPr>
          <p:cNvPr id="16" name="TextBox 15"/>
          <p:cNvSpPr txBox="1"/>
          <p:nvPr/>
        </p:nvSpPr>
        <p:spPr>
          <a:xfrm>
            <a:off x="1261872" y="4410062"/>
            <a:ext cx="868680" cy="274320"/>
          </a:xfrm>
          <a:prstGeom prst="rect">
            <a:avLst/>
          </a:prstGeom>
          <a:noFill/>
        </p:spPr>
        <p:txBody>
          <a:bodyPr wrap="square" lIns="0" rIns="0" tIns="0" bIns="0">
            <a:spAutoFit/>
          </a:bodyPr>
          <a:lstStyle/>
          <a:p>
            <a:pPr algn="r"/>
            <a:r>
              <a:rPr sz="1400" b="0" i="0" u="none">
                <a:solidFill>
                  <a:srgbClr val="0B2B4E"/>
                </a:solidFill>
                <a:latin typeface="Calibri"/>
              </a:rPr>
              <a:t>50</a:t>
            </a:r>
          </a:p>
        </p:txBody>
      </p:sp>
      <p:sp>
        <p:nvSpPr>
          <p:cNvPr id="17" name="TextBox 16"/>
          <p:cNvSpPr txBox="1"/>
          <p:nvPr/>
        </p:nvSpPr>
        <p:spPr>
          <a:xfrm>
            <a:off x="1261872" y="3141701"/>
            <a:ext cx="868680" cy="274320"/>
          </a:xfrm>
          <a:prstGeom prst="rect">
            <a:avLst/>
          </a:prstGeom>
          <a:noFill/>
        </p:spPr>
        <p:txBody>
          <a:bodyPr wrap="square" lIns="0" rIns="0" tIns="0" bIns="0">
            <a:spAutoFit/>
          </a:bodyPr>
          <a:lstStyle/>
          <a:p>
            <a:pPr algn="r"/>
            <a:r>
              <a:rPr sz="1400" b="0" i="0" u="none">
                <a:solidFill>
                  <a:srgbClr val="0B2B4E"/>
                </a:solidFill>
                <a:latin typeface="Calibri"/>
              </a:rPr>
              <a:t>100</a:t>
            </a:r>
          </a:p>
        </p:txBody>
      </p:sp>
      <p:sp>
        <p:nvSpPr>
          <p:cNvPr id="18" name="TextBox 17"/>
          <p:cNvSpPr txBox="1"/>
          <p:nvPr/>
        </p:nvSpPr>
        <p:spPr>
          <a:xfrm>
            <a:off x="1261872" y="1873340"/>
            <a:ext cx="868680" cy="274320"/>
          </a:xfrm>
          <a:prstGeom prst="rect">
            <a:avLst/>
          </a:prstGeom>
          <a:noFill/>
        </p:spPr>
        <p:txBody>
          <a:bodyPr wrap="square" lIns="0" rIns="0" tIns="0" bIns="0">
            <a:spAutoFit/>
          </a:bodyPr>
          <a:lstStyle/>
          <a:p>
            <a:pPr algn="r"/>
            <a:r>
              <a:rPr sz="1400" b="0" i="0" u="none">
                <a:solidFill>
                  <a:srgbClr val="0B2B4E"/>
                </a:solidFill>
                <a:latin typeface="Calibri"/>
              </a:rPr>
              <a:t>150</a:t>
            </a:r>
          </a:p>
        </p:txBody>
      </p:sp>
      <p:sp>
        <p:nvSpPr>
          <p:cNvPr id="19" name="Oval 18"/>
          <p:cNvSpPr/>
          <p:nvPr/>
        </p:nvSpPr>
        <p:spPr>
          <a:xfrm>
            <a:off x="6852458" y="4137217"/>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56567" y="4923601"/>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556567" y="4822132"/>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16385" y="3655240"/>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80312" y="2944957"/>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012276" y="2285410"/>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012276" y="2995692"/>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444240" y="3325466"/>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580312" y="4264053"/>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48349" y="3655240"/>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284421" y="3477669"/>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716385" y="3097161"/>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852458" y="3858178"/>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716385" y="3452302"/>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716385" y="2919590"/>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148349" y="3173262"/>
            <a:ext cx="91440" cy="91440"/>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2808316" y="2558420"/>
            <a:ext cx="6134793" cy="224652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808316" y="2001356"/>
            <a:ext cx="6134793" cy="2663558"/>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808316" y="3396553"/>
            <a:ext cx="6134793" cy="507345"/>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57996" y="2331130"/>
            <a:ext cx="0" cy="684915"/>
          </a:xfrm>
          <a:prstGeom prst="line">
            <a:avLst/>
          </a:prstGeom>
          <a:ln w="1905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626032" y="3224056"/>
            <a:ext cx="0" cy="1085717"/>
          </a:xfrm>
          <a:prstGeom prst="line">
            <a:avLst/>
          </a:prstGeom>
          <a:ln w="1905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330141" y="3523389"/>
            <a:ext cx="0" cy="324701"/>
          </a:xfrm>
          <a:prstGeom prst="line">
            <a:avLst/>
          </a:prstGeom>
          <a:ln w="19050">
            <a:solidFill>
              <a:srgbClr val="E09F3E"/>
            </a:solidFill>
          </a:ln>
        </p:spPr>
        <p:style>
          <a:lnRef idx="2">
            <a:schemeClr val="accent1"/>
          </a:lnRef>
          <a:fillRef idx="0">
            <a:schemeClr val="accent1"/>
          </a:fillRef>
          <a:effectRef idx="1">
            <a:schemeClr val="accent1"/>
          </a:effectRef>
          <a:fontRef idx="minor">
            <a:schemeClr val="tx1"/>
          </a:fontRef>
        </p:style>
      </p:cxnSp>
      <p:grpSp>
        <p:nvGrpSpPr>
          <p:cNvPr id="146" name="Group pair 146"/>
          <p:cNvGrpSpPr/>
          <p:nvPr/>
        </p:nvGrpSpPr>
        <p:grpSpPr>
          <a:xfrm>
            <a:off x="8183879" y="1554480"/>
            <a:ext cx="3703320" cy="2057400"/>
            <a:chOff x="8183879" y="1554480"/>
            <a:chExt cx="3703320" cy="2057400"/>
          </a:xfrm>
        </p:grpSpPr>
        <p:sp>
          <p:nvSpPr>
            <p:cNvPr id="41" name="Rounded Rectangle 40"/>
            <p:cNvSpPr/>
            <p:nvPr/>
          </p:nvSpPr>
          <p:spPr>
            <a:xfrm>
              <a:off x="8183879" y="1554480"/>
              <a:ext cx="3703320" cy="2057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66759" y="1664208"/>
              <a:ext cx="3337560" cy="1837944"/>
            </a:xfrm>
            <a:prstGeom prst="rect">
              <a:avLst/>
            </a:prstGeom>
            <a:noFill/>
          </p:spPr>
          <p:txBody>
            <a:bodyPr wrap="square" lIns="45720" rIns="45720" tIns="0" bIns="0" anchor="ctr">
              <a:spAutoFit/>
            </a:bodyPr>
            <a:lstStyle/>
            <a:p>
              <a:pPr algn="l"/>
              <a:r>
                <a:rPr sz="1500" b="1" i="0" u="none">
                  <a:solidFill>
                    <a:srgbClr val="0B2B4E"/>
                  </a:solidFill>
                  <a:latin typeface="Calibri"/>
                </a:rPr>
                <a:t>Least Squares Algorithm:</a:t>
              </a:r>
              <a:r>
                <a:rPr sz="1500" b="0" i="0" u="none">
                  <a:solidFill>
                    <a:srgbClr val="0B2B4E"/>
                  </a:solidFill>
                  <a:latin typeface="Calibri"/>
                </a:rPr>
                <a:t>
1. Calculate all vertical distances</a:t>
              </a:r>
              <a:r>
                <a:rPr sz="1500" b="0" i="0" u="none">
                  <a:solidFill>
                    <a:srgbClr val="0B2B4E"/>
                  </a:solidFill>
                  <a:latin typeface="Calibri"/>
                </a:rPr>
                <a:t>
2. Square them</a:t>
              </a:r>
              <a:r>
                <a:rPr sz="1500" b="0" i="0" u="none">
                  <a:solidFill>
                    <a:srgbClr val="0B2B4E"/>
                  </a:solidFill>
                  <a:latin typeface="Calibri"/>
                </a:rPr>
                <a:t>
3. Sum them over all data points</a:t>
              </a:r>
              <a:r>
                <a:rPr sz="1500" b="0" i="0" u="none">
                  <a:solidFill>
                    <a:srgbClr val="0B2B4E"/>
                  </a:solidFill>
                  <a:latin typeface="Calibri"/>
                </a:rPr>
                <a:t>
4. Choose the line that minimizes the sum of squares</a:t>
              </a:r>
            </a:p>
          </p:txBody>
        </p:sp>
      </p:grpSp>
      <p:sp>
        <p:nvSpPr>
          <p:cNvPr id="43" name="Rectangle 4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46" name="TextBox 45"/>
          <p:cNvSpPr txBox="1"/>
          <p:nvPr/>
        </p:nvSpPr>
        <p:spPr>
          <a:xfrm>
            <a:off x="11475720" y="6583680"/>
            <a:ext cx="502920" cy="292608"/>
          </a:xfrm>
          <a:prstGeom prst="rect">
            <a:avLst/>
          </a:prstGeom>
          <a:noFill/>
        </p:spPr>
        <p:txBody>
          <a:bodyPr wrap="none" lIns="0" rIns="0" tIns="0" bIns="0">
            <a:spAutoFit/>
          </a:bodyPr>
          <a:lstStyle/>
          <a:p>
            <a:pPr algn="r"/>
            <a:fld id="{681580C5-F9E7-5F50-8570-4BB2D342F0A0}" type="slidenum">
              <a:rPr lang="en-US" sz="1200" dirty="0">
                <a:solidFill>
                  <a:srgbClr val="555B66"/>
                </a:solidFill>
                <a:latin typeface="Calibri"/>
              </a:rPr>
              <a:t>42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5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500"/>
                                        <p:tgtEl>
                                          <p:spTgt spid="3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6"/>
                                        </p:tgtEl>
                                        <p:attrNameLst>
                                          <p:attrName>style.visibility</p:attrName>
                                        </p:attrNameLst>
                                      </p:cBhvr>
                                      <p:to>
                                        <p:strVal val="visible"/>
                                      </p:to>
                                    </p:set>
                                    <p:animEffect transition="in" filter="fade">
                                      <p:cBhvr>
                                        <p:cTn id="15" dur="500"/>
                                        <p:tgtEl>
                                          <p:spTgt spid="14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8"/>
                                        </p:tgtEl>
                                        <p:attrNameLst>
                                          <p:attrName>style.visibility</p:attrName>
                                        </p:attrNameLst>
                                      </p:cBhvr>
                                      <p:to>
                                        <p:strVal val="visible"/>
                                      </p:to>
                                    </p:set>
                                    <p:animEffect transition="in" filter="fade">
                                      <p:cBhvr>
                                        <p:cTn id="20" dur="500"/>
                                        <p:tgtEl>
                                          <p:spTgt spid="3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animEffect transition="in" filter="fade">
                                      <p:cBhvr>
                                        <p:cTn id="23" dur="500"/>
                                        <p:tgtEl>
                                          <p:spTgt spid="3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500"/>
                                        <p:tgtEl>
                                          <p:spTgt spid="4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Regression Results I (From Excel Using “Data Analysis”)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5" name="Group pair 115"/>
          <p:cNvGrpSpPr/>
          <p:nvPr/>
        </p:nvGrpSpPr>
        <p:grpSpPr>
          <a:xfrm>
            <a:off x="1737359" y="1463040"/>
            <a:ext cx="6126480" cy="2011680"/>
            <a:chOff x="1737359" y="1463040"/>
            <a:chExt cx="6126480" cy="2011680"/>
          </a:xfrm>
        </p:grpSpPr>
        <p:sp>
          <p:nvSpPr>
            <p:cNvPr id="7" name="Rectangle 6"/>
            <p:cNvSpPr/>
            <p:nvPr/>
          </p:nvSpPr>
          <p:spPr>
            <a:xfrm>
              <a:off x="1737359" y="1463040"/>
              <a:ext cx="6126480" cy="20116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1874519" y="1600200"/>
            <a:ext cx="5852160" cy="1737360"/>
          </p:xfrm>
          <a:graphic>
            <a:graphicData uri="http://schemas.openxmlformats.org/drawingml/2006/table">
              <a:tbl>
                <a:tblPr firstRow="0" bandRow="0"/>
                <a:tblGrid>
                  <a:gridCol w="2926080"/>
                  <a:gridCol w="2926080"/>
                </a:tblGrid>
                <a:tr h="579120">
                  <a:tc>
                    <a:txBody>
                      <a:bodyPr wrap="square"/>
                      <a:lstStyle/>
                      <a:p>
                        <a:pPr algn="ctr"/>
                        <a:r>
                          <a:rPr sz="1800" b="1">
                            <a:solidFill>
                              <a:srgbClr val="FFFFFF"/>
                            </a:solidFill>
                            <a:latin typeface="Calibri"/>
                          </a:rPr>
                          <a:t>coefficient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800" b="1">
                            <a:solidFill>
                              <a:srgbClr val="FFFFFF"/>
                            </a:solidFill>
                            <a:latin typeface="Calibri"/>
                          </a:rPr>
                          <a:t>value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579120">
                  <a:tc>
                    <a:txBody>
                      <a:bodyPr wrap="square"/>
                      <a:lstStyle/>
                      <a:p>
                        <a:pPr algn="l"/>
                        <a:r>
                          <a:rPr sz="1800" b="1">
                            <a:solidFill>
                              <a:srgbClr val="0B2B4E"/>
                            </a:solidFill>
                            <a:latin typeface="Calibri"/>
                          </a:rPr>
                          <a:t>Constant (intercept)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800" b="0">
                            <a:solidFill>
                              <a:srgbClr val="0B2B4E"/>
                            </a:solidFill>
                            <a:latin typeface="Calibri"/>
                          </a:rPr>
                          <a:t>479</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579120">
                  <a:tc>
                    <a:txBody>
                      <a:bodyPr wrap="square"/>
                      <a:lstStyle/>
                      <a:p>
                        <a:pPr algn="l"/>
                        <a:r>
                          <a:rPr sz="1800" b="1">
                            <a:solidFill>
                              <a:srgbClr val="0B2B4E"/>
                            </a:solidFill>
                            <a:latin typeface="Calibri"/>
                          </a:rPr>
                          <a:t>Own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800" b="0">
                            <a:solidFill>
                              <a:srgbClr val="0B2B4E"/>
                            </a:solidFill>
                            <a:latin typeface="Calibri"/>
                          </a:rPr>
                          <a:t>−1.64</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sp>
        <p:nvSpPr>
          <p:cNvPr id="9" name="TextBox 8"/>
          <p:cNvSpPr txBox="1"/>
          <p:nvPr/>
        </p:nvSpPr>
        <p:spPr>
          <a:xfrm>
            <a:off x="2331720" y="3794760"/>
            <a:ext cx="8229600" cy="731520"/>
          </a:xfrm>
          <a:prstGeom prst="rect">
            <a:avLst/>
          </a:prstGeom>
          <a:noFill/>
        </p:spPr>
        <p:txBody>
          <a:bodyPr wrap="square" lIns="45720" rIns="45720" tIns="0" bIns="0">
            <a:spAutoFit/>
          </a:bodyPr>
          <a:lstStyle/>
          <a:p xmlns:m="http://schemas.openxmlformats.org/officeDocument/2006/math" xmlns:a14="http://schemas.microsoft.com/office/drawing/2010/main">
            <a:r>
              <a:rPr lang="en-US" sz="2600" b="1">
                <a:solidFill>
                  <a:srgbClr val="C00000"/>
                </a:solidFill>
                <a:latin typeface="Calibri"/>
              </a:rPr>
              <a:t>Demand Equation:   </a:t>
            </a:r>
            <a14:m>
              <m:oMath>
                <m:r>
                  <a:rPr lang="en-US" b="0" i="1" sz="2400">
                    <a:solidFill>
                      <a:srgbClr val="0B2B4E"/>
                    </a:solidFill>
                    <a:latin typeface="Cambria Math"/>
                    <a:ea typeface="Cambria Math"/>
                  </a:rPr>
                  <m:t>Q</m:t>
                </m:r>
                <m:r>
                  <m:rPr>
                    <m:sty m:val="p"/>
                  </m:rPr>
                  <a:rPr lang="en-US" b="0" i="0" sz="2400">
                    <a:solidFill>
                      <a:srgbClr val="0B2B4E"/>
                    </a:solidFill>
                    <a:latin typeface="Cambria Math"/>
                  </a:rPr>
                  <m:t xml:space="preserve"> = 479 − 1.64</m:t>
                </m:r>
                <m:r>
                  <a:rPr lang="en-US" b="0" i="1" sz="2400">
                    <a:solidFill>
                      <a:srgbClr val="0B2B4E"/>
                    </a:solidFill>
                    <a:latin typeface="Cambria Math"/>
                    <a:ea typeface="Cambria Math"/>
                  </a:rPr>
                  <m:t>P</m:t>
                </m:r>
              </m:oMath>
            </a14:m>
            <a:endParaRPr lang="en-US"/>
          </a:p>
        </p:txBody>
      </p:sp>
      <p:sp>
        <p:nvSpPr>
          <p:cNvPr id="10" name="Rounded Rectangle 9"/>
          <p:cNvSpPr/>
          <p:nvPr/>
        </p:nvSpPr>
        <p:spPr>
          <a:xfrm>
            <a:off x="1874519" y="4800600"/>
            <a:ext cx="8412480" cy="731520"/>
          </a:xfrm>
          <a:prstGeom prst="roundRect">
            <a:avLst>
              <a:gd name="adj" fmla="val 1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Note: Now that we have demand, we can compute MR!</a:t>
            </a:r>
          </a:p>
        </p:txBody>
      </p:sp>
      <p:sp>
        <p:nvSpPr>
          <p:cNvPr id="11" name="Rounded Rectangle 10"/>
          <p:cNvSpPr/>
          <p:nvPr/>
        </p:nvSpPr>
        <p:spPr>
          <a:xfrm>
            <a:off x="251999" y="5870448"/>
            <a:ext cx="51206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More detail: “Teaching Note Regressions”</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9F95CEC7-5C0E-5D92-A2F7-8EF5BB18D691}" type="slidenum">
              <a:rPr lang="en-US" sz="1200" dirty="0">
                <a:solidFill>
                  <a:srgbClr val="555B66"/>
                </a:solidFill>
                <a:latin typeface="Calibri"/>
              </a:rPr>
              <a:t>43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p:cTn id="7" dur="500"/>
                                        <p:tgtEl>
                                          <p:spTgt spid="1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Regression Results II</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783080"/>
            <a:ext cx="11338560" cy="27432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R Square: Coefficient of determination (0 &lt; </a:t>
            </a:r>
            <a:r>
              <a:rPr i="1">
                <a:latin typeface="Calibri"/>
              </a:rPr>
              <a:t>R</a:t>
            </a:r>
            <a:r>
              <a:rPr>
                <a:latin typeface="Calibri"/>
              </a:rPr>
              <a:t>² &lt; 1)</a:t>
            </a:r>
          </a:p>
          <a:p>
            <a:pPr algn="l" lvl="1"/>
            <a:r>
              <a:rPr>
                <a:latin typeface="Calibri"/>
              </a:rPr>
              <a:t>R² = 0.56</a:t>
            </a:r>
          </a:p>
          <a:p>
            <a:pPr algn="l"/>
            <a:r>
              <a:rPr>
                <a:latin typeface="Calibri"/>
              </a:rPr>
              <a:t>t-statistics (rule of thumb: |t| &gt; 2 statistically significant)</a:t>
            </a:r>
          </a:p>
          <a:p>
            <a:pPr algn="l" lvl="1"/>
            <a:r>
              <a:rPr>
                <a:latin typeface="Calibri"/>
              </a:rPr>
              <a:t>Own-price |t-stat| = 4.45</a:t>
            </a:r>
          </a:p>
          <a:p>
            <a:pPr algn="l"/>
            <a:r>
              <a:rPr>
                <a:latin typeface="Calibri"/>
              </a:rPr>
              <a:t>Predicted values: Plug in for price to see predicted quantity</a:t>
            </a:r>
          </a:p>
        </p:txBody>
      </p:sp>
      <p:sp>
        <p:nvSpPr>
          <p:cNvPr id="8" name="TextBox 7"/>
          <p:cNvSpPr txBox="1"/>
          <p:nvPr/>
        </p:nvSpPr>
        <p:spPr>
          <a:xfrm>
            <a:off x="2148840" y="4709160"/>
            <a:ext cx="7863840" cy="91440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solidFill>
                        <a:srgbClr val="0B2B4E"/>
                      </a:solidFill>
                      <a:latin typeface="Cambria Math"/>
                    </a:rPr>
                    <m:t xml:space="preserve">e.g., </m:t>
                  </m:r>
                  <m:r>
                    <a:rPr lang="en-US" b="0" i="1" sz="2200">
                      <a:solidFill>
                        <a:srgbClr val="0B2B4E"/>
                      </a:solidFill>
                      <a:latin typeface="Cambria Math"/>
                      <a:ea typeface="Cambria Math"/>
                    </a:rPr>
                    <m:t>P</m:t>
                  </m:r>
                  <m:r>
                    <m:rPr>
                      <m:sty m:val="p"/>
                    </m:rPr>
                    <a:rPr lang="en-US" b="0" i="0" sz="2200">
                      <a:solidFill>
                        <a:srgbClr val="0B2B4E"/>
                      </a:solidFill>
                      <a:latin typeface="Cambria Math"/>
                    </a:rPr>
                    <m:t xml:space="preserve"> = 200.</m:t>
                  </m:r>
                  <m:r>
                    <m:rPr>
                      <m:sty m:val="p"/>
                    </m:rPr>
                    <a:rPr lang="en-US" b="0" i="0" sz="2200">
                      <a:solidFill>
                        <a:srgbClr val="0B2B4E"/>
                      </a:solidFill>
                      <a:latin typeface="Cambria Math"/>
                    </a:rPr>
                    <m:t xml:space="preserve">  Then:  </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m:t>
                  </m:r>
                  <m:r>
                    <a:rPr lang="en-US" b="0" i="1" sz="2200">
                      <a:solidFill>
                        <a:srgbClr val="0B2B4E"/>
                      </a:solidFill>
                      <a:latin typeface="Cambria Math"/>
                      <a:ea typeface="Cambria Math"/>
                    </a:rPr>
                    <m:t>a</m:t>
                  </m:r>
                  <m:r>
                    <m:rPr>
                      <m:sty m:val="p"/>
                    </m:rPr>
                    <a:rPr lang="en-US" b="0" i="0" sz="2200">
                      <a:solidFill>
                        <a:srgbClr val="0B2B4E"/>
                      </a:solidFill>
                      <a:latin typeface="Cambria Math"/>
                    </a:rPr>
                    <m:t xml:space="preserve"> + </m:t>
                  </m:r>
                  <m:r>
                    <a:rPr lang="en-US" b="0" i="1" sz="2200">
                      <a:solidFill>
                        <a:srgbClr val="0B2B4E"/>
                      </a:solidFill>
                      <a:latin typeface="Cambria Math"/>
                      <a:ea typeface="Cambria Math"/>
                    </a:rPr>
                    <m:t>b</m:t>
                  </m:r>
                  <m:r>
                    <m:rPr>
                      <m:sty m:val="p"/>
                    </m:rPr>
                    <a:rPr lang="en-US" b="0" i="0" sz="2200">
                      <a:solidFill>
                        <a:srgbClr val="0B2B4E"/>
                      </a:solidFill>
                      <a:latin typeface="Cambria Math"/>
                    </a:rPr>
                    <m:t xml:space="preserve"> ⋅ </m:t>
                  </m:r>
                  <m:r>
                    <a:rPr lang="en-US" b="0" i="1" sz="2200">
                      <a:solidFill>
                        <a:srgbClr val="0B2B4E"/>
                      </a:solidFill>
                      <a:latin typeface="Cambria Math"/>
                      <a:ea typeface="Cambria Math"/>
                    </a:rPr>
                    <m:t>P</m:t>
                  </m:r>
                  <m:r>
                    <m:rPr>
                      <m:sty m:val="p"/>
                    </m:rPr>
                    <a:rPr lang="en-US" b="0" i="0" sz="2200">
                      <a:solidFill>
                        <a:srgbClr val="0B2B4E"/>
                      </a:solidFill>
                      <a:latin typeface="Cambria Math"/>
                    </a:rPr>
                    <m:t xml:space="preserve"> = 479 − 1.64 ⋅ 200  ⇒  </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151</m:t>
                  </m:r>
                </m:oMath>
              </m:oMathPara>
            </a14:m>
            <a:endParaRPr lang="en-US" sz="2200"/>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33EC7E8C-E57E-5CE5-B987-A0EDCAE55A2F}" type="slidenum">
              <a:rPr lang="en-US" sz="1200" dirty="0">
                <a:solidFill>
                  <a:srgbClr val="555B66"/>
                </a:solidFill>
                <a:latin typeface="Calibri"/>
              </a:rPr>
              <a:t>44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7">
                                            <p:txEl>
                                              <p:pRg st="4" end="4"/>
                                            </p:txEl>
                                          </p:spTgt>
                                        </p:tgtEl>
                                        <p:attrNameLst>
                                          <p:attrName>style.visibility</p:attrName>
                                        </p:attrNameLst>
                                      </p:cBhvr>
                                      <p:to>
                                        <p:strVal val="visible"/>
                                      </p:to>
                                    </p:set>
                                    <p:animEffect transition="in" filter="fade">
                                      <p:cBhvr>
                                        <p:cTn id="20" dur="500"/>
                                        <p:tgtEl>
                                          <p:spTgt spid="7">
                                            <p:txEl>
                                              <p:pRg st="4" end="4"/>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Obtain Elasticity from Estimated Demand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2039" y="1691640"/>
            <a:ext cx="11155680" cy="237744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a:solidFill>
                  <a:srgbClr val="0B2B4E"/>
                </a:solidFill>
                <a:latin typeface="Calibri"/>
              </a:rPr>
              <a:t>We have estimated:   </a:t>
            </a:r>
            <a14:m>
              <m:oMath>
                <m:r>
                  <a:rPr lang="en-US" b="0" i="1" sz="2400">
                    <a:solidFill>
                      <a:srgbClr val="0B2B4E"/>
                    </a:solidFill>
                    <a:latin typeface="Cambria Math"/>
                    <a:ea typeface="Cambria Math"/>
                  </a:rPr>
                  <m:t>Q</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a</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P</m:t>
                </m:r>
                <m:r>
                  <m:rPr>
                    <m:sty m:val="p"/>
                  </m:rPr>
                  <a:rPr lang="en-US" b="0" i="0" sz="2400">
                    <a:solidFill>
                      <a:srgbClr val="0B2B4E"/>
                    </a:solidFill>
                    <a:latin typeface="Cambria Math"/>
                  </a:rPr>
                  <m:t xml:space="preserve"> = 479 − 1.64</m:t>
                </m:r>
                <m:r>
                  <a:rPr lang="en-US" b="0" i="1" sz="2400">
                    <a:solidFill>
                      <a:srgbClr val="0B2B4E"/>
                    </a:solidFill>
                    <a:latin typeface="Cambria Math"/>
                    <a:ea typeface="Cambria Math"/>
                  </a:rPr>
                  <m:t>P</m:t>
                </m:r>
              </m:oMath>
            </a14:m>
            <a:endParaRPr lang="en-US"/>
          </a:p>
          <a:p xmlns:m="http://schemas.openxmlformats.org/officeDocument/2006/math" xmlns:a14="http://schemas.microsoft.com/office/drawing/2010/main">
            <a:r>
              <a:rPr lang="en-US" sz="2400">
                <a:solidFill>
                  <a:srgbClr val="0B2B4E"/>
                </a:solidFill>
                <a:latin typeface="Calibri"/>
              </a:rPr>
              <a:t>Derive demand elasticity:   </a:t>
            </a:r>
            <a14:m>
              <m:oMath>
                <m:sSub>
                  <m:sSubPr>
                    <m:ctrlPr>
                      <a:rPr lang="en-US" i="1">
                        <a:latin typeface="Cambria Math"/>
                      </a:rPr>
                    </m:ctrlPr>
                  </m:sSubPr>
                  <m:e>
                    <m:r>
                      <a:rPr lang="en-US" b="0" i="1" sz="2400">
                        <a:solidFill>
                          <a:srgbClr val="0B2B4E"/>
                        </a:solidFill>
                        <a:latin typeface="Cambria Math"/>
                        <a:ea typeface="Cambria Math"/>
                      </a:rPr>
                      <m:t>E</m:t>
                    </m:r>
                  </m:e>
                  <m:sub>
                    <m:r>
                      <a:rPr lang="en-US" b="0" i="1" sz="2400">
                        <a:solidFill>
                          <a:srgbClr val="0B2B4E"/>
                        </a:solidFill>
                        <a:latin typeface="Cambria Math"/>
                        <a:ea typeface="Cambria Math"/>
                      </a:rPr>
                      <m:t>d</m:t>
                    </m:r>
                  </m:sub>
                </m:sSub>
                <m:r>
                  <m:rPr>
                    <m:sty m:val="p"/>
                  </m:rPr>
                  <a:rPr lang="en-US" b="0" i="0" sz="2400">
                    <a:solidFill>
                      <a:srgbClr val="0B2B4E"/>
                    </a:solidFill>
                    <a:latin typeface="Cambria Math"/>
                  </a:rPr>
                  <m:t xml:space="preserve"> = </m:t>
                </m:r>
                <m:f>
                  <m:fPr>
                    <m:ctrlPr>
                      <a:rPr lang="en-US" i="1">
                        <a:latin typeface="Cambria Math"/>
                      </a:rPr>
                    </m:ctrlPr>
                  </m:fPr>
                  <m:num>
                    <m:r>
                      <m:rPr>
                        <m:sty m:val="p"/>
                      </m:rPr>
                      <a:rPr lang="en-US" b="0" i="0" sz="2400">
                        <a:solidFill>
                          <a:srgbClr val="0B2B4E"/>
                        </a:solidFill>
                        <a:latin typeface="Cambria Math"/>
                      </a:rPr>
                      <m:t xml:space="preserve">Δ</m:t>
                    </m:r>
                    <m:r>
                      <a:rPr lang="en-US" b="0" i="1" sz="2400">
                        <a:solidFill>
                          <a:srgbClr val="0B2B4E"/>
                        </a:solidFill>
                        <a:latin typeface="Cambria Math"/>
                        <a:ea typeface="Cambria Math"/>
                      </a:rPr>
                      <m:t>Q</m:t>
                    </m:r>
                  </m:num>
                  <m:den>
                    <m:r>
                      <m:rPr>
                        <m:sty m:val="p"/>
                      </m:rPr>
                      <a:rPr lang="en-US" b="0" i="0" sz="2400">
                        <a:solidFill>
                          <a:srgbClr val="0B2B4E"/>
                        </a:solidFill>
                        <a:latin typeface="Cambria Math"/>
                      </a:rPr>
                      <m:t xml:space="preserve">Δ</m:t>
                    </m:r>
                    <m:r>
                      <a:rPr lang="en-US" b="0" i="1" sz="2400">
                        <a:solidFill>
                          <a:srgbClr val="0B2B4E"/>
                        </a:solidFill>
                        <a:latin typeface="Cambria Math"/>
                        <a:ea typeface="Cambria Math"/>
                      </a:rPr>
                      <m:t>P</m:t>
                    </m:r>
                  </m:den>
                </m:f>
                <m:r>
                  <m:rPr>
                    <m:sty m:val="p"/>
                  </m:rPr>
                  <a:rPr lang="en-US" b="0" i="0" sz="2400">
                    <a:solidFill>
                      <a:srgbClr val="0B2B4E"/>
                    </a:solidFill>
                    <a:latin typeface="Cambria Math"/>
                  </a:rPr>
                  <m:t xml:space="preserve"> ∙ </m:t>
                </m:r>
                <m:f>
                  <m:fPr>
                    <m:ctrlPr>
                      <a:rPr lang="en-US" i="1">
                        <a:latin typeface="Cambria Math"/>
                      </a:rPr>
                    </m:ctrlPr>
                  </m:fPr>
                  <m:num>
                    <m:r>
                      <a:rPr lang="en-US" b="0" i="1" sz="2400">
                        <a:solidFill>
                          <a:srgbClr val="0B2B4E"/>
                        </a:solidFill>
                        <a:latin typeface="Cambria Math"/>
                        <a:ea typeface="Cambria Math"/>
                      </a:rPr>
                      <m:t>P</m:t>
                    </m:r>
                  </m:num>
                  <m:den>
                    <m:r>
                      <a:rPr lang="en-US" b="0" i="1" sz="2400">
                        <a:solidFill>
                          <a:srgbClr val="0B2B4E"/>
                        </a:solidFill>
                        <a:latin typeface="Cambria Math"/>
                        <a:ea typeface="Cambria Math"/>
                      </a:rPr>
                      <m:t>Q</m:t>
                    </m:r>
                  </m:den>
                </m:f>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m:t>
                </m:r>
                <m:r>
                  <m:rPr>
                    <m:sty m:val="p"/>
                  </m:rPr>
                  <a:rPr lang="en-US" b="0" i="0" sz="2400">
                    <a:solidFill>
                      <a:srgbClr val="0B2B4E"/>
                    </a:solidFill>
                    <a:latin typeface="Cambria Math"/>
                  </a:rPr>
                  <m:t xml:space="preserve"> ∙ </m:t>
                </m:r>
                <m:f>
                  <m:fPr>
                    <m:ctrlPr>
                      <a:rPr lang="en-US" i="1">
                        <a:latin typeface="Cambria Math"/>
                      </a:rPr>
                    </m:ctrlPr>
                  </m:fPr>
                  <m:num>
                    <m:r>
                      <a:rPr lang="en-US" b="0" i="1" sz="2400">
                        <a:solidFill>
                          <a:srgbClr val="0B2B4E"/>
                        </a:solidFill>
                        <a:latin typeface="Cambria Math"/>
                        <a:ea typeface="Cambria Math"/>
                      </a:rPr>
                      <m:t>P</m:t>
                    </m:r>
                  </m:num>
                  <m:den>
                    <m:r>
                      <a:rPr lang="en-US" b="0" i="1" sz="2400">
                        <a:solidFill>
                          <a:srgbClr val="0B2B4E"/>
                        </a:solidFill>
                        <a:latin typeface="Cambria Math"/>
                        <a:ea typeface="Cambria Math"/>
                      </a:rPr>
                      <m:t>Q</m:t>
                    </m:r>
                  </m:den>
                </m:f>
              </m:oMath>
            </a14:m>
            <a:endParaRPr lang="en-US"/>
          </a:p>
          <a:p xmlns:m="http://schemas.openxmlformats.org/officeDocument/2006/math" xmlns:a14="http://schemas.microsoft.com/office/drawing/2010/main">
            <a:r>
              <a:rPr lang="en-US" sz="2400" b="1">
                <a:solidFill>
                  <a:srgbClr val="0B2B4E"/>
                </a:solidFill>
                <a:latin typeface="Calibri"/>
              </a:rPr>
              <a:t>Example: Compute elasticity at the price P = $200</a:t>
            </a:r>
            <a:endParaRPr lang="en-US"/>
          </a:p>
        </p:txBody>
      </p:sp>
      <p:sp>
        <p:nvSpPr>
          <p:cNvPr id="8" name="TextBox 7"/>
          <p:cNvSpPr txBox="1"/>
          <p:nvPr/>
        </p:nvSpPr>
        <p:spPr>
          <a:xfrm>
            <a:off x="754919" y="4160520"/>
            <a:ext cx="10972800" cy="4572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buNone/>
            </a:pPr>
            <a:r>
              <a:rPr sz="2400" i="1">
                <a:solidFill>
                  <a:srgbClr val="0B2B4E"/>
                </a:solidFill>
                <a:latin typeface="Calibri"/>
              </a:rPr>
              <a:t>Q = 151</a:t>
            </a:r>
            <a:r>
              <a:rPr sz="2000">
                <a:solidFill>
                  <a:srgbClr val="0B2B4E"/>
                </a:solidFill>
                <a:latin typeface="Calibri"/>
              </a:rPr>
              <a:t>  (see previous slide)</a:t>
            </a:r>
          </a:p>
        </p:txBody>
      </p:sp>
      <p:sp>
        <p:nvSpPr>
          <p:cNvPr id="9" name="TextBox 8"/>
          <p:cNvSpPr txBox="1"/>
          <p:nvPr/>
        </p:nvSpPr>
        <p:spPr>
          <a:xfrm>
            <a:off x="2606040" y="4800600"/>
            <a:ext cx="6949440" cy="100584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C00000"/>
                </a:solidFill>
                <a:latin typeface="Cambria Math"/>
              </a:defRPr>
            </a:pPr>
            <a14:m>
              <m:oMathPara>
                <m:oMathParaPr>
                  <m:jc m:val="centerGroup"/>
                </m:oMathParaPr>
                <m:oMath>
                  <m:sSub>
                    <m:sSubPr>
                      <m:ctrlPr>
                        <a:rPr lang="en-US" i="1">
                          <a:latin typeface="Cambria Math"/>
                        </a:rPr>
                      </m:ctrlPr>
                    </m:sSubPr>
                    <m:e>
                      <m:r>
                        <a:rPr lang="en-US" b="0" i="1" sz="2400">
                          <a:solidFill>
                            <a:srgbClr val="C00000"/>
                          </a:solidFill>
                          <a:latin typeface="Cambria Math"/>
                          <a:ea typeface="Cambria Math"/>
                        </a:rPr>
                        <m:t>E</m:t>
                      </m:r>
                    </m:e>
                    <m:sub>
                      <m:r>
                        <a:rPr lang="en-US" b="0" i="1" sz="2400">
                          <a:solidFill>
                            <a:srgbClr val="C00000"/>
                          </a:solidFill>
                          <a:latin typeface="Cambria Math"/>
                          <a:ea typeface="Cambria Math"/>
                        </a:rPr>
                        <m:t>d</m:t>
                      </m:r>
                    </m:sub>
                  </m:sSub>
                  <m:r>
                    <m:rPr>
                      <m:sty m:val="p"/>
                    </m:rPr>
                    <a:rPr lang="en-US" b="0" i="0" sz="2400">
                      <a:solidFill>
                        <a:srgbClr val="C00000"/>
                      </a:solidFill>
                      <a:latin typeface="Cambria Math"/>
                    </a:rPr>
                    <m:t xml:space="preserve"> = −1.64 ⋅ </m:t>
                  </m:r>
                  <m:f>
                    <m:fPr>
                      <m:ctrlPr>
                        <a:rPr lang="en-US" i="1">
                          <a:latin typeface="Cambria Math"/>
                        </a:rPr>
                      </m:ctrlPr>
                    </m:fPr>
                    <m:num>
                      <m:r>
                        <m:rPr>
                          <m:sty m:val="p"/>
                        </m:rPr>
                        <a:rPr lang="en-US" b="0" i="0" sz="2400">
                          <a:solidFill>
                            <a:srgbClr val="C00000"/>
                          </a:solidFill>
                          <a:latin typeface="Cambria Math"/>
                        </a:rPr>
                        <m:t xml:space="preserve">200</m:t>
                      </m:r>
                    </m:num>
                    <m:den>
                      <m:r>
                        <m:rPr>
                          <m:sty m:val="p"/>
                        </m:rPr>
                        <a:rPr lang="en-US" b="0" i="0" sz="2400">
                          <a:solidFill>
                            <a:srgbClr val="C00000"/>
                          </a:solidFill>
                          <a:latin typeface="Cambria Math"/>
                        </a:rPr>
                        <m:t xml:space="preserve">151</m:t>
                      </m:r>
                    </m:den>
                  </m:f>
                  <m:r>
                    <m:rPr>
                      <m:sty m:val="p"/>
                    </m:rPr>
                    <a:rPr lang="en-US" b="0" i="0" sz="2400">
                      <a:solidFill>
                        <a:srgbClr val="C00000"/>
                      </a:solidFill>
                      <a:latin typeface="Cambria Math"/>
                    </a:rPr>
                    <m:t xml:space="preserve"> = −2.17   (elastic demand)</m:t>
                  </m:r>
                </m:oMath>
              </m:oMathPara>
            </a14:m>
            <a:endParaRPr lang="en-US" sz="2400"/>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598FEED1-0EF8-5FBE-A609-6A5C9704C17A}" type="slidenum">
              <a:rPr lang="en-US" sz="1200" dirty="0">
                <a:solidFill>
                  <a:srgbClr val="555B66"/>
                </a:solidFill>
                <a:latin typeface="Calibri"/>
              </a:rPr>
              <a:t>45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Multivariate Regression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80360" y="1600200"/>
            <a:ext cx="640080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3000" b="0" i="1">
                <a:solidFill>
                  <a:srgbClr val="0B2B4E"/>
                </a:solidFill>
                <a:latin typeface="Cambria Math"/>
              </a:defRPr>
            </a:pPr>
            <a14:m>
              <m:oMathPara>
                <m:oMathParaPr>
                  <m:jc m:val="centerGroup"/>
                </m:oMathParaPr>
                <m:oMath>
                  <m:r>
                    <a:rPr lang="en-US" b="0" i="1" sz="3000">
                      <a:solidFill>
                        <a:srgbClr val="0B2B4E"/>
                      </a:solidFill>
                      <a:latin typeface="Cambria Math"/>
                      <a:ea typeface="Cambria Math"/>
                    </a:rPr>
                    <m:t>Q</m:t>
                  </m:r>
                  <m:r>
                    <m:rPr>
                      <m:sty m:val="p"/>
                    </m:rPr>
                    <a:rPr lang="en-US" b="0" i="0" sz="3000">
                      <a:solidFill>
                        <a:srgbClr val="0B2B4E"/>
                      </a:solidFill>
                      <a:latin typeface="Cambria Math"/>
                    </a:rPr>
                    <m:t xml:space="preserve"> = </m:t>
                  </m:r>
                  <m:r>
                    <a:rPr lang="en-US" b="0" i="1" sz="3000">
                      <a:solidFill>
                        <a:srgbClr val="0B2B4E"/>
                      </a:solidFill>
                      <a:latin typeface="Cambria Math"/>
                      <a:ea typeface="Cambria Math"/>
                    </a:rPr>
                    <m:t>a</m:t>
                  </m:r>
                  <m:r>
                    <m:rPr>
                      <m:sty m:val="p"/>
                    </m:rPr>
                    <a:rPr lang="en-US" b="0" i="0" sz="3000">
                      <a:solidFill>
                        <a:srgbClr val="0B2B4E"/>
                      </a:solidFill>
                      <a:latin typeface="Cambria Math"/>
                    </a:rPr>
                    <m:t xml:space="preserve"> + </m:t>
                  </m:r>
                  <m:r>
                    <a:rPr lang="en-US" b="0" i="1" sz="3000">
                      <a:solidFill>
                        <a:srgbClr val="0B2B4E"/>
                      </a:solidFill>
                      <a:latin typeface="Cambria Math"/>
                      <a:ea typeface="Cambria Math"/>
                    </a:rPr>
                    <m:t>b</m:t>
                  </m:r>
                  <m:r>
                    <m:rPr>
                      <m:sty m:val="p"/>
                    </m:rPr>
                    <a:rPr lang="en-US" b="0" i="0" sz="3000">
                      <a:solidFill>
                        <a:srgbClr val="0B2B4E"/>
                      </a:solidFill>
                      <a:latin typeface="Cambria Math"/>
                    </a:rPr>
                    <m:t xml:space="preserve"> ∙ </m:t>
                  </m:r>
                  <m:r>
                    <a:rPr lang="en-US" b="0" i="1" sz="3000">
                      <a:solidFill>
                        <a:srgbClr val="0B2B4E"/>
                      </a:solidFill>
                      <a:latin typeface="Cambria Math"/>
                      <a:ea typeface="Cambria Math"/>
                    </a:rPr>
                    <m:t>P</m:t>
                  </m:r>
                  <m:r>
                    <m:rPr>
                      <m:sty m:val="p"/>
                    </m:rPr>
                    <a:rPr lang="en-US" b="0" i="0" sz="3000">
                      <a:solidFill>
                        <a:srgbClr val="0B2B4E"/>
                      </a:solidFill>
                      <a:latin typeface="Cambria Math"/>
                    </a:rPr>
                    <m:t xml:space="preserve"> + </m:t>
                  </m:r>
                  <m:r>
                    <a:rPr lang="en-US" b="0" i="1" sz="3000">
                      <a:solidFill>
                        <a:srgbClr val="0B2B4E"/>
                      </a:solidFill>
                      <a:latin typeface="Cambria Math"/>
                      <a:ea typeface="Cambria Math"/>
                    </a:rPr>
                    <m:t>c</m:t>
                  </m:r>
                  <m:r>
                    <m:rPr>
                      <m:sty m:val="p"/>
                    </m:rPr>
                    <a:rPr lang="en-US" b="0" i="0" sz="3000">
                      <a:solidFill>
                        <a:srgbClr val="0B2B4E"/>
                      </a:solidFill>
                      <a:latin typeface="Cambria Math"/>
                    </a:rPr>
                    <m:t xml:space="preserve"> ∙ </m:t>
                  </m:r>
                  <m:sSub>
                    <m:sSubPr>
                      <m:ctrlPr>
                        <a:rPr lang="en-US" i="1">
                          <a:latin typeface="Cambria Math"/>
                        </a:rPr>
                      </m:ctrlPr>
                    </m:sSubPr>
                    <m:e>
                      <m:r>
                        <a:rPr lang="en-US" b="0" i="1" sz="3000">
                          <a:solidFill>
                            <a:srgbClr val="0B2B4E"/>
                          </a:solidFill>
                          <a:latin typeface="Cambria Math"/>
                          <a:ea typeface="Cambria Math"/>
                        </a:rPr>
                        <m:t>P</m:t>
                      </m:r>
                    </m:e>
                    <m:sub>
                      <m:r>
                        <a:rPr lang="en-US" b="0" i="1" sz="3000">
                          <a:solidFill>
                            <a:srgbClr val="0B2B4E"/>
                          </a:solidFill>
                          <a:latin typeface="Cambria Math"/>
                          <a:ea typeface="Cambria Math"/>
                        </a:rPr>
                        <m:t>c</m:t>
                      </m:r>
                    </m:sub>
                  </m:sSub>
                  <m:r>
                    <m:rPr>
                      <m:sty m:val="p"/>
                    </m:rPr>
                    <a:rPr lang="en-US" b="0" i="0" sz="3000">
                      <a:solidFill>
                        <a:srgbClr val="0B2B4E"/>
                      </a:solidFill>
                      <a:latin typeface="Cambria Math"/>
                    </a:rPr>
                    <m:t xml:space="preserve"> + </m:t>
                  </m:r>
                  <m:r>
                    <a:rPr lang="en-US" b="0" i="1" sz="3000">
                      <a:solidFill>
                        <a:srgbClr val="0B2B4E"/>
                      </a:solidFill>
                      <a:latin typeface="Cambria Math"/>
                      <a:ea typeface="Cambria Math"/>
                    </a:rPr>
                    <m:t>d</m:t>
                  </m:r>
                  <m:r>
                    <m:rPr>
                      <m:sty m:val="p"/>
                    </m:rPr>
                    <a:rPr lang="en-US" b="0" i="0" sz="3000">
                      <a:solidFill>
                        <a:srgbClr val="0B2B4E"/>
                      </a:solidFill>
                      <a:latin typeface="Cambria Math"/>
                    </a:rPr>
                    <m:t xml:space="preserve"> ∙ </m:t>
                  </m:r>
                  <m:r>
                    <a:rPr lang="en-US" b="0" i="1" sz="3000">
                      <a:solidFill>
                        <a:srgbClr val="0B2B4E"/>
                      </a:solidFill>
                      <a:latin typeface="Cambria Math"/>
                      <a:ea typeface="Cambria Math"/>
                    </a:rPr>
                    <m:t>Y</m:t>
                  </m:r>
                </m:oMath>
              </m:oMathPara>
            </a14:m>
            <a:endParaRPr lang="en-US" sz="3000"/>
          </a:p>
        </p:txBody>
      </p:sp>
      <p:sp>
        <p:nvSpPr>
          <p:cNvPr id="8" name="TextBox 7"/>
          <p:cNvSpPr txBox="1"/>
          <p:nvPr/>
        </p:nvSpPr>
        <p:spPr>
          <a:xfrm>
            <a:off x="2880360" y="3063240"/>
            <a:ext cx="7315200" cy="256032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buNone/>
            </a:pPr>
            <a:r>
              <a:rPr sz="2400">
                <a:solidFill>
                  <a:srgbClr val="0B2B4E"/>
                </a:solidFill>
                <a:latin typeface="Calibri"/>
              </a:rPr>
              <a:t>where:</a:t>
            </a:r>
          </a:p>
          <a:p>
            <a:pPr algn="l">
              <a:spcBef>
                <a:spcPts val="1200"/>
              </a:spcBef>
              <a:buNone/>
            </a:pPr>
            <a:r>
              <a:rPr sz="2400" i="1">
                <a:solidFill>
                  <a:srgbClr val="0B2B4E"/>
                </a:solidFill>
                <a:latin typeface="Calibri"/>
              </a:rPr>
              <a:t>Q</a:t>
            </a:r>
            <a:r>
              <a:rPr sz="2400">
                <a:solidFill>
                  <a:srgbClr val="0B2B4E"/>
                </a:solidFill>
                <a:latin typeface="Calibri"/>
              </a:rPr>
              <a:t> = amount purchased</a:t>
            </a:r>
          </a:p>
          <a:p>
            <a:pPr algn="l">
              <a:spcBef>
                <a:spcPts val="1200"/>
              </a:spcBef>
              <a:buNone/>
            </a:pPr>
            <a:r>
              <a:rPr sz="2400" i="1">
                <a:solidFill>
                  <a:srgbClr val="0B2B4E"/>
                </a:solidFill>
                <a:latin typeface="Calibri"/>
              </a:rPr>
              <a:t>P</a:t>
            </a:r>
            <a:r>
              <a:rPr sz="2400">
                <a:solidFill>
                  <a:srgbClr val="0B2B4E"/>
                </a:solidFill>
                <a:latin typeface="Calibri"/>
              </a:rPr>
              <a:t> = own price</a:t>
            </a:r>
          </a:p>
          <a:p>
            <a:pPr algn="l">
              <a:spcBef>
                <a:spcPts val="1200"/>
              </a:spcBef>
              <a:buNone/>
            </a:pPr>
            <a:r>
              <a:rPr sz="2400" i="1">
                <a:solidFill>
                  <a:srgbClr val="0B2B4E"/>
                </a:solidFill>
                <a:latin typeface="Calibri"/>
              </a:rPr>
              <a:t>Pᴄ</a:t>
            </a:r>
            <a:r>
              <a:rPr sz="2400">
                <a:solidFill>
                  <a:srgbClr val="0B2B4E"/>
                </a:solidFill>
                <a:latin typeface="Calibri"/>
              </a:rPr>
              <a:t> = competitor's price</a:t>
            </a:r>
          </a:p>
          <a:p>
            <a:pPr algn="l">
              <a:spcBef>
                <a:spcPts val="1200"/>
              </a:spcBef>
              <a:buNone/>
            </a:pPr>
            <a:r>
              <a:rPr sz="2400" i="1">
                <a:solidFill>
                  <a:srgbClr val="0B2B4E"/>
                </a:solidFill>
                <a:latin typeface="Calibri"/>
              </a:rPr>
              <a:t>Y</a:t>
            </a:r>
            <a:r>
              <a:rPr sz="2400">
                <a:solidFill>
                  <a:srgbClr val="0B2B4E"/>
                </a:solidFill>
                <a:latin typeface="Calibri"/>
              </a:rPr>
              <a:t> = income</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9411D196-C623-5435-9D16-19E066E9CB01}" type="slidenum">
              <a:rPr lang="en-US" sz="1200" dirty="0">
                <a:solidFill>
                  <a:srgbClr val="555B66"/>
                </a:solidFill>
                <a:latin typeface="Calibri"/>
              </a:rPr>
              <a:t>46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Results With Added Variables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3" name="Group pair 113"/>
          <p:cNvGrpSpPr/>
          <p:nvPr/>
        </p:nvGrpSpPr>
        <p:grpSpPr>
          <a:xfrm>
            <a:off x="1737359" y="1417320"/>
            <a:ext cx="6126480" cy="2926080"/>
            <a:chOff x="1737359" y="1417320"/>
            <a:chExt cx="6126480" cy="2926080"/>
          </a:xfrm>
        </p:grpSpPr>
        <p:sp>
          <p:nvSpPr>
            <p:cNvPr id="7" name="Rectangle 6"/>
            <p:cNvSpPr/>
            <p:nvPr/>
          </p:nvSpPr>
          <p:spPr>
            <a:xfrm>
              <a:off x="1737359" y="1417320"/>
              <a:ext cx="6126480" cy="29260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1874519" y="1554480"/>
            <a:ext cx="5852160" cy="2651760"/>
          </p:xfrm>
          <a:graphic>
            <a:graphicData uri="http://schemas.openxmlformats.org/drawingml/2006/table">
              <a:tbl>
                <a:tblPr firstRow="0" bandRow="0"/>
                <a:tblGrid>
                  <a:gridCol w="2926080"/>
                  <a:gridCol w="2926080"/>
                </a:tblGrid>
                <a:tr h="530352">
                  <a:tc>
                    <a:txBody>
                      <a:bodyPr wrap="square"/>
                      <a:lstStyle/>
                      <a:p>
                        <a:pPr algn="ctr"/>
                        <a:r>
                          <a:rPr sz="1800" b="1">
                            <a:solidFill>
                              <a:srgbClr val="FFFFFF"/>
                            </a:solidFill>
                            <a:latin typeface="Calibri"/>
                          </a:rPr>
                          <a:t>coefficient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800" b="1">
                            <a:solidFill>
                              <a:srgbClr val="FFFFFF"/>
                            </a:solidFill>
                            <a:latin typeface="Calibri"/>
                          </a:rPr>
                          <a:t>value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530352">
                  <a:tc>
                    <a:txBody>
                      <a:bodyPr wrap="square"/>
                      <a:lstStyle/>
                      <a:p>
                        <a:pPr algn="l"/>
                        <a:r>
                          <a:rPr sz="1800" b="1">
                            <a:solidFill>
                              <a:srgbClr val="0B2B4E"/>
                            </a:solidFill>
                            <a:latin typeface="Calibri"/>
                          </a:rPr>
                          <a:t>Constant (intercept)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800" b="0">
                            <a:solidFill>
                              <a:srgbClr val="0B2B4E"/>
                            </a:solidFill>
                            <a:latin typeface="Calibri"/>
                          </a:rPr>
                          <a:t>28.8</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530352">
                  <a:tc>
                    <a:txBody>
                      <a:bodyPr wrap="square"/>
                      <a:lstStyle/>
                      <a:p>
                        <a:pPr algn="l"/>
                        <a:r>
                          <a:rPr sz="1800" b="1">
                            <a:solidFill>
                              <a:srgbClr val="0B2B4E"/>
                            </a:solidFill>
                            <a:latin typeface="Calibri"/>
                          </a:rPr>
                          <a:t>Own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800" b="0">
                            <a:solidFill>
                              <a:srgbClr val="0B2B4E"/>
                            </a:solidFill>
                            <a:latin typeface="Calibri"/>
                          </a:rPr>
                          <a:t>−2.12</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530352">
                  <a:tc>
                    <a:txBody>
                      <a:bodyPr wrap="square"/>
                      <a:lstStyle/>
                      <a:p>
                        <a:pPr algn="l"/>
                        <a:r>
                          <a:rPr sz="1800" b="1">
                            <a:solidFill>
                              <a:srgbClr val="0B2B4E"/>
                            </a:solidFill>
                            <a:latin typeface="Calibri"/>
                          </a:rPr>
                          <a:t>Competitor’s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800" b="0">
                            <a:solidFill>
                              <a:srgbClr val="0B2B4E"/>
                            </a:solidFill>
                            <a:latin typeface="Calibri"/>
                          </a:rPr>
                          <a:t>1.03</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530352">
                  <a:tc>
                    <a:txBody>
                      <a:bodyPr wrap="square"/>
                      <a:lstStyle/>
                      <a:p>
                        <a:pPr algn="l"/>
                        <a:r>
                          <a:rPr sz="1800" b="1">
                            <a:solidFill>
                              <a:srgbClr val="0B2B4E"/>
                            </a:solidFill>
                            <a:latin typeface="Calibri"/>
                          </a:rPr>
                          <a:t>Income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800" b="0">
                            <a:solidFill>
                              <a:srgbClr val="0B2B4E"/>
                            </a:solidFill>
                            <a:latin typeface="Calibri"/>
                          </a:rPr>
                          <a:t>3.09</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sp>
        <p:nvSpPr>
          <p:cNvPr id="9" name="TextBox 8"/>
          <p:cNvSpPr txBox="1"/>
          <p:nvPr/>
        </p:nvSpPr>
        <p:spPr>
          <a:xfrm>
            <a:off x="1417320" y="4892040"/>
            <a:ext cx="10058400" cy="73152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C00000"/>
                </a:solidFill>
                <a:latin typeface="Calibri"/>
              </a:rPr>
              <a:t>Demand Equation:   </a:t>
            </a:r>
            <a14:m>
              <m:oMath>
                <m:r>
                  <a:rPr lang="en-US" b="0" i="1" sz="2400">
                    <a:solidFill>
                      <a:srgbClr val="0B2B4E"/>
                    </a:solidFill>
                    <a:latin typeface="Cambria Math"/>
                    <a:ea typeface="Cambria Math"/>
                  </a:rPr>
                  <m:t>Q</m:t>
                </m:r>
                <m:r>
                  <m:rPr>
                    <m:sty m:val="p"/>
                  </m:rPr>
                  <a:rPr lang="en-US" b="0" i="0" sz="2400">
                    <a:solidFill>
                      <a:srgbClr val="0B2B4E"/>
                    </a:solidFill>
                    <a:latin typeface="Cambria Math"/>
                  </a:rPr>
                  <m:t xml:space="preserve"> = 28.8 − 2.12</m:t>
                </m:r>
                <m:r>
                  <a:rPr lang="en-US" b="0" i="1" sz="2400">
                    <a:solidFill>
                      <a:srgbClr val="0B2B4E"/>
                    </a:solidFill>
                    <a:latin typeface="Cambria Math"/>
                    <a:ea typeface="Cambria Math"/>
                  </a:rPr>
                  <m:t>P</m:t>
                </m:r>
                <m:r>
                  <m:rPr>
                    <m:sty m:val="p"/>
                  </m:rPr>
                  <a:rPr lang="en-US" b="0" i="0" sz="2400">
                    <a:solidFill>
                      <a:srgbClr val="0B2B4E"/>
                    </a:solidFill>
                    <a:latin typeface="Cambria Math"/>
                  </a:rPr>
                  <m:t xml:space="preserve"> + 1.03</m:t>
                </m:r>
                <m:sSub>
                  <m:sSubPr>
                    <m:ctrlPr>
                      <a:rPr lang="en-US" i="1">
                        <a:latin typeface="Cambria Math"/>
                      </a:rPr>
                    </m:ctrlPr>
                  </m:sSubPr>
                  <m:e>
                    <m:r>
                      <a:rPr lang="en-US" b="0" i="1" sz="2400">
                        <a:solidFill>
                          <a:srgbClr val="0B2B4E"/>
                        </a:solidFill>
                        <a:latin typeface="Cambria Math"/>
                        <a:ea typeface="Cambria Math"/>
                      </a:rPr>
                      <m:t>P</m:t>
                    </m:r>
                  </m:e>
                  <m:sub>
                    <m:r>
                      <a:rPr lang="en-US" b="0" i="1" sz="2400">
                        <a:solidFill>
                          <a:srgbClr val="0B2B4E"/>
                        </a:solidFill>
                        <a:latin typeface="Cambria Math"/>
                        <a:ea typeface="Cambria Math"/>
                      </a:rPr>
                      <m:t>c</m:t>
                    </m:r>
                  </m:sub>
                </m:sSub>
                <m:r>
                  <m:rPr>
                    <m:sty m:val="p"/>
                  </m:rPr>
                  <a:rPr lang="en-US" b="0" i="0" sz="2400">
                    <a:solidFill>
                      <a:srgbClr val="0B2B4E"/>
                    </a:solidFill>
                    <a:latin typeface="Cambria Math"/>
                  </a:rPr>
                  <m:t xml:space="preserve"> + 3.09</m:t>
                </m:r>
                <m:r>
                  <a:rPr lang="en-US" b="0" i="1" sz="2400">
                    <a:solidFill>
                      <a:srgbClr val="0B2B4E"/>
                    </a:solidFill>
                    <a:latin typeface="Cambria Math"/>
                    <a:ea typeface="Cambria Math"/>
                  </a:rPr>
                  <m:t>Y</m:t>
                </m:r>
              </m:oMath>
            </a14:m>
            <a:endParaRPr lang="en-US"/>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22BC27D3-51A2-5F90-879D-724E6E524C78}" type="slidenum">
              <a:rPr lang="en-US" sz="1200" dirty="0">
                <a:solidFill>
                  <a:srgbClr val="555B66"/>
                </a:solidFill>
                <a:latin typeface="Calibri"/>
              </a:rPr>
              <a:t>47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fade">
                                      <p:cBhvr>
                                        <p:cTn id="7" dur="500"/>
                                        <p:tgtEl>
                                          <p:spTgt spid="1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Application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91640"/>
            <a:ext cx="11338560" cy="10058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The airline company has run a market experimentation and estimated the demand function:</a:t>
            </a:r>
          </a:p>
        </p:txBody>
      </p:sp>
      <p:sp>
        <p:nvSpPr>
          <p:cNvPr id="8" name="TextBox 7"/>
          <p:cNvSpPr txBox="1"/>
          <p:nvPr/>
        </p:nvSpPr>
        <p:spPr>
          <a:xfrm>
            <a:off x="3703320" y="2514600"/>
            <a:ext cx="4754880" cy="91440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800" b="0" i="1">
                <a:solidFill>
                  <a:srgbClr val="0B2B4E"/>
                </a:solidFill>
                <a:latin typeface="Cambria Math"/>
              </a:defRPr>
            </a:pPr>
            <a14:m>
              <m:oMathPara>
                <m:oMathParaPr>
                  <m:jc m:val="centerGroup"/>
                </m:oMathParaPr>
                <m:oMath>
                  <m:r>
                    <a:rPr lang="en-US" b="0" i="1" sz="2800">
                      <a:solidFill>
                        <a:srgbClr val="0B2B4E"/>
                      </a:solidFill>
                      <a:latin typeface="Cambria Math"/>
                      <a:ea typeface="Cambria Math"/>
                    </a:rPr>
                    <m:t>Q</m:t>
                  </m:r>
                  <m:r>
                    <m:rPr>
                      <m:sty m:val="p"/>
                    </m:rPr>
                    <a:rPr lang="en-US" b="0" i="0" sz="2800">
                      <a:solidFill>
                        <a:srgbClr val="0B2B4E"/>
                      </a:solidFill>
                      <a:latin typeface="Cambria Math"/>
                    </a:rPr>
                    <m:t xml:space="preserve"> = 479 − 1.64</m:t>
                  </m:r>
                  <m:r>
                    <a:rPr lang="en-US" b="0" i="1" sz="2800">
                      <a:solidFill>
                        <a:srgbClr val="0B2B4E"/>
                      </a:solidFill>
                      <a:latin typeface="Cambria Math"/>
                      <a:ea typeface="Cambria Math"/>
                    </a:rPr>
                    <m:t>P</m:t>
                  </m:r>
                </m:oMath>
              </m:oMathPara>
            </a14:m>
            <a:endParaRPr lang="en-US" sz="2800"/>
          </a:p>
        </p:txBody>
      </p:sp>
      <p:sp>
        <p:nvSpPr>
          <p:cNvPr id="9" name="TextBox 8"/>
          <p:cNvSpPr txBox="1"/>
          <p:nvPr/>
        </p:nvSpPr>
        <p:spPr>
          <a:xfrm>
            <a:off x="389159" y="3703320"/>
            <a:ext cx="11338560" cy="21945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Currently, the company is charging $140 for a seat</a:t>
            </a:r>
          </a:p>
          <a:p>
            <a:pPr algn="l" lvl="1"/>
            <a:r>
              <a:rPr>
                <a:latin typeface="Calibri"/>
              </a:rPr>
              <a:t>What is </a:t>
            </a:r>
            <a:r>
              <a:rPr b="1" i="1">
                <a:latin typeface="Calibri"/>
              </a:rPr>
              <a:t>Eᴅ</a:t>
            </a:r>
            <a:r>
              <a:rPr>
                <a:latin typeface="Calibri"/>
              </a:rPr>
              <a:t> at this price?</a:t>
            </a:r>
          </a:p>
          <a:p>
            <a:pPr algn="l" lvl="1"/>
            <a:r>
              <a:rPr>
                <a:latin typeface="Calibri"/>
              </a:rPr>
              <a:t>What is </a:t>
            </a:r>
            <a:r>
              <a:rPr b="1" i="1">
                <a:latin typeface="Calibri"/>
              </a:rPr>
              <a:t>MR</a:t>
            </a:r>
            <a:r>
              <a:rPr>
                <a:latin typeface="Calibri"/>
              </a:rPr>
              <a:t> at this price?</a:t>
            </a:r>
          </a:p>
          <a:p>
            <a:pPr algn="l" lvl="1"/>
            <a:r>
              <a:rPr>
                <a:latin typeface="Calibri"/>
              </a:rPr>
              <a:t>Should the airline raise or lower its price?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D9A67DD4-F7AE-544E-90A8-A1061E835C94}" type="slidenum">
              <a:rPr lang="en-US" sz="1200" dirty="0">
                <a:solidFill>
                  <a:srgbClr val="555B66"/>
                </a:solidFill>
                <a:latin typeface="Calibri"/>
              </a:rPr>
              <a:t>48</a:t>
            </a:fld>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500"/>
                                        <p:tgtEl>
                                          <p:spTgt spid="9">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500"/>
                                        <p:tgtEl>
                                          <p:spTgt spid="9">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Eᴅ at P = 140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783080"/>
            <a:ext cx="11338560" cy="201168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i="1">
                <a:latin typeface="Calibri"/>
              </a:rPr>
              <a:t>Q = 479 − 1.64P</a:t>
            </a:r>
          </a:p>
          <a:p>
            <a:pPr algn="l"/>
            <a:r>
              <a:rPr>
                <a:latin typeface="Calibri"/>
              </a:rPr>
              <a:t>Recall  </a:t>
            </a:r>
            <a:r>
              <a:rPr i="1">
                <a:latin typeface="Calibri"/>
              </a:rPr>
              <a:t>Eᴅ = (ΔQ/ΔP) ∙ (P/Q)</a:t>
            </a:r>
            <a:r>
              <a:rPr>
                <a:latin typeface="Calibri"/>
              </a:rPr>
              <a:t>  and  ΔQ/ΔP  is the slope of demand  ⇒  ΔQ/ΔP = −1.64</a:t>
            </a:r>
          </a:p>
          <a:p>
            <a:pPr algn="l"/>
            <a:r>
              <a:rPr>
                <a:latin typeface="Calibri"/>
              </a:rPr>
              <a:t>Plug </a:t>
            </a:r>
            <a:r>
              <a:rPr i="1">
                <a:latin typeface="Calibri"/>
              </a:rPr>
              <a:t>P</a:t>
            </a:r>
            <a:r>
              <a:rPr>
                <a:latin typeface="Calibri"/>
              </a:rPr>
              <a:t> in to get </a:t>
            </a:r>
            <a:r>
              <a:rPr i="1">
                <a:latin typeface="Calibri"/>
              </a:rPr>
              <a:t>Q</a:t>
            </a:r>
            <a:r>
              <a:rPr>
                <a:latin typeface="Calibri"/>
              </a:rPr>
              <a:t> :   Q = 479 − 1.64 ⋅ 140 = 249</a:t>
            </a:r>
          </a:p>
        </p:txBody>
      </p:sp>
      <p:sp>
        <p:nvSpPr>
          <p:cNvPr id="8" name="TextBox 7"/>
          <p:cNvSpPr txBox="1"/>
          <p:nvPr/>
        </p:nvSpPr>
        <p:spPr>
          <a:xfrm>
            <a:off x="2606040" y="4069080"/>
            <a:ext cx="6949440" cy="1005840"/>
          </a:xfrm>
          <a:prstGeom prst="rect">
            <a:avLst/>
          </a:prstGeom>
          <a:noFill/>
        </p:spPr>
        <p:txBody>
          <a:bodyPr wrap="square" anchor="ctr">
            <a:spAutoFit/>
          </a:bodyPr>
          <a:lstStyle/>
          <a:p xmlns:m="http://schemas.openxmlformats.org/officeDocument/2006/math" xmlns:a14="http://schemas.microsoft.com/office/drawing/2010/main">
            <a:pPr algn="ctr">
              <a:defRPr sz="2600" b="0" i="1">
                <a:solidFill>
                  <a:srgbClr val="C00000"/>
                </a:solidFill>
                <a:latin typeface="Cambria Math"/>
              </a:defRPr>
            </a:pPr>
            <a14:m>
              <m:oMathPara>
                <m:oMathParaPr>
                  <m:jc m:val="centerGroup"/>
                </m:oMathParaPr>
                <m:oMath>
                  <m:sSub>
                    <m:sSubPr>
                      <m:ctrlPr>
                        <a:rPr lang="en-US" i="1">
                          <a:latin typeface="Cambria Math"/>
                        </a:rPr>
                      </m:ctrlPr>
                    </m:sSubPr>
                    <m:e>
                      <m:r>
                        <a:rPr lang="en-US" b="0" i="1" sz="2600">
                          <a:solidFill>
                            <a:srgbClr val="C00000"/>
                          </a:solidFill>
                          <a:latin typeface="Cambria Math"/>
                          <a:ea typeface="Cambria Math"/>
                        </a:rPr>
                        <m:t>E</m:t>
                      </m:r>
                    </m:e>
                    <m:sub>
                      <m:r>
                        <a:rPr lang="en-US" b="0" i="1" sz="2600">
                          <a:solidFill>
                            <a:srgbClr val="C00000"/>
                          </a:solidFill>
                          <a:latin typeface="Cambria Math"/>
                          <a:ea typeface="Cambria Math"/>
                        </a:rPr>
                        <m:t>d</m:t>
                      </m:r>
                    </m:sub>
                  </m:sSub>
                  <m:r>
                    <m:rPr>
                      <m:sty m:val="p"/>
                    </m:rPr>
                    <a:rPr lang="en-US" b="0" i="0" sz="2600">
                      <a:solidFill>
                        <a:srgbClr val="C00000"/>
                      </a:solidFill>
                      <a:latin typeface="Cambria Math"/>
                    </a:rPr>
                    <m:t xml:space="preserve"> = −1.64 ⋅ </m:t>
                  </m:r>
                  <m:f>
                    <m:fPr>
                      <m:ctrlPr>
                        <a:rPr lang="en-US" i="1">
                          <a:latin typeface="Cambria Math"/>
                        </a:rPr>
                      </m:ctrlPr>
                    </m:fPr>
                    <m:num>
                      <m:r>
                        <m:rPr>
                          <m:sty m:val="p"/>
                        </m:rPr>
                        <a:rPr lang="en-US" b="0" i="0" sz="2600">
                          <a:solidFill>
                            <a:srgbClr val="C00000"/>
                          </a:solidFill>
                          <a:latin typeface="Cambria Math"/>
                        </a:rPr>
                        <m:t xml:space="preserve">140</m:t>
                      </m:r>
                    </m:num>
                    <m:den>
                      <m:r>
                        <m:rPr>
                          <m:sty m:val="p"/>
                        </m:rPr>
                        <a:rPr lang="en-US" b="0" i="0" sz="2600">
                          <a:solidFill>
                            <a:srgbClr val="C00000"/>
                          </a:solidFill>
                          <a:latin typeface="Cambria Math"/>
                        </a:rPr>
                        <m:t xml:space="preserve">249</m:t>
                      </m:r>
                    </m:den>
                  </m:f>
                  <m:r>
                    <m:rPr>
                      <m:sty m:val="p"/>
                    </m:rPr>
                    <a:rPr lang="en-US" b="0" i="0" sz="2600">
                      <a:solidFill>
                        <a:srgbClr val="C00000"/>
                      </a:solidFill>
                      <a:latin typeface="Cambria Math"/>
                    </a:rPr>
                    <m:t xml:space="preserve"> = −0.92</m:t>
                  </m:r>
                </m:oMath>
              </m:oMathPara>
            </a14:m>
            <a:endParaRPr lang="en-US" sz="2600"/>
          </a:p>
        </p:txBody>
      </p:sp>
      <p:sp>
        <p:nvSpPr>
          <p:cNvPr id="9" name="TextBox 8"/>
          <p:cNvSpPr txBox="1"/>
          <p:nvPr/>
        </p:nvSpPr>
        <p:spPr>
          <a:xfrm>
            <a:off x="389159" y="5349240"/>
            <a:ext cx="1133856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buNone/>
            </a:pPr>
            <a:r>
              <a:rPr sz="2600">
                <a:solidFill>
                  <a:srgbClr val="0B2B4E"/>
                </a:solidFill>
                <a:latin typeface="Calibri"/>
              </a:rPr>
              <a:t>→  Demand is </a:t>
            </a:r>
            <a:r>
              <a:rPr sz="2600" b="1">
                <a:solidFill>
                  <a:srgbClr val="0070C0"/>
                </a:solidFill>
                <a:latin typeface="Calibri"/>
              </a:rPr>
              <a:t>inelastic</a:t>
            </a:r>
            <a:r>
              <a:rPr sz="2600">
                <a:solidFill>
                  <a:srgbClr val="0B2B4E"/>
                </a:solidFill>
                <a:latin typeface="Calibri"/>
              </a:rPr>
              <a:t>   (|Eᴅ| &lt; 1)</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2DB18AEB-6F3A-5D2F-99F2-AAFEDB67B91B}" type="slidenum">
              <a:rPr lang="en-US" sz="1200" dirty="0">
                <a:solidFill>
                  <a:srgbClr val="555B66"/>
                </a:solidFill>
                <a:latin typeface="Calibri"/>
              </a:rPr>
              <a:t>49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MR at P = 140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2039" y="1856232"/>
            <a:ext cx="4023360"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1.  Inverse demand:</a:t>
            </a:r>
          </a:p>
        </p:txBody>
      </p:sp>
      <p:sp>
        <p:nvSpPr>
          <p:cNvPr id="8" name="TextBox 7"/>
          <p:cNvSpPr txBox="1"/>
          <p:nvPr/>
        </p:nvSpPr>
        <p:spPr>
          <a:xfrm>
            <a:off x="4709160" y="1691640"/>
            <a:ext cx="6035040" cy="868680"/>
          </a:xfrm>
          <a:prstGeom prst="roundRect">
            <a:avLst>
              <a:gd name="adj" fmla="val 25000"/>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a:rPr lang="en-US" b="0" i="1" sz="2100">
                      <a:solidFill>
                        <a:srgbClr val="0B2B4E"/>
                      </a:solidFill>
                      <a:latin typeface="Cambria Math"/>
                      <a:ea typeface="Cambria Math"/>
                    </a:rPr>
                    <m:t>P</m:t>
                  </m:r>
                  <m:r>
                    <m:rPr>
                      <m:sty m:val="p"/>
                    </m:rPr>
                    <a:rPr lang="en-US" b="0" i="0" sz="2100">
                      <a:solidFill>
                        <a:srgbClr val="0B2B4E"/>
                      </a:solidFill>
                      <a:latin typeface="Cambria Math"/>
                    </a:rPr>
                    <m:t xml:space="preserve"> = 292 −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1.64</m:t>
                      </m:r>
                    </m:den>
                  </m:f>
                  <m:r>
                    <a:rPr lang="en-US" b="0" i="1" sz="2100">
                      <a:solidFill>
                        <a:srgbClr val="0B2B4E"/>
                      </a:solidFill>
                      <a:latin typeface="Cambria Math"/>
                      <a:ea typeface="Cambria Math"/>
                    </a:rPr>
                    <m:t>Q</m:t>
                  </m:r>
                </m:oMath>
              </m:oMathPara>
            </a14:m>
            <a:endParaRPr lang="en-US" sz="2100"/>
          </a:p>
        </p:txBody>
      </p:sp>
      <p:sp>
        <p:nvSpPr>
          <p:cNvPr id="9" name="TextBox 8"/>
          <p:cNvSpPr txBox="1"/>
          <p:nvPr/>
        </p:nvSpPr>
        <p:spPr>
          <a:xfrm>
            <a:off x="572039" y="2907792"/>
            <a:ext cx="4023360"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2.  Total revenue:</a:t>
            </a:r>
          </a:p>
        </p:txBody>
      </p:sp>
      <p:sp>
        <p:nvSpPr>
          <p:cNvPr id="10" name="TextBox 9"/>
          <p:cNvSpPr txBox="1"/>
          <p:nvPr/>
        </p:nvSpPr>
        <p:spPr>
          <a:xfrm>
            <a:off x="4709160" y="2743200"/>
            <a:ext cx="6035040" cy="868680"/>
          </a:xfrm>
          <a:prstGeom prst="roundRect">
            <a:avLst>
              <a:gd name="adj" fmla="val 25000"/>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m:rPr>
                      <m:sty m:val="p"/>
                    </m:rPr>
                    <a:rPr lang="en-US" b="0" i="0" sz="2100">
                      <a:solidFill>
                        <a:srgbClr val="0B2B4E"/>
                      </a:solidFill>
                      <a:latin typeface="Cambria Math"/>
                    </a:rPr>
                    <m:t xml:space="preserve">TR</m:t>
                  </m:r>
                  <m:r>
                    <m:rPr>
                      <m:sty m:val="p"/>
                    </m:rPr>
                    <a:rPr lang="en-US" b="0" i="0" sz="2100">
                      <a:solidFill>
                        <a:srgbClr val="0B2B4E"/>
                      </a:solidFill>
                      <a:latin typeface="Cambria Math"/>
                    </a:rPr>
                    <m:t xml:space="preserve"> = 292</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1.64</m:t>
                      </m:r>
                    </m:den>
                  </m:f>
                  <m:sSup>
                    <m:sSupPr>
                      <m:ctrlPr>
                        <a:rPr lang="en-US" i="1">
                          <a:latin typeface="Cambria Math"/>
                        </a:rPr>
                      </m:ctrlPr>
                    </m:sSupPr>
                    <m:e>
                      <m:r>
                        <a:rPr lang="en-US" b="0" i="1" sz="2100">
                          <a:solidFill>
                            <a:srgbClr val="0B2B4E"/>
                          </a:solidFill>
                          <a:latin typeface="Cambria Math"/>
                          <a:ea typeface="Cambria Math"/>
                        </a:rPr>
                        <m:t>Q</m:t>
                      </m:r>
                    </m:e>
                    <m:sup>
                      <m:r>
                        <m:rPr>
                          <m:sty m:val="p"/>
                        </m:rPr>
                        <a:rPr lang="en-US" b="0" i="0" sz="2100">
                          <a:solidFill>
                            <a:srgbClr val="0B2B4E"/>
                          </a:solidFill>
                          <a:latin typeface="Cambria Math"/>
                        </a:rPr>
                        <m:t xml:space="preserve">2</m:t>
                      </m:r>
                    </m:sup>
                  </m:sSup>
                </m:oMath>
              </m:oMathPara>
            </a14:m>
            <a:endParaRPr lang="en-US" sz="2100"/>
          </a:p>
        </p:txBody>
      </p:sp>
      <p:sp>
        <p:nvSpPr>
          <p:cNvPr id="11" name="TextBox 10"/>
          <p:cNvSpPr txBox="1"/>
          <p:nvPr/>
        </p:nvSpPr>
        <p:spPr>
          <a:xfrm>
            <a:off x="572039" y="3959352"/>
            <a:ext cx="4023360"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3.  Derivative:</a:t>
            </a:r>
          </a:p>
        </p:txBody>
      </p:sp>
      <p:sp>
        <p:nvSpPr>
          <p:cNvPr id="12" name="TextBox 11"/>
          <p:cNvSpPr txBox="1"/>
          <p:nvPr/>
        </p:nvSpPr>
        <p:spPr>
          <a:xfrm>
            <a:off x="4709160" y="3794760"/>
            <a:ext cx="6035040" cy="868680"/>
          </a:xfrm>
          <a:prstGeom prst="roundRect">
            <a:avLst>
              <a:gd name="adj" fmla="val 25000"/>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m:rPr>
                      <m:sty m:val="p"/>
                    </m:rPr>
                    <a:rPr lang="en-US" b="0" i="0" sz="2100">
                      <a:solidFill>
                        <a:srgbClr val="0B2B4E"/>
                      </a:solidFill>
                      <a:latin typeface="Cambria Math"/>
                    </a:rPr>
                    <m:t xml:space="preserve">MR</m:t>
                  </m:r>
                  <m:r>
                    <m:rPr>
                      <m:sty m:val="p"/>
                    </m:rPr>
                    <a:rPr lang="en-US" b="0" i="0" sz="2100">
                      <a:solidFill>
                        <a:srgbClr val="0B2B4E"/>
                      </a:solidFill>
                      <a:latin typeface="Cambria Math"/>
                    </a:rPr>
                    <m:t xml:space="preserve"> = 292 − 1.22</m:t>
                  </m:r>
                  <m:r>
                    <a:rPr lang="en-US" b="0" i="1" sz="2100">
                      <a:solidFill>
                        <a:srgbClr val="0B2B4E"/>
                      </a:solidFill>
                      <a:latin typeface="Cambria Math"/>
                      <a:ea typeface="Cambria Math"/>
                    </a:rPr>
                    <m:t>Q</m:t>
                  </m:r>
                </m:oMath>
              </m:oMathPara>
            </a14:m>
            <a:endParaRPr lang="en-US" sz="2100"/>
          </a:p>
        </p:txBody>
      </p:sp>
      <p:sp>
        <p:nvSpPr>
          <p:cNvPr id="13" name="TextBox 12"/>
          <p:cNvSpPr txBox="1"/>
          <p:nvPr/>
        </p:nvSpPr>
        <p:spPr>
          <a:xfrm>
            <a:off x="1051560" y="4983480"/>
            <a:ext cx="10058400" cy="91440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C00000"/>
                </a:solidFill>
                <a:latin typeface="Cambria Math"/>
              </a:defRPr>
            </a:pPr>
            <a14:m>
              <m:oMathPara>
                <m:oMathParaPr>
                  <m:jc m:val="centerGroup"/>
                </m:oMathParaPr>
                <m:oMath>
                  <m:r>
                    <m:rPr>
                      <m:sty m:val="p"/>
                    </m:rPr>
                    <a:rPr lang="en-US" b="0" i="0" sz="2400">
                      <a:solidFill>
                        <a:srgbClr val="C00000"/>
                      </a:solidFill>
                      <a:latin typeface="Cambria Math"/>
                    </a:rPr>
                    <m:t xml:space="preserve">MR</m:t>
                  </m:r>
                  <m:r>
                    <m:rPr>
                      <m:sty m:val="p"/>
                    </m:rPr>
                    <a:rPr lang="en-US" b="0" i="0" sz="2400">
                      <a:solidFill>
                        <a:srgbClr val="C00000"/>
                      </a:solidFill>
                      <a:latin typeface="Cambria Math"/>
                    </a:rPr>
                    <m:t xml:space="preserve"> at </m:t>
                  </m:r>
                  <m:r>
                    <a:rPr lang="en-US" b="0" i="1" sz="2400">
                      <a:solidFill>
                        <a:srgbClr val="C00000"/>
                      </a:solidFill>
                      <a:latin typeface="Cambria Math"/>
                      <a:ea typeface="Cambria Math"/>
                    </a:rPr>
                    <m:t>P</m:t>
                  </m:r>
                  <m:r>
                    <m:rPr>
                      <m:sty m:val="p"/>
                    </m:rPr>
                    <a:rPr lang="en-US" b="0" i="0" sz="2400">
                      <a:solidFill>
                        <a:srgbClr val="C00000"/>
                      </a:solidFill>
                      <a:latin typeface="Cambria Math"/>
                    </a:rPr>
                    <m:t xml:space="preserve"> = 140:  </m:t>
                  </m:r>
                  <m:r>
                    <a:rPr lang="en-US" b="0" i="1" sz="2400">
                      <a:solidFill>
                        <a:srgbClr val="C00000"/>
                      </a:solidFill>
                      <a:latin typeface="Cambria Math"/>
                      <a:ea typeface="Cambria Math"/>
                    </a:rPr>
                    <m:t>P</m:t>
                  </m:r>
                  <m:r>
                    <m:rPr>
                      <m:sty m:val="p"/>
                    </m:rPr>
                    <a:rPr lang="en-US" b="0" i="0" sz="2400">
                      <a:solidFill>
                        <a:srgbClr val="C00000"/>
                      </a:solidFill>
                      <a:latin typeface="Cambria Math"/>
                    </a:rPr>
                    <m:t xml:space="preserve"> = 140  ⇒  </m:t>
                  </m:r>
                  <m:r>
                    <a:rPr lang="en-US" b="0" i="1" sz="2400">
                      <a:solidFill>
                        <a:srgbClr val="C00000"/>
                      </a:solidFill>
                      <a:latin typeface="Cambria Math"/>
                      <a:ea typeface="Cambria Math"/>
                    </a:rPr>
                    <m:t>Q</m:t>
                  </m:r>
                  <m:r>
                    <m:rPr>
                      <m:sty m:val="p"/>
                    </m:rPr>
                    <a:rPr lang="en-US" b="0" i="0" sz="2400">
                      <a:solidFill>
                        <a:srgbClr val="C00000"/>
                      </a:solidFill>
                      <a:latin typeface="Cambria Math"/>
                    </a:rPr>
                    <m:t xml:space="preserve"> = 249  ⇒  </m:t>
                  </m:r>
                  <m:r>
                    <m:rPr>
                      <m:sty m:val="p"/>
                    </m:rPr>
                    <a:rPr lang="en-US" b="0" i="0" sz="2400">
                      <a:solidFill>
                        <a:srgbClr val="C00000"/>
                      </a:solidFill>
                      <a:latin typeface="Cambria Math"/>
                    </a:rPr>
                    <m:t xml:space="preserve">MR</m:t>
                  </m:r>
                  <m:r>
                    <m:rPr>
                      <m:sty m:val="p"/>
                    </m:rPr>
                    <a:rPr lang="en-US" b="0" i="0" sz="2400">
                      <a:solidFill>
                        <a:srgbClr val="C00000"/>
                      </a:solidFill>
                      <a:latin typeface="Cambria Math"/>
                    </a:rPr>
                    <m:t xml:space="preserve"> = −12.3</m:t>
                  </m:r>
                </m:oMath>
              </m:oMathPara>
            </a14:m>
            <a:endParaRPr lang="en-US" sz="2400"/>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7" name="TextBox 16"/>
          <p:cNvSpPr txBox="1"/>
          <p:nvPr/>
        </p:nvSpPr>
        <p:spPr>
          <a:xfrm>
            <a:off x="11475720" y="6583680"/>
            <a:ext cx="502920" cy="292608"/>
          </a:xfrm>
          <a:prstGeom prst="rect">
            <a:avLst/>
          </a:prstGeom>
          <a:noFill/>
        </p:spPr>
        <p:txBody>
          <a:bodyPr wrap="none" lIns="0" rIns="0" tIns="0" bIns="0">
            <a:spAutoFit/>
          </a:bodyPr>
          <a:lstStyle/>
          <a:p>
            <a:pPr algn="r"/>
            <a:fld id="{A5A113D4-7497-5168-BB4C-F5395F354B8F}" type="slidenum">
              <a:rPr lang="en-US" sz="1200" dirty="0">
                <a:solidFill>
                  <a:srgbClr val="555B66"/>
                </a:solidFill>
                <a:latin typeface="Calibri"/>
              </a:rPr>
              <a:t>50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Raise the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737360"/>
            <a:ext cx="5669280" cy="182880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i="1">
                <a:latin typeface="Calibri"/>
              </a:rPr>
              <a:t>MR</a:t>
            </a:r>
            <a:r>
              <a:rPr>
                <a:latin typeface="Calibri"/>
              </a:rPr>
              <a:t> is negative, so you want to sell </a:t>
            </a:r>
            <a:r>
              <a:rPr i="1">
                <a:latin typeface="Calibri"/>
              </a:rPr>
              <a:t>less</a:t>
            </a:r>
          </a:p>
          <a:p>
            <a:pPr algn="l"/>
            <a:r>
              <a:rPr>
                <a:latin typeface="Calibri"/>
              </a:rPr>
              <a:t>How do we sell less? By </a:t>
            </a:r>
            <a:r>
              <a:rPr b="1">
                <a:latin typeface="Calibri"/>
              </a:rPr>
              <a:t>increasing the price</a:t>
            </a:r>
          </a:p>
        </p:txBody>
      </p:sp>
      <p:cxnSp>
        <p:nvCxnSpPr>
          <p:cNvPr id="8" name="Connector 7"/>
          <p:cNvCxnSpPr/>
          <p:nvPr/>
        </p:nvCxnSpPr>
        <p:spPr>
          <a:xfrm flipV="1">
            <a:off x="6720840" y="1892807"/>
            <a:ext cx="0" cy="3913633"/>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720840" y="5806440"/>
            <a:ext cx="4736592"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263640" y="1645920"/>
            <a:ext cx="548640" cy="292608"/>
          </a:xfrm>
          <a:prstGeom prst="rect">
            <a:avLst/>
          </a:prstGeom>
          <a:noFill/>
        </p:spPr>
        <p:txBody>
          <a:bodyPr wrap="square" lIns="0" rIns="0" tIns="0" bIns="0">
            <a:spAutoFit/>
          </a:bodyPr>
          <a:lstStyle/>
          <a:p>
            <a:pPr algn="l"/>
            <a:r>
              <a:rPr sz="1800" b="1" i="1" u="none">
                <a:solidFill>
                  <a:srgbClr val="0B2B4E"/>
                </a:solidFill>
                <a:latin typeface="Calibri"/>
              </a:rPr>
              <a:t>P</a:t>
            </a:r>
          </a:p>
        </p:txBody>
      </p:sp>
      <p:sp>
        <p:nvSpPr>
          <p:cNvPr id="11" name="TextBox 10"/>
          <p:cNvSpPr txBox="1"/>
          <p:nvPr/>
        </p:nvSpPr>
        <p:spPr>
          <a:xfrm>
            <a:off x="11338560" y="5760720"/>
            <a:ext cx="548640" cy="292608"/>
          </a:xfrm>
          <a:prstGeom prst="rect">
            <a:avLst/>
          </a:prstGeom>
          <a:noFill/>
        </p:spPr>
        <p:txBody>
          <a:bodyPr wrap="square" lIns="0" rIns="0" tIns="0" bIns="0">
            <a:spAutoFit/>
          </a:bodyPr>
          <a:lstStyle/>
          <a:p>
            <a:pPr algn="l"/>
            <a:r>
              <a:rPr sz="1800" b="1" i="1" u="none">
                <a:solidFill>
                  <a:srgbClr val="0B2B4E"/>
                </a:solidFill>
                <a:latin typeface="Calibri"/>
              </a:rPr>
              <a:t>Q</a:t>
            </a:r>
          </a:p>
        </p:txBody>
      </p:sp>
      <p:cxnSp>
        <p:nvCxnSpPr>
          <p:cNvPr id="12" name="Connector 11"/>
          <p:cNvCxnSpPr/>
          <p:nvPr/>
        </p:nvCxnSpPr>
        <p:spPr>
          <a:xfrm>
            <a:off x="6720840" y="2432303"/>
            <a:ext cx="4114800" cy="3374137"/>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904220" y="5544007"/>
            <a:ext cx="457200" cy="292608"/>
          </a:xfrm>
          <a:prstGeom prst="rect">
            <a:avLst/>
          </a:prstGeom>
          <a:noFill/>
        </p:spPr>
        <p:txBody>
          <a:bodyPr wrap="square" lIns="0" rIns="0" tIns="0" bIns="0">
            <a:spAutoFit/>
          </a:bodyPr>
          <a:lstStyle/>
          <a:p>
            <a:pPr algn="l"/>
            <a:r>
              <a:rPr sz="1800" b="1" i="1" u="none">
                <a:solidFill>
                  <a:srgbClr val="C00000"/>
                </a:solidFill>
                <a:latin typeface="Calibri"/>
              </a:rPr>
              <a:t>D</a:t>
            </a:r>
          </a:p>
        </p:txBody>
      </p:sp>
      <p:cxnSp>
        <p:nvCxnSpPr>
          <p:cNvPr id="14" name="Connector 13"/>
          <p:cNvCxnSpPr/>
          <p:nvPr/>
        </p:nvCxnSpPr>
        <p:spPr>
          <a:xfrm>
            <a:off x="6720840" y="2432303"/>
            <a:ext cx="2057400" cy="3374137"/>
          </a:xfrm>
          <a:prstGeom prst="line">
            <a:avLst/>
          </a:prstGeom>
          <a:ln w="34925">
            <a:solidFill>
              <a:srgbClr val="0070C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80960" y="4456785"/>
            <a:ext cx="731520" cy="292608"/>
          </a:xfrm>
          <a:prstGeom prst="rect">
            <a:avLst/>
          </a:prstGeom>
          <a:noFill/>
        </p:spPr>
        <p:txBody>
          <a:bodyPr wrap="square" lIns="0" rIns="0" tIns="0" bIns="0">
            <a:spAutoFit/>
          </a:bodyPr>
          <a:lstStyle/>
          <a:p>
            <a:pPr algn="l"/>
            <a:r>
              <a:rPr sz="1600" b="1" i="1" u="none">
                <a:solidFill>
                  <a:srgbClr val="0070C0"/>
                </a:solidFill>
                <a:latin typeface="Calibri"/>
              </a:rPr>
              <a:t>MR</a:t>
            </a:r>
          </a:p>
        </p:txBody>
      </p:sp>
      <p:sp>
        <p:nvSpPr>
          <p:cNvPr id="16" name="Oval 15"/>
          <p:cNvSpPr/>
          <p:nvPr/>
        </p:nvSpPr>
        <p:spPr>
          <a:xfrm>
            <a:off x="8727948" y="4069080"/>
            <a:ext cx="100584" cy="10058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400" y="3819448"/>
            <a:ext cx="1371600" cy="292608"/>
          </a:xfrm>
          <a:prstGeom prst="rect">
            <a:avLst/>
          </a:prstGeom>
          <a:noFill/>
        </p:spPr>
        <p:txBody>
          <a:bodyPr wrap="square" lIns="0" rIns="0" tIns="0" bIns="0">
            <a:spAutoFit/>
          </a:bodyPr>
          <a:lstStyle/>
          <a:p>
            <a:pPr algn="l"/>
            <a:r>
              <a:rPr sz="1400" b="1" i="0" u="none">
                <a:solidFill>
                  <a:srgbClr val="C00000"/>
                </a:solidFill>
                <a:latin typeface="Calibri"/>
              </a:rPr>
              <a:t>Eᴅ = −1</a:t>
            </a:r>
          </a:p>
        </p:txBody>
      </p:sp>
      <p:sp>
        <p:nvSpPr>
          <p:cNvPr id="18" name="TextBox 17"/>
          <p:cNvSpPr txBox="1"/>
          <p:nvPr/>
        </p:nvSpPr>
        <p:spPr>
          <a:xfrm>
            <a:off x="6858000" y="2169871"/>
            <a:ext cx="1737360" cy="274320"/>
          </a:xfrm>
          <a:prstGeom prst="rect">
            <a:avLst/>
          </a:prstGeom>
          <a:noFill/>
        </p:spPr>
        <p:txBody>
          <a:bodyPr wrap="square" lIns="0" rIns="0" tIns="0" bIns="0">
            <a:spAutoFit/>
          </a:bodyPr>
          <a:lstStyle/>
          <a:p>
            <a:pPr algn="l"/>
            <a:r>
              <a:rPr sz="1300" b="0" i="1" u="none">
                <a:solidFill>
                  <a:srgbClr val="555B66"/>
                </a:solidFill>
                <a:latin typeface="Calibri"/>
              </a:rPr>
              <a:t>Elastic portion</a:t>
            </a:r>
          </a:p>
        </p:txBody>
      </p:sp>
      <p:sp>
        <p:nvSpPr>
          <p:cNvPr id="19" name="TextBox 18"/>
          <p:cNvSpPr txBox="1"/>
          <p:nvPr/>
        </p:nvSpPr>
        <p:spPr>
          <a:xfrm>
            <a:off x="9189720" y="4719218"/>
            <a:ext cx="2011680" cy="274320"/>
          </a:xfrm>
          <a:prstGeom prst="rect">
            <a:avLst/>
          </a:prstGeom>
          <a:noFill/>
        </p:spPr>
        <p:txBody>
          <a:bodyPr wrap="square" lIns="0" rIns="0" tIns="0" bIns="0">
            <a:spAutoFit/>
          </a:bodyPr>
          <a:lstStyle/>
          <a:p>
            <a:pPr algn="l"/>
            <a:r>
              <a:rPr sz="1300" b="0" i="1" u="none">
                <a:solidFill>
                  <a:srgbClr val="555B66"/>
                </a:solidFill>
                <a:latin typeface="Calibri"/>
              </a:rPr>
              <a:t>Inelastic portion</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3" name="TextBox 22"/>
          <p:cNvSpPr txBox="1"/>
          <p:nvPr/>
        </p:nvSpPr>
        <p:spPr>
          <a:xfrm>
            <a:off x="11475720" y="6583680"/>
            <a:ext cx="502920" cy="292608"/>
          </a:xfrm>
          <a:prstGeom prst="rect">
            <a:avLst/>
          </a:prstGeom>
          <a:noFill/>
        </p:spPr>
        <p:txBody>
          <a:bodyPr wrap="none" lIns="0" rIns="0" tIns="0" bIns="0">
            <a:spAutoFit/>
          </a:bodyPr>
          <a:lstStyle/>
          <a:p>
            <a:pPr algn="r"/>
            <a:fld id="{5408FD56-BFF0-5DB7-9236-61A05EBE3659}" type="slidenum">
              <a:rPr lang="en-US" sz="1200" dirty="0">
                <a:solidFill>
                  <a:srgbClr val="555B66"/>
                </a:solidFill>
                <a:latin typeface="Calibri"/>
              </a:rPr>
              <a:t>51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500"/>
                                        <p:tgtEl>
                                          <p:spTgt spid="1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500"/>
                                        <p:tgtEl>
                                          <p:spTgt spid="18"/>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Issues With Transaction Data: Why Randomization Is Key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Transaction data: evolution of prices and quantities over time, across locations, stores…</a:t>
            </a:r>
          </a:p>
          <a:p>
            <a:pPr algn="l"/>
            <a:r>
              <a:rPr>
                <a:latin typeface="Calibri"/>
              </a:rPr>
              <a:t>Can we be sure that the change in quantity purchased is due to price changes?</a:t>
            </a:r>
          </a:p>
          <a:p>
            <a:pPr algn="l" lvl="1"/>
            <a:r>
              <a:rPr>
                <a:latin typeface="Calibri"/>
              </a:rPr>
              <a:t>Example: in August 2019, the airline sold 135 tickets for $200; in October, 90 tickets for $180</a:t>
            </a:r>
          </a:p>
          <a:p>
            <a:pPr algn="l" lvl="1"/>
            <a:r>
              <a:rPr>
                <a:latin typeface="Calibri"/>
              </a:rPr>
              <a:t>Should we conclude that the demand curve is upward sloping?</a:t>
            </a:r>
          </a:p>
          <a:p>
            <a:pPr algn="l" lvl="1"/>
            <a:r>
              <a:rPr>
                <a:latin typeface="Calibri"/>
              </a:rPr>
              <a:t>What can confound the analysis?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EC69781D-FAF3-5E5A-B5F5-5C7A4C1C5FAA}" type="slidenum">
              <a:rPr lang="en-US" sz="1200" dirty="0">
                <a:solidFill>
                  <a:srgbClr val="555B66"/>
                </a:solidFill>
                <a:latin typeface="Calibri"/>
              </a:rPr>
              <a:t>52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xEl>
                                              <p:pRg st="4" end="4"/>
                                            </p:txEl>
                                          </p:spTgt>
                                        </p:tgtEl>
                                        <p:attrNameLst>
                                          <p:attrName>style.visibility</p:attrName>
                                        </p:attrNameLst>
                                      </p:cBhvr>
                                      <p:to>
                                        <p:strVal val="visible"/>
                                      </p:to>
                                    </p:set>
                                    <p:animEffect transition="in" filter="fade">
                                      <p:cBhvr>
                                        <p:cTn id="16"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Correlation Does Not Mean Causation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91640"/>
            <a:ext cx="11338560" cy="13716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buNone/>
            </a:pPr>
            <a:r>
              <a:rPr sz="2600" b="1">
                <a:solidFill>
                  <a:srgbClr val="0B2B4E"/>
                </a:solidFill>
                <a:latin typeface="Calibri"/>
              </a:rPr>
              <a:t>Newspaper headline:  </a:t>
            </a:r>
            <a:r>
              <a:rPr sz="2600" i="1">
                <a:solidFill>
                  <a:srgbClr val="0B2B4E"/>
                </a:solidFill>
                <a:latin typeface="Calibri"/>
              </a:rPr>
              <a:t>"Drinking Three Cups of Coffee a Day Reduces Risk of Heart Attack”  </a:t>
            </a:r>
            <a:r>
              <a:rPr sz="2000">
                <a:solidFill>
                  <a:srgbClr val="0B2B4E"/>
                </a:solidFill>
                <a:latin typeface="Calibri"/>
              </a:rPr>
              <a:t>(causal statement)</a:t>
            </a:r>
          </a:p>
        </p:txBody>
      </p:sp>
      <p:pic>
        <p:nvPicPr>
          <p:cNvPr id="8" name="Picture 7" descr="image16.png"/>
          <p:cNvPicPr>
            <a:picLocks noChangeAspect="1"/>
          </p:cNvPicPr>
          <p:nvPr/>
        </p:nvPicPr>
        <p:blipFill>
          <a:blip r:embed="rId2"/>
          <a:stretch>
            <a:fillRect/>
          </a:stretch>
        </p:blipFill>
        <p:spPr>
          <a:xfrm>
            <a:off x="4892040" y="3017520"/>
            <a:ext cx="2377440" cy="1576346"/>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389159" y="5074920"/>
            <a:ext cx="11338560" cy="11887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buNone/>
            </a:pPr>
            <a:r>
              <a:rPr sz="2400" b="1">
                <a:solidFill>
                  <a:srgbClr val="0070C0"/>
                </a:solidFill>
                <a:latin typeface="Calibri"/>
              </a:rPr>
              <a:t>Actual finding in study: </a:t>
            </a:r>
            <a:r>
              <a:rPr sz="2400" i="1">
                <a:solidFill>
                  <a:srgbClr val="0070C0"/>
                </a:solidFill>
                <a:latin typeface="Calibri"/>
              </a:rPr>
              <a:t>"Among coffee drinkers, there is a smaller risk of serious cardiovascular diseases”</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C2A3D6DF-E3F9-5513-AEB0-3E3022388832}" type="slidenum">
              <a:rPr lang="en-US" sz="1200" dirty="0">
                <a:solidFill>
                  <a:srgbClr val="555B66"/>
                </a:solidFill>
                <a:latin typeface="Calibri"/>
              </a:rPr>
              <a:t>53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Correlation Does Not Mean Causation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45920"/>
            <a:ext cx="11338560"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buNone/>
            </a:pPr>
            <a:r>
              <a:rPr sz="2600" b="1">
                <a:solidFill>
                  <a:srgbClr val="0B2B4E"/>
                </a:solidFill>
                <a:latin typeface="Calibri"/>
              </a:rPr>
              <a:t>Potential Problem: </a:t>
            </a:r>
            <a:r>
              <a:rPr sz="2600">
                <a:solidFill>
                  <a:srgbClr val="0B2B4E"/>
                </a:solidFill>
                <a:latin typeface="Calibri"/>
              </a:rPr>
              <a:t>other factors (e.g., lifestyle) are driving the correlation</a:t>
            </a:r>
          </a:p>
        </p:txBody>
      </p:sp>
      <p:pic>
        <p:nvPicPr>
          <p:cNvPr id="8" name="Picture 7" descr="image18.png"/>
          <p:cNvPicPr>
            <a:picLocks noChangeAspect="1"/>
          </p:cNvPicPr>
          <p:nvPr/>
        </p:nvPicPr>
        <p:blipFill>
          <a:blip r:embed="rId2"/>
          <a:stretch>
            <a:fillRect/>
          </a:stretch>
        </p:blipFill>
        <p:spPr>
          <a:xfrm>
            <a:off x="4709160" y="2560320"/>
            <a:ext cx="2834640" cy="1637579"/>
          </a:xfrm>
          <a:prstGeom prst="roundRect">
            <a:avLst>
              <a:gd name="adj" fmla="val 8000"/>
            </a:avLst>
          </a:prstGeom>
          <a:effectLst>
            <a:outerShdw blurRad="50800" dist="38100" dir="2700000" algn="tl" rotWithShape="0">
              <a:srgbClr val="000000">
                <a:alpha val="50000"/>
              </a:srgbClr>
            </a:outerShdw>
          </a:effectLst>
        </p:spPr>
      </p:pic>
      <p:pic>
        <p:nvPicPr>
          <p:cNvPr id="9" name="Picture 8" descr="image19.jpg"/>
          <p:cNvPicPr>
            <a:picLocks noChangeAspect="1"/>
          </p:cNvPicPr>
          <p:nvPr/>
        </p:nvPicPr>
        <p:blipFill>
          <a:blip r:embed="rId3"/>
          <a:stretch>
            <a:fillRect/>
          </a:stretch>
        </p:blipFill>
        <p:spPr>
          <a:xfrm>
            <a:off x="2788920" y="4617720"/>
            <a:ext cx="1737360" cy="1737360"/>
          </a:xfrm>
          <a:prstGeom prst="roundRect">
            <a:avLst>
              <a:gd name="adj" fmla="val 8000"/>
            </a:avLst>
          </a:prstGeom>
          <a:effectLst>
            <a:outerShdw blurRad="50800" dist="38100" dir="2700000" algn="tl" rotWithShape="0">
              <a:srgbClr val="000000">
                <a:alpha val="50000"/>
              </a:srgbClr>
            </a:outerShdw>
          </a:effectLst>
        </p:spPr>
      </p:pic>
      <p:pic>
        <p:nvPicPr>
          <p:cNvPr id="10" name="Picture 9" descr="image16.png"/>
          <p:cNvPicPr>
            <a:picLocks noChangeAspect="1"/>
          </p:cNvPicPr>
          <p:nvPr/>
        </p:nvPicPr>
        <p:blipFill>
          <a:blip r:embed="rId4"/>
          <a:stretch>
            <a:fillRect/>
          </a:stretch>
        </p:blipFill>
        <p:spPr>
          <a:xfrm>
            <a:off x="7543800" y="4572000"/>
            <a:ext cx="1828800" cy="1212574"/>
          </a:xfrm>
          <a:prstGeom prst="roundRect">
            <a:avLst>
              <a:gd name="adj" fmla="val 8000"/>
            </a:avLst>
          </a:prstGeom>
          <a:effectLst>
            <a:outerShdw blurRad="50800" dist="38100" dir="2700000" algn="tl" rotWithShape="0">
              <a:srgbClr val="000000">
                <a:alpha val="50000"/>
              </a:srgbClr>
            </a:outerShdw>
          </a:effectLst>
        </p:spPr>
      </p:pic>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6B316F47-2D5B-5841-BECC-F01A646B7EC0}" type="slidenum">
              <a:rPr lang="en-US" sz="1200" dirty="0">
                <a:solidFill>
                  <a:srgbClr val="555B66"/>
                </a:solidFill>
                <a:latin typeface="Calibri"/>
              </a:rPr>
              <a:t>54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Spurious Correlations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20.png"/>
          <p:cNvPicPr>
            <a:picLocks noChangeAspect="1"/>
          </p:cNvPicPr>
          <p:nvPr/>
        </p:nvPicPr>
        <p:blipFill>
          <a:blip r:embed="rId2"/>
          <a:stretch>
            <a:fillRect/>
          </a:stretch>
        </p:blipFill>
        <p:spPr>
          <a:xfrm>
            <a:off x="2423160" y="1600200"/>
            <a:ext cx="7315200" cy="2351314"/>
          </a:xfrm>
          <a:prstGeom prst="roundRect">
            <a:avLst>
              <a:gd name="adj" fmla="val 8000"/>
            </a:avLst>
          </a:prstGeom>
          <a:effectLst>
            <a:outerShdw blurRad="50800" dist="38100" dir="2700000" algn="tl" rotWithShape="0">
              <a:srgbClr val="000000">
                <a:alpha val="50000"/>
              </a:srgbClr>
            </a:outerShdw>
          </a:effectLst>
        </p:spPr>
      </p:pic>
      <p:sp>
        <p:nvSpPr>
          <p:cNvPr id="8" name="TextBox 7"/>
          <p:cNvSpPr txBox="1"/>
          <p:nvPr/>
        </p:nvSpPr>
        <p:spPr>
          <a:xfrm>
            <a:off x="2423160" y="5989320"/>
            <a:ext cx="7315200" cy="320040"/>
          </a:xfrm>
          <a:prstGeom prst="rect">
            <a:avLst/>
          </a:prstGeom>
          <a:noFill/>
        </p:spPr>
        <p:txBody>
          <a:bodyPr wrap="square" lIns="0" rIns="0" tIns="0" bIns="0">
            <a:spAutoFit/>
          </a:bodyPr>
          <a:lstStyle/>
          <a:p>
            <a:pPr algn="ctr"/>
            <a:r>
              <a:rPr sz="1300" b="0" i="1" u="none">
                <a:solidFill>
                  <a:srgbClr val="555B66"/>
                </a:solidFill>
                <a:latin typeface="Calibri"/>
              </a:rPr>
              <a:t>tylervigen.com/spurious-correlations</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92F0233B-FA12-5BD7-869B-26D085D25AB3}" type="slidenum">
              <a:rPr lang="en-US" sz="1200" dirty="0">
                <a:solidFill>
                  <a:srgbClr val="555B66"/>
                </a:solidFill>
                <a:latin typeface="Calibri"/>
              </a:rPr>
              <a:t>55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Randomization Is Key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2331720"/>
            <a:ext cx="9418320" cy="2377440"/>
          </a:xfrm>
          <a:prstGeom prst="rect">
            <a:avLst/>
          </a:prstGeom>
          <a:noFill/>
        </p:spPr>
        <p:txBody>
          <a:bodyPr wrap="square" lIns="0" rIns="0" tIns="0" bIns="0">
            <a:spAutoFit/>
          </a:bodyPr>
          <a:lstStyle>
            <a:lvl1pPr marL="342900" indent="-342900">
              <a:spcBef>
                <a:spcPts val="2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Randomizing prices ensures that </a:t>
            </a:r>
            <a:r>
              <a:rPr b="1">
                <a:latin typeface="Calibri"/>
              </a:rPr>
              <a:t>“all else is equal”</a:t>
            </a:r>
            <a:r>
              <a:rPr>
                <a:latin typeface="Calibri"/>
              </a:rPr>
              <a:t> other than the price change</a:t>
            </a:r>
          </a:p>
          <a:p>
            <a:pPr algn="l"/>
            <a:r>
              <a:rPr>
                <a:latin typeface="Calibri"/>
              </a:rPr>
              <a:t>Allows us to estimate the </a:t>
            </a:r>
            <a:r>
              <a:rPr b="1">
                <a:solidFill>
                  <a:srgbClr val="0070C0"/>
                </a:solidFill>
                <a:latin typeface="Calibri"/>
              </a:rPr>
              <a:t>causal effect</a:t>
            </a:r>
            <a:r>
              <a:rPr>
                <a:latin typeface="Calibri"/>
              </a:rPr>
              <a:t> of price on quantity demanded  →  the demand curve!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1C9AF297-709C-5291-9F97-67F6EA752D3C}" type="slidenum">
              <a:rPr lang="en-US" sz="1200" dirty="0">
                <a:solidFill>
                  <a:srgbClr val="555B66"/>
                </a:solidFill>
                <a:latin typeface="Calibri"/>
              </a:rPr>
              <a:t>56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Summary</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Module 2: Summary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1</a:t>
            </a:r>
          </a:p>
        </p:txBody>
      </p:sp>
      <p:sp>
        <p:nvSpPr>
          <p:cNvPr id="8" name="TextBox 7"/>
          <p:cNvSpPr txBox="1"/>
          <p:nvPr/>
        </p:nvSpPr>
        <p:spPr>
          <a:xfrm>
            <a:off x="1874519" y="149504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The law of demand</a:t>
            </a:r>
          </a:p>
          <a:p>
            <a:pPr algn="l">
              <a:spcBef>
                <a:spcPts val="0"/>
              </a:spcBef>
              <a:buNone/>
            </a:pPr>
            <a:r>
              <a:rPr sz="2200">
                <a:solidFill>
                  <a:srgbClr val="555B66"/>
                </a:solidFill>
                <a:latin typeface="Calibri"/>
              </a:rPr>
              <a:t>When the price falls, quantity demanded rises – holding everything else constant</a:t>
            </a:r>
          </a:p>
        </p:txBody>
      </p:sp>
      <p:sp>
        <p:nvSpPr>
          <p:cNvPr id="9" name="Oval 8"/>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2</a:t>
            </a:r>
          </a:p>
        </p:txBody>
      </p:sp>
      <p:sp>
        <p:nvSpPr>
          <p:cNvPr id="10" name="TextBox 9"/>
          <p:cNvSpPr txBox="1"/>
          <p:nvPr/>
        </p:nvSpPr>
        <p:spPr>
          <a:xfrm>
            <a:off x="1874519" y="232714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Elasticities</a:t>
            </a:r>
          </a:p>
          <a:p>
            <a:pPr algn="l">
              <a:spcBef>
                <a:spcPts val="0"/>
              </a:spcBef>
              <a:buNone/>
            </a:pPr>
            <a:r>
              <a:rPr sz="2200">
                <a:solidFill>
                  <a:srgbClr val="555B66"/>
                </a:solidFill>
                <a:latin typeface="Calibri"/>
              </a:rPr>
              <a:t>How strongly demand responds to price, income, and the prices of other goods</a:t>
            </a:r>
          </a:p>
        </p:txBody>
      </p:sp>
      <p:sp>
        <p:nvSpPr>
          <p:cNvPr id="11" name="Oval 10"/>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3</a:t>
            </a:r>
          </a:p>
        </p:txBody>
      </p:sp>
      <p:sp>
        <p:nvSpPr>
          <p:cNvPr id="12" name="TextBox 11"/>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and revenue</a:t>
            </a:r>
          </a:p>
          <a:p>
            <a:pPr algn="l">
              <a:spcBef>
                <a:spcPts val="0"/>
              </a:spcBef>
              <a:buNone/>
            </a:pPr>
            <a:r>
              <a:rPr sz="2200">
                <a:solidFill>
                  <a:srgbClr val="555B66"/>
                </a:solidFill>
                <a:latin typeface="Calibri"/>
              </a:rPr>
              <a:t>How the demand curve translates into total revenue</a:t>
            </a:r>
          </a:p>
        </p:txBody>
      </p:sp>
      <p:sp>
        <p:nvSpPr>
          <p:cNvPr id="13" name="Oval 12"/>
          <p:cNvSpPr/>
          <p:nvPr/>
        </p:nvSpPr>
        <p:spPr>
          <a:xfrm>
            <a:off x="1051560" y="400964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4</a:t>
            </a:r>
          </a:p>
        </p:txBody>
      </p:sp>
      <p:sp>
        <p:nvSpPr>
          <p:cNvPr id="14" name="TextBox 13"/>
          <p:cNvSpPr txBox="1"/>
          <p:nvPr/>
        </p:nvSpPr>
        <p:spPr>
          <a:xfrm>
            <a:off x="1874519"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Elasticity and revenue</a:t>
            </a:r>
          </a:p>
          <a:p>
            <a:pPr algn="l">
              <a:spcBef>
                <a:spcPts val="0"/>
              </a:spcBef>
              <a:buNone/>
            </a:pPr>
            <a:r>
              <a:rPr sz="2200">
                <a:solidFill>
                  <a:srgbClr val="555B66"/>
                </a:solidFill>
                <a:latin typeface="Calibri"/>
              </a:rPr>
              <a:t>When a price increase raises revenue – and when it backfires</a:t>
            </a:r>
          </a:p>
        </p:txBody>
      </p:sp>
      <p:sp>
        <p:nvSpPr>
          <p:cNvPr id="15" name="Oval 14"/>
          <p:cNvSpPr/>
          <p:nvPr/>
        </p:nvSpPr>
        <p:spPr>
          <a:xfrm>
            <a:off x="1051560" y="4841748"/>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5</a:t>
            </a:r>
          </a:p>
        </p:txBody>
      </p:sp>
      <p:sp>
        <p:nvSpPr>
          <p:cNvPr id="16" name="TextBox 15"/>
          <p:cNvSpPr txBox="1"/>
          <p:nvPr/>
        </p:nvSpPr>
        <p:spPr>
          <a:xfrm>
            <a:off x="1874519"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Marginal revenue</a:t>
            </a:r>
          </a:p>
          <a:p>
            <a:pPr algn="l">
              <a:spcBef>
                <a:spcPts val="0"/>
              </a:spcBef>
              <a:buNone/>
            </a:pPr>
            <a:r>
              <a:rPr sz="2200">
                <a:solidFill>
                  <a:srgbClr val="555B66"/>
                </a:solidFill>
                <a:latin typeface="Calibri"/>
              </a:rPr>
              <a:t>The extra revenue from selling one more unit</a:t>
            </a:r>
          </a:p>
        </p:txBody>
      </p:sp>
      <p:sp>
        <p:nvSpPr>
          <p:cNvPr id="17" name="Oval 16"/>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6</a:t>
            </a:r>
          </a:p>
        </p:txBody>
      </p:sp>
      <p:sp>
        <p:nvSpPr>
          <p:cNvPr id="18" name="TextBox 17"/>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estimation</a:t>
            </a:r>
          </a:p>
          <a:p>
            <a:pPr algn="l">
              <a:spcBef>
                <a:spcPts val="0"/>
              </a:spcBef>
              <a:buNone/>
            </a:pPr>
            <a:r>
              <a:rPr sz="2200">
                <a:solidFill>
                  <a:srgbClr val="555B66"/>
                </a:solidFill>
                <a:latin typeface="Calibri"/>
              </a:rPr>
              <a:t>Measuring demand from data – market experiments and regression</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2" name="TextBox 21"/>
          <p:cNvSpPr txBox="1"/>
          <p:nvPr/>
        </p:nvSpPr>
        <p:spPr>
          <a:xfrm>
            <a:off x="11475720" y="6583680"/>
            <a:ext cx="502920" cy="292608"/>
          </a:xfrm>
          <a:prstGeom prst="rect">
            <a:avLst/>
          </a:prstGeom>
          <a:noFill/>
        </p:spPr>
        <p:txBody>
          <a:bodyPr wrap="none" lIns="0" rIns="0" tIns="0" bIns="0">
            <a:spAutoFit/>
          </a:bodyPr>
          <a:lstStyle/>
          <a:p>
            <a:pPr algn="r"/>
            <a:fld id="{D92316FE-AD83-5987-BDF5-E5C35205586B}" type="slidenum">
              <a:rPr lang="en-US" sz="1200" dirty="0">
                <a:solidFill>
                  <a:srgbClr val="555B66"/>
                </a:solidFill>
                <a:latin typeface="Calibri"/>
              </a:rPr>
              <a:t>57</a:t>
            </a:fld>
          </a:p>
        </p:txBody>
      </p:sp>
    </p:spTree>
  </p:cSld>
  <p:clrMapOvr>
    <a:masterClrMapping/>
  </p:clrMapOvr>
</p:sld>
</file>

<file path=ppt/tags/pe09_tag4.xml><?xml version="1.0" encoding="utf-8"?>
<p:tagLst xmlns:a="http://schemas.openxmlformats.org/drawingml/2006/main" xmlns:r="http://schemas.openxmlformats.org/officeDocument/2006/relationships" xmlns:p="http://schemas.openxmlformats.org/presentationml/2006/main">
  <p:tag name="__PE_POLL_EMBED_ID" val="a6592fc1-ec85-4109-9e4e-5b8c920328e0"/>
</p:tagLst>
</file>

<file path=ppt/tags/pe28_tag7.xml><?xml version="1.0" encoding="utf-8"?>
<p:tagLst xmlns:a="http://schemas.openxmlformats.org/drawingml/2006/main" xmlns:r="http://schemas.openxmlformats.org/officeDocument/2006/relationships" xmlns:p="http://schemas.openxmlformats.org/presentationml/2006/main">
  <p:tag name="__PE_POLL_EMBED_ID" val="18e6fcfd-d35d-4aad-adb6-3ccc2d988d8f"/>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