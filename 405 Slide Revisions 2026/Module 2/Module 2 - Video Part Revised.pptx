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pe04_notes.xml" ContentType="application/vnd.openxmlformats-officedocument.presentationml.notesSlide+xml"/>
  <Override PartName="/ppt/notesSlides/pe06_notes.xml" ContentType="application/vnd.openxmlformats-officedocument.presentationml.notesSlide+xml"/>
  <Override PartName="/ppt/notesSlides/pe22_notes.xml" ContentType="application/vnd.openxmlformats-officedocument.presentationml.notesSlide+xml"/>
  <Override PartName="/ppt/tags/pe22_tag1.xml" ContentType="application/vnd.openxmlformats-officedocument.presentationml.tags+xml"/>
  <Override PartName="/ppt/notesSlides/pe24_notes.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pe04_notes.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pe06_notes.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pe22_notes.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pe24_notes.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p>
            <a:r>
              <a:t>When you lower your price and move down the demand curve, there are two effects on revenues: 1) a positive effect from more quantity sold and 2) a negative effect from a lower price per unit. Which area is bigger? It depends on the elasticity of demand.</a:t>
            </a:r>
          </a:p>
          <a:p>
            <a:r>
              <a:t> </a:t>
            </a:r>
          </a:p>
          <a:p>
            <a:r>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t> </a:t>
            </a:r>
          </a:p>
          <a:p>
            <a:r>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t> </a:t>
            </a:r>
          </a:p>
          <a:p>
            <a:r>
              <a:t>Does that mean that profits are maximized when E_d=-1? No. When E_d=-1, revenues are maximized. Marginal revenue is zero. That is not the same as MR=MC. Only when MR=MC are profits maximized. Usually, this is when E_d&lt;-1, i.e. in the elastic zone of the demand curve, where MR is positive and allows you to cover marginal cost. You only want to stop at MR=0 (E_d=-1) if MC=0.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p>
            <a:r>
              <a:t>When you lower your price and move down the demand curve, there are two effects on revenues: 1) a positive effect from more quantity sold and 2) a negative effect from a lower price per unit. Which area is bigger? It depends on the elasticity of demand.</a:t>
            </a:r>
          </a:p>
          <a:p>
            <a:r>
              <a:t> </a:t>
            </a:r>
          </a:p>
          <a:p>
            <a:r>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t> </a:t>
            </a:r>
          </a:p>
          <a:p>
            <a:r>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t> </a:t>
            </a:r>
          </a:p>
          <a:p>
            <a:r>
              <a:t>Does that mean that profits are maximized when E_d=-1? No. When E_d=-1, revenues are maximized. Marginal revenue is zero. That is not the same as MR=MC. Only when MR=MC are profits maximized. Usually, this is when E_d&lt;-1, i.e. in the elastic zone of the demand curve, where MR is positive and allows you to cover marginal cost. You only want to stop at MR=0 (E_d=-1) if MC=0.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p>
            <a:r>
              <a:t>When you lower your price and move down the demand curve, there are two effects on revenues: 1) a positive effect from more quantity sold and 2) a negative effect from a lower price per unit. Which area is bigger? It depends on the elasticity of demand.</a:t>
            </a:r>
          </a:p>
          <a:p>
            <a:r>
              <a:t> </a:t>
            </a:r>
          </a:p>
          <a:p>
            <a:r>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t> </a:t>
            </a:r>
          </a:p>
          <a:p>
            <a:r>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t> </a:t>
            </a:r>
          </a:p>
          <a:p>
            <a:r>
              <a:t>Does that mean that profits are maximized when E_d=-1? No. When E_d=-1, revenues are maximized. Marginal revenue is zero. That is not the same as MR=MC. Only when MR=MC are profits maximized. Usually, this is when E_d&lt;-1, i.e. in the elastic zone of the demand curve, where MR is positive and allows you to cover marginal cost. You only want to stop at MR=0 (E_d=-1) if MC=0.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current example, from early 2026: under a deal with the White House, Novo Nordisk cut the U.S. self-pay price of Ozempic and Wegovy from $499 to $349 a month. The company then guided 2026 sales revenues down by 5 to 13%. Ask yourself what a price cut that REDUCES revenue tells you about the elasticity of demand.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step further: profit is revenue minus costs. The price cut reduced revenue, and because quantity sold rises, production costs rise too — so profits fall on both ends. The market agreed: when Novo Nordisk warned in February 2026 that lower U.S. prices would push 2026 sales and operating profit down 5 to 13%, its shares tumbled about 18%.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live example from 2025: McDonald's and its U.S. franchisees agreed to cut combo-meal prices by about 15% relative to buying the items separately, and extended the value menu in 2026. Notable detail for the franchisee question: McDonald's set aside roughly $35 million to compensate operators hit by the lower prices — side payments to align incentives across locations with different demand elasticities.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Mega Millions. Method 1 gave us an elasticity of about −0.47 — inelastic — which suggests the price increase should raise revenue. In fact, revenue per drawing FELL from roughly $3.8 million to $2.8 million. The catch: the price rose 150%, and Method 1 is a small-change approximation. With changes this large, the initial-point elasticity and the revenue rule based on it can point the wrong way — a good reason to be careful before applying the rule to big price moves.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Marginal Revenue = Marginal Cost when Demand is Linear</a:t>
            </a:r>
          </a:p>
          <a:p>
            <a:r>
              <a:t>To set MR=MC, you need to know MC. For now, we assume a constant marginal cost: MC=$200. The harder part is MR. What is marginal revenue? In words, it is the change in revenues when you sell one more unit of the good. To get there, we want to find out what total revenue is only as a function of Q, so that we can take the derivative of revenue with respect to Q. </a:t>
            </a:r>
          </a:p>
          <a:p/>
          <a:p>
            <a:r>
              <a:t>Let's write down a specific demand function and work through an example using this demand function:</a:t>
            </a:r>
          </a:p>
          <a:p>
            <a:r>
              <a:t>Q=1600-4P</a:t>
            </a:r>
          </a:p>
          <a:p/>
          <a:p>
            <a:r>
              <a:t>The Recipe</a:t>
            </a:r>
          </a:p>
          <a:p>
            <a:r>
              <a:t>There are three steps to get to the mathematical answer for MR. You can apply this recipe whenever you face this type of problem:</a:t>
            </a:r>
          </a:p>
          <a:p/>
          <a:p>
            <a:r>
              <a:t>Invert your demand. That's the inconvenient legacy of Alfred Marshall that I mentioned in class:</a:t>
            </a:r>
          </a:p>
          <a:p>
            <a:r>
              <a:t>P=400 - 1/4 Q</a:t>
            </a:r>
          </a:p>
          <a:p>
            <a:r>
              <a:t>(If you're wondering what I did here, I just took our demand function, put P on the left side, Q on the right side and divided everything by 4).</a:t>
            </a:r>
          </a:p>
          <a:p/>
          <a:p>
            <a:r>
              <a:t>Write down total revenue. What's total revenue? It is P times Q. So:</a:t>
            </a:r>
          </a:p>
          <a:p>
            <a:r>
              <a:t>PQ=400Q-1/4 * Q^2</a:t>
            </a:r>
          </a:p>
          <a:p>
            <a:r>
              <a:t>(Here I just multiplied the previous equation by Q: easy!)</a:t>
            </a:r>
          </a:p>
          <a:p/>
          <a:p>
            <a:r>
              <a:t>Find Marginal Revenue. That's the hardest step. It entails taking the derivative of PQ with respect to Q. You may or may not know any calculus. But (I promise!) you can do this even if you don't know any calculus. All you need to know is that the derivative of Q with respect to Q is 1, and that the derivative of Q2 with respect to Q is 2Q:</a:t>
            </a:r>
          </a:p>
          <a:p/>
          <a:p>
            <a:r>
              <a:t>MR=(∆PQ)/∆Q=400-1/2Q</a:t>
            </a:r>
          </a:p>
          <a:p/>
          <a:p>
            <a:r>
              <a:t>So now we have MR. You will notice that MR has twice the slope of the inverse demand function. The slope of the inverse demand function is -1/4 and the slope of MR is -1/2. When demand is linear, MR is always twice as steep as demand.  </a:t>
            </a:r>
          </a:p>
          <a:p>
            <a:r>
              <a:t> </a:t>
            </a:r>
          </a:p>
          <a:p>
            <a:r>
              <a:t>Where MR=0, demand is unit elastic</a:t>
            </a:r>
          </a:p>
          <a:p>
            <a:r>
              <a:t> </a:t>
            </a:r>
          </a:p>
          <a:p>
            <a:r>
              <a:t>Try to understand intuitively why the elasticity of demand is exactly -1 when MR=0!</a:t>
            </a:r>
          </a:p>
          <a:p/>
          <a:p>
            <a:r>
              <a:t>Total revenue is maximized where E_d=-1. If MR&gt;0, then TR must be rising as Q increases. If MR&lt;0, then TR must be declining. </a:t>
            </a:r>
          </a:p>
          <a:p>
            <a:r>
              <a:t> </a:t>
            </a:r>
          </a:p>
          <a:p>
            <a:r>
              <a:t>Note that your goal is to maximize profits, not total revenue. A consideration of costs matters.</a:t>
            </a:r>
          </a:p>
          <a:p/>
          <a:p>
            <a:r>
              <a:t>Now we set MR equal to MC ($200) and we are done:</a:t>
            </a:r>
          </a:p>
          <a:p>
            <a:r>
              <a:t>MR=MC</a:t>
            </a:r>
          </a:p>
          <a:p>
            <a:r>
              <a:t>400-12Q=200</a:t>
            </a:r>
          </a:p>
          <a:p>
            <a:r>
              <a:t>Q=400</a:t>
            </a:r>
          </a:p>
          <a:p/>
          <a:p>
            <a:r>
              <a:t>So now we know that maximizing profits entails setting Q=400. What about the price P? Well, that's easy to find: our price-quantity combination must be located on the demand curve. So from the inverse demand we derived earlier, we find:</a:t>
            </a:r>
          </a:p>
          <a:p/>
          <a:p>
            <a:r>
              <a:t>P=400-1/4Q=400-100=$300</a:t>
            </a:r>
          </a:p>
          <a:p/>
          <a:p>
            <a:r>
              <a:t>Maximizing profits, here, entails setting Q=400 units and P=$300.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isn’t MR just P? </a:t>
            </a:r>
          </a:p>
          <a:p/>
          <a:p>
            <a:r>
              <a:t>For a firm with market power (which we will assume here), they will face downward sloping demand. In order to sell additional unit, it will have to lower the price. It will lower the price not just for the marginal unit, but for all units. This reduces the revenue the firm receives for the other units it sells. When computing the marginal revenue from the additional unit, it must also subtract the loss it suffers on every other unit.</a:t>
            </a:r>
          </a:p>
          <a:p/>
          <a:p>
            <a:r>
              <a:t>Is there any situation under which MR=P? </a:t>
            </a:r>
          </a:p>
          <a:p/>
          <a:p>
            <a:r>
              <a:t>Infinite elasticity. When the good is perfectly elastic, a firm doesn’t have to lower the price in order to sell more goods [quantity doesn’t depend on price]; the firm can sell any amount at a given price, so marginal revenue just equals P. This is known as perfect competition, which we will return to in the second half of the course when we discuss market power.</a:t>
            </a:r>
          </a:p>
          <a:p/>
          <a:p>
            <a:r>
              <a:t>Can MR be negative? </a:t>
            </a:r>
          </a:p>
          <a:p/>
          <a:p>
            <a:r>
              <a:t>Yes! In the left side of this plot, we see that MR is negative. To the right of the point of unit elasticity, TR is declining, meaning that each additional unit contributes negatively. That is another way of saying that MR is negative.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can say that we'll focus on market experimentation = cleanest way + increasingly ued thanks to new technologies + we'll discuss at the end why better than using transaction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camelcamelcamel.com is a free Amazon price tracker. It has followed Amazon listings since 2008 and plots the price history of a single product, marking the highest and lowest price it has ever recorded. The blue line on this slide is one listing over about five months, and the point is how restless it is: the price moves almost daily and swings between roughly $35 and $84 for the same item.</a:t>
            </a:r>
          </a:p>
          <a:p/>
          <a:p>
            <a:r>
              <a:t>That is the illustration. Amazon is not running one A/B test and then settling on an answer, the way the previous slide's classic experiment does. It re-prices continuously, so the price variation we would need to estimate a demand curve is being generated all the time. The flip side is the warning that comes a few slides later: these price moves are not randomized, so quantity differences across high- and low-price days also reflect whatever else changed on those days (a holiday, a competitor's promotion, a stock-out).</a:t>
            </a:r>
          </a:p>
          <a:p/>
          <a:p>
            <a:r>
              <a:t>The product above the chart is a Labubu, in case that name means nothing to you. Labubu is a character - an elf-like creature with pointed ears and a wide, serrated grin - created by the Hong Kong illustrator Kasing Lung for his picture-book series THE MONSTERS, which he started in 2015 and drew from Nordic folklore. In 2019 Lung signed an exclusive licence with Pop Mart, a Chinese designer-toy company, which turned the character into small vinyl and plush collectibles sold in BLIND BOXES: you pay for a sealed box and only find out which variant of the series you got when you open it, with one rare 'secret' version per case.</a:t>
            </a:r>
          </a:p>
          <a:p/>
          <a:p>
            <a:r>
              <a:t>From about 2024 the toys became a global craze, helped by celebrities photographed with one clipped to a handbag, and Pop Mart's Labubu lines have been a large part of its revenue growth. The one on this slide is from the Coca-Cola collaboration series. That background is exactly why the price line is so restless: supply comes in limited drops, demand is faddish, and the listing gets re-priced constantly. Nothing in the economics turns on the product, though - any item with a volatile price would make the same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basic equation is a demand equation: Q=a+bP. We expect b&lt;0, because that determines that the own-price elasticity is negative.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intercept term is the value of a: horizontal intercept. When the price is zero you sell 479 units.</a:t>
            </a:r>
          </a:p>
          <a:p/>
          <a:p>
            <a:r>
              <a:t>The price has a negative coefficient: b=-1.64. Price and volume are inversely related, as in a demand function. For every unit you drop the price, you get a 1.64 unit expansion in volume sold.</a:t>
            </a:r>
          </a:p>
          <a:p/>
          <a:p>
            <a:r>
              <a:t>So now we have our values for a and b, respectively.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can we do better than an R2 of 0.59? Yes. Economics tells us a lot of other things besides your own price drive demand: income, price of substitutes, how much you spend on promotion and advertising, etc. So let’s include them in the regression and see what happens. -&gt; even if we have randomized prices, these factors might change and including them will increase precisions</a:t>
            </a:r>
          </a:p>
          <a:p>
            <a:r>
              <a:t> </a:t>
            </a:r>
          </a:p>
          <a:p>
            <a:r>
              <a:t>The multivariate model includes two additional regressors or independent variables:</a:t>
            </a:r>
          </a:p>
          <a:p/>
          <a:p>
            <a:r>
              <a:t>1. There is a competitor with a substitute product available (say United versus American)</a:t>
            </a:r>
          </a:p>
          <a:p>
            <a:r>
              <a:t>2. You have data on average income in the US at the time of the sales. That is a factor that influences demand (what is the expected direction? Positive if air travel is a normal good).</a:t>
            </a:r>
          </a:p>
          <a:p>
            <a:r>
              <a:t> </a:t>
            </a:r>
          </a:p>
          <a:p>
            <a:r>
              <a:t>Move to multiple regression module of the Excel workbook. Units are $ for price but an index for the income level. Run a multivariate regression of quantity on own price, price of substitute and income. The dependent variable stays the same, the independent variables now include Y and Pc.</a:t>
            </a:r>
          </a:p>
          <a:p/>
          <a:p>
            <a:r>
              <a:t>On Problem Set 2, you will have the opportunity to run a regression, and interpret and use the coefficients!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has changed? </a:t>
            </a:r>
          </a:p>
          <a:p>
            <a:r>
              <a:t> </a:t>
            </a:r>
          </a:p>
          <a:p>
            <a:r>
              <a:t>The coefficient on Pc, which is dQ/dPc, equals 1.04. This indicates how my quantity sold changes with a one unit change in the competitor’s price. Since the product is a substitute, I expect a positive sign, which is what we get.</a:t>
            </a:r>
          </a:p>
          <a:p/>
          <a:p>
            <a:r>
              <a:t>The coefficient on Y is 3.09 indicating a normal good. For every 1 point increase in the index of income, you get a 3.09 increase in airline seats sold.</a:t>
            </a:r>
          </a:p>
          <a:p/>
          <a:p>
            <a:r>
              <a:t>You can derive elasticities from these numbers.</a:t>
            </a:r>
          </a:p>
          <a:p/>
          <a:p>
            <a:r>
              <a:t>There is not much meaning to the intercept here – value of Q is all the independent variables are zero.</a:t>
            </a:r>
          </a:p>
          <a:p/>
          <a:p>
            <a:r>
              <a:t>Note that R2 (which is not stated on this slide) is now up to 0.88, which mean 88% of the variation in Q is explained by our model, so we are doing much better. R2 always goes up when you include more variables, but how much it goes up matters.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reported statistics (by Excel, R, or Stata) are interesting. </a:t>
            </a:r>
          </a:p>
          <a:p/>
          <a:p>
            <a:r>
              <a:t>— The first is a measure of FIT. The better the overall fit, the closer the data points are to the regression line, i.e. the regression line captures a lot of the variation in the data. A measure of what we can explain. Here R2 is about 60%. We can explain 60% of the variation in quantity only using the price. Not bad, but there is room for improvement – 40% to be precise. The logical next step is to try to explain more. You can do that by adding more variables on the right hand side. If all the points were exactly on the regression line, we would have R2=1. Needless to say, that is almost never the case.</a:t>
            </a:r>
          </a:p>
          <a:p/>
          <a:p>
            <a:r>
              <a:t>The second set of statistics measure statistical significance – i.e. how precisely each individual coefficient is measured. You can look at the standard error of your estimate, or the t-statistic that is simply the coefficient divided by the standard error. The rule of thumb is you want the absolute value of the t-statistic to be greater than 2 – for enough precision you want your coefficient to be twice the magnitude of its standard error. Then you can be 95% certain that the true coefficient is different from zero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basic equation is a demand equation: Q=a+bP. We expect b&lt;0, because that determines that the own-price elasticity is negative.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show the graph to say that when MR is negative it means you are in the inelastic portion and in this portion you always want to increase the price + we can ask them</a:t>
            </a:r>
          </a:p>
          <a:p>
            <a:r>
              <a:t>Then which value do you expect for the elasticity at the current price (should answer absolute value below 1)</a:t>
            </a:r>
          </a:p>
          <a:p>
            <a:r>
              <a:t>How would you compute it? + if time could be done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call this omitted variable bias. </a:t>
            </a:r>
          </a:p>
          <a:p/>
          <a:p>
            <a:r>
              <a:t>https://www.thegreatcoursesdaily.com/correlation-or-causality-wine-and-heart-health/ </a:t>
            </a:r>
          </a:p>
          <a:p>
            <a:r>
              <a:t>“But experts warn that the two studies, both published in the Annals of Internal Medicine, do not show that drinking coffee was behind the overall lower risk, pointing out that it could be that coffee drinkers are healthier in various ways or that those who are unwell drink less coffee. In addition, levels of coffee drinking were self-reported.”</a:t>
            </a:r>
          </a:p>
        </p:txBody>
      </p:sp>
      <p:sp>
        <p:nvSpPr>
          <p:cNvPr id="4" name="Slide Number Placeholder 3"/>
          <p:cNvSpPr>
            <a:spLocks noGrp="1"/>
          </p:cNvSpPr>
          <p:nvPr>
            <p:ph type="sldNum" idx="5" sz="quarter"/>
          </p:nvPr>
        </p:nvSpPr>
        <p:spPr/>
      </p:sp>
    </p:spTree>
  </p:cSld>
  <p:clrMapOvr>
    <a:masterClrMapping/>
  </p:clrMapOvr>
</p:notes>
</file>

<file path=ppt/notesSlides/pe04_notes.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a:p>
          <a:p>
            <a:r>
              <a:t>When you lower your price and move down the demand curve, there are two effects on revenues: 1) a positive effect from more quantity sold and 2) a negative effect from a lower price per unit. Which area is bigger? It depends on the elasticity of demand.</a:t>
            </a:r>
          </a:p>
          <a:p>
            <a:r>
              <a:t> </a:t>
            </a:r>
          </a:p>
          <a:p>
            <a:r>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t> </a:t>
            </a:r>
          </a:p>
          <a:p>
            <a:r>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t> </a:t>
            </a:r>
          </a:p>
          <a:p>
            <a:r>
              <a:t>Does that mean that profits are maximized when E_d=-1? No. When E_d=-1, revenues are maximized. Marginal revenue is zero. That is not the same as MR=MC. Only when MR=MC are profits maximized. Usually, this is when E_d&lt;-1, i.e. in the elastic zone of the demand curve, where MR is positive and allows you to cover marginal cost. You only want to stop at MR=0 (E_d=-1) if MC=0.</a:t>
            </a:r>
          </a:p>
        </p:txBody>
      </p:sp>
      <p:sp>
        <p:nvSpPr>
          <p:cNvPr id="4" name="Slide Number Placeholder 3"/>
          <p:cNvSpPr>
            <a:spLocks noGrp="1"/>
          </p:cNvSpPr>
          <p:nvPr>
            <p:ph type="sldNum" sz="quarter" idx="5"/>
          </p:nvPr>
        </p:nvSpPr>
        <p:spPr/>
      </p:sp>
    </p:spTree>
  </p:cSld>
  <p:clrMapOvr>
    <a:masterClrMapping/>
  </p:clrMapOvr>
</p:notes>
</file>

<file path=ppt/notesSlides/pe06_notes.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dirty="0"/>
          </a:p>
          <a:p>
            <a:r>
              <a:rPr dirty="0"/>
              <a:t>When you lower your price and move down the demand curve, there are two effects on revenues: 1) a positive effect from more quantity sold and 2) a negative effect from a lower price per unit. Which area is bigger? It depends on the elasticity of demand.</a:t>
            </a:r>
            <a:endParaRPr lang="en-US" dirty="0"/>
          </a:p>
          <a:p>
            <a:endParaRPr lang="en-US" dirty="0"/>
          </a:p>
          <a:p>
            <a:r>
              <a:rPr lang="en-US" dirty="0"/>
              <a:t>This is a powerful idea! If you know whether your demand is elastic or inelastic, you can predict whether revenues will rise of fall when you reduce prices (or vice-versa when you raise prices)</a:t>
            </a:r>
            <a:endParaRPr dirty="0"/>
          </a:p>
          <a:p>
            <a:r>
              <a:rPr dirty="0"/>
              <a:t> </a:t>
            </a:r>
          </a:p>
          <a:p>
            <a:r>
              <a:rPr dirty="0"/>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dirty="0"/>
              <a:t> </a:t>
            </a:r>
          </a:p>
          <a:p>
            <a:r>
              <a:rPr dirty="0"/>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dirty="0"/>
              <a:t> </a:t>
            </a:r>
          </a:p>
          <a:p>
            <a:r>
              <a:rPr dirty="0"/>
              <a:t>Does that mean that profits are maximized when </a:t>
            </a:r>
            <a:r>
              <a:rPr dirty="0" err="1"/>
              <a:t>E_d</a:t>
            </a:r>
            <a:r>
              <a:rPr dirty="0"/>
              <a:t>=-1? No. When </a:t>
            </a:r>
            <a:r>
              <a:rPr dirty="0" err="1"/>
              <a:t>E_d</a:t>
            </a:r>
            <a:r>
              <a:rPr dirty="0"/>
              <a:t>=-1, revenues are maximized. Marginal revenue is zero. That is not the same as MR=MC. Only when MR=MC are profits maximized. Usually, this is when </a:t>
            </a:r>
            <a:r>
              <a:rPr dirty="0" err="1"/>
              <a:t>E_d</a:t>
            </a:r>
            <a:r>
              <a:rPr dirty="0"/>
              <a:t>&lt;-1, i.e. in the elastic zone of the demand curve, where MR is positive and allows you to cover marginal cost. You only want to stop at MR=0 (</a:t>
            </a:r>
            <a:r>
              <a:rPr dirty="0" err="1"/>
              <a:t>E_d</a:t>
            </a:r>
            <a:r>
              <a:rPr dirty="0"/>
              <a:t>=-1) if MC=0.</a:t>
            </a:r>
          </a:p>
        </p:txBody>
      </p:sp>
      <p:sp>
        <p:nvSpPr>
          <p:cNvPr id="4" name="Slide Number Placeholder 3"/>
          <p:cNvSpPr>
            <a:spLocks noGrp="1"/>
          </p:cNvSpPr>
          <p:nvPr>
            <p:ph type="sldNum" sz="quarter" idx="5"/>
          </p:nvPr>
        </p:nvSpPr>
        <p:spPr/>
      </p:sp>
    </p:spTree>
  </p:cSld>
  <p:clrMapOvr>
    <a:masterClrMapping/>
  </p:clrMapOvr>
</p:notes>
</file>

<file path=ppt/notesSlides/pe22_notes.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Poll Title: Do not modify the notes in this section to avoid tampering with the Poll Everywhere activity.
More info at polleverywhere.com/support
What is Marginal Revenue when Q=10-0.5P
https://www.polleverywhere.com/multiple_choice_polls/hj1ivMTBaXH6hMPPQBFLc?state=opened&amp;flow=Default&amp;onscreen=persist</a:t>
            </a:r>
          </a:p>
        </p:txBody>
      </p:sp>
      <p:sp>
        <p:nvSpPr>
          <p:cNvPr id="4" name="Slide Number Placeholder 3"/>
          <p:cNvSpPr>
            <a:spLocks noGrp="1"/>
          </p:cNvSpPr>
          <p:nvPr>
            <p:ph type="sldNum" sz="quarter" idx="5"/>
          </p:nvPr>
        </p:nvSpPr>
        <p:spPr/>
        <p:txBody>
          <a:bodyPr/>
          <a:lstStyle/>
          <a:p>
            <a:fld id="{60C3D31B-DD57-42B7-9C93-DCA493AC4DBB}" type="slidenum">
              <a:rPr lang="en-US" smtClean="0"/>
              <a:t>7</a:t>
            </a:fld>
            <a:endParaRPr lang="en-US"/>
          </a:p>
        </p:txBody>
      </p:sp>
      <p:sp>
        <p:nvSpPr>
          <p:cNvPr id="5" name="TextBox 4">
            <a:extLst>
              <a:ext uri="{FF2B5EF4-FFF2-40B4-BE49-F238E27FC236}">
                <a16:creationId xmlns:a16="http://schemas.microsoft.com/office/drawing/2014/main" id="{4BAE4AED-870C-8506-3058-B13FAD3552F5}"/>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960208122"/>
      </p:ext>
    </p:extLst>
  </p:cSld>
  <p:clrMapOvr>
    <a:masterClrMapping/>
  </p:clrMapOvr>
</p:notes>
</file>

<file path=ppt/notesSlides/pe24_notes.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isn’t MR just P? </a:t>
            </a:r>
          </a:p>
          <a:p>
            <a:endParaRPr/>
          </a:p>
          <a:p>
            <a:r>
              <a:t>For a firm with market power (which we will assume here), they will face downward sloping demand. In order to sell additional unit, it will have to lower the price. It will lower the price not just for the marginal unit, but for all units. This reduces the revenue the firm receives for the other units it sells. When computing the marginal revenue from the additional unit, it must also subtract the loss it suffers on every other unit.</a:t>
            </a:r>
          </a:p>
          <a:p>
            <a:endParaRPr/>
          </a:p>
          <a:p>
            <a:r>
              <a:t>Is there any situation under which MR=P? </a:t>
            </a:r>
          </a:p>
          <a:p>
            <a:endParaRPr/>
          </a:p>
          <a:p>
            <a:r>
              <a:t>Infinite elasticity. When the good is perfectly elastic, a firm doesn’t have to lower the price in order to sell more goods [quantity doesn’t depend on price]; the firm can sell any amount at a given price, so marginal revenue just equals P. This is known as perfect competition, which we will return to in the second half of the course when we discuss market power.</a:t>
            </a:r>
          </a:p>
          <a:p>
            <a:endParaRPr/>
          </a:p>
          <a:p>
            <a:r>
              <a:t>Can MR be negative? </a:t>
            </a:r>
          </a:p>
          <a:p>
            <a:endParaRPr/>
          </a:p>
          <a:p>
            <a:r>
              <a:t>Yes! In the left side of this plot, we see that MR is negative. To the right of the point of unit elasticity, TR is declining, meaning that each additional unit contributes negatively. That is another way of saying that MR is negative.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pe04_notes.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pe06_notes.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hyperlink" Target="https://www.pharmaceutical-technology.com/news/trump-hits-long-term-pledge-as-us-prices-of-weight-loss-drugs-slash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hyperlink" Target="https://www.pharmaceutical-technology.com/news/novo-nordisk-shares-tumble-18-after-2026-sales-dip-warn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pe22_notes.xml" /><Relationship Id="rId3" Type="http://schemas.openxmlformats.org/officeDocument/2006/relationships/tags" Target="../tags/pe22_tag1.xml" /><Relationship Id="rId4" Type="http://schemas.openxmlformats.org/officeDocument/2006/relationships/image" Target="../media/pe22_image1.png"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pe24_notes.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1.xml"/><Relationship Id="rId5" Type="http://schemas.openxmlformats.org/officeDocument/2006/relationships/hyperlink" Target="https://camelcamelcamel.com/product/B0DRVPMBX3"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9.png"/><Relationship Id="rId4" Type="http://schemas.openxmlformats.org/officeDocument/2006/relationships/image" Target="../media/image1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9.xml"/><Relationship Id="rId5" Type="http://schemas.openxmlformats.org/officeDocument/2006/relationships/hyperlink" Target="https://www.tylervigen.com/spurious-correlation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920240"/>
            <a:ext cx="12191695" cy="1005840"/>
          </a:xfrm>
          <a:prstGeom prst="rect">
            <a:avLst/>
          </a:prstGeom>
          <a:noFill/>
        </p:spPr>
        <p:txBody>
          <a:bodyPr wrap="square" lIns="0" rIns="0" tIns="0" bIns="0">
            <a:spAutoFit/>
          </a:bodyPr>
          <a:lstStyle/>
          <a:p>
            <a:pPr algn="ctr"/>
            <a:r>
              <a:rPr sz="6000" b="1" i="0" u="none">
                <a:solidFill>
                  <a:srgbClr val="0B2B4E"/>
                </a:solidFill>
                <a:latin typeface="Calibri"/>
              </a:rPr>
              <a:t>Elasticity and Revenue</a:t>
            </a:r>
          </a:p>
        </p:txBody>
      </p:sp>
      <p:sp>
        <p:nvSpPr>
          <p:cNvPr id="3" name="TextBox 2"/>
          <p:cNvSpPr txBox="1"/>
          <p:nvPr/>
        </p:nvSpPr>
        <p:spPr>
          <a:xfrm>
            <a:off x="0" y="2971800"/>
            <a:ext cx="12191695" cy="685800"/>
          </a:xfrm>
          <a:prstGeom prst="rect">
            <a:avLst/>
          </a:prstGeom>
          <a:noFill/>
        </p:spPr>
        <p:txBody>
          <a:bodyPr wrap="square" lIns="0" rIns="0" tIns="0" bIns="0">
            <a:spAutoFit/>
          </a:bodyPr>
          <a:lstStyle/>
          <a:p>
            <a:pPr algn="ctr"/>
            <a:r>
              <a:rPr sz="4000" b="1" i="0" u="none">
                <a:solidFill>
                  <a:srgbClr val="E09F3E"/>
                </a:solidFill>
                <a:latin typeface="Calibri"/>
              </a:rPr>
              <a:t>Module 2  ·  Video 1</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4224528"/>
            <a:ext cx="12191695" cy="502920"/>
          </a:xfrm>
          <a:prstGeom prst="rect">
            <a:avLst/>
          </a:prstGeom>
          <a:noFill/>
        </p:spPr>
        <p:txBody>
          <a:bodyPr wrap="square" lIns="0" rIns="0" t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rIns="0" t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8010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Law of Demand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Rounded Rectangle 10"/>
          <p:cNvSpPr/>
          <p:nvPr/>
        </p:nvSpPr>
        <p:spPr>
          <a:xfrm>
            <a:off x="822960" y="3104388"/>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and Revenue</a:t>
            </a:r>
          </a:p>
          <a:p>
            <a:pPr algn="l">
              <a:spcBef>
                <a:spcPts val="0"/>
              </a:spcBef>
              <a:buNone/>
            </a:pPr>
            <a:r>
              <a:rPr sz="2200">
                <a:solidFill>
                  <a:srgbClr val="555B66"/>
                </a:solidFill>
                <a:latin typeface="Calibri"/>
              </a:rPr>
              <a:t>How the demand curve translates into total revenue</a:t>
            </a:r>
          </a:p>
        </p:txBody>
      </p:sp>
      <p:sp>
        <p:nvSpPr>
          <p:cNvPr id="14" name="Rounded Rectangle 13"/>
          <p:cNvSpPr/>
          <p:nvPr/>
        </p:nvSpPr>
        <p:spPr>
          <a:xfrm>
            <a:off x="1252728" y="3936492"/>
            <a:ext cx="10680192"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B2B4E"/>
                </a:solidFill>
                <a:latin typeface="Calibri"/>
              </a:rPr>
              <a:t>3a</a:t>
            </a:r>
          </a:p>
        </p:txBody>
      </p:sp>
      <p:sp>
        <p:nvSpPr>
          <p:cNvPr id="16" name="TextBox 15"/>
          <p:cNvSpPr txBox="1"/>
          <p:nvPr/>
        </p:nvSpPr>
        <p:spPr>
          <a:xfrm>
            <a:off x="2084831"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Elasticity and Revenue</a:t>
            </a:r>
          </a:p>
          <a:p>
            <a:pPr algn="l">
              <a:spcBef>
                <a:spcPts val="0"/>
              </a:spcBef>
              <a:buNone/>
            </a:pPr>
            <a:r>
              <a:rPr sz="2200">
                <a:solidFill>
                  <a:srgbClr val="555B66"/>
                </a:solidFill>
                <a:latin typeface="Calibri"/>
              </a:rPr>
              <a:t>When a price increase raises revenue – and when it backfires</a:t>
            </a:r>
          </a:p>
        </p:txBody>
      </p:sp>
      <p:sp>
        <p:nvSpPr>
          <p:cNvPr id="17" name="Oval 16"/>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BFBFBF"/>
                </a:solidFill>
                <a:latin typeface="Calibri"/>
              </a:rPr>
              <a:t>3b</a:t>
            </a:r>
          </a:p>
        </p:txBody>
      </p:sp>
      <p:sp>
        <p:nvSpPr>
          <p:cNvPr id="18" name="TextBox 17"/>
          <p:cNvSpPr txBox="1"/>
          <p:nvPr/>
        </p:nvSpPr>
        <p:spPr>
          <a:xfrm>
            <a:off x="2084831" y="490852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Marginal Revenue</a:t>
            </a:r>
          </a:p>
        </p:txBody>
      </p:sp>
      <p:sp>
        <p:nvSpPr>
          <p:cNvPr id="19" name="Oval 18"/>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20" name="TextBox 19"/>
          <p:cNvSpPr txBox="1"/>
          <p:nvPr/>
        </p:nvSpPr>
        <p:spPr>
          <a:xfrm>
            <a:off x="1874519" y="574062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Demand Estimation</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4" name="TextBox 23"/>
          <p:cNvSpPr txBox="1"/>
          <p:nvPr/>
        </p:nvSpPr>
        <p:spPr>
          <a:xfrm>
            <a:off x="11475720" y="6583680"/>
            <a:ext cx="502920" cy="292608"/>
          </a:xfrm>
          <a:prstGeom prst="rect">
            <a:avLst/>
          </a:prstGeom>
          <a:noFill/>
        </p:spPr>
        <p:txBody>
          <a:bodyPr wrap="none" lIns="0" rIns="0" tIns="0" bIns="0">
            <a:spAutoFit/>
          </a:bodyPr>
          <a:lstStyle/>
          <a:p>
            <a:pPr algn="r"/>
            <a:fld id="{B87BF060-47E1-5372-A36E-4FBB75A5DA1F}" type="slidenum">
              <a:rPr lang="en-US" sz="1200" dirty="0">
                <a:solidFill>
                  <a:srgbClr val="555B66"/>
                </a:solidFill>
                <a:latin typeface="Calibri"/>
              </a:rPr>
              <a:t>2</a:t>
            </a:fld>
          </a:p>
        </p:txBody>
      </p:sp>
      <p:sp>
        <p:nvSpPr>
          <p:cNvPr id="25" name="Rounded Rectangle 24"/>
          <p:cNvSpPr/>
          <p:nvPr/>
        </p:nvSpPr>
        <p:spPr>
          <a:xfrm>
            <a:off x="7498079" y="5735116"/>
            <a:ext cx="4480560" cy="658368"/>
          </a:xfrm>
          <a:prstGeom prst="roundRect">
            <a:avLst>
              <a:gd name="adj" fmla="val 20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0B2B4E"/>
                </a:solidFill>
                <a:latin typeface="Calibri"/>
              </a:rPr>
              <a:t>▶  Teaching Note – Demand Elasticity and Total Revenue
On BL under “Module 2 Post-Work”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Plotting the (Inverse)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5870448"/>
            <a:ext cx="11064240" cy="356616"/>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i="1">
                <a:solidFill>
                  <a:srgbClr val="555B66"/>
                </a:solidFill>
                <a:latin typeface="Calibri"/>
              </a:rPr>
              <a:t>Note: this is the (inverse) demand function that a single </a:t>
            </a:r>
            <a:r>
              <a:rPr sz="2300" b="1" i="1">
                <a:solidFill>
                  <a:srgbClr val="0B2B4E"/>
                </a:solidFill>
                <a:latin typeface="Calibri"/>
              </a:rPr>
              <a:t>firm</a:t>
            </a:r>
            <a:r>
              <a:rPr sz="2300" i="1">
                <a:solidFill>
                  <a:srgbClr val="555B66"/>
                </a:solidFill>
                <a:latin typeface="Calibri"/>
              </a:rPr>
              <a:t> faces</a:t>
            </a:r>
          </a:p>
        </p:txBody>
      </p:sp>
      <p:cxnSp>
        <p:nvCxnSpPr>
          <p:cNvPr id="8" name="Connector 7"/>
          <p:cNvCxnSpPr/>
          <p:nvPr/>
        </p:nvCxnSpPr>
        <p:spPr>
          <a:xfrm flipV="1">
            <a:off x="1005840" y="1545335"/>
            <a:ext cx="0" cy="3803905"/>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05840" y="5349240"/>
            <a:ext cx="5925312"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4088" y="1344168"/>
            <a:ext cx="603504" cy="310896"/>
          </a:xfrm>
          <a:prstGeom prst="rect">
            <a:avLst/>
          </a:prstGeom>
          <a:noFill/>
        </p:spPr>
        <p:txBody>
          <a:bodyPr wrap="square" lIns="0" rIns="0" tIns="0" bIns="0">
            <a:spAutoFit/>
          </a:bodyPr>
          <a:lstStyle/>
          <a:p>
            <a:pPr algn="l"/>
            <a:r>
              <a:rPr sz="1900" b="1" i="1" u="none">
                <a:solidFill>
                  <a:srgbClr val="0B2B4E"/>
                </a:solidFill>
                <a:latin typeface="Calibri"/>
              </a:rPr>
              <a:t>P</a:t>
            </a:r>
          </a:p>
        </p:txBody>
      </p:sp>
      <p:sp>
        <p:nvSpPr>
          <p:cNvPr id="11" name="TextBox 10"/>
          <p:cNvSpPr txBox="1"/>
          <p:nvPr/>
        </p:nvSpPr>
        <p:spPr>
          <a:xfrm>
            <a:off x="6464808" y="5440680"/>
            <a:ext cx="603504" cy="292608"/>
          </a:xfrm>
          <a:prstGeom prst="rect">
            <a:avLst/>
          </a:prstGeom>
          <a:noFill/>
        </p:spPr>
        <p:txBody>
          <a:bodyPr wrap="square" lIns="0" rIns="0" tIns="0" bIns="0">
            <a:spAutoFit/>
          </a:bodyPr>
          <a:lstStyle/>
          <a:p>
            <a:pPr algn="l"/>
            <a:r>
              <a:rPr sz="1900" b="1" i="1" u="none">
                <a:solidFill>
                  <a:srgbClr val="0B2B4E"/>
                </a:solidFill>
                <a:latin typeface="Calibri"/>
              </a:rPr>
              <a:t>Q</a:t>
            </a:r>
          </a:p>
        </p:txBody>
      </p:sp>
      <p:grpSp>
        <p:nvGrpSpPr>
          <p:cNvPr id="121" name="Group pair 121"/>
          <p:cNvGrpSpPr/>
          <p:nvPr/>
        </p:nvGrpSpPr>
        <p:grpSpPr>
          <a:xfrm>
            <a:off x="27432" y="2264236"/>
            <a:ext cx="7315200" cy="3414187"/>
            <a:chOff x="27432" y="2264236"/>
            <a:chExt cx="7315200" cy="3414187"/>
          </a:xfrm>
        </p:grpSpPr>
        <p:cxnSp>
          <p:nvCxnSpPr>
            <p:cNvPr id="12" name="Connector 11"/>
            <p:cNvCxnSpPr/>
            <p:nvPr/>
          </p:nvCxnSpPr>
          <p:spPr>
            <a:xfrm>
              <a:off x="1005840" y="2392252"/>
              <a:ext cx="4744750" cy="2956988"/>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 y="2264236"/>
              <a:ext cx="868680" cy="274320"/>
            </a:xfrm>
            <a:prstGeom prst="rect">
              <a:avLst/>
            </a:prstGeom>
            <a:noFill/>
          </p:spPr>
          <p:txBody>
            <a:bodyPr wrap="square" lIns="0" rIns="0" tIns="0" bIns="0">
              <a:spAutoFit/>
            </a:bodyPr>
            <a:lstStyle/>
            <a:p>
              <a:pPr algn="r"/>
              <a:r>
                <a:rPr sz="1800" b="0" i="0" u="none">
                  <a:solidFill>
                    <a:srgbClr val="0B2B4E"/>
                  </a:solidFill>
                  <a:latin typeface="Calibri"/>
                </a:rPr>
                <a:t>$400</a:t>
              </a:r>
            </a:p>
          </p:txBody>
        </p:sp>
        <p:sp>
          <p:nvSpPr>
            <p:cNvPr id="14" name="TextBox 13"/>
            <p:cNvSpPr txBox="1"/>
            <p:nvPr/>
          </p:nvSpPr>
          <p:spPr>
            <a:xfrm>
              <a:off x="5293390" y="5404103"/>
              <a:ext cx="914400" cy="274320"/>
            </a:xfrm>
            <a:prstGeom prst="rect">
              <a:avLst/>
            </a:prstGeom>
            <a:noFill/>
          </p:spPr>
          <p:txBody>
            <a:bodyPr wrap="square" lIns="0" rIns="0" tIns="0" bIns="0">
              <a:spAutoFit/>
            </a:bodyPr>
            <a:lstStyle/>
            <a:p>
              <a:pPr algn="ctr"/>
              <a:r>
                <a:rPr sz="1800" b="0" i="0" u="none">
                  <a:solidFill>
                    <a:srgbClr val="0B2B4E"/>
                  </a:solidFill>
                  <a:latin typeface="Calibri"/>
                </a:rPr>
                <a:t>1600</a:t>
              </a:r>
            </a:p>
          </p:txBody>
        </p:sp>
        <p:sp>
          <p:nvSpPr>
            <p:cNvPr id="15" name="TextBox 14"/>
            <p:cNvSpPr txBox="1"/>
            <p:nvPr/>
          </p:nvSpPr>
          <p:spPr>
            <a:xfrm>
              <a:off x="5879592" y="5038344"/>
              <a:ext cx="1463040" cy="310896"/>
            </a:xfrm>
            <a:prstGeom prst="rect">
              <a:avLst/>
            </a:prstGeom>
            <a:noFill/>
          </p:spPr>
          <p:txBody>
            <a:bodyPr wrap="square" lIns="0" rIns="0" tIns="0" bIns="0">
              <a:spAutoFit/>
            </a:bodyPr>
            <a:lstStyle/>
            <a:p>
              <a:pPr algn="l"/>
              <a:r>
                <a:rPr sz="2000" b="1" i="0" u="none">
                  <a:solidFill>
                    <a:srgbClr val="0B2B4E"/>
                  </a:solidFill>
                  <a:latin typeface="Calibri"/>
                </a:rPr>
                <a:t>D</a:t>
              </a:r>
            </a:p>
          </p:txBody>
        </p:sp>
      </p:grpSp>
      <p:grpSp>
        <p:nvGrpSpPr>
          <p:cNvPr id="122" name="Group pair 122"/>
          <p:cNvGrpSpPr/>
          <p:nvPr/>
        </p:nvGrpSpPr>
        <p:grpSpPr>
          <a:xfrm>
            <a:off x="7498079" y="1783080"/>
            <a:ext cx="3657600" cy="2971800"/>
            <a:chOff x="7498079" y="1783080"/>
            <a:chExt cx="3657600" cy="2971800"/>
          </a:xfrm>
        </p:grpSpPr>
        <p:sp>
          <p:nvSpPr>
            <p:cNvPr id="16" name="Rounded Rectangle 15"/>
            <p:cNvSpPr/>
            <p:nvPr/>
          </p:nvSpPr>
          <p:spPr>
            <a:xfrm>
              <a:off x="7498079" y="1783080"/>
              <a:ext cx="3657600" cy="2971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59" y="1892808"/>
              <a:ext cx="3291840" cy="2752344"/>
            </a:xfrm>
            <a:prstGeom prst="rect">
              <a:avLst/>
            </a:prstGeom>
            <a:noFill/>
          </p:spPr>
          <p:txBody>
            <a:bodyPr wrap="square" lIns="45720" rIns="45720" tIns="0" bIns="0" anchor="ctr">
              <a:spAutoFit/>
            </a:bodyPr>
            <a:lstStyle/>
            <a:p>
              <a:pPr algn="ctr"/>
              <a:r>
                <a:rPr sz="1900" b="1" i="0" u="none">
                  <a:solidFill>
                    <a:srgbClr val="0B2B4E"/>
                  </a:solidFill>
                  <a:latin typeface="Calibri"/>
                </a:rPr>
                <a:t>Demand function</a:t>
              </a:r>
              <a:r>
                <a:rPr sz="2200" b="0" i="1" u="none">
                  <a:solidFill>
                    <a:srgbClr val="0B2B4E"/>
                  </a:solidFill>
                  <a:latin typeface="Calibri"/>
                </a:rPr>
                <a:t>
Q = 1,600 − 4P</a:t>
              </a:r>
              <a:r>
                <a:rPr sz="1200" b="0" i="0" u="none">
                  <a:solidFill>
                    <a:srgbClr val="0B2B4E"/>
                  </a:solidFill>
                  <a:latin typeface="Calibri"/>
                </a:rPr>
                <a:t>
</a:t>
              </a:r>
              <a:r>
                <a:rPr sz="1900" b="1" i="1" u="none">
                  <a:solidFill>
                    <a:srgbClr val="0B2B4E"/>
                  </a:solidFill>
                  <a:latin typeface="Calibri"/>
                </a:rPr>
                <a:t>
Rearrange for P: </a:t>
              </a:r>
              <a:r>
                <a:rPr sz="1900" b="1" i="0" u="none">
                  <a:solidFill>
                    <a:srgbClr val="0B2B4E"/>
                  </a:solidFill>
                  <a:latin typeface="Calibri"/>
                </a:rPr>
                <a:t>
Inverse demand function</a:t>
              </a:r>
              <a:r>
                <a:rPr sz="2200" b="1" i="1" u="none">
                  <a:solidFill>
                    <a:srgbClr val="0B2B4E"/>
                  </a:solidFill>
                  <a:latin typeface="Calibri"/>
                </a:rPr>
                <a:t>
P = 400 − Q/4</a:t>
              </a:r>
            </a:p>
            <a:p>
              <a:pPr algn="ctr"/>
              <a:r>
                <a:rPr sz="1400" b="0" i="0" u="none">
                  <a:solidFill>
                    <a:srgbClr val="0B2B4E"/>
                  </a:solidFill>
                  <a:latin typeface="Calibri"/>
                </a:rPr>
                <a:t>[this is what we plot]</a:t>
              </a:r>
            </a:p>
          </p:txBody>
        </p:sp>
      </p:gr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1" name="TextBox 20"/>
          <p:cNvSpPr txBox="1"/>
          <p:nvPr/>
        </p:nvSpPr>
        <p:spPr>
          <a:xfrm>
            <a:off x="11475720" y="6583680"/>
            <a:ext cx="502920" cy="292608"/>
          </a:xfrm>
          <a:prstGeom prst="rect">
            <a:avLst/>
          </a:prstGeom>
          <a:noFill/>
        </p:spPr>
        <p:txBody>
          <a:bodyPr wrap="none" lIns="0" rIns="0" tIns="0" bIns="0">
            <a:spAutoFit/>
          </a:bodyPr>
          <a:lstStyle/>
          <a:p>
            <a:pPr algn="r"/>
            <a:fld id="{E483B8E3-9AB7-5D66-AC98-1C6603CE0F26}" type="slidenum">
              <a:rPr lang="en-US" sz="1200" dirty="0">
                <a:solidFill>
                  <a:srgbClr val="555B66"/>
                </a:solidFill>
                <a:latin typeface="Calibri"/>
              </a:rPr>
              <a:t>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
                                        </p:tgtEl>
                                        <p:attrNameLst>
                                          <p:attrName>style.visibility</p:attrName>
                                        </p:attrNameLst>
                                      </p:cBhvr>
                                      <p:to>
                                        <p:strVal val="visible"/>
                                      </p:to>
                                    </p:set>
                                    <p:animEffect transition="in" filter="fade">
                                      <p:cBhvr>
                                        <p:cTn id="7" dur="500"/>
                                        <p:tgtEl>
                                          <p:spTgt spid="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From Demand to Total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6" name="Group pair 136"/>
          <p:cNvGrpSpPr/>
          <p:nvPr/>
        </p:nvGrpSpPr>
        <p:grpSpPr>
          <a:xfrm>
            <a:off x="1024127" y="1252728"/>
            <a:ext cx="5541265" cy="2651760"/>
            <a:chOff x="1024127" y="1252728"/>
            <a:chExt cx="5541265" cy="2651760"/>
          </a:xfrm>
        </p:grpSpPr>
        <p:cxnSp>
          <p:nvCxnSpPr>
            <p:cNvPr id="8" name="Connector 7"/>
            <p:cNvCxnSpPr/>
            <p:nvPr/>
          </p:nvCxnSpPr>
          <p:spPr>
            <a:xfrm flipV="1">
              <a:off x="1325880" y="1453896"/>
              <a:ext cx="0" cy="2066544"/>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325880" y="3520440"/>
              <a:ext cx="4782312"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24127" y="1252728"/>
              <a:ext cx="603504" cy="31089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1" name="TextBox 10"/>
            <p:cNvSpPr txBox="1"/>
            <p:nvPr/>
          </p:nvSpPr>
          <p:spPr>
            <a:xfrm>
              <a:off x="5961888" y="3611880"/>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cxnSp>
        <p:nvCxnSpPr>
          <p:cNvPr id="12" name="Connector 11"/>
          <p:cNvCxnSpPr/>
          <p:nvPr/>
        </p:nvCxnSpPr>
        <p:spPr>
          <a:xfrm flipV="1">
            <a:off x="1325880" y="3785616"/>
            <a:ext cx="0" cy="2203704"/>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5989320"/>
            <a:ext cx="4782312"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24127" y="3584448"/>
            <a:ext cx="603504" cy="310896"/>
          </a:xfrm>
          <a:prstGeom prst="rect">
            <a:avLst/>
          </a:prstGeom>
          <a:noFill/>
        </p:spPr>
        <p:txBody>
          <a:bodyPr wrap="square" lIns="0" tIns="0" rIns="0" bIns="0">
            <a:spAutoFit/>
          </a:bodyPr>
          <a:lstStyle/>
          <a:p>
            <a:pPr algn="l"/>
            <a:r>
              <a:rPr sz="1700" b="1" i="1" u="none">
                <a:solidFill>
                  <a:srgbClr val="0B2B4E"/>
                </a:solidFill>
                <a:latin typeface="Calibri"/>
              </a:rPr>
              <a:t>TR</a:t>
            </a:r>
          </a:p>
        </p:txBody>
      </p:sp>
      <p:sp>
        <p:nvSpPr>
          <p:cNvPr id="15" name="TextBox 14"/>
          <p:cNvSpPr txBox="1"/>
          <p:nvPr/>
        </p:nvSpPr>
        <p:spPr>
          <a:xfrm>
            <a:off x="5961888" y="6080759"/>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nvGrpSpPr>
          <p:cNvPr id="38" name="Group 37">
            <a:extLst>
              <a:ext uri="{FF2B5EF4-FFF2-40B4-BE49-F238E27FC236}">
                <a16:creationId xmlns:a16="http://schemas.microsoft.com/office/drawing/2014/main" id="{5DE6D8C1-ABD5-207B-0DC4-AF71BB3EF4D1}"/>
              </a:ext>
            </a:extLst>
          </p:cNvPr>
          <p:cNvGrpSpPr/>
          <p:nvPr/>
        </p:nvGrpSpPr>
        <p:grpSpPr>
          <a:xfrm>
            <a:off x="1325880" y="2781100"/>
            <a:ext cx="1878177" cy="739340"/>
            <a:chOff x="1325880" y="2781100"/>
            <a:chExt cx="1878177" cy="739340"/>
          </a:xfrm>
        </p:grpSpPr>
        <p:sp>
          <p:nvSpPr>
            <p:cNvPr id="7" name="Rectangle 6"/>
            <p:cNvSpPr/>
            <p:nvPr/>
          </p:nvSpPr>
          <p:spPr>
            <a:xfrm>
              <a:off x="1325880" y="2781100"/>
              <a:ext cx="1878171" cy="739340"/>
            </a:xfrm>
            <a:prstGeom prst="rect">
              <a:avLst/>
            </a:prstGeom>
            <a:solidFill>
              <a:srgbClr val="F6E8C9"/>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25880" y="2995574"/>
              <a:ext cx="1878177" cy="310896"/>
            </a:xfrm>
            <a:prstGeom prst="rect">
              <a:avLst/>
            </a:prstGeom>
            <a:noFill/>
          </p:spPr>
          <p:txBody>
            <a:bodyPr wrap="square" lIns="0" tIns="0" rIns="0" bIns="0">
              <a:spAutoFit/>
            </a:bodyPr>
            <a:lstStyle/>
            <a:p>
              <a:pPr algn="ctr"/>
              <a:r>
                <a:rPr sz="1600" b="1" i="0" u="none" dirty="0">
                  <a:solidFill>
                    <a:srgbClr val="0B2B4E"/>
                  </a:solidFill>
                  <a:latin typeface="Calibri"/>
                </a:rPr>
                <a:t>Total revenue</a:t>
              </a:r>
            </a:p>
          </p:txBody>
        </p:sp>
      </p:grpSp>
      <p:grpSp>
        <p:nvGrpSpPr>
          <p:cNvPr id="138" name="Group pair 138"/>
          <p:cNvGrpSpPr/>
          <p:nvPr/>
        </p:nvGrpSpPr>
        <p:grpSpPr>
          <a:xfrm>
            <a:off x="347471" y="1913744"/>
            <a:ext cx="6122823" cy="1935880"/>
            <a:chOff x="347471" y="1913744"/>
            <a:chExt cx="6122823" cy="1935880"/>
          </a:xfrm>
        </p:grpSpPr>
        <p:grpSp>
          <p:nvGrpSpPr>
            <p:cNvPr id="137" name="Group pair 137"/>
            <p:cNvGrpSpPr/>
            <p:nvPr/>
          </p:nvGrpSpPr>
          <p:grpSpPr>
            <a:xfrm>
              <a:off x="1325880" y="2041760"/>
              <a:ext cx="5144414" cy="1478680"/>
              <a:chOff x="1325880" y="2041760"/>
              <a:chExt cx="5144414" cy="1478680"/>
            </a:xfrm>
          </p:grpSpPr>
          <p:cxnSp>
            <p:nvCxnSpPr>
              <p:cNvPr id="19" name="Connector 18"/>
              <p:cNvCxnSpPr/>
              <p:nvPr/>
            </p:nvCxnSpPr>
            <p:spPr>
              <a:xfrm>
                <a:off x="1325880" y="2041760"/>
                <a:ext cx="3756343" cy="147868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07254" y="3173882"/>
                <a:ext cx="1463040" cy="261518"/>
              </a:xfrm>
              <a:prstGeom prst="rect">
                <a:avLst/>
              </a:prstGeom>
              <a:noFill/>
            </p:spPr>
            <p:txBody>
              <a:bodyPr wrap="square" lIns="0" tIns="0" rIns="0" bIns="0">
                <a:spAutoFit/>
              </a:bodyPr>
              <a:lstStyle/>
              <a:p>
                <a:pPr algn="l"/>
                <a:r>
                  <a:rPr sz="1700" b="1" i="0" u="none">
                    <a:solidFill>
                      <a:srgbClr val="0B2B4E"/>
                    </a:solidFill>
                    <a:latin typeface="Calibri"/>
                  </a:rPr>
                  <a:t>D</a:t>
                </a:r>
              </a:p>
            </p:txBody>
          </p:sp>
        </p:grpSp>
        <p:sp>
          <p:nvSpPr>
            <p:cNvPr id="21" name="TextBox 20"/>
            <p:cNvSpPr txBox="1"/>
            <p:nvPr/>
          </p:nvSpPr>
          <p:spPr>
            <a:xfrm>
              <a:off x="347471" y="1913744"/>
              <a:ext cx="868680" cy="274320"/>
            </a:xfrm>
            <a:prstGeom prst="rect">
              <a:avLst/>
            </a:prstGeom>
            <a:noFill/>
          </p:spPr>
          <p:txBody>
            <a:bodyPr wrap="square" lIns="0" tIns="0" rIns="0" bIns="0">
              <a:spAutoFit/>
            </a:bodyPr>
            <a:lstStyle/>
            <a:p>
              <a:pPr algn="r"/>
              <a:r>
                <a:rPr sz="1500" b="0" i="0" u="none" dirty="0">
                  <a:solidFill>
                    <a:srgbClr val="0B2B4E"/>
                  </a:solidFill>
                  <a:latin typeface="Calibri"/>
                </a:rPr>
                <a:t>$400</a:t>
              </a:r>
            </a:p>
          </p:txBody>
        </p:sp>
        <p:sp>
          <p:nvSpPr>
            <p:cNvPr id="22" name="TextBox 21"/>
            <p:cNvSpPr txBox="1"/>
            <p:nvPr/>
          </p:nvSpPr>
          <p:spPr>
            <a:xfrm>
              <a:off x="4625023" y="3575304"/>
              <a:ext cx="914400" cy="274320"/>
            </a:xfrm>
            <a:prstGeom prst="rect">
              <a:avLst/>
            </a:prstGeom>
            <a:noFill/>
          </p:spPr>
          <p:txBody>
            <a:bodyPr wrap="square" lIns="0" tIns="0" rIns="0" bIns="0">
              <a:spAutoFit/>
            </a:bodyPr>
            <a:lstStyle/>
            <a:p>
              <a:pPr algn="ctr"/>
              <a:r>
                <a:rPr sz="1500" b="0" i="0" u="none">
                  <a:solidFill>
                    <a:srgbClr val="0B2B4E"/>
                  </a:solidFill>
                  <a:latin typeface="Calibri"/>
                </a:rPr>
                <a:t>1600</a:t>
              </a:r>
            </a:p>
          </p:txBody>
        </p:sp>
      </p:grpSp>
      <p:grpSp>
        <p:nvGrpSpPr>
          <p:cNvPr id="37" name="Group 36">
            <a:extLst>
              <a:ext uri="{FF2B5EF4-FFF2-40B4-BE49-F238E27FC236}">
                <a16:creationId xmlns:a16="http://schemas.microsoft.com/office/drawing/2014/main" id="{B0EE42F8-DE3D-EC4A-8B1B-799E90AF2506}"/>
              </a:ext>
            </a:extLst>
          </p:cNvPr>
          <p:cNvGrpSpPr/>
          <p:nvPr/>
        </p:nvGrpSpPr>
        <p:grpSpPr>
          <a:xfrm>
            <a:off x="347471" y="2653084"/>
            <a:ext cx="3313780" cy="1196540"/>
            <a:chOff x="347471" y="2653084"/>
            <a:chExt cx="3313780" cy="1196540"/>
          </a:xfrm>
        </p:grpSpPr>
        <p:sp>
          <p:nvSpPr>
            <p:cNvPr id="17" name="TextBox 16"/>
            <p:cNvSpPr txBox="1"/>
            <p:nvPr/>
          </p:nvSpPr>
          <p:spPr>
            <a:xfrm>
              <a:off x="347471" y="2653084"/>
              <a:ext cx="868680" cy="274320"/>
            </a:xfrm>
            <a:prstGeom prst="rect">
              <a:avLst/>
            </a:prstGeom>
            <a:noFill/>
          </p:spPr>
          <p:txBody>
            <a:bodyPr wrap="square" lIns="0" tIns="0" rIns="0" bIns="0">
              <a:spAutoFit/>
            </a:bodyPr>
            <a:lstStyle/>
            <a:p>
              <a:pPr algn="r"/>
              <a:r>
                <a:rPr sz="1500" b="0" i="0" u="none" dirty="0">
                  <a:solidFill>
                    <a:srgbClr val="0B2B4E"/>
                  </a:solidFill>
                  <a:latin typeface="Calibri"/>
                </a:rPr>
                <a:t>200</a:t>
              </a:r>
            </a:p>
          </p:txBody>
        </p:sp>
        <p:sp>
          <p:nvSpPr>
            <p:cNvPr id="18" name="TextBox 17"/>
            <p:cNvSpPr txBox="1"/>
            <p:nvPr/>
          </p:nvSpPr>
          <p:spPr>
            <a:xfrm>
              <a:off x="2746851" y="3575304"/>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cxnSp>
          <p:nvCxnSpPr>
            <p:cNvPr id="23" name="Connector 22"/>
            <p:cNvCxnSpPr/>
            <p:nvPr/>
          </p:nvCxnSpPr>
          <p:spPr>
            <a:xfrm>
              <a:off x="1325880" y="2781100"/>
              <a:ext cx="1878171"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04051" y="2781100"/>
              <a:ext cx="0" cy="73934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36FEFCDC-C291-240C-55C6-0471EBD36762}"/>
              </a:ext>
            </a:extLst>
          </p:cNvPr>
          <p:cNvGrpSpPr/>
          <p:nvPr/>
        </p:nvGrpSpPr>
        <p:grpSpPr>
          <a:xfrm>
            <a:off x="1325880" y="3827669"/>
            <a:ext cx="4213543" cy="2490834"/>
            <a:chOff x="1325880" y="3827669"/>
            <a:chExt cx="4213543" cy="2490834"/>
          </a:xfrm>
        </p:grpSpPr>
        <p:sp>
          <p:nvSpPr>
            <p:cNvPr id="25" name="Rectangle 24"/>
            <p:cNvSpPr/>
            <p:nvPr/>
          </p:nvSpPr>
          <p:spPr>
            <a:xfrm>
              <a:off x="1325880" y="3827669"/>
              <a:ext cx="3756343" cy="2161651"/>
            </a:xfrm>
            <a:custGeom>
              <a:avLst/>
              <a:gdLst/>
              <a:ahLst/>
              <a:cxnLst/>
              <a:rect l="0" t="0" r="3756343" b="2161651"/>
              <a:pathLst>
                <a:path w="3756343" h="2161651">
                  <a:moveTo>
                    <a:pt x="0" y="2161651"/>
                  </a:moveTo>
                  <a:cubicBezTo>
                    <a:pt x="1252114" y="0"/>
                    <a:pt x="2504228" y="0"/>
                    <a:pt x="3756343" y="2161651"/>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4625023" y="6044183"/>
              <a:ext cx="914400" cy="274320"/>
            </a:xfrm>
            <a:prstGeom prst="rect">
              <a:avLst/>
            </a:prstGeom>
            <a:noFill/>
          </p:spPr>
          <p:txBody>
            <a:bodyPr wrap="square" lIns="0" tIns="0" rIns="0" bIns="0">
              <a:spAutoFit/>
            </a:bodyPr>
            <a:lstStyle/>
            <a:p>
              <a:pPr algn="ctr"/>
              <a:r>
                <a:rPr sz="1500" b="0" i="0" u="none" dirty="0">
                  <a:solidFill>
                    <a:srgbClr val="0B2B4E"/>
                  </a:solidFill>
                  <a:latin typeface="Calibri"/>
                </a:rPr>
                <a:t>1600</a:t>
              </a:r>
            </a:p>
          </p:txBody>
        </p:sp>
      </p:grpSp>
      <p:grpSp>
        <p:nvGrpSpPr>
          <p:cNvPr id="39" name="Group 38">
            <a:extLst>
              <a:ext uri="{FF2B5EF4-FFF2-40B4-BE49-F238E27FC236}">
                <a16:creationId xmlns:a16="http://schemas.microsoft.com/office/drawing/2014/main" id="{0C639F3B-2976-B6B5-03C1-847C68F1FFD0}"/>
              </a:ext>
            </a:extLst>
          </p:cNvPr>
          <p:cNvGrpSpPr/>
          <p:nvPr/>
        </p:nvGrpSpPr>
        <p:grpSpPr>
          <a:xfrm>
            <a:off x="347471" y="4240066"/>
            <a:ext cx="3313780" cy="2078437"/>
            <a:chOff x="347471" y="4240066"/>
            <a:chExt cx="3313780" cy="2078437"/>
          </a:xfrm>
        </p:grpSpPr>
        <p:sp>
          <p:nvSpPr>
            <p:cNvPr id="26" name="TextBox 25"/>
            <p:cNvSpPr txBox="1"/>
            <p:nvPr/>
          </p:nvSpPr>
          <p:spPr>
            <a:xfrm>
              <a:off x="347471" y="4240066"/>
              <a:ext cx="868680" cy="274320"/>
            </a:xfrm>
            <a:prstGeom prst="rect">
              <a:avLst/>
            </a:prstGeom>
            <a:noFill/>
          </p:spPr>
          <p:txBody>
            <a:bodyPr wrap="square" lIns="0" tIns="0" rIns="0" bIns="0">
              <a:spAutoFit/>
            </a:bodyPr>
            <a:lstStyle/>
            <a:p>
              <a:pPr algn="r"/>
              <a:r>
                <a:rPr sz="1500" b="0" i="0" u="none">
                  <a:solidFill>
                    <a:srgbClr val="0B2B4E"/>
                  </a:solidFill>
                  <a:latin typeface="Calibri"/>
                </a:rPr>
                <a:t>$160,000</a:t>
              </a:r>
            </a:p>
          </p:txBody>
        </p:sp>
        <p:sp>
          <p:nvSpPr>
            <p:cNvPr id="27" name="TextBox 26"/>
            <p:cNvSpPr txBox="1"/>
            <p:nvPr/>
          </p:nvSpPr>
          <p:spPr>
            <a:xfrm>
              <a:off x="2746851" y="6044183"/>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cxnSp>
          <p:nvCxnSpPr>
            <p:cNvPr id="29" name="Connector 28"/>
            <p:cNvCxnSpPr/>
            <p:nvPr/>
          </p:nvCxnSpPr>
          <p:spPr>
            <a:xfrm>
              <a:off x="1325880" y="4368082"/>
              <a:ext cx="1878171"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04051" y="4368082"/>
              <a:ext cx="0" cy="162123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sp>
        <p:nvSpPr>
          <p:cNvPr id="31" name="Rounded Rectangle 30"/>
          <p:cNvSpPr/>
          <p:nvPr/>
        </p:nvSpPr>
        <p:spPr>
          <a:xfrm>
            <a:off x="7244791" y="2446924"/>
            <a:ext cx="4599432" cy="2161651"/>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7963" y="2552090"/>
            <a:ext cx="4134002" cy="1954381"/>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b="1" dirty="0">
                <a:latin typeface="Calibri"/>
              </a:rPr>
              <a:t>Inverse demand:  </a:t>
            </a:r>
            <a:r>
              <a:rPr i="1" dirty="0">
                <a:latin typeface="Calibri"/>
              </a:rPr>
              <a:t>P = 400 − Q/4</a:t>
            </a:r>
          </a:p>
          <a:p>
            <a:pPr algn="l"/>
            <a:r>
              <a:rPr b="1" dirty="0">
                <a:latin typeface="Calibri"/>
              </a:rPr>
              <a:t>Total revenue:  </a:t>
            </a:r>
            <a:r>
              <a:rPr i="1" dirty="0">
                <a:latin typeface="Calibri"/>
              </a:rPr>
              <a:t>TR = P · Q</a:t>
            </a:r>
          </a:p>
          <a:p>
            <a:pPr lvl="1" algn="l">
              <a:spcBef>
                <a:spcPts val="200"/>
              </a:spcBef>
              <a:buNone/>
            </a:pPr>
            <a:r>
              <a:rPr sz="2000" dirty="0">
                <a:solidFill>
                  <a:srgbClr val="555B66"/>
                </a:solidFill>
                <a:latin typeface="Calibri"/>
              </a:rPr>
              <a:t>(illustrate for P=200)</a:t>
            </a:r>
          </a:p>
          <a:p>
            <a:pPr algn="l"/>
            <a:r>
              <a:rPr b="1" dirty="0">
                <a:latin typeface="Calibri"/>
              </a:rPr>
              <a:t>Plug in for P:  </a:t>
            </a:r>
            <a:r>
              <a:rPr i="1" dirty="0">
                <a:latin typeface="Calibri"/>
              </a:rPr>
              <a:t>TR = (400 − Q/4) · Q</a:t>
            </a:r>
          </a:p>
          <a:p>
            <a:pPr lvl="1" algn="l">
              <a:spcBef>
                <a:spcPts val="200"/>
              </a:spcBef>
              <a:buNone/>
            </a:pPr>
            <a:r>
              <a:rPr lang="en-US" sz="2000" b="1" i="1" dirty="0">
                <a:solidFill>
                  <a:srgbClr val="E09F3E"/>
                </a:solidFill>
                <a:latin typeface="Calibri"/>
              </a:rPr>
              <a:t>                        </a:t>
            </a:r>
            <a:r>
              <a:rPr sz="2000" b="1" i="1" dirty="0">
                <a:solidFill>
                  <a:srgbClr val="E09F3E"/>
                </a:solidFill>
                <a:latin typeface="Calibri"/>
              </a:rPr>
              <a:t>TR = 400Q − Q²/4</a:t>
            </a:r>
          </a:p>
        </p:txBody>
      </p:sp>
      <p:sp>
        <p:nvSpPr>
          <p:cNvPr id="33" name="Rectangle 3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6" name="TextBox 35"/>
          <p:cNvSpPr txBox="1"/>
          <p:nvPr/>
        </p:nvSpPr>
        <p:spPr>
          <a:xfrm>
            <a:off x="11475720" y="6583680"/>
            <a:ext cx="502920" cy="292608"/>
          </a:xfrm>
          <a:prstGeom prst="rect">
            <a:avLst/>
          </a:prstGeom>
          <a:noFill/>
        </p:spPr>
        <p:txBody>
          <a:bodyPr wrap="none" lIns="0" tIns="0" rIns="0" bIns="0">
            <a:spAutoFit/>
          </a:bodyPr>
          <a:lstStyle/>
          <a:p>
            <a:pPr algn="r"/>
            <a:fld id="{9F0D0457-7DD9-5B24-A8D9-45B32F967A96}"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1097280" y="1664208"/>
            <a:ext cx="0" cy="418795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97280" y="5852160"/>
            <a:ext cx="576072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56087" y="1389888"/>
            <a:ext cx="603504" cy="310896"/>
          </a:xfrm>
          <a:prstGeom prst="rect">
            <a:avLst/>
          </a:prstGeom>
          <a:noFill/>
        </p:spPr>
        <p:txBody>
          <a:bodyPr wrap="square" lIns="0" tIns="0" rIns="0" bIns="0">
            <a:spAutoFit/>
          </a:bodyPr>
          <a:lstStyle/>
          <a:p>
            <a:pPr algn="l"/>
            <a:r>
              <a:rPr sz="1900" b="1" i="1" u="none" dirty="0">
                <a:solidFill>
                  <a:srgbClr val="0B2B4E"/>
                </a:solidFill>
                <a:latin typeface="Calibri"/>
              </a:rPr>
              <a:t>P</a:t>
            </a:r>
          </a:p>
        </p:txBody>
      </p:sp>
      <p:sp>
        <p:nvSpPr>
          <p:cNvPr id="13" name="TextBox 12"/>
          <p:cNvSpPr txBox="1"/>
          <p:nvPr/>
        </p:nvSpPr>
        <p:spPr>
          <a:xfrm>
            <a:off x="6917436" y="5806440"/>
            <a:ext cx="603504" cy="292608"/>
          </a:xfrm>
          <a:prstGeom prst="rect">
            <a:avLst/>
          </a:prstGeom>
          <a:noFill/>
        </p:spPr>
        <p:txBody>
          <a:bodyPr wrap="square" lIns="0" tIns="0" rIns="0" bIns="0">
            <a:spAutoFit/>
          </a:bodyPr>
          <a:lstStyle/>
          <a:p>
            <a:pPr algn="l"/>
            <a:r>
              <a:rPr sz="1900" b="1" i="1" u="none" dirty="0">
                <a:solidFill>
                  <a:srgbClr val="0B2B4E"/>
                </a:solidFill>
                <a:latin typeface="Calibri"/>
              </a:rPr>
              <a:t>Q</a:t>
            </a:r>
          </a:p>
        </p:txBody>
      </p:sp>
      <p:cxnSp>
        <p:nvCxnSpPr>
          <p:cNvPr id="14" name="Connector 13"/>
          <p:cNvCxnSpPr/>
          <p:nvPr/>
        </p:nvCxnSpPr>
        <p:spPr>
          <a:xfrm>
            <a:off x="1097280" y="2231136"/>
            <a:ext cx="4937760" cy="362102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35827" y="5468112"/>
            <a:ext cx="320039" cy="310896"/>
          </a:xfrm>
          <a:prstGeom prst="rect">
            <a:avLst/>
          </a:prstGeom>
          <a:noFill/>
        </p:spPr>
        <p:txBody>
          <a:bodyPr wrap="square" lIns="0" tIns="0" rIns="0" bIns="0">
            <a:spAutoFit/>
          </a:bodyPr>
          <a:lstStyle/>
          <a:p>
            <a:pPr algn="l"/>
            <a:r>
              <a:rPr sz="2000" b="1" i="0" u="none" dirty="0">
                <a:solidFill>
                  <a:srgbClr val="0B2B4E"/>
                </a:solidFill>
                <a:latin typeface="Calibri"/>
              </a:rPr>
              <a:t>D</a:t>
            </a:r>
          </a:p>
        </p:txBody>
      </p:sp>
      <p:grpSp>
        <p:nvGrpSpPr>
          <p:cNvPr id="36" name="Group 35">
            <a:extLst>
              <a:ext uri="{FF2B5EF4-FFF2-40B4-BE49-F238E27FC236}">
                <a16:creationId xmlns:a16="http://schemas.microsoft.com/office/drawing/2014/main" id="{8106F35A-91BA-0030-28D7-DB5756CBB9DB}"/>
              </a:ext>
            </a:extLst>
          </p:cNvPr>
          <p:cNvGrpSpPr/>
          <p:nvPr/>
        </p:nvGrpSpPr>
        <p:grpSpPr>
          <a:xfrm>
            <a:off x="2743200" y="2843784"/>
            <a:ext cx="9070847" cy="3017518"/>
            <a:chOff x="2743200" y="2843784"/>
            <a:chExt cx="9070847" cy="3017518"/>
          </a:xfrm>
        </p:grpSpPr>
        <p:sp>
          <p:nvSpPr>
            <p:cNvPr id="9" name="Rectangle 8"/>
            <p:cNvSpPr/>
            <p:nvPr/>
          </p:nvSpPr>
          <p:spPr>
            <a:xfrm>
              <a:off x="2743200" y="3849622"/>
              <a:ext cx="548640" cy="201168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0" y="2843784"/>
              <a:ext cx="502920" cy="384048"/>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82127" y="2880360"/>
              <a:ext cx="393192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dirty="0">
                  <a:solidFill>
                    <a:srgbClr val="0B2B4E"/>
                  </a:solidFill>
                  <a:latin typeface="Calibri"/>
                </a:rPr>
                <a:t>Increase in </a:t>
              </a:r>
              <a:r>
                <a:rPr sz="2000" i="1" dirty="0">
                  <a:solidFill>
                    <a:srgbClr val="0B2B4E"/>
                  </a:solidFill>
                  <a:latin typeface="Calibri"/>
                </a:rPr>
                <a:t>TR</a:t>
              </a:r>
              <a:r>
                <a:rPr sz="2000" dirty="0">
                  <a:solidFill>
                    <a:srgbClr val="0B2B4E"/>
                  </a:solidFill>
                  <a:latin typeface="Calibri"/>
                </a:rPr>
                <a:t> from higher volume</a:t>
              </a:r>
            </a:p>
          </p:txBody>
        </p:sp>
      </p:grpSp>
      <p:sp>
        <p:nvSpPr>
          <p:cNvPr id="27" name="Rounded Rectangle 26"/>
          <p:cNvSpPr/>
          <p:nvPr/>
        </p:nvSpPr>
        <p:spPr>
          <a:xfrm>
            <a:off x="7381271" y="3831336"/>
            <a:ext cx="3843528" cy="804671"/>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B2B4E"/>
                </a:solidFill>
                <a:latin typeface="Calibri"/>
              </a:rPr>
              <a:t>Which area is bigger?</a:t>
            </a:r>
            <a:endParaRPr lang="en-US" sz="2400" b="1" dirty="0">
              <a:solidFill>
                <a:srgbClr val="0B2B4E"/>
              </a:solidFill>
              <a:latin typeface="Calibri"/>
            </a:endParaRPr>
          </a:p>
          <a:p>
            <a:pPr algn="ctr"/>
            <a:r>
              <a:rPr lang="en-US" b="1" dirty="0">
                <a:solidFill>
                  <a:srgbClr val="0B2B4E"/>
                </a:solidFill>
                <a:latin typeface="Calibri"/>
                <a:sym typeface="Wingdings" panose="05000000000000000000" pitchFamily="2" charset="2"/>
              </a:rPr>
              <a:t> Determines the net effect on TR</a:t>
            </a:r>
            <a:endParaRPr b="1" dirty="0">
              <a:solidFill>
                <a:srgbClr val="0B2B4E"/>
              </a:solidFill>
              <a:latin typeface="Calibri"/>
            </a:endParaRP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DD0FF23F-2665-581F-B7D1-2CC5B078E18B}" type="slidenum">
              <a:rPr lang="en-US" sz="1200" dirty="0">
                <a:solidFill>
                  <a:srgbClr val="555B66"/>
                </a:solidFill>
                <a:latin typeface="Calibri"/>
              </a:rPr>
              <a:t>5</a:t>
            </a:fld>
            <a:endParaRPr lang="en-US" sz="1200" dirty="0">
              <a:solidFill>
                <a:srgbClr val="555B66"/>
              </a:solidFill>
              <a:latin typeface="Calibri"/>
            </a:endParaRPr>
          </a:p>
        </p:txBody>
      </p:sp>
      <p:grpSp>
        <p:nvGrpSpPr>
          <p:cNvPr id="49" name="Group 48">
            <a:extLst>
              <a:ext uri="{FF2B5EF4-FFF2-40B4-BE49-F238E27FC236}">
                <a16:creationId xmlns:a16="http://schemas.microsoft.com/office/drawing/2014/main" id="{81E06EF5-B127-570B-564A-2DFA4FBFA5C4}"/>
              </a:ext>
            </a:extLst>
          </p:cNvPr>
          <p:cNvGrpSpPr/>
          <p:nvPr/>
        </p:nvGrpSpPr>
        <p:grpSpPr>
          <a:xfrm>
            <a:off x="2743200" y="3849622"/>
            <a:ext cx="987552" cy="2441450"/>
            <a:chOff x="2743200" y="3849622"/>
            <a:chExt cx="987552" cy="2441450"/>
          </a:xfrm>
        </p:grpSpPr>
        <p:grpSp>
          <p:nvGrpSpPr>
            <p:cNvPr id="34" name="Group 33">
              <a:extLst>
                <a:ext uri="{FF2B5EF4-FFF2-40B4-BE49-F238E27FC236}">
                  <a16:creationId xmlns:a16="http://schemas.microsoft.com/office/drawing/2014/main" id="{5D6E0625-B760-081D-0032-0089D819C8EC}"/>
                </a:ext>
              </a:extLst>
            </p:cNvPr>
            <p:cNvGrpSpPr/>
            <p:nvPr/>
          </p:nvGrpSpPr>
          <p:grpSpPr>
            <a:xfrm>
              <a:off x="2743200" y="5907022"/>
              <a:ext cx="987552" cy="384050"/>
              <a:chOff x="2743200" y="5907022"/>
              <a:chExt cx="987552" cy="384050"/>
            </a:xfrm>
          </p:grpSpPr>
          <p:sp>
            <p:nvSpPr>
              <p:cNvPr id="18" name="TextBox 17"/>
              <p:cNvSpPr txBox="1"/>
              <p:nvPr/>
            </p:nvSpPr>
            <p:spPr>
              <a:xfrm>
                <a:off x="3182112" y="5907022"/>
                <a:ext cx="548640" cy="310896"/>
              </a:xfrm>
              <a:prstGeom prst="rect">
                <a:avLst/>
              </a:prstGeom>
              <a:noFill/>
            </p:spPr>
            <p:txBody>
              <a:bodyPr wrap="square" lIns="0" tIns="0" rIns="0" bIns="0">
                <a:spAutoFit/>
              </a:bodyPr>
              <a:lstStyle/>
              <a:p>
                <a:pPr algn="l"/>
                <a:r>
                  <a:rPr sz="2000" b="1" i="0" u="none" dirty="0">
                    <a:solidFill>
                      <a:srgbClr val="0B2B4E"/>
                    </a:solidFill>
                    <a:latin typeface="Calibri"/>
                  </a:rPr>
                  <a:t>Q</a:t>
                </a:r>
                <a:r>
                  <a:rPr sz="2000" b="1" i="0" u="none" baseline="-25000" dirty="0">
                    <a:solidFill>
                      <a:srgbClr val="0B2B4E"/>
                    </a:solidFill>
                    <a:latin typeface="Calibri"/>
                  </a:rPr>
                  <a:t>1</a:t>
                </a:r>
              </a:p>
            </p:txBody>
          </p:sp>
          <p:cxnSp>
            <p:nvCxnSpPr>
              <p:cNvPr id="20" name="Connector 19"/>
              <p:cNvCxnSpPr/>
              <p:nvPr/>
            </p:nvCxnSpPr>
            <p:spPr>
              <a:xfrm>
                <a:off x="2743200" y="6291072"/>
                <a:ext cx="576072" cy="0"/>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37" name="Connector 29">
              <a:extLst>
                <a:ext uri="{FF2B5EF4-FFF2-40B4-BE49-F238E27FC236}">
                  <a16:creationId xmlns:a16="http://schemas.microsoft.com/office/drawing/2014/main" id="{223D6CB3-6686-55E4-3865-9838C86E452F}"/>
                </a:ext>
              </a:extLst>
            </p:cNvPr>
            <p:cNvCxnSpPr>
              <a:cxnSpLocks/>
            </p:cNvCxnSpPr>
            <p:nvPr/>
          </p:nvCxnSpPr>
          <p:spPr>
            <a:xfrm>
              <a:off x="3291840" y="3849622"/>
              <a:ext cx="0" cy="205740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21702318-517F-4553-8D85-31018736F005}"/>
              </a:ext>
            </a:extLst>
          </p:cNvPr>
          <p:cNvGrpSpPr/>
          <p:nvPr/>
        </p:nvGrpSpPr>
        <p:grpSpPr>
          <a:xfrm>
            <a:off x="681767" y="3246120"/>
            <a:ext cx="2504917" cy="2953513"/>
            <a:chOff x="681767" y="3246120"/>
            <a:chExt cx="2504917" cy="2953513"/>
          </a:xfrm>
        </p:grpSpPr>
        <p:grpSp>
          <p:nvGrpSpPr>
            <p:cNvPr id="32" name="Group 31">
              <a:extLst>
                <a:ext uri="{FF2B5EF4-FFF2-40B4-BE49-F238E27FC236}">
                  <a16:creationId xmlns:a16="http://schemas.microsoft.com/office/drawing/2014/main" id="{F5AE463E-A911-538B-551A-815203F776E3}"/>
                </a:ext>
              </a:extLst>
            </p:cNvPr>
            <p:cNvGrpSpPr/>
            <p:nvPr/>
          </p:nvGrpSpPr>
          <p:grpSpPr>
            <a:xfrm>
              <a:off x="681767" y="3246120"/>
              <a:ext cx="2504917" cy="2953513"/>
              <a:chOff x="681767" y="3246120"/>
              <a:chExt cx="2504917" cy="2953513"/>
            </a:xfrm>
          </p:grpSpPr>
          <p:sp>
            <p:nvSpPr>
              <p:cNvPr id="7" name="Rectangle 6"/>
              <p:cNvSpPr/>
              <p:nvPr/>
            </p:nvSpPr>
            <p:spPr>
              <a:xfrm>
                <a:off x="1097280" y="3461002"/>
                <a:ext cx="1645918" cy="2391158"/>
              </a:xfrm>
              <a:prstGeom prst="rect">
                <a:avLst/>
              </a:prstGeom>
              <a:solidFill>
                <a:srgbClr val="F6E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767" y="3246120"/>
                <a:ext cx="548640" cy="310896"/>
              </a:xfrm>
              <a:prstGeom prst="rect">
                <a:avLst/>
              </a:prstGeom>
              <a:noFill/>
            </p:spPr>
            <p:txBody>
              <a:bodyPr wrap="square" lIns="0" tIns="0" rIns="0" bIns="0">
                <a:spAutoFit/>
              </a:bodyPr>
              <a:lstStyle/>
              <a:p>
                <a:pPr algn="l"/>
                <a:r>
                  <a:rPr sz="2200" b="1" i="0" u="none" dirty="0">
                    <a:solidFill>
                      <a:srgbClr val="0B2B4E"/>
                    </a:solidFill>
                    <a:latin typeface="Calibri"/>
                  </a:rPr>
                  <a:t>P</a:t>
                </a:r>
                <a:r>
                  <a:rPr sz="2200" b="1" i="0" u="none" baseline="-25000" dirty="0">
                    <a:solidFill>
                      <a:srgbClr val="0B2B4E"/>
                    </a:solidFill>
                    <a:latin typeface="Calibri"/>
                  </a:rPr>
                  <a:t>0</a:t>
                </a:r>
              </a:p>
            </p:txBody>
          </p:sp>
          <p:sp>
            <p:nvSpPr>
              <p:cNvPr id="17" name="TextBox 16"/>
              <p:cNvSpPr txBox="1"/>
              <p:nvPr/>
            </p:nvSpPr>
            <p:spPr>
              <a:xfrm>
                <a:off x="2638044" y="5888737"/>
                <a:ext cx="548640" cy="310896"/>
              </a:xfrm>
              <a:prstGeom prst="rect">
                <a:avLst/>
              </a:prstGeom>
              <a:noFill/>
            </p:spPr>
            <p:txBody>
              <a:bodyPr wrap="square" lIns="0" tIns="0" rIns="0" bIns="0">
                <a:spAutoFit/>
              </a:bodyPr>
              <a:lstStyle/>
              <a:p>
                <a:pPr algn="l"/>
                <a:r>
                  <a:rPr sz="2000" b="1" i="0" u="none" dirty="0">
                    <a:solidFill>
                      <a:srgbClr val="0B2B4E"/>
                    </a:solidFill>
                    <a:latin typeface="Calibri"/>
                  </a:rPr>
                  <a:t>Q</a:t>
                </a:r>
                <a:r>
                  <a:rPr sz="2000" b="1" i="0" u="none" baseline="-25000" dirty="0">
                    <a:solidFill>
                      <a:srgbClr val="0B2B4E"/>
                    </a:solidFill>
                    <a:latin typeface="Calibri"/>
                  </a:rPr>
                  <a:t>0</a:t>
                </a:r>
              </a:p>
            </p:txBody>
          </p:sp>
          <p:sp>
            <p:nvSpPr>
              <p:cNvPr id="22" name="TextBox 21"/>
              <p:cNvSpPr txBox="1"/>
              <p:nvPr/>
            </p:nvSpPr>
            <p:spPr>
              <a:xfrm>
                <a:off x="1097280" y="4663440"/>
                <a:ext cx="1645920" cy="338554"/>
              </a:xfrm>
              <a:prstGeom prst="rect">
                <a:avLst/>
              </a:prstGeom>
              <a:noFill/>
            </p:spPr>
            <p:txBody>
              <a:bodyPr wrap="square" lIns="0" tIns="0" rIns="0" bIns="0">
                <a:spAutoFit/>
              </a:bodyPr>
              <a:lstStyle/>
              <a:p>
                <a:pPr algn="ctr"/>
                <a:r>
                  <a:rPr sz="2200" b="1" i="1" u="none" dirty="0">
                    <a:solidFill>
                      <a:srgbClr val="0B2B4E"/>
                    </a:solidFill>
                    <a:latin typeface="Calibri"/>
                  </a:rPr>
                  <a:t>TR</a:t>
                </a:r>
                <a:r>
                  <a:rPr lang="en-US" sz="2200" b="1" i="1" u="none" baseline="-25000" dirty="0">
                    <a:solidFill>
                      <a:srgbClr val="0B2B4E"/>
                    </a:solidFill>
                    <a:latin typeface="Calibri"/>
                  </a:rPr>
                  <a:t>0</a:t>
                </a:r>
                <a:endParaRPr sz="2200" b="1" i="1" u="none" baseline="-25000" dirty="0">
                  <a:solidFill>
                    <a:srgbClr val="0B2B4E"/>
                  </a:solidFill>
                  <a:latin typeface="Calibri"/>
                </a:endParaRPr>
              </a:p>
            </p:txBody>
          </p:sp>
        </p:grpSp>
        <p:grpSp>
          <p:nvGrpSpPr>
            <p:cNvPr id="44" name="Group 43">
              <a:extLst>
                <a:ext uri="{FF2B5EF4-FFF2-40B4-BE49-F238E27FC236}">
                  <a16:creationId xmlns:a16="http://schemas.microsoft.com/office/drawing/2014/main" id="{CF759CFC-9EA4-80BC-D061-19C030737316}"/>
                </a:ext>
              </a:extLst>
            </p:cNvPr>
            <p:cNvGrpSpPr/>
            <p:nvPr/>
          </p:nvGrpSpPr>
          <p:grpSpPr>
            <a:xfrm>
              <a:off x="1097278" y="3429000"/>
              <a:ext cx="1645922" cy="2423160"/>
              <a:chOff x="1097278" y="3429000"/>
              <a:chExt cx="1645922" cy="2423160"/>
            </a:xfrm>
          </p:grpSpPr>
          <p:cxnSp>
            <p:nvCxnSpPr>
              <p:cNvPr id="39" name="Connector 29">
                <a:extLst>
                  <a:ext uri="{FF2B5EF4-FFF2-40B4-BE49-F238E27FC236}">
                    <a16:creationId xmlns:a16="http://schemas.microsoft.com/office/drawing/2014/main" id="{09F7F403-90DC-FF62-3DB9-F320AD90C274}"/>
                  </a:ext>
                </a:extLst>
              </p:cNvPr>
              <p:cNvCxnSpPr>
                <a:cxnSpLocks/>
              </p:cNvCxnSpPr>
              <p:nvPr/>
            </p:nvCxnSpPr>
            <p:spPr>
              <a:xfrm>
                <a:off x="2743200" y="3429000"/>
                <a:ext cx="0" cy="242316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29">
                <a:extLst>
                  <a:ext uri="{FF2B5EF4-FFF2-40B4-BE49-F238E27FC236}">
                    <a16:creationId xmlns:a16="http://schemas.microsoft.com/office/drawing/2014/main" id="{9C9FBD4C-B686-3427-0FD8-17D286AA5032}"/>
                  </a:ext>
                </a:extLst>
              </p:cNvPr>
              <p:cNvCxnSpPr>
                <a:cxnSpLocks/>
              </p:cNvCxnSpPr>
              <p:nvPr/>
            </p:nvCxnSpPr>
            <p:spPr>
              <a:xfrm flipV="1">
                <a:off x="1097278" y="3447286"/>
                <a:ext cx="1645922" cy="1371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grpSp>
        <p:nvGrpSpPr>
          <p:cNvPr id="48" name="Group 47">
            <a:extLst>
              <a:ext uri="{FF2B5EF4-FFF2-40B4-BE49-F238E27FC236}">
                <a16:creationId xmlns:a16="http://schemas.microsoft.com/office/drawing/2014/main" id="{C32A2D02-7F14-FF0E-209D-89EC94B5D5B3}"/>
              </a:ext>
            </a:extLst>
          </p:cNvPr>
          <p:cNvGrpSpPr/>
          <p:nvPr/>
        </p:nvGrpSpPr>
        <p:grpSpPr>
          <a:xfrm>
            <a:off x="539496" y="3408425"/>
            <a:ext cx="2702737" cy="580643"/>
            <a:chOff x="539496" y="3408425"/>
            <a:chExt cx="2702737" cy="580643"/>
          </a:xfrm>
        </p:grpSpPr>
        <p:grpSp>
          <p:nvGrpSpPr>
            <p:cNvPr id="33" name="Group 32">
              <a:extLst>
                <a:ext uri="{FF2B5EF4-FFF2-40B4-BE49-F238E27FC236}">
                  <a16:creationId xmlns:a16="http://schemas.microsoft.com/office/drawing/2014/main" id="{934D2FC0-6348-2524-9FA9-6C7E23EADDB0}"/>
                </a:ext>
              </a:extLst>
            </p:cNvPr>
            <p:cNvGrpSpPr/>
            <p:nvPr/>
          </p:nvGrpSpPr>
          <p:grpSpPr>
            <a:xfrm>
              <a:off x="539496" y="3408425"/>
              <a:ext cx="690911" cy="580643"/>
              <a:chOff x="539496" y="3408425"/>
              <a:chExt cx="690911" cy="580643"/>
            </a:xfrm>
          </p:grpSpPr>
          <p:sp>
            <p:nvSpPr>
              <p:cNvPr id="16" name="TextBox 15"/>
              <p:cNvSpPr txBox="1"/>
              <p:nvPr/>
            </p:nvSpPr>
            <p:spPr>
              <a:xfrm>
                <a:off x="681767" y="3678172"/>
                <a:ext cx="548640" cy="310896"/>
              </a:xfrm>
              <a:prstGeom prst="rect">
                <a:avLst/>
              </a:prstGeom>
              <a:noFill/>
            </p:spPr>
            <p:txBody>
              <a:bodyPr wrap="square" lIns="0" tIns="0" rIns="0" bIns="0">
                <a:spAutoFit/>
              </a:bodyPr>
              <a:lstStyle/>
              <a:p>
                <a:pPr algn="l"/>
                <a:r>
                  <a:rPr sz="2200" b="1" i="0" u="none" dirty="0">
                    <a:solidFill>
                      <a:srgbClr val="0B2B4E"/>
                    </a:solidFill>
                    <a:latin typeface="Calibri"/>
                  </a:rPr>
                  <a:t>P</a:t>
                </a:r>
                <a:r>
                  <a:rPr sz="2200" b="1" i="0" u="none" baseline="-25000" dirty="0">
                    <a:solidFill>
                      <a:srgbClr val="0B2B4E"/>
                    </a:solidFill>
                    <a:latin typeface="Calibri"/>
                  </a:rPr>
                  <a:t>1</a:t>
                </a:r>
              </a:p>
            </p:txBody>
          </p:sp>
          <p:cxnSp>
            <p:nvCxnSpPr>
              <p:cNvPr id="19" name="Connector 18"/>
              <p:cNvCxnSpPr/>
              <p:nvPr/>
            </p:nvCxnSpPr>
            <p:spPr>
              <a:xfrm>
                <a:off x="539496" y="3408425"/>
                <a:ext cx="0" cy="425195"/>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46" name="Connector 29">
              <a:extLst>
                <a:ext uri="{FF2B5EF4-FFF2-40B4-BE49-F238E27FC236}">
                  <a16:creationId xmlns:a16="http://schemas.microsoft.com/office/drawing/2014/main" id="{3F1A6F3D-6907-928A-ECFF-56AD2300E0CA}"/>
                </a:ext>
              </a:extLst>
            </p:cNvPr>
            <p:cNvCxnSpPr>
              <a:cxnSpLocks/>
            </p:cNvCxnSpPr>
            <p:nvPr/>
          </p:nvCxnSpPr>
          <p:spPr>
            <a:xfrm flipV="1">
              <a:off x="1097276" y="3856480"/>
              <a:ext cx="2144957" cy="1371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AFF92A75-7E8E-BF25-78C1-530110AA8C08}"/>
              </a:ext>
            </a:extLst>
          </p:cNvPr>
          <p:cNvGrpSpPr/>
          <p:nvPr/>
        </p:nvGrpSpPr>
        <p:grpSpPr>
          <a:xfrm>
            <a:off x="1097278" y="2194560"/>
            <a:ext cx="10716769" cy="1655062"/>
            <a:chOff x="1097278" y="2194560"/>
            <a:chExt cx="10716769" cy="1655062"/>
          </a:xfrm>
        </p:grpSpPr>
        <p:sp>
          <p:nvSpPr>
            <p:cNvPr id="8" name="Rectangle 7"/>
            <p:cNvSpPr/>
            <p:nvPr/>
          </p:nvSpPr>
          <p:spPr>
            <a:xfrm>
              <a:off x="1097278" y="3447286"/>
              <a:ext cx="1645920" cy="402336"/>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ectangle 22"/>
            <p:cNvSpPr/>
            <p:nvPr/>
          </p:nvSpPr>
          <p:spPr>
            <a:xfrm>
              <a:off x="7315200" y="2194560"/>
              <a:ext cx="502920" cy="3840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82127" y="2231136"/>
              <a:ext cx="393192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dirty="0">
                  <a:solidFill>
                    <a:srgbClr val="0B2B4E"/>
                  </a:solidFill>
                  <a:latin typeface="Calibri"/>
                </a:rPr>
                <a:t>Reduction in </a:t>
              </a:r>
              <a:r>
                <a:rPr sz="2000" i="1" dirty="0">
                  <a:solidFill>
                    <a:srgbClr val="0B2B4E"/>
                  </a:solidFill>
                  <a:latin typeface="Calibri"/>
                </a:rPr>
                <a:t>TR</a:t>
              </a:r>
              <a:r>
                <a:rPr sz="2000" dirty="0">
                  <a:solidFill>
                    <a:srgbClr val="0B2B4E"/>
                  </a:solidFill>
                  <a:latin typeface="Calibri"/>
                </a:rPr>
                <a:t> from a lower price</a:t>
              </a:r>
            </a:p>
          </p:txBody>
        </p:sp>
      </p:grpSp>
      <p:sp>
        <p:nvSpPr>
          <p:cNvPr id="50" name="Rounded Rectangle 6">
            <a:extLst>
              <a:ext uri="{FF2B5EF4-FFF2-40B4-BE49-F238E27FC236}">
                <a16:creationId xmlns:a16="http://schemas.microsoft.com/office/drawing/2014/main" id="{4D896386-77F3-9B9C-209C-39B9223B53FA}"/>
              </a:ext>
            </a:extLst>
          </p:cNvPr>
          <p:cNvSpPr/>
          <p:nvPr/>
        </p:nvSpPr>
        <p:spPr>
          <a:xfrm>
            <a:off x="7150608" y="5001993"/>
            <a:ext cx="4704588" cy="667285"/>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b="1" dirty="0">
                <a:solidFill>
                  <a:srgbClr val="FFFFFF"/>
                </a:solidFill>
                <a:latin typeface="Calibri"/>
              </a:rPr>
              <a:t>We will see next: Which area is bigger depends on the elasticity of demand and P</a:t>
            </a:r>
            <a:r>
              <a:rPr lang="en-US" b="1" baseline="-25000" dirty="0">
                <a:solidFill>
                  <a:srgbClr val="FFFFFF"/>
                </a:solidFill>
                <a:latin typeface="Calibri"/>
              </a:rPr>
              <a:t>0</a:t>
            </a:r>
            <a:endParaRPr b="1" baseline="-25000" dirty="0">
              <a:solidFill>
                <a:srgbClr val="FFFFFF"/>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560320" y="1481328"/>
            <a:ext cx="0" cy="235915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60320" y="3840480"/>
            <a:ext cx="585216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377440" y="1298448"/>
            <a:ext cx="603504" cy="310896"/>
          </a:xfrm>
          <a:prstGeom prst="rect">
            <a:avLst/>
          </a:prstGeom>
          <a:noFill/>
        </p:spPr>
        <p:txBody>
          <a:bodyPr wrap="square" lIns="0" tIns="0" rIns="0" bIns="0">
            <a:spAutoFit/>
          </a:bodyPr>
          <a:lstStyle/>
          <a:p>
            <a:pPr algn="l"/>
            <a:r>
              <a:rPr sz="1700" b="1" i="1" u="none" dirty="0">
                <a:solidFill>
                  <a:srgbClr val="0B2B4E"/>
                </a:solidFill>
                <a:latin typeface="Calibri"/>
              </a:rPr>
              <a:t>P</a:t>
            </a:r>
          </a:p>
        </p:txBody>
      </p:sp>
      <p:sp>
        <p:nvSpPr>
          <p:cNvPr id="10" name="TextBox 9"/>
          <p:cNvSpPr txBox="1"/>
          <p:nvPr/>
        </p:nvSpPr>
        <p:spPr>
          <a:xfrm>
            <a:off x="8453675" y="3781044"/>
            <a:ext cx="603504" cy="292608"/>
          </a:xfrm>
          <a:prstGeom prst="rect">
            <a:avLst/>
          </a:prstGeom>
          <a:noFill/>
        </p:spPr>
        <p:txBody>
          <a:bodyPr wrap="square" lIns="0" tIns="0" rIns="0" bIns="0">
            <a:spAutoFit/>
          </a:bodyPr>
          <a:lstStyle/>
          <a:p>
            <a:pPr algn="l"/>
            <a:r>
              <a:rPr sz="1700" b="1" i="1" u="none" dirty="0">
                <a:solidFill>
                  <a:srgbClr val="0B2B4E"/>
                </a:solidFill>
                <a:latin typeface="Calibri"/>
              </a:rPr>
              <a:t>Q</a:t>
            </a:r>
          </a:p>
        </p:txBody>
      </p:sp>
      <p:grpSp>
        <p:nvGrpSpPr>
          <p:cNvPr id="35" name="Group 34">
            <a:extLst>
              <a:ext uri="{FF2B5EF4-FFF2-40B4-BE49-F238E27FC236}">
                <a16:creationId xmlns:a16="http://schemas.microsoft.com/office/drawing/2014/main" id="{5CCD0DB0-63DC-9A76-797F-8CFC01E4823D}"/>
              </a:ext>
            </a:extLst>
          </p:cNvPr>
          <p:cNvGrpSpPr/>
          <p:nvPr/>
        </p:nvGrpSpPr>
        <p:grpSpPr>
          <a:xfrm>
            <a:off x="2560320" y="1865376"/>
            <a:ext cx="6592824" cy="2011680"/>
            <a:chOff x="2560320" y="1865376"/>
            <a:chExt cx="6592824" cy="2011680"/>
          </a:xfrm>
        </p:grpSpPr>
        <p:cxnSp>
          <p:nvCxnSpPr>
            <p:cNvPr id="11" name="Connector 10"/>
            <p:cNvCxnSpPr/>
            <p:nvPr/>
          </p:nvCxnSpPr>
          <p:spPr>
            <a:xfrm>
              <a:off x="2560320" y="1865376"/>
              <a:ext cx="5020055" cy="197510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690104" y="3566160"/>
              <a:ext cx="1463040" cy="310896"/>
            </a:xfrm>
            <a:prstGeom prst="rect">
              <a:avLst/>
            </a:prstGeom>
            <a:noFill/>
          </p:spPr>
          <p:txBody>
            <a:bodyPr wrap="square" lIns="0" tIns="0" rIns="0" bIns="0">
              <a:spAutoFit/>
            </a:bodyPr>
            <a:lstStyle/>
            <a:p>
              <a:pPr algn="l"/>
              <a:r>
                <a:rPr sz="1700" b="1" i="0" u="none" dirty="0">
                  <a:solidFill>
                    <a:srgbClr val="0B2B4E"/>
                  </a:solidFill>
                  <a:latin typeface="Calibri"/>
                </a:rPr>
                <a:t>D</a:t>
              </a:r>
            </a:p>
          </p:txBody>
        </p:sp>
      </p:grpSp>
      <p:grpSp>
        <p:nvGrpSpPr>
          <p:cNvPr id="36" name="Group 35">
            <a:extLst>
              <a:ext uri="{FF2B5EF4-FFF2-40B4-BE49-F238E27FC236}">
                <a16:creationId xmlns:a16="http://schemas.microsoft.com/office/drawing/2014/main" id="{E9681456-6729-9A08-6239-4E3AE6D2C14A}"/>
              </a:ext>
            </a:extLst>
          </p:cNvPr>
          <p:cNvGrpSpPr/>
          <p:nvPr/>
        </p:nvGrpSpPr>
        <p:grpSpPr>
          <a:xfrm>
            <a:off x="2530847" y="1682496"/>
            <a:ext cx="3732793" cy="654221"/>
            <a:chOff x="2530847" y="1682496"/>
            <a:chExt cx="3732793" cy="654221"/>
          </a:xfrm>
        </p:grpSpPr>
        <p:sp>
          <p:nvSpPr>
            <p:cNvPr id="14" name="Right Brace 13"/>
            <p:cNvSpPr/>
            <p:nvPr/>
          </p:nvSpPr>
          <p:spPr>
            <a:xfrm rot="17488607">
              <a:off x="3717590" y="854826"/>
              <a:ext cx="295148" cy="2668634"/>
            </a:xfrm>
            <a:prstGeom prst="rightBrace">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0440" y="1682496"/>
              <a:ext cx="2743200" cy="310896"/>
            </a:xfrm>
            <a:prstGeom prst="rect">
              <a:avLst/>
            </a:prstGeom>
            <a:noFill/>
          </p:spPr>
          <p:txBody>
            <a:bodyPr wrap="square" lIns="0" tIns="0" rIns="0" bIns="0">
              <a:spAutoFit/>
            </a:bodyPr>
            <a:lstStyle/>
            <a:p>
              <a:pPr algn="l"/>
              <a:r>
                <a:rPr sz="1600" b="1" i="0" u="none">
                  <a:solidFill>
                    <a:srgbClr val="0070C0"/>
                  </a:solidFill>
                  <a:latin typeface="Calibri"/>
                </a:rPr>
                <a:t>E</a:t>
              </a:r>
              <a:r>
                <a:rPr sz="1600" b="1" i="0" u="none" baseline="-25000">
                  <a:solidFill>
                    <a:srgbClr val="0070C0"/>
                  </a:solidFill>
                  <a:latin typeface="Calibri"/>
                </a:rPr>
                <a:t>D</a:t>
              </a:r>
              <a:r>
                <a:rPr sz="1600" b="1" i="0" u="none">
                  <a:solidFill>
                    <a:srgbClr val="0070C0"/>
                  </a:solidFill>
                  <a:latin typeface="Calibri"/>
                </a:rPr>
                <a:t> &lt; −1   elastic</a:t>
              </a:r>
            </a:p>
          </p:txBody>
        </p:sp>
      </p:grpSp>
      <p:grpSp>
        <p:nvGrpSpPr>
          <p:cNvPr id="37" name="Group 36">
            <a:extLst>
              <a:ext uri="{FF2B5EF4-FFF2-40B4-BE49-F238E27FC236}">
                <a16:creationId xmlns:a16="http://schemas.microsoft.com/office/drawing/2014/main" id="{E78BCE45-7A64-2FD0-C13E-8978C3510E5F}"/>
              </a:ext>
            </a:extLst>
          </p:cNvPr>
          <p:cNvGrpSpPr/>
          <p:nvPr/>
        </p:nvGrpSpPr>
        <p:grpSpPr>
          <a:xfrm>
            <a:off x="5102174" y="2703880"/>
            <a:ext cx="4356379" cy="623404"/>
            <a:chOff x="5102174" y="2703880"/>
            <a:chExt cx="4356379" cy="623404"/>
          </a:xfrm>
        </p:grpSpPr>
        <p:sp>
          <p:nvSpPr>
            <p:cNvPr id="16" name="Right Brace 15"/>
            <p:cNvSpPr/>
            <p:nvPr/>
          </p:nvSpPr>
          <p:spPr>
            <a:xfrm rot="17488607">
              <a:off x="6257346" y="1879504"/>
              <a:ext cx="292608" cy="2602951"/>
            </a:xfrm>
            <a:prstGeom prst="rightBrace">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66713" y="2703880"/>
              <a:ext cx="3291840" cy="310896"/>
            </a:xfrm>
            <a:prstGeom prst="rect">
              <a:avLst/>
            </a:prstGeom>
            <a:noFill/>
          </p:spPr>
          <p:txBody>
            <a:bodyPr wrap="square" lIns="0" tIns="0" rIns="0" bIns="0">
              <a:spAutoFit/>
            </a:bodyPr>
            <a:lstStyle/>
            <a:p>
              <a:pPr algn="l"/>
              <a:r>
                <a:rPr sz="1600" b="1" i="0" u="none">
                  <a:solidFill>
                    <a:srgbClr val="0070C0"/>
                  </a:solidFill>
                  <a:latin typeface="Calibri"/>
                </a:rPr>
                <a:t>−1 &lt; E</a:t>
              </a:r>
              <a:r>
                <a:rPr sz="1600" b="1" i="0" u="none" baseline="-25000">
                  <a:solidFill>
                    <a:srgbClr val="0070C0"/>
                  </a:solidFill>
                  <a:latin typeface="Calibri"/>
                </a:rPr>
                <a:t>D</a:t>
              </a:r>
              <a:r>
                <a:rPr sz="1600" b="1" i="0" u="none">
                  <a:solidFill>
                    <a:srgbClr val="0070C0"/>
                  </a:solidFill>
                  <a:latin typeface="Calibri"/>
                </a:rPr>
                <a:t> &lt; 0   inelastic</a:t>
              </a:r>
            </a:p>
          </p:txBody>
        </p:sp>
      </p:grpSp>
      <p:grpSp>
        <p:nvGrpSpPr>
          <p:cNvPr id="34" name="Group 33">
            <a:extLst>
              <a:ext uri="{FF2B5EF4-FFF2-40B4-BE49-F238E27FC236}">
                <a16:creationId xmlns:a16="http://schemas.microsoft.com/office/drawing/2014/main" id="{13A4ED95-5FC2-8821-99C3-A9EE74C92270}"/>
              </a:ext>
            </a:extLst>
          </p:cNvPr>
          <p:cNvGrpSpPr/>
          <p:nvPr/>
        </p:nvGrpSpPr>
        <p:grpSpPr>
          <a:xfrm>
            <a:off x="5070348" y="2217420"/>
            <a:ext cx="1696212" cy="1623060"/>
            <a:chOff x="5070348" y="2217420"/>
            <a:chExt cx="1696212" cy="1623060"/>
          </a:xfrm>
        </p:grpSpPr>
        <p:cxnSp>
          <p:nvCxnSpPr>
            <p:cNvPr id="12" name="Connector 11"/>
            <p:cNvCxnSpPr/>
            <p:nvPr/>
          </p:nvCxnSpPr>
          <p:spPr>
            <a:xfrm flipV="1">
              <a:off x="5070348" y="2852928"/>
              <a:ext cx="0" cy="987552"/>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20640" y="2217420"/>
              <a:ext cx="1645920" cy="310896"/>
            </a:xfrm>
            <a:prstGeom prst="rect">
              <a:avLst/>
            </a:prstGeom>
            <a:noFill/>
          </p:spPr>
          <p:txBody>
            <a:bodyPr wrap="square" lIns="0" tIns="0" rIns="0" bIns="0">
              <a:spAutoFit/>
            </a:bodyPr>
            <a:lstStyle/>
            <a:p>
              <a:pPr algn="l"/>
              <a:r>
                <a:rPr sz="1600" b="1" i="0" u="none">
                  <a:solidFill>
                    <a:srgbClr val="C0504D"/>
                  </a:solidFill>
                  <a:latin typeface="Calibri"/>
                </a:rPr>
                <a:t>E</a:t>
              </a:r>
              <a:r>
                <a:rPr sz="1600" b="1" i="0" u="none" baseline="-25000">
                  <a:solidFill>
                    <a:srgbClr val="C0504D"/>
                  </a:solidFill>
                  <a:latin typeface="Calibri"/>
                </a:rPr>
                <a:t>D</a:t>
              </a:r>
              <a:r>
                <a:rPr sz="1600" b="1" i="0" u="none">
                  <a:solidFill>
                    <a:srgbClr val="C0504D"/>
                  </a:solidFill>
                  <a:latin typeface="Calibri"/>
                </a:rPr>
                <a:t> = −1</a:t>
              </a:r>
            </a:p>
          </p:txBody>
        </p:sp>
        <p:cxnSp>
          <p:nvCxnSpPr>
            <p:cNvPr id="19" name="Connector 18"/>
            <p:cNvCxnSpPr/>
            <p:nvPr/>
          </p:nvCxnSpPr>
          <p:spPr>
            <a:xfrm flipH="1">
              <a:off x="5097780" y="2592324"/>
              <a:ext cx="80467" cy="234086"/>
            </a:xfrm>
            <a:prstGeom prst="line">
              <a:avLst/>
            </a:prstGeom>
            <a:ln w="22225">
              <a:solidFill>
                <a:srgbClr val="C0504D"/>
              </a:solidFill>
            </a:ln>
          </p:spPr>
          <p:style>
            <a:lnRef idx="2">
              <a:schemeClr val="accent1"/>
            </a:lnRef>
            <a:fillRef idx="0">
              <a:schemeClr val="accent1"/>
            </a:fillRef>
            <a:effectRef idx="1">
              <a:schemeClr val="accent1"/>
            </a:effectRef>
            <a:fontRef idx="minor">
              <a:schemeClr val="tx1"/>
            </a:fontRef>
          </p:style>
        </p:cxnSp>
      </p:grpSp>
      <p:cxnSp>
        <p:nvCxnSpPr>
          <p:cNvPr id="20" name="Connector 19"/>
          <p:cNvCxnSpPr/>
          <p:nvPr/>
        </p:nvCxnSpPr>
        <p:spPr>
          <a:xfrm flipV="1">
            <a:off x="2560320" y="3950208"/>
            <a:ext cx="0" cy="222199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60320" y="6172200"/>
            <a:ext cx="585216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453675" y="6092190"/>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nvGrpSpPr>
          <p:cNvPr id="38" name="Group 37">
            <a:extLst>
              <a:ext uri="{FF2B5EF4-FFF2-40B4-BE49-F238E27FC236}">
                <a16:creationId xmlns:a16="http://schemas.microsoft.com/office/drawing/2014/main" id="{E05F1A85-96BE-35E4-DC0F-E2497B43A983}"/>
              </a:ext>
            </a:extLst>
          </p:cNvPr>
          <p:cNvGrpSpPr/>
          <p:nvPr/>
        </p:nvGrpSpPr>
        <p:grpSpPr>
          <a:xfrm>
            <a:off x="2560320" y="3858158"/>
            <a:ext cx="5020055" cy="2314042"/>
            <a:chOff x="2560320" y="3858158"/>
            <a:chExt cx="5020055" cy="2314042"/>
          </a:xfrm>
        </p:grpSpPr>
        <p:sp>
          <p:nvSpPr>
            <p:cNvPr id="23" name="Rectangle 22"/>
            <p:cNvSpPr/>
            <p:nvPr/>
          </p:nvSpPr>
          <p:spPr>
            <a:xfrm>
              <a:off x="2560320" y="3858158"/>
              <a:ext cx="5020055" cy="2314042"/>
            </a:xfrm>
            <a:custGeom>
              <a:avLst/>
              <a:gdLst/>
              <a:ahLst/>
              <a:cxnLst/>
              <a:rect l="0" t="0" r="5020055" b="2314042"/>
              <a:pathLst>
                <a:path w="5020055" h="2314042">
                  <a:moveTo>
                    <a:pt x="0" y="2314042"/>
                  </a:moveTo>
                  <a:cubicBezTo>
                    <a:pt x="1673352" y="0"/>
                    <a:pt x="3346704" y="0"/>
                    <a:pt x="5020055" y="2314042"/>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5070348" y="4436668"/>
              <a:ext cx="0" cy="1735532"/>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08476" y="4366260"/>
              <a:ext cx="1463040" cy="310896"/>
            </a:xfrm>
            <a:prstGeom prst="rect">
              <a:avLst/>
            </a:prstGeom>
            <a:noFill/>
          </p:spPr>
          <p:txBody>
            <a:bodyPr wrap="square" lIns="0" tIns="0" rIns="0" bIns="0">
              <a:spAutoFit/>
            </a:bodyPr>
            <a:lstStyle/>
            <a:p>
              <a:pPr algn="l"/>
              <a:r>
                <a:rPr sz="1800" b="1" i="0" u="none">
                  <a:solidFill>
                    <a:srgbClr val="E09F3E"/>
                  </a:solidFill>
                  <a:latin typeface="Calibri"/>
                </a:rPr>
                <a:t>TR</a:t>
              </a:r>
            </a:p>
          </p:txBody>
        </p:sp>
      </p:grpSp>
      <p:cxnSp>
        <p:nvCxnSpPr>
          <p:cNvPr id="26" name="Connector 25"/>
          <p:cNvCxnSpPr>
            <a:cxnSpLocks/>
          </p:cNvCxnSpPr>
          <p:nvPr/>
        </p:nvCxnSpPr>
        <p:spPr>
          <a:xfrm flipV="1">
            <a:off x="3520440" y="4777740"/>
            <a:ext cx="836676" cy="632764"/>
          </a:xfrm>
          <a:prstGeom prst="line">
            <a:avLst/>
          </a:prstGeom>
          <a:ln w="25400">
            <a:solidFill>
              <a:schemeClr val="accent3">
                <a:lumMod val="75000"/>
              </a:schemeClr>
            </a:solidFill>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p:cNvCxnSpPr>
          <p:nvPr/>
        </p:nvCxnSpPr>
        <p:spPr>
          <a:xfrm>
            <a:off x="5861304" y="4777740"/>
            <a:ext cx="862279" cy="632764"/>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204057" y="5582412"/>
            <a:ext cx="1687982" cy="43068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1400" b="0">
                <a:solidFill>
                  <a:srgbClr val="0B2B4E"/>
                </a:solidFill>
                <a:latin typeface="Calibri"/>
              </a:defRPr>
            </a:lvl1pPr>
            <a:lvl2pPr marL="685800" indent="-228600">
              <a:spcBef>
                <a:spcPts val="300"/>
              </a:spcBef>
              <a:buClr>
                <a:srgbClr val="555B66"/>
              </a:buClr>
              <a:buFont typeface="Calibri"/>
              <a:buChar char="–"/>
              <a:defRPr sz="1000" b="0">
                <a:solidFill>
                  <a:srgbClr val="555B66"/>
                </a:solidFill>
                <a:latin typeface="Calibri"/>
              </a:defRPr>
            </a:lvl2pPr>
          </a:lstStyle>
          <a:p>
            <a:pPr algn="l">
              <a:buNone/>
            </a:pPr>
            <a:r>
              <a:rPr sz="1400" b="1" dirty="0">
                <a:solidFill>
                  <a:srgbClr val="0B2B4E"/>
                </a:solidFill>
                <a:latin typeface="Calibri"/>
              </a:rPr>
              <a:t>Elastic region</a:t>
            </a:r>
            <a:r>
              <a:rPr sz="1400" dirty="0">
                <a:solidFill>
                  <a:srgbClr val="0B2B4E"/>
                </a:solidFill>
                <a:latin typeface="Calibri"/>
              </a:rPr>
              <a:t>:  P falls
→ Q rises → </a:t>
            </a:r>
            <a:r>
              <a:rPr sz="1400" b="1" dirty="0">
                <a:solidFill>
                  <a:srgbClr val="E09F3E"/>
                </a:solidFill>
                <a:latin typeface="Calibri"/>
              </a:rPr>
              <a:t>TR </a:t>
            </a:r>
            <a:r>
              <a:rPr sz="1400" b="1" u="sng" dirty="0">
                <a:solidFill>
                  <a:schemeClr val="accent3">
                    <a:lumMod val="50000"/>
                  </a:schemeClr>
                </a:solidFill>
                <a:latin typeface="Calibri"/>
              </a:rPr>
              <a:t>rises</a:t>
            </a:r>
          </a:p>
        </p:txBody>
      </p:sp>
      <p:sp>
        <p:nvSpPr>
          <p:cNvPr id="29" name="TextBox 28"/>
          <p:cNvSpPr txBox="1"/>
          <p:nvPr/>
        </p:nvSpPr>
        <p:spPr>
          <a:xfrm>
            <a:off x="5296204" y="5576011"/>
            <a:ext cx="1700784" cy="43068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1400" b="0">
                <a:solidFill>
                  <a:srgbClr val="0B2B4E"/>
                </a:solidFill>
                <a:latin typeface="Calibri"/>
              </a:defRPr>
            </a:lvl1pPr>
            <a:lvl2pPr marL="685800" indent="-228600">
              <a:spcBef>
                <a:spcPts val="300"/>
              </a:spcBef>
              <a:buClr>
                <a:srgbClr val="555B66"/>
              </a:buClr>
              <a:buFont typeface="Calibri"/>
              <a:buChar char="–"/>
              <a:defRPr sz="1000" b="0">
                <a:solidFill>
                  <a:srgbClr val="555B66"/>
                </a:solidFill>
                <a:latin typeface="Calibri"/>
              </a:defRPr>
            </a:lvl2pPr>
          </a:lstStyle>
          <a:p>
            <a:pPr algn="l">
              <a:buNone/>
            </a:pPr>
            <a:r>
              <a:rPr sz="1400" b="1" dirty="0">
                <a:solidFill>
                  <a:srgbClr val="0B2B4E"/>
                </a:solidFill>
                <a:latin typeface="Calibri"/>
              </a:rPr>
              <a:t>Inelastic region</a:t>
            </a:r>
            <a:r>
              <a:rPr sz="1400" dirty="0">
                <a:solidFill>
                  <a:srgbClr val="0B2B4E"/>
                </a:solidFill>
                <a:latin typeface="Calibri"/>
              </a:rPr>
              <a:t>:  P falls
→ Q rises → </a:t>
            </a:r>
            <a:r>
              <a:rPr sz="1400" b="1" dirty="0">
                <a:solidFill>
                  <a:srgbClr val="E09F3E"/>
                </a:solidFill>
                <a:latin typeface="Calibri"/>
              </a:rPr>
              <a:t>TR </a:t>
            </a:r>
            <a:r>
              <a:rPr sz="1400" b="1" u="sng" dirty="0">
                <a:solidFill>
                  <a:srgbClr val="C00000"/>
                </a:solidFill>
                <a:latin typeface="Calibri"/>
              </a:rPr>
              <a:t>falls</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30F67572-56A1-533B-9B3B-08B9F7B2B9A8}" type="slidenum">
              <a:rPr lang="en-US" sz="1200" dirty="0">
                <a:solidFill>
                  <a:srgbClr val="555B66"/>
                </a:solidFill>
                <a:latin typeface="Calibri"/>
              </a:rPr>
              <a:t>6</a:t>
            </a:fld>
            <a:endParaRPr lang="en-US" sz="1200" dirty="0">
              <a:solidFill>
                <a:srgbClr val="555B66"/>
              </a:solidFill>
              <a:latin typeface="Calibri"/>
            </a:endParaRPr>
          </a:p>
        </p:txBody>
      </p:sp>
      <p:sp>
        <p:nvSpPr>
          <p:cNvPr id="40" name="TextBox 39">
            <a:extLst>
              <a:ext uri="{FF2B5EF4-FFF2-40B4-BE49-F238E27FC236}">
                <a16:creationId xmlns:a16="http://schemas.microsoft.com/office/drawing/2014/main" id="{613DBD64-099C-730C-ED2D-7848E33A878F}"/>
              </a:ext>
            </a:extLst>
          </p:cNvPr>
          <p:cNvSpPr txBox="1"/>
          <p:nvPr/>
        </p:nvSpPr>
        <p:spPr>
          <a:xfrm>
            <a:off x="2267711" y="3822192"/>
            <a:ext cx="603504" cy="261610"/>
          </a:xfrm>
          <a:prstGeom prst="rect">
            <a:avLst/>
          </a:prstGeom>
          <a:noFill/>
        </p:spPr>
        <p:txBody>
          <a:bodyPr wrap="square" lIns="0" tIns="0" rIns="0" bIns="0">
            <a:spAutoFit/>
          </a:bodyPr>
          <a:lstStyle/>
          <a:p>
            <a:pPr algn="l"/>
            <a:r>
              <a:rPr lang="en-US" sz="1700" b="1" i="1" u="none" dirty="0">
                <a:solidFill>
                  <a:srgbClr val="0B2B4E"/>
                </a:solidFill>
                <a:latin typeface="Calibri"/>
              </a:rPr>
              <a:t>TR</a:t>
            </a:r>
            <a:endParaRPr sz="1700" b="1" i="1" u="none"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Effect of a Price Change on Total Revenue: It Depends on </a:t>
            </a:r>
            <a:r>
              <a:rPr sz="3200" b="1" i="0" u="none">
                <a:solidFill>
                  <a:srgbClr val="0B2B4E"/>
                </a:solidFill>
                <a:latin typeface="Calibri"/>
              </a:rPr>
              <a:t>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11338560" cy="1234440"/>
          </a:xfrm>
          <a:prstGeom prst="rect">
            <a:avLst/>
          </a:prstGeom>
          <a:noFill/>
        </p:spPr>
        <p:txBody>
          <a:bodyPr wrap="square" lIns="45720" rIns="45720" tIns="0" bIns="0">
            <a:spAutoFit/>
          </a:bodyPr>
          <a:lstStyle/>
          <a:p xmlns:m="http://schemas.openxmlformats.org/officeDocument/2006/math" xmlns:a14="http://schemas.microsoft.com/office/drawing/2010/main">
            <a:r>
              <a:rPr lang="en-US" sz="2400">
                <a:solidFill>
                  <a:srgbClr val="0B2B4E"/>
                </a:solidFill>
                <a:latin typeface="Calibri"/>
              </a:rPr>
              <a:t>Total Revenues:   </a:t>
            </a:r>
            <a14:m>
              <m:oMath>
                <m:r>
                  <m:rPr>
                    <m:sty m:val="p"/>
                  </m:rPr>
                  <a:rPr lang="en-US" b="0" i="0" sz="2400">
                    <a:solidFill>
                      <a:srgbClr val="0B2B4E"/>
                    </a:solidFill>
                    <a:latin typeface="Cambria Math"/>
                  </a:rPr>
                  <m:t xml:space="preserve">TR</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P</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Q</m:t>
                </m:r>
              </m:oMath>
            </a14:m>
            <a:endParaRPr lang="en-US"/>
          </a:p>
          <a:p xmlns:m="http://schemas.openxmlformats.org/officeDocument/2006/math" xmlns:a14="http://schemas.microsoft.com/office/drawing/2010/main">
            <a:r>
              <a:rPr lang="en-US" sz="2400" b="1">
                <a:solidFill>
                  <a:srgbClr val="0B2B4E"/>
                </a:solidFill>
                <a:latin typeface="Calibri"/>
              </a:rPr>
              <a:t>In % changes</a:t>
            </a:r>
            <a:r>
              <a:rPr lang="en-US" sz="2400">
                <a:solidFill>
                  <a:srgbClr val="0B2B4E"/>
                </a:solidFill>
                <a:latin typeface="Calibri"/>
              </a:rPr>
              <a:t>, this implies:   </a:t>
            </a:r>
            <a14:m>
              <m:oMath>
                <m:r>
                  <m:rPr>
                    <m:sty m:val="p"/>
                  </m:rPr>
                  <a:rPr lang="en-US" b="0" i="0" sz="2400">
                    <a:solidFill>
                      <a:srgbClr val="0B2B4E"/>
                    </a:solidFill>
                    <a:latin typeface="Cambria Math"/>
                  </a:rPr>
                  <m:t xml:space="preserve">%Δ</m:t>
                </m:r>
                <m:r>
                  <m:rPr>
                    <m:sty m:val="p"/>
                  </m:rPr>
                  <a:rPr lang="en-US" b="0" i="0" sz="2400">
                    <a:solidFill>
                      <a:srgbClr val="0B2B4E"/>
                    </a:solidFill>
                    <a:latin typeface="Cambria Math"/>
                  </a:rPr>
                  <m:t xml:space="preserve">TR</m:t>
                </m:r>
                <m:r>
                  <m:rPr>
                    <m:sty m:val="p"/>
                  </m:rPr>
                  <a:rPr lang="en-US" b="0" i="0" sz="2400">
                    <a:solidFill>
                      <a:srgbClr val="0B2B4E"/>
                    </a:solidFill>
                    <a:latin typeface="Cambria Math"/>
                  </a:rPr>
                  <m:t xml:space="preserve"> = %Δ</m:t>
                </m:r>
                <m:r>
                  <a:rPr lang="en-US" b="0" i="1" sz="2400">
                    <a:solidFill>
                      <a:srgbClr val="0B2B4E"/>
                    </a:solidFill>
                    <a:latin typeface="Cambria Math"/>
                    <a:ea typeface="Cambria Math"/>
                  </a:rPr>
                  <m:t>P</m:t>
                </m:r>
                <m:r>
                  <m:rPr>
                    <m:sty m:val="p"/>
                  </m:rPr>
                  <a:rPr lang="en-US" b="0" i="0" sz="2400">
                    <a:solidFill>
                      <a:srgbClr val="0B2B4E"/>
                    </a:solidFill>
                    <a:latin typeface="Cambria Math"/>
                  </a:rPr>
                  <m:t xml:space="preserve"> + %Δ</m:t>
                </m:r>
                <m:r>
                  <a:rPr lang="en-US" b="0" i="1" sz="2400">
                    <a:solidFill>
                      <a:srgbClr val="0B2B4E"/>
                    </a:solidFill>
                    <a:latin typeface="Cambria Math"/>
                    <a:ea typeface="Cambria Math"/>
                  </a:rPr>
                  <m:t>Q</m:t>
                </m:r>
              </m:oMath>
            </a14:m>
            <a:endParaRPr lang="en-US"/>
          </a:p>
        </p:txBody>
      </p:sp>
      <p:sp>
        <p:nvSpPr>
          <p:cNvPr id="8" name="TextBox 7"/>
          <p:cNvSpPr txBox="1"/>
          <p:nvPr/>
        </p:nvSpPr>
        <p:spPr>
          <a:xfrm>
            <a:off x="389159" y="2880360"/>
            <a:ext cx="11338560" cy="82296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To assess the effect of a </a:t>
            </a:r>
            <a:r>
              <a:rPr b="1">
                <a:solidFill>
                  <a:srgbClr val="C00000"/>
                </a:solidFill>
                <a:latin typeface="Calibri"/>
              </a:rPr>
              <a:t>price decrease</a:t>
            </a:r>
            <a:r>
              <a:rPr>
                <a:latin typeface="Calibri"/>
              </a:rPr>
              <a:t> on revenue, ask:</a:t>
            </a:r>
          </a:p>
          <a:p>
            <a:pPr algn="l" marL="0" indent="0">
              <a:spcBef>
                <a:spcPts val="0"/>
              </a:spcBef>
              <a:buNone/>
            </a:pPr>
            <a:r>
              <a:rPr sz="1800" i="1">
                <a:solidFill>
                  <a:srgbClr val="0B2B4E"/>
                </a:solidFill>
                <a:latin typeface="Calibri"/>
              </a:rPr>
              <a:t>        </a:t>
            </a:r>
            <a:r>
              <a:rPr sz="1800" i="1">
                <a:solidFill>
                  <a:srgbClr val="0B2B4E"/>
                </a:solidFill>
                <a:latin typeface="Calibri"/>
              </a:rPr>
              <a:t>[note: if P decreases, Q must increase]</a:t>
            </a:r>
          </a:p>
        </p:txBody>
      </p:sp>
      <p:grpSp>
        <p:nvGrpSpPr>
          <p:cNvPr id="116" name="Group pair 116"/>
          <p:cNvGrpSpPr/>
          <p:nvPr/>
        </p:nvGrpSpPr>
        <p:grpSpPr>
          <a:xfrm>
            <a:off x="256032" y="3931920"/>
            <a:ext cx="5806440" cy="1124712"/>
            <a:chOff x="256032" y="3931920"/>
            <a:chExt cx="5806440" cy="1124712"/>
          </a:xfrm>
        </p:grpSpPr>
        <p:sp>
          <p:nvSpPr>
            <p:cNvPr id="9" name="Rounded Rectangle 8"/>
            <p:cNvSpPr/>
            <p:nvPr/>
          </p:nvSpPr>
          <p:spPr>
            <a:xfrm>
              <a:off x="256032" y="3931920"/>
              <a:ext cx="5806440" cy="1124712"/>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 y="4023360"/>
              <a:ext cx="5422392" cy="941832"/>
            </a:xfrm>
            <a:prstGeom prst="rect">
              <a:avLst/>
            </a:prstGeom>
            <a:noFill/>
          </p:spPr>
          <p:txBody>
            <a:bodyPr wrap="square" lIns="45720" rIns="45720" tIns="0" bIns="0" anchor="ctr">
              <a:spAutoFit/>
            </a:bodyPr>
            <a:lstStyle/>
            <a:p>
              <a:pPr algn="l"/>
              <a:r>
                <a:rPr sz="1800" b="0" i="0" u="none">
                  <a:solidFill>
                    <a:srgbClr val="0B2B4E"/>
                  </a:solidFill>
                  <a:latin typeface="Calibri"/>
                </a:rPr>
                <a:t>Is the % reduction in </a:t>
              </a:r>
              <a:r>
                <a:rPr sz="1800" b="0" i="1" u="none">
                  <a:solidFill>
                    <a:srgbClr val="0B2B4E"/>
                  </a:solidFill>
                  <a:latin typeface="Calibri"/>
                </a:rPr>
                <a:t>P</a:t>
              </a:r>
              <a:r>
                <a:rPr sz="1800" b="0" i="0" u="none">
                  <a:solidFill>
                    <a:srgbClr val="0B2B4E"/>
                  </a:solidFill>
                  <a:latin typeface="Calibri"/>
                </a:rPr>
                <a:t> </a:t>
              </a:r>
              <a:r>
                <a:rPr sz="1800" b="1" i="0" u="sng">
                  <a:solidFill>
                    <a:srgbClr val="0B2B4E"/>
                  </a:solidFill>
                  <a:latin typeface="Calibri"/>
                </a:rPr>
                <a:t>smaller</a:t>
              </a:r>
              <a:r>
                <a:rPr sz="1800" b="0" i="0" u="none">
                  <a:solidFill>
                    <a:srgbClr val="0B2B4E"/>
                  </a:solidFill>
                  <a:latin typeface="Calibri"/>
                </a:rPr>
                <a:t> than the % increase in </a:t>
              </a:r>
              <a:r>
                <a:rPr sz="1800" b="0" i="1" u="none">
                  <a:solidFill>
                    <a:srgbClr val="0B2B4E"/>
                  </a:solidFill>
                  <a:latin typeface="Calibri"/>
                </a:rPr>
                <a:t>Q</a:t>
              </a:r>
              <a:r>
                <a:rPr sz="1800" b="0" i="0" u="none">
                  <a:solidFill>
                    <a:srgbClr val="0B2B4E"/>
                  </a:solidFill>
                  <a:latin typeface="Calibri"/>
                </a:rPr>
                <a:t>?
</a:t>
              </a:r>
              <a:r>
                <a:rPr sz="1800" b="0" i="0" u="none">
                  <a:solidFill>
                    <a:srgbClr val="0B2B4E"/>
                  </a:solidFill>
                  <a:latin typeface="Calibri"/>
                </a:rPr>
                <a:t>If yes: total revenue rises
</a:t>
              </a:r>
              <a:r>
                <a:rPr sz="1800" b="0" i="0" u="none">
                  <a:solidFill>
                    <a:srgbClr val="0B2B4E"/>
                  </a:solidFill>
                  <a:latin typeface="Calibri"/>
                </a:rPr>
                <a:t>→ Demand is </a:t>
              </a:r>
              <a:r>
                <a:rPr sz="1800" b="1" i="0" u="none">
                  <a:solidFill>
                    <a:srgbClr val="0070C0"/>
                  </a:solidFill>
                  <a:latin typeface="Calibri"/>
                </a:rPr>
                <a:t>elastic</a:t>
              </a:r>
            </a:p>
          </p:txBody>
        </p:sp>
      </p:grpSp>
      <p:grpSp>
        <p:nvGrpSpPr>
          <p:cNvPr id="117" name="Group pair 117"/>
          <p:cNvGrpSpPr/>
          <p:nvPr/>
        </p:nvGrpSpPr>
        <p:grpSpPr>
          <a:xfrm>
            <a:off x="6355080" y="3931920"/>
            <a:ext cx="5623560" cy="1124712"/>
            <a:chOff x="6355080" y="3931920"/>
            <a:chExt cx="5623560" cy="1124712"/>
          </a:xfrm>
        </p:grpSpPr>
        <p:sp>
          <p:nvSpPr>
            <p:cNvPr id="11" name="Rounded Rectangle 10"/>
            <p:cNvSpPr/>
            <p:nvPr/>
          </p:nvSpPr>
          <p:spPr>
            <a:xfrm>
              <a:off x="6355080" y="3931920"/>
              <a:ext cx="5623560" cy="1124712"/>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4" y="4023360"/>
              <a:ext cx="5239512" cy="941832"/>
            </a:xfrm>
            <a:prstGeom prst="rect">
              <a:avLst/>
            </a:prstGeom>
            <a:noFill/>
          </p:spPr>
          <p:txBody>
            <a:bodyPr wrap="square" lIns="45720" rIns="45720" tIns="0" bIns="0" anchor="ctr">
              <a:spAutoFit/>
            </a:bodyPr>
            <a:lstStyle/>
            <a:p>
              <a:pPr algn="l"/>
              <a:r>
                <a:rPr sz="1800" b="0" i="0" u="none">
                  <a:solidFill>
                    <a:srgbClr val="0B2B4E"/>
                  </a:solidFill>
                  <a:latin typeface="Calibri"/>
                </a:rPr>
                <a:t>Is the % reduction in </a:t>
              </a:r>
              <a:r>
                <a:rPr sz="1800" b="0" i="1" u="none">
                  <a:solidFill>
                    <a:srgbClr val="0B2B4E"/>
                  </a:solidFill>
                  <a:latin typeface="Calibri"/>
                </a:rPr>
                <a:t>P</a:t>
              </a:r>
              <a:r>
                <a:rPr sz="1800" b="0" i="0" u="none">
                  <a:solidFill>
                    <a:srgbClr val="0B2B4E"/>
                  </a:solidFill>
                  <a:latin typeface="Calibri"/>
                </a:rPr>
                <a:t> </a:t>
              </a:r>
              <a:r>
                <a:rPr sz="1800" b="1" i="0" u="sng">
                  <a:solidFill>
                    <a:srgbClr val="0B2B4E"/>
                  </a:solidFill>
                  <a:latin typeface="Calibri"/>
                </a:rPr>
                <a:t>larger</a:t>
              </a:r>
              <a:r>
                <a:rPr sz="1800" b="0" i="0" u="none">
                  <a:solidFill>
                    <a:srgbClr val="0B2B4E"/>
                  </a:solidFill>
                  <a:latin typeface="Calibri"/>
                </a:rPr>
                <a:t> than the % increase in </a:t>
              </a:r>
              <a:r>
                <a:rPr sz="1800" b="0" i="1" u="none">
                  <a:solidFill>
                    <a:srgbClr val="0B2B4E"/>
                  </a:solidFill>
                  <a:latin typeface="Calibri"/>
                </a:rPr>
                <a:t>Q</a:t>
              </a:r>
              <a:r>
                <a:rPr sz="1800" b="0" i="0" u="none">
                  <a:solidFill>
                    <a:srgbClr val="0B2B4E"/>
                  </a:solidFill>
                  <a:latin typeface="Calibri"/>
                </a:rPr>
                <a:t>?
</a:t>
              </a:r>
              <a:r>
                <a:rPr sz="1800" b="0" i="0" u="none">
                  <a:solidFill>
                    <a:srgbClr val="0B2B4E"/>
                  </a:solidFill>
                  <a:latin typeface="Calibri"/>
                </a:rPr>
                <a:t>If yes: total revenue declines
</a:t>
              </a:r>
              <a:r>
                <a:rPr sz="1800" b="0" i="0" u="none">
                  <a:solidFill>
                    <a:srgbClr val="0B2B4E"/>
                  </a:solidFill>
                  <a:latin typeface="Calibri"/>
                </a:rPr>
                <a:t>→ Demand is </a:t>
              </a:r>
              <a:r>
                <a:rPr sz="1800" b="1" i="0" u="none">
                  <a:solidFill>
                    <a:srgbClr val="0070C0"/>
                  </a:solidFill>
                  <a:latin typeface="Calibri"/>
                </a:rPr>
                <a:t>inelastic</a:t>
              </a:r>
            </a:p>
          </p:txBody>
        </p:sp>
      </p:gr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FFEA4D40-B8B2-522C-98C7-92A233DE4E34}" type="slidenum">
              <a:rPr lang="en-US" sz="1200" dirty="0">
                <a:solidFill>
                  <a:srgbClr val="555B66"/>
                </a:solidFill>
                <a:latin typeface="Calibri"/>
              </a:rPr>
              <a:t>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6"/>
                                        </p:tgtEl>
                                        <p:attrNameLst>
                                          <p:attrName>style.visibility</p:attrName>
                                        </p:attrNameLst>
                                      </p:cBhvr>
                                      <p:to>
                                        <p:strVal val="visible"/>
                                      </p:to>
                                    </p:set>
                                    <p:animEffect transition="in" filter="fade">
                                      <p:cBhvr>
                                        <p:cTn id="15" dur="500"/>
                                        <p:tgtEl>
                                          <p:spTgt spid="1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7"/>
                                        </p:tgtEl>
                                        <p:attrNameLst>
                                          <p:attrName>style.visibility</p:attrName>
                                        </p:attrNameLst>
                                      </p:cBhvr>
                                      <p:to>
                                        <p:strVal val="visible"/>
                                      </p:to>
                                    </p:set>
                                    <p:animEffect transition="in" filter="fade">
                                      <p:cBhvr>
                                        <p:cTn id="2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What Can a Price Cut and Revenues Tell Us About the Elasticity?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828800"/>
            <a:ext cx="6309360" cy="356616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a:latin typeface="Calibri"/>
              </a:rPr>
              <a:t>Novo Nordisk</a:t>
            </a:r>
            <a:r>
              <a:rPr>
                <a:latin typeface="Calibri"/>
              </a:rPr>
              <a:t> lowered its U.S. price for Ozempic and Wegovy under a deal with the White House</a:t>
            </a:r>
          </a:p>
          <a:p>
            <a:pPr algn="l"/>
            <a:r>
              <a:rPr>
                <a:latin typeface="Calibri"/>
              </a:rPr>
              <a:t>As a result, revenues are forecasted to fall 5–13%</a:t>
            </a:r>
          </a:p>
          <a:p>
            <a:pPr algn="l"/>
            <a:r>
              <a:rPr>
                <a:latin typeface="Calibri"/>
              </a:rPr>
              <a:t>What does this imply about the </a:t>
            </a:r>
            <a:r>
              <a:rPr b="1">
                <a:solidFill>
                  <a:srgbClr val="0070C0"/>
                </a:solidFill>
                <a:latin typeface="Calibri"/>
              </a:rPr>
              <a:t>elasticity of demand</a:t>
            </a:r>
            <a:r>
              <a:rPr>
                <a:latin typeface="Calibri"/>
              </a:rPr>
              <a:t>?</a:t>
            </a:r>
          </a:p>
          <a:p>
            <a:pPr algn="l" lvl="1"/>
            <a:r>
              <a:rPr>
                <a:latin typeface="Calibri"/>
              </a:rPr>
              <a:t>Elastic?</a:t>
            </a:r>
          </a:p>
          <a:p>
            <a:pPr algn="l" lvl="1"/>
            <a:r>
              <a:rPr>
                <a:latin typeface="Calibri"/>
              </a:rPr>
              <a:t>Inelastic?</a:t>
            </a:r>
          </a:p>
          <a:p>
            <a:pPr algn="l" lvl="1"/>
            <a:r>
              <a:rPr>
                <a:latin typeface="Calibri"/>
              </a:rPr>
              <a:t>E</a:t>
            </a:r>
            <a:r>
              <a:rPr baseline="-25000">
                <a:latin typeface="Calibri"/>
              </a:rPr>
              <a:t>D</a:t>
            </a:r>
            <a:r>
              <a:rPr>
                <a:latin typeface="Calibri"/>
              </a:rPr>
              <a:t>=−1 (unit elastic)?</a:t>
            </a:r>
          </a:p>
          <a:p>
            <a:pPr algn="l" lvl="1"/>
            <a:r>
              <a:rPr>
                <a:latin typeface="Calibri"/>
              </a:rPr>
              <a:t>Need more information?</a:t>
            </a:r>
          </a:p>
        </p:txBody>
      </p:sp>
      <p:grpSp>
        <p:nvGrpSpPr>
          <p:cNvPr id="9702" name="Group pair 9702"/>
          <p:cNvGrpSpPr/>
          <p:nvPr/>
        </p:nvGrpSpPr>
        <p:grpSpPr>
          <a:xfrm>
            <a:off x="6995160" y="2103120"/>
            <a:ext cx="4251960" cy="3264408"/>
            <a:chOff x="6995160" y="2103120"/>
            <a:chExt cx="4251960" cy="3264408"/>
          </a:xfrm>
        </p:grpSpPr>
        <p:pic>
          <p:nvPicPr>
            <p:cNvPr id="8" name="Picture 7" descr="ct_ozempic_image1.png"/>
            <p:cNvPicPr>
              <a:picLocks noChangeAspect="1"/>
            </p:cNvPicPr>
            <p:nvPr/>
          </p:nvPicPr>
          <p:blipFill>
            <a:blip r:embed="rId2"/>
            <a:stretch>
              <a:fillRect/>
            </a:stretch>
          </p:blipFill>
          <p:spPr>
            <a:xfrm>
              <a:off x="6995160" y="2103120"/>
              <a:ext cx="4251960" cy="288036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995160" y="5074920"/>
              <a:ext cx="4251960" cy="292608"/>
            </a:xfrm>
            <a:prstGeom prst="rect">
              <a:avLst/>
            </a:prstGeom>
            <a:noFill/>
          </p:spPr>
          <p:txBody>
            <a:bodyPr wrap="square" lIns="0" rIns="0" tIns="0" bIns="0">
              <a:spAutoFit/>
            </a:bodyPr>
            <a:lstStyle/>
            <a:p>
              <a:pPr algn="ctr"/>
              <a:r>
                <a:rPr sz="1200" b="0" i="1" u="sng">
                  <a:solidFill>
                    <a:srgbClr val="555B66"/>
                  </a:solidFill>
                  <a:latin typeface="Calibri"/>
                  <a:hlinkClick r:id="rId4">
                    <a:extLst>
                      <a:ext xmlns:ahyp="http://schemas.microsoft.com/office/drawing/2018/hyperlinkcolor" uri="{A12FA001-AC4F-418D-AE19-62706E023703}">
                        <ahyp:hlinkClr val="tx"/>
                      </a:ext>
                    </a:extLst>
                  </a:hlinkClick>
                </a:rPr>
                <a:t>Source: Pharmaceutical Technology</a:t>
              </a:r>
            </a:p>
          </p:txBody>
        </p:sp>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C7268266-B9CE-510E-8DAE-CCAC4EF4FAAA}" type="slidenum">
              <a:rPr lang="en-US" sz="1200" dirty="0">
                <a:solidFill>
                  <a:srgbClr val="555B66"/>
                </a:solidFill>
                <a:latin typeface="Calibri"/>
              </a:rPr>
              <a:t>8</a:t>
            </a:fld>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1874519"/>
            <a:ext cx="5486400" cy="731520"/>
          </a:xfrm>
          <a:prstGeom prst="rect">
            <a:avLst/>
          </a:prstGeom>
          <a:noFill/>
        </p:spPr>
        <p:txBody>
          <a:bodyPr wrap="square" lIns="45720" rIns="45720" tIns="0" bIns="0">
            <a:spAutoFit/>
          </a:bodyPr>
          <a:lstStyle/>
          <a:p xmlns:m="http://schemas.openxmlformats.org/officeDocument/2006/math" xmlns:a14="http://schemas.microsoft.com/office/drawing/2010/main">
            <a:r>
              <a:rPr lang="en-US" sz="3400">
                <a:solidFill>
                  <a:srgbClr val="0B2B4E"/>
                </a:solidFill>
                <a:latin typeface="Calibri"/>
              </a:rPr>
              <a:t>Demand is  </a:t>
            </a:r>
            <a:r>
              <a:rPr lang="en-US" sz="3400" b="1">
                <a:solidFill>
                  <a:srgbClr val="0070C0"/>
                </a:solidFill>
                <a:latin typeface="Calibri"/>
              </a:rPr>
              <a:t>inelastic</a:t>
            </a:r>
            <a:endParaRPr lang="en-US"/>
          </a:p>
        </p:txBody>
      </p:sp>
      <p:sp>
        <p:nvSpPr>
          <p:cNvPr id="8" name="TextBox 7"/>
          <p:cNvSpPr txBox="1"/>
          <p:nvPr/>
        </p:nvSpPr>
        <p:spPr>
          <a:xfrm>
            <a:off x="1005840" y="3246120"/>
            <a:ext cx="10241280" cy="219456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A price cut caused TR to fall</a:t>
            </a:r>
          </a:p>
          <a:p>
            <a:pPr algn="l"/>
            <a:r>
              <a:rPr>
                <a:latin typeface="Calibri"/>
              </a:rPr>
              <a:t>The quantity response was too small to offset the price cut</a:t>
            </a:r>
          </a:p>
          <a:p>
            <a:pPr algn="l"/>
            <a:r>
              <a:rPr b="1">
                <a:solidFill>
                  <a:srgbClr val="0070C0"/>
                </a:solidFill>
                <a:latin typeface="Calibri"/>
              </a:rPr>
              <a:t>Inelastic:  </a:t>
            </a:r>
            <a:r>
              <a:rPr i="1">
                <a:latin typeface="Calibri"/>
              </a:rPr>
              <a:t>|</a:t>
            </a:r>
            <a:r>
              <a:rPr i="1">
                <a:latin typeface="Calibri"/>
              </a:rPr>
              <a:t>E</a:t>
            </a:r>
            <a:r>
              <a:rPr i="1" baseline="-25000">
                <a:latin typeface="Calibri"/>
              </a:rPr>
              <a:t>D</a:t>
            </a:r>
            <a:r>
              <a:rPr i="1">
                <a:latin typeface="Calibri"/>
              </a:rPr>
              <a:t>| &lt; 1</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08682F91-49E7-5EED-9DBC-C131636935DD}" type="slidenum">
              <a:rPr lang="en-US" sz="1200" dirty="0">
                <a:solidFill>
                  <a:srgbClr val="555B66"/>
                </a:solidFill>
                <a:latin typeface="Calibri"/>
              </a:rPr>
              <a:t>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What About Profits?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46120" y="1645920"/>
            <a:ext cx="5715000" cy="8686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Calibri"/>
              </a:rPr>
              <a:t>Profit  =  Revenue  −  Costs</a:t>
            </a:r>
          </a:p>
        </p:txBody>
      </p:sp>
      <p:sp>
        <p:nvSpPr>
          <p:cNvPr id="8" name="TextBox 7"/>
          <p:cNvSpPr txBox="1"/>
          <p:nvPr/>
        </p:nvSpPr>
        <p:spPr>
          <a:xfrm>
            <a:off x="1371600" y="2880360"/>
            <a:ext cx="9418320" cy="310896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We know: </a:t>
            </a:r>
            <a:r>
              <a:rPr>
                <a:latin typeface="Calibri"/>
              </a:rPr>
              <a:t>The price decrease caused TR to decrease</a:t>
            </a:r>
          </a:p>
          <a:p>
            <a:pPr algn="l"/>
            <a:r>
              <a:rPr>
                <a:latin typeface="Calibri"/>
              </a:rPr>
              <a:t>A declining price also raises quantity produced/sold Q  →  costs increase</a:t>
            </a:r>
          </a:p>
          <a:p>
            <a:pPr algn="l"/>
            <a:r>
              <a:rPr>
                <a:latin typeface="Calibri"/>
              </a:rPr>
              <a:t>Thus: Profits fell</a:t>
            </a:r>
          </a:p>
          <a:p>
            <a:pPr algn="l"/>
            <a:r>
              <a:rPr>
                <a:latin typeface="Calibri"/>
              </a:rPr>
              <a:t>Markets agreed:  </a:t>
            </a:r>
            <a:r>
              <a:rPr u="sng">
                <a:solidFill>
                  <a:srgbClr val="0070C0"/>
                </a:solidFill>
                <a:latin typeface="Calibri"/>
                <a:hlinkClick r:id="rId3">
                  <a:extLst>
                    <a:ext xmlns:ahyp="http://schemas.microsoft.com/office/drawing/2018/hyperlinkcolor" uri="{A12FA001-AC4F-418D-AE19-62706E023703}">
                      <ahyp:hlinkClr val="tx"/>
                    </a:ext>
                  </a:extLst>
                </a:hlinkClick>
              </a:rPr>
              <a:t>Novo Nordisk shares tumbled ~18%</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A36B6251-3178-565F-97CD-AC46849C5395}" type="slidenum">
              <a:rPr lang="en-US" sz="1200" dirty="0">
                <a:solidFill>
                  <a:srgbClr val="555B66"/>
                </a:solidFill>
                <a:latin typeface="Calibri"/>
              </a:rPr>
              <a:t>10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Summary: Effect of a Price Change on TR — It Depends on </a:t>
            </a:r>
            <a:r>
              <a:rPr sz="3200" b="1" i="0" u="none">
                <a:solidFill>
                  <a:srgbClr val="0B2B4E"/>
                </a:solidFill>
                <a:latin typeface="Calibri"/>
              </a:rPr>
              <a:t>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554480"/>
            <a:ext cx="11338560" cy="91440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Is the percent reduction in price greater or smaller than the percent increase in quantity sold?</a:t>
            </a:r>
          </a:p>
          <a:p>
            <a:pPr algn="l"/>
            <a:r>
              <a:rPr>
                <a:latin typeface="Calibri"/>
              </a:rPr>
              <a:t>More precisely: is demand elastic or inelastic?</a:t>
            </a:r>
          </a:p>
        </p:txBody>
      </p:sp>
      <p:grpSp>
        <p:nvGrpSpPr>
          <p:cNvPr id="113" name="Group pair 113"/>
          <p:cNvGrpSpPr/>
          <p:nvPr/>
        </p:nvGrpSpPr>
        <p:grpSpPr>
          <a:xfrm>
            <a:off x="640080" y="2651760"/>
            <a:ext cx="10881360" cy="3566160"/>
            <a:chOff x="640080" y="2651760"/>
            <a:chExt cx="10881360" cy="3566160"/>
          </a:xfrm>
        </p:grpSpPr>
        <p:sp>
          <p:nvSpPr>
            <p:cNvPr id="8" name="Rectangle 7"/>
            <p:cNvSpPr/>
            <p:nvPr/>
          </p:nvSpPr>
          <p:spPr>
            <a:xfrm>
              <a:off x="640080" y="2651760"/>
              <a:ext cx="10881360" cy="35661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777240" y="2788920"/>
            <a:ext cx="10607040" cy="3291840"/>
          </p:xfrm>
          <a:graphic>
            <a:graphicData uri="http://schemas.openxmlformats.org/drawingml/2006/table">
              <a:tbl>
                <a:tblPr firstRow="0" bandRow="0"/>
                <a:tblGrid>
                  <a:gridCol w="2651760"/>
                  <a:gridCol w="2651760"/>
                  <a:gridCol w="2651760"/>
                  <a:gridCol w="2651760"/>
                </a:tblGrid>
                <a:tr h="658368">
                  <a:tc>
                    <a:txBody>
                      <a:bodyPr wrap="square"/>
                      <a:lstStyle/>
                      <a:p>
                        <a:pPr algn="ctr"/>
                        <a:r>
                          <a:rPr sz="1600" b="1">
                            <a:solidFill>
                              <a:srgbClr val="FFFFFF"/>
                            </a:solidFill>
                            <a:latin typeface="Calibri"/>
                          </a:rPr>
                          <a:t>% change in P</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600" b="1">
                            <a:solidFill>
                              <a:srgbClr val="FFFFFF"/>
                            </a:solidFill>
                            <a:latin typeface="Calibri"/>
                          </a:rPr>
                          <a:t>Resulting % change in Q</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600" b="1">
                            <a:solidFill>
                              <a:srgbClr val="FFFFFF"/>
                            </a:solidFill>
                            <a:latin typeface="Calibri"/>
                          </a:rPr>
                          <a:t>Demand is…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600" b="1">
                            <a:solidFill>
                              <a:srgbClr val="FFFFFF"/>
                            </a:solidFill>
                            <a:latin typeface="Calibri"/>
                          </a:rPr>
                          <a:t>Resulting change in revenue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658368">
                  <a:tc>
                    <a:txBody>
                      <a:bodyPr wrap="square"/>
                      <a:lstStyle/>
                      <a:p>
                        <a:pPr algn="l"/>
                        <a:r>
                          <a:rPr sz="1600" b="1">
                            <a:solidFill>
                              <a:srgbClr val="0B2B4E"/>
                            </a:solidFill>
                            <a:latin typeface="Calibri"/>
                          </a:rPr>
                          <a:t>If P decreases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600" b="0">
                            <a:solidFill>
                              <a:srgbClr val="0B2B4E"/>
                            </a:solidFill>
                            <a:latin typeface="Calibri"/>
                          </a:rPr>
                          <a:t>Relatively large increase in Q</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600" b="0">
                            <a:solidFill>
                              <a:srgbClr val="0B2B4E"/>
                            </a:solidFill>
                            <a:latin typeface="Calibri"/>
                          </a:rPr>
                          <a:t>Elastic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600" b="0">
                            <a:solidFill>
                              <a:srgbClr val="0B2B4E"/>
                            </a:solidFill>
                            <a:latin typeface="Calibri"/>
                          </a:rPr>
                          <a:t>Revenue increases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658368">
                  <a:tc>
                    <a:txBody>
                      <a:bodyPr wrap="square"/>
                      <a:lstStyle/>
                      <a:p>
                        <a:pPr algn="l"/>
                        <a:r>
                          <a:rPr sz="1600" b="1">
                            <a:solidFill>
                              <a:srgbClr val="0B2B4E"/>
                            </a:solidFill>
                            <a:latin typeface="Calibri"/>
                          </a:rPr>
                          <a:t>If P decreases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600" b="0">
                            <a:solidFill>
                              <a:srgbClr val="0B2B4E"/>
                            </a:solidFill>
                            <a:latin typeface="Calibri"/>
                          </a:rPr>
                          <a:t>Relatively small increase in Q</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600" b="0">
                            <a:solidFill>
                              <a:srgbClr val="0B2B4E"/>
                            </a:solidFill>
                            <a:latin typeface="Calibri"/>
                          </a:rPr>
                          <a:t>Inelastic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600" b="0">
                            <a:solidFill>
                              <a:srgbClr val="0B2B4E"/>
                            </a:solidFill>
                            <a:latin typeface="Calibri"/>
                          </a:rPr>
                          <a:t>Revenue decreases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658368">
                  <a:tc>
                    <a:txBody>
                      <a:bodyPr wrap="square"/>
                      <a:lstStyle/>
                      <a:p>
                        <a:pPr algn="l"/>
                        <a:r>
                          <a:rPr sz="1600" b="1">
                            <a:solidFill>
                              <a:srgbClr val="0B2B4E"/>
                            </a:solidFill>
                            <a:latin typeface="Calibri"/>
                          </a:rPr>
                          <a:t>If P increases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600" b="0">
                            <a:solidFill>
                              <a:srgbClr val="0B2B4E"/>
                            </a:solidFill>
                            <a:latin typeface="Calibri"/>
                          </a:rPr>
                          <a:t>Relatively large decline in Q</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600" b="0">
                            <a:solidFill>
                              <a:srgbClr val="0B2B4E"/>
                            </a:solidFill>
                            <a:latin typeface="Calibri"/>
                          </a:rPr>
                          <a:t>Elastic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600" b="0">
                            <a:solidFill>
                              <a:srgbClr val="0B2B4E"/>
                            </a:solidFill>
                            <a:latin typeface="Calibri"/>
                          </a:rPr>
                          <a:t>Revenue decreases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658368">
                  <a:tc>
                    <a:txBody>
                      <a:bodyPr wrap="square"/>
                      <a:lstStyle/>
                      <a:p>
                        <a:pPr algn="l"/>
                        <a:r>
                          <a:rPr sz="1600" b="1">
                            <a:solidFill>
                              <a:srgbClr val="0B2B4E"/>
                            </a:solidFill>
                            <a:latin typeface="Calibri"/>
                          </a:rPr>
                          <a:t>If P increases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600" b="0">
                            <a:solidFill>
                              <a:srgbClr val="0B2B4E"/>
                            </a:solidFill>
                            <a:latin typeface="Calibri"/>
                          </a:rPr>
                          <a:t>Relatively small decline in Q</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600" b="0">
                            <a:solidFill>
                              <a:srgbClr val="0B2B4E"/>
                            </a:solidFill>
                            <a:latin typeface="Calibri"/>
                          </a:rPr>
                          <a:t>Inelastic</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600" b="0">
                            <a:solidFill>
                              <a:srgbClr val="0B2B4E"/>
                            </a:solidFill>
                            <a:latin typeface="Calibri"/>
                          </a:rPr>
                          <a:t>Revenue increases</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bl>
            </a:graphicData>
          </a:graphic>
        </p:graphicFrame>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AF540A15-85A1-5986-921E-239DF3489994}" type="slidenum">
              <a:rPr lang="en-US" sz="1200" dirty="0">
                <a:solidFill>
                  <a:srgbClr val="555B66"/>
                </a:solidFill>
                <a:latin typeface="Calibri"/>
              </a:rPr>
              <a:t>11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The Netflix 2014 Price Increase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2039" y="1783080"/>
            <a:ext cx="10607040" cy="39319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a:latin typeface="Calibri"/>
              </a:rPr>
              <a:t>In 2014, Netflix raised its monthly price by $1, from $7.99 to $8.99</a:t>
            </a:r>
          </a:p>
          <a:p>
            <a:pPr algn="l"/>
            <a:r>
              <a:rPr>
                <a:latin typeface="Calibri"/>
              </a:rPr>
              <a:t>Then: 50 million subscribers, own-price elasticity of demand </a:t>
            </a:r>
            <a:r>
              <a:rPr b="1">
                <a:solidFill>
                  <a:srgbClr val="0070C0"/>
                </a:solidFill>
                <a:latin typeface="Calibri"/>
              </a:rPr>
              <a:t>≈ −2</a:t>
            </a:r>
          </a:p>
          <a:p>
            <a:pPr algn="l"/>
            <a:r>
              <a:rPr>
                <a:latin typeface="Calibri"/>
              </a:rPr>
              <a:t>Implications of the price increase for:</a:t>
            </a:r>
          </a:p>
          <a:p>
            <a:pPr algn="l" lvl="1"/>
            <a:r>
              <a:rPr>
                <a:latin typeface="Calibri"/>
              </a:rPr>
              <a:t>Number of subscriptions (quantitative)?</a:t>
            </a:r>
          </a:p>
          <a:p>
            <a:pPr algn="l" lvl="1"/>
            <a:r>
              <a:rPr>
                <a:latin typeface="Calibri"/>
              </a:rPr>
              <a:t>Revenue (qualitative)?</a:t>
            </a:r>
          </a:p>
          <a:p>
            <a:pPr algn="l" lvl="1"/>
            <a:r>
              <a:rPr>
                <a:latin typeface="Calibri"/>
              </a:rPr>
              <a:t>Profits (speculative)?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E78DDFAD-BFD6-5411-B71F-E4CA0CA35FDF}" type="slidenum">
              <a:rPr lang="en-US" sz="1200" dirty="0">
                <a:solidFill>
                  <a:srgbClr val="555B66"/>
                </a:solidFill>
                <a:latin typeface="Calibri"/>
              </a:rPr>
              <a:t>12</a:t>
            </a:fld>
          </a:p>
        </p:txBody>
      </p:sp>
      <p:grpSp>
        <p:nvGrpSpPr>
          <p:cNvPr id="9700" name="Group 14">
            <a:extLst>
              <a:ext uri="{FF2B5EF4-FFF2-40B4-BE49-F238E27FC236}">
                <a16:creationId xmlns:a16="http://schemas.microsoft.com/office/drawing/2014/main" id="{C7881A0F-62FF-0536-16AD-55B1DC27DD3D}"/>
              </a:ext>
            </a:extLst>
          </p:cNvPr>
          <p:cNvGrpSpPr/>
          <p:nvPr/>
        </p:nvGrpSpPr>
        <p:grpSpPr>
          <a:xfrm>
            <a:off x="6826842" y="6190488"/>
            <a:ext cx="5112854" cy="539496"/>
            <a:chOff x="7550576" y="5715000"/>
            <a:chExt cx="4389120" cy="658368"/>
          </a:xfrm>
        </p:grpSpPr>
        <p:sp>
          <p:nvSpPr>
            <p:cNvPr id="97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Group Discussion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Netflix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11338560" cy="54864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Subscriptions decline</a:t>
            </a:r>
            <a:r>
              <a:rPr sz="2200">
                <a:solidFill>
                  <a:srgbClr val="0B2B4E"/>
                </a:solidFill>
                <a:latin typeface="Calibri"/>
              </a:rPr>
              <a:t> — by how much? Use Method 1 with </a:t>
            </a:r>
            <a:r>
              <a:rPr sz="2200" b="1">
                <a:solidFill>
                  <a:srgbClr val="0070C0"/>
                </a:solidFill>
                <a:latin typeface="Calibri"/>
              </a:rPr>
              <a:t>E</a:t>
            </a:r>
            <a:r>
              <a:rPr sz="2200" b="1" baseline="-25000">
                <a:solidFill>
                  <a:srgbClr val="0070C0"/>
                </a:solidFill>
                <a:latin typeface="Calibri"/>
              </a:rPr>
              <a:t>D</a:t>
            </a:r>
            <a:r>
              <a:rPr sz="2200" b="1">
                <a:solidFill>
                  <a:srgbClr val="0070C0"/>
                </a:solidFill>
                <a:latin typeface="Calibri"/>
              </a:rPr>
              <a:t> = −2</a:t>
            </a:r>
            <a:r>
              <a:rPr sz="2200">
                <a:solidFill>
                  <a:srgbClr val="0B2B4E"/>
                </a:solidFill>
                <a:latin typeface="Calibri"/>
              </a:rPr>
              <a:t> :</a:t>
            </a:r>
          </a:p>
        </p:txBody>
      </p:sp>
      <p:sp>
        <p:nvSpPr>
          <p:cNvPr id="8" name="TextBox 7"/>
          <p:cNvSpPr txBox="1"/>
          <p:nvPr/>
        </p:nvSpPr>
        <p:spPr>
          <a:xfrm>
            <a:off x="2423160" y="2331720"/>
            <a:ext cx="7315200" cy="1051560"/>
          </a:xfrm>
          <a:prstGeom prst="rect">
            <a:avLst/>
          </a:prstGeom>
          <a:noFill/>
        </p:spPr>
        <p:txBody>
          <a:bodyPr wrap="square" anchor="ctr">
            <a:spAutoFit/>
          </a:bodyPr>
          <a:lstStyle/>
          <a:p xmlns:m="http://schemas.openxmlformats.org/officeDocument/2006/math" xmlns:a14="http://schemas.microsoft.com/office/drawing/2010/main">
            <a:pPr algn="ctr">
              <a:defRPr sz="2600" b="0" i="1">
                <a:solidFill>
                  <a:srgbClr val="0B2B4E"/>
                </a:solidFill>
                <a:latin typeface="Cambria Math"/>
              </a:defRPr>
            </a:pPr>
            <a14:m>
              <m:oMathPara>
                <m:oMathParaPr>
                  <m:jc m:val="centerGroup"/>
                </m:oMathParaPr>
                <m:oMath>
                  <m:sSub>
                    <m:sSubPr>
                      <m:ctrlPr>
                        <a:rPr lang="en-US" i="1">
                          <a:latin typeface="Cambria Math"/>
                        </a:rPr>
                      </m:ctrlPr>
                    </m:sSubPr>
                    <m:e>
                      <m:r>
                        <a:rPr lang="en-US" b="0" i="1" sz="2600">
                          <a:solidFill>
                            <a:srgbClr val="0B2B4E"/>
                          </a:solidFill>
                          <a:latin typeface="Cambria Math"/>
                          <a:ea typeface="Cambria Math"/>
                        </a:rPr>
                        <m:t>E</m:t>
                      </m:r>
                    </m:e>
                    <m:sub>
                      <m:r>
                        <m:rPr>
                          <m:sty m:val="p"/>
                        </m:rPr>
                        <a:rPr lang="en-US" b="0" i="0" sz="2600">
                          <a:solidFill>
                            <a:srgbClr val="0B2B4E"/>
                          </a:solidFill>
                          <a:latin typeface="Cambria Math"/>
                        </a:rPr>
                        <m:t xml:space="preserve">D</m:t>
                      </m:r>
                    </m:sub>
                  </m:sSub>
                  <m:r>
                    <m:rPr>
                      <m:sty m:val="p"/>
                    </m:rPr>
                    <a:rPr lang="en-US" b="0" i="0" sz="2600">
                      <a:solidFill>
                        <a:srgbClr val="0B2B4E"/>
                      </a:solidFill>
                      <a:latin typeface="Cambria Math"/>
                    </a:rPr>
                    <m:t xml:space="preserve"> = </m:t>
                  </m:r>
                  <m:f>
                    <m:fPr>
                      <m:ctrlPr>
                        <a:rPr lang="en-US" i="1">
                          <a:latin typeface="Cambria Math"/>
                        </a:rPr>
                      </m:ctrlPr>
                    </m:fPr>
                    <m:num>
                      <m:r>
                        <m:rPr>
                          <m:sty m:val="p"/>
                        </m:rPr>
                        <a:rPr lang="en-US" b="0" i="0" sz="2600">
                          <a:solidFill>
                            <a:srgbClr val="0B2B4E"/>
                          </a:solidFill>
                          <a:latin typeface="Cambria Math"/>
                        </a:rPr>
                        <m:t xml:space="preserve">%Δ</m:t>
                      </m:r>
                      <m:r>
                        <a:rPr lang="en-US" b="0" i="1" sz="2600">
                          <a:solidFill>
                            <a:srgbClr val="0B2B4E"/>
                          </a:solidFill>
                          <a:latin typeface="Cambria Math"/>
                          <a:ea typeface="Cambria Math"/>
                        </a:rPr>
                        <m:t>Q</m:t>
                      </m:r>
                    </m:num>
                    <m:den>
                      <m:r>
                        <m:rPr>
                          <m:sty m:val="p"/>
                        </m:rPr>
                        <a:rPr lang="en-US" b="0" i="0" sz="2600">
                          <a:solidFill>
                            <a:srgbClr val="0B2B4E"/>
                          </a:solidFill>
                          <a:latin typeface="Cambria Math"/>
                        </a:rPr>
                        <m:t xml:space="preserve">%Δ</m:t>
                      </m:r>
                      <m:r>
                        <a:rPr lang="en-US" b="0" i="1" sz="2600">
                          <a:solidFill>
                            <a:srgbClr val="0B2B4E"/>
                          </a:solidFill>
                          <a:latin typeface="Cambria Math"/>
                          <a:ea typeface="Cambria Math"/>
                        </a:rPr>
                        <m:t>P</m:t>
                      </m:r>
                    </m:den>
                  </m:f>
                  <m:r>
                    <m:rPr>
                      <m:sty m:val="p"/>
                    </m:rPr>
                    <a:rPr lang="en-US" b="0" i="0" sz="2600">
                      <a:solidFill>
                        <a:srgbClr val="0B2B4E"/>
                      </a:solidFill>
                      <a:latin typeface="Cambria Math"/>
                    </a:rPr>
                    <m:t xml:space="preserve"> = </m:t>
                  </m:r>
                  <m:f>
                    <m:fPr>
                      <m:ctrlPr>
                        <a:rPr lang="en-US" i="1">
                          <a:latin typeface="Cambria Math"/>
                        </a:rPr>
                      </m:ctrlPr>
                    </m:fPr>
                    <m:num>
                      <m:r>
                        <m:rPr>
                          <m:sty m:val="p"/>
                        </m:rPr>
                        <a:rPr lang="en-US" b="0" i="0" sz="2600">
                          <a:solidFill>
                            <a:srgbClr val="0B2B4E"/>
                          </a:solidFill>
                          <a:latin typeface="Cambria Math"/>
                        </a:rPr>
                        <m:t xml:space="preserve">%Δ</m:t>
                      </m:r>
                      <m:r>
                        <a:rPr lang="en-US" b="0" i="1" sz="2600">
                          <a:solidFill>
                            <a:srgbClr val="0B2B4E"/>
                          </a:solidFill>
                          <a:latin typeface="Cambria Math"/>
                          <a:ea typeface="Cambria Math"/>
                        </a:rPr>
                        <m:t>Q</m:t>
                      </m:r>
                    </m:num>
                    <m:den>
                      <m:r>
                        <m:rPr>
                          <m:sty m:val="p"/>
                        </m:rPr>
                        <a:rPr lang="en-US" b="0" i="0" sz="2600">
                          <a:solidFill>
                            <a:srgbClr val="0B2B4E"/>
                          </a:solidFill>
                          <a:latin typeface="Cambria Math"/>
                        </a:rPr>
                        <m:t xml:space="preserve">12.5%</m:t>
                      </m:r>
                    </m:den>
                  </m:f>
                  <m:r>
                    <m:rPr>
                      <m:sty m:val="p"/>
                    </m:rPr>
                    <a:rPr lang="en-US" b="0" i="0" sz="2600">
                      <a:solidFill>
                        <a:srgbClr val="0B2B4E"/>
                      </a:solidFill>
                      <a:latin typeface="Cambria Math"/>
                    </a:rPr>
                    <m:t xml:space="preserve"> = −2</m:t>
                  </m:r>
                </m:oMath>
              </m:oMathPara>
            </a14:m>
            <a:endParaRPr lang="en-US" sz="2600"/>
          </a:p>
        </p:txBody>
      </p:sp>
      <p:sp>
        <p:nvSpPr>
          <p:cNvPr id="9" name="TextBox 8"/>
          <p:cNvSpPr txBox="1"/>
          <p:nvPr/>
        </p:nvSpPr>
        <p:spPr>
          <a:xfrm>
            <a:off x="754919" y="3566160"/>
            <a:ext cx="10972800" cy="45720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a:solidFill>
                  <a:srgbClr val="0B2B4E"/>
                </a:solidFill>
                <a:latin typeface="Calibri"/>
              </a:rPr>
              <a:t>where  %ΔP = (8.99 − 7.99) / 7.99 = +12.5%,   so   %ΔQ = −25%</a:t>
            </a:r>
          </a:p>
        </p:txBody>
      </p:sp>
      <p:sp>
        <p:nvSpPr>
          <p:cNvPr id="10" name="TextBox 9"/>
          <p:cNvSpPr txBox="1"/>
          <p:nvPr/>
        </p:nvSpPr>
        <p:spPr>
          <a:xfrm>
            <a:off x="389159" y="4297680"/>
            <a:ext cx="11338560" cy="1920240"/>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a:solidFill>
                  <a:srgbClr val="0B2B4E"/>
                </a:solidFill>
                <a:latin typeface="Calibri"/>
              </a:rPr>
              <a:t>→  a </a:t>
            </a:r>
            <a:r>
              <a:rPr sz="2200" b="1">
                <a:solidFill>
                  <a:srgbClr val="0070C0"/>
                </a:solidFill>
                <a:latin typeface="Calibri"/>
              </a:rPr>
              <a:t>25% decline</a:t>
            </a:r>
            <a:r>
              <a:rPr sz="2200">
                <a:solidFill>
                  <a:srgbClr val="0B2B4E"/>
                </a:solidFill>
                <a:latin typeface="Calibri"/>
              </a:rPr>
              <a:t> in subscriptions</a:t>
            </a:r>
          </a:p>
          <a:p>
            <a:pPr algn="l"/>
            <a:r>
              <a:rPr b="1">
                <a:latin typeface="Calibri"/>
              </a:rPr>
              <a:t>Revenue:</a:t>
            </a:r>
            <a:r>
              <a:rPr>
                <a:latin typeface="Calibri"/>
              </a:rPr>
              <a:t> demand is </a:t>
            </a:r>
            <a:r>
              <a:rPr b="1">
                <a:solidFill>
                  <a:srgbClr val="0070C0"/>
                </a:solidFill>
                <a:latin typeface="Calibri"/>
              </a:rPr>
              <a:t>elastic</a:t>
            </a:r>
            <a:r>
              <a:rPr>
                <a:latin typeface="Calibri"/>
              </a:rPr>
              <a:t>, so quantity outweighs price  →  revenue falls</a:t>
            </a:r>
          </a:p>
          <a:p>
            <a:pPr algn="l"/>
            <a:r>
              <a:rPr b="1">
                <a:latin typeface="Calibri"/>
              </a:rPr>
              <a:t>Profits:</a:t>
            </a:r>
            <a:r>
              <a:rPr>
                <a:latin typeface="Calibri"/>
              </a:rPr>
              <a:t> fewer subscribers, near-zero cost savings  →  profits likely fell too</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B45C40F2-F2B4-5868-BF9F-18E8E5BC9381}" type="slidenum">
              <a:rPr lang="en-US" sz="1200" dirty="0">
                <a:solidFill>
                  <a:srgbClr val="555B66"/>
                </a:solidFill>
                <a:latin typeface="Calibri"/>
              </a:rPr>
              <a:t>13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500"/>
                                        <p:tgtEl>
                                          <p:spTgt spid="1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Effect transition="in" filter="fade">
                                      <p:cBhvr>
                                        <p:cTn id="22" dur="500"/>
                                        <p:tgtEl>
                                          <p:spTgt spid="1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animEffect transition="in" filter="fade">
                                      <p:cBhvr>
                                        <p:cTn id="27"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Why Is McDonald's Cutting Prices?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t_mcdonalds_image3.png"/>
          <p:cNvPicPr>
            <a:picLocks noChangeAspect="1"/>
          </p:cNvPicPr>
          <p:nvPr/>
        </p:nvPicPr>
        <p:blipFill>
          <a:blip r:embed="rId2"/>
          <a:stretch>
            <a:fillRect/>
          </a:stretch>
        </p:blipFill>
        <p:spPr>
          <a:xfrm>
            <a:off x="3127248" y="1371600"/>
            <a:ext cx="5943600" cy="1863171"/>
          </a:xfrm>
          <a:prstGeom prst="rect">
            <a:avLst/>
          </a:prstGeom>
        </p:spPr>
      </p:pic>
      <p:sp>
        <p:nvSpPr>
          <p:cNvPr id="8" name="TextBox 7"/>
          <p:cNvSpPr txBox="1"/>
          <p:nvPr/>
        </p:nvSpPr>
        <p:spPr>
          <a:xfrm>
            <a:off x="1170432" y="3383280"/>
            <a:ext cx="10058400" cy="3035808"/>
          </a:xfrm>
          <a:prstGeom prst="rect">
            <a:avLst/>
          </a:prstGeom>
          <a:noFill/>
        </p:spPr>
        <p:txBody>
          <a:bodyPr wrap="square" lIns="0" rIns="0" tIns="0" bIns="0">
            <a:spAutoFit/>
          </a:bodyPr>
          <a:lstStyle>
            <a:lvl1pPr marL="342900" indent="-342900">
              <a:spcBef>
                <a:spcPts val="12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What does this suggest about its demand elasticity?</a:t>
            </a:r>
          </a:p>
          <a:p>
            <a:pPr algn="l" lvl="1"/>
            <a:r>
              <a:rPr>
                <a:latin typeface="Calibri"/>
              </a:rPr>
              <a:t>Elastic? </a:t>
            </a:r>
          </a:p>
          <a:p>
            <a:pPr algn="l" lvl="1"/>
            <a:r>
              <a:rPr>
                <a:latin typeface="Calibri"/>
              </a:rPr>
              <a:t>Inelastic?</a:t>
            </a:r>
          </a:p>
          <a:p>
            <a:pPr algn="l" lvl="1"/>
            <a:r>
              <a:rPr>
                <a:latin typeface="Calibri"/>
              </a:rPr>
              <a:t>Need more information?</a:t>
            </a:r>
          </a:p>
          <a:p>
            <a:pPr algn="l"/>
            <a:r>
              <a:rPr>
                <a:latin typeface="Calibri"/>
              </a:rPr>
              <a:t>What are the implications for 1) revenue and 2) profit given this elasticity?</a:t>
            </a:r>
          </a:p>
          <a:p>
            <a:pPr algn="l" lvl="1"/>
            <a:r>
              <a:rPr>
                <a:latin typeface="Calibri"/>
              </a:rPr>
              <a:t>Rise?</a:t>
            </a:r>
          </a:p>
          <a:p>
            <a:pPr algn="l" lvl="1"/>
            <a:r>
              <a:rPr>
                <a:latin typeface="Calibri"/>
              </a:rPr>
              <a:t>Fall?</a:t>
            </a:r>
          </a:p>
          <a:p>
            <a:pPr algn="l" lvl="1"/>
            <a:r>
              <a:rPr>
                <a:latin typeface="Calibri"/>
              </a:rPr>
              <a:t>Unchanged?</a:t>
            </a:r>
          </a:p>
          <a:p>
            <a:pPr algn="l" lvl="1"/>
            <a:r>
              <a:rPr>
                <a:latin typeface="Calibri"/>
              </a:rPr>
              <a:t>Need more information?</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rIns="0" tIns="0" bIns="0">
            <a:spAutoFit/>
          </a:bodyPr>
          <a:lstStyle/>
          <a:p>
            <a:pPr algn="r"/>
            <a:fld id="{7EE5B772-28C2-5CCD-AA16-49F8FF391118}" type="slidenum">
              <a:rPr lang="en-US" sz="1200" dirty="0">
                <a:solidFill>
                  <a:srgbClr val="555B66"/>
                </a:solidFill>
                <a:latin typeface="Calibri"/>
              </a:rPr>
              <a:t>14</a:t>
            </a:fld>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5" end="5"/>
                                            </p:txEl>
                                          </p:spTgt>
                                        </p:tgtEl>
                                        <p:attrNameLst>
                                          <p:attrName>style.visibility</p:attrName>
                                        </p:attrNameLst>
                                      </p:cBhvr>
                                      <p:to>
                                        <p:strVal val="visible"/>
                                      </p:to>
                                    </p:set>
                                    <p:animEffect transition="in" filter="fade">
                                      <p:cBhvr>
                                        <p:cTn id="10" dur="500"/>
                                        <p:tgtEl>
                                          <p:spTgt spid="8">
                                            <p:txEl>
                                              <p:pRg st="5" end="5"/>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500"/>
                                        <p:tgtEl>
                                          <p:spTgt spid="8">
                                            <p:txEl>
                                              <p:pRg st="6" end="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7" end="7"/>
                                            </p:txEl>
                                          </p:spTgt>
                                        </p:tgtEl>
                                        <p:attrNameLst>
                                          <p:attrName>style.visibility</p:attrName>
                                        </p:attrNameLst>
                                      </p:cBhvr>
                                      <p:to>
                                        <p:strVal val="visible"/>
                                      </p:to>
                                    </p:set>
                                    <p:animEffect transition="in" filter="fade">
                                      <p:cBhvr>
                                        <p:cTn id="16" dur="500"/>
                                        <p:tgtEl>
                                          <p:spTgt spid="8">
                                            <p:txEl>
                                              <p:pRg st="7" end="7"/>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fade">
                                      <p:cBhvr>
                                        <p:cTn id="19"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Mega Millions, Revisited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2039" y="1783080"/>
            <a:ext cx="10881360" cy="329184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April 2025: Mega Millions raised its ticket price from $2 to $5  (+150%)</a:t>
            </a:r>
          </a:p>
          <a:p>
            <a:pPr algn="l"/>
            <a:r>
              <a:rPr>
                <a:latin typeface="Calibri"/>
              </a:rPr>
              <a:t>In New York, tickets sold per drawing fell from ~1.9 million to ~560,000  (≈ −70%)</a:t>
            </a:r>
          </a:p>
          <a:p>
            <a:pPr algn="l"/>
            <a:r>
              <a:rPr>
                <a:latin typeface="Calibri"/>
              </a:rPr>
              <a:t>We computed  </a:t>
            </a:r>
            <a:r>
              <a:rPr b="1">
                <a:solidFill>
                  <a:srgbClr val="0070C0"/>
                </a:solidFill>
                <a:latin typeface="Calibri"/>
              </a:rPr>
              <a:t>E</a:t>
            </a:r>
            <a:r>
              <a:rPr b="1" baseline="-25000">
                <a:solidFill>
                  <a:srgbClr val="0070C0"/>
                </a:solidFill>
                <a:latin typeface="Calibri"/>
              </a:rPr>
              <a:t>D</a:t>
            </a:r>
            <a:r>
              <a:rPr b="1">
                <a:solidFill>
                  <a:srgbClr val="0070C0"/>
                </a:solidFill>
                <a:latin typeface="Calibri"/>
              </a:rPr>
              <a:t> ≈ −0.47</a:t>
            </a:r>
            <a:r>
              <a:rPr>
                <a:latin typeface="Calibri"/>
              </a:rPr>
              <a:t>  →  inelastic</a:t>
            </a:r>
          </a:p>
          <a:p>
            <a:pPr algn="l"/>
            <a:r>
              <a:rPr b="1">
                <a:latin typeface="Calibri"/>
              </a:rPr>
              <a:t>Inelastic demand suggests revenue should RISE when the price rises. Did it?</a:t>
            </a:r>
          </a:p>
        </p:txBody>
      </p:sp>
      <p:sp>
        <p:nvSpPr>
          <p:cNvPr id="8" name="Rounded Rectangle 7"/>
          <p:cNvSpPr/>
          <p:nvPr/>
        </p:nvSpPr>
        <p:spPr>
          <a:xfrm>
            <a:off x="1417320" y="5257800"/>
            <a:ext cx="9326880" cy="77724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5367528"/>
            <a:ext cx="8961120" cy="557784"/>
          </a:xfrm>
          <a:prstGeom prst="rect">
            <a:avLst/>
          </a:prstGeom>
          <a:noFill/>
        </p:spPr>
        <p:txBody>
          <a:bodyPr wrap="square" lIns="45720" rIns="45720" tIns="0" bIns="0" anchor="ctr">
            <a:spAutoFit/>
          </a:bodyPr>
          <a:lstStyle/>
          <a:p>
            <a:pPr algn="l"/>
            <a:r>
              <a:rPr sz="1500" b="1" i="0" u="none">
                <a:solidFill>
                  <a:srgbClr val="0B2B4E"/>
                </a:solidFill>
                <a:latin typeface="Calibri"/>
              </a:rPr>
              <a:t>Caution: </a:t>
            </a:r>
            <a:r>
              <a:rPr sz="1500" b="0" i="0" u="none">
                <a:solidFill>
                  <a:srgbClr val="0B2B4E"/>
                </a:solidFill>
                <a:latin typeface="Calibri"/>
              </a:rPr>
              <a:t>Method 1 approximates % changes – for LARGE changes like this one, the elasticity-revenue rule can mislead</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5064C755-CC80-55A3-BB83-1820E17D2280}" type="slidenum">
              <a:rPr lang="en-US" sz="1200" dirty="0">
                <a:solidFill>
                  <a:srgbClr val="555B66"/>
                </a:solidFill>
                <a:latin typeface="Calibri"/>
              </a:rPr>
              <a:t>15</a:t>
            </a:fld>
          </a:p>
        </p:txBody>
      </p:sp>
      <p:grpSp>
        <p:nvGrpSpPr>
          <p:cNvPr id="9700" name="Group 14">
            <a:extLst>
              <a:ext uri="{FF2B5EF4-FFF2-40B4-BE49-F238E27FC236}">
                <a16:creationId xmlns:a16="http://schemas.microsoft.com/office/drawing/2014/main" id="{C7881A0F-62FF-0536-16AD-55B1DC27DD3D}"/>
              </a:ext>
            </a:extLst>
          </p:cNvPr>
          <p:cNvGrpSpPr/>
          <p:nvPr/>
        </p:nvGrpSpPr>
        <p:grpSpPr>
          <a:xfrm>
            <a:off x="6826842" y="6190488"/>
            <a:ext cx="5112854" cy="539496"/>
            <a:chOff x="7550576" y="5715000"/>
            <a:chExt cx="4389120" cy="658368"/>
          </a:xfrm>
        </p:grpSpPr>
        <p:sp>
          <p:nvSpPr>
            <p:cNvPr id="97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Group Discussion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700"/>
                                        </p:tgtEl>
                                        <p:attrNameLst>
                                          <p:attrName>style.visibility</p:attrName>
                                        </p:attrNameLst>
                                      </p:cBhvr>
                                      <p:to>
                                        <p:strVal val="visible"/>
                                      </p:to>
                                    </p:set>
                                    <p:animEffect transition="in" filter="fade">
                                      <p:cBhvr>
                                        <p:cTn id="22" dur="500"/>
                                        <p:tgtEl>
                                          <p:spTgt spid="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920240"/>
            <a:ext cx="12191695" cy="1005840"/>
          </a:xfrm>
          <a:prstGeom prst="rect">
            <a:avLst/>
          </a:prstGeom>
          <a:noFill/>
        </p:spPr>
        <p:txBody>
          <a:bodyPr wrap="square" lIns="0" rIns="0" tIns="0" bIns="0">
            <a:spAutoFit/>
          </a:bodyPr>
          <a:lstStyle/>
          <a:p>
            <a:pPr algn="ctr"/>
            <a:r>
              <a:rPr sz="6000" b="1" i="0" u="none">
                <a:solidFill>
                  <a:srgbClr val="0B2B4E"/>
                </a:solidFill>
                <a:latin typeface="Calibri"/>
              </a:rPr>
              <a:t>Marginal Revenue</a:t>
            </a:r>
          </a:p>
        </p:txBody>
      </p:sp>
      <p:sp>
        <p:nvSpPr>
          <p:cNvPr id="3" name="TextBox 2"/>
          <p:cNvSpPr txBox="1"/>
          <p:nvPr/>
        </p:nvSpPr>
        <p:spPr>
          <a:xfrm>
            <a:off x="0" y="2971800"/>
            <a:ext cx="12191695" cy="685800"/>
          </a:xfrm>
          <a:prstGeom prst="rect">
            <a:avLst/>
          </a:prstGeom>
          <a:noFill/>
        </p:spPr>
        <p:txBody>
          <a:bodyPr wrap="square" lIns="0" rIns="0" tIns="0" bIns="0">
            <a:spAutoFit/>
          </a:bodyPr>
          <a:lstStyle/>
          <a:p>
            <a:pPr algn="ctr"/>
            <a:r>
              <a:rPr sz="4000" b="1" i="0" u="none">
                <a:solidFill>
                  <a:srgbClr val="E09F3E"/>
                </a:solidFill>
                <a:latin typeface="Calibri"/>
              </a:rPr>
              <a:t>Module 2  ·  Video 2</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4224528"/>
            <a:ext cx="12191695" cy="502920"/>
          </a:xfrm>
          <a:prstGeom prst="rect">
            <a:avLst/>
          </a:prstGeom>
          <a:noFill/>
        </p:spPr>
        <p:txBody>
          <a:bodyPr wrap="square" lIns="0" rIns="0" t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rIns="0" t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8010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Law of Demand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2" name="TextBox 11"/>
          <p:cNvSpPr txBox="1"/>
          <p:nvPr/>
        </p:nvSpPr>
        <p:spPr>
          <a:xfrm>
            <a:off x="1874519" y="324431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Demand and Revenue</a:t>
            </a:r>
          </a:p>
        </p:txBody>
      </p:sp>
      <p:sp>
        <p:nvSpPr>
          <p:cNvPr id="13" name="Oval 12"/>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BFBFBF"/>
                </a:solidFill>
                <a:latin typeface="Calibri"/>
              </a:rPr>
              <a:t>3a</a:t>
            </a:r>
          </a:p>
        </p:txBody>
      </p:sp>
      <p:sp>
        <p:nvSpPr>
          <p:cNvPr id="14" name="TextBox 13"/>
          <p:cNvSpPr txBox="1"/>
          <p:nvPr/>
        </p:nvSpPr>
        <p:spPr>
          <a:xfrm>
            <a:off x="2084831" y="407642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Elasticity and Revenue</a:t>
            </a:r>
          </a:p>
        </p:txBody>
      </p:sp>
      <p:sp>
        <p:nvSpPr>
          <p:cNvPr id="15" name="Rounded Rectangle 14"/>
          <p:cNvSpPr/>
          <p:nvPr/>
        </p:nvSpPr>
        <p:spPr>
          <a:xfrm>
            <a:off x="1252728" y="4768596"/>
            <a:ext cx="10680192"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B2B4E"/>
                </a:solidFill>
                <a:latin typeface="Calibri"/>
              </a:rPr>
              <a:t>3b</a:t>
            </a:r>
          </a:p>
        </p:txBody>
      </p:sp>
      <p:sp>
        <p:nvSpPr>
          <p:cNvPr id="17" name="TextBox 16"/>
          <p:cNvSpPr txBox="1"/>
          <p:nvPr/>
        </p:nvSpPr>
        <p:spPr>
          <a:xfrm>
            <a:off x="2084831"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Marginal Revenue</a:t>
            </a:r>
          </a:p>
          <a:p>
            <a:pPr algn="l">
              <a:spcBef>
                <a:spcPts val="0"/>
              </a:spcBef>
              <a:buNone/>
            </a:pPr>
            <a:r>
              <a:rPr sz="2200">
                <a:solidFill>
                  <a:srgbClr val="555B66"/>
                </a:solidFill>
                <a:latin typeface="Calibri"/>
              </a:rPr>
              <a:t>The extra revenue from selling one more unit</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4</a:t>
            </a:r>
          </a:p>
        </p:txBody>
      </p:sp>
      <p:sp>
        <p:nvSpPr>
          <p:cNvPr id="19" name="TextBox 18"/>
          <p:cNvSpPr txBox="1"/>
          <p:nvPr/>
        </p:nvSpPr>
        <p:spPr>
          <a:xfrm>
            <a:off x="1874519" y="574062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Demand Estimation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D11E3725-2B2B-5068-95F8-EA42C5BEA37A}" type="slidenum">
              <a:rPr lang="en-US" sz="1200" dirty="0">
                <a:solidFill>
                  <a:srgbClr val="555B66"/>
                </a:solidFill>
                <a:latin typeface="Calibri"/>
              </a:rPr>
              <a:t>17</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Context: Why Do We Care About Marginal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0200"/>
            <a:ext cx="10149840" cy="9601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buNone/>
            </a:pPr>
            <a:r>
              <a:rPr sz="2300">
                <a:solidFill>
                  <a:srgbClr val="0B2B4E"/>
                </a:solidFill>
                <a:latin typeface="Calibri"/>
              </a:rPr>
              <a:t>General objective: maximize </a:t>
            </a:r>
            <a:r>
              <a:rPr sz="2300" b="1">
                <a:solidFill>
                  <a:srgbClr val="0B2B4E"/>
                </a:solidFill>
                <a:latin typeface="Calibri"/>
              </a:rPr>
              <a:t>net benefits</a:t>
            </a:r>
          </a:p>
          <a:p>
            <a:pPr algn="l" lvl="1"/>
            <a:r>
              <a:rPr sz="2000">
                <a:latin typeface="Calibri"/>
              </a:rPr>
              <a:t>Use marginal analysis</a:t>
            </a:r>
          </a:p>
        </p:txBody>
      </p:sp>
      <p:sp>
        <p:nvSpPr>
          <p:cNvPr id="8" name="Rounded Rectangle 7"/>
          <p:cNvSpPr/>
          <p:nvPr/>
        </p:nvSpPr>
        <p:spPr>
          <a:xfrm>
            <a:off x="1463040" y="2523744"/>
            <a:ext cx="9262872" cy="658368"/>
          </a:xfrm>
          <a:prstGeom prst="roundRect">
            <a:avLst>
              <a:gd name="adj" fmla="val 1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Net benefits are maximized where MB = MC</a:t>
            </a:r>
          </a:p>
        </p:txBody>
      </p:sp>
      <p:sp>
        <p:nvSpPr>
          <p:cNvPr id="9" name="TextBox 8"/>
          <p:cNvSpPr txBox="1"/>
          <p:nvPr/>
        </p:nvSpPr>
        <p:spPr>
          <a:xfrm>
            <a:off x="1005840" y="3611880"/>
            <a:ext cx="10149840" cy="5029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a:solidFill>
                  <a:srgbClr val="0B2B4E"/>
                </a:solidFill>
                <a:latin typeface="Calibri"/>
              </a:rPr>
              <a:t>Firms’ objective: maximize </a:t>
            </a:r>
            <a:r>
              <a:rPr sz="2300" b="1">
                <a:solidFill>
                  <a:srgbClr val="0B2B4E"/>
                </a:solidFill>
                <a:latin typeface="Calibri"/>
              </a:rPr>
              <a:t>profits</a:t>
            </a:r>
          </a:p>
        </p:txBody>
      </p:sp>
      <p:sp>
        <p:nvSpPr>
          <p:cNvPr id="10" name="Rounded Rectangle 9"/>
          <p:cNvSpPr/>
          <p:nvPr/>
        </p:nvSpPr>
        <p:spPr>
          <a:xfrm>
            <a:off x="1463040" y="4114800"/>
            <a:ext cx="9262872" cy="658368"/>
          </a:xfrm>
          <a:prstGeom prst="roundRect">
            <a:avLst>
              <a:gd name="adj" fmla="val 18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Calibri"/>
              </a:rPr>
              <a:t>Produce where Marginal Revenue (MR) = Marginal Cost (MC)</a:t>
            </a:r>
          </a:p>
        </p:txBody>
      </p:sp>
      <p:sp>
        <p:nvSpPr>
          <p:cNvPr id="11" name="TextBox 10"/>
          <p:cNvSpPr txBox="1"/>
          <p:nvPr/>
        </p:nvSpPr>
        <p:spPr>
          <a:xfrm>
            <a:off x="1005840" y="5257800"/>
            <a:ext cx="10149840" cy="54864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a:solidFill>
                  <a:srgbClr val="0B2B4E"/>
                </a:solidFill>
                <a:latin typeface="Calibri"/>
              </a:rPr>
              <a:t>Today: how to compute </a:t>
            </a:r>
            <a:r>
              <a:rPr sz="2300" b="1" i="1">
                <a:solidFill>
                  <a:srgbClr val="0B2B4E"/>
                </a:solidFill>
                <a:latin typeface="Calibri"/>
              </a:rPr>
              <a:t>MR</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1F781904-1376-5E0B-A609-DB08D4E0BB65}" type="slidenum">
              <a:rPr lang="en-US" sz="1200" dirty="0">
                <a:solidFill>
                  <a:srgbClr val="555B66"/>
                </a:solidFill>
                <a:latin typeface="Calibri"/>
              </a:rPr>
              <a:t>18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Marginal Revenue: Definition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737360"/>
            <a:ext cx="11338560" cy="137160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a:latin typeface="Calibri"/>
              </a:rPr>
              <a:t>Intuitively:</a:t>
            </a:r>
            <a:r>
              <a:rPr>
                <a:latin typeface="Calibri"/>
              </a:rPr>
              <a:t>  Additional revenue from selling one more unit</a:t>
            </a:r>
          </a:p>
          <a:p>
            <a:pPr algn="l"/>
            <a:r>
              <a:rPr b="1">
                <a:latin typeface="Calibri"/>
              </a:rPr>
              <a:t>Mathematically:</a:t>
            </a:r>
            <a:r>
              <a:rPr>
                <a:latin typeface="Calibri"/>
              </a:rPr>
              <a:t>  How much total revenue changes when quantity sold increases by one unit</a:t>
            </a:r>
          </a:p>
        </p:txBody>
      </p:sp>
      <p:sp>
        <p:nvSpPr>
          <p:cNvPr id="8" name="TextBox 7"/>
          <p:cNvSpPr txBox="1"/>
          <p:nvPr/>
        </p:nvSpPr>
        <p:spPr>
          <a:xfrm>
            <a:off x="3977639" y="3429000"/>
            <a:ext cx="4206240" cy="12344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3000" b="0" i="1">
                <a:solidFill>
                  <a:srgbClr val="0B2B4E"/>
                </a:solidFill>
                <a:latin typeface="Cambria Math"/>
              </a:defRPr>
            </a:pPr>
            <a14:m>
              <m:oMathPara>
                <m:oMathParaPr>
                  <m:jc m:val="centerGroup"/>
                </m:oMathParaPr>
                <m:oMath>
                  <m:r>
                    <m:rPr>
                      <m:sty m:val="p"/>
                    </m:rPr>
                    <a:rPr lang="en-US" b="0" i="0" sz="3000">
                      <a:solidFill>
                        <a:srgbClr val="0B2B4E"/>
                      </a:solidFill>
                      <a:latin typeface="Cambria Math"/>
                    </a:rPr>
                    <m:t xml:space="preserve">MR</m:t>
                  </m:r>
                  <m:r>
                    <m:rPr>
                      <m:sty m:val="p"/>
                    </m:rPr>
                    <a:rPr lang="en-US" b="0" i="0" sz="3000">
                      <a:solidFill>
                        <a:srgbClr val="0B2B4E"/>
                      </a:solidFill>
                      <a:latin typeface="Cambria Math"/>
                    </a:rPr>
                    <m:t xml:space="preserve"> = </m:t>
                  </m:r>
                  <m:f>
                    <m:fPr>
                      <m:ctrlPr>
                        <a:rPr lang="en-US" i="1">
                          <a:latin typeface="Cambria Math"/>
                        </a:rPr>
                      </m:ctrlPr>
                    </m:fPr>
                    <m:num>
                      <m:r>
                        <m:rPr>
                          <m:sty m:val="p"/>
                        </m:rPr>
                        <a:rPr lang="en-US" b="0" i="0" sz="3000">
                          <a:solidFill>
                            <a:srgbClr val="0B2B4E"/>
                          </a:solidFill>
                          <a:latin typeface="Cambria Math"/>
                        </a:rPr>
                        <m:t xml:space="preserve">Δ</m:t>
                      </m:r>
                      <m:r>
                        <m:rPr>
                          <m:sty m:val="p"/>
                        </m:rPr>
                        <a:rPr lang="en-US" b="0" i="0" sz="3000">
                          <a:solidFill>
                            <a:srgbClr val="0B2B4E"/>
                          </a:solidFill>
                          <a:latin typeface="Cambria Math"/>
                        </a:rPr>
                        <m:t xml:space="preserve">TR</m:t>
                      </m:r>
                    </m:num>
                    <m:den>
                      <m:r>
                        <m:rPr>
                          <m:sty m:val="p"/>
                        </m:rPr>
                        <a:rPr lang="en-US" b="0" i="0" sz="3000">
                          <a:solidFill>
                            <a:srgbClr val="0B2B4E"/>
                          </a:solidFill>
                          <a:latin typeface="Cambria Math"/>
                        </a:rPr>
                        <m:t xml:space="preserve">Δ</m:t>
                      </m:r>
                      <m:r>
                        <a:rPr lang="en-US" b="0" i="1" sz="3000">
                          <a:solidFill>
                            <a:srgbClr val="0B2B4E"/>
                          </a:solidFill>
                          <a:latin typeface="Cambria Math"/>
                          <a:ea typeface="Cambria Math"/>
                        </a:rPr>
                        <m:t>Q</m:t>
                      </m:r>
                    </m:den>
                  </m:f>
                  <m:r>
                    <m:rPr>
                      <m:sty m:val="p"/>
                    </m:rPr>
                    <a:rPr lang="en-US" b="0" i="0" sz="3000">
                      <a:solidFill>
                        <a:srgbClr val="0B2B4E"/>
                      </a:solidFill>
                      <a:latin typeface="Cambria Math"/>
                    </a:rPr>
                    <m:t xml:space="preserve"> = </m:t>
                  </m:r>
                  <m:f>
                    <m:fPr>
                      <m:ctrlPr>
                        <a:rPr lang="en-US" i="1">
                          <a:latin typeface="Cambria Math"/>
                        </a:rPr>
                      </m:ctrlPr>
                    </m:fPr>
                    <m:num>
                      <m:r>
                        <a:rPr lang="en-US" b="0" i="1" sz="3000">
                          <a:solidFill>
                            <a:srgbClr val="0B2B4E"/>
                          </a:solidFill>
                          <a:latin typeface="Cambria Math"/>
                          <a:ea typeface="Cambria Math"/>
                        </a:rPr>
                        <m:t>d</m:t>
                      </m:r>
                      <m:r>
                        <m:rPr>
                          <m:sty m:val="p"/>
                        </m:rPr>
                        <a:rPr lang="en-US" b="0" i="0" sz="3000">
                          <a:solidFill>
                            <a:srgbClr val="0B2B4E"/>
                          </a:solidFill>
                          <a:latin typeface="Cambria Math"/>
                        </a:rPr>
                        <m:t xml:space="preserve">TR</m:t>
                      </m:r>
                    </m:num>
                    <m:den>
                      <m:r>
                        <a:rPr lang="en-US" b="0" i="1" sz="3000">
                          <a:solidFill>
                            <a:srgbClr val="0B2B4E"/>
                          </a:solidFill>
                          <a:latin typeface="Cambria Math"/>
                          <a:ea typeface="Cambria Math"/>
                        </a:rPr>
                        <m:t>d</m:t>
                      </m:r>
                      <m:r>
                        <a:rPr lang="en-US" b="0" i="1" sz="3000">
                          <a:solidFill>
                            <a:srgbClr val="0B2B4E"/>
                          </a:solidFill>
                          <a:latin typeface="Cambria Math"/>
                          <a:ea typeface="Cambria Math"/>
                        </a:rPr>
                        <m:t>Q</m:t>
                      </m:r>
                    </m:den>
                  </m:f>
                </m:oMath>
              </m:oMathPara>
            </a14:m>
            <a:endParaRPr lang="en-US" sz="3000"/>
          </a:p>
        </p:txBody>
      </p:sp>
      <p:sp>
        <p:nvSpPr>
          <p:cNvPr id="9" name="TextBox 8"/>
          <p:cNvSpPr txBox="1"/>
          <p:nvPr/>
        </p:nvSpPr>
        <p:spPr>
          <a:xfrm>
            <a:off x="8549640" y="3703320"/>
            <a:ext cx="1828800" cy="365760"/>
          </a:xfrm>
          <a:prstGeom prst="rect">
            <a:avLst/>
          </a:prstGeom>
          <a:noFill/>
        </p:spPr>
        <p:txBody>
          <a:bodyPr wrap="square" lIns="0" rIns="0" tIns="0" bIns="0">
            <a:spAutoFit/>
          </a:bodyPr>
          <a:lstStyle/>
          <a:p>
            <a:pPr algn="l"/>
            <a:r>
              <a:rPr sz="1800" b="1" i="0" u="none">
                <a:solidFill>
                  <a:srgbClr val="0070C0"/>
                </a:solidFill>
                <a:latin typeface="Calibri"/>
              </a:rPr>
              <a:t>Derivative</a:t>
            </a:r>
          </a:p>
        </p:txBody>
      </p:sp>
      <p:cxnSp>
        <p:nvCxnSpPr>
          <p:cNvPr id="10" name="Connector 9"/>
          <p:cNvCxnSpPr/>
          <p:nvPr/>
        </p:nvCxnSpPr>
        <p:spPr>
          <a:xfrm flipH="1">
            <a:off x="7909560" y="3886200"/>
            <a:ext cx="594360" cy="91439"/>
          </a:xfrm>
          <a:prstGeom prst="line">
            <a:avLst/>
          </a:prstGeom>
          <a:ln w="22225">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9159" y="5166360"/>
            <a:ext cx="11338560" cy="7315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a:latin typeface="Calibri"/>
              </a:rPr>
              <a:t>How to compute </a:t>
            </a:r>
            <a:r>
              <a:rPr b="1" i="1">
                <a:latin typeface="Calibri"/>
              </a:rPr>
              <a:t>MR</a:t>
            </a:r>
            <a:r>
              <a:rPr b="1">
                <a:latin typeface="Calibri"/>
              </a:rPr>
              <a:t> : start from the demand function and use a 3-step method</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0D79D32D-CBB0-5A36-872D-80D6EDC94917}" type="slidenum">
              <a:rPr lang="en-US" sz="1200" dirty="0">
                <a:solidFill>
                  <a:srgbClr val="555B66"/>
                </a:solidFill>
                <a:latin typeface="Calibri"/>
              </a:rPr>
              <a:t>19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Calculus Refresher: Derivatives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7" name="Group pair 117"/>
          <p:cNvGrpSpPr/>
          <p:nvPr/>
        </p:nvGrpSpPr>
        <p:grpSpPr>
          <a:xfrm>
            <a:off x="1615744" y="1481328"/>
            <a:ext cx="8961120" cy="1188720"/>
            <a:chOff x="1615744" y="1481328"/>
            <a:chExt cx="8961120" cy="1188720"/>
          </a:xfrm>
        </p:grpSpPr>
        <p:sp>
          <p:nvSpPr>
            <p:cNvPr id="7" name="Rounded Rectangle 6"/>
            <p:cNvSpPr/>
            <p:nvPr/>
          </p:nvSpPr>
          <p:spPr>
            <a:xfrm>
              <a:off x="1615744" y="1481328"/>
              <a:ext cx="8961120" cy="118872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98624" y="1591056"/>
              <a:ext cx="8595360" cy="969264"/>
            </a:xfrm>
            <a:prstGeom prst="rect">
              <a:avLst/>
            </a:prstGeom>
            <a:noFill/>
          </p:spPr>
          <p:txBody>
            <a:bodyPr wrap="square" lIns="45720" rIns="45720" tIns="0" bIns="0" anchor="ctr">
              <a:spAutoFit/>
            </a:bodyPr>
            <a:lstStyle/>
            <a:p>
              <a:pPr algn="ctr"/>
              <a:r>
                <a:rPr sz="2200" b="1" i="0" u="none">
                  <a:solidFill>
                    <a:srgbClr val="0B2B4E"/>
                  </a:solidFill>
                  <a:latin typeface="Calibri"/>
                </a:rPr>
                <a:t>A derivative measures a rate of change.</a:t>
              </a:r>
              <a:r>
                <a:rPr sz="2200" b="0" i="0" u="none">
                  <a:solidFill>
                    <a:srgbClr val="0B2B4E"/>
                  </a:solidFill>
                  <a:latin typeface="Calibri"/>
                </a:rPr>
                <a:t>
</a:t>
              </a:r>
              <a:r>
                <a:rPr sz="2200" b="0" i="0" u="none">
                  <a:solidFill>
                    <a:srgbClr val="0B2B4E"/>
                  </a:solidFill>
                  <a:latin typeface="Calibri"/>
                </a:rPr>
                <a:t>dY/dX is the change in </a:t>
              </a:r>
              <a:r>
                <a:rPr sz="2200" b="0" i="1" u="none">
                  <a:solidFill>
                    <a:srgbClr val="0B2B4E"/>
                  </a:solidFill>
                  <a:latin typeface="Calibri"/>
                </a:rPr>
                <a:t>Y</a:t>
              </a:r>
              <a:r>
                <a:rPr sz="2200" b="0" i="0" u="none">
                  <a:solidFill>
                    <a:srgbClr val="0B2B4E"/>
                  </a:solidFill>
                  <a:latin typeface="Calibri"/>
                </a:rPr>
                <a:t> caused by a small (marginal) change in </a:t>
              </a:r>
              <a:r>
                <a:rPr sz="2200" b="0" i="1" u="none">
                  <a:solidFill>
                    <a:srgbClr val="0B2B4E"/>
                  </a:solidFill>
                  <a:latin typeface="Calibri"/>
                </a:rPr>
                <a:t>X</a:t>
              </a:r>
            </a:p>
          </p:txBody>
        </p:sp>
      </p:grpSp>
      <p:sp>
        <p:nvSpPr>
          <p:cNvPr id="9" name="TextBox 8"/>
          <p:cNvSpPr txBox="1"/>
          <p:nvPr/>
        </p:nvSpPr>
        <p:spPr>
          <a:xfrm>
            <a:off x="685800" y="2880360"/>
            <a:ext cx="5212080" cy="365760"/>
          </a:xfrm>
          <a:prstGeom prst="rect">
            <a:avLst/>
          </a:prstGeom>
          <a:noFill/>
        </p:spPr>
        <p:txBody>
          <a:bodyPr wrap="square" lIns="0" rIns="0" tIns="0" bIns="0">
            <a:spAutoFit/>
          </a:bodyPr>
          <a:lstStyle/>
          <a:p>
            <a:pPr algn="l"/>
            <a:r>
              <a:rPr sz="2200" b="1" i="0" u="none">
                <a:solidFill>
                  <a:srgbClr val="0B2B4E"/>
                </a:solidFill>
                <a:latin typeface="Calibri"/>
              </a:rPr>
              <a:t>The general rule</a:t>
            </a:r>
          </a:p>
        </p:txBody>
      </p:sp>
      <p:sp>
        <p:nvSpPr>
          <p:cNvPr id="10" name="TextBox 9"/>
          <p:cNvSpPr txBox="1"/>
          <p:nvPr/>
        </p:nvSpPr>
        <p:spPr>
          <a:xfrm>
            <a:off x="685800" y="3364992"/>
            <a:ext cx="5212080" cy="2103120"/>
          </a:xfrm>
          <a:prstGeom prst="rect">
            <a:avLst/>
          </a:prstGeom>
          <a:noFill/>
        </p:spPr>
        <p:txBody>
          <a:bodyPr wrap="square" lIns="45720" rIns="45720" tIns="0" bIns="0">
            <a:spAutoFit/>
          </a:bodyPr>
          <a:lstStyle/>
          <a:p xmlns:m="http://schemas.openxmlformats.org/officeDocument/2006/math" xmlns:a14="http://schemas.microsoft.com/office/drawing/2010/main">
            <a:r>
              <a:rPr lang="en-US" sz="2100">
                <a:solidFill>
                  <a:srgbClr val="0B2B4E"/>
                </a:solidFill>
                <a:latin typeface="Calibri"/>
              </a:rPr>
              <a:t>If   </a:t>
            </a:r>
            <a14:m>
              <m:oMath>
                <m:r>
                  <a:rPr lang="en-US" b="0" i="1" sz="2400">
                    <a:solidFill>
                      <a:srgbClr val="0B2B4E"/>
                    </a:solidFill>
                    <a:latin typeface="Cambria Math"/>
                    <a:ea typeface="Cambria Math"/>
                  </a:rPr>
                  <m:t>Y</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a</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bX</m:t>
                </m:r>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c</m:t>
                </m:r>
                <m:sSup>
                  <m:sSupPr>
                    <m:ctrlPr>
                      <a:rPr lang="en-US" i="1">
                        <a:latin typeface="Cambria Math"/>
                      </a:rPr>
                    </m:ctrlPr>
                  </m:sSupPr>
                  <m:e>
                    <m:r>
                      <a:rPr lang="en-US" b="0" i="1" sz="2400">
                        <a:solidFill>
                          <a:srgbClr val="0B2B4E"/>
                        </a:solidFill>
                        <a:latin typeface="Cambria Math"/>
                        <a:ea typeface="Cambria Math"/>
                      </a:rPr>
                      <m:t>X</m:t>
                    </m:r>
                  </m:e>
                  <m:sup>
                    <m:r>
                      <m:rPr>
                        <m:sty m:val="p"/>
                      </m:rPr>
                      <a:rPr lang="en-US" b="0" i="0" sz="2400">
                        <a:solidFill>
                          <a:srgbClr val="0B2B4E"/>
                        </a:solidFill>
                        <a:latin typeface="Cambria Math"/>
                      </a:rPr>
                      <m:t xml:space="preserve">2</m:t>
                    </m:r>
                  </m:sup>
                </m:sSup>
              </m:oMath>
            </a14:m>
            <a:endParaRPr lang="en-US"/>
          </a:p>
          <a:p xmlns:m="http://schemas.openxmlformats.org/officeDocument/2006/math" xmlns:a14="http://schemas.microsoft.com/office/drawing/2010/main">
            <a:r>
              <a:rPr lang="en-US" sz="1800">
                <a:solidFill>
                  <a:srgbClr val="0B2B4E"/>
                </a:solidFill>
                <a:latin typeface="Calibri"/>
              </a:rPr>
              <a:t>with a, b, c constant,</a:t>
            </a:r>
            <a:endParaRPr lang="en-US"/>
          </a:p>
          <a:p xmlns:m="http://schemas.openxmlformats.org/officeDocument/2006/math" xmlns:a14="http://schemas.microsoft.com/office/drawing/2010/main">
            <a:endParaRPr lang="en-US"/>
          </a:p>
          <a:p xmlns:m="http://schemas.openxmlformats.org/officeDocument/2006/math" xmlns:a14="http://schemas.microsoft.com/office/drawing/2010/main">
            <a:r>
              <a:rPr lang="en-US" sz="2100">
                <a:solidFill>
                  <a:srgbClr val="0B2B4E"/>
                </a:solidFill>
                <a:latin typeface="Calibri"/>
              </a:rPr>
              <a:t>then   </a:t>
            </a:r>
            <a14:m>
              <m:oMath>
                <m:f>
                  <m:fPr>
                    <m:ctrlPr>
                      <a:rPr lang="en-US" i="1">
                        <a:latin typeface="Cambria Math"/>
                      </a:rPr>
                    </m:ctrlPr>
                  </m:fPr>
                  <m:num>
                    <m:r>
                      <a:rPr lang="en-US" b="0" i="1" sz="2400">
                        <a:solidFill>
                          <a:srgbClr val="0B2B4E"/>
                        </a:solidFill>
                        <a:latin typeface="Cambria Math"/>
                        <a:ea typeface="Cambria Math"/>
                      </a:rPr>
                      <m:t>dY</m:t>
                    </m:r>
                  </m:num>
                  <m:den>
                    <m:r>
                      <a:rPr lang="en-US" b="0" i="1" sz="2400">
                        <a:solidFill>
                          <a:srgbClr val="0B2B4E"/>
                        </a:solidFill>
                        <a:latin typeface="Cambria Math"/>
                        <a:ea typeface="Cambria Math"/>
                      </a:rPr>
                      <m:t>dX</m:t>
                    </m:r>
                  </m:den>
                </m:f>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b</m:t>
                </m:r>
                <m:r>
                  <m:rPr>
                    <m:sty m:val="p"/>
                  </m:rPr>
                  <a:rPr lang="en-US" b="0" i="0" sz="2400">
                    <a:solidFill>
                      <a:srgbClr val="0B2B4E"/>
                    </a:solidFill>
                    <a:latin typeface="Cambria Math"/>
                  </a:rPr>
                  <m:t xml:space="preserve"> + 2</m:t>
                </m:r>
                <m:r>
                  <a:rPr lang="en-US" b="0" i="1" sz="2400">
                    <a:solidFill>
                      <a:srgbClr val="0B2B4E"/>
                    </a:solidFill>
                    <a:latin typeface="Cambria Math"/>
                    <a:ea typeface="Cambria Math"/>
                  </a:rPr>
                  <m:t>cX</m:t>
                </m:r>
              </m:oMath>
            </a14:m>
            <a:endParaRPr lang="en-US"/>
          </a:p>
        </p:txBody>
      </p:sp>
      <p:sp>
        <p:nvSpPr>
          <p:cNvPr id="11" name="TextBox 10"/>
          <p:cNvSpPr txBox="1"/>
          <p:nvPr/>
        </p:nvSpPr>
        <p:spPr>
          <a:xfrm>
            <a:off x="6446520" y="2880360"/>
            <a:ext cx="5074920" cy="365760"/>
          </a:xfrm>
          <a:prstGeom prst="rect">
            <a:avLst/>
          </a:prstGeom>
          <a:noFill/>
        </p:spPr>
        <p:txBody>
          <a:bodyPr wrap="square" lIns="0" rIns="0" tIns="0" bIns="0">
            <a:spAutoFit/>
          </a:bodyPr>
          <a:lstStyle/>
          <a:p>
            <a:pPr algn="l"/>
            <a:r>
              <a:rPr sz="2200" b="1" i="0" u="none">
                <a:solidFill>
                  <a:srgbClr val="0B2B4E"/>
                </a:solidFill>
                <a:latin typeface="Calibri"/>
              </a:rPr>
              <a:t>A worked example</a:t>
            </a:r>
          </a:p>
        </p:txBody>
      </p:sp>
      <p:sp>
        <p:nvSpPr>
          <p:cNvPr id="12" name="TextBox 11"/>
          <p:cNvSpPr txBox="1"/>
          <p:nvPr/>
        </p:nvSpPr>
        <p:spPr>
          <a:xfrm>
            <a:off x="6446520" y="3364992"/>
            <a:ext cx="5074920" cy="2103120"/>
          </a:xfrm>
          <a:prstGeom prst="rect">
            <a:avLst/>
          </a:prstGeom>
          <a:noFill/>
        </p:spPr>
        <p:txBody>
          <a:bodyPr wrap="square" lIns="45720" rIns="45720" tIns="0" bIns="0">
            <a:spAutoFit/>
          </a:bodyPr>
          <a:lstStyle/>
          <a:p xmlns:m="http://schemas.openxmlformats.org/officeDocument/2006/math" xmlns:a14="http://schemas.microsoft.com/office/drawing/2010/main">
            <a:r>
              <a:rPr lang="en-US" sz="1800">
                <a:solidFill>
                  <a:srgbClr val="0B2B4E"/>
                </a:solidFill>
                <a:latin typeface="Calibri"/>
              </a:rPr>
              <a:t>With a = 1, b = 3, c = 2:</a:t>
            </a:r>
            <a:endParaRPr lang="en-US"/>
          </a:p>
          <a:p xmlns:m="http://schemas.openxmlformats.org/officeDocument/2006/math" xmlns:a14="http://schemas.microsoft.com/office/drawing/2010/main">
            <a14:m>
              <m:oMath>
                <m:r>
                  <a:rPr lang="en-US" b="0" i="1" sz="2400">
                    <a:solidFill>
                      <a:srgbClr val="0B2B4E"/>
                    </a:solidFill>
                    <a:latin typeface="Cambria Math"/>
                    <a:ea typeface="Cambria Math"/>
                  </a:rPr>
                  <m:t>Y</m:t>
                </m:r>
                <m:r>
                  <m:rPr>
                    <m:sty m:val="p"/>
                  </m:rPr>
                  <a:rPr lang="en-US" b="0" i="0" sz="2400">
                    <a:solidFill>
                      <a:srgbClr val="0B2B4E"/>
                    </a:solidFill>
                    <a:latin typeface="Cambria Math"/>
                  </a:rPr>
                  <m:t xml:space="preserve"> = 1 + 3</m:t>
                </m:r>
                <m:r>
                  <a:rPr lang="en-US" b="0" i="1" sz="2400">
                    <a:solidFill>
                      <a:srgbClr val="0B2B4E"/>
                    </a:solidFill>
                    <a:latin typeface="Cambria Math"/>
                    <a:ea typeface="Cambria Math"/>
                  </a:rPr>
                  <m:t>X</m:t>
                </m:r>
                <m:r>
                  <m:rPr>
                    <m:sty m:val="p"/>
                  </m:rPr>
                  <a:rPr lang="en-US" b="0" i="0" sz="2400">
                    <a:solidFill>
                      <a:srgbClr val="0B2B4E"/>
                    </a:solidFill>
                    <a:latin typeface="Cambria Math"/>
                  </a:rPr>
                  <m:t xml:space="preserve"> + 2</m:t>
                </m:r>
                <m:sSup>
                  <m:sSupPr>
                    <m:ctrlPr>
                      <a:rPr lang="en-US" i="1">
                        <a:latin typeface="Cambria Math"/>
                      </a:rPr>
                    </m:ctrlPr>
                  </m:sSupPr>
                  <m:e>
                    <m:r>
                      <a:rPr lang="en-US" b="0" i="1" sz="2400">
                        <a:solidFill>
                          <a:srgbClr val="0B2B4E"/>
                        </a:solidFill>
                        <a:latin typeface="Cambria Math"/>
                        <a:ea typeface="Cambria Math"/>
                      </a:rPr>
                      <m:t>X</m:t>
                    </m:r>
                  </m:e>
                  <m:sup>
                    <m:r>
                      <m:rPr>
                        <m:sty m:val="p"/>
                      </m:rPr>
                      <a:rPr lang="en-US" b="0" i="0" sz="2400">
                        <a:solidFill>
                          <a:srgbClr val="0B2B4E"/>
                        </a:solidFill>
                        <a:latin typeface="Cambria Math"/>
                      </a:rPr>
                      <m:t xml:space="preserve">2</m:t>
                    </m:r>
                  </m:sup>
                </m:sSup>
              </m:oMath>
            </a14:m>
            <a:endParaRPr lang="en-US"/>
          </a:p>
          <a:p xmlns:m="http://schemas.openxmlformats.org/officeDocument/2006/math" xmlns:a14="http://schemas.microsoft.com/office/drawing/2010/main">
            <a:endParaRPr lang="en-US"/>
          </a:p>
          <a:p xmlns:m="http://schemas.openxmlformats.org/officeDocument/2006/math" xmlns:a14="http://schemas.microsoft.com/office/drawing/2010/main">
            <a14:m>
              <m:oMath>
                <m:f>
                  <m:fPr>
                    <m:ctrlPr>
                      <a:rPr lang="en-US" i="1">
                        <a:latin typeface="Cambria Math"/>
                      </a:rPr>
                    </m:ctrlPr>
                  </m:fPr>
                  <m:num>
                    <m:r>
                      <a:rPr lang="en-US" b="0" i="1" sz="2400">
                        <a:solidFill>
                          <a:srgbClr val="0B2B4E"/>
                        </a:solidFill>
                        <a:latin typeface="Cambria Math"/>
                        <a:ea typeface="Cambria Math"/>
                      </a:rPr>
                      <m:t>dY</m:t>
                    </m:r>
                  </m:num>
                  <m:den>
                    <m:r>
                      <a:rPr lang="en-US" b="0" i="1" sz="2400">
                        <a:solidFill>
                          <a:srgbClr val="0B2B4E"/>
                        </a:solidFill>
                        <a:latin typeface="Cambria Math"/>
                        <a:ea typeface="Cambria Math"/>
                      </a:rPr>
                      <m:t>dX</m:t>
                    </m:r>
                  </m:den>
                </m:f>
                <m:r>
                  <m:rPr>
                    <m:sty m:val="p"/>
                  </m:rPr>
                  <a:rPr lang="en-US" b="0" i="0" sz="2400">
                    <a:solidFill>
                      <a:srgbClr val="0B2B4E"/>
                    </a:solidFill>
                    <a:latin typeface="Cambria Math"/>
                  </a:rPr>
                  <m:t xml:space="preserve"> = 3 + 2⋅2⋅</m:t>
                </m:r>
                <m:r>
                  <a:rPr lang="en-US" b="0" i="1" sz="2400">
                    <a:solidFill>
                      <a:srgbClr val="0B2B4E"/>
                    </a:solidFill>
                    <a:latin typeface="Cambria Math"/>
                    <a:ea typeface="Cambria Math"/>
                  </a:rPr>
                  <m:t>X</m:t>
                </m:r>
                <m:r>
                  <m:rPr>
                    <m:sty m:val="p"/>
                  </m:rPr>
                  <a:rPr lang="en-US" b="0" i="0" sz="2400">
                    <a:solidFill>
                      <a:srgbClr val="0B2B4E"/>
                    </a:solidFill>
                    <a:latin typeface="Cambria Math"/>
                  </a:rPr>
                  <m:t xml:space="preserve"> = 3 + 4</m:t>
                </m:r>
                <m:r>
                  <a:rPr lang="en-US" b="0" i="1" sz="2400">
                    <a:solidFill>
                      <a:srgbClr val="0B2B4E"/>
                    </a:solidFill>
                    <a:latin typeface="Cambria Math"/>
                    <a:ea typeface="Cambria Math"/>
                  </a:rPr>
                  <m:t>X</m:t>
                </m:r>
              </m:oMath>
            </a14:m>
            <a:endParaRPr lang="en-US"/>
          </a:p>
        </p:txBody>
      </p:sp>
      <p:sp>
        <p:nvSpPr>
          <p:cNvPr id="13" name="Rounded Rectangle 12"/>
          <p:cNvSpPr/>
          <p:nvPr/>
        </p:nvSpPr>
        <p:spPr>
          <a:xfrm>
            <a:off x="4160520" y="5806440"/>
            <a:ext cx="3886200" cy="50292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See TA’s Math Review Videos</a:t>
            </a:r>
          </a:p>
        </p:txBody>
      </p:sp>
      <p:sp>
        <p:nvSpPr>
          <p:cNvPr id="14" name="Rectangle 13"/>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7" name="TextBox 16"/>
          <p:cNvSpPr txBox="1"/>
          <p:nvPr/>
        </p:nvSpPr>
        <p:spPr>
          <a:xfrm>
            <a:off x="11475720" y="6583680"/>
            <a:ext cx="502920" cy="292608"/>
          </a:xfrm>
          <a:prstGeom prst="rect">
            <a:avLst/>
          </a:prstGeom>
          <a:noFill/>
        </p:spPr>
        <p:txBody>
          <a:bodyPr wrap="none" lIns="0" rIns="0" tIns="0" bIns="0">
            <a:spAutoFit/>
          </a:bodyPr>
          <a:lstStyle/>
          <a:p>
            <a:pPr algn="r"/>
            <a:fld id="{5DCA6EF3-CA19-5683-AC1B-F9B07305DAD0}" type="slidenum">
              <a:rPr lang="en-US" sz="1200" dirty="0">
                <a:solidFill>
                  <a:srgbClr val="555B66"/>
                </a:solidFill>
                <a:latin typeface="Calibri"/>
              </a:rPr>
              <a:t>20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3-Step Method to Compute Marginal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0" name="Group pair 120"/>
          <p:cNvGrpSpPr/>
          <p:nvPr/>
        </p:nvGrpSpPr>
        <p:grpSpPr>
          <a:xfrm>
            <a:off x="389159" y="1417320"/>
            <a:ext cx="5394960" cy="685800"/>
            <a:chOff x="389159" y="1417320"/>
            <a:chExt cx="5394960" cy="685800"/>
          </a:xfrm>
        </p:grpSpPr>
        <p:sp>
          <p:nvSpPr>
            <p:cNvPr id="7" name="Rounded Rectangle 6"/>
            <p:cNvSpPr/>
            <p:nvPr/>
          </p:nvSpPr>
          <p:spPr>
            <a:xfrm>
              <a:off x="389159" y="1417320"/>
              <a:ext cx="5394960" cy="685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2039" y="1527048"/>
              <a:ext cx="5029200" cy="466344"/>
            </a:xfrm>
            <a:prstGeom prst="rect">
              <a:avLst/>
            </a:prstGeom>
            <a:noFill/>
          </p:spPr>
          <p:txBody>
            <a:bodyPr wrap="square" lIns="45720" rIns="45720" tIns="0" bIns="0" anchor="ctr">
              <a:spAutoFit/>
            </a:bodyPr>
            <a:lstStyle/>
            <a:p>
              <a:pPr algn="l"/>
              <a:r>
                <a:rPr sz="1800" b="1" i="0" u="none">
                  <a:solidFill>
                    <a:srgbClr val="0B2B4E"/>
                  </a:solidFill>
                  <a:latin typeface="Calibri"/>
                </a:rPr>
                <a:t>Suppose demand is:   Q = 1,600 − 4P</a:t>
              </a:r>
            </a:p>
          </p:txBody>
        </p:sp>
      </p:grpSp>
      <p:sp>
        <p:nvSpPr>
          <p:cNvPr id="9" name="TextBox 8"/>
          <p:cNvSpPr txBox="1"/>
          <p:nvPr/>
        </p:nvSpPr>
        <p:spPr>
          <a:xfrm>
            <a:off x="389159" y="2304288"/>
            <a:ext cx="5349240" cy="10972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Step 1:  Calculate inverse demand</a:t>
            </a:r>
            <a:r>
              <a:rPr sz="1900">
                <a:solidFill>
                  <a:srgbClr val="0B2B4E"/>
                </a:solidFill>
                <a:latin typeface="Calibri"/>
              </a:rPr>
              <a:t> (solve for P)</a:t>
            </a:r>
          </a:p>
          <a:p>
            <a:pPr algn="l">
              <a:spcBef>
                <a:spcPts val="500"/>
              </a:spcBef>
              <a:buNone/>
            </a:pPr>
            <a:r>
              <a:rPr sz="1700">
                <a:solidFill>
                  <a:srgbClr val="555B66"/>
                </a:solidFill>
                <a:latin typeface="Calibri"/>
              </a:rPr>
              <a:t>Rearrange demand so </a:t>
            </a:r>
            <a:r>
              <a:rPr sz="1700" i="1">
                <a:solidFill>
                  <a:srgbClr val="555B66"/>
                </a:solidFill>
                <a:latin typeface="Calibri"/>
              </a:rPr>
              <a:t>P</a:t>
            </a:r>
            <a:r>
              <a:rPr sz="1700">
                <a:solidFill>
                  <a:srgbClr val="555B66"/>
                </a:solidFill>
                <a:latin typeface="Calibri"/>
              </a:rPr>
              <a:t> is a function of </a:t>
            </a:r>
            <a:r>
              <a:rPr sz="1700" i="1">
                <a:solidFill>
                  <a:srgbClr val="555B66"/>
                </a:solidFill>
                <a:latin typeface="Calibri"/>
              </a:rPr>
              <a:t>Q</a:t>
            </a:r>
            <a:r>
              <a:rPr sz="1700" i="1">
                <a:solidFill>
                  <a:srgbClr val="555B66"/>
                </a:solidFill>
                <a:latin typeface="Calibri"/>
              </a:rPr>
              <a:t>:  P(Q)</a:t>
            </a:r>
          </a:p>
        </p:txBody>
      </p:sp>
      <p:sp>
        <p:nvSpPr>
          <p:cNvPr id="10" name="TextBox 9"/>
          <p:cNvSpPr txBox="1"/>
          <p:nvPr/>
        </p:nvSpPr>
        <p:spPr>
          <a:xfrm>
            <a:off x="5897880" y="2212848"/>
            <a:ext cx="5760720" cy="105156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100" b="0" i="1">
                <a:solidFill>
                  <a:srgbClr val="0B2B4E"/>
                </a:solidFill>
                <a:latin typeface="Cambria Math"/>
              </a:defRPr>
            </a:pPr>
            <a14:m>
              <m:oMathPara>
                <m:oMathParaPr>
                  <m:jc m:val="centerGroup"/>
                </m:oMathParaPr>
                <m:oMath>
                  <m:r>
                    <a:rPr lang="en-US" b="0" i="1" sz="2100">
                      <a:solidFill>
                        <a:srgbClr val="0B2B4E"/>
                      </a:solidFill>
                      <a:latin typeface="Cambria Math"/>
                      <a:ea typeface="Cambria Math"/>
                    </a:rPr>
                    <m:t>P</m:t>
                  </m:r>
                  <m:r>
                    <m:rPr>
                      <m:sty m:val="p"/>
                    </m:rPr>
                    <a:rPr lang="en-US" b="0" i="0" sz="2100">
                      <a:solidFill>
                        <a:srgbClr val="0B2B4E"/>
                      </a:solidFill>
                      <a:latin typeface="Cambria Math"/>
                    </a:rPr>
                    <m:t xml:space="preserve"> = 400 − </m:t>
                  </m:r>
                  <m:f>
                    <m:fPr>
                      <m:ctrlPr>
                        <a:rPr lang="en-US" i="1">
                          <a:latin typeface="Cambria Math"/>
                        </a:rPr>
                      </m:ctrlPr>
                    </m:fPr>
                    <m:num>
                      <m:r>
                        <m:rPr>
                          <m:sty m:val="p"/>
                        </m:rPr>
                        <a:rPr lang="en-US" b="0" i="0" sz="2100">
                          <a:solidFill>
                            <a:srgbClr val="0B2B4E"/>
                          </a:solidFill>
                          <a:latin typeface="Cambria Math"/>
                        </a:rPr>
                        <m:t xml:space="preserve">1</m:t>
                      </m:r>
                    </m:num>
                    <m:den>
                      <m:r>
                        <m:rPr>
                          <m:sty m:val="p"/>
                        </m:rPr>
                        <a:rPr lang="en-US" b="0" i="0" sz="2100">
                          <a:solidFill>
                            <a:srgbClr val="0B2B4E"/>
                          </a:solidFill>
                          <a:latin typeface="Cambria Math"/>
                        </a:rPr>
                        <m:t xml:space="preserve">4</m:t>
                      </m:r>
                    </m:den>
                  </m:f>
                  <m:r>
                    <a:rPr lang="en-US" b="0" i="1" sz="2100">
                      <a:solidFill>
                        <a:srgbClr val="0B2B4E"/>
                      </a:solidFill>
                      <a:latin typeface="Cambria Math"/>
                      <a:ea typeface="Cambria Math"/>
                    </a:rPr>
                    <m:t>Q</m:t>
                  </m:r>
                </m:oMath>
              </m:oMathPara>
            </a14:m>
            <a:endParaRPr lang="en-US" sz="2100"/>
          </a:p>
        </p:txBody>
      </p:sp>
      <p:sp>
        <p:nvSpPr>
          <p:cNvPr id="11" name="TextBox 10"/>
          <p:cNvSpPr txBox="1"/>
          <p:nvPr/>
        </p:nvSpPr>
        <p:spPr>
          <a:xfrm>
            <a:off x="389159" y="3584448"/>
            <a:ext cx="5349240" cy="10972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Step 2:  Calculate total revenue </a:t>
            </a:r>
            <a:r>
              <a:rPr sz="1900">
                <a:solidFill>
                  <a:srgbClr val="0B2B4E"/>
                </a:solidFill>
                <a:latin typeface="Calibri"/>
              </a:rPr>
              <a:t>(multiply P(Q) by Q)</a:t>
            </a:r>
          </a:p>
          <a:p>
            <a:pPr algn="l">
              <a:spcBef>
                <a:spcPts val="500"/>
              </a:spcBef>
              <a:buNone/>
            </a:pPr>
            <a:r>
              <a:rPr sz="1700" i="1">
                <a:solidFill>
                  <a:srgbClr val="555B66"/>
                </a:solidFill>
                <a:latin typeface="Calibri"/>
              </a:rPr>
              <a:t>TR = P · Q</a:t>
            </a:r>
            <a:r>
              <a:rPr sz="1700">
                <a:solidFill>
                  <a:srgbClr val="555B66"/>
                </a:solidFill>
                <a:latin typeface="Calibri"/>
              </a:rPr>
              <a:t>; replace P with inverse demand so TR is a function of </a:t>
            </a:r>
            <a:r>
              <a:rPr sz="1700" i="1">
                <a:solidFill>
                  <a:srgbClr val="555B66"/>
                </a:solidFill>
                <a:latin typeface="Calibri"/>
              </a:rPr>
              <a:t>Q</a:t>
            </a:r>
            <a:r>
              <a:rPr sz="1700">
                <a:solidFill>
                  <a:srgbClr val="555B66"/>
                </a:solidFill>
                <a:latin typeface="Calibri"/>
              </a:rPr>
              <a:t> only</a:t>
            </a:r>
          </a:p>
        </p:txBody>
      </p:sp>
      <p:sp>
        <p:nvSpPr>
          <p:cNvPr id="12" name="TextBox 11"/>
          <p:cNvSpPr txBox="1"/>
          <p:nvPr/>
        </p:nvSpPr>
        <p:spPr>
          <a:xfrm>
            <a:off x="5897880" y="3493008"/>
            <a:ext cx="5760720" cy="105156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100" b="0" i="1">
                <a:solidFill>
                  <a:srgbClr val="0B2B4E"/>
                </a:solidFill>
                <a:latin typeface="Cambria Math"/>
              </a:defRPr>
            </a:pPr>
            <a14:m>
              <m:oMathPara>
                <m:oMathParaPr>
                  <m:jc m:val="centerGroup"/>
                </m:oMathParaPr>
                <m:oMath>
                  <m:r>
                    <m:rPr>
                      <m:sty m:val="p"/>
                    </m:rPr>
                    <a:rPr lang="en-US" b="0" i="0" sz="2100">
                      <a:solidFill>
                        <a:srgbClr val="0B2B4E"/>
                      </a:solidFill>
                      <a:latin typeface="Cambria Math"/>
                    </a:rPr>
                    <m:t xml:space="preserve">TR</m:t>
                  </m:r>
                  <m:r>
                    <m:rPr>
                      <m:sty m:val="p"/>
                    </m:rPr>
                    <a:rPr lang="en-US" b="0" i="0" sz="2100">
                      <a:solidFill>
                        <a:srgbClr val="0B2B4E"/>
                      </a:solidFill>
                      <a:latin typeface="Cambria Math"/>
                    </a:rPr>
                    <m:t xml:space="preserve"> = (400 − </m:t>
                  </m:r>
                  <m:f>
                    <m:fPr>
                      <m:ctrlPr>
                        <a:rPr lang="en-US" i="1">
                          <a:latin typeface="Cambria Math"/>
                        </a:rPr>
                      </m:ctrlPr>
                    </m:fPr>
                    <m:num>
                      <m:r>
                        <m:rPr>
                          <m:sty m:val="p"/>
                        </m:rPr>
                        <a:rPr lang="en-US" b="0" i="0" sz="2100">
                          <a:solidFill>
                            <a:srgbClr val="0B2B4E"/>
                          </a:solidFill>
                          <a:latin typeface="Cambria Math"/>
                        </a:rPr>
                        <m:t xml:space="preserve">1</m:t>
                      </m:r>
                    </m:num>
                    <m:den>
                      <m:r>
                        <m:rPr>
                          <m:sty m:val="p"/>
                        </m:rPr>
                        <a:rPr lang="en-US" b="0" i="0" sz="2100">
                          <a:solidFill>
                            <a:srgbClr val="0B2B4E"/>
                          </a:solidFill>
                          <a:latin typeface="Cambria Math"/>
                        </a:rPr>
                        <m:t xml:space="preserve">4</m:t>
                      </m:r>
                    </m:den>
                  </m:f>
                  <m:r>
                    <a:rPr lang="en-US" b="0" i="1" sz="2100">
                      <a:solidFill>
                        <a:srgbClr val="0B2B4E"/>
                      </a:solidFill>
                      <a:latin typeface="Cambria Math"/>
                      <a:ea typeface="Cambria Math"/>
                    </a:rPr>
                    <m:t>Q</m:t>
                  </m:r>
                  <m:r>
                    <m:rPr>
                      <m:sty m:val="p"/>
                    </m:rPr>
                    <a:rPr lang="en-US" b="0" i="0" sz="2100">
                      <a:solidFill>
                        <a:srgbClr val="0B2B4E"/>
                      </a:solidFill>
                      <a:latin typeface="Cambria Math"/>
                    </a:rPr>
                    <m:t xml:space="preserve">) ∙ </m:t>
                  </m:r>
                  <m:r>
                    <a:rPr lang="en-US" b="0" i="1" sz="2100">
                      <a:solidFill>
                        <a:srgbClr val="0B2B4E"/>
                      </a:solidFill>
                      <a:latin typeface="Cambria Math"/>
                      <a:ea typeface="Cambria Math"/>
                    </a:rPr>
                    <m:t>Q</m:t>
                  </m:r>
                  <m:r>
                    <m:rPr>
                      <m:sty m:val="p"/>
                    </m:rPr>
                    <a:rPr lang="en-US" b="0" i="0" sz="2100">
                      <a:solidFill>
                        <a:srgbClr val="0B2B4E"/>
                      </a:solidFill>
                      <a:latin typeface="Cambria Math"/>
                    </a:rPr>
                    <m:t xml:space="preserve"> = 400∙</m:t>
                  </m:r>
                  <m:r>
                    <a:rPr lang="en-US" b="0" i="1" sz="2100">
                      <a:solidFill>
                        <a:srgbClr val="0B2B4E"/>
                      </a:solidFill>
                      <a:latin typeface="Cambria Math"/>
                      <a:ea typeface="Cambria Math"/>
                    </a:rPr>
                    <m:t>Q</m:t>
                  </m:r>
                  <m:r>
                    <m:rPr>
                      <m:sty m:val="p"/>
                    </m:rPr>
                    <a:rPr lang="en-US" b="0" i="0" sz="2100">
                      <a:solidFill>
                        <a:srgbClr val="0B2B4E"/>
                      </a:solidFill>
                      <a:latin typeface="Cambria Math"/>
                    </a:rPr>
                    <m:t xml:space="preserve"> − </m:t>
                  </m:r>
                  <m:f>
                    <m:fPr>
                      <m:ctrlPr>
                        <a:rPr lang="en-US" i="1">
                          <a:latin typeface="Cambria Math"/>
                        </a:rPr>
                      </m:ctrlPr>
                    </m:fPr>
                    <m:num>
                      <m:r>
                        <m:rPr>
                          <m:sty m:val="p"/>
                        </m:rPr>
                        <a:rPr lang="en-US" b="0" i="0" sz="2100">
                          <a:solidFill>
                            <a:srgbClr val="0B2B4E"/>
                          </a:solidFill>
                          <a:latin typeface="Cambria Math"/>
                        </a:rPr>
                        <m:t xml:space="preserve">1</m:t>
                      </m:r>
                    </m:num>
                    <m:den>
                      <m:r>
                        <m:rPr>
                          <m:sty m:val="p"/>
                        </m:rPr>
                        <a:rPr lang="en-US" b="0" i="0" sz="2100">
                          <a:solidFill>
                            <a:srgbClr val="0B2B4E"/>
                          </a:solidFill>
                          <a:latin typeface="Cambria Math"/>
                        </a:rPr>
                        <m:t xml:space="preserve">4</m:t>
                      </m:r>
                    </m:den>
                  </m:f>
                  <m:sSup>
                    <m:sSupPr>
                      <m:ctrlPr>
                        <a:rPr lang="en-US" i="1">
                          <a:latin typeface="Cambria Math"/>
                        </a:rPr>
                      </m:ctrlPr>
                    </m:sSupPr>
                    <m:e>
                      <m:r>
                        <a:rPr lang="en-US" b="0" i="1" sz="2100">
                          <a:solidFill>
                            <a:srgbClr val="0B2B4E"/>
                          </a:solidFill>
                          <a:latin typeface="Cambria Math"/>
                          <a:ea typeface="Cambria Math"/>
                        </a:rPr>
                        <m:t>Q</m:t>
                      </m:r>
                    </m:e>
                    <m:sup>
                      <m:r>
                        <m:rPr>
                          <m:sty m:val="p"/>
                        </m:rPr>
                        <a:rPr lang="en-US" b="0" i="0" sz="2100">
                          <a:solidFill>
                            <a:srgbClr val="0B2B4E"/>
                          </a:solidFill>
                          <a:latin typeface="Cambria Math"/>
                        </a:rPr>
                        <m:t xml:space="preserve">2</m:t>
                      </m:r>
                    </m:sup>
                  </m:sSup>
                </m:oMath>
              </m:oMathPara>
            </a14:m>
            <a:endParaRPr lang="en-US" sz="2100"/>
          </a:p>
        </p:txBody>
      </p:sp>
      <p:sp>
        <p:nvSpPr>
          <p:cNvPr id="13" name="TextBox 12"/>
          <p:cNvSpPr txBox="1"/>
          <p:nvPr/>
        </p:nvSpPr>
        <p:spPr>
          <a:xfrm>
            <a:off x="389159" y="4864608"/>
            <a:ext cx="5349240" cy="10972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Step 3:  Compute Marginal Revenue from total revenue </a:t>
            </a:r>
            <a:r>
              <a:rPr sz="1900">
                <a:solidFill>
                  <a:srgbClr val="0B2B4E"/>
                </a:solidFill>
                <a:latin typeface="Calibri"/>
              </a:rPr>
              <a:t>(MR = dTR/dQ)</a:t>
            </a:r>
          </a:p>
          <a:p>
            <a:pPr algn="l">
              <a:spcBef>
                <a:spcPts val="500"/>
              </a:spcBef>
              <a:buNone/>
            </a:pPr>
            <a:r>
              <a:rPr sz="1700">
                <a:solidFill>
                  <a:srgbClr val="555B66"/>
                </a:solidFill>
                <a:latin typeface="Calibri"/>
              </a:rPr>
              <a:t>Take the derivative of </a:t>
            </a:r>
            <a:r>
              <a:rPr sz="1700" i="1">
                <a:solidFill>
                  <a:srgbClr val="555B66"/>
                </a:solidFill>
                <a:latin typeface="Calibri"/>
              </a:rPr>
              <a:t>TR</a:t>
            </a:r>
            <a:r>
              <a:rPr sz="1700">
                <a:solidFill>
                  <a:srgbClr val="555B66"/>
                </a:solidFill>
                <a:latin typeface="Calibri"/>
              </a:rPr>
              <a:t> with respect to </a:t>
            </a:r>
            <a:r>
              <a:rPr sz="1700" i="1">
                <a:solidFill>
                  <a:srgbClr val="555B66"/>
                </a:solidFill>
                <a:latin typeface="Calibri"/>
              </a:rPr>
              <a:t>Q</a:t>
            </a:r>
          </a:p>
        </p:txBody>
      </p:sp>
      <p:sp>
        <p:nvSpPr>
          <p:cNvPr id="14" name="TextBox 13"/>
          <p:cNvSpPr txBox="1"/>
          <p:nvPr/>
        </p:nvSpPr>
        <p:spPr>
          <a:xfrm>
            <a:off x="5897880" y="4773168"/>
            <a:ext cx="5760720" cy="105156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100" b="0" i="1">
                <a:solidFill>
                  <a:srgbClr val="0B2B4E"/>
                </a:solidFill>
                <a:latin typeface="Cambria Math"/>
              </a:defRPr>
            </a:pPr>
            <a14:m>
              <m:oMathPara>
                <m:oMathParaPr>
                  <m:jc m:val="centerGroup"/>
                </m:oMathParaPr>
                <m:oMath>
                  <m:r>
                    <m:rPr>
                      <m:sty m:val="p"/>
                    </m:rPr>
                    <a:rPr lang="en-US" b="0" i="0" sz="2100">
                      <a:solidFill>
                        <a:srgbClr val="0B2B4E"/>
                      </a:solidFill>
                      <a:latin typeface="Cambria Math"/>
                    </a:rPr>
                    <m:t xml:space="preserve">MR</m:t>
                  </m:r>
                  <m:r>
                    <m:rPr>
                      <m:sty m:val="p"/>
                    </m:rPr>
                    <a:rPr lang="en-US" b="0" i="0" sz="2100">
                      <a:solidFill>
                        <a:srgbClr val="0B2B4E"/>
                      </a:solidFill>
                      <a:latin typeface="Cambria Math"/>
                    </a:rPr>
                    <m:t xml:space="preserve"> = 400 − (2⋅</m:t>
                  </m:r>
                  <m:f>
                    <m:fPr>
                      <m:ctrlPr>
                        <a:rPr lang="en-US" i="1">
                          <a:latin typeface="Cambria Math"/>
                        </a:rPr>
                      </m:ctrlPr>
                    </m:fPr>
                    <m:num>
                      <m:r>
                        <m:rPr>
                          <m:sty m:val="p"/>
                        </m:rPr>
                        <a:rPr lang="en-US" b="0" i="0" sz="2100">
                          <a:solidFill>
                            <a:srgbClr val="0B2B4E"/>
                          </a:solidFill>
                          <a:latin typeface="Cambria Math"/>
                        </a:rPr>
                        <m:t xml:space="preserve">1</m:t>
                      </m:r>
                    </m:num>
                    <m:den>
                      <m:r>
                        <m:rPr>
                          <m:sty m:val="p"/>
                        </m:rPr>
                        <a:rPr lang="en-US" b="0" i="0" sz="2100">
                          <a:solidFill>
                            <a:srgbClr val="0B2B4E"/>
                          </a:solidFill>
                          <a:latin typeface="Cambria Math"/>
                        </a:rPr>
                        <m:t xml:space="preserve">4</m:t>
                      </m:r>
                    </m:den>
                  </m:f>
                  <m:r>
                    <m:rPr>
                      <m:sty m:val="p"/>
                    </m:rPr>
                    <a:rPr lang="en-US" b="0" i="0" sz="2100">
                      <a:solidFill>
                        <a:srgbClr val="0B2B4E"/>
                      </a:solidFill>
                      <a:latin typeface="Cambria Math"/>
                    </a:rPr>
                    <m:t xml:space="preserve">)∙</m:t>
                  </m:r>
                  <m:r>
                    <a:rPr lang="en-US" b="0" i="1" sz="2100">
                      <a:solidFill>
                        <a:srgbClr val="0B2B4E"/>
                      </a:solidFill>
                      <a:latin typeface="Cambria Math"/>
                      <a:ea typeface="Cambria Math"/>
                    </a:rPr>
                    <m:t>Q</m:t>
                  </m:r>
                  <m:r>
                    <m:rPr>
                      <m:sty m:val="p"/>
                    </m:rPr>
                    <a:rPr lang="en-US" b="0" i="0" sz="2100">
                      <a:solidFill>
                        <a:srgbClr val="0B2B4E"/>
                      </a:solidFill>
                      <a:latin typeface="Cambria Math"/>
                    </a:rPr>
                    <m:t xml:space="preserve"> = 400 − </m:t>
                  </m:r>
                  <m:f>
                    <m:fPr>
                      <m:ctrlPr>
                        <a:rPr lang="en-US" i="1">
                          <a:latin typeface="Cambria Math"/>
                        </a:rPr>
                      </m:ctrlPr>
                    </m:fPr>
                    <m:num>
                      <m:r>
                        <m:rPr>
                          <m:sty m:val="p"/>
                        </m:rPr>
                        <a:rPr lang="en-US" b="0" i="0" sz="2100">
                          <a:solidFill>
                            <a:srgbClr val="0B2B4E"/>
                          </a:solidFill>
                          <a:latin typeface="Cambria Math"/>
                        </a:rPr>
                        <m:t xml:space="preserve">1</m:t>
                      </m:r>
                    </m:num>
                    <m:den>
                      <m:r>
                        <m:rPr>
                          <m:sty m:val="p"/>
                        </m:rPr>
                        <a:rPr lang="en-US" b="0" i="0" sz="2100">
                          <a:solidFill>
                            <a:srgbClr val="0B2B4E"/>
                          </a:solidFill>
                          <a:latin typeface="Cambria Math"/>
                        </a:rPr>
                        <m:t xml:space="preserve">2</m:t>
                      </m:r>
                    </m:den>
                  </m:f>
                  <m:r>
                    <a:rPr lang="en-US" b="0" i="1" sz="2100">
                      <a:solidFill>
                        <a:srgbClr val="0B2B4E"/>
                      </a:solidFill>
                      <a:latin typeface="Cambria Math"/>
                      <a:ea typeface="Cambria Math"/>
                    </a:rPr>
                    <m:t>Q</m:t>
                  </m:r>
                </m:oMath>
              </m:oMathPara>
            </a14:m>
            <a:endParaRPr lang="en-US" sz="2100"/>
          </a:p>
        </p:txBody>
      </p:sp>
      <p:sp>
        <p:nvSpPr>
          <p:cNvPr id="15" name="Rounded Rectangle 14"/>
          <p:cNvSpPr/>
          <p:nvPr/>
        </p:nvSpPr>
        <p:spPr>
          <a:xfrm>
            <a:off x="3108960" y="5961888"/>
            <a:ext cx="23774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2B4E"/>
                </a:solidFill>
                <a:latin typeface="Calibri"/>
              </a:rPr>
              <a:t>✎  Problem Set 2</a:t>
            </a:r>
          </a:p>
        </p:txBody>
      </p:sp>
      <p:sp>
        <p:nvSpPr>
          <p:cNvPr id="16" name="Rounded Rectangle 15"/>
          <p:cNvSpPr/>
          <p:nvPr/>
        </p:nvSpPr>
        <p:spPr>
          <a:xfrm>
            <a:off x="5760720" y="5961888"/>
            <a:ext cx="32918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2B4E"/>
                </a:solidFill>
                <a:latin typeface="Calibri"/>
              </a:rPr>
              <a:t>▤  Teaching Note: Marginal Revenue</a:t>
            </a:r>
          </a:p>
        </p:txBody>
      </p:sp>
      <p:sp>
        <p:nvSpPr>
          <p:cNvPr id="17" name="Rectangle 1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0" name="TextBox 19"/>
          <p:cNvSpPr txBox="1"/>
          <p:nvPr/>
        </p:nvSpPr>
        <p:spPr>
          <a:xfrm>
            <a:off x="11475720" y="6583680"/>
            <a:ext cx="502920" cy="292608"/>
          </a:xfrm>
          <a:prstGeom prst="rect">
            <a:avLst/>
          </a:prstGeom>
          <a:noFill/>
        </p:spPr>
        <p:txBody>
          <a:bodyPr wrap="none" lIns="0" rIns="0" tIns="0" bIns="0">
            <a:spAutoFit/>
          </a:bodyPr>
          <a:lstStyle/>
          <a:p>
            <a:pPr algn="r"/>
            <a:fld id="{8805CC04-5CE8-5D74-9E68-D8915217C41F}" type="slidenum">
              <a:rPr lang="en-US" sz="1200" dirty="0">
                <a:solidFill>
                  <a:srgbClr val="555B66"/>
                </a:solidFill>
                <a:latin typeface="Calibri"/>
              </a:rPr>
              <a:t>21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1B7FD6-0BF8-D79D-2B46-54DE390E50E0}"/>
              </a:ext>
            </a:extLst>
          </p:cNvPr>
          <p:cNvPicPr>
            <a:picLocks/>
          </p:cNvPicPr>
          <p:nvPr>
            <p:custDataLst>
              <p:tags r:id="rId3"/>
            </p:custDataLst>
          </p:nvPr>
        </p:nvPicPr>
        <p:blipFill>
          <a:blip r:embed="rId4"/>
          <a:stretch>
            <a:fillRect/>
          </a:stretch>
        </p:blipFill>
        <p:spPr>
          <a:xfrm>
            <a:off x="252304" y="128016"/>
            <a:ext cx="11434572" cy="5999988"/>
          </a:xfrm>
          <a:prstGeom prst="rect">
            <a:avLst/>
          </a:prstGeom>
        </p:spPr>
      </p:pic>
      <p:grpSp>
        <p:nvGrpSpPr>
          <p:cNvPr id="4" name="Group 14">
            <a:extLst>
              <a:ext uri="{FF2B5EF4-FFF2-40B4-BE49-F238E27FC236}">
                <a16:creationId xmlns:a16="http://schemas.microsoft.com/office/drawing/2014/main" id="{B9FAD457-222F-FED9-A3E3-FAC1238E56E3}"/>
              </a:ext>
            </a:extLst>
          </p:cNvPr>
          <p:cNvGrpSpPr/>
          <p:nvPr/>
        </p:nvGrpSpPr>
        <p:grpSpPr>
          <a:xfrm>
            <a:off x="8641080" y="6190488"/>
            <a:ext cx="3298616" cy="539496"/>
            <a:chOff x="7550576" y="5715000"/>
            <a:chExt cx="4389120" cy="658368"/>
          </a:xfrm>
        </p:grpSpPr>
        <p:sp>
          <p:nvSpPr>
            <p:cNvPr id="5" name="Rectangle 8">
              <a:extLst>
                <a:ext uri="{FF2B5EF4-FFF2-40B4-BE49-F238E27FC236}">
                  <a16:creationId xmlns:a16="http://schemas.microsoft.com/office/drawing/2014/main" id="{6FA86D9E-88F1-4DF6-51E5-B980B4C630C4}"/>
                </a:ext>
              </a:extLst>
            </p:cNvPr>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9">
              <a:extLst>
                <a:ext uri="{FF2B5EF4-FFF2-40B4-BE49-F238E27FC236}">
                  <a16:creationId xmlns:a16="http://schemas.microsoft.com/office/drawing/2014/main" id="{746582B0-B5C3-BAFE-2C82-C896C3C09E5B}"/>
                </a:ext>
              </a:extLst>
            </p:cNvPr>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dirty="0">
                  <a:solidFill>
                    <a:srgbClr val="0B2B4E"/>
                  </a:solidFill>
                  <a:latin typeface="Calibri"/>
                </a:rPr>
                <a:t>Poll Break</a:t>
              </a:r>
            </a:p>
          </p:txBody>
        </p:sp>
      </p:grpSp>
      <p:sp>
        <p:nvSpPr>
          <p:cNvPr id="9802" name="PageNum"/>
          <p:cNvSpPr txBox="1"/>
          <p:nvPr/>
        </p:nvSpPr>
        <p:spPr>
          <a:xfrm>
            <a:off x="11475720" y="6583680"/>
            <a:ext cx="502920" cy="292608"/>
          </a:xfrm>
          <a:prstGeom prst="rect">
            <a:avLst/>
          </a:prstGeom>
          <a:noFill/>
        </p:spPr>
        <p:txBody>
          <a:bodyPr wrap="none" lIns="0" tIns="0" rIns="0" bIns="0"/>
          <a:lstStyle/>
          <a:p>
            <a:pPr algn="r"/>
            <a:fld id="{BE1C2D18-E8DB-51B4-B0F5-F948FEA124D1}" type="slidenum">
              <a:rPr lang="en-US" sz="1200" dirty="0">
                <a:solidFill>
                  <a:srgbClr val="555B66"/>
                </a:solidFill>
                <a:latin typeface="Calibri"/>
              </a:rPr>
              <a:t>22</a:t>
            </a:fld>
          </a:p>
        </p:txBody>
      </p:sp>
    </p:spTree>
    <p:extLst>
      <p:ext uri="{BB962C8B-B14F-4D97-AF65-F5344CB8AC3E}">
        <p14:creationId xmlns:p14="http://schemas.microsoft.com/office/powerpoint/2010/main" val="1537760275"/>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Rectangle 3"/>
          <p:cNvSpPr/>
          <p:nvPr/>
        </p:nvSpPr>
        <p:spPr>
          <a:xfrm>
            <a:off x="251999" y="1170432"/>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51999" y="1156716"/>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1999" y="502920"/>
            <a:ext cx="11687697" cy="6400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30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buNone/>
            </a:pPr>
            <a:r>
              <a:rPr sz="3000" b="1">
                <a:solidFill>
                  <a:srgbClr val="0B2B4E"/>
                </a:solidFill>
                <a:latin typeface="Calibri"/>
              </a:rPr>
              <a:t>Solution: If  </a:t>
            </a:r>
            <a:r>
              <a:rPr sz="3000" b="1" i="1">
                <a:solidFill>
                  <a:srgbClr val="0B2B4E"/>
                </a:solidFill>
                <a:latin typeface="Calibri"/>
              </a:rPr>
              <a:t>Q = 10 − 0.5P</a:t>
            </a:r>
            <a:r>
              <a:rPr sz="3000" b="1">
                <a:solidFill>
                  <a:srgbClr val="0B2B4E"/>
                </a:solidFill>
                <a:latin typeface="Calibri"/>
              </a:rPr>
              <a:t> , What Is  </a:t>
            </a:r>
            <a:r>
              <a:rPr sz="3000" b="1" i="1">
                <a:solidFill>
                  <a:srgbClr val="0B2B4E"/>
                </a:solidFill>
                <a:latin typeface="Calibri"/>
              </a:rPr>
              <a:t>MR</a:t>
            </a:r>
            <a:r>
              <a:rPr sz="3000" b="1">
                <a:solidFill>
                  <a:srgbClr val="0B2B4E"/>
                </a:solidFill>
                <a:latin typeface="Calibri"/>
              </a:rPr>
              <a:t> ?</a:t>
            </a:r>
          </a:p>
        </p:txBody>
      </p:sp>
      <p:sp>
        <p:nvSpPr>
          <p:cNvPr id="7" name="TextBox 6"/>
          <p:cNvSpPr txBox="1"/>
          <p:nvPr/>
        </p:nvSpPr>
        <p:spPr>
          <a:xfrm>
            <a:off x="389159" y="2167128"/>
            <a:ext cx="4937760" cy="82296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b="1">
                <a:solidFill>
                  <a:srgbClr val="0B2B4E"/>
                </a:solidFill>
                <a:latin typeface="Calibri"/>
              </a:rPr>
              <a:t>1.  Inverse Demand:</a:t>
            </a:r>
          </a:p>
        </p:txBody>
      </p:sp>
      <p:sp>
        <p:nvSpPr>
          <p:cNvPr id="8" name="TextBox 7"/>
          <p:cNvSpPr txBox="1"/>
          <p:nvPr/>
        </p:nvSpPr>
        <p:spPr>
          <a:xfrm>
            <a:off x="5532120" y="1965960"/>
            <a:ext cx="6126480" cy="10058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a:rPr lang="en-US" b="0" i="1" sz="2200">
                      <a:solidFill>
                        <a:srgbClr val="0B2B4E"/>
                      </a:solidFill>
                      <a:latin typeface="Cambria Math"/>
                      <a:ea typeface="Cambria Math"/>
                    </a:rPr>
                    <m:t>P</m:t>
                  </m:r>
                  <m:r>
                    <m:rPr>
                      <m:sty m:val="p"/>
                    </m:rPr>
                    <a:rPr lang="en-US" b="0" i="0" sz="2200">
                      <a:solidFill>
                        <a:srgbClr val="0B2B4E"/>
                      </a:solidFill>
                      <a:latin typeface="Cambria Math"/>
                    </a:rPr>
                    <m:t xml:space="preserve"> = 20 − 2</m:t>
                  </m:r>
                  <m:r>
                    <a:rPr lang="en-US" b="0" i="1" sz="2200">
                      <a:solidFill>
                        <a:srgbClr val="0B2B4E"/>
                      </a:solidFill>
                      <a:latin typeface="Cambria Math"/>
                      <a:ea typeface="Cambria Math"/>
                    </a:rPr>
                    <m:t>Q</m:t>
                  </m:r>
                </m:oMath>
              </m:oMathPara>
            </a14:m>
            <a:endParaRPr lang="en-US" sz="2200"/>
          </a:p>
        </p:txBody>
      </p:sp>
      <p:sp>
        <p:nvSpPr>
          <p:cNvPr id="9" name="TextBox 8"/>
          <p:cNvSpPr txBox="1"/>
          <p:nvPr/>
        </p:nvSpPr>
        <p:spPr>
          <a:xfrm>
            <a:off x="389159" y="3493008"/>
            <a:ext cx="4937760" cy="82296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b="1">
                <a:solidFill>
                  <a:srgbClr val="0B2B4E"/>
                </a:solidFill>
                <a:latin typeface="Calibri"/>
              </a:rPr>
              <a:t>2.  Total revenue:  TR = P ∙ Q</a:t>
            </a:r>
          </a:p>
        </p:txBody>
      </p:sp>
      <p:sp>
        <p:nvSpPr>
          <p:cNvPr id="10" name="TextBox 9"/>
          <p:cNvSpPr txBox="1"/>
          <p:nvPr/>
        </p:nvSpPr>
        <p:spPr>
          <a:xfrm>
            <a:off x="5532120" y="3291840"/>
            <a:ext cx="6126480" cy="10058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200" b="0" i="1">
                <a:solidFill>
                  <a:srgbClr val="0B2B4E"/>
                </a:solidFill>
                <a:latin typeface="Cambria Math"/>
              </a:defRPr>
            </a:pPr>
            <a14:m>
              <m:oMathPara>
                <m:oMathParaPr>
                  <m:jc m:val="centerGroup"/>
                </m:oMathParaPr>
                <m:oMath>
                  <m:r>
                    <m:rPr>
                      <m:sty m:val="p"/>
                    </m:rPr>
                    <a:rPr lang="en-US" b="0" i="0" sz="2200">
                      <a:solidFill>
                        <a:srgbClr val="0B2B4E"/>
                      </a:solidFill>
                      <a:latin typeface="Cambria Math"/>
                    </a:rPr>
                    <m:t xml:space="preserve">TR</m:t>
                  </m:r>
                  <m:r>
                    <m:rPr>
                      <m:sty m:val="p"/>
                    </m:rPr>
                    <a:rPr lang="en-US" b="0" i="0" sz="2200">
                      <a:solidFill>
                        <a:srgbClr val="0B2B4E"/>
                      </a:solidFill>
                      <a:latin typeface="Cambria Math"/>
                    </a:rPr>
                    <m:t xml:space="preserve"> = (20 − 2</m:t>
                  </m:r>
                  <m:r>
                    <a:rPr lang="en-US" b="0" i="1" sz="2200">
                      <a:solidFill>
                        <a:srgbClr val="0B2B4E"/>
                      </a:solidFill>
                      <a:latin typeface="Cambria Math"/>
                      <a:ea typeface="Cambria Math"/>
                    </a:rPr>
                    <m:t>Q</m:t>
                  </m:r>
                  <m:r>
                    <m:rPr>
                      <m:sty m:val="p"/>
                    </m:rPr>
                    <a:rPr lang="en-US" b="0" i="0" sz="2200">
                      <a:solidFill>
                        <a:srgbClr val="0B2B4E"/>
                      </a:solidFill>
                      <a:latin typeface="Cambria Math"/>
                    </a:rPr>
                    <m:t xml:space="preserve">) ∙ </m:t>
                  </m:r>
                  <m:r>
                    <a:rPr lang="en-US" b="0" i="1" sz="2200">
                      <a:solidFill>
                        <a:srgbClr val="0B2B4E"/>
                      </a:solidFill>
                      <a:latin typeface="Cambria Math"/>
                      <a:ea typeface="Cambria Math"/>
                    </a:rPr>
                    <m:t>Q</m:t>
                  </m:r>
                  <m:r>
                    <m:rPr>
                      <m:sty m:val="p"/>
                    </m:rPr>
                    <a:rPr lang="en-US" b="0" i="0" sz="2200">
                      <a:solidFill>
                        <a:srgbClr val="0B2B4E"/>
                      </a:solidFill>
                      <a:latin typeface="Cambria Math"/>
                    </a:rPr>
                    <m:t xml:space="preserve"> = 20</m:t>
                  </m:r>
                  <m:r>
                    <a:rPr lang="en-US" b="0" i="1" sz="2200">
                      <a:solidFill>
                        <a:srgbClr val="0B2B4E"/>
                      </a:solidFill>
                      <a:latin typeface="Cambria Math"/>
                      <a:ea typeface="Cambria Math"/>
                    </a:rPr>
                    <m:t>Q</m:t>
                  </m:r>
                  <m:r>
                    <m:rPr>
                      <m:sty m:val="p"/>
                    </m:rPr>
                    <a:rPr lang="en-US" b="0" i="0" sz="2200">
                      <a:solidFill>
                        <a:srgbClr val="0B2B4E"/>
                      </a:solidFill>
                      <a:latin typeface="Cambria Math"/>
                    </a:rPr>
                    <m:t xml:space="preserve"> − 2</m:t>
                  </m:r>
                  <m:sSup>
                    <m:sSupPr>
                      <m:ctrlPr>
                        <a:rPr lang="en-US" i="1">
                          <a:latin typeface="Cambria Math"/>
                        </a:rPr>
                      </m:ctrlPr>
                    </m:sSupPr>
                    <m:e>
                      <m:r>
                        <a:rPr lang="en-US" b="0" i="1" sz="2200">
                          <a:solidFill>
                            <a:srgbClr val="0B2B4E"/>
                          </a:solidFill>
                          <a:latin typeface="Cambria Math"/>
                          <a:ea typeface="Cambria Math"/>
                        </a:rPr>
                        <m:t>Q</m:t>
                      </m:r>
                    </m:e>
                    <m:sup>
                      <m:r>
                        <m:rPr>
                          <m:sty m:val="p"/>
                        </m:rPr>
                        <a:rPr lang="en-US" b="0" i="0" sz="2200">
                          <a:solidFill>
                            <a:srgbClr val="0B2B4E"/>
                          </a:solidFill>
                          <a:latin typeface="Cambria Math"/>
                        </a:rPr>
                        <m:t xml:space="preserve">2</m:t>
                      </m:r>
                    </m:sup>
                  </m:sSup>
                </m:oMath>
              </m:oMathPara>
            </a14:m>
            <a:endParaRPr lang="en-US" sz="2200"/>
          </a:p>
        </p:txBody>
      </p:sp>
      <p:sp>
        <p:nvSpPr>
          <p:cNvPr id="11" name="TextBox 10"/>
          <p:cNvSpPr txBox="1"/>
          <p:nvPr/>
        </p:nvSpPr>
        <p:spPr>
          <a:xfrm>
            <a:off x="389159" y="4818888"/>
            <a:ext cx="4937760" cy="82296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b="1">
                <a:solidFill>
                  <a:srgbClr val="0B2B4E"/>
                </a:solidFill>
                <a:latin typeface="Calibri"/>
              </a:rPr>
              <a:t>3.  Derivative of TR w.r.t. Q:</a:t>
            </a:r>
          </a:p>
        </p:txBody>
      </p:sp>
      <p:sp>
        <p:nvSpPr>
          <p:cNvPr id="12" name="TextBox 11"/>
          <p:cNvSpPr txBox="1"/>
          <p:nvPr/>
        </p:nvSpPr>
        <p:spPr>
          <a:xfrm>
            <a:off x="5532120" y="4617720"/>
            <a:ext cx="6126480" cy="10058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200" b="0" i="1">
                <a:solidFill>
                  <a:srgbClr val="C00000"/>
                </a:solidFill>
                <a:latin typeface="Cambria Math"/>
              </a:defRPr>
            </a:pPr>
            <a14:m>
              <m:oMathPara>
                <m:oMathParaPr>
                  <m:jc m:val="centerGroup"/>
                </m:oMathParaPr>
                <m:oMath>
                  <m:r>
                    <m:rPr>
                      <m:sty m:val="p"/>
                    </m:rPr>
                    <a:rPr lang="en-US" b="0" i="0" sz="2200">
                      <a:solidFill>
                        <a:srgbClr val="C00000"/>
                      </a:solidFill>
                      <a:latin typeface="Cambria Math"/>
                    </a:rPr>
                    <m:t xml:space="preserve">MR</m:t>
                  </m:r>
                  <m:r>
                    <m:rPr>
                      <m:sty m:val="p"/>
                    </m:rPr>
                    <a:rPr lang="en-US" b="0" i="0" sz="2200">
                      <a:solidFill>
                        <a:srgbClr val="C00000"/>
                      </a:solidFill>
                      <a:latin typeface="Cambria Math"/>
                    </a:rPr>
                    <m:t xml:space="preserve"> = </m:t>
                  </m:r>
                  <m:f>
                    <m:fPr>
                      <m:ctrlPr>
                        <a:rPr lang="en-US" i="1">
                          <a:latin typeface="Cambria Math"/>
                        </a:rPr>
                      </m:ctrlPr>
                    </m:fPr>
                    <m:num>
                      <m:r>
                        <a:rPr lang="en-US" b="0" i="1" sz="2200">
                          <a:solidFill>
                            <a:srgbClr val="C00000"/>
                          </a:solidFill>
                          <a:latin typeface="Cambria Math"/>
                          <a:ea typeface="Cambria Math"/>
                        </a:rPr>
                        <m:t>d</m:t>
                      </m:r>
                      <m:r>
                        <m:rPr>
                          <m:sty m:val="p"/>
                        </m:rPr>
                        <a:rPr lang="en-US" b="0" i="0" sz="2200">
                          <a:solidFill>
                            <a:srgbClr val="C00000"/>
                          </a:solidFill>
                          <a:latin typeface="Cambria Math"/>
                        </a:rPr>
                        <m:t xml:space="preserve">TR</m:t>
                      </m:r>
                    </m:num>
                    <m:den>
                      <m:r>
                        <a:rPr lang="en-US" b="0" i="1" sz="2200">
                          <a:solidFill>
                            <a:srgbClr val="C00000"/>
                          </a:solidFill>
                          <a:latin typeface="Cambria Math"/>
                          <a:ea typeface="Cambria Math"/>
                        </a:rPr>
                        <m:t>d</m:t>
                      </m:r>
                      <m:r>
                        <a:rPr lang="en-US" b="0" i="1" sz="2200">
                          <a:solidFill>
                            <a:srgbClr val="C00000"/>
                          </a:solidFill>
                          <a:latin typeface="Cambria Math"/>
                          <a:ea typeface="Cambria Math"/>
                        </a:rPr>
                        <m:t>Q</m:t>
                      </m:r>
                    </m:den>
                  </m:f>
                  <m:r>
                    <m:rPr>
                      <m:sty m:val="p"/>
                    </m:rPr>
                    <a:rPr lang="en-US" b="0" i="0" sz="2200">
                      <a:solidFill>
                        <a:srgbClr val="C00000"/>
                      </a:solidFill>
                      <a:latin typeface="Cambria Math"/>
                    </a:rPr>
                    <m:t xml:space="preserve"> = 20 − 4</m:t>
                  </m:r>
                  <m:r>
                    <a:rPr lang="en-US" b="0" i="1" sz="2200">
                      <a:solidFill>
                        <a:srgbClr val="C00000"/>
                      </a:solidFill>
                      <a:latin typeface="Cambria Math"/>
                      <a:ea typeface="Cambria Math"/>
                    </a:rPr>
                    <m:t>Q</m:t>
                  </m:r>
                </m:oMath>
              </m:oMathPara>
            </a14:m>
            <a:endParaRPr lang="en-US" sz="2200"/>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AA790C0B-6B70-5B65-9ADE-9A8C3E542444}" type="slidenum">
              <a:rPr lang="en-US" sz="1200" dirty="0">
                <a:solidFill>
                  <a:srgbClr val="555B66"/>
                </a:solidFill>
                <a:latin typeface="Calibri"/>
              </a:rPr>
              <a:t>23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MR: Graphical Representation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1600200" y="1572768"/>
            <a:ext cx="0" cy="2130552"/>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600200" y="3703320"/>
            <a:ext cx="5925312"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417320" y="1344168"/>
            <a:ext cx="640080" cy="292608"/>
          </a:xfrm>
          <a:prstGeom prst="rect">
            <a:avLst/>
          </a:prstGeom>
          <a:noFill/>
        </p:spPr>
        <p:txBody>
          <a:bodyPr wrap="square" lIns="0" tIns="0" rIns="0" bIns="0">
            <a:spAutoFit/>
          </a:bodyPr>
          <a:lstStyle/>
          <a:p>
            <a:pPr algn="l"/>
            <a:r>
              <a:rPr sz="1600" b="1" i="1" u="none" dirty="0">
                <a:solidFill>
                  <a:srgbClr val="0B2B4E"/>
                </a:solidFill>
                <a:latin typeface="Calibri"/>
              </a:rPr>
              <a:t>P</a:t>
            </a:r>
          </a:p>
        </p:txBody>
      </p:sp>
      <p:sp>
        <p:nvSpPr>
          <p:cNvPr id="10" name="TextBox 9"/>
          <p:cNvSpPr txBox="1"/>
          <p:nvPr/>
        </p:nvSpPr>
        <p:spPr>
          <a:xfrm>
            <a:off x="7392924" y="3729283"/>
            <a:ext cx="548640" cy="292608"/>
          </a:xfrm>
          <a:prstGeom prst="rect">
            <a:avLst/>
          </a:prstGeom>
          <a:noFill/>
        </p:spPr>
        <p:txBody>
          <a:bodyPr wrap="square" lIns="0" tIns="0" rIns="0" bIns="0">
            <a:spAutoFit/>
          </a:bodyPr>
          <a:lstStyle/>
          <a:p>
            <a:pPr algn="l"/>
            <a:r>
              <a:rPr sz="1600" b="1" i="1" u="none" dirty="0">
                <a:solidFill>
                  <a:srgbClr val="0B2B4E"/>
                </a:solidFill>
                <a:latin typeface="Calibri"/>
              </a:rPr>
              <a:t>Q</a:t>
            </a:r>
          </a:p>
        </p:txBody>
      </p:sp>
      <p:cxnSp>
        <p:nvCxnSpPr>
          <p:cNvPr id="11" name="Connector 10"/>
          <p:cNvCxnSpPr/>
          <p:nvPr/>
        </p:nvCxnSpPr>
        <p:spPr>
          <a:xfrm flipV="1">
            <a:off x="1600200" y="4133087"/>
            <a:ext cx="0" cy="2130553"/>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00200" y="6263640"/>
            <a:ext cx="5925312" cy="0"/>
          </a:xfrm>
          <a:prstGeom prst="line">
            <a:avLst/>
          </a:prstGeom>
          <a:ln w="22225">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257839" y="3931920"/>
            <a:ext cx="640080" cy="292608"/>
          </a:xfrm>
          <a:prstGeom prst="rect">
            <a:avLst/>
          </a:prstGeom>
          <a:noFill/>
        </p:spPr>
        <p:txBody>
          <a:bodyPr wrap="square" lIns="0" tIns="0" rIns="0" bIns="0">
            <a:spAutoFit/>
          </a:bodyPr>
          <a:lstStyle/>
          <a:p>
            <a:pPr algn="l"/>
            <a:r>
              <a:rPr sz="1600" b="1" i="1" u="none" dirty="0">
                <a:solidFill>
                  <a:srgbClr val="0B2B4E"/>
                </a:solidFill>
                <a:latin typeface="Calibri"/>
              </a:rPr>
              <a:t>TR</a:t>
            </a:r>
          </a:p>
        </p:txBody>
      </p:sp>
      <p:sp>
        <p:nvSpPr>
          <p:cNvPr id="14" name="TextBox 13"/>
          <p:cNvSpPr txBox="1"/>
          <p:nvPr/>
        </p:nvSpPr>
        <p:spPr>
          <a:xfrm>
            <a:off x="7463655" y="6284214"/>
            <a:ext cx="548640" cy="292608"/>
          </a:xfrm>
          <a:prstGeom prst="rect">
            <a:avLst/>
          </a:prstGeom>
          <a:noFill/>
        </p:spPr>
        <p:txBody>
          <a:bodyPr wrap="square" lIns="0" tIns="0" rIns="0" bIns="0">
            <a:spAutoFit/>
          </a:bodyPr>
          <a:lstStyle/>
          <a:p>
            <a:pPr algn="l"/>
            <a:r>
              <a:rPr sz="1600" b="1" i="1" u="none">
                <a:solidFill>
                  <a:srgbClr val="0B2B4E"/>
                </a:solidFill>
                <a:latin typeface="Calibri"/>
              </a:rPr>
              <a:t>Q</a:t>
            </a:r>
          </a:p>
        </p:txBody>
      </p:sp>
      <p:grpSp>
        <p:nvGrpSpPr>
          <p:cNvPr id="62" name="Group 61">
            <a:extLst>
              <a:ext uri="{FF2B5EF4-FFF2-40B4-BE49-F238E27FC236}">
                <a16:creationId xmlns:a16="http://schemas.microsoft.com/office/drawing/2014/main" id="{6D0E0E6E-EA8C-1207-DB98-4804487E5071}"/>
              </a:ext>
            </a:extLst>
          </p:cNvPr>
          <p:cNvGrpSpPr/>
          <p:nvPr/>
        </p:nvGrpSpPr>
        <p:grpSpPr>
          <a:xfrm>
            <a:off x="1600200" y="1955799"/>
            <a:ext cx="3017520" cy="2076704"/>
            <a:chOff x="1600200" y="1955799"/>
            <a:chExt cx="3017520" cy="2076704"/>
          </a:xfrm>
        </p:grpSpPr>
        <p:cxnSp>
          <p:nvCxnSpPr>
            <p:cNvPr id="17" name="Connector 16"/>
            <p:cNvCxnSpPr/>
            <p:nvPr/>
          </p:nvCxnSpPr>
          <p:spPr>
            <a:xfrm>
              <a:off x="1600200" y="1955799"/>
              <a:ext cx="2560320" cy="1747521"/>
            </a:xfrm>
            <a:prstGeom prst="line">
              <a:avLst/>
            </a:prstGeom>
            <a:ln w="34925">
              <a:solidFill>
                <a:srgbClr val="0070C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848356" y="3026156"/>
              <a:ext cx="640080" cy="320040"/>
            </a:xfrm>
            <a:prstGeom prst="rect">
              <a:avLst/>
            </a:prstGeom>
            <a:noFill/>
          </p:spPr>
          <p:txBody>
            <a:bodyPr wrap="square" lIns="0" tIns="0" rIns="0" bIns="0">
              <a:spAutoFit/>
            </a:bodyPr>
            <a:lstStyle/>
            <a:p>
              <a:pPr algn="l"/>
              <a:r>
                <a:rPr sz="1600" b="1" i="1" u="none" dirty="0">
                  <a:solidFill>
                    <a:srgbClr val="0070C0"/>
                  </a:solidFill>
                  <a:latin typeface="Calibri"/>
                </a:rPr>
                <a:t>MR</a:t>
              </a:r>
            </a:p>
          </p:txBody>
        </p:sp>
        <p:sp>
          <p:nvSpPr>
            <p:cNvPr id="20" name="TextBox 19"/>
            <p:cNvSpPr txBox="1"/>
            <p:nvPr/>
          </p:nvSpPr>
          <p:spPr>
            <a:xfrm>
              <a:off x="3703320" y="3758183"/>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grpSp>
      <p:grpSp>
        <p:nvGrpSpPr>
          <p:cNvPr id="61" name="Group 60">
            <a:extLst>
              <a:ext uri="{FF2B5EF4-FFF2-40B4-BE49-F238E27FC236}">
                <a16:creationId xmlns:a16="http://schemas.microsoft.com/office/drawing/2014/main" id="{91B0E364-DF43-1ACE-207B-34ECA3D2B882}"/>
              </a:ext>
            </a:extLst>
          </p:cNvPr>
          <p:cNvGrpSpPr/>
          <p:nvPr/>
        </p:nvGrpSpPr>
        <p:grpSpPr>
          <a:xfrm>
            <a:off x="621792" y="1827783"/>
            <a:ext cx="6663619" cy="2204720"/>
            <a:chOff x="621792" y="1827783"/>
            <a:chExt cx="6663619" cy="2204720"/>
          </a:xfrm>
        </p:grpSpPr>
        <p:cxnSp>
          <p:nvCxnSpPr>
            <p:cNvPr id="15" name="Connector 14"/>
            <p:cNvCxnSpPr/>
            <p:nvPr/>
          </p:nvCxnSpPr>
          <p:spPr>
            <a:xfrm>
              <a:off x="1600200" y="1955799"/>
              <a:ext cx="5120640" cy="1747521"/>
            </a:xfrm>
            <a:prstGeom prst="line">
              <a:avLst/>
            </a:prstGeom>
            <a:ln w="34925">
              <a:solidFill>
                <a:srgbClr val="0B2B4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28211" y="3438143"/>
              <a:ext cx="457200" cy="320040"/>
            </a:xfrm>
            <a:prstGeom prst="rect">
              <a:avLst/>
            </a:prstGeom>
            <a:noFill/>
          </p:spPr>
          <p:txBody>
            <a:bodyPr wrap="square" lIns="0" tIns="0" rIns="0" bIns="0">
              <a:spAutoFit/>
            </a:bodyPr>
            <a:lstStyle/>
            <a:p>
              <a:pPr algn="l"/>
              <a:r>
                <a:rPr sz="1800" b="1" i="0" u="none" dirty="0">
                  <a:solidFill>
                    <a:srgbClr val="0B2B4E"/>
                  </a:solidFill>
                  <a:latin typeface="Calibri"/>
                </a:rPr>
                <a:t>D</a:t>
              </a:r>
            </a:p>
          </p:txBody>
        </p:sp>
        <p:sp>
          <p:nvSpPr>
            <p:cNvPr id="19" name="TextBox 18"/>
            <p:cNvSpPr txBox="1"/>
            <p:nvPr/>
          </p:nvSpPr>
          <p:spPr>
            <a:xfrm>
              <a:off x="621792" y="1827783"/>
              <a:ext cx="868680" cy="274320"/>
            </a:xfrm>
            <a:prstGeom prst="rect">
              <a:avLst/>
            </a:prstGeom>
            <a:noFill/>
          </p:spPr>
          <p:txBody>
            <a:bodyPr wrap="square" lIns="0" tIns="0" rIns="0" bIns="0">
              <a:spAutoFit/>
            </a:bodyPr>
            <a:lstStyle/>
            <a:p>
              <a:pPr algn="r"/>
              <a:r>
                <a:rPr sz="1500" b="0" i="0" u="none">
                  <a:solidFill>
                    <a:srgbClr val="0B2B4E"/>
                  </a:solidFill>
                  <a:latin typeface="Calibri"/>
                </a:rPr>
                <a:t>400</a:t>
              </a:r>
            </a:p>
          </p:txBody>
        </p:sp>
        <p:sp>
          <p:nvSpPr>
            <p:cNvPr id="21" name="TextBox 20"/>
            <p:cNvSpPr txBox="1"/>
            <p:nvPr/>
          </p:nvSpPr>
          <p:spPr>
            <a:xfrm>
              <a:off x="6263640" y="3758183"/>
              <a:ext cx="914400" cy="274320"/>
            </a:xfrm>
            <a:prstGeom prst="rect">
              <a:avLst/>
            </a:prstGeom>
            <a:noFill/>
          </p:spPr>
          <p:txBody>
            <a:bodyPr wrap="square" lIns="0" tIns="0" rIns="0" bIns="0">
              <a:spAutoFit/>
            </a:bodyPr>
            <a:lstStyle/>
            <a:p>
              <a:pPr algn="ctr"/>
              <a:r>
                <a:rPr sz="1500" b="0" i="0" u="none">
                  <a:solidFill>
                    <a:srgbClr val="0B2B4E"/>
                  </a:solidFill>
                  <a:latin typeface="Calibri"/>
                </a:rPr>
                <a:t>1600</a:t>
              </a:r>
            </a:p>
          </p:txBody>
        </p:sp>
      </p:grpSp>
      <p:grpSp>
        <p:nvGrpSpPr>
          <p:cNvPr id="133" name="Group 132">
            <a:extLst>
              <a:ext uri="{FF2B5EF4-FFF2-40B4-BE49-F238E27FC236}">
                <a16:creationId xmlns:a16="http://schemas.microsoft.com/office/drawing/2014/main" id="{FB095576-AF8D-B0AF-E75C-DCB57864F166}"/>
              </a:ext>
            </a:extLst>
          </p:cNvPr>
          <p:cNvGrpSpPr/>
          <p:nvPr/>
        </p:nvGrpSpPr>
        <p:grpSpPr>
          <a:xfrm>
            <a:off x="4407419" y="2837303"/>
            <a:ext cx="2647175" cy="454702"/>
            <a:chOff x="4407419" y="2837303"/>
            <a:chExt cx="2647175" cy="454702"/>
          </a:xfrm>
        </p:grpSpPr>
        <p:sp>
          <p:nvSpPr>
            <p:cNvPr id="23" name="Right Brace 22"/>
            <p:cNvSpPr/>
            <p:nvPr/>
          </p:nvSpPr>
          <p:spPr>
            <a:xfrm rot="17388011">
              <a:off x="5496985" y="1954146"/>
              <a:ext cx="248293" cy="2427425"/>
            </a:xfrm>
            <a:prstGeom prst="rightBrace">
              <a:avLst>
                <a:gd name="adj1" fmla="val 8333"/>
                <a:gd name="adj2" fmla="val 50333"/>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rot="1157093">
              <a:off x="5042914" y="2837303"/>
              <a:ext cx="2011680" cy="310896"/>
            </a:xfrm>
            <a:prstGeom prst="rect">
              <a:avLst/>
            </a:prstGeom>
            <a:noFill/>
          </p:spPr>
          <p:txBody>
            <a:bodyPr wrap="square" lIns="0" tIns="0" rIns="0" bIns="0">
              <a:spAutoFit/>
            </a:bodyPr>
            <a:lstStyle/>
            <a:p>
              <a:pPr algn="l"/>
              <a:r>
                <a:rPr sz="1600" b="1" i="0" u="none" dirty="0">
                  <a:solidFill>
                    <a:srgbClr val="0070C0"/>
                  </a:solidFill>
                  <a:latin typeface="Calibri"/>
                </a:rPr>
                <a:t>Inelastic portion</a:t>
              </a:r>
            </a:p>
          </p:txBody>
        </p:sp>
      </p:grpSp>
      <p:grpSp>
        <p:nvGrpSpPr>
          <p:cNvPr id="63" name="Group 62">
            <a:extLst>
              <a:ext uri="{FF2B5EF4-FFF2-40B4-BE49-F238E27FC236}">
                <a16:creationId xmlns:a16="http://schemas.microsoft.com/office/drawing/2014/main" id="{4175DE3E-3F62-4EC4-797B-F363D83E6E5D}"/>
              </a:ext>
            </a:extLst>
          </p:cNvPr>
          <p:cNvGrpSpPr/>
          <p:nvPr/>
        </p:nvGrpSpPr>
        <p:grpSpPr>
          <a:xfrm>
            <a:off x="1600200" y="3933613"/>
            <a:ext cx="5120640" cy="2330027"/>
            <a:chOff x="1600200" y="3933613"/>
            <a:chExt cx="5120640" cy="2330027"/>
          </a:xfrm>
        </p:grpSpPr>
        <p:sp>
          <p:nvSpPr>
            <p:cNvPr id="28" name="Rectangle 27"/>
            <p:cNvSpPr/>
            <p:nvPr/>
          </p:nvSpPr>
          <p:spPr>
            <a:xfrm>
              <a:off x="1600200" y="3933613"/>
              <a:ext cx="5120640" cy="2330027"/>
            </a:xfrm>
            <a:custGeom>
              <a:avLst/>
              <a:gdLst/>
              <a:ahLst/>
              <a:cxnLst/>
              <a:rect l="0" t="0" r="5120640" b="2330027"/>
              <a:pathLst>
                <a:path w="5120640" h="2330027">
                  <a:moveTo>
                    <a:pt x="0" y="2330027"/>
                  </a:moveTo>
                  <a:cubicBezTo>
                    <a:pt x="1706880" y="0"/>
                    <a:pt x="3413760" y="0"/>
                    <a:pt x="5120640" y="2330027"/>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00700" y="4843779"/>
              <a:ext cx="731520" cy="320040"/>
            </a:xfrm>
            <a:prstGeom prst="rect">
              <a:avLst/>
            </a:prstGeom>
            <a:noFill/>
          </p:spPr>
          <p:txBody>
            <a:bodyPr wrap="square" lIns="0" tIns="0" rIns="0" bIns="0">
              <a:spAutoFit/>
            </a:bodyPr>
            <a:lstStyle/>
            <a:p>
              <a:pPr algn="l"/>
              <a:r>
                <a:rPr sz="1600" b="1" i="1" u="none">
                  <a:solidFill>
                    <a:srgbClr val="E09F3E"/>
                  </a:solidFill>
                  <a:latin typeface="Calibri"/>
                </a:rPr>
                <a:t>TR</a:t>
              </a:r>
            </a:p>
          </p:txBody>
        </p:sp>
      </p:grpSp>
      <p:grpSp>
        <p:nvGrpSpPr>
          <p:cNvPr id="134" name="Group 133">
            <a:extLst>
              <a:ext uri="{FF2B5EF4-FFF2-40B4-BE49-F238E27FC236}">
                <a16:creationId xmlns:a16="http://schemas.microsoft.com/office/drawing/2014/main" id="{C8F41695-D553-762A-1CF9-C50A16ECBFA6}"/>
              </a:ext>
            </a:extLst>
          </p:cNvPr>
          <p:cNvGrpSpPr/>
          <p:nvPr/>
        </p:nvGrpSpPr>
        <p:grpSpPr>
          <a:xfrm>
            <a:off x="4110228" y="2472174"/>
            <a:ext cx="1371600" cy="407677"/>
            <a:chOff x="4110228" y="2472174"/>
            <a:chExt cx="1371600" cy="407677"/>
          </a:xfrm>
        </p:grpSpPr>
        <p:sp>
          <p:nvSpPr>
            <p:cNvPr id="24" name="Oval 23"/>
            <p:cNvSpPr/>
            <p:nvPr/>
          </p:nvSpPr>
          <p:spPr>
            <a:xfrm>
              <a:off x="4110228" y="2779267"/>
              <a:ext cx="100584" cy="100584"/>
            </a:xfrm>
            <a:prstGeom prst="ellipse">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110228" y="2472174"/>
              <a:ext cx="1371600" cy="292608"/>
            </a:xfrm>
            <a:prstGeom prst="rect">
              <a:avLst/>
            </a:prstGeom>
            <a:noFill/>
          </p:spPr>
          <p:txBody>
            <a:bodyPr wrap="square" lIns="0" tIns="0" rIns="0" bIns="0">
              <a:spAutoFit/>
            </a:bodyPr>
            <a:lstStyle/>
            <a:p>
              <a:pPr algn="l"/>
              <a:r>
                <a:rPr sz="1600" b="1" i="0" u="none" dirty="0">
                  <a:solidFill>
                    <a:srgbClr val="0B2B4E"/>
                  </a:solidFill>
                  <a:latin typeface="Calibri"/>
                </a:rPr>
                <a:t>E</a:t>
              </a:r>
              <a:r>
                <a:rPr sz="1600" b="1" i="0" u="none" baseline="-25000" dirty="0">
                  <a:solidFill>
                    <a:srgbClr val="0B2B4E"/>
                  </a:solidFill>
                  <a:latin typeface="Calibri"/>
                </a:rPr>
                <a:t>D</a:t>
              </a:r>
              <a:r>
                <a:rPr sz="1600" b="1" i="0" u="none" dirty="0">
                  <a:solidFill>
                    <a:srgbClr val="0B2B4E"/>
                  </a:solidFill>
                  <a:latin typeface="Calibri"/>
                </a:rPr>
                <a:t> = −1</a:t>
              </a:r>
            </a:p>
          </p:txBody>
        </p:sp>
      </p:grpSp>
      <p:grpSp>
        <p:nvGrpSpPr>
          <p:cNvPr id="135" name="Group 134">
            <a:extLst>
              <a:ext uri="{FF2B5EF4-FFF2-40B4-BE49-F238E27FC236}">
                <a16:creationId xmlns:a16="http://schemas.microsoft.com/office/drawing/2014/main" id="{1CD7C8E9-5562-F64F-6729-8F7AE8DC7626}"/>
              </a:ext>
            </a:extLst>
          </p:cNvPr>
          <p:cNvGrpSpPr/>
          <p:nvPr/>
        </p:nvGrpSpPr>
        <p:grpSpPr>
          <a:xfrm>
            <a:off x="3703320" y="2829559"/>
            <a:ext cx="914400" cy="3763264"/>
            <a:chOff x="3703320" y="2829559"/>
            <a:chExt cx="914400" cy="3763264"/>
          </a:xfrm>
        </p:grpSpPr>
        <p:sp>
          <p:nvSpPr>
            <p:cNvPr id="30" name="TextBox 29"/>
            <p:cNvSpPr txBox="1"/>
            <p:nvPr/>
          </p:nvSpPr>
          <p:spPr>
            <a:xfrm>
              <a:off x="3703320" y="6318503"/>
              <a:ext cx="914400" cy="274320"/>
            </a:xfrm>
            <a:prstGeom prst="rect">
              <a:avLst/>
            </a:prstGeom>
            <a:noFill/>
          </p:spPr>
          <p:txBody>
            <a:bodyPr wrap="square" lIns="0" tIns="0" rIns="0" bIns="0">
              <a:spAutoFit/>
            </a:bodyPr>
            <a:lstStyle/>
            <a:p>
              <a:pPr algn="ctr"/>
              <a:r>
                <a:rPr sz="1500" b="0" i="0" u="none" dirty="0">
                  <a:solidFill>
                    <a:srgbClr val="0B2B4E"/>
                  </a:solidFill>
                  <a:latin typeface="Calibri"/>
                </a:rPr>
                <a:t>800</a:t>
              </a:r>
            </a:p>
          </p:txBody>
        </p:sp>
        <p:cxnSp>
          <p:nvCxnSpPr>
            <p:cNvPr id="31" name="Connector 30"/>
            <p:cNvCxnSpPr/>
            <p:nvPr/>
          </p:nvCxnSpPr>
          <p:spPr>
            <a:xfrm>
              <a:off x="4160520" y="2829559"/>
              <a:ext cx="0" cy="3434081"/>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130" name="Group 129">
            <a:extLst>
              <a:ext uri="{FF2B5EF4-FFF2-40B4-BE49-F238E27FC236}">
                <a16:creationId xmlns:a16="http://schemas.microsoft.com/office/drawing/2014/main" id="{57680BE5-4C68-4A67-1047-97EE0650AFEA}"/>
              </a:ext>
            </a:extLst>
          </p:cNvPr>
          <p:cNvGrpSpPr/>
          <p:nvPr/>
        </p:nvGrpSpPr>
        <p:grpSpPr>
          <a:xfrm>
            <a:off x="4219957" y="4104131"/>
            <a:ext cx="5311764" cy="466545"/>
            <a:chOff x="4219957" y="4104131"/>
            <a:chExt cx="5311764" cy="466545"/>
          </a:xfrm>
        </p:grpSpPr>
        <p:grpSp>
          <p:nvGrpSpPr>
            <p:cNvPr id="141" name="Group pair 141"/>
            <p:cNvGrpSpPr/>
            <p:nvPr/>
          </p:nvGrpSpPr>
          <p:grpSpPr>
            <a:xfrm>
              <a:off x="6187024" y="4104131"/>
              <a:ext cx="3344697" cy="466545"/>
              <a:chOff x="8001000" y="3977639"/>
              <a:chExt cx="3886200" cy="914400"/>
            </a:xfrm>
          </p:grpSpPr>
          <p:sp>
            <p:nvSpPr>
              <p:cNvPr id="34" name="Rounded Rectangle 33"/>
              <p:cNvSpPr/>
              <p:nvPr/>
            </p:nvSpPr>
            <p:spPr>
              <a:xfrm>
                <a:off x="8001000" y="3977639"/>
                <a:ext cx="3886200" cy="9144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83881" y="4178468"/>
                <a:ext cx="3520440" cy="512740"/>
              </a:xfrm>
              <a:prstGeom prst="rect">
                <a:avLst/>
              </a:prstGeom>
              <a:noFill/>
            </p:spPr>
            <p:txBody>
              <a:bodyPr wrap="square" lIns="45720" tIns="0" rIns="45720" bIns="0" anchor="ctr">
                <a:spAutoFit/>
              </a:bodyPr>
              <a:lstStyle/>
              <a:p>
                <a:pPr algn="l"/>
                <a:r>
                  <a:rPr sz="1700" b="1" i="0" u="none" dirty="0">
                    <a:solidFill>
                      <a:srgbClr val="0070C0"/>
                    </a:solidFill>
                    <a:latin typeface="Calibri"/>
                  </a:rPr>
                  <a:t>TR is max</a:t>
                </a:r>
                <a:r>
                  <a:rPr lang="en-US" sz="1700" b="1" i="0" u="none" dirty="0">
                    <a:solidFill>
                      <a:srgbClr val="0070C0"/>
                    </a:solidFill>
                    <a:latin typeface="Calibri"/>
                  </a:rPr>
                  <a:t>imized</a:t>
                </a:r>
                <a:r>
                  <a:rPr sz="1700" b="1" i="0" u="none" dirty="0">
                    <a:solidFill>
                      <a:srgbClr val="0070C0"/>
                    </a:solidFill>
                    <a:latin typeface="Calibri"/>
                  </a:rPr>
                  <a:t> where MR = 0</a:t>
                </a:r>
              </a:p>
            </p:txBody>
          </p:sp>
        </p:grpSp>
        <p:cxnSp>
          <p:nvCxnSpPr>
            <p:cNvPr id="36" name="Connector 35"/>
            <p:cNvCxnSpPr>
              <a:cxnSpLocks/>
            </p:cNvCxnSpPr>
            <p:nvPr/>
          </p:nvCxnSpPr>
          <p:spPr>
            <a:xfrm flipH="1">
              <a:off x="4219957" y="4162652"/>
              <a:ext cx="1967067" cy="335179"/>
            </a:xfrm>
            <a:prstGeom prst="line">
              <a:avLst/>
            </a:prstGeom>
            <a:ln w="2222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sp>
        <p:nvSpPr>
          <p:cNvPr id="37" name="Rectangle 3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40" name="TextBox 39"/>
          <p:cNvSpPr txBox="1"/>
          <p:nvPr/>
        </p:nvSpPr>
        <p:spPr>
          <a:xfrm>
            <a:off x="11475720" y="6583680"/>
            <a:ext cx="502920" cy="292608"/>
          </a:xfrm>
          <a:prstGeom prst="rect">
            <a:avLst/>
          </a:prstGeom>
          <a:noFill/>
        </p:spPr>
        <p:txBody>
          <a:bodyPr wrap="none" lIns="0" tIns="0" rIns="0" bIns="0">
            <a:spAutoFit/>
          </a:bodyPr>
          <a:lstStyle/>
          <a:p>
            <a:pPr algn="r"/>
            <a:fld id="{57E788C4-EDEA-506B-9706-C2817ED5B6F6}" type="slidenum">
              <a:rPr lang="en-US" sz="1200" dirty="0">
                <a:solidFill>
                  <a:srgbClr val="555B66"/>
                </a:solidFill>
                <a:latin typeface="Calibri"/>
              </a:rPr>
              <a:t>9</a:t>
            </a:fld>
            <a:endParaRPr lang="en-US" sz="1200" dirty="0">
              <a:solidFill>
                <a:srgbClr val="555B66"/>
              </a:solidFill>
              <a:latin typeface="Calibri"/>
            </a:endParaRPr>
          </a:p>
        </p:txBody>
      </p:sp>
      <p:grpSp>
        <p:nvGrpSpPr>
          <p:cNvPr id="132" name="Group 131">
            <a:extLst>
              <a:ext uri="{FF2B5EF4-FFF2-40B4-BE49-F238E27FC236}">
                <a16:creationId xmlns:a16="http://schemas.microsoft.com/office/drawing/2014/main" id="{0027994C-1E2F-51DD-FA73-0F454DDC4935}"/>
              </a:ext>
            </a:extLst>
          </p:cNvPr>
          <p:cNvGrpSpPr/>
          <p:nvPr/>
        </p:nvGrpSpPr>
        <p:grpSpPr>
          <a:xfrm>
            <a:off x="1681996" y="1888005"/>
            <a:ext cx="2647175" cy="422365"/>
            <a:chOff x="1681996" y="1888005"/>
            <a:chExt cx="2647175" cy="422365"/>
          </a:xfrm>
        </p:grpSpPr>
        <p:sp>
          <p:nvSpPr>
            <p:cNvPr id="41" name="Right Brace 40">
              <a:extLst>
                <a:ext uri="{FF2B5EF4-FFF2-40B4-BE49-F238E27FC236}">
                  <a16:creationId xmlns:a16="http://schemas.microsoft.com/office/drawing/2014/main" id="{33525340-3A10-FCE9-255A-BF68B2D75425}"/>
                </a:ext>
              </a:extLst>
            </p:cNvPr>
            <p:cNvSpPr/>
            <p:nvPr/>
          </p:nvSpPr>
          <p:spPr>
            <a:xfrm rot="17388011">
              <a:off x="2771562" y="972511"/>
              <a:ext cx="248293" cy="2427425"/>
            </a:xfrm>
            <a:prstGeom prst="rightBrace">
              <a:avLst>
                <a:gd name="adj1" fmla="val 8333"/>
                <a:gd name="adj2" fmla="val 50333"/>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6B5C9FB2-C471-4A74-AA98-E3FC505424F2}"/>
                </a:ext>
              </a:extLst>
            </p:cNvPr>
            <p:cNvSpPr txBox="1"/>
            <p:nvPr/>
          </p:nvSpPr>
          <p:spPr>
            <a:xfrm rot="1157093">
              <a:off x="2317491" y="1888005"/>
              <a:ext cx="2011680" cy="246221"/>
            </a:xfrm>
            <a:prstGeom prst="rect">
              <a:avLst/>
            </a:prstGeom>
            <a:noFill/>
          </p:spPr>
          <p:txBody>
            <a:bodyPr wrap="square" lIns="0" tIns="0" rIns="0" bIns="0">
              <a:spAutoFit/>
            </a:bodyPr>
            <a:lstStyle/>
            <a:p>
              <a:pPr algn="l"/>
              <a:r>
                <a:rPr lang="en-US" sz="1600" b="1" i="0" u="none" dirty="0">
                  <a:solidFill>
                    <a:srgbClr val="0070C0"/>
                  </a:solidFill>
                  <a:latin typeface="Calibri"/>
                </a:rPr>
                <a:t>E</a:t>
              </a:r>
              <a:r>
                <a:rPr sz="1600" b="1" i="0" u="none" dirty="0">
                  <a:solidFill>
                    <a:srgbClr val="0070C0"/>
                  </a:solidFill>
                  <a:latin typeface="Calibri"/>
                </a:rPr>
                <a:t>lastic portion</a:t>
              </a:r>
            </a:p>
          </p:txBody>
        </p:sp>
      </p:grpSp>
      <p:grpSp>
        <p:nvGrpSpPr>
          <p:cNvPr id="49" name="Group pair 140">
            <a:extLst>
              <a:ext uri="{FF2B5EF4-FFF2-40B4-BE49-F238E27FC236}">
                <a16:creationId xmlns:a16="http://schemas.microsoft.com/office/drawing/2014/main" id="{FB46FDB4-A000-CDBD-0CA3-7A8CE6F5E1C9}"/>
              </a:ext>
            </a:extLst>
          </p:cNvPr>
          <p:cNvGrpSpPr/>
          <p:nvPr/>
        </p:nvGrpSpPr>
        <p:grpSpPr>
          <a:xfrm>
            <a:off x="7968995" y="3234682"/>
            <a:ext cx="1828799" cy="320040"/>
            <a:chOff x="8001000" y="1554480"/>
            <a:chExt cx="3886200" cy="1965960"/>
          </a:xfrm>
        </p:grpSpPr>
        <p:sp>
          <p:nvSpPr>
            <p:cNvPr id="50" name="Rounded Rectangle 31">
              <a:extLst>
                <a:ext uri="{FF2B5EF4-FFF2-40B4-BE49-F238E27FC236}">
                  <a16:creationId xmlns:a16="http://schemas.microsoft.com/office/drawing/2014/main" id="{D4784D15-2F9C-5402-BCA3-9E13480D5454}"/>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8919FE71-1AD0-F7E2-52AB-1111ADB57091}"/>
                </a:ext>
              </a:extLst>
            </p:cNvPr>
            <p:cNvSpPr txBox="1"/>
            <p:nvPr/>
          </p:nvSpPr>
          <p:spPr>
            <a:xfrm>
              <a:off x="8183880" y="2406655"/>
              <a:ext cx="3520440" cy="261610"/>
            </a:xfrm>
            <a:prstGeom prst="rect">
              <a:avLst/>
            </a:prstGeom>
            <a:noFill/>
          </p:spPr>
          <p:txBody>
            <a:bodyPr wrap="square" lIns="45720" tIns="0" rIns="45720" bIns="0" anchor="ctr">
              <a:spAutoFit/>
            </a:bodyPr>
            <a:lstStyle/>
            <a:p>
              <a:pPr algn="l"/>
              <a:r>
                <a:rPr sz="1700" b="1" i="1" u="none" dirty="0">
                  <a:solidFill>
                    <a:srgbClr val="0070C0"/>
                  </a:solidFill>
                  <a:latin typeface="Calibri"/>
                </a:rPr>
                <a:t>MR = 400 − Q/2</a:t>
              </a:r>
            </a:p>
          </p:txBody>
        </p:sp>
      </p:grpSp>
      <p:grpSp>
        <p:nvGrpSpPr>
          <p:cNvPr id="52" name="Group pair 140">
            <a:extLst>
              <a:ext uri="{FF2B5EF4-FFF2-40B4-BE49-F238E27FC236}">
                <a16:creationId xmlns:a16="http://schemas.microsoft.com/office/drawing/2014/main" id="{661A58B8-B41D-816B-D3B3-5D7C3392033F}"/>
              </a:ext>
            </a:extLst>
          </p:cNvPr>
          <p:cNvGrpSpPr/>
          <p:nvPr/>
        </p:nvGrpSpPr>
        <p:grpSpPr>
          <a:xfrm>
            <a:off x="7926234" y="1714026"/>
            <a:ext cx="1828799" cy="320040"/>
            <a:chOff x="8001000" y="1554480"/>
            <a:chExt cx="3886200" cy="1965960"/>
          </a:xfrm>
        </p:grpSpPr>
        <p:sp>
          <p:nvSpPr>
            <p:cNvPr id="53" name="Rounded Rectangle 31">
              <a:extLst>
                <a:ext uri="{FF2B5EF4-FFF2-40B4-BE49-F238E27FC236}">
                  <a16:creationId xmlns:a16="http://schemas.microsoft.com/office/drawing/2014/main" id="{73DC029C-6D5F-5D8B-264D-8F2B7FB64E87}"/>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a:extLst>
                <a:ext uri="{FF2B5EF4-FFF2-40B4-BE49-F238E27FC236}">
                  <a16:creationId xmlns:a16="http://schemas.microsoft.com/office/drawing/2014/main" id="{2F89AD8F-282D-48C4-99A2-43D4655E49D0}"/>
                </a:ext>
              </a:extLst>
            </p:cNvPr>
            <p:cNvSpPr txBox="1"/>
            <p:nvPr/>
          </p:nvSpPr>
          <p:spPr>
            <a:xfrm>
              <a:off x="8183880" y="1733944"/>
              <a:ext cx="3520441" cy="1607033"/>
            </a:xfrm>
            <a:prstGeom prst="rect">
              <a:avLst/>
            </a:prstGeom>
            <a:noFill/>
          </p:spPr>
          <p:txBody>
            <a:bodyPr wrap="square" lIns="45720" tIns="0" rIns="45720" bIns="0" anchor="ctr">
              <a:spAutoFit/>
            </a:bodyPr>
            <a:lstStyle/>
            <a:p>
              <a:r>
                <a:rPr lang="en-US" sz="1700" i="1" dirty="0">
                  <a:solidFill>
                    <a:srgbClr val="0B2B4E"/>
                  </a:solidFill>
                </a:rPr>
                <a:t>Q = 1,600 − 4P</a:t>
              </a:r>
            </a:p>
          </p:txBody>
        </p:sp>
      </p:grpSp>
      <p:grpSp>
        <p:nvGrpSpPr>
          <p:cNvPr id="55" name="Group pair 140">
            <a:extLst>
              <a:ext uri="{FF2B5EF4-FFF2-40B4-BE49-F238E27FC236}">
                <a16:creationId xmlns:a16="http://schemas.microsoft.com/office/drawing/2014/main" id="{969E7D4D-70F7-5000-5795-09643581142C}"/>
              </a:ext>
            </a:extLst>
          </p:cNvPr>
          <p:cNvGrpSpPr/>
          <p:nvPr/>
        </p:nvGrpSpPr>
        <p:grpSpPr>
          <a:xfrm>
            <a:off x="8398764" y="2155266"/>
            <a:ext cx="1828799" cy="320040"/>
            <a:chOff x="8001000" y="1554480"/>
            <a:chExt cx="3886200" cy="1965960"/>
          </a:xfrm>
        </p:grpSpPr>
        <p:sp>
          <p:nvSpPr>
            <p:cNvPr id="56" name="Rounded Rectangle 31">
              <a:extLst>
                <a:ext uri="{FF2B5EF4-FFF2-40B4-BE49-F238E27FC236}">
                  <a16:creationId xmlns:a16="http://schemas.microsoft.com/office/drawing/2014/main" id="{2C65A8EC-773F-9163-7A50-0D54A9D8A3D3}"/>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59C28ACB-EE1C-71C6-2FA2-E44FA8C54218}"/>
                </a:ext>
              </a:extLst>
            </p:cNvPr>
            <p:cNvSpPr txBox="1"/>
            <p:nvPr/>
          </p:nvSpPr>
          <p:spPr>
            <a:xfrm>
              <a:off x="8183880" y="1733944"/>
              <a:ext cx="3520441" cy="1607033"/>
            </a:xfrm>
            <a:prstGeom prst="rect">
              <a:avLst/>
            </a:prstGeom>
            <a:noFill/>
          </p:spPr>
          <p:txBody>
            <a:bodyPr wrap="square" lIns="45720" tIns="0" rIns="45720" bIns="0" anchor="ctr">
              <a:spAutoFit/>
            </a:bodyPr>
            <a:lstStyle/>
            <a:p>
              <a:r>
                <a:rPr lang="en-US" sz="1700" i="1" dirty="0">
                  <a:solidFill>
                    <a:srgbClr val="0B2B4E"/>
                  </a:solidFill>
                </a:rPr>
                <a:t>P = 400 − Q/4</a:t>
              </a:r>
            </a:p>
          </p:txBody>
        </p:sp>
      </p:grpSp>
      <p:grpSp>
        <p:nvGrpSpPr>
          <p:cNvPr id="58" name="Group pair 140">
            <a:extLst>
              <a:ext uri="{FF2B5EF4-FFF2-40B4-BE49-F238E27FC236}">
                <a16:creationId xmlns:a16="http://schemas.microsoft.com/office/drawing/2014/main" id="{92EC2280-C112-CA7B-9925-FE38DA911442}"/>
              </a:ext>
            </a:extLst>
          </p:cNvPr>
          <p:cNvGrpSpPr/>
          <p:nvPr/>
        </p:nvGrpSpPr>
        <p:grpSpPr>
          <a:xfrm>
            <a:off x="8398764" y="2604207"/>
            <a:ext cx="1828799" cy="320040"/>
            <a:chOff x="8001000" y="1554480"/>
            <a:chExt cx="3886200" cy="1965960"/>
          </a:xfrm>
        </p:grpSpPr>
        <p:sp>
          <p:nvSpPr>
            <p:cNvPr id="59" name="Rounded Rectangle 31">
              <a:extLst>
                <a:ext uri="{FF2B5EF4-FFF2-40B4-BE49-F238E27FC236}">
                  <a16:creationId xmlns:a16="http://schemas.microsoft.com/office/drawing/2014/main" id="{D4724653-69D9-BEB0-C3DD-25C449C4D358}"/>
                </a:ext>
              </a:extLst>
            </p:cNvPr>
            <p:cNvSpPr/>
            <p:nvPr/>
          </p:nvSpPr>
          <p:spPr>
            <a:xfrm>
              <a:off x="8001000" y="1554480"/>
              <a:ext cx="3886200" cy="19659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C6F4D73D-EE75-110D-247C-3706102251F6}"/>
                </a:ext>
              </a:extLst>
            </p:cNvPr>
            <p:cNvSpPr txBox="1"/>
            <p:nvPr/>
          </p:nvSpPr>
          <p:spPr>
            <a:xfrm>
              <a:off x="8183880" y="1733944"/>
              <a:ext cx="3520441" cy="1607033"/>
            </a:xfrm>
            <a:prstGeom prst="rect">
              <a:avLst/>
            </a:prstGeom>
            <a:noFill/>
          </p:spPr>
          <p:txBody>
            <a:bodyPr wrap="square" lIns="45720" tIns="0" rIns="45720" bIns="0" anchor="ctr">
              <a:spAutoFit/>
            </a:bodyPr>
            <a:lstStyle/>
            <a:p>
              <a:r>
                <a:rPr lang="en-US" sz="1700" i="1" dirty="0">
                  <a:solidFill>
                    <a:srgbClr val="0B2B4E"/>
                  </a:solidFill>
                </a:rPr>
                <a:t>TR = 400Q − Q²/4</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Why Is MR Different From the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0506456" cy="457200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i="1">
                <a:latin typeface="Calibri"/>
              </a:rPr>
              <a:t>MR</a:t>
            </a:r>
            <a:r>
              <a:rPr>
                <a:latin typeface="Calibri"/>
              </a:rPr>
              <a:t> : additional revenue from selling one more unit. Sounds like the price! But…</a:t>
            </a:r>
          </a:p>
          <a:p>
            <a:pPr algn="l"/>
            <a:r>
              <a:rPr>
                <a:latin typeface="Calibri"/>
              </a:rPr>
              <a:t>Law of demand: you need to lower the price to sell one more unit</a:t>
            </a:r>
          </a:p>
          <a:p>
            <a:pPr algn="l"/>
            <a:r>
              <a:rPr>
                <a:latin typeface="Calibri"/>
              </a:rPr>
              <a:t>The lower price will apply to </a:t>
            </a:r>
            <a:r>
              <a:rPr i="1">
                <a:latin typeface="Calibri"/>
              </a:rPr>
              <a:t>all</a:t>
            </a:r>
            <a:r>
              <a:rPr>
                <a:latin typeface="Calibri"/>
              </a:rPr>
              <a:t> units, not just the extra one</a:t>
            </a:r>
          </a:p>
          <a:p>
            <a:pPr algn="l"/>
            <a:r>
              <a:rPr i="1">
                <a:latin typeface="Calibri"/>
              </a:rPr>
              <a:t>MR</a:t>
            </a:r>
            <a:r>
              <a:rPr>
                <a:latin typeface="Calibri"/>
              </a:rPr>
              <a:t> from selling one additional unit takes into account the loss on every other unit  →  </a:t>
            </a:r>
            <a:r>
              <a:rPr b="1" i="1">
                <a:latin typeface="Calibri"/>
              </a:rPr>
              <a:t>MR &lt; P</a:t>
            </a:r>
          </a:p>
          <a:p>
            <a:pPr algn="l"/>
            <a:r>
              <a:rPr sz="2200" u="sng">
                <a:latin typeface="Calibri"/>
              </a:rPr>
              <a:t>Note</a:t>
            </a:r>
            <a:r>
              <a:rPr sz="2200">
                <a:latin typeface="Calibri"/>
              </a:rPr>
              <a:t>: </a:t>
            </a:r>
            <a:r>
              <a:rPr sz="2200">
                <a:latin typeface="Calibri"/>
              </a:rPr>
              <a:t>When </a:t>
            </a:r>
            <a:r>
              <a:rPr sz="2000" b="1" i="1">
                <a:latin typeface="Calibri"/>
              </a:rPr>
              <a:t>MR &lt; 0, </a:t>
            </a:r>
            <a:r>
              <a:rPr sz="2200" b="1">
                <a:latin typeface="Calibri"/>
              </a:rPr>
              <a:t>Total</a:t>
            </a:r>
            <a:r>
              <a:rPr sz="2200">
                <a:latin typeface="Calibri"/>
              </a:rPr>
              <a:t> Revenues (</a:t>
            </a:r>
            <a:r>
              <a:rPr sz="2200" i="1">
                <a:latin typeface="Calibri"/>
              </a:rPr>
              <a:t>TR</a:t>
            </a:r>
            <a:r>
              <a:rPr sz="2200">
                <a:latin typeface="Calibri"/>
              </a:rPr>
              <a:t>) decrease</a:t>
            </a:r>
            <a:r>
              <a:rPr sz="2200">
                <a:latin typeface="Calibri"/>
              </a:rPr>
              <a:t> as price falls (and </a:t>
            </a:r>
            <a:r>
              <a:rPr sz="2200" i="1">
                <a:latin typeface="Calibri"/>
              </a:rPr>
              <a:t>Q</a:t>
            </a:r>
            <a:r>
              <a:rPr sz="2200">
                <a:latin typeface="Calibri"/>
              </a:rPr>
              <a:t> increases</a:t>
            </a:r>
            <a:r>
              <a:rPr sz="2200">
                <a:latin typeface="Calibri"/>
              </a:rPr>
              <a:t>)</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E0729668-7938-543C-9968-420033430F3B}" type="slidenum">
              <a:rPr lang="en-US" sz="1200" dirty="0">
                <a:solidFill>
                  <a:srgbClr val="555B66"/>
                </a:solidFill>
                <a:latin typeface="Calibri"/>
              </a:rPr>
              <a:t>25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Inside Out 2's Marginal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783080"/>
            <a:ext cx="6675120" cy="10972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a:latin typeface="Calibri"/>
              </a:rPr>
              <a:t>Demand for streaming </a:t>
            </a:r>
            <a:r>
              <a:rPr i="1">
                <a:latin typeface="Calibri"/>
              </a:rPr>
              <a:t>Inside Out 2</a:t>
            </a:r>
            <a:r>
              <a:rPr>
                <a:latin typeface="Calibri"/>
              </a:rPr>
              <a:t> on Disney+   (Q: viewers, in millions):</a:t>
            </a:r>
          </a:p>
        </p:txBody>
      </p:sp>
      <p:sp>
        <p:nvSpPr>
          <p:cNvPr id="8" name="TextBox 7"/>
          <p:cNvSpPr txBox="1"/>
          <p:nvPr/>
        </p:nvSpPr>
        <p:spPr>
          <a:xfrm>
            <a:off x="1325880" y="2880360"/>
            <a:ext cx="4023360" cy="1005840"/>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800" b="0" i="1">
                <a:solidFill>
                  <a:srgbClr val="0B2B4E"/>
                </a:solidFill>
                <a:latin typeface="Cambria Math"/>
              </a:defRPr>
            </a:pPr>
            <a14:m>
              <m:oMathPara>
                <m:oMathParaPr>
                  <m:jc m:val="centerGroup"/>
                </m:oMathParaPr>
                <m:oMath>
                  <m:r>
                    <a:rPr lang="en-US" b="0" i="1" sz="2800">
                      <a:solidFill>
                        <a:srgbClr val="0B2B4E"/>
                      </a:solidFill>
                      <a:latin typeface="Cambria Math"/>
                      <a:ea typeface="Cambria Math"/>
                    </a:rPr>
                    <m:t>Q</m:t>
                  </m:r>
                  <m:r>
                    <m:rPr>
                      <m:sty m:val="p"/>
                    </m:rPr>
                    <a:rPr lang="en-US" b="0" i="0" sz="2800">
                      <a:solidFill>
                        <a:srgbClr val="0B2B4E"/>
                      </a:solidFill>
                      <a:latin typeface="Cambria Math"/>
                    </a:rPr>
                    <m:t xml:space="preserve"> = 20 − </m:t>
                  </m:r>
                  <m:f>
                    <m:fPr>
                      <m:ctrlPr>
                        <a:rPr lang="en-US" i="1">
                          <a:latin typeface="Cambria Math"/>
                        </a:rPr>
                      </m:ctrlPr>
                    </m:fPr>
                    <m:num>
                      <m:r>
                        <m:rPr>
                          <m:sty m:val="p"/>
                        </m:rPr>
                        <a:rPr lang="en-US" b="0" i="0" sz="2800">
                          <a:solidFill>
                            <a:srgbClr val="0B2B4E"/>
                          </a:solidFill>
                          <a:latin typeface="Cambria Math"/>
                        </a:rPr>
                        <m:t xml:space="preserve">1</m:t>
                      </m:r>
                    </m:num>
                    <m:den>
                      <m:r>
                        <m:rPr>
                          <m:sty m:val="p"/>
                        </m:rPr>
                        <a:rPr lang="en-US" b="0" i="0" sz="2800">
                          <a:solidFill>
                            <a:srgbClr val="0B2B4E"/>
                          </a:solidFill>
                          <a:latin typeface="Cambria Math"/>
                        </a:rPr>
                        <m:t xml:space="preserve">2</m:t>
                      </m:r>
                    </m:den>
                  </m:f>
                  <m:r>
                    <a:rPr lang="en-US" b="0" i="1" sz="2800">
                      <a:solidFill>
                        <a:srgbClr val="0B2B4E"/>
                      </a:solidFill>
                      <a:latin typeface="Cambria Math"/>
                      <a:ea typeface="Cambria Math"/>
                    </a:rPr>
                    <m:t>P</m:t>
                  </m:r>
                </m:oMath>
              </m:oMathPara>
            </a14:m>
            <a:endParaRPr lang="en-US" sz="2800"/>
          </a:p>
        </p:txBody>
      </p:sp>
      <p:sp>
        <p:nvSpPr>
          <p:cNvPr id="9" name="TextBox 8"/>
          <p:cNvSpPr txBox="1"/>
          <p:nvPr/>
        </p:nvSpPr>
        <p:spPr>
          <a:xfrm>
            <a:off x="389159" y="4343400"/>
            <a:ext cx="6675120" cy="155448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a:latin typeface="Calibri"/>
              </a:rPr>
              <a:t>What is the revenue-maximizing price?</a:t>
            </a:r>
          </a:p>
          <a:p>
            <a:pPr algn="l"/>
            <a:r>
              <a:rPr>
                <a:latin typeface="Calibri"/>
              </a:rPr>
              <a:t>Why might Disney care about </a:t>
            </a:r>
            <a:r>
              <a:rPr i="1">
                <a:latin typeface="Calibri"/>
              </a:rPr>
              <a:t>revenue</a:t>
            </a:r>
            <a:r>
              <a:rPr>
                <a:latin typeface="Calibri"/>
              </a:rPr>
              <a:t> maximization?</a:t>
            </a:r>
          </a:p>
        </p:txBody>
      </p:sp>
      <p:pic>
        <p:nvPicPr>
          <p:cNvPr id="10" name="Picture 9" descr="ct_insideout_image7.png"/>
          <p:cNvPicPr>
            <a:picLocks noChangeAspect="1"/>
          </p:cNvPicPr>
          <p:nvPr/>
        </p:nvPicPr>
        <p:blipFill>
          <a:blip r:embed="rId2"/>
          <a:stretch>
            <a:fillRect/>
          </a:stretch>
        </p:blipFill>
        <p:spPr>
          <a:xfrm>
            <a:off x="7635240" y="1737360"/>
            <a:ext cx="3840480" cy="1935320"/>
          </a:xfrm>
          <a:prstGeom prst="roundRect">
            <a:avLst>
              <a:gd name="adj" fmla="val 8000"/>
            </a:avLst>
          </a:prstGeom>
          <a:effectLst>
            <a:outerShdw blurRad="50800" dist="38100" dir="2700000" algn="tl" rotWithShape="0">
              <a:srgbClr val="000000">
                <a:alpha val="50000"/>
              </a:srgbClr>
            </a:outerShdw>
          </a:effectLst>
        </p:spPr>
      </p:pic>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37B08771-CD11-5268-847D-22AE1355E9FC}" type="slidenum">
              <a:rPr lang="en-US" sz="1200" dirty="0">
                <a:solidFill>
                  <a:srgbClr val="555B66"/>
                </a:solidFill>
                <a:latin typeface="Calibri"/>
              </a:rPr>
              <a:t>26</a:t>
            </a:fld>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2 · Marginal Revenue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Inside Out 2's Revenue-Maximizing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9159" y="1600200"/>
            <a:ext cx="11338560" cy="54864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a:solidFill>
                  <a:srgbClr val="0B2B4E"/>
                </a:solidFill>
                <a:latin typeface="Calibri"/>
              </a:rPr>
              <a:t>Revenue is maximized where </a:t>
            </a:r>
            <a:r>
              <a:rPr sz="2200" b="1">
                <a:solidFill>
                  <a:srgbClr val="0070C0"/>
                </a:solidFill>
                <a:latin typeface="Calibri"/>
              </a:rPr>
              <a:t>MR = 0</a:t>
            </a:r>
            <a:r>
              <a:rPr sz="2200">
                <a:solidFill>
                  <a:srgbClr val="0B2B4E"/>
                </a:solidFill>
                <a:latin typeface="Calibri"/>
              </a:rPr>
              <a:t> .  Compute MR using the 3-step method:</a:t>
            </a:r>
          </a:p>
        </p:txBody>
      </p:sp>
      <p:sp>
        <p:nvSpPr>
          <p:cNvPr id="8" name="TextBox 7"/>
          <p:cNvSpPr txBox="1"/>
          <p:nvPr/>
        </p:nvSpPr>
        <p:spPr>
          <a:xfrm>
            <a:off x="572039" y="2331720"/>
            <a:ext cx="5852160" cy="228600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1.  Inverse demand:   </a:t>
            </a:r>
            <a:r>
              <a:rPr sz="2200" i="1">
                <a:solidFill>
                  <a:srgbClr val="0B2B4E"/>
                </a:solidFill>
                <a:latin typeface="Calibri"/>
              </a:rPr>
              <a:t>P = 40 − 2Q</a:t>
            </a:r>
          </a:p>
          <a:p>
            <a:pPr algn="l">
              <a:spcBef>
                <a:spcPts val="1600"/>
              </a:spcBef>
              <a:buNone/>
            </a:pPr>
            <a:r>
              <a:rPr sz="2200" b="1">
                <a:solidFill>
                  <a:srgbClr val="0B2B4E"/>
                </a:solidFill>
                <a:latin typeface="Calibri"/>
              </a:rPr>
              <a:t>2.  Total revenue:   </a:t>
            </a:r>
            <a:r>
              <a:rPr sz="2200" i="1">
                <a:solidFill>
                  <a:srgbClr val="0B2B4E"/>
                </a:solidFill>
                <a:latin typeface="Calibri"/>
              </a:rPr>
              <a:t>TR = 40Q − 2Q²</a:t>
            </a:r>
          </a:p>
          <a:p>
            <a:pPr algn="l">
              <a:spcBef>
                <a:spcPts val="1600"/>
              </a:spcBef>
              <a:buNone/>
            </a:pPr>
            <a:r>
              <a:rPr sz="2200" b="1">
                <a:solidFill>
                  <a:srgbClr val="0B2B4E"/>
                </a:solidFill>
                <a:latin typeface="Calibri"/>
              </a:rPr>
              <a:t>3.  Derivative:   </a:t>
            </a:r>
            <a:r>
              <a:rPr sz="2200" i="1">
                <a:solidFill>
                  <a:srgbClr val="0B2B4E"/>
                </a:solidFill>
                <a:latin typeface="Calibri"/>
              </a:rPr>
              <a:t>MR = 40 − 4Q</a:t>
            </a:r>
          </a:p>
        </p:txBody>
      </p:sp>
      <p:sp>
        <p:nvSpPr>
          <p:cNvPr id="9" name="TextBox 8"/>
          <p:cNvSpPr txBox="1"/>
          <p:nvPr/>
        </p:nvSpPr>
        <p:spPr>
          <a:xfrm>
            <a:off x="6812280" y="2377440"/>
            <a:ext cx="4754880" cy="1828800"/>
          </a:xfrm>
          <a:prstGeom prst="rect">
            <a:avLst/>
          </a:prstGeom>
          <a:noFill/>
        </p:spPr>
        <p:txBody>
          <a:bodyPr wrap="square" anchor="ctr">
            <a:spAutoFit/>
          </a:bodyPr>
          <a:lstStyle/>
          <a:p xmlns:m="http://schemas.openxmlformats.org/officeDocument/2006/math" xmlns:a14="http://schemas.microsoft.com/office/drawing/2010/main">
            <a:pPr algn="ctr">
              <a:defRPr sz="2400" b="0" i="1">
                <a:solidFill>
                  <a:srgbClr val="C00000"/>
                </a:solidFill>
                <a:latin typeface="Cambria Math"/>
              </a:defRPr>
            </a:pPr>
            <a14:m>
              <m:oMathPara>
                <m:oMathParaPr>
                  <m:jc m:val="centerGroup"/>
                </m:oMathParaPr>
                <m:oMath>
                  <m:r>
                    <m:rPr>
                      <m:sty m:val="p"/>
                    </m:rPr>
                    <a:rPr lang="en-US" b="0" i="0" sz="2400">
                      <a:solidFill>
                        <a:srgbClr val="C00000"/>
                      </a:solidFill>
                      <a:latin typeface="Cambria Math"/>
                    </a:rPr>
                    <m:t xml:space="preserve">MR</m:t>
                  </m:r>
                  <m:r>
                    <m:rPr>
                      <m:sty m:val="p"/>
                    </m:rPr>
                    <a:rPr lang="en-US" b="0" i="0" sz="2400">
                      <a:solidFill>
                        <a:srgbClr val="C00000"/>
                      </a:solidFill>
                      <a:latin typeface="Cambria Math"/>
                    </a:rPr>
                    <m:t xml:space="preserve"> = 0:  40 − 4</m:t>
                  </m:r>
                  <m:r>
                    <a:rPr lang="en-US" b="0" i="1" sz="2400">
                      <a:solidFill>
                        <a:srgbClr val="C00000"/>
                      </a:solidFill>
                      <a:latin typeface="Cambria Math"/>
                      <a:ea typeface="Cambria Math"/>
                    </a:rPr>
                    <m:t>Q</m:t>
                  </m:r>
                  <m:r>
                    <m:rPr>
                      <m:sty m:val="p"/>
                    </m:rPr>
                    <a:rPr lang="en-US" b="0" i="0" sz="2400">
                      <a:solidFill>
                        <a:srgbClr val="C00000"/>
                      </a:solidFill>
                      <a:latin typeface="Cambria Math"/>
                    </a:rPr>
                    <m:t xml:space="preserve"> = 0  ⇒  </m:t>
                  </m:r>
                  <m:r>
                    <a:rPr lang="en-US" b="0" i="1" sz="2400">
                      <a:solidFill>
                        <a:srgbClr val="C00000"/>
                      </a:solidFill>
                      <a:latin typeface="Cambria Math"/>
                      <a:ea typeface="Cambria Math"/>
                    </a:rPr>
                    <m:t>Q</m:t>
                  </m:r>
                  <m:r>
                    <m:rPr>
                      <m:sty m:val="p"/>
                    </m:rPr>
                    <a:rPr lang="en-US" b="0" i="0" sz="2400">
                      <a:solidFill>
                        <a:srgbClr val="C00000"/>
                      </a:solidFill>
                      <a:latin typeface="Cambria Math"/>
                    </a:rPr>
                    <m:t xml:space="preserve"> = 10  ⇒  </m:t>
                  </m:r>
                  <m:r>
                    <a:rPr lang="en-US" b="0" i="1" sz="2400">
                      <a:solidFill>
                        <a:srgbClr val="C00000"/>
                      </a:solidFill>
                      <a:latin typeface="Cambria Math"/>
                      <a:ea typeface="Cambria Math"/>
                    </a:rPr>
                    <m:t>P</m:t>
                  </m:r>
                  <m:r>
                    <m:rPr>
                      <m:sty m:val="p"/>
                    </m:rPr>
                    <a:rPr lang="en-US" b="0" i="0" sz="2400">
                      <a:solidFill>
                        <a:srgbClr val="C00000"/>
                      </a:solidFill>
                      <a:latin typeface="Cambria Math"/>
                    </a:rPr>
                    <m:t xml:space="preserve"> = $20</m:t>
                  </m:r>
                </m:oMath>
              </m:oMathPara>
            </a14:m>
            <a:endParaRPr lang="en-US" sz="2400"/>
          </a:p>
        </p:txBody>
      </p:sp>
      <p:sp>
        <p:nvSpPr>
          <p:cNvPr id="10" name="TextBox 9"/>
          <p:cNvSpPr txBox="1"/>
          <p:nvPr/>
        </p:nvSpPr>
        <p:spPr>
          <a:xfrm>
            <a:off x="389159" y="4892040"/>
            <a:ext cx="11338560" cy="11887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Why revenue maximization? The marginal cost of one more stream is </a:t>
            </a:r>
            <a:r>
              <a:rPr b="1">
                <a:latin typeface="Calibri"/>
              </a:rPr>
              <a:t>close to zero</a:t>
            </a:r>
            <a:r>
              <a:rPr>
                <a:latin typeface="Calibri"/>
              </a:rPr>
              <a:t> – so maximizing revenue is (almost) maximizing profit</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F3B1110B-0D61-54FE-BA88-C776D06F94D7}" type="slidenum">
              <a:rPr lang="en-US" sz="1200" dirty="0">
                <a:solidFill>
                  <a:srgbClr val="555B66"/>
                </a:solidFill>
                <a:latin typeface="Calibri"/>
              </a:rPr>
              <a:t>27</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animEffect transition="in" filter="fade">
                                      <p:cBhvr>
                                        <p:cTn id="23"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0"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920240"/>
            <a:ext cx="12191695" cy="1005840"/>
          </a:xfrm>
          <a:prstGeom prst="rect">
            <a:avLst/>
          </a:prstGeom>
          <a:noFill/>
        </p:spPr>
        <p:txBody>
          <a:bodyPr wrap="square" lIns="0" rIns="0" tIns="0" bIns="0">
            <a:spAutoFit/>
          </a:bodyPr>
          <a:lstStyle/>
          <a:p>
            <a:pPr algn="ctr"/>
            <a:r>
              <a:rPr sz="6000" b="1" i="0" u="none">
                <a:solidFill>
                  <a:srgbClr val="0B2B4E"/>
                </a:solidFill>
                <a:latin typeface="Calibri"/>
              </a:rPr>
              <a:t>Demand Estimation</a:t>
            </a:r>
          </a:p>
        </p:txBody>
      </p:sp>
      <p:sp>
        <p:nvSpPr>
          <p:cNvPr id="3" name="TextBox 2"/>
          <p:cNvSpPr txBox="1"/>
          <p:nvPr/>
        </p:nvSpPr>
        <p:spPr>
          <a:xfrm>
            <a:off x="0" y="2971800"/>
            <a:ext cx="12191695" cy="685800"/>
          </a:xfrm>
          <a:prstGeom prst="rect">
            <a:avLst/>
          </a:prstGeom>
          <a:noFill/>
        </p:spPr>
        <p:txBody>
          <a:bodyPr wrap="square" lIns="0" rIns="0" tIns="0" bIns="0">
            <a:spAutoFit/>
          </a:bodyPr>
          <a:lstStyle/>
          <a:p>
            <a:pPr algn="ctr"/>
            <a:r>
              <a:rPr sz="4000" b="1" i="0" u="none">
                <a:solidFill>
                  <a:srgbClr val="E09F3E"/>
                </a:solidFill>
                <a:latin typeface="Calibri"/>
              </a:rPr>
              <a:t>Module 2  ·  Video 3</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4224528"/>
            <a:ext cx="12191695" cy="502920"/>
          </a:xfrm>
          <a:prstGeom prst="rect">
            <a:avLst/>
          </a:prstGeom>
          <a:noFill/>
        </p:spPr>
        <p:txBody>
          <a:bodyPr wrap="square" lIns="0" rIns="0" t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rIns="0" t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1</a:t>
            </a:r>
          </a:p>
        </p:txBody>
      </p:sp>
      <p:sp>
        <p:nvSpPr>
          <p:cNvPr id="8" name="TextBox 7"/>
          <p:cNvSpPr txBox="1"/>
          <p:nvPr/>
        </p:nvSpPr>
        <p:spPr>
          <a:xfrm>
            <a:off x="1874519" y="158010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The Law of Demand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BFBFBF"/>
                </a:solidFill>
                <a:latin typeface="Calibri"/>
              </a:rPr>
              <a:t>3</a:t>
            </a:r>
          </a:p>
        </p:txBody>
      </p:sp>
      <p:sp>
        <p:nvSpPr>
          <p:cNvPr id="12" name="TextBox 11"/>
          <p:cNvSpPr txBox="1"/>
          <p:nvPr/>
        </p:nvSpPr>
        <p:spPr>
          <a:xfrm>
            <a:off x="1874519" y="324431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Demand and Revenue</a:t>
            </a:r>
          </a:p>
        </p:txBody>
      </p:sp>
      <p:sp>
        <p:nvSpPr>
          <p:cNvPr id="13" name="Oval 12"/>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BFBFBF"/>
                </a:solidFill>
                <a:latin typeface="Calibri"/>
              </a:rPr>
              <a:t>3a</a:t>
            </a:r>
          </a:p>
        </p:txBody>
      </p:sp>
      <p:sp>
        <p:nvSpPr>
          <p:cNvPr id="14" name="TextBox 13"/>
          <p:cNvSpPr txBox="1"/>
          <p:nvPr/>
        </p:nvSpPr>
        <p:spPr>
          <a:xfrm>
            <a:off x="2084831" y="407642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Elasticity and Revenue</a:t>
            </a:r>
          </a:p>
        </p:txBody>
      </p:sp>
      <p:sp>
        <p:nvSpPr>
          <p:cNvPr id="15" name="Oval 14"/>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BFBFBF"/>
                </a:solidFill>
                <a:latin typeface="Calibri"/>
              </a:rPr>
              <a:t>3b</a:t>
            </a:r>
          </a:p>
        </p:txBody>
      </p:sp>
      <p:sp>
        <p:nvSpPr>
          <p:cNvPr id="16" name="TextBox 15"/>
          <p:cNvSpPr txBox="1"/>
          <p:nvPr/>
        </p:nvSpPr>
        <p:spPr>
          <a:xfrm>
            <a:off x="2084831" y="490852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Marginal Revenue</a:t>
            </a:r>
          </a:p>
        </p:txBody>
      </p:sp>
      <p:sp>
        <p:nvSpPr>
          <p:cNvPr id="17" name="Rounded Rectangle 16"/>
          <p:cNvSpPr/>
          <p:nvPr/>
        </p:nvSpPr>
        <p:spPr>
          <a:xfrm>
            <a:off x="822960" y="5600700"/>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9" name="TextBox 18"/>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Estimation</a:t>
            </a:r>
          </a:p>
          <a:p>
            <a:pPr algn="l">
              <a:spcBef>
                <a:spcPts val="0"/>
              </a:spcBef>
              <a:buNone/>
            </a:pPr>
            <a:r>
              <a:rPr sz="2200">
                <a:solidFill>
                  <a:srgbClr val="555B66"/>
                </a:solidFill>
                <a:latin typeface="Calibri"/>
              </a:rPr>
              <a:t>Measuring demand from data – market experiments and regression</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AE74B37C-B665-5DEA-BA51-58DA93724889}" type="slidenum">
              <a:rPr lang="en-US" sz="1200" dirty="0">
                <a:solidFill>
                  <a:srgbClr val="555B66"/>
                </a:solidFill>
                <a:latin typeface="Calibri"/>
              </a:rPr>
              <a:t>29</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How to Estimate a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a:latin typeface="Calibri"/>
              </a:rPr>
              <a:t>Use regression analysis to estimate the relationship between price and quantity</a:t>
            </a:r>
          </a:p>
          <a:p>
            <a:pPr algn="l"/>
            <a:r>
              <a:rPr>
                <a:latin typeface="Calibri"/>
              </a:rPr>
              <a:t>Need data linking prices to quantities</a:t>
            </a:r>
          </a:p>
          <a:p>
            <a:pPr algn="l"/>
            <a:r>
              <a:rPr>
                <a:latin typeface="Calibri"/>
              </a:rPr>
              <a:t>Several approaches</a:t>
            </a:r>
          </a:p>
          <a:p>
            <a:pPr algn="l" lvl="1"/>
            <a:r>
              <a:rPr>
                <a:latin typeface="Calibri"/>
              </a:rPr>
              <a:t>Transaction data (marketing firms, internet shopping, store club cards)</a:t>
            </a:r>
          </a:p>
          <a:p>
            <a:pPr algn="l" lvl="1"/>
            <a:r>
              <a:rPr>
                <a:latin typeface="Calibri"/>
              </a:rPr>
              <a:t>Surveys</a:t>
            </a:r>
          </a:p>
          <a:p>
            <a:pPr algn="l" lvl="1"/>
            <a:r>
              <a:rPr b="1">
                <a:latin typeface="Calibri"/>
              </a:rPr>
              <a:t>Market experimentation</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7A9A74B7-DF7F-5EA1-924A-779BB974D1B0}" type="slidenum">
              <a:rPr lang="en-US" sz="1200" dirty="0">
                <a:solidFill>
                  <a:srgbClr val="555B66"/>
                </a:solidFill>
                <a:latin typeface="Calibri"/>
              </a:rPr>
              <a:t>30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A/B Testing: What Is the Demand Function for This Product?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t_abtest_image8.png"/>
          <p:cNvPicPr>
            <a:picLocks noChangeAspect="1"/>
          </p:cNvPicPr>
          <p:nvPr/>
        </p:nvPicPr>
        <p:blipFill>
          <a:blip r:embed="rId2"/>
          <a:stretch>
            <a:fillRect/>
          </a:stretch>
        </p:blipFill>
        <p:spPr>
          <a:xfrm>
            <a:off x="4434840" y="1463040"/>
            <a:ext cx="3657685" cy="4892040"/>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53BCAF25-C377-5DA9-851D-16C0F8DFA561}" type="slidenum">
              <a:rPr lang="en-US" sz="1200" dirty="0">
                <a:solidFill>
                  <a:srgbClr val="555B66"/>
                </a:solidFill>
                <a:latin typeface="Calibri"/>
              </a:rPr>
              <a:t>31</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A/B Testing: Amazon “Experiments”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t_amazonexp_image9.png"/>
          <p:cNvPicPr>
            <a:picLocks noChangeAspect="1"/>
          </p:cNvPicPr>
          <p:nvPr/>
        </p:nvPicPr>
        <p:blipFill>
          <a:blip r:embed="rId2"/>
          <a:stretch>
            <a:fillRect/>
          </a:stretch>
        </p:blipFill>
        <p:spPr>
          <a:xfrm>
            <a:off x="2331720" y="1554480"/>
            <a:ext cx="7498079" cy="4174038"/>
          </a:xfrm>
          <a:prstGeom prst="roundRect">
            <a:avLst>
              <a:gd name="adj" fmla="val 8000"/>
            </a:avLst>
          </a:prstGeom>
          <a:effectLst>
            <a:outerShdw blurRad="50800" dist="38100" dir="2700000" algn="tl" rotWithShape="0">
              <a:srgbClr val="000000">
                <a:alpha val="50000"/>
              </a:srgbClr>
            </a:outerShdw>
          </a:effectLst>
        </p:spPr>
      </p:pic>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17E18FD9-22B3-59C6-B4F5-392A7FD15CC9}" type="slidenum">
              <a:rPr lang="en-US" sz="1200" dirty="0">
                <a:solidFill>
                  <a:srgbClr val="555B66"/>
                </a:solidFill>
                <a:latin typeface="Calibri"/>
              </a:rPr>
              <a:t>32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Recent Amazon “Experiments”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6" name="Group pair 126"/>
          <p:cNvGrpSpPr/>
          <p:nvPr/>
        </p:nvGrpSpPr>
        <p:grpSpPr>
          <a:xfrm>
            <a:off x="4641494" y="1234440"/>
            <a:ext cx="2926080" cy="1810736"/>
            <a:chOff x="4641494" y="1234440"/>
            <a:chExt cx="2926080" cy="1810736"/>
          </a:xfrm>
        </p:grpSpPr>
        <p:sp>
          <p:nvSpPr>
            <p:cNvPr id="7" name="TextBox 6"/>
            <p:cNvSpPr txBox="1"/>
            <p:nvPr/>
          </p:nvSpPr>
          <p:spPr>
            <a:xfrm>
              <a:off x="4641494" y="1234440"/>
              <a:ext cx="2926080" cy="274320"/>
            </a:xfrm>
            <a:prstGeom prst="rect">
              <a:avLst/>
            </a:prstGeom>
            <a:noFill/>
          </p:spPr>
          <p:txBody>
            <a:bodyPr wrap="square" lIns="0" rIns="0" tIns="0" bIns="0">
              <a:spAutoFit/>
            </a:bodyPr>
            <a:lstStyle/>
            <a:p>
              <a:pPr algn="ctr"/>
              <a:r>
                <a:rPr sz="1300" b="1" i="1" u="none">
                  <a:solidFill>
                    <a:srgbClr val="0B2B4E"/>
                  </a:solidFill>
                  <a:latin typeface="Calibri"/>
                </a:rPr>
                <a:t>Pop Mart × Coca-Cola Labubu keychain</a:t>
              </a:r>
            </a:p>
          </p:txBody>
        </p:sp>
        <p:pic>
          <p:nvPicPr>
            <p:cNvPr id="8" name="Picture 7" descr="ct_amazonrecent_image10.png"/>
            <p:cNvPicPr>
              <a:picLocks noChangeAspect="1"/>
            </p:cNvPicPr>
            <p:nvPr/>
          </p:nvPicPr>
          <p:blipFill>
            <a:blip r:embed="rId2"/>
            <a:stretch>
              <a:fillRect/>
            </a:stretch>
          </p:blipFill>
          <p:spPr>
            <a:xfrm>
              <a:off x="5114239" y="1536192"/>
              <a:ext cx="1979676" cy="1508984"/>
            </a:xfrm>
            <a:prstGeom prst="roundRect">
              <a:avLst>
                <a:gd name="adj" fmla="val 8000"/>
              </a:avLst>
            </a:prstGeom>
            <a:effectLst>
              <a:outerShdw blurRad="50800" dist="38100" dir="2700000" algn="tl" rotWithShape="0">
                <a:srgbClr val="000000">
                  <a:alpha val="50000"/>
                </a:srgbClr>
              </a:outerShdw>
            </a:effectLst>
          </p:spPr>
        </p:pic>
      </p:grpSp>
      <p:grpSp>
        <p:nvGrpSpPr>
          <p:cNvPr id="127" name="Group pair 127"/>
          <p:cNvGrpSpPr/>
          <p:nvPr/>
        </p:nvGrpSpPr>
        <p:grpSpPr>
          <a:xfrm>
            <a:off x="3108960" y="3154680"/>
            <a:ext cx="5696712" cy="3282696"/>
            <a:chOff x="3108960" y="3154680"/>
            <a:chExt cx="5696712" cy="3282696"/>
          </a:xfrm>
        </p:grpSpPr>
        <p:pic>
          <p:nvPicPr>
            <p:cNvPr id="9" name="Picture 8" descr="camel_plot.png"/>
            <p:cNvPicPr>
              <a:picLocks noChangeAspect="1"/>
            </p:cNvPicPr>
            <p:nvPr/>
          </p:nvPicPr>
          <p:blipFill>
            <a:blip r:embed="rId3"/>
            <a:stretch>
              <a:fillRect/>
            </a:stretch>
          </p:blipFill>
          <p:spPr>
            <a:xfrm>
              <a:off x="3108960" y="3154680"/>
              <a:ext cx="5696712" cy="2606457"/>
            </a:xfrm>
            <a:prstGeom prst="rect">
              <a:avLst/>
            </a:prstGeom>
          </p:spPr>
        </p:pic>
        <p:sp>
          <p:nvSpPr>
            <p:cNvPr id="22" name="TextBox 21"/>
            <p:cNvSpPr txBox="1"/>
            <p:nvPr/>
          </p:nvSpPr>
          <p:spPr>
            <a:xfrm>
              <a:off x="4585716" y="6126480"/>
              <a:ext cx="2743200" cy="310896"/>
            </a:xfrm>
            <a:prstGeom prst="rect">
              <a:avLst/>
            </a:prstGeom>
            <a:noFill/>
          </p:spPr>
          <p:txBody>
            <a:bodyPr wrap="square" lIns="0" rIns="0" tIns="0" bIns="0">
              <a:spAutoFit/>
            </a:bodyPr>
            <a:lstStyle/>
            <a:p>
              <a:pPr algn="ctr"/>
              <a:r>
                <a:rPr sz="1400" b="0" i="1" u="sng">
                  <a:solidFill>
                    <a:srgbClr val="0070C0"/>
                  </a:solidFill>
                  <a:latin typeface="Calibri"/>
                  <a:hlinkClick r:id="rId5">
                    <a:extLst>
                      <a:ext xmlns:ahyp="http://schemas.microsoft.com/office/drawing/2018/hyperlinkcolor" uri="{A12FA001-AC4F-418D-AE19-62706E023703}">
                        <ahyp:hlinkClr val="tx"/>
                      </a:ext>
                    </a:extLst>
                  </a:hlinkClick>
                </a:rPr>
                <a:t>camelcamelcamel.com</a:t>
              </a:r>
            </a:p>
          </p:txBody>
        </p:sp>
      </p:grpSp>
      <p:sp>
        <p:nvSpPr>
          <p:cNvPr id="10" name="TextBox 9"/>
          <p:cNvSpPr txBox="1"/>
          <p:nvPr/>
        </p:nvSpPr>
        <p:spPr>
          <a:xfrm>
            <a:off x="2414016" y="3071878"/>
            <a:ext cx="621792" cy="274320"/>
          </a:xfrm>
          <a:prstGeom prst="rect">
            <a:avLst/>
          </a:prstGeom>
          <a:noFill/>
        </p:spPr>
        <p:txBody>
          <a:bodyPr wrap="square" lIns="0" rIns="0" tIns="0" bIns="0">
            <a:spAutoFit/>
          </a:bodyPr>
          <a:lstStyle/>
          <a:p>
            <a:pPr algn="r"/>
            <a:r>
              <a:rPr sz="1700" b="1" i="0" u="none">
                <a:solidFill>
                  <a:srgbClr val="0B2B4E"/>
                </a:solidFill>
                <a:latin typeface="Calibri"/>
              </a:rPr>
              <a:t>$90</a:t>
            </a:r>
          </a:p>
        </p:txBody>
      </p:sp>
      <p:sp>
        <p:nvSpPr>
          <p:cNvPr id="11" name="TextBox 10"/>
          <p:cNvSpPr txBox="1"/>
          <p:nvPr/>
        </p:nvSpPr>
        <p:spPr>
          <a:xfrm>
            <a:off x="2414016" y="3916392"/>
            <a:ext cx="621792" cy="274320"/>
          </a:xfrm>
          <a:prstGeom prst="rect">
            <a:avLst/>
          </a:prstGeom>
          <a:noFill/>
        </p:spPr>
        <p:txBody>
          <a:bodyPr wrap="square" lIns="0" rIns="0" tIns="0" bIns="0">
            <a:spAutoFit/>
          </a:bodyPr>
          <a:lstStyle/>
          <a:p>
            <a:pPr algn="r"/>
            <a:r>
              <a:rPr sz="1700" b="1" i="0" u="none">
                <a:solidFill>
                  <a:srgbClr val="0B2B4E"/>
                </a:solidFill>
                <a:latin typeface="Calibri"/>
              </a:rPr>
              <a:t>$70</a:t>
            </a:r>
          </a:p>
        </p:txBody>
      </p:sp>
      <p:sp>
        <p:nvSpPr>
          <p:cNvPr id="12" name="TextBox 11"/>
          <p:cNvSpPr txBox="1"/>
          <p:nvPr/>
        </p:nvSpPr>
        <p:spPr>
          <a:xfrm>
            <a:off x="2414016" y="4760906"/>
            <a:ext cx="621792" cy="274320"/>
          </a:xfrm>
          <a:prstGeom prst="rect">
            <a:avLst/>
          </a:prstGeom>
          <a:noFill/>
        </p:spPr>
        <p:txBody>
          <a:bodyPr wrap="square" lIns="0" rIns="0" tIns="0" bIns="0">
            <a:spAutoFit/>
          </a:bodyPr>
          <a:lstStyle/>
          <a:p>
            <a:pPr algn="r"/>
            <a:r>
              <a:rPr sz="1700" b="1" i="0" u="none">
                <a:solidFill>
                  <a:srgbClr val="0B2B4E"/>
                </a:solidFill>
                <a:latin typeface="Calibri"/>
              </a:rPr>
              <a:t>$50</a:t>
            </a:r>
          </a:p>
        </p:txBody>
      </p:sp>
      <p:sp>
        <p:nvSpPr>
          <p:cNvPr id="13" name="TextBox 12"/>
          <p:cNvSpPr txBox="1"/>
          <p:nvPr/>
        </p:nvSpPr>
        <p:spPr>
          <a:xfrm>
            <a:off x="2414016" y="5605420"/>
            <a:ext cx="621792" cy="274320"/>
          </a:xfrm>
          <a:prstGeom prst="rect">
            <a:avLst/>
          </a:prstGeom>
          <a:noFill/>
        </p:spPr>
        <p:txBody>
          <a:bodyPr wrap="square" lIns="0" rIns="0" tIns="0" bIns="0">
            <a:spAutoFit/>
          </a:bodyPr>
          <a:lstStyle/>
          <a:p>
            <a:pPr algn="r"/>
            <a:r>
              <a:rPr sz="1700" b="1" i="0" u="none">
                <a:solidFill>
                  <a:srgbClr val="0B2B4E"/>
                </a:solidFill>
                <a:latin typeface="Calibri"/>
              </a:rPr>
              <a:t>$30</a:t>
            </a:r>
          </a:p>
        </p:txBody>
      </p:sp>
      <p:sp>
        <p:nvSpPr>
          <p:cNvPr id="14" name="TextBox 13"/>
          <p:cNvSpPr txBox="1"/>
          <p:nvPr/>
        </p:nvSpPr>
        <p:spPr>
          <a:xfrm>
            <a:off x="3538077" y="5788152"/>
            <a:ext cx="822960" cy="274320"/>
          </a:xfrm>
          <a:prstGeom prst="rect">
            <a:avLst/>
          </a:prstGeom>
          <a:noFill/>
        </p:spPr>
        <p:txBody>
          <a:bodyPr wrap="square" lIns="0" rIns="0" tIns="0" bIns="0">
            <a:spAutoFit/>
          </a:bodyPr>
          <a:lstStyle/>
          <a:p>
            <a:pPr algn="ctr"/>
            <a:r>
              <a:rPr sz="1700" b="1" i="0" u="none">
                <a:solidFill>
                  <a:srgbClr val="0B2B4E"/>
                </a:solidFill>
                <a:latin typeface="Calibri"/>
              </a:rPr>
              <a:t>May</a:t>
            </a:r>
          </a:p>
        </p:txBody>
      </p:sp>
      <p:sp>
        <p:nvSpPr>
          <p:cNvPr id="15" name="TextBox 14"/>
          <p:cNvSpPr txBox="1"/>
          <p:nvPr/>
        </p:nvSpPr>
        <p:spPr>
          <a:xfrm>
            <a:off x="4523814" y="5788152"/>
            <a:ext cx="822960" cy="274320"/>
          </a:xfrm>
          <a:prstGeom prst="rect">
            <a:avLst/>
          </a:prstGeom>
          <a:noFill/>
        </p:spPr>
        <p:txBody>
          <a:bodyPr wrap="square" lIns="0" rIns="0" tIns="0" bIns="0">
            <a:spAutoFit/>
          </a:bodyPr>
          <a:lstStyle/>
          <a:p>
            <a:pPr algn="ctr"/>
            <a:r>
              <a:rPr sz="1700" b="1" i="0" u="none">
                <a:solidFill>
                  <a:srgbClr val="0B2B4E"/>
                </a:solidFill>
                <a:latin typeface="Calibri"/>
              </a:rPr>
              <a:t>Jun</a:t>
            </a:r>
          </a:p>
        </p:txBody>
      </p:sp>
      <p:sp>
        <p:nvSpPr>
          <p:cNvPr id="16" name="TextBox 15"/>
          <p:cNvSpPr txBox="1"/>
          <p:nvPr/>
        </p:nvSpPr>
        <p:spPr>
          <a:xfrm>
            <a:off x="5473266" y="5788152"/>
            <a:ext cx="822960" cy="274320"/>
          </a:xfrm>
          <a:prstGeom prst="rect">
            <a:avLst/>
          </a:prstGeom>
          <a:noFill/>
        </p:spPr>
        <p:txBody>
          <a:bodyPr wrap="square" lIns="0" rIns="0" tIns="0" bIns="0">
            <a:spAutoFit/>
          </a:bodyPr>
          <a:lstStyle/>
          <a:p>
            <a:pPr algn="ctr"/>
            <a:r>
              <a:rPr sz="1700" b="1" i="0" u="none">
                <a:solidFill>
                  <a:srgbClr val="0B2B4E"/>
                </a:solidFill>
                <a:latin typeface="Calibri"/>
              </a:rPr>
              <a:t>Jul</a:t>
            </a:r>
          </a:p>
        </p:txBody>
      </p:sp>
      <p:sp>
        <p:nvSpPr>
          <p:cNvPr id="17" name="TextBox 16"/>
          <p:cNvSpPr txBox="1"/>
          <p:nvPr/>
        </p:nvSpPr>
        <p:spPr>
          <a:xfrm>
            <a:off x="6459003" y="5788152"/>
            <a:ext cx="822960" cy="274320"/>
          </a:xfrm>
          <a:prstGeom prst="rect">
            <a:avLst/>
          </a:prstGeom>
          <a:noFill/>
        </p:spPr>
        <p:txBody>
          <a:bodyPr wrap="square" lIns="0" rIns="0" tIns="0" bIns="0">
            <a:spAutoFit/>
          </a:bodyPr>
          <a:lstStyle/>
          <a:p>
            <a:pPr algn="ctr"/>
            <a:r>
              <a:rPr sz="1700" b="1" i="0" u="none">
                <a:solidFill>
                  <a:srgbClr val="0B2B4E"/>
                </a:solidFill>
                <a:latin typeface="Calibri"/>
              </a:rPr>
              <a:t>Aug</a:t>
            </a:r>
          </a:p>
        </p:txBody>
      </p:sp>
      <p:sp>
        <p:nvSpPr>
          <p:cNvPr id="18" name="TextBox 17"/>
          <p:cNvSpPr txBox="1"/>
          <p:nvPr/>
        </p:nvSpPr>
        <p:spPr>
          <a:xfrm>
            <a:off x="7444740" y="5788152"/>
            <a:ext cx="822960" cy="274320"/>
          </a:xfrm>
          <a:prstGeom prst="rect">
            <a:avLst/>
          </a:prstGeom>
          <a:noFill/>
        </p:spPr>
        <p:txBody>
          <a:bodyPr wrap="square" lIns="0" rIns="0" tIns="0" bIns="0">
            <a:spAutoFit/>
          </a:bodyPr>
          <a:lstStyle/>
          <a:p>
            <a:pPr algn="ctr"/>
            <a:r>
              <a:rPr sz="1700" b="1" i="0" u="none">
                <a:solidFill>
                  <a:srgbClr val="0B2B4E"/>
                </a:solidFill>
                <a:latin typeface="Calibri"/>
              </a:rPr>
              <a:t>Sep</a:t>
            </a:r>
          </a:p>
        </p:txBody>
      </p:sp>
      <p:sp>
        <p:nvSpPr>
          <p:cNvPr id="19" name="TextBox 18"/>
          <p:cNvSpPr txBox="1"/>
          <p:nvPr/>
        </p:nvSpPr>
        <p:spPr>
          <a:xfrm>
            <a:off x="8887968" y="3334798"/>
            <a:ext cx="1005840" cy="256032"/>
          </a:xfrm>
          <a:prstGeom prst="rect">
            <a:avLst/>
          </a:prstGeom>
          <a:noFill/>
        </p:spPr>
        <p:txBody>
          <a:bodyPr wrap="square" lIns="0" rIns="0" tIns="0" bIns="0">
            <a:spAutoFit/>
          </a:bodyPr>
          <a:lstStyle/>
          <a:p>
            <a:pPr algn="l"/>
            <a:r>
              <a:rPr sz="1600" b="1" i="0" u="none">
                <a:solidFill>
                  <a:srgbClr val="C0504D"/>
                </a:solidFill>
                <a:latin typeface="Calibri"/>
              </a:rPr>
              <a:t>$83.99</a:t>
            </a:r>
          </a:p>
        </p:txBody>
      </p:sp>
      <p:sp>
        <p:nvSpPr>
          <p:cNvPr id="20" name="TextBox 19"/>
          <p:cNvSpPr txBox="1"/>
          <p:nvPr/>
        </p:nvSpPr>
        <p:spPr>
          <a:xfrm>
            <a:off x="8887968" y="4221960"/>
            <a:ext cx="1005840" cy="256032"/>
          </a:xfrm>
          <a:prstGeom prst="rect">
            <a:avLst/>
          </a:prstGeom>
          <a:noFill/>
        </p:spPr>
        <p:txBody>
          <a:bodyPr wrap="square" lIns="0" rIns="0" tIns="0" bIns="0">
            <a:spAutoFit/>
          </a:bodyPr>
          <a:lstStyle/>
          <a:p>
            <a:pPr algn="l"/>
            <a:r>
              <a:rPr sz="1600" b="1" i="0" u="none">
                <a:solidFill>
                  <a:srgbClr val="0070C0"/>
                </a:solidFill>
                <a:latin typeface="Calibri"/>
              </a:rPr>
              <a:t>$62.98</a:t>
            </a:r>
          </a:p>
        </p:txBody>
      </p:sp>
      <p:sp>
        <p:nvSpPr>
          <p:cNvPr id="21" name="TextBox 20"/>
          <p:cNvSpPr txBox="1"/>
          <p:nvPr/>
        </p:nvSpPr>
        <p:spPr>
          <a:xfrm>
            <a:off x="8887968" y="5403435"/>
            <a:ext cx="1005840" cy="256032"/>
          </a:xfrm>
          <a:prstGeom prst="rect">
            <a:avLst/>
          </a:prstGeom>
          <a:noFill/>
        </p:spPr>
        <p:txBody>
          <a:bodyPr wrap="square" lIns="0" rIns="0" tIns="0" bIns="0">
            <a:spAutoFit/>
          </a:bodyPr>
          <a:lstStyle/>
          <a:p>
            <a:pPr algn="l"/>
            <a:r>
              <a:rPr sz="1600" b="1" i="0" u="none">
                <a:solidFill>
                  <a:srgbClr val="6E8B3D"/>
                </a:solidFill>
                <a:latin typeface="Calibri"/>
              </a:rPr>
              <a:t>$35.00</a:t>
            </a:r>
          </a:p>
        </p:txBody>
      </p:sp>
      <p:sp>
        <p:nvSpPr>
          <p:cNvPr id="23" name="Rectangle 2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6" name="TextBox 25"/>
          <p:cNvSpPr txBox="1"/>
          <p:nvPr/>
        </p:nvSpPr>
        <p:spPr>
          <a:xfrm>
            <a:off x="11475720" y="6583680"/>
            <a:ext cx="502920" cy="292608"/>
          </a:xfrm>
          <a:prstGeom prst="rect">
            <a:avLst/>
          </a:prstGeom>
          <a:noFill/>
        </p:spPr>
        <p:txBody>
          <a:bodyPr wrap="none" lIns="0" rIns="0" tIns="0" bIns="0">
            <a:spAutoFit/>
          </a:bodyPr>
          <a:lstStyle/>
          <a:p>
            <a:pPr algn="r"/>
            <a:fld id="{BB3661D5-2092-5197-9E3A-279E8634BA61}" type="slidenum">
              <a:rPr lang="en-US" sz="1200" dirty="0">
                <a:solidFill>
                  <a:srgbClr val="555B66"/>
                </a:solidFill>
                <a:latin typeface="Calibri"/>
              </a:rPr>
              <a:t>33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fade">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fade">
                                      <p:cBhvr>
                                        <p:cTn id="12" dur="500"/>
                                        <p:tgtEl>
                                          <p:spTgt spid="12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Econometric Estimates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a:latin typeface="Calibri"/>
              </a:rPr>
              <a:t>Econometrics:  </a:t>
            </a:r>
            <a:r>
              <a:rPr>
                <a:latin typeface="Calibri"/>
              </a:rPr>
              <a:t>combine economics, statistics, and mathematical model building</a:t>
            </a:r>
          </a:p>
          <a:p>
            <a:pPr algn="l"/>
            <a:r>
              <a:rPr>
                <a:latin typeface="Calibri"/>
              </a:rPr>
              <a:t>Develop hypotheses linking dependent variables (e.g., sales) to explanatory variables (e.g., price)</a:t>
            </a:r>
          </a:p>
          <a:p>
            <a:pPr algn="l"/>
            <a:r>
              <a:rPr b="1">
                <a:latin typeface="Calibri"/>
              </a:rPr>
              <a:t>How:  </a:t>
            </a:r>
            <a:r>
              <a:rPr>
                <a:latin typeface="Calibri"/>
              </a:rPr>
              <a:t>Least Squares regression analysis</a:t>
            </a:r>
          </a:p>
          <a:p>
            <a:pPr algn="l" lvl="1"/>
            <a:r>
              <a:rPr>
                <a:latin typeface="Calibri"/>
              </a:rPr>
              <a:t>Covered in detail in your </a:t>
            </a:r>
            <a:r>
              <a:rPr b="1">
                <a:latin typeface="Calibri"/>
              </a:rPr>
              <a:t>Stats class</a:t>
            </a:r>
          </a:p>
          <a:p>
            <a:pPr algn="l" lvl="1"/>
            <a:r>
              <a:rPr>
                <a:latin typeface="Calibri"/>
              </a:rPr>
              <a:t>Today: A broad overview</a:t>
            </a:r>
          </a:p>
          <a:p>
            <a:pPr algn="l" lvl="1"/>
            <a:r>
              <a:rPr>
                <a:latin typeface="Calibri"/>
              </a:rPr>
              <a:t>What you need for our class: </a:t>
            </a:r>
            <a:r>
              <a:rPr b="1">
                <a:latin typeface="Calibri"/>
              </a:rPr>
              <a:t>Interpret and use the estimated coefficients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620F01A7-6A92-54D9-B022-88C72E5AF930}" type="slidenum">
              <a:rPr lang="en-US" sz="1200" dirty="0">
                <a:solidFill>
                  <a:srgbClr val="555B66"/>
                </a:solidFill>
                <a:latin typeface="Calibri"/>
              </a:rPr>
              <a:t>34</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Ordinary Least Squares: Estimating the Demand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13048" y="1417320"/>
            <a:ext cx="4572000" cy="914400"/>
          </a:xfrm>
          <a:prstGeom prst="roundRect">
            <a:avLst>
              <a:gd name="adj" fmla="val 14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a:solidFill>
                  <a:srgbClr val="FFFFFF"/>
                </a:solidFill>
                <a:latin typeface="Calibri"/>
              </a:rPr>
              <a:t>Q = a + b · P</a:t>
            </a:r>
          </a:p>
        </p:txBody>
      </p:sp>
      <p:sp>
        <p:nvSpPr>
          <p:cNvPr id="8" name="TextBox 7"/>
          <p:cNvSpPr txBox="1"/>
          <p:nvPr/>
        </p:nvSpPr>
        <p:spPr>
          <a:xfrm>
            <a:off x="685800" y="2423160"/>
            <a:ext cx="10881360" cy="301752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r>
              <a:rPr b="1" i="1">
                <a:latin typeface="Calibri"/>
              </a:rPr>
              <a:t>Q</a:t>
            </a:r>
            <a:r>
              <a:rPr>
                <a:latin typeface="Calibri"/>
              </a:rPr>
              <a:t> = dependent variable</a:t>
            </a:r>
          </a:p>
          <a:p>
            <a:pPr algn="l"/>
            <a:r>
              <a:rPr b="1" i="1">
                <a:latin typeface="Calibri"/>
              </a:rPr>
              <a:t>P</a:t>
            </a:r>
            <a:r>
              <a:rPr>
                <a:latin typeface="Calibri"/>
              </a:rPr>
              <a:t> = independent variable</a:t>
            </a:r>
          </a:p>
          <a:p>
            <a:pPr algn="l"/>
            <a:r>
              <a:rPr b="1" i="1">
                <a:latin typeface="Calibri"/>
              </a:rPr>
              <a:t>a</a:t>
            </a:r>
            <a:r>
              <a:rPr>
                <a:latin typeface="Calibri"/>
              </a:rPr>
              <a:t> = intercept with the y-axis (Q on y-axis)</a:t>
            </a:r>
          </a:p>
          <a:p>
            <a:pPr algn="l"/>
            <a:r>
              <a:rPr b="1" i="1">
                <a:latin typeface="Calibri"/>
              </a:rPr>
              <a:t>b</a:t>
            </a:r>
            <a:r>
              <a:rPr>
                <a:latin typeface="Calibri"/>
              </a:rPr>
              <a:t> = slope of the regression line (demand curve)</a:t>
            </a:r>
          </a:p>
        </p:txBody>
      </p:sp>
      <p:sp>
        <p:nvSpPr>
          <p:cNvPr id="9" name="TextBox 8"/>
          <p:cNvSpPr txBox="1"/>
          <p:nvPr/>
        </p:nvSpPr>
        <p:spPr>
          <a:xfrm>
            <a:off x="3986784" y="4800600"/>
            <a:ext cx="4215384" cy="978408"/>
          </a:xfrm>
          <a:prstGeom prst="roundRect">
            <a:avLst>
              <a:gd name="adj" fmla="val 25000"/>
            </a:avLst>
          </a:prstGeom>
          <a:solidFill>
            <a:srgbClr val="FDF6E6"/>
          </a:solidFill>
          <a:ln w="9525">
            <a:solidFill>
              <a:srgbClr val="0B2B4E"/>
            </a:solidFill>
          </a:ln>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2400" b="0" i="1">
                <a:solidFill>
                  <a:srgbClr val="0B2B4E"/>
                </a:solidFill>
                <a:latin typeface="Cambria Math"/>
              </a:defRPr>
            </a:pPr>
            <a14:m>
              <m:oMathPara>
                <m:oMathParaPr>
                  <m:jc m:val="centerGroup"/>
                </m:oMathParaPr>
                <m:oMath>
                  <m:sSub>
                    <m:sSubPr>
                      <m:ctrlPr>
                        <a:rPr lang="en-US" i="1">
                          <a:latin typeface="Cambria Math"/>
                        </a:rPr>
                      </m:ctrlPr>
                    </m:sSubPr>
                    <m:e>
                      <m:r>
                        <a:rPr lang="en-US" b="0" i="1" sz="2400">
                          <a:solidFill>
                            <a:srgbClr val="0B2B4E"/>
                          </a:solidFill>
                          <a:latin typeface="Cambria Math"/>
                          <a:ea typeface="Cambria Math"/>
                        </a:rPr>
                        <m:t>E</m:t>
                      </m:r>
                    </m:e>
                    <m:sub>
                      <m:r>
                        <m:rPr>
                          <m:sty m:val="p"/>
                        </m:rPr>
                        <a:rPr lang="en-US" b="0" i="0" sz="2400">
                          <a:solidFill>
                            <a:srgbClr val="0B2B4E"/>
                          </a:solidFill>
                          <a:latin typeface="Cambria Math"/>
                        </a:rPr>
                        <m:t xml:space="preserve">D</m:t>
                      </m:r>
                    </m:sub>
                  </m:sSub>
                  <m:r>
                    <m:rPr>
                      <m:sty m:val="p"/>
                    </m:rPr>
                    <a:rPr lang="en-US" b="0" i="0" sz="2400">
                      <a:solidFill>
                        <a:srgbClr val="0B2B4E"/>
                      </a:solidFill>
                      <a:latin typeface="Cambria Math"/>
                    </a:rPr>
                    <m:t xml:space="preserve"> = </m:t>
                  </m:r>
                  <m:f>
                    <m:fPr>
                      <m:ctrlPr>
                        <a:rPr lang="en-US" i="1">
                          <a:latin typeface="Cambria Math"/>
                        </a:rPr>
                      </m:ctrlPr>
                    </m:fPr>
                    <m:num>
                      <m:r>
                        <m:rPr>
                          <m:sty m:val="p"/>
                        </m:rPr>
                        <a:rPr lang="en-US" b="0" i="0" sz="2400">
                          <a:solidFill>
                            <a:srgbClr val="0B2B4E"/>
                          </a:solidFill>
                          <a:latin typeface="Cambria Math"/>
                        </a:rPr>
                        <m:t xml:space="preserve">Δ</m:t>
                      </m:r>
                      <m:r>
                        <a:rPr lang="en-US" b="0" i="1" sz="2400">
                          <a:solidFill>
                            <a:srgbClr val="0B2B4E"/>
                          </a:solidFill>
                          <a:latin typeface="Cambria Math"/>
                          <a:ea typeface="Cambria Math"/>
                        </a:rPr>
                        <m:t>Q</m:t>
                      </m:r>
                    </m:num>
                    <m:den>
                      <m:r>
                        <m:rPr>
                          <m:sty m:val="p"/>
                        </m:rPr>
                        <a:rPr lang="en-US" b="0" i="0" sz="2400">
                          <a:solidFill>
                            <a:srgbClr val="0B2B4E"/>
                          </a:solidFill>
                          <a:latin typeface="Cambria Math"/>
                        </a:rPr>
                        <m:t xml:space="preserve">Δ</m:t>
                      </m:r>
                      <m:r>
                        <a:rPr lang="en-US" b="0" i="1" sz="2400">
                          <a:solidFill>
                            <a:srgbClr val="0B2B4E"/>
                          </a:solidFill>
                          <a:latin typeface="Cambria Math"/>
                          <a:ea typeface="Cambria Math"/>
                        </a:rPr>
                        <m:t>P</m:t>
                      </m:r>
                    </m:den>
                  </m:f>
                  <m:r>
                    <m:rPr>
                      <m:sty m:val="p"/>
                    </m:rPr>
                    <a:rPr lang="en-US" b="0" i="0" sz="2400">
                      <a:solidFill>
                        <a:srgbClr val="0B2B4E"/>
                      </a:solidFill>
                      <a:latin typeface="Cambria Math"/>
                    </a:rPr>
                    <m:t xml:space="preserve"> · </m:t>
                  </m:r>
                  <m:f>
                    <m:fPr>
                      <m:ctrlPr>
                        <a:rPr lang="en-US" i="1">
                          <a:latin typeface="Cambria Math"/>
                        </a:rPr>
                      </m:ctrlPr>
                    </m:fPr>
                    <m:num>
                      <m:r>
                        <a:rPr lang="en-US" b="0" i="1" sz="2400">
                          <a:solidFill>
                            <a:srgbClr val="0B2B4E"/>
                          </a:solidFill>
                          <a:latin typeface="Cambria Math"/>
                          <a:ea typeface="Cambria Math"/>
                        </a:rPr>
                        <m:t>P</m:t>
                      </m:r>
                    </m:num>
                    <m:den>
                      <m:r>
                        <a:rPr lang="en-US" b="0" i="1" sz="2400">
                          <a:solidFill>
                            <a:srgbClr val="0B2B4E"/>
                          </a:solidFill>
                          <a:latin typeface="Cambria Math"/>
                          <a:ea typeface="Cambria Math"/>
                        </a:rPr>
                        <m:t>Q</m:t>
                      </m:r>
                    </m:den>
                  </m:f>
                  <m:r>
                    <m:rPr>
                      <m:sty m:val="p"/>
                    </m:rPr>
                    <a:rPr lang="en-US" b="0" i="0" sz="2400">
                      <a:solidFill>
                        <a:srgbClr val="0B2B4E"/>
                      </a:solidFill>
                      <a:latin typeface="Cambria Math"/>
                    </a:rPr>
                    <m:t xml:space="preserve"> = </m:t>
                  </m:r>
                  <m:r>
                    <a:rPr lang="en-US" b="0" i="1" sz="2400">
                      <a:solidFill>
                        <a:srgbClr val="0B2B4E"/>
                      </a:solidFill>
                      <a:latin typeface="Cambria Math"/>
                      <a:ea typeface="Cambria Math"/>
                    </a:rPr>
                    <m:t>b</m:t>
                  </m:r>
                  <m:r>
                    <m:rPr>
                      <m:sty m:val="p"/>
                    </m:rPr>
                    <a:rPr lang="en-US" b="0" i="0" sz="2400">
                      <a:solidFill>
                        <a:srgbClr val="0B2B4E"/>
                      </a:solidFill>
                      <a:latin typeface="Cambria Math"/>
                    </a:rPr>
                    <m:t xml:space="preserve"> · </m:t>
                  </m:r>
                  <m:f>
                    <m:fPr>
                      <m:ctrlPr>
                        <a:rPr lang="en-US" i="1">
                          <a:latin typeface="Cambria Math"/>
                        </a:rPr>
                      </m:ctrlPr>
                    </m:fPr>
                    <m:num>
                      <m:r>
                        <a:rPr lang="en-US" b="0" i="1" sz="2400">
                          <a:solidFill>
                            <a:srgbClr val="0B2B4E"/>
                          </a:solidFill>
                          <a:latin typeface="Cambria Math"/>
                          <a:ea typeface="Cambria Math"/>
                        </a:rPr>
                        <m:t>P</m:t>
                      </m:r>
                    </m:num>
                    <m:den>
                      <m:r>
                        <a:rPr lang="en-US" b="0" i="1" sz="2400">
                          <a:solidFill>
                            <a:srgbClr val="0B2B4E"/>
                          </a:solidFill>
                          <a:latin typeface="Cambria Math"/>
                          <a:ea typeface="Cambria Math"/>
                        </a:rPr>
                        <m:t>Q</m:t>
                      </m:r>
                    </m:den>
                  </m:f>
                </m:oMath>
              </m:oMathPara>
            </a14:m>
            <a:endParaRPr lang="en-US" sz="2400"/>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A76FAE18-E794-5440-845E-93938A34ADB1}" type="slidenum">
              <a:rPr lang="en-US" sz="1200" dirty="0">
                <a:solidFill>
                  <a:srgbClr val="555B66"/>
                </a:solidFill>
                <a:latin typeface="Calibri"/>
              </a:rPr>
              <a:t>35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Airline Ticket Experimentation: Data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3" name="Group pair 113"/>
          <p:cNvGrpSpPr/>
          <p:nvPr/>
        </p:nvGrpSpPr>
        <p:grpSpPr>
          <a:xfrm>
            <a:off x="2560320" y="1289304"/>
            <a:ext cx="4251959" cy="4572000"/>
            <a:chOff x="2560320" y="1289304"/>
            <a:chExt cx="4251959" cy="4572000"/>
          </a:xfrm>
        </p:grpSpPr>
        <p:sp>
          <p:nvSpPr>
            <p:cNvPr id="7" name="Rectangle 6"/>
            <p:cNvSpPr/>
            <p:nvPr/>
          </p:nvSpPr>
          <p:spPr>
            <a:xfrm>
              <a:off x="2560320" y="1289304"/>
              <a:ext cx="4251959" cy="457200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697480" y="1426464"/>
            <a:ext cx="3977638" cy="4297680"/>
          </p:xfrm>
          <a:graphic>
            <a:graphicData uri="http://schemas.openxmlformats.org/drawingml/2006/table">
              <a:tbl>
                <a:tblPr firstRow="0" bandRow="0"/>
                <a:tblGrid>
                  <a:gridCol w="1988819"/>
                  <a:gridCol w="1988819"/>
                </a:tblGrid>
                <a:tr h="252804">
                  <a:tc>
                    <a:txBody>
                      <a:bodyPr wrap="square"/>
                      <a:lstStyle/>
                      <a:p>
                        <a:pPr algn="ctr"/>
                        <a:r>
                          <a:rPr sz="1400" b="1">
                            <a:solidFill>
                              <a:srgbClr val="FFFFFF"/>
                            </a:solidFill>
                            <a:latin typeface="Calibri"/>
                          </a:rPr>
                          <a:t>Price ($)</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1400" b="1">
                            <a:solidFill>
                              <a:srgbClr val="FFFFFF"/>
                            </a:solidFill>
                            <a:latin typeface="Calibri"/>
                          </a:rPr>
                          <a:t>Seats sold</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252804">
                  <a:tc>
                    <a:txBody>
                      <a:bodyPr wrap="square"/>
                      <a:lstStyle/>
                      <a:p>
                        <a:pPr algn="l"/>
                        <a:r>
                          <a:rPr sz="1400" b="1">
                            <a:solidFill>
                              <a:srgbClr val="0B2B4E"/>
                            </a:solidFill>
                            <a:latin typeface="Calibri"/>
                          </a:rPr>
                          <a:t>250.00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64</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265.00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33</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265.00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37</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240.00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83</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230.00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111</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225.00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137</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225.00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109</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220.00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96</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230.00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59</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235.00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83</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245.00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90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240.00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105</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250.00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75</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04">
                  <a:tc>
                    <a:txBody>
                      <a:bodyPr wrap="square"/>
                      <a:lstStyle/>
                      <a:p>
                        <a:pPr algn="l"/>
                        <a:r>
                          <a:rPr sz="1400" b="1">
                            <a:solidFill>
                              <a:srgbClr val="0B2B4E"/>
                            </a:solidFill>
                            <a:latin typeface="Calibri"/>
                          </a:rPr>
                          <a:t>240.00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91</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252804">
                  <a:tc>
                    <a:txBody>
                      <a:bodyPr wrap="square"/>
                      <a:lstStyle/>
                      <a:p>
                        <a:pPr algn="l"/>
                        <a:r>
                          <a:rPr sz="1400" b="1">
                            <a:solidFill>
                              <a:srgbClr val="0B2B4E"/>
                            </a:solidFill>
                            <a:latin typeface="Calibri"/>
                          </a:rPr>
                          <a:t>240.00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1400" b="0">
                            <a:solidFill>
                              <a:srgbClr val="0B2B4E"/>
                            </a:solidFill>
                            <a:latin typeface="Calibri"/>
                          </a:rPr>
                          <a:t>112</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252816">
                  <a:tc>
                    <a:txBody>
                      <a:bodyPr wrap="square"/>
                      <a:lstStyle/>
                      <a:p>
                        <a:pPr algn="l"/>
                        <a:r>
                          <a:rPr sz="1400" b="1">
                            <a:solidFill>
                              <a:srgbClr val="0B2B4E"/>
                            </a:solidFill>
                            <a:latin typeface="Calibri"/>
                          </a:rPr>
                          <a:t>235.00</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1400" b="0">
                            <a:solidFill>
                              <a:srgbClr val="0B2B4E"/>
                            </a:solidFill>
                            <a:latin typeface="Calibri"/>
                          </a:rPr>
                          <a:t>102</a:t>
                        </a:r>
                      </a:p>
                    </a:txBody>
                    <a:tcPr marL="91440" marR="91440" marT="13716" marB="1371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bl>
            </a:graphicData>
          </a:graphic>
        </p:graphicFrame>
      </p:grpSp>
      <p:pic>
        <p:nvPicPr>
          <p:cNvPr id="9" name="Picture 8" descr="ct_airline_plane.png"/>
          <p:cNvPicPr>
            <a:picLocks noChangeAspect="1"/>
          </p:cNvPicPr>
          <p:nvPr/>
        </p:nvPicPr>
        <p:blipFill>
          <a:blip r:embed="rId2"/>
          <a:stretch>
            <a:fillRect/>
          </a:stretch>
        </p:blipFill>
        <p:spPr>
          <a:xfrm>
            <a:off x="7452360" y="2651760"/>
            <a:ext cx="3840480" cy="2641600"/>
          </a:xfrm>
          <a:prstGeom prst="rect">
            <a:avLst/>
          </a:prstGeom>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B85D8FA1-40B8-5136-B161-3F66860BFBA4}" type="slidenum">
              <a:rPr lang="en-US" sz="1200" dirty="0">
                <a:solidFill>
                  <a:srgbClr val="555B66"/>
                </a:solidFill>
                <a:latin typeface="Calibri"/>
              </a:rPr>
              <a:t>36</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First Pass: Eyeball the Relationship</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0" y="1371600"/>
            <a:ext cx="6675120" cy="411480"/>
          </a:xfrm>
          <a:prstGeom prst="rect">
            <a:avLst/>
          </a:prstGeom>
          <a:noFill/>
        </p:spPr>
        <p:txBody>
          <a:bodyPr wrap="square" lIns="0" rIns="0" tIns="0" bIns="0">
            <a:spAutoFit/>
          </a:bodyPr>
          <a:lstStyle/>
          <a:p>
            <a:pPr algn="ctr"/>
            <a:r>
              <a:rPr sz="2000" b="1" i="1" u="none">
                <a:solidFill>
                  <a:srgbClr val="0B2B4E"/>
                </a:solidFill>
                <a:latin typeface="Calibri"/>
              </a:rPr>
              <a:t>Scatterplot of Q versus P</a:t>
            </a:r>
          </a:p>
        </p:txBody>
      </p:sp>
      <p:cxnSp>
        <p:nvCxnSpPr>
          <p:cNvPr id="8" name="Connector 7"/>
          <p:cNvCxnSpPr/>
          <p:nvPr/>
        </p:nvCxnSpPr>
        <p:spPr>
          <a:xfrm flipV="1">
            <a:off x="3108960" y="1938527"/>
            <a:ext cx="0" cy="3822193"/>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108960" y="5760720"/>
            <a:ext cx="6309359"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88920" y="1536191"/>
            <a:ext cx="1737360" cy="310896"/>
          </a:xfrm>
          <a:prstGeom prst="rect">
            <a:avLst/>
          </a:prstGeom>
          <a:noFill/>
        </p:spPr>
        <p:txBody>
          <a:bodyPr wrap="square" lIns="0" rIns="0" tIns="0" bIns="0">
            <a:spAutoFit/>
          </a:bodyPr>
          <a:lstStyle/>
          <a:p>
            <a:pPr algn="l"/>
            <a:r>
              <a:rPr sz="1700" b="1" i="1" u="none">
                <a:solidFill>
                  <a:srgbClr val="0B2B4E"/>
                </a:solidFill>
                <a:latin typeface="Calibri"/>
              </a:rPr>
              <a:t>Quantity</a:t>
            </a:r>
          </a:p>
        </p:txBody>
      </p:sp>
      <p:sp>
        <p:nvSpPr>
          <p:cNvPr id="11" name="TextBox 10"/>
          <p:cNvSpPr txBox="1"/>
          <p:nvPr/>
        </p:nvSpPr>
        <p:spPr>
          <a:xfrm>
            <a:off x="9409176" y="5875020"/>
            <a:ext cx="1463040" cy="310896"/>
          </a:xfrm>
          <a:prstGeom prst="rect">
            <a:avLst/>
          </a:prstGeom>
          <a:noFill/>
        </p:spPr>
        <p:txBody>
          <a:bodyPr wrap="square" lIns="0" rIns="0" tIns="0" bIns="0">
            <a:spAutoFit/>
          </a:bodyPr>
          <a:lstStyle/>
          <a:p>
            <a:pPr algn="l"/>
            <a:r>
              <a:rPr sz="1700" b="1" i="1" u="none">
                <a:solidFill>
                  <a:srgbClr val="0B2B4E"/>
                </a:solidFill>
                <a:latin typeface="Calibri"/>
              </a:rPr>
              <a:t>Price ($)</a:t>
            </a:r>
          </a:p>
        </p:txBody>
      </p:sp>
      <p:sp>
        <p:nvSpPr>
          <p:cNvPr id="12" name="TextBox 11"/>
          <p:cNvSpPr txBox="1"/>
          <p:nvPr/>
        </p:nvSpPr>
        <p:spPr>
          <a:xfrm>
            <a:off x="3579972" y="5815583"/>
            <a:ext cx="914400" cy="274320"/>
          </a:xfrm>
          <a:prstGeom prst="rect">
            <a:avLst/>
          </a:prstGeom>
          <a:noFill/>
        </p:spPr>
        <p:txBody>
          <a:bodyPr wrap="square" lIns="0" rIns="0" tIns="0" bIns="0">
            <a:spAutoFit/>
          </a:bodyPr>
          <a:lstStyle/>
          <a:p>
            <a:pPr algn="ctr"/>
            <a:r>
              <a:rPr sz="1500" b="0" i="0" u="none">
                <a:solidFill>
                  <a:srgbClr val="0B2B4E"/>
                </a:solidFill>
                <a:latin typeface="Calibri"/>
              </a:rPr>
              <a:t>220</a:t>
            </a:r>
          </a:p>
        </p:txBody>
      </p:sp>
      <p:sp>
        <p:nvSpPr>
          <p:cNvPr id="13" name="TextBox 12"/>
          <p:cNvSpPr txBox="1"/>
          <p:nvPr/>
        </p:nvSpPr>
        <p:spPr>
          <a:xfrm>
            <a:off x="5436398" y="5815583"/>
            <a:ext cx="914400" cy="274320"/>
          </a:xfrm>
          <a:prstGeom prst="rect">
            <a:avLst/>
          </a:prstGeom>
          <a:noFill/>
        </p:spPr>
        <p:txBody>
          <a:bodyPr wrap="square" lIns="0" rIns="0" tIns="0" bIns="0">
            <a:spAutoFit/>
          </a:bodyPr>
          <a:lstStyle/>
          <a:p>
            <a:pPr algn="ctr"/>
            <a:r>
              <a:rPr sz="1500" b="0" i="0" u="none">
                <a:solidFill>
                  <a:srgbClr val="0B2B4E"/>
                </a:solidFill>
                <a:latin typeface="Calibri"/>
              </a:rPr>
              <a:t>240</a:t>
            </a:r>
          </a:p>
        </p:txBody>
      </p:sp>
      <p:sp>
        <p:nvSpPr>
          <p:cNvPr id="14" name="TextBox 13"/>
          <p:cNvSpPr txBox="1"/>
          <p:nvPr/>
        </p:nvSpPr>
        <p:spPr>
          <a:xfrm>
            <a:off x="7292823" y="5815583"/>
            <a:ext cx="914400" cy="274320"/>
          </a:xfrm>
          <a:prstGeom prst="rect">
            <a:avLst/>
          </a:prstGeom>
          <a:noFill/>
        </p:spPr>
        <p:txBody>
          <a:bodyPr wrap="square" lIns="0" rIns="0" tIns="0" bIns="0">
            <a:spAutoFit/>
          </a:bodyPr>
          <a:lstStyle/>
          <a:p>
            <a:pPr algn="ctr"/>
            <a:r>
              <a:rPr sz="1500" b="0" i="0" u="none">
                <a:solidFill>
                  <a:srgbClr val="0B2B4E"/>
                </a:solidFill>
                <a:latin typeface="Calibri"/>
              </a:rPr>
              <a:t>260</a:t>
            </a:r>
          </a:p>
        </p:txBody>
      </p:sp>
      <p:sp>
        <p:nvSpPr>
          <p:cNvPr id="15" name="TextBox 14"/>
          <p:cNvSpPr txBox="1"/>
          <p:nvPr/>
        </p:nvSpPr>
        <p:spPr>
          <a:xfrm>
            <a:off x="2130552" y="4413504"/>
            <a:ext cx="868680" cy="274320"/>
          </a:xfrm>
          <a:prstGeom prst="rect">
            <a:avLst/>
          </a:prstGeom>
          <a:noFill/>
        </p:spPr>
        <p:txBody>
          <a:bodyPr wrap="square" lIns="0" rIns="0" tIns="0" bIns="0">
            <a:spAutoFit/>
          </a:bodyPr>
          <a:lstStyle/>
          <a:p>
            <a:pPr algn="r"/>
            <a:r>
              <a:rPr sz="1500" b="0" i="0" u="none">
                <a:solidFill>
                  <a:srgbClr val="0B2B4E"/>
                </a:solidFill>
                <a:latin typeface="Calibri"/>
              </a:rPr>
              <a:t>50</a:t>
            </a:r>
          </a:p>
        </p:txBody>
      </p:sp>
      <p:sp>
        <p:nvSpPr>
          <p:cNvPr id="16" name="TextBox 15"/>
          <p:cNvSpPr txBox="1"/>
          <p:nvPr/>
        </p:nvSpPr>
        <p:spPr>
          <a:xfrm>
            <a:off x="2130552" y="3194304"/>
            <a:ext cx="868680" cy="274320"/>
          </a:xfrm>
          <a:prstGeom prst="rect">
            <a:avLst/>
          </a:prstGeom>
          <a:noFill/>
        </p:spPr>
        <p:txBody>
          <a:bodyPr wrap="square" lIns="0" rIns="0" tIns="0" bIns="0">
            <a:spAutoFit/>
          </a:bodyPr>
          <a:lstStyle/>
          <a:p>
            <a:pPr algn="r"/>
            <a:r>
              <a:rPr sz="1500" b="0" i="0" u="none">
                <a:solidFill>
                  <a:srgbClr val="0B2B4E"/>
                </a:solidFill>
                <a:latin typeface="Calibri"/>
              </a:rPr>
              <a:t>100</a:t>
            </a:r>
          </a:p>
        </p:txBody>
      </p:sp>
      <p:sp>
        <p:nvSpPr>
          <p:cNvPr id="17" name="TextBox 16"/>
          <p:cNvSpPr txBox="1"/>
          <p:nvPr/>
        </p:nvSpPr>
        <p:spPr>
          <a:xfrm>
            <a:off x="2130552" y="1975104"/>
            <a:ext cx="868680" cy="274320"/>
          </a:xfrm>
          <a:prstGeom prst="rect">
            <a:avLst/>
          </a:prstGeom>
          <a:noFill/>
        </p:spPr>
        <p:txBody>
          <a:bodyPr wrap="square" lIns="0" rIns="0" tIns="0" bIns="0">
            <a:spAutoFit/>
          </a:bodyPr>
          <a:lstStyle/>
          <a:p>
            <a:pPr algn="r"/>
            <a:r>
              <a:rPr sz="1500" b="0" i="0" u="none">
                <a:solidFill>
                  <a:srgbClr val="0B2B4E"/>
                </a:solidFill>
                <a:latin typeface="Calibri"/>
              </a:rPr>
              <a:t>150</a:t>
            </a:r>
          </a:p>
        </p:txBody>
      </p:sp>
      <p:sp>
        <p:nvSpPr>
          <p:cNvPr id="18" name="Oval 17"/>
          <p:cNvSpPr/>
          <p:nvPr/>
        </p:nvSpPr>
        <p:spPr>
          <a:xfrm>
            <a:off x="6766946" y="414528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159265" y="4901184"/>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59265" y="480364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838734" y="368198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910521" y="29992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46415" y="236524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46415" y="304800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982308" y="336499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910521" y="426720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374627" y="368198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02840" y="351129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5838734" y="314553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66946" y="387705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5838734" y="3486911"/>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838734" y="297484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374627" y="32186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4037076" y="2517343"/>
            <a:ext cx="4271162" cy="2511857"/>
          </a:xfrm>
          <a:prstGeom prst="line">
            <a:avLst/>
          </a:prstGeom>
          <a:ln w="381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037076" y="2907792"/>
            <a:ext cx="4456785" cy="1634032"/>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39" name="TextBox 38"/>
          <p:cNvSpPr txBox="1"/>
          <p:nvPr/>
        </p:nvSpPr>
        <p:spPr>
          <a:xfrm>
            <a:off x="11475720" y="6583680"/>
            <a:ext cx="502920" cy="292608"/>
          </a:xfrm>
          <a:prstGeom prst="rect">
            <a:avLst/>
          </a:prstGeom>
          <a:noFill/>
        </p:spPr>
        <p:txBody>
          <a:bodyPr wrap="none" lIns="0" rIns="0" tIns="0" bIns="0">
            <a:spAutoFit/>
          </a:bodyPr>
          <a:lstStyle/>
          <a:p>
            <a:pPr algn="r"/>
            <a:fld id="{D08F1797-AD54-52A3-A710-94438C6EF77E}" type="slidenum">
              <a:rPr lang="en-US" sz="1200" dirty="0">
                <a:solidFill>
                  <a:srgbClr val="555B66"/>
                </a:solidFill>
                <a:latin typeface="Calibri"/>
              </a:rPr>
              <a:t>37</a:t>
            </a:fld>
          </a:p>
        </p:txBody>
      </p:sp>
      <p:grpSp>
        <p:nvGrpSpPr>
          <p:cNvPr id="141" name="Group pair 141"/>
          <p:cNvGrpSpPr/>
          <p:nvPr/>
        </p:nvGrpSpPr>
        <p:grpSpPr>
          <a:xfrm>
            <a:off x="7754112" y="2967228"/>
            <a:ext cx="3310128" cy="813816"/>
            <a:chOff x="7754112" y="2967228"/>
            <a:chExt cx="3310128" cy="813816"/>
          </a:xfrm>
        </p:grpSpPr>
        <p:sp>
          <p:nvSpPr>
            <p:cNvPr id="40" name="Rounded Rectangle 39"/>
            <p:cNvSpPr/>
            <p:nvPr/>
          </p:nvSpPr>
          <p:spPr>
            <a:xfrm>
              <a:off x="7754112" y="3118104"/>
              <a:ext cx="3310128" cy="512064"/>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54696" y="2967228"/>
              <a:ext cx="3108960" cy="813816"/>
            </a:xfrm>
            <a:prstGeom prst="rect">
              <a:avLst/>
            </a:prstGeom>
            <a:noFill/>
          </p:spPr>
          <p:txBody>
            <a:bodyPr wrap="square" lIns="45720" rIns="45720" tIns="0" bIns="0" anchor="ctr">
              <a:spAutoFit/>
            </a:bodyPr>
            <a:lstStyle/>
            <a:p>
              <a:pPr algn="ctr"/>
              <a:r>
                <a:rPr sz="1800" b="0" i="1" u="none">
                  <a:solidFill>
                    <a:srgbClr val="0B2B4E"/>
                  </a:solidFill>
                  <a:latin typeface="Calibri"/>
                </a:rPr>
                <a:t>Which line provides the best fit?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1"/>
                                        </p:tgtEl>
                                        <p:attrNameLst>
                                          <p:attrName>style.visibility</p:attrName>
                                        </p:attrNameLst>
                                      </p:cBhvr>
                                      <p:to>
                                        <p:strVal val="visible"/>
                                      </p:to>
                                    </p:set>
                                    <p:animEffect transition="in" filter="fade">
                                      <p:cBhvr>
                                        <p:cTn id="17"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Least Squares Estimation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V="1">
            <a:off x="914400" y="1847088"/>
            <a:ext cx="0" cy="3913632"/>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14400" y="5760720"/>
            <a:ext cx="5943600" cy="0"/>
          </a:xfrm>
          <a:prstGeom prst="line">
            <a:avLst/>
          </a:prstGeom>
          <a:ln w="254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 y="1444752"/>
            <a:ext cx="1737360" cy="310896"/>
          </a:xfrm>
          <a:prstGeom prst="rect">
            <a:avLst/>
          </a:prstGeom>
          <a:noFill/>
        </p:spPr>
        <p:txBody>
          <a:bodyPr wrap="square" lIns="0" rIns="0" tIns="0" bIns="0">
            <a:spAutoFit/>
          </a:bodyPr>
          <a:lstStyle/>
          <a:p>
            <a:pPr algn="l"/>
            <a:r>
              <a:rPr sz="1700" b="1" i="1" u="none">
                <a:solidFill>
                  <a:srgbClr val="0B2B4E"/>
                </a:solidFill>
                <a:latin typeface="Calibri"/>
              </a:rPr>
              <a:t>Quantity</a:t>
            </a:r>
          </a:p>
        </p:txBody>
      </p:sp>
      <p:sp>
        <p:nvSpPr>
          <p:cNvPr id="10" name="TextBox 9"/>
          <p:cNvSpPr txBox="1"/>
          <p:nvPr/>
        </p:nvSpPr>
        <p:spPr>
          <a:xfrm>
            <a:off x="6848856" y="5875020"/>
            <a:ext cx="1463040" cy="310896"/>
          </a:xfrm>
          <a:prstGeom prst="rect">
            <a:avLst/>
          </a:prstGeom>
          <a:noFill/>
        </p:spPr>
        <p:txBody>
          <a:bodyPr wrap="square" lIns="0" rIns="0" tIns="0" bIns="0">
            <a:spAutoFit/>
          </a:bodyPr>
          <a:lstStyle/>
          <a:p>
            <a:pPr algn="l"/>
            <a:r>
              <a:rPr sz="1700" b="1" i="1" u="none">
                <a:solidFill>
                  <a:srgbClr val="0B2B4E"/>
                </a:solidFill>
                <a:latin typeface="Calibri"/>
              </a:rPr>
              <a:t>Price ($)</a:t>
            </a:r>
          </a:p>
        </p:txBody>
      </p:sp>
      <p:sp>
        <p:nvSpPr>
          <p:cNvPr id="11" name="TextBox 10"/>
          <p:cNvSpPr txBox="1"/>
          <p:nvPr/>
        </p:nvSpPr>
        <p:spPr>
          <a:xfrm>
            <a:off x="1330161" y="5815583"/>
            <a:ext cx="914400" cy="274320"/>
          </a:xfrm>
          <a:prstGeom prst="rect">
            <a:avLst/>
          </a:prstGeom>
          <a:noFill/>
        </p:spPr>
        <p:txBody>
          <a:bodyPr wrap="square" lIns="0" rIns="0" tIns="0" bIns="0">
            <a:spAutoFit/>
          </a:bodyPr>
          <a:lstStyle/>
          <a:p>
            <a:pPr algn="ctr"/>
            <a:r>
              <a:rPr sz="1500" b="0" i="0" u="none">
                <a:solidFill>
                  <a:srgbClr val="0B2B4E"/>
                </a:solidFill>
                <a:latin typeface="Calibri"/>
              </a:rPr>
              <a:t>220</a:t>
            </a:r>
          </a:p>
        </p:txBody>
      </p:sp>
      <p:sp>
        <p:nvSpPr>
          <p:cNvPr id="12" name="TextBox 11"/>
          <p:cNvSpPr txBox="1"/>
          <p:nvPr/>
        </p:nvSpPr>
        <p:spPr>
          <a:xfrm>
            <a:off x="3076085" y="5815583"/>
            <a:ext cx="914400" cy="274320"/>
          </a:xfrm>
          <a:prstGeom prst="rect">
            <a:avLst/>
          </a:prstGeom>
          <a:noFill/>
        </p:spPr>
        <p:txBody>
          <a:bodyPr wrap="square" lIns="0" rIns="0" tIns="0" bIns="0">
            <a:spAutoFit/>
          </a:bodyPr>
          <a:lstStyle/>
          <a:p>
            <a:pPr algn="ctr"/>
            <a:r>
              <a:rPr sz="1500" b="0" i="0" u="none">
                <a:solidFill>
                  <a:srgbClr val="0B2B4E"/>
                </a:solidFill>
                <a:latin typeface="Calibri"/>
              </a:rPr>
              <a:t>240</a:t>
            </a:r>
          </a:p>
        </p:txBody>
      </p:sp>
      <p:sp>
        <p:nvSpPr>
          <p:cNvPr id="13" name="TextBox 12"/>
          <p:cNvSpPr txBox="1"/>
          <p:nvPr/>
        </p:nvSpPr>
        <p:spPr>
          <a:xfrm>
            <a:off x="4822009" y="5815583"/>
            <a:ext cx="914400" cy="274320"/>
          </a:xfrm>
          <a:prstGeom prst="rect">
            <a:avLst/>
          </a:prstGeom>
          <a:noFill/>
        </p:spPr>
        <p:txBody>
          <a:bodyPr wrap="square" lIns="0" rIns="0" tIns="0" bIns="0">
            <a:spAutoFit/>
          </a:bodyPr>
          <a:lstStyle/>
          <a:p>
            <a:pPr algn="ctr"/>
            <a:r>
              <a:rPr sz="1500" b="0" i="0" u="none">
                <a:solidFill>
                  <a:srgbClr val="0B2B4E"/>
                </a:solidFill>
                <a:latin typeface="Calibri"/>
              </a:rPr>
              <a:t>260</a:t>
            </a:r>
          </a:p>
        </p:txBody>
      </p:sp>
      <p:sp>
        <p:nvSpPr>
          <p:cNvPr id="14" name="TextBox 13"/>
          <p:cNvSpPr txBox="1"/>
          <p:nvPr/>
        </p:nvSpPr>
        <p:spPr>
          <a:xfrm>
            <a:off x="-64008" y="4383024"/>
            <a:ext cx="868680" cy="274320"/>
          </a:xfrm>
          <a:prstGeom prst="rect">
            <a:avLst/>
          </a:prstGeom>
          <a:noFill/>
        </p:spPr>
        <p:txBody>
          <a:bodyPr wrap="square" lIns="0" rIns="0" tIns="0" bIns="0">
            <a:spAutoFit/>
          </a:bodyPr>
          <a:lstStyle/>
          <a:p>
            <a:pPr algn="r"/>
            <a:r>
              <a:rPr sz="1500" b="0" i="0" u="none">
                <a:solidFill>
                  <a:srgbClr val="0B2B4E"/>
                </a:solidFill>
                <a:latin typeface="Calibri"/>
              </a:rPr>
              <a:t>50</a:t>
            </a:r>
          </a:p>
        </p:txBody>
      </p:sp>
      <p:sp>
        <p:nvSpPr>
          <p:cNvPr id="15" name="TextBox 14"/>
          <p:cNvSpPr txBox="1"/>
          <p:nvPr/>
        </p:nvSpPr>
        <p:spPr>
          <a:xfrm>
            <a:off x="-64008" y="3133344"/>
            <a:ext cx="868680" cy="274320"/>
          </a:xfrm>
          <a:prstGeom prst="rect">
            <a:avLst/>
          </a:prstGeom>
          <a:noFill/>
        </p:spPr>
        <p:txBody>
          <a:bodyPr wrap="square" lIns="0" rIns="0" tIns="0" bIns="0">
            <a:spAutoFit/>
          </a:bodyPr>
          <a:lstStyle/>
          <a:p>
            <a:pPr algn="r"/>
            <a:r>
              <a:rPr sz="1500" b="0" i="0" u="none">
                <a:solidFill>
                  <a:srgbClr val="0B2B4E"/>
                </a:solidFill>
                <a:latin typeface="Calibri"/>
              </a:rPr>
              <a:t>100</a:t>
            </a:r>
          </a:p>
        </p:txBody>
      </p:sp>
      <p:sp>
        <p:nvSpPr>
          <p:cNvPr id="16" name="TextBox 15"/>
          <p:cNvSpPr txBox="1"/>
          <p:nvPr/>
        </p:nvSpPr>
        <p:spPr>
          <a:xfrm>
            <a:off x="-64008" y="1883664"/>
            <a:ext cx="868680" cy="274320"/>
          </a:xfrm>
          <a:prstGeom prst="rect">
            <a:avLst/>
          </a:prstGeom>
          <a:noFill/>
        </p:spPr>
        <p:txBody>
          <a:bodyPr wrap="square" lIns="0" rIns="0" tIns="0" bIns="0">
            <a:spAutoFit/>
          </a:bodyPr>
          <a:lstStyle/>
          <a:p>
            <a:pPr algn="r"/>
            <a:r>
              <a:rPr sz="1500" b="0" i="0" u="none">
                <a:solidFill>
                  <a:srgbClr val="0B2B4E"/>
                </a:solidFill>
                <a:latin typeface="Calibri"/>
              </a:rPr>
              <a:t>150</a:t>
            </a:r>
          </a:p>
        </p:txBody>
      </p:sp>
      <p:sp>
        <p:nvSpPr>
          <p:cNvPr id="17" name="Oval 16"/>
          <p:cNvSpPr/>
          <p:nvPr/>
        </p:nvSpPr>
        <p:spPr>
          <a:xfrm>
            <a:off x="4351383" y="4106265"/>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660826" y="488106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0826" y="478109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478421" y="36313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605459" y="293156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168978" y="22817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168978" y="298155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32497" y="3306470"/>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605459" y="4231233"/>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041940" y="3631387"/>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914902" y="345643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478421" y="308152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351383" y="3831336"/>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78421" y="343143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478421" y="2906572"/>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041940" y="3156508"/>
            <a:ext cx="109728" cy="109728"/>
          </a:xfrm>
          <a:prstGeom prst="ellipse">
            <a:avLst/>
          </a:prstGeom>
          <a:solidFill>
            <a:srgbClr val="E09F3E"/>
          </a:solidFill>
          <a:ln w="1587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048256" y="2930652"/>
            <a:ext cx="4535424" cy="2131466"/>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59075" y="3217773"/>
            <a:ext cx="0" cy="1068019"/>
          </a:xfrm>
          <a:prstGeom prst="line">
            <a:avLst/>
          </a:prstGeom>
          <a:ln w="22860">
            <a:solidFill>
              <a:srgbClr val="C0504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966667" y="3511296"/>
            <a:ext cx="0" cy="320954"/>
          </a:xfrm>
          <a:prstGeom prst="line">
            <a:avLst/>
          </a:prstGeom>
          <a:ln w="22860">
            <a:solidFill>
              <a:srgbClr val="C0504D"/>
            </a:solidFill>
          </a:ln>
        </p:spPr>
        <p:style>
          <a:lnRef idx="2">
            <a:schemeClr val="accent1"/>
          </a:lnRef>
          <a:fillRef idx="0">
            <a:schemeClr val="accent1"/>
          </a:fillRef>
          <a:effectRef idx="1">
            <a:schemeClr val="accent1"/>
          </a:effectRef>
          <a:fontRef idx="minor">
            <a:schemeClr val="tx1"/>
          </a:fontRef>
        </p:style>
      </p:cxnSp>
      <p:grpSp>
        <p:nvGrpSpPr>
          <p:cNvPr id="141" name="Group pair 141"/>
          <p:cNvGrpSpPr/>
          <p:nvPr/>
        </p:nvGrpSpPr>
        <p:grpSpPr>
          <a:xfrm>
            <a:off x="7269480" y="2286000"/>
            <a:ext cx="4434840" cy="2697480"/>
            <a:chOff x="7269480" y="2286000"/>
            <a:chExt cx="4434840" cy="2697480"/>
          </a:xfrm>
        </p:grpSpPr>
        <p:sp>
          <p:nvSpPr>
            <p:cNvPr id="36" name="Rounded Rectangle 35"/>
            <p:cNvSpPr/>
            <p:nvPr/>
          </p:nvSpPr>
          <p:spPr>
            <a:xfrm>
              <a:off x="7269480" y="2286000"/>
              <a:ext cx="4434840" cy="2697480"/>
            </a:xfrm>
            <a:prstGeom prst="roundRect">
              <a:avLst>
                <a:gd name="adj" fmla="val 10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0B2B4E"/>
                  </a:solidFill>
                  <a:latin typeface="Calibri"/>
                </a:rPr>
                <a:t/>
              </a:r>
            </a:p>
          </p:txBody>
        </p:sp>
        <p:sp>
          <p:nvSpPr>
            <p:cNvPr id="37" name="TextBox 36"/>
            <p:cNvSpPr txBox="1"/>
            <p:nvPr/>
          </p:nvSpPr>
          <p:spPr>
            <a:xfrm>
              <a:off x="7498079" y="2395728"/>
              <a:ext cx="4069080" cy="2468880"/>
            </a:xfrm>
            <a:prstGeom prst="rect">
              <a:avLst/>
            </a:prstGeom>
            <a:noFill/>
          </p:spPr>
          <p:txBody>
            <a:bodyPr wrap="square" lIns="0" rIns="0" tIns="0" bIns="0">
              <a:spAutoFit/>
            </a:bodyPr>
            <a:lstStyle>
              <a:lvl1pPr marL="342900" indent="-342900">
                <a:spcBef>
                  <a:spcPts val="100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0B2B4E"/>
                  </a:solidFill>
                  <a:latin typeface="Calibri"/>
                </a:rPr>
                <a:t>Least Squares Algorithm</a:t>
              </a:r>
            </a:p>
            <a:p>
              <a:pPr algn="l">
                <a:spcBef>
                  <a:spcPts val="1000"/>
                </a:spcBef>
                <a:buNone/>
              </a:pPr>
              <a:r>
                <a:rPr sz="1900">
                  <a:solidFill>
                    <a:srgbClr val="0B2B4E"/>
                  </a:solidFill>
                  <a:latin typeface="Calibri"/>
                </a:rPr>
                <a:t>1.  Calculate all vertical distances</a:t>
              </a:r>
            </a:p>
            <a:p>
              <a:pPr algn="l">
                <a:spcBef>
                  <a:spcPts val="1000"/>
                </a:spcBef>
                <a:buNone/>
              </a:pPr>
              <a:r>
                <a:rPr sz="1900">
                  <a:solidFill>
                    <a:srgbClr val="0B2B4E"/>
                  </a:solidFill>
                  <a:latin typeface="Calibri"/>
                </a:rPr>
                <a:t>2.  Square them</a:t>
              </a:r>
            </a:p>
            <a:p>
              <a:pPr algn="l">
                <a:spcBef>
                  <a:spcPts val="1000"/>
                </a:spcBef>
                <a:buNone/>
              </a:pPr>
              <a:r>
                <a:rPr sz="1900">
                  <a:solidFill>
                    <a:srgbClr val="0B2B4E"/>
                  </a:solidFill>
                  <a:latin typeface="Calibri"/>
                </a:rPr>
                <a:t>3.  Sum them over all data points</a:t>
              </a:r>
            </a:p>
            <a:p>
              <a:pPr algn="l">
                <a:spcBef>
                  <a:spcPts val="1000"/>
                </a:spcBef>
                <a:buNone/>
              </a:pPr>
              <a:r>
                <a:rPr sz="1900">
                  <a:solidFill>
                    <a:srgbClr val="0B2B4E"/>
                  </a:solidFill>
                  <a:latin typeface="Calibri"/>
                </a:rPr>
                <a:t>4.  Choose the line that minimizes the sum of squares</a:t>
              </a:r>
            </a:p>
          </p:txBody>
        </p:sp>
      </p:gr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41" name="TextBox 40"/>
          <p:cNvSpPr txBox="1"/>
          <p:nvPr/>
        </p:nvSpPr>
        <p:spPr>
          <a:xfrm>
            <a:off x="11475720" y="6583680"/>
            <a:ext cx="502920" cy="292608"/>
          </a:xfrm>
          <a:prstGeom prst="rect">
            <a:avLst/>
          </a:prstGeom>
          <a:noFill/>
        </p:spPr>
        <p:txBody>
          <a:bodyPr wrap="none" lIns="0" rIns="0" tIns="0" bIns="0">
            <a:spAutoFit/>
          </a:bodyPr>
          <a:lstStyle/>
          <a:p>
            <a:pPr algn="r"/>
            <a:fld id="{EDF708DD-CB73-56E8-9FB3-32D439A6BCE9}" type="slidenum">
              <a:rPr lang="en-US" sz="1200" dirty="0">
                <a:solidFill>
                  <a:srgbClr val="555B66"/>
                </a:solidFill>
                <a:latin typeface="Calibri"/>
              </a:rPr>
              <a:t>38</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Regression Results for the Airline Data</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6" name="Group pair 116"/>
          <p:cNvGrpSpPr/>
          <p:nvPr/>
        </p:nvGrpSpPr>
        <p:grpSpPr>
          <a:xfrm>
            <a:off x="3127248" y="1325880"/>
            <a:ext cx="5943600" cy="2523744"/>
            <a:chOff x="3127248" y="1325880"/>
            <a:chExt cx="5943600" cy="2523744"/>
          </a:xfrm>
        </p:grpSpPr>
        <p:sp>
          <p:nvSpPr>
            <p:cNvPr id="7" name="Rectangle 6"/>
            <p:cNvSpPr/>
            <p:nvPr/>
          </p:nvSpPr>
          <p:spPr>
            <a:xfrm>
              <a:off x="3127248" y="1325880"/>
              <a:ext cx="5943600" cy="2523744"/>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3264408" y="1463040"/>
            <a:ext cx="5669280" cy="2249424"/>
          </p:xfrm>
          <a:graphic>
            <a:graphicData uri="http://schemas.openxmlformats.org/drawingml/2006/table">
              <a:tbl>
                <a:tblPr firstRow="0" bandRow="0"/>
                <a:tblGrid>
                  <a:gridCol w="2834640"/>
                  <a:gridCol w="2834640"/>
                </a:tblGrid>
                <a:tr h="749808">
                  <a:tc>
                    <a:txBody>
                      <a:bodyPr wrap="square"/>
                      <a:lstStyle/>
                      <a:p>
                        <a:pPr algn="ctr"/>
                        <a:r>
                          <a:rPr sz="2400" b="1">
                            <a:solidFill>
                              <a:srgbClr val="FFFFFF"/>
                            </a:solidFill>
                            <a:latin typeface="Calibri"/>
                          </a:rPr>
                          <a:t>Coefficient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400" b="1">
                            <a:solidFill>
                              <a:srgbClr val="FFFFFF"/>
                            </a:solidFill>
                            <a:latin typeface="Calibri"/>
                          </a:rPr>
                          <a:t>Value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749808">
                  <a:tc>
                    <a:txBody>
                      <a:bodyPr wrap="square"/>
                      <a:lstStyle/>
                      <a:p>
                        <a:pPr algn="l"/>
                        <a:r>
                          <a:rPr sz="2600" b="1">
                            <a:solidFill>
                              <a:srgbClr val="0B2B4E"/>
                            </a:solidFill>
                            <a:latin typeface="Calibri"/>
                          </a:rPr>
                          <a:t>Constant (intercept)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600" b="0">
                            <a:solidFill>
                              <a:srgbClr val="0B2B4E"/>
                            </a:solidFill>
                            <a:latin typeface="Calibri"/>
                          </a:rPr>
                          <a:t>478.95</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749808">
                  <a:tc>
                    <a:txBody>
                      <a:bodyPr wrap="square"/>
                      <a:lstStyle/>
                      <a:p>
                        <a:pPr algn="l"/>
                        <a:r>
                          <a:rPr sz="2600" b="1">
                            <a:solidFill>
                              <a:srgbClr val="0B2B4E"/>
                            </a:solidFill>
                            <a:latin typeface="Calibri"/>
                          </a:rPr>
                          <a:t>Own price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600" b="0">
                            <a:solidFill>
                              <a:srgbClr val="0B2B4E"/>
                            </a:solidFill>
                            <a:latin typeface="Calibri"/>
                          </a:rPr>
                          <a:t>−1.64</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bl>
            </a:graphicData>
          </a:graphic>
        </p:graphicFrame>
      </p:grpSp>
      <p:grpSp>
        <p:nvGrpSpPr>
          <p:cNvPr id="115" name="Group pair 115"/>
          <p:cNvGrpSpPr/>
          <p:nvPr/>
        </p:nvGrpSpPr>
        <p:grpSpPr>
          <a:xfrm>
            <a:off x="3520440" y="4114800"/>
            <a:ext cx="5166360" cy="960120"/>
            <a:chOff x="3520440" y="4114800"/>
            <a:chExt cx="5166360" cy="960120"/>
          </a:xfrm>
        </p:grpSpPr>
        <p:sp>
          <p:nvSpPr>
            <p:cNvPr id="9" name="Rounded Rectangle 8"/>
            <p:cNvSpPr/>
            <p:nvPr/>
          </p:nvSpPr>
          <p:spPr>
            <a:xfrm>
              <a:off x="3520440" y="4114800"/>
              <a:ext cx="5166360" cy="96012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4224528"/>
              <a:ext cx="4800600" cy="740664"/>
            </a:xfrm>
            <a:prstGeom prst="rect">
              <a:avLst/>
            </a:prstGeom>
            <a:noFill/>
          </p:spPr>
          <p:txBody>
            <a:bodyPr wrap="square" lIns="45720" rIns="45720" tIns="0" bIns="0" anchor="ctr">
              <a:spAutoFit/>
            </a:bodyPr>
            <a:lstStyle/>
            <a:p>
              <a:pPr algn="ctr"/>
              <a:r>
                <a:rPr sz="3000" b="0" i="1" u="none">
                  <a:solidFill>
                    <a:srgbClr val="0B2B4E"/>
                  </a:solidFill>
                  <a:latin typeface="Calibri"/>
                </a:rPr>
                <a:t>Q = 478.95 − 1.64 P</a:t>
              </a:r>
            </a:p>
          </p:txBody>
        </p:sp>
      </p:grpSp>
      <p:sp>
        <p:nvSpPr>
          <p:cNvPr id="11" name="TextBox 10"/>
          <p:cNvSpPr txBox="1"/>
          <p:nvPr/>
        </p:nvSpPr>
        <p:spPr>
          <a:xfrm>
            <a:off x="914400" y="5577840"/>
            <a:ext cx="10360152" cy="457200"/>
          </a:xfrm>
          <a:prstGeom prst="rect">
            <a:avLst/>
          </a:prstGeom>
          <a:noFill/>
        </p:spPr>
        <p:txBody>
          <a:bodyPr wrap="square" lIns="0" rIns="0" tIns="0" bIns="0">
            <a:spAutoFit/>
          </a:bodyPr>
          <a:lstStyle/>
          <a:p>
            <a:pPr algn="ctr"/>
            <a:r>
              <a:rPr sz="2100" b="1" i="1" u="none">
                <a:solidFill>
                  <a:srgbClr val="0B2B4E"/>
                </a:solidFill>
                <a:latin typeface="Calibri"/>
              </a:rPr>
              <a:t>Now that we have an estimated demand curve, we can compute MR!</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309A7237-68A3-58BF-89D4-A14B9AA726D3}" type="slidenum">
              <a:rPr lang="en-US" sz="1200" dirty="0">
                <a:solidFill>
                  <a:srgbClr val="555B66"/>
                </a:solidFill>
                <a:latin typeface="Calibri"/>
              </a:rPr>
              <a:t>39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Application Using the Airline Demand Function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706" name="Group pair 9706"/>
          <p:cNvGrpSpPr/>
          <p:nvPr/>
        </p:nvGrpSpPr>
        <p:grpSpPr>
          <a:xfrm>
            <a:off x="3108960" y="1636776"/>
            <a:ext cx="5943600" cy="1051560"/>
            <a:chOff x="3108960" y="1636776"/>
            <a:chExt cx="5943600" cy="1051560"/>
          </a:xfrm>
        </p:grpSpPr>
        <p:sp>
          <p:nvSpPr>
            <p:cNvPr id="7" name="Rounded Rectangle 6"/>
            <p:cNvSpPr/>
            <p:nvPr/>
          </p:nvSpPr>
          <p:spPr>
            <a:xfrm>
              <a:off x="3108960" y="1636776"/>
              <a:ext cx="5943600" cy="105156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840" y="1746504"/>
              <a:ext cx="5577840" cy="832104"/>
            </a:xfrm>
            <a:prstGeom prst="rect">
              <a:avLst/>
            </a:prstGeom>
            <a:noFill/>
          </p:spPr>
          <p:txBody>
            <a:bodyPr wrap="square" lIns="45720" rIns="45720" tIns="0" bIns="0" anchor="ctr">
              <a:spAutoFit/>
            </a:bodyPr>
            <a:lstStyle/>
            <a:p>
              <a:pPr algn="ctr"/>
              <a:r>
                <a:rPr sz="2800" b="0" i="1" u="none">
                  <a:solidFill>
                    <a:srgbClr val="0B2B4E"/>
                  </a:solidFill>
                  <a:latin typeface="Calibri"/>
                </a:rPr>
                <a:t>Q = 478.95 − 1.64 P</a:t>
              </a:r>
            </a:p>
          </p:txBody>
        </p:sp>
      </p:grpSp>
      <p:sp>
        <p:nvSpPr>
          <p:cNvPr id="9" name="TextBox 8"/>
          <p:cNvSpPr txBox="1"/>
          <p:nvPr/>
        </p:nvSpPr>
        <p:spPr>
          <a:xfrm>
            <a:off x="914400" y="3099816"/>
            <a:ext cx="10360152" cy="1938528"/>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ctr">
              <a:buNone/>
            </a:pPr>
            <a:r>
              <a:rPr sz="2400" b="1">
                <a:solidFill>
                  <a:srgbClr val="0B2B4E"/>
                </a:solidFill>
                <a:latin typeface="Calibri"/>
              </a:rPr>
              <a:t>Use the estimated airline demand to compute:</a:t>
            </a:r>
          </a:p>
          <a:p>
            <a:pPr algn="ctr">
              <a:spcBef>
                <a:spcPts val="1400"/>
              </a:spcBef>
              <a:buNone/>
            </a:pPr>
            <a:r>
              <a:rPr sz="2400" b="1">
                <a:solidFill>
                  <a:srgbClr val="0B2B4E"/>
                </a:solidFill>
                <a:latin typeface="Calibri"/>
              </a:rPr>
              <a:t>What Is </a:t>
            </a:r>
            <a:r>
              <a:rPr sz="2400" b="1">
                <a:solidFill>
                  <a:srgbClr val="0B2B4E"/>
                </a:solidFill>
                <a:latin typeface="Calibri"/>
              </a:rPr>
              <a:t>E</a:t>
            </a:r>
            <a:r>
              <a:rPr sz="2400" b="1" baseline="-25000">
                <a:solidFill>
                  <a:srgbClr val="0B2B4E"/>
                </a:solidFill>
                <a:latin typeface="Calibri"/>
              </a:rPr>
              <a:t>D</a:t>
            </a:r>
            <a:r>
              <a:rPr sz="2400" b="1">
                <a:solidFill>
                  <a:srgbClr val="0B2B4E"/>
                </a:solidFill>
                <a:latin typeface="Calibri"/>
              </a:rPr>
              <a:t> at P = 140?</a:t>
            </a:r>
          </a:p>
          <a:p>
            <a:pPr algn="ctr">
              <a:spcBef>
                <a:spcPts val="1400"/>
              </a:spcBef>
              <a:buNone/>
            </a:pPr>
            <a:r>
              <a:rPr sz="2400" b="1">
                <a:solidFill>
                  <a:srgbClr val="0B2B4E"/>
                </a:solidFill>
                <a:latin typeface="Calibri"/>
              </a:rPr>
              <a:t>What Is MR at P = 140?</a:t>
            </a:r>
          </a:p>
          <a:p>
            <a:pPr algn="ctr">
              <a:spcBef>
                <a:spcPts val="1400"/>
              </a:spcBef>
              <a:buNone/>
            </a:pPr>
            <a:r>
              <a:rPr sz="2400" b="1">
                <a:solidFill>
                  <a:srgbClr val="0B2B4E"/>
                </a:solidFill>
                <a:latin typeface="Calibri"/>
              </a:rPr>
              <a:t>Can you provide a Pricing Recommendation?</a:t>
            </a:r>
          </a:p>
        </p:txBody>
      </p:sp>
      <p:sp>
        <p:nvSpPr>
          <p:cNvPr id="10" name="Rounded Rectangle 9"/>
          <p:cNvSpPr/>
          <p:nvPr/>
        </p:nvSpPr>
        <p:spPr>
          <a:xfrm>
            <a:off x="914400" y="5961888"/>
            <a:ext cx="2377440" cy="457200"/>
          </a:xfrm>
          <a:prstGeom prst="roundRect">
            <a:avLst>
              <a:gd name="adj" fmla="val 25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0B2B4E"/>
                </a:solidFill>
                <a:latin typeface="Calibri"/>
              </a:rPr>
              <a:t>✎  Problem Set 2</a:t>
            </a:r>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
        <p:nvSpPr>
          <p:cNvPr id="9603" name="Rectangle 960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4" name="Rectangle 960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5" name="TextBox 960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9606" name="TextBox 9605"/>
          <p:cNvSpPr txBox="1"/>
          <p:nvPr/>
        </p:nvSpPr>
        <p:spPr>
          <a:xfrm>
            <a:off x="11475720" y="6583680"/>
            <a:ext cx="502920" cy="292608"/>
          </a:xfrm>
          <a:prstGeom prst="rect">
            <a:avLst/>
          </a:prstGeom>
          <a:noFill/>
        </p:spPr>
        <p:txBody>
          <a:bodyPr wrap="none" lIns="0" rIns="0" tIns="0" bIns="0">
            <a:spAutoFit/>
          </a:bodyPr>
          <a:lstStyle/>
          <a:p>
            <a:pPr algn="r"/>
            <a:fld id="{B551B001-1FD0-5D4A-BFED-2042C378193A}" type="slidenum">
              <a:rPr lang="en-US" sz="1200" dirty="0">
                <a:solidFill>
                  <a:srgbClr val="555B66"/>
                </a:solidFill>
                <a:latin typeface="Calibri"/>
              </a:rPr>
              <a:t>40</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fade">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fade">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What Is </a:t>
            </a:r>
            <a:r>
              <a:rPr sz="3200" b="1" i="0" u="none">
                <a:solidFill>
                  <a:srgbClr val="0B2B4E"/>
                </a:solidFill>
                <a:latin typeface="Calibri"/>
              </a:rPr>
              <a:t>E</a:t>
            </a:r>
            <a:r>
              <a:rPr sz="3200" b="1" i="0" u="none" baseline="-25000">
                <a:solidFill>
                  <a:srgbClr val="0B2B4E"/>
                </a:solidFill>
                <a:latin typeface="Calibri"/>
              </a:rPr>
              <a:t>D</a:t>
            </a:r>
            <a:r>
              <a:rPr sz="3200" b="1" i="0" u="none">
                <a:solidFill>
                  <a:srgbClr val="0B2B4E"/>
                </a:solidFill>
                <a:latin typeface="Calibri"/>
              </a:rPr>
              <a:t> at P = 140?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slide — spliced verbatim by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7A060044-857B-5EDC-8811-7472FED22B15}" type="slidenum">
              <a:rPr lang="en-US" sz="1200" dirty="0">
                <a:solidFill>
                  <a:srgbClr val="555B66"/>
                </a:solidFill>
                <a:latin typeface="Calibri"/>
              </a:rPr>
              <a:t>41</a:t>
            </a:fld>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Results: Elasticity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slide — spliced verbatim by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681580C5-F9E7-5F50-8570-4BB2D342F0A0}" type="slidenum">
              <a:rPr lang="en-US" sz="1200" dirty="0">
                <a:solidFill>
                  <a:srgbClr val="555B66"/>
                </a:solidFill>
                <a:latin typeface="Calibri"/>
              </a:rPr>
              <a:t>42</a:t>
            </a:fld>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a:t>
            </a:r>
            <a:r>
              <a:rPr sz="3200" b="1" i="0" u="none">
                <a:solidFill>
                  <a:srgbClr val="0B2B4E"/>
                </a:solidFill>
                <a:latin typeface="Calibri"/>
              </a:rPr>
              <a:t>E</a:t>
            </a:r>
            <a:r>
              <a:rPr sz="3200" b="1" i="0" u="none" baseline="-25000">
                <a:solidFill>
                  <a:srgbClr val="0B2B4E"/>
                </a:solidFill>
                <a:latin typeface="Calibri"/>
              </a:rPr>
              <a:t>D</a:t>
            </a:r>
            <a:r>
              <a:rPr sz="3200" b="1" i="0" u="none">
                <a:solidFill>
                  <a:srgbClr val="0B2B4E"/>
                </a:solidFill>
                <a:latin typeface="Calibri"/>
              </a:rPr>
              <a:t> at P=140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10789920" cy="507492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b="1" i="1">
                <a:latin typeface="Calibri"/>
              </a:rPr>
              <a:t>Q = 478.95 − 1.64 P</a:t>
            </a:r>
          </a:p>
          <a:p>
            <a:pPr algn="l"/>
            <a:r>
              <a:rPr>
                <a:latin typeface="Calibri"/>
              </a:rPr>
              <a:t>Recall  </a:t>
            </a:r>
            <a:r>
              <a:rPr i="1">
                <a:latin typeface="Calibri"/>
              </a:rPr>
              <a:t>E</a:t>
            </a:r>
            <a:r>
              <a:rPr i="1" baseline="-25000">
                <a:latin typeface="Calibri"/>
              </a:rPr>
              <a:t>D</a:t>
            </a:r>
            <a:r>
              <a:rPr i="1">
                <a:latin typeface="Calibri"/>
              </a:rPr>
              <a:t> = (ΔQ/ΔP) · (P/Q)</a:t>
            </a:r>
          </a:p>
          <a:p>
            <a:pPr algn="l"/>
            <a:r>
              <a:rPr i="1">
                <a:latin typeface="Calibri"/>
              </a:rPr>
              <a:t>ΔQ/ΔP</a:t>
            </a:r>
            <a:r>
              <a:rPr>
                <a:latin typeface="Calibri"/>
              </a:rPr>
              <a:t> is the slope of demand  ⇒  ΔQ/ΔP = </a:t>
            </a:r>
            <a:r>
              <a:rPr b="1">
                <a:latin typeface="Calibri"/>
              </a:rPr>
              <a:t>−1.64</a:t>
            </a:r>
          </a:p>
          <a:p>
            <a:pPr algn="l"/>
            <a:r>
              <a:rPr>
                <a:latin typeface="Calibri"/>
              </a:rPr>
              <a:t>Plug </a:t>
            </a:r>
            <a:r>
              <a:rPr i="1">
                <a:latin typeface="Calibri"/>
              </a:rPr>
              <a:t>P</a:t>
            </a:r>
            <a:r>
              <a:rPr>
                <a:latin typeface="Calibri"/>
              </a:rPr>
              <a:t> in to get </a:t>
            </a:r>
            <a:r>
              <a:rPr i="1">
                <a:latin typeface="Calibri"/>
              </a:rPr>
              <a:t>Q</a:t>
            </a:r>
            <a:r>
              <a:rPr>
                <a:latin typeface="Calibri"/>
              </a:rPr>
              <a:t>:  </a:t>
            </a:r>
            <a:r>
              <a:rPr b="1" i="1">
                <a:latin typeface="Calibri"/>
              </a:rPr>
              <a:t>Q = 478.95 − 1.64 · 140 = 249.35</a:t>
            </a:r>
          </a:p>
          <a:p>
            <a:pPr algn="l"/>
            <a:r>
              <a:rPr i="1">
                <a:latin typeface="Calibri"/>
              </a:rPr>
              <a:t>E</a:t>
            </a:r>
            <a:r>
              <a:rPr i="1" baseline="-25000">
                <a:latin typeface="Calibri"/>
              </a:rPr>
              <a:t>D</a:t>
            </a:r>
            <a:r>
              <a:rPr i="1">
                <a:latin typeface="Calibri"/>
              </a:rPr>
              <a:t> = </a:t>
            </a:r>
            <a:r>
              <a:rPr>
                <a:latin typeface="Calibri"/>
              </a:rPr>
              <a:t>−1.64 · (140 / 249.35) = </a:t>
            </a:r>
            <a:r>
              <a:rPr b="1">
                <a:latin typeface="Calibri"/>
              </a:rPr>
              <a:t>−0.92</a:t>
            </a:r>
          </a:p>
          <a:p>
            <a:pPr algn="l"/>
            <a:r>
              <a:rPr>
                <a:latin typeface="Calibri"/>
              </a:rPr>
              <a:t>Demand is </a:t>
            </a:r>
            <a:r>
              <a:rPr b="1">
                <a:solidFill>
                  <a:srgbClr val="0070C0"/>
                </a:solidFill>
                <a:latin typeface="Calibri"/>
              </a:rPr>
              <a:t>inelastic</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F95CEC7-5C0E-5D92-A2F7-8EF5BB18D691}" type="slidenum">
              <a:rPr lang="en-US" sz="1200" dirty="0">
                <a:solidFill>
                  <a:srgbClr val="555B66"/>
                </a:solidFill>
                <a:latin typeface="Calibri"/>
              </a:rPr>
              <a:t>43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fade">
                                      <p:cBhvr>
                                        <p:cTn id="2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What Is MR at P = 140?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slide — spliced verbatim by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33EC7E8C-E57E-5CE5-B987-A0EDCAE55A2F}" type="slidenum">
              <a:rPr lang="en-US" sz="1200" dirty="0">
                <a:solidFill>
                  <a:srgbClr val="555B66"/>
                </a:solidFill>
                <a:latin typeface="Calibri"/>
              </a:rPr>
              <a:t>44</a:t>
            </a:fld>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Results: Marginal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slide — spliced verbatim by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598FEED1-0EF8-5FBE-A609-6A5C9704C17A}" type="slidenum">
              <a:rPr lang="en-US" sz="1200" dirty="0">
                <a:solidFill>
                  <a:srgbClr val="555B66"/>
                </a:solidFill>
                <a:latin typeface="Calibri"/>
              </a:rPr>
              <a:t>45</a:t>
            </a:fld>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MR at P=140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10789920" cy="5074920"/>
          </a:xfrm>
          <a:prstGeom prst="rect">
            <a:avLst/>
          </a:prstGeom>
          <a:noFill/>
        </p:spPr>
        <p:txBody>
          <a:bodyPr wrap="square" lIns="0" rIns="0" tIns="0" bIns="0">
            <a:spAutoFit/>
          </a:bodyPr>
          <a:lstStyle>
            <a:lvl1pPr marL="342900" indent="-342900">
              <a:spcBef>
                <a:spcPts val="14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600" b="0">
                <a:solidFill>
                  <a:srgbClr val="555B66"/>
                </a:solidFill>
                <a:latin typeface="Calibri"/>
              </a:defRPr>
            </a:lvl2pPr>
          </a:lstStyle>
          <a:p>
            <a:pPr algn="l"/>
            <a:r>
              <a:rPr b="1">
                <a:latin typeface="Calibri"/>
              </a:rPr>
              <a:t>3-step method</a:t>
            </a:r>
          </a:p>
          <a:p>
            <a:pPr algn="l" lvl="1">
              <a:spcBef>
                <a:spcPts val="300"/>
              </a:spcBef>
              <a:buNone/>
            </a:pPr>
            <a:r>
              <a:rPr sz="2600" b="1">
                <a:solidFill>
                  <a:srgbClr val="555B66"/>
                </a:solidFill>
                <a:latin typeface="Calibri"/>
              </a:rPr>
              <a:t>1.  Inverse demand:   </a:t>
            </a:r>
            <a:r>
              <a:rPr sz="2600" i="1">
                <a:solidFill>
                  <a:srgbClr val="555B66"/>
                </a:solidFill>
                <a:latin typeface="Calibri"/>
              </a:rPr>
              <a:t>P = 292 − (1/1.64) Q</a:t>
            </a:r>
          </a:p>
          <a:p>
            <a:pPr algn="l" lvl="1">
              <a:spcBef>
                <a:spcPts val="300"/>
              </a:spcBef>
              <a:buNone/>
            </a:pPr>
            <a:r>
              <a:rPr sz="2600" b="1">
                <a:solidFill>
                  <a:srgbClr val="555B66"/>
                </a:solidFill>
                <a:latin typeface="Calibri"/>
              </a:rPr>
              <a:t>2.  Total revenue:   </a:t>
            </a:r>
            <a:r>
              <a:rPr sz="2600" i="1">
                <a:solidFill>
                  <a:srgbClr val="555B66"/>
                </a:solidFill>
                <a:latin typeface="Calibri"/>
              </a:rPr>
              <a:t>TR = 292 Q − (1/1.64) Q²</a:t>
            </a:r>
          </a:p>
          <a:p>
            <a:pPr algn="l" lvl="1">
              <a:spcBef>
                <a:spcPts val="300"/>
              </a:spcBef>
              <a:buNone/>
            </a:pPr>
            <a:r>
              <a:rPr sz="2600" b="1">
                <a:solidFill>
                  <a:srgbClr val="555B66"/>
                </a:solidFill>
                <a:latin typeface="Calibri"/>
              </a:rPr>
              <a:t>3.  Derivative:   </a:t>
            </a:r>
            <a:r>
              <a:rPr sz="2600" i="1">
                <a:solidFill>
                  <a:srgbClr val="555B66"/>
                </a:solidFill>
                <a:latin typeface="Calibri"/>
              </a:rPr>
              <a:t>MR = 292 − 1.22 Q</a:t>
            </a:r>
          </a:p>
          <a:p>
            <a:pPr algn="l"/>
            <a:r>
              <a:rPr b="1">
                <a:latin typeface="Calibri"/>
              </a:rPr>
              <a:t>MR at P = 140?</a:t>
            </a:r>
          </a:p>
          <a:p>
            <a:pPr algn="l" lvl="1">
              <a:spcBef>
                <a:spcPts val="300"/>
              </a:spcBef>
              <a:buNone/>
            </a:pPr>
            <a:r>
              <a:rPr sz="2600">
                <a:solidFill>
                  <a:srgbClr val="555B66"/>
                </a:solidFill>
                <a:latin typeface="Calibri"/>
              </a:rPr>
              <a:t>P = 140  →  Q = 249.35  →  </a:t>
            </a:r>
            <a:r>
              <a:rPr sz="2600" b="1" i="1">
                <a:solidFill>
                  <a:srgbClr val="555B66"/>
                </a:solidFill>
                <a:latin typeface="Calibri"/>
              </a:rPr>
              <a:t>MR = −12</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9411D196-C623-5435-9D16-19E066E9CB01}" type="slidenum">
              <a:rPr lang="en-US" sz="1200" dirty="0">
                <a:solidFill>
                  <a:srgbClr val="555B66"/>
                </a:solidFill>
                <a:latin typeface="Calibri"/>
              </a:rPr>
              <a:t>46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Effect transition="in" filter="fade">
                                      <p:cBhvr>
                                        <p:cTn id="25"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Pricing Recommendation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slide — spliced verbatim by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22BC27D3-51A2-5F90-879D-724E6E524C78}" type="slidenum">
              <a:rPr lang="en-US" sz="1200" dirty="0">
                <a:solidFill>
                  <a:srgbClr val="555B66"/>
                </a:solidFill>
                <a:latin typeface="Calibri"/>
              </a:rPr>
              <a:t>47</a:t>
            </a:fld>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Poll Results: Pricing Recommendation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3108960"/>
            <a:ext cx="11687697" cy="731520"/>
          </a:xfrm>
          <a:prstGeom prst="rect">
            <a:avLst/>
          </a:prstGeom>
          <a:noFill/>
        </p:spPr>
        <p:txBody>
          <a:bodyPr wrap="square" lIns="0" rIns="0" tIns="0" bIns="0">
            <a:spAutoFit/>
          </a:bodyPr>
          <a:lstStyle/>
          <a:p>
            <a:pPr algn="ctr"/>
            <a:r>
              <a:rPr sz="2000" b="0" i="1" u="none">
                <a:solidFill>
                  <a:srgbClr val="555B66"/>
                </a:solidFill>
                <a:latin typeface="Calibri"/>
              </a:rPr>
              <a:t>[ PollEverywhere slide — spliced verbatim by _splice_media.py ]</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D9A67DD4-F7AE-544E-90A8-A1061E835C94}" type="slidenum">
              <a:rPr lang="en-US" sz="1200" dirty="0">
                <a:solidFill>
                  <a:srgbClr val="555B66"/>
                </a:solidFill>
                <a:latin typeface="Calibri"/>
              </a:rPr>
              <a:t>48</a:t>
            </a:fld>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Solution: Raise the Price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5943600" cy="329184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i="1">
                <a:latin typeface="Calibri"/>
              </a:rPr>
              <a:t>MR</a:t>
            </a:r>
            <a:r>
              <a:rPr>
                <a:latin typeface="Calibri"/>
              </a:rPr>
              <a:t> is negative</a:t>
            </a:r>
          </a:p>
          <a:p>
            <a:pPr algn="l"/>
            <a:r>
              <a:rPr>
                <a:latin typeface="Calibri"/>
              </a:rPr>
              <a:t>So you want to sell </a:t>
            </a:r>
            <a:r>
              <a:rPr b="1">
                <a:latin typeface="Calibri"/>
              </a:rPr>
              <a:t>less</a:t>
            </a:r>
          </a:p>
          <a:p>
            <a:pPr algn="l"/>
            <a:r>
              <a:rPr>
                <a:latin typeface="Calibri"/>
              </a:rPr>
              <a:t>By </a:t>
            </a:r>
            <a:r>
              <a:rPr b="1">
                <a:latin typeface="Calibri"/>
              </a:rPr>
              <a:t>increasing the price</a:t>
            </a:r>
          </a:p>
        </p:txBody>
      </p:sp>
      <p:cxnSp>
        <p:nvCxnSpPr>
          <p:cNvPr id="8" name="Connector 7"/>
          <p:cNvCxnSpPr/>
          <p:nvPr/>
        </p:nvCxnSpPr>
        <p:spPr>
          <a:xfrm flipV="1">
            <a:off x="6949440" y="1664208"/>
            <a:ext cx="0" cy="4096512"/>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49440" y="5760720"/>
            <a:ext cx="4754880" cy="0"/>
          </a:xfrm>
          <a:prstGeom prst="line">
            <a:avLst/>
          </a:prstGeom>
          <a:ln w="3175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647688" y="1298448"/>
            <a:ext cx="603504" cy="310896"/>
          </a:xfrm>
          <a:prstGeom prst="rect">
            <a:avLst/>
          </a:prstGeom>
          <a:noFill/>
        </p:spPr>
        <p:txBody>
          <a:bodyPr wrap="square" lIns="0" rIns="0" tIns="0" bIns="0">
            <a:spAutoFit/>
          </a:bodyPr>
          <a:lstStyle/>
          <a:p>
            <a:pPr algn="l"/>
            <a:r>
              <a:rPr sz="1800" b="1" i="1" u="none">
                <a:solidFill>
                  <a:srgbClr val="0B2B4E"/>
                </a:solidFill>
                <a:latin typeface="Calibri"/>
              </a:rPr>
              <a:t>P</a:t>
            </a:r>
          </a:p>
        </p:txBody>
      </p:sp>
      <p:sp>
        <p:nvSpPr>
          <p:cNvPr id="11" name="TextBox 10"/>
          <p:cNvSpPr txBox="1"/>
          <p:nvPr/>
        </p:nvSpPr>
        <p:spPr>
          <a:xfrm>
            <a:off x="11402568" y="5852160"/>
            <a:ext cx="603504" cy="292608"/>
          </a:xfrm>
          <a:prstGeom prst="rect">
            <a:avLst/>
          </a:prstGeom>
          <a:noFill/>
        </p:spPr>
        <p:txBody>
          <a:bodyPr wrap="square" lIns="0" rIns="0" tIns="0" bIns="0">
            <a:spAutoFit/>
          </a:bodyPr>
          <a:lstStyle/>
          <a:p>
            <a:pPr algn="l"/>
            <a:r>
              <a:rPr sz="1800" b="1" i="1" u="none">
                <a:solidFill>
                  <a:srgbClr val="0B2B4E"/>
                </a:solidFill>
                <a:latin typeface="Calibri"/>
              </a:rPr>
              <a:t>Q</a:t>
            </a:r>
          </a:p>
        </p:txBody>
      </p:sp>
      <p:cxnSp>
        <p:nvCxnSpPr>
          <p:cNvPr id="12" name="Connector 11"/>
          <p:cNvCxnSpPr/>
          <p:nvPr/>
        </p:nvCxnSpPr>
        <p:spPr>
          <a:xfrm>
            <a:off x="6949440" y="2281428"/>
            <a:ext cx="4127601" cy="3479292"/>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949440" y="2281428"/>
            <a:ext cx="2326233" cy="3924604"/>
          </a:xfrm>
          <a:prstGeom prst="line">
            <a:avLst/>
          </a:prstGeom>
          <a:ln w="38100">
            <a:solidFill>
              <a:srgbClr val="E09F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008668" y="4021531"/>
            <a:ext cx="0" cy="1739189"/>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42224" y="4306824"/>
            <a:ext cx="1188720" cy="310896"/>
          </a:xfrm>
          <a:prstGeom prst="rect">
            <a:avLst/>
          </a:prstGeom>
          <a:noFill/>
        </p:spPr>
        <p:txBody>
          <a:bodyPr wrap="square" lIns="0" rIns="0" tIns="0" bIns="0">
            <a:spAutoFit/>
          </a:bodyPr>
          <a:lstStyle/>
          <a:p>
            <a:pPr algn="l"/>
            <a:r>
              <a:rPr sz="2200" b="1" i="0" u="none">
                <a:solidFill>
                  <a:srgbClr val="E09F3E"/>
                </a:solidFill>
                <a:latin typeface="Calibri"/>
              </a:rPr>
              <a:t>MR</a:t>
            </a:r>
          </a:p>
        </p:txBody>
      </p:sp>
      <p:sp>
        <p:nvSpPr>
          <p:cNvPr id="16" name="TextBox 15"/>
          <p:cNvSpPr txBox="1"/>
          <p:nvPr/>
        </p:nvSpPr>
        <p:spPr>
          <a:xfrm>
            <a:off x="11048695" y="5339181"/>
            <a:ext cx="914400" cy="310896"/>
          </a:xfrm>
          <a:prstGeom prst="rect">
            <a:avLst/>
          </a:prstGeom>
          <a:noFill/>
        </p:spPr>
        <p:txBody>
          <a:bodyPr wrap="square" lIns="0" rIns="0" tIns="0" bIns="0">
            <a:spAutoFit/>
          </a:bodyPr>
          <a:lstStyle/>
          <a:p>
            <a:pPr algn="l"/>
            <a:r>
              <a:rPr sz="2200" b="1" i="0" u="none">
                <a:solidFill>
                  <a:srgbClr val="0B2B4E"/>
                </a:solidFill>
                <a:latin typeface="Calibri"/>
              </a:rPr>
              <a:t>D</a:t>
            </a:r>
          </a:p>
        </p:txBody>
      </p:sp>
      <p:sp>
        <p:nvSpPr>
          <p:cNvPr id="17" name="TextBox 16"/>
          <p:cNvSpPr txBox="1"/>
          <p:nvPr/>
        </p:nvSpPr>
        <p:spPr>
          <a:xfrm>
            <a:off x="8991295" y="3674059"/>
            <a:ext cx="2103120" cy="310896"/>
          </a:xfrm>
          <a:prstGeom prst="rect">
            <a:avLst/>
          </a:prstGeom>
          <a:noFill/>
        </p:spPr>
        <p:txBody>
          <a:bodyPr wrap="square" lIns="0" rIns="0" tIns="0" bIns="0">
            <a:spAutoFit/>
          </a:bodyPr>
          <a:lstStyle/>
          <a:p>
            <a:pPr algn="l"/>
            <a:r>
              <a:rPr sz="1800" b="1" i="0" u="none">
                <a:solidFill>
                  <a:srgbClr val="0B2B4E"/>
                </a:solidFill>
                <a:latin typeface="Calibri"/>
              </a:rPr>
              <a:t>E</a:t>
            </a:r>
            <a:r>
              <a:rPr sz="1800" b="1" i="0" u="none" baseline="-25000">
                <a:solidFill>
                  <a:srgbClr val="0B2B4E"/>
                </a:solidFill>
                <a:latin typeface="Calibri"/>
              </a:rPr>
              <a:t>D</a:t>
            </a:r>
            <a:r>
              <a:rPr sz="1800" b="1" i="0" u="none">
                <a:solidFill>
                  <a:srgbClr val="0B2B4E"/>
                </a:solidFill>
                <a:latin typeface="Calibri"/>
              </a:rPr>
              <a:t> = −1</a:t>
            </a:r>
          </a:p>
        </p:txBody>
      </p:sp>
      <p:sp>
        <p:nvSpPr>
          <p:cNvPr id="18" name="TextBox 17"/>
          <p:cNvSpPr txBox="1"/>
          <p:nvPr/>
        </p:nvSpPr>
        <p:spPr>
          <a:xfrm>
            <a:off x="7851952" y="2532888"/>
            <a:ext cx="1737360" cy="310896"/>
          </a:xfrm>
          <a:prstGeom prst="rect">
            <a:avLst/>
          </a:prstGeom>
          <a:noFill/>
        </p:spPr>
        <p:txBody>
          <a:bodyPr wrap="square" lIns="0" rIns="0" tIns="0" bIns="0">
            <a:spAutoFit/>
          </a:bodyPr>
          <a:lstStyle/>
          <a:p>
            <a:pPr algn="l"/>
            <a:r>
              <a:rPr sz="1800" b="1" i="0" u="none">
                <a:solidFill>
                  <a:srgbClr val="0070C0"/>
                </a:solidFill>
                <a:latin typeface="Calibri"/>
              </a:rPr>
              <a:t>Elastic</a:t>
            </a:r>
          </a:p>
        </p:txBody>
      </p:sp>
      <p:sp>
        <p:nvSpPr>
          <p:cNvPr id="19" name="TextBox 18"/>
          <p:cNvSpPr txBox="1"/>
          <p:nvPr/>
        </p:nvSpPr>
        <p:spPr>
          <a:xfrm>
            <a:off x="10068458" y="4440326"/>
            <a:ext cx="1920240" cy="310896"/>
          </a:xfrm>
          <a:prstGeom prst="rect">
            <a:avLst/>
          </a:prstGeom>
          <a:noFill/>
        </p:spPr>
        <p:txBody>
          <a:bodyPr wrap="square" lIns="0" rIns="0" tIns="0" bIns="0">
            <a:spAutoFit/>
          </a:bodyPr>
          <a:lstStyle/>
          <a:p>
            <a:pPr algn="l"/>
            <a:r>
              <a:rPr sz="1800" b="1" i="0" u="none">
                <a:solidFill>
                  <a:srgbClr val="0070C0"/>
                </a:solidFill>
                <a:latin typeface="Calibri"/>
              </a:rPr>
              <a:t>Inelastic</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3" name="TextBox 22"/>
          <p:cNvSpPr txBox="1"/>
          <p:nvPr/>
        </p:nvSpPr>
        <p:spPr>
          <a:xfrm>
            <a:off x="11475720" y="6583680"/>
            <a:ext cx="502920" cy="292608"/>
          </a:xfrm>
          <a:prstGeom prst="rect">
            <a:avLst/>
          </a:prstGeom>
          <a:noFill/>
        </p:spPr>
        <p:txBody>
          <a:bodyPr wrap="none" lIns="0" rIns="0" tIns="0" bIns="0">
            <a:spAutoFit/>
          </a:bodyPr>
          <a:lstStyle/>
          <a:p>
            <a:pPr algn="r"/>
            <a:fld id="{2DB18AEB-6F3A-5D2F-99F2-AAFEDB67B91B}" type="slidenum">
              <a:rPr lang="en-US" sz="1200" dirty="0">
                <a:solidFill>
                  <a:srgbClr val="555B66"/>
                </a:solidFill>
                <a:latin typeface="Calibri"/>
              </a:rPr>
              <a:t>49</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2" end="2"/>
                                            </p:txEl>
                                          </p:spTgt>
                                        </p:tgtEl>
                                        <p:attrNameLst>
                                          <p:attrName>style.visibility</p:attrName>
                                        </p:attrNameLst>
                                      </p:cBhvr>
                                      <p:to>
                                        <p:strVal val="visible"/>
                                      </p:to>
                                    </p:set>
                                    <p:animEffect transition="in" filter="fade">
                                      <p:cBhvr>
                                        <p:cTn id="45"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Note: We Can Also Run Multivariate Regressions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280160"/>
            <a:ext cx="11640312" cy="457200"/>
          </a:xfrm>
          <a:prstGeom prst="rect">
            <a:avLst/>
          </a:prstGeom>
          <a:noFill/>
        </p:spPr>
        <p:txBody>
          <a:bodyPr wrap="square" lIns="0" rIns="0" tIns="0" bIns="0">
            <a:spAutoFit/>
          </a:bodyPr>
          <a:lstStyle/>
          <a:p>
            <a:pPr algn="ctr"/>
            <a:r>
              <a:rPr sz="2300" b="1" i="1" u="none">
                <a:solidFill>
                  <a:srgbClr val="0B2B4E"/>
                </a:solidFill>
                <a:latin typeface="Calibri"/>
              </a:rPr>
              <a:t>Incorporating other determinants of demand</a:t>
            </a:r>
          </a:p>
        </p:txBody>
      </p:sp>
      <p:sp>
        <p:nvSpPr>
          <p:cNvPr id="8" name="TextBox 7"/>
          <p:cNvSpPr txBox="1"/>
          <p:nvPr/>
        </p:nvSpPr>
        <p:spPr>
          <a:xfrm>
            <a:off x="2898648" y="1874519"/>
            <a:ext cx="6400800" cy="960120"/>
          </a:xfrm>
          <a:prstGeom prst="roundRect">
            <a:avLst>
              <a:gd name="adj" fmla="val 25000"/>
            </a:avLst>
          </a:prstGeom>
          <a:solidFill>
            <a:srgbClr val="0B2B4E"/>
          </a:solidFill>
          <a:effectLst>
            <a:outerShdw blurRad="50800" dist="38100" dir="2700000" algn="tl" rotWithShape="0">
              <a:srgbClr val="000000">
                <a:alpha val="45000"/>
              </a:srgbClr>
            </a:outerShdw>
          </a:effectLst>
        </p:spPr>
        <p:txBody>
          <a:bodyPr wrap="square" anchor="ctr">
            <a:spAutoFit/>
          </a:bodyPr>
          <a:lstStyle/>
          <a:p xmlns:m="http://schemas.openxmlformats.org/officeDocument/2006/math" xmlns:a14="http://schemas.microsoft.com/office/drawing/2010/main">
            <a:pPr algn="ctr">
              <a:defRPr sz="3100" b="0" i="1">
                <a:solidFill>
                  <a:srgbClr val="FFFFFF"/>
                </a:solidFill>
                <a:latin typeface="Cambria Math"/>
              </a:defRPr>
            </a:pPr>
            <a14:m>
              <m:oMathPara>
                <m:oMathParaPr>
                  <m:jc m:val="centerGroup"/>
                </m:oMathParaPr>
                <m:oMath>
                  <m:r>
                    <a:rPr lang="en-US" b="0" i="1" sz="3100">
                      <a:solidFill>
                        <a:srgbClr val="FFFFFF"/>
                      </a:solidFill>
                      <a:latin typeface="Cambria Math"/>
                      <a:ea typeface="Cambria Math"/>
                    </a:rPr>
                    <m:t>Q</m:t>
                  </m:r>
                  <m:r>
                    <m:rPr>
                      <m:sty m:val="p"/>
                    </m:rPr>
                    <a:rPr lang="en-US" b="0" i="0" sz="3100">
                      <a:solidFill>
                        <a:srgbClr val="FFFFFF"/>
                      </a:solidFill>
                      <a:latin typeface="Cambria Math"/>
                    </a:rPr>
                    <m:t xml:space="preserve"> = </m:t>
                  </m:r>
                  <m:r>
                    <a:rPr lang="en-US" b="0" i="1" sz="3100">
                      <a:solidFill>
                        <a:srgbClr val="FFFFFF"/>
                      </a:solidFill>
                      <a:latin typeface="Cambria Math"/>
                      <a:ea typeface="Cambria Math"/>
                    </a:rPr>
                    <m:t>a</m:t>
                  </m:r>
                  <m:r>
                    <m:rPr>
                      <m:sty m:val="p"/>
                    </m:rPr>
                    <a:rPr lang="en-US" b="0" i="0" sz="3100">
                      <a:solidFill>
                        <a:srgbClr val="FFFFFF"/>
                      </a:solidFill>
                      <a:latin typeface="Cambria Math"/>
                    </a:rPr>
                    <m:t xml:space="preserve"> + </m:t>
                  </m:r>
                  <m:r>
                    <a:rPr lang="en-US" b="0" i="1" sz="3100">
                      <a:solidFill>
                        <a:srgbClr val="FFFFFF"/>
                      </a:solidFill>
                      <a:latin typeface="Cambria Math"/>
                      <a:ea typeface="Cambria Math"/>
                    </a:rPr>
                    <m:t>b</m:t>
                  </m:r>
                  <m:r>
                    <m:rPr>
                      <m:sty m:val="p"/>
                    </m:rPr>
                    <a:rPr lang="en-US" b="0" i="0" sz="3100">
                      <a:solidFill>
                        <a:srgbClr val="FFFFFF"/>
                      </a:solidFill>
                      <a:latin typeface="Cambria Math"/>
                    </a:rPr>
                    <m:t xml:space="preserve"> · </m:t>
                  </m:r>
                  <m:r>
                    <a:rPr lang="en-US" b="0" i="1" sz="3100">
                      <a:solidFill>
                        <a:srgbClr val="FFFFFF"/>
                      </a:solidFill>
                      <a:latin typeface="Cambria Math"/>
                      <a:ea typeface="Cambria Math"/>
                    </a:rPr>
                    <m:t>P</m:t>
                  </m:r>
                  <m:r>
                    <m:rPr>
                      <m:sty m:val="p"/>
                    </m:rPr>
                    <a:rPr lang="en-US" b="0" i="0" sz="3100">
                      <a:solidFill>
                        <a:srgbClr val="FFFFFF"/>
                      </a:solidFill>
                      <a:latin typeface="Cambria Math"/>
                    </a:rPr>
                    <m:t xml:space="preserve"> + </m:t>
                  </m:r>
                  <m:r>
                    <a:rPr lang="en-US" b="0" i="1" sz="3100">
                      <a:solidFill>
                        <a:srgbClr val="FFFFFF"/>
                      </a:solidFill>
                      <a:latin typeface="Cambria Math"/>
                      <a:ea typeface="Cambria Math"/>
                    </a:rPr>
                    <m:t>c</m:t>
                  </m:r>
                  <m:r>
                    <m:rPr>
                      <m:sty m:val="p"/>
                    </m:rPr>
                    <a:rPr lang="en-US" b="0" i="0" sz="3100">
                      <a:solidFill>
                        <a:srgbClr val="FFFFFF"/>
                      </a:solidFill>
                      <a:latin typeface="Cambria Math"/>
                    </a:rPr>
                    <m:t xml:space="preserve"> · </m:t>
                  </m:r>
                  <m:sSub>
                    <m:sSubPr>
                      <m:ctrlPr>
                        <a:rPr lang="en-US" i="1">
                          <a:latin typeface="Cambria Math"/>
                        </a:rPr>
                      </m:ctrlPr>
                    </m:sSubPr>
                    <m:e>
                      <m:r>
                        <a:rPr lang="en-US" b="0" i="1" sz="3100">
                          <a:solidFill>
                            <a:srgbClr val="FFFFFF"/>
                          </a:solidFill>
                          <a:latin typeface="Cambria Math"/>
                          <a:ea typeface="Cambria Math"/>
                        </a:rPr>
                        <m:t>P</m:t>
                      </m:r>
                    </m:e>
                    <m:sub>
                      <m:r>
                        <m:rPr>
                          <m:sty m:val="p"/>
                        </m:rPr>
                        <a:rPr lang="en-US" b="0" i="0" sz="3100">
                          <a:solidFill>
                            <a:srgbClr val="FFFFFF"/>
                          </a:solidFill>
                          <a:latin typeface="Cambria Math"/>
                        </a:rPr>
                        <m:t xml:space="preserve">c</m:t>
                      </m:r>
                    </m:sub>
                  </m:sSub>
                  <m:r>
                    <m:rPr>
                      <m:sty m:val="p"/>
                    </m:rPr>
                    <a:rPr lang="en-US" b="0" i="0" sz="3100">
                      <a:solidFill>
                        <a:srgbClr val="FFFFFF"/>
                      </a:solidFill>
                      <a:latin typeface="Cambria Math"/>
                    </a:rPr>
                    <m:t xml:space="preserve"> + </m:t>
                  </m:r>
                  <m:r>
                    <a:rPr lang="en-US" b="0" i="1" sz="3100">
                      <a:solidFill>
                        <a:srgbClr val="FFFFFF"/>
                      </a:solidFill>
                      <a:latin typeface="Cambria Math"/>
                      <a:ea typeface="Cambria Math"/>
                    </a:rPr>
                    <m:t>d</m:t>
                  </m:r>
                  <m:r>
                    <m:rPr>
                      <m:sty m:val="p"/>
                    </m:rPr>
                    <a:rPr lang="en-US" b="0" i="0" sz="3100">
                      <a:solidFill>
                        <a:srgbClr val="FFFFFF"/>
                      </a:solidFill>
                      <a:latin typeface="Cambria Math"/>
                    </a:rPr>
                    <m:t xml:space="preserve"> · </m:t>
                  </m:r>
                  <m:r>
                    <a:rPr lang="en-US" b="0" i="1" sz="3100">
                      <a:solidFill>
                        <a:srgbClr val="FFFFFF"/>
                      </a:solidFill>
                      <a:latin typeface="Cambria Math"/>
                      <a:ea typeface="Cambria Math"/>
                    </a:rPr>
                    <m:t>Y</m:t>
                  </m:r>
                </m:oMath>
              </m:oMathPara>
            </a14:m>
            <a:endParaRPr lang="en-US" sz="3100"/>
          </a:p>
        </p:txBody>
      </p:sp>
      <p:sp>
        <p:nvSpPr>
          <p:cNvPr id="9" name="TextBox 8"/>
          <p:cNvSpPr txBox="1"/>
          <p:nvPr/>
        </p:nvSpPr>
        <p:spPr>
          <a:xfrm>
            <a:off x="3246120" y="3017520"/>
            <a:ext cx="6309360" cy="3200400"/>
          </a:xfrm>
          <a:prstGeom prst="rect">
            <a:avLst/>
          </a:prstGeom>
          <a:noFill/>
        </p:spPr>
        <p:txBody>
          <a:bodyPr wrap="square" lIns="0" rIns="0" tIns="0" bIns="0">
            <a:spAutoFit/>
          </a:bodyPr>
          <a:lstStyle>
            <a:lvl1pPr marL="342900" indent="-342900">
              <a:spcBef>
                <a:spcPts val="1600"/>
              </a:spcBef>
              <a:buClr>
                <a:srgbClr val="0B2B4E"/>
              </a:buClr>
              <a:buFont typeface="Calibri"/>
              <a:buChar char="▪"/>
              <a:defRPr sz="2900" b="0">
                <a:solidFill>
                  <a:srgbClr val="0B2B4E"/>
                </a:solidFill>
                <a:latin typeface="Calibri"/>
              </a:defRPr>
            </a:lvl1pPr>
            <a:lvl2pPr marL="685800" indent="-228600">
              <a:spcBef>
                <a:spcPts val="300"/>
              </a:spcBef>
              <a:buClr>
                <a:srgbClr val="555B66"/>
              </a:buClr>
              <a:buFont typeface="Calibri"/>
              <a:buChar char="–"/>
              <a:defRPr sz="2500" b="0">
                <a:solidFill>
                  <a:srgbClr val="555B66"/>
                </a:solidFill>
                <a:latin typeface="Calibri"/>
              </a:defRPr>
            </a:lvl2pPr>
          </a:lstStyle>
          <a:p>
            <a:pPr algn="l"/>
            <a:r>
              <a:rPr b="1" i="1">
                <a:latin typeface="Calibri"/>
              </a:rPr>
              <a:t>Q</a:t>
            </a:r>
            <a:r>
              <a:rPr>
                <a:latin typeface="Calibri"/>
              </a:rPr>
              <a:t> = amount purchased</a:t>
            </a:r>
          </a:p>
          <a:p>
            <a:pPr algn="l"/>
            <a:r>
              <a:rPr b="1" i="1">
                <a:latin typeface="Calibri"/>
              </a:rPr>
              <a:t>P</a:t>
            </a:r>
            <a:r>
              <a:rPr>
                <a:latin typeface="Calibri"/>
              </a:rPr>
              <a:t> = own price</a:t>
            </a:r>
          </a:p>
          <a:p>
            <a:pPr algn="l"/>
            <a:r>
              <a:rPr b="1" i="1">
                <a:latin typeface="Calibri"/>
              </a:rPr>
              <a:t>P</a:t>
            </a:r>
            <a:r>
              <a:rPr b="1" i="1" baseline="-25000">
                <a:latin typeface="Calibri"/>
              </a:rPr>
              <a:t>C</a:t>
            </a:r>
            <a:r>
              <a:rPr>
                <a:latin typeface="Calibri"/>
              </a:rPr>
              <a:t> = competitor’s price</a:t>
            </a:r>
          </a:p>
          <a:p>
            <a:pPr algn="l"/>
            <a:r>
              <a:rPr b="1" i="1">
                <a:latin typeface="Calibri"/>
              </a:rPr>
              <a:t>Y</a:t>
            </a:r>
            <a:r>
              <a:rPr>
                <a:latin typeface="Calibri"/>
              </a:rPr>
              <a:t> = income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A5A113D4-7497-5168-BB4C-F5395F354B8F}" type="slidenum">
              <a:rPr lang="en-US" sz="1200" dirty="0">
                <a:solidFill>
                  <a:srgbClr val="555B66"/>
                </a:solidFill>
                <a:latin typeface="Calibri"/>
              </a:rPr>
              <a:t>50</a:t>
            </a:fld>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Results With Added Variables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5" name="Group pair 115"/>
          <p:cNvGrpSpPr/>
          <p:nvPr/>
        </p:nvGrpSpPr>
        <p:grpSpPr>
          <a:xfrm>
            <a:off x="2990088" y="1691640"/>
            <a:ext cx="6217920" cy="3291840"/>
            <a:chOff x="2990088" y="1691640"/>
            <a:chExt cx="6217920" cy="3291840"/>
          </a:xfrm>
        </p:grpSpPr>
        <p:sp>
          <p:nvSpPr>
            <p:cNvPr id="7" name="Rectangle 6"/>
            <p:cNvSpPr/>
            <p:nvPr/>
          </p:nvSpPr>
          <p:spPr>
            <a:xfrm>
              <a:off x="2990088" y="1691640"/>
              <a:ext cx="6217920" cy="329184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3127248" y="1828800"/>
            <a:ext cx="5943600" cy="3017520"/>
          </p:xfrm>
          <a:graphic>
            <a:graphicData uri="http://schemas.openxmlformats.org/drawingml/2006/table">
              <a:tbl>
                <a:tblPr firstRow="0" bandRow="0"/>
                <a:tblGrid>
                  <a:gridCol w="3566160"/>
                  <a:gridCol w="2377440"/>
                </a:tblGrid>
                <a:tr h="603504">
                  <a:tc>
                    <a:txBody>
                      <a:bodyPr wrap="square"/>
                      <a:lstStyle/>
                      <a:p>
                        <a:pPr algn="ctr"/>
                        <a:r>
                          <a:rPr sz="2200" b="1">
                            <a:solidFill>
                              <a:srgbClr val="FFFFFF"/>
                            </a:solidFill>
                            <a:latin typeface="Calibri"/>
                          </a:rPr>
                          <a:t>Coefficient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wrap="square"/>
                      <a:lstStyle/>
                      <a:p>
                        <a:pPr algn="ctr"/>
                        <a:r>
                          <a:rPr sz="2200" b="1">
                            <a:solidFill>
                              <a:srgbClr val="FFFFFF"/>
                            </a:solidFill>
                            <a:latin typeface="Calibri"/>
                          </a:rPr>
                          <a:t>Value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r>
                <a:tr h="603504">
                  <a:tc>
                    <a:txBody>
                      <a:bodyPr wrap="square"/>
                      <a:lstStyle/>
                      <a:p>
                        <a:pPr algn="l"/>
                        <a:r>
                          <a:rPr sz="2300" b="1">
                            <a:solidFill>
                              <a:srgbClr val="0B2B4E"/>
                            </a:solidFill>
                            <a:latin typeface="Calibri"/>
                          </a:rPr>
                          <a:t>Constant (intercept)</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300" b="0">
                            <a:solidFill>
                              <a:srgbClr val="0B2B4E"/>
                            </a:solidFill>
                            <a:latin typeface="Calibri"/>
                          </a:rPr>
                          <a:t>26.70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603504">
                  <a:tc>
                    <a:txBody>
                      <a:bodyPr wrap="square"/>
                      <a:lstStyle/>
                      <a:p>
                        <a:pPr algn="l"/>
                        <a:r>
                          <a:rPr sz="2300" b="1">
                            <a:solidFill>
                              <a:srgbClr val="0B2B4E"/>
                            </a:solidFill>
                            <a:latin typeface="Calibri"/>
                          </a:rPr>
                          <a:t>Own price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300" b="0">
                            <a:solidFill>
                              <a:srgbClr val="0B2B4E"/>
                            </a:solidFill>
                            <a:latin typeface="Calibri"/>
                          </a:rPr>
                          <a:t>−2.13</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r h="603504">
                  <a:tc>
                    <a:txBody>
                      <a:bodyPr wrap="square"/>
                      <a:lstStyle/>
                      <a:p>
                        <a:pPr algn="l"/>
                        <a:r>
                          <a:rPr sz="2300" b="1">
                            <a:solidFill>
                              <a:srgbClr val="0B2B4E"/>
                            </a:solidFill>
                            <a:latin typeface="Calibri"/>
                          </a:rPr>
                          <a:t>Competitor’s price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wrap="square"/>
                      <a:lstStyle/>
                      <a:p>
                        <a:pPr algn="ctr"/>
                        <a:r>
                          <a:rPr sz="2300" b="0">
                            <a:solidFill>
                              <a:srgbClr val="0B2B4E"/>
                            </a:solidFill>
                            <a:latin typeface="Calibri"/>
                          </a:rPr>
                          <a:t>1.04</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r>
                <a:tr h="603504">
                  <a:tc>
                    <a:txBody>
                      <a:bodyPr wrap="square"/>
                      <a:lstStyle/>
                      <a:p>
                        <a:pPr algn="l"/>
                        <a:r>
                          <a:rPr sz="2300" b="1">
                            <a:solidFill>
                              <a:srgbClr val="0B2B4E"/>
                            </a:solidFill>
                            <a:latin typeface="Calibri"/>
                          </a:rPr>
                          <a:t>Income</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wrap="square"/>
                      <a:lstStyle/>
                      <a:p>
                        <a:pPr algn="ctr"/>
                        <a:r>
                          <a:rPr sz="2300" b="0">
                            <a:solidFill>
                              <a:srgbClr val="0B2B4E"/>
                            </a:solidFill>
                            <a:latin typeface="Calibri"/>
                          </a:rPr>
                          <a:t>3.10</a:t>
                        </a:r>
                      </a:p>
                    </a:txBody>
                    <a:tcPr marL="91440" marR="91440"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r>
              </a:tbl>
            </a:graphicData>
          </a:graphic>
        </p:graphicFrame>
      </p:grpSp>
      <p:grpSp>
        <p:nvGrpSpPr>
          <p:cNvPr id="114" name="Group pair 114"/>
          <p:cNvGrpSpPr/>
          <p:nvPr/>
        </p:nvGrpSpPr>
        <p:grpSpPr>
          <a:xfrm>
            <a:off x="2606040" y="5166360"/>
            <a:ext cx="6995160" cy="896112"/>
            <a:chOff x="2606040" y="5166360"/>
            <a:chExt cx="6995160" cy="896112"/>
          </a:xfrm>
        </p:grpSpPr>
        <p:sp>
          <p:nvSpPr>
            <p:cNvPr id="9" name="Rounded Rectangle 8"/>
            <p:cNvSpPr/>
            <p:nvPr/>
          </p:nvSpPr>
          <p:spPr>
            <a:xfrm>
              <a:off x="2606040" y="5166360"/>
              <a:ext cx="6995160" cy="896112"/>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5276088"/>
              <a:ext cx="6629400" cy="676656"/>
            </a:xfrm>
            <a:prstGeom prst="rect">
              <a:avLst/>
            </a:prstGeom>
            <a:noFill/>
          </p:spPr>
          <p:txBody>
            <a:bodyPr wrap="square" lIns="45720" rIns="45720" tIns="0" bIns="0" anchor="ctr">
              <a:spAutoFit/>
            </a:bodyPr>
            <a:lstStyle/>
            <a:p>
              <a:pPr algn="ctr"/>
              <a:r>
                <a:rPr sz="2600" b="0" i="1" u="none">
                  <a:solidFill>
                    <a:srgbClr val="0B2B4E"/>
                  </a:solidFill>
                  <a:latin typeface="Calibri"/>
                </a:rPr>
                <a:t>Q = 26.70 − 2.13 P + 1.04 </a:t>
              </a:r>
              <a:r>
                <a:rPr sz="2600" b="0" i="1" u="none">
                  <a:solidFill>
                    <a:srgbClr val="0B2B4E"/>
                  </a:solidFill>
                  <a:latin typeface="Calibri"/>
                </a:rPr>
                <a:t>P</a:t>
              </a:r>
              <a:r>
                <a:rPr sz="2600" b="0" i="1" u="none" baseline="-25000">
                  <a:solidFill>
                    <a:srgbClr val="0B2B4E"/>
                  </a:solidFill>
                  <a:latin typeface="Calibri"/>
                </a:rPr>
                <a:t>C</a:t>
              </a:r>
              <a:r>
                <a:rPr sz="2600" b="0" i="1" u="none">
                  <a:solidFill>
                    <a:srgbClr val="0B2B4E"/>
                  </a:solidFill>
                  <a:latin typeface="Calibri"/>
                </a:rPr>
                <a:t> + 3.10 Y</a:t>
              </a: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4" name="TextBox 13"/>
          <p:cNvSpPr txBox="1"/>
          <p:nvPr/>
        </p:nvSpPr>
        <p:spPr>
          <a:xfrm>
            <a:off x="11475720" y="6583680"/>
            <a:ext cx="502920" cy="292608"/>
          </a:xfrm>
          <a:prstGeom prst="rect">
            <a:avLst/>
          </a:prstGeom>
          <a:noFill/>
        </p:spPr>
        <p:txBody>
          <a:bodyPr wrap="none" lIns="0" rIns="0" tIns="0" bIns="0">
            <a:spAutoFit/>
          </a:bodyPr>
          <a:lstStyle/>
          <a:p>
            <a:pPr algn="r"/>
            <a:fld id="{5408FD56-BFF0-5DB7-9236-61A05EBE3659}" type="slidenum">
              <a:rPr lang="en-US" sz="1200" dirty="0">
                <a:solidFill>
                  <a:srgbClr val="555B66"/>
                </a:solidFill>
                <a:latin typeface="Calibri"/>
              </a:rPr>
              <a:t>51</a:t>
            </a:fld>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Issues With Transaction Data: Why Randomization Is Key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1999" y="1691640"/>
            <a:ext cx="11687697" cy="457200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b="1">
                <a:latin typeface="Calibri"/>
              </a:rPr>
              <a:t>Transaction data:  </a:t>
            </a:r>
            <a:r>
              <a:rPr>
                <a:latin typeface="Calibri"/>
              </a:rPr>
              <a:t>prices and quantities evolving over time, across locations and stores</a:t>
            </a:r>
          </a:p>
          <a:p>
            <a:pPr algn="l"/>
            <a:r>
              <a:rPr>
                <a:latin typeface="Calibri"/>
              </a:rPr>
              <a:t>Can we be sure the change in quantity is due to the price change?</a:t>
            </a:r>
          </a:p>
          <a:p>
            <a:pPr algn="l"/>
            <a:r>
              <a:rPr b="1">
                <a:latin typeface="Calibri"/>
              </a:rPr>
              <a:t>Airline example:  </a:t>
            </a:r>
          </a:p>
          <a:p>
            <a:pPr algn="l" lvl="1"/>
            <a:r>
              <a:rPr>
                <a:latin typeface="Calibri"/>
              </a:rPr>
              <a:t>August: Sell 5000 tickets to Hawaii for $600</a:t>
            </a:r>
          </a:p>
          <a:p>
            <a:pPr algn="l" lvl="1"/>
            <a:r>
              <a:rPr>
                <a:latin typeface="Calibri"/>
              </a:rPr>
              <a:t>September: Sell 3,500 tickets at $500</a:t>
            </a:r>
          </a:p>
          <a:p>
            <a:pPr algn="l" lvl="1">
              <a:spcBef>
                <a:spcPts val="300"/>
              </a:spcBef>
              <a:buNone/>
            </a:pPr>
          </a:p>
          <a:p>
            <a:pPr algn="l" lvl="1"/>
            <a:r>
              <a:rPr>
                <a:latin typeface="Calibri"/>
              </a:rPr>
              <a:t>Should we conclude demand slopes upward?</a:t>
            </a:r>
          </a:p>
          <a:p>
            <a:pPr algn="l" lvl="1">
              <a:spcBef>
                <a:spcPts val="300"/>
              </a:spcBef>
              <a:buNone/>
            </a:pPr>
          </a:p>
          <a:p>
            <a:pPr algn="l" lvl="1"/>
            <a:r>
              <a:rPr>
                <a:latin typeface="Calibri"/>
              </a:rPr>
              <a:t>What else changed between those two periods?</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EC69781D-FAF3-5E5A-B5F5-5C7A4C1C5FAA}" type="slidenum">
              <a:rPr lang="en-US" sz="1200" dirty="0">
                <a:solidFill>
                  <a:srgbClr val="555B66"/>
                </a:solidFill>
                <a:latin typeface="Calibri"/>
              </a:rPr>
              <a:t>52</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3" end="3"/>
                                            </p:txEl>
                                          </p:spTgt>
                                        </p:tgtEl>
                                        <p:attrNameLst>
                                          <p:attrName>style.visibility</p:attrName>
                                        </p:attrNameLst>
                                      </p:cBhvr>
                                      <p:to>
                                        <p:strVal val="visible"/>
                                      </p:to>
                                    </p:set>
                                    <p:animEffect transition="in" filter="fade">
                                      <p:cBhvr>
                                        <p:cTn id="10" dur="500"/>
                                        <p:tgtEl>
                                          <p:spTgt spid="7">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500"/>
                                        <p:tgtEl>
                                          <p:spTgt spid="7">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6" end="6"/>
                                            </p:txEl>
                                          </p:spTgt>
                                        </p:tgtEl>
                                        <p:attrNameLst>
                                          <p:attrName>style.visibility</p:attrName>
                                        </p:attrNameLst>
                                      </p:cBhvr>
                                      <p:to>
                                        <p:strVal val="visible"/>
                                      </p:to>
                                    </p:set>
                                    <p:animEffect transition="in" filter="fade">
                                      <p:cBhvr>
                                        <p:cTn id="18" dur="500"/>
                                        <p:tgtEl>
                                          <p:spTgt spid="7">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animEffect transition="in" filter="fade">
                                      <p:cBhvr>
                                        <p:cTn id="23"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Correlation Does Not Mean Causation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10725912" cy="91440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buNone/>
            </a:pPr>
            <a:r>
              <a:rPr sz="2700" b="1">
                <a:solidFill>
                  <a:srgbClr val="0B2B4E"/>
                </a:solidFill>
                <a:latin typeface="Calibri"/>
              </a:rPr>
              <a:t>Example:  </a:t>
            </a:r>
            <a:r>
              <a:rPr sz="2700">
                <a:solidFill>
                  <a:srgbClr val="0B2B4E"/>
                </a:solidFill>
                <a:latin typeface="Calibri"/>
              </a:rPr>
              <a:t>on average, people who drink two glasses of wine a day are healthier than those who drink none</a:t>
            </a:r>
          </a:p>
        </p:txBody>
      </p:sp>
      <p:sp>
        <p:nvSpPr>
          <p:cNvPr id="8" name="TextBox 7"/>
          <p:cNvSpPr txBox="1"/>
          <p:nvPr/>
        </p:nvSpPr>
        <p:spPr>
          <a:xfrm>
            <a:off x="731520" y="2697480"/>
            <a:ext cx="10725912" cy="54864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600" b="1">
                <a:solidFill>
                  <a:srgbClr val="0B2B4E"/>
                </a:solidFill>
                <a:latin typeface="Calibri"/>
              </a:rPr>
              <a:t>Causal interpretation:  </a:t>
            </a:r>
            <a:r>
              <a:rPr sz="2600" i="1">
                <a:solidFill>
                  <a:srgbClr val="0B2B4E"/>
                </a:solidFill>
                <a:latin typeface="Calibri"/>
              </a:rPr>
              <a:t>wine improves health (I wish!)</a:t>
            </a:r>
          </a:p>
        </p:txBody>
      </p:sp>
      <p:pic>
        <p:nvPicPr>
          <p:cNvPr id="9" name="Picture 8" descr="ct_s57_image19.png"/>
          <p:cNvPicPr>
            <a:picLocks noChangeAspect="1"/>
          </p:cNvPicPr>
          <p:nvPr/>
        </p:nvPicPr>
        <p:blipFill>
          <a:blip r:embed="rId2"/>
          <a:stretch>
            <a:fillRect/>
          </a:stretch>
        </p:blipFill>
        <p:spPr>
          <a:xfrm>
            <a:off x="3108960" y="3657600"/>
            <a:ext cx="2194560" cy="1367736"/>
          </a:xfrm>
          <a:prstGeom prst="roundRect">
            <a:avLst>
              <a:gd name="adj" fmla="val 8000"/>
            </a:avLst>
          </a:prstGeom>
          <a:effectLst>
            <a:outerShdw blurRad="50800" dist="38100" dir="2700000" algn="tl" rotWithShape="0">
              <a:srgbClr val="000000">
                <a:alpha val="50000"/>
              </a:srgbClr>
            </a:outerShdw>
          </a:effectLst>
        </p:spPr>
      </p:pic>
      <p:cxnSp>
        <p:nvCxnSpPr>
          <p:cNvPr id="10" name="Connector 9"/>
          <p:cNvCxnSpPr/>
          <p:nvPr/>
        </p:nvCxnSpPr>
        <p:spPr>
          <a:xfrm>
            <a:off x="5577840" y="4434840"/>
            <a:ext cx="1188720" cy="0"/>
          </a:xfrm>
          <a:prstGeom prst="line">
            <a:avLst/>
          </a:prstGeom>
          <a:ln w="38100">
            <a:solidFill>
              <a:srgbClr val="0B2B4E"/>
            </a:solidFill>
            <a:tailEnd type="triangle" w="med" h="med"/>
          </a:ln>
        </p:spPr>
        <p:style>
          <a:lnRef idx="2">
            <a:schemeClr val="accent1"/>
          </a:lnRef>
          <a:fillRef idx="0">
            <a:schemeClr val="accent1"/>
          </a:fillRef>
          <a:effectRef idx="1">
            <a:schemeClr val="accent1"/>
          </a:effectRef>
          <a:fontRef idx="minor">
            <a:schemeClr val="tx1"/>
          </a:fontRef>
        </p:style>
      </p:cxnSp>
      <p:pic>
        <p:nvPicPr>
          <p:cNvPr id="11" name="Picture 10" descr="ct_s57_image20.png"/>
          <p:cNvPicPr>
            <a:picLocks noChangeAspect="1"/>
          </p:cNvPicPr>
          <p:nvPr/>
        </p:nvPicPr>
        <p:blipFill>
          <a:blip r:embed="rId3"/>
          <a:stretch>
            <a:fillRect/>
          </a:stretch>
        </p:blipFill>
        <p:spPr>
          <a:xfrm>
            <a:off x="7040880" y="3657600"/>
            <a:ext cx="2194560" cy="1455089"/>
          </a:xfrm>
          <a:prstGeom prst="roundRect">
            <a:avLst>
              <a:gd name="adj" fmla="val 8000"/>
            </a:avLst>
          </a:prstGeom>
          <a:effectLst>
            <a:outerShdw blurRad="50800" dist="38100" dir="2700000" algn="tl" rotWithShape="0">
              <a:srgbClr val="000000">
                <a:alpha val="50000"/>
              </a:srgbClr>
            </a:outerShdw>
          </a:effectLst>
        </p:spPr>
      </p:pic>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5" name="TextBox 14"/>
          <p:cNvSpPr txBox="1"/>
          <p:nvPr/>
        </p:nvSpPr>
        <p:spPr>
          <a:xfrm>
            <a:off x="11475720" y="6583680"/>
            <a:ext cx="502920" cy="292608"/>
          </a:xfrm>
          <a:prstGeom prst="rect">
            <a:avLst/>
          </a:prstGeom>
          <a:noFill/>
        </p:spPr>
        <p:txBody>
          <a:bodyPr wrap="none" lIns="0" rIns="0" tIns="0" bIns="0">
            <a:spAutoFit/>
          </a:bodyPr>
          <a:lstStyle/>
          <a:p>
            <a:pPr algn="r"/>
            <a:fld id="{C2A3D6DF-E3F9-5513-AEB0-3E3022388832}" type="slidenum">
              <a:rPr lang="en-US" sz="1200" dirty="0">
                <a:solidFill>
                  <a:srgbClr val="555B66"/>
                </a:solidFill>
                <a:latin typeface="Calibri"/>
              </a:rPr>
              <a:t>53</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Correlation Does Not Mean Causation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10725912" cy="73152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buNone/>
            </a:pPr>
            <a:r>
              <a:rPr sz="2700" b="1">
                <a:solidFill>
                  <a:srgbClr val="0B2B4E"/>
                </a:solidFill>
                <a:latin typeface="Calibri"/>
              </a:rPr>
              <a:t>Potential problem:  </a:t>
            </a:r>
            <a:r>
              <a:rPr sz="2700">
                <a:solidFill>
                  <a:srgbClr val="0B2B4E"/>
                </a:solidFill>
                <a:latin typeface="Calibri"/>
              </a:rPr>
              <a:t>some other factor is causing the correlation</a:t>
            </a:r>
          </a:p>
        </p:txBody>
      </p:sp>
      <p:pic>
        <p:nvPicPr>
          <p:cNvPr id="8" name="Picture 7" descr="ct_s58_image21.png"/>
          <p:cNvPicPr>
            <a:picLocks noChangeAspect="1"/>
          </p:cNvPicPr>
          <p:nvPr/>
        </p:nvPicPr>
        <p:blipFill>
          <a:blip r:embed="rId2"/>
          <a:stretch>
            <a:fillRect/>
          </a:stretch>
        </p:blipFill>
        <p:spPr>
          <a:xfrm>
            <a:off x="5029200" y="2286000"/>
            <a:ext cx="2148840" cy="1241391"/>
          </a:xfrm>
          <a:prstGeom prst="roundRect">
            <a:avLst>
              <a:gd name="adj" fmla="val 8000"/>
            </a:avLst>
          </a:prstGeom>
          <a:effectLst>
            <a:outerShdw blurRad="50800" dist="38100" dir="2700000" algn="tl" rotWithShape="0">
              <a:srgbClr val="000000">
                <a:alpha val="50000"/>
              </a:srgbClr>
            </a:outerShdw>
          </a:effectLst>
        </p:spPr>
      </p:pic>
      <p:cxnSp>
        <p:nvCxnSpPr>
          <p:cNvPr id="9" name="Connector 8"/>
          <p:cNvCxnSpPr/>
          <p:nvPr/>
        </p:nvCxnSpPr>
        <p:spPr>
          <a:xfrm flipH="1">
            <a:off x="4251960" y="3840480"/>
            <a:ext cx="914400" cy="731520"/>
          </a:xfrm>
          <a:prstGeom prst="line">
            <a:avLst/>
          </a:prstGeom>
          <a:ln w="31750">
            <a:solidFill>
              <a:srgbClr val="C0504D"/>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3720" y="3840480"/>
            <a:ext cx="914400" cy="731520"/>
          </a:xfrm>
          <a:prstGeom prst="line">
            <a:avLst/>
          </a:prstGeom>
          <a:ln w="31750">
            <a:solidFill>
              <a:srgbClr val="C0504D"/>
            </a:solidFill>
            <a:tailEnd type="triangle" w="med" h="med"/>
          </a:ln>
        </p:spPr>
        <p:style>
          <a:lnRef idx="2">
            <a:schemeClr val="accent1"/>
          </a:lnRef>
          <a:fillRef idx="0">
            <a:schemeClr val="accent1"/>
          </a:fillRef>
          <a:effectRef idx="1">
            <a:schemeClr val="accent1"/>
          </a:effectRef>
          <a:fontRef idx="minor">
            <a:schemeClr val="tx1"/>
          </a:fontRef>
        </p:style>
      </p:cxnSp>
      <p:pic>
        <p:nvPicPr>
          <p:cNvPr id="11" name="Picture 10" descr="ct_s57_image19.png"/>
          <p:cNvPicPr>
            <a:picLocks noChangeAspect="1"/>
          </p:cNvPicPr>
          <p:nvPr/>
        </p:nvPicPr>
        <p:blipFill>
          <a:blip r:embed="rId3"/>
          <a:stretch>
            <a:fillRect/>
          </a:stretch>
        </p:blipFill>
        <p:spPr>
          <a:xfrm>
            <a:off x="3017520" y="4617720"/>
            <a:ext cx="2103120" cy="1310747"/>
          </a:xfrm>
          <a:prstGeom prst="roundRect">
            <a:avLst>
              <a:gd name="adj" fmla="val 8000"/>
            </a:avLst>
          </a:prstGeom>
          <a:effectLst>
            <a:outerShdw blurRad="50800" dist="38100" dir="2700000" algn="tl" rotWithShape="0">
              <a:srgbClr val="000000">
                <a:alpha val="50000"/>
              </a:srgbClr>
            </a:outerShdw>
          </a:effectLst>
        </p:spPr>
      </p:pic>
      <p:pic>
        <p:nvPicPr>
          <p:cNvPr id="12" name="Picture 11" descr="ct_s57_image20.png"/>
          <p:cNvPicPr>
            <a:picLocks noChangeAspect="1"/>
          </p:cNvPicPr>
          <p:nvPr/>
        </p:nvPicPr>
        <p:blipFill>
          <a:blip r:embed="rId4"/>
          <a:stretch>
            <a:fillRect/>
          </a:stretch>
        </p:blipFill>
        <p:spPr>
          <a:xfrm>
            <a:off x="7040880" y="4617720"/>
            <a:ext cx="2103120" cy="1394460"/>
          </a:xfrm>
          <a:prstGeom prst="roundRect">
            <a:avLst>
              <a:gd name="adj" fmla="val 8000"/>
            </a:avLst>
          </a:prstGeom>
          <a:effectLst>
            <a:outerShdw blurRad="50800" dist="38100" dir="2700000" algn="tl" rotWithShape="0">
              <a:srgbClr val="000000">
                <a:alpha val="50000"/>
              </a:srgbClr>
            </a:outerShdw>
          </a:effectLst>
        </p:spPr>
      </p:pic>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rIns="0" tIns="0" bIns="0">
            <a:spAutoFit/>
          </a:bodyPr>
          <a:lstStyle/>
          <a:p>
            <a:pPr algn="r"/>
            <a:fld id="{6B316F47-2D5B-5841-BECC-F01A646B7EC0}" type="slidenum">
              <a:rPr lang="en-US" sz="1200" dirty="0">
                <a:solidFill>
                  <a:srgbClr val="555B66"/>
                </a:solidFill>
                <a:latin typeface="Calibri"/>
              </a:rPr>
              <a:t>54</a:t>
            </a:fld>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Spurious Correlations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t_s59_image22.png"/>
          <p:cNvPicPr>
            <a:picLocks noChangeAspect="1"/>
          </p:cNvPicPr>
          <p:nvPr/>
        </p:nvPicPr>
        <p:blipFill>
          <a:blip r:embed="rId2"/>
          <a:stretch>
            <a:fillRect/>
          </a:stretch>
        </p:blipFill>
        <p:spPr>
          <a:xfrm>
            <a:off x="424281" y="1828800"/>
            <a:ext cx="5323636" cy="3565991"/>
          </a:xfrm>
          <a:prstGeom prst="rect">
            <a:avLst/>
          </a:prstGeom>
          <a:effectLst>
            <a:outerShdw blurRad="50800" dist="38100" dir="2700000" algn="tl" rotWithShape="0">
              <a:srgbClr val="000000">
                <a:alpha val="45000"/>
              </a:srgbClr>
            </a:outerShdw>
          </a:effectLst>
        </p:spPr>
      </p:pic>
      <p:pic>
        <p:nvPicPr>
          <p:cNvPr id="8" name="Picture 7" descr="ct_s59_image23.png"/>
          <p:cNvPicPr>
            <a:picLocks noChangeAspect="1"/>
          </p:cNvPicPr>
          <p:nvPr/>
        </p:nvPicPr>
        <p:blipFill>
          <a:blip r:embed="rId3"/>
          <a:stretch>
            <a:fillRect/>
          </a:stretch>
        </p:blipFill>
        <p:spPr>
          <a:xfrm>
            <a:off x="5982919" y="1828800"/>
            <a:ext cx="5864961" cy="3566132"/>
          </a:xfrm>
          <a:prstGeom prst="rect">
            <a:avLst/>
          </a:prstGeom>
          <a:effectLst>
            <a:outerShdw blurRad="50800" dist="38100" dir="2700000" algn="tl" rotWithShape="0">
              <a:srgbClr val="000000">
                <a:alpha val="45000"/>
              </a:srgbClr>
            </a:outerShdw>
          </a:effectLst>
        </p:spPr>
      </p:pic>
      <p:sp>
        <p:nvSpPr>
          <p:cNvPr id="9" name="TextBox 8"/>
          <p:cNvSpPr txBox="1"/>
          <p:nvPr/>
        </p:nvSpPr>
        <p:spPr>
          <a:xfrm>
            <a:off x="274320" y="6172200"/>
            <a:ext cx="11640312" cy="310896"/>
          </a:xfrm>
          <a:prstGeom prst="rect">
            <a:avLst/>
          </a:prstGeom>
          <a:noFill/>
        </p:spPr>
        <p:txBody>
          <a:bodyPr wrap="square" lIns="0" rIns="0" tIns="0" bIns="0">
            <a:spAutoFit/>
          </a:bodyPr>
          <a:lstStyle/>
          <a:p>
            <a:pPr algn="ctr"/>
            <a:r>
              <a:rPr sz="1400" b="0" i="1" u="sng">
                <a:solidFill>
                  <a:srgbClr val="0070C0"/>
                </a:solidFill>
                <a:latin typeface="Calibri"/>
                <a:hlinkClick r:id="rId5">
                  <a:extLst>
                    <a:ext xmlns:ahyp="http://schemas.microsoft.com/office/drawing/2018/hyperlinkcolor" uri="{A12FA001-AC4F-418D-AE19-62706E023703}">
                      <ahyp:hlinkClr val="tx"/>
                    </a:ext>
                  </a:extLst>
                </a:hlinkClick>
              </a:rPr>
              <a:t>tylervigen.com/spurious-correlations</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rIns="0" tIns="0" bIns="0">
            <a:spAutoFit/>
          </a:bodyPr>
          <a:lstStyle/>
          <a:p>
            <a:pPr algn="r"/>
            <a:fld id="{92F0233B-FA12-5BD7-869B-26D085D25AB3}" type="slidenum">
              <a:rPr lang="en-US" sz="1200" dirty="0">
                <a:solidFill>
                  <a:srgbClr val="555B66"/>
                </a:solidFill>
                <a:latin typeface="Calibri"/>
              </a:rPr>
              <a:t>55</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Video 3 · Demand Estimation</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Why Randomization Is Key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417320"/>
            <a:ext cx="10058400" cy="4754880"/>
          </a:xfrm>
          <a:prstGeom prst="rect">
            <a:avLst/>
          </a:prstGeom>
          <a:noFill/>
        </p:spPr>
        <p:txBody>
          <a:bodyPr wrap="square" lIns="0" rIns="0" tIns="0" bIns="0">
            <a:spAutoFit/>
          </a:bodyPr>
          <a:lstStyle>
            <a:lvl1pPr marL="342900" indent="-342900">
              <a:spcBef>
                <a:spcPts val="1800"/>
              </a:spcBef>
              <a:buClr>
                <a:srgbClr val="0B2B4E"/>
              </a:buClr>
              <a:buFont typeface="Calibri"/>
              <a:buChar char="▪"/>
              <a:defRPr sz="27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a:latin typeface="Calibri"/>
              </a:rPr>
              <a:t>Randomizing prices ensures that </a:t>
            </a:r>
            <a:r>
              <a:rPr b="1">
                <a:latin typeface="Calibri"/>
              </a:rPr>
              <a:t>“all else is equal”</a:t>
            </a:r>
            <a:r>
              <a:rPr>
                <a:latin typeface="Calibri"/>
              </a:rPr>
              <a:t> other than the price change</a:t>
            </a:r>
          </a:p>
          <a:p>
            <a:pPr algn="l"/>
            <a:r>
              <a:rPr>
                <a:latin typeface="Calibri"/>
              </a:rPr>
              <a:t>Allows us to estimate the </a:t>
            </a:r>
            <a:r>
              <a:rPr b="1">
                <a:solidFill>
                  <a:srgbClr val="0070C0"/>
                </a:solidFill>
                <a:latin typeface="Calibri"/>
              </a:rPr>
              <a:t>causal effect</a:t>
            </a:r>
            <a:r>
              <a:rPr>
                <a:latin typeface="Calibri"/>
              </a:rPr>
              <a:t> of price on quantity demanded  →  the demand curve!</a:t>
            </a: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11" name="TextBox 10"/>
          <p:cNvSpPr txBox="1"/>
          <p:nvPr/>
        </p:nvSpPr>
        <p:spPr>
          <a:xfrm>
            <a:off x="11475720" y="6583680"/>
            <a:ext cx="502920" cy="292608"/>
          </a:xfrm>
          <a:prstGeom prst="rect">
            <a:avLst/>
          </a:prstGeom>
          <a:noFill/>
        </p:spPr>
        <p:txBody>
          <a:bodyPr wrap="none" lIns="0" rIns="0" tIns="0" bIns="0">
            <a:spAutoFit/>
          </a:bodyPr>
          <a:lstStyle/>
          <a:p>
            <a:pPr algn="r"/>
            <a:fld id="{1C9AF297-709C-5291-9F97-67F6EA752D3C}" type="slidenum">
              <a:rPr lang="en-US" sz="1200" dirty="0">
                <a:solidFill>
                  <a:srgbClr val="555B66"/>
                </a:solidFill>
                <a:latin typeface="Calibri"/>
              </a:rPr>
              <a:t>56</a:t>
            </a:fld>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1999" y="0"/>
            <a:ext cx="10972800" cy="384048"/>
          </a:xfrm>
          <a:prstGeom prst="rect">
            <a:avLst/>
          </a:prstGeom>
          <a:noFill/>
        </p:spPr>
        <p:txBody>
          <a:bodyPr wrap="square" lIns="0" rIns="0" tIns="0" bIns="0" anchor="ctr">
            <a:spAutoFit/>
          </a:bodyPr>
          <a:lstStyle/>
          <a:p>
            <a:pPr algn="l"/>
            <a:r>
              <a:rPr sz="1600" b="1" i="0" u="none">
                <a:solidFill>
                  <a:srgbClr val="FFFFFF"/>
                </a:solidFill>
                <a:latin typeface="Calibri"/>
              </a:rPr>
              <a:t>Module 2 · Summary</a:t>
            </a:r>
          </a:p>
        </p:txBody>
      </p:sp>
      <p:sp>
        <p:nvSpPr>
          <p:cNvPr id="4" name="TextBox 3"/>
          <p:cNvSpPr txBox="1"/>
          <p:nvPr/>
        </p:nvSpPr>
        <p:spPr>
          <a:xfrm>
            <a:off x="251999" y="502920"/>
            <a:ext cx="11687697" cy="640080"/>
          </a:xfrm>
          <a:prstGeom prst="rect">
            <a:avLst/>
          </a:prstGeom>
          <a:noFill/>
        </p:spPr>
        <p:txBody>
          <a:bodyPr wrap="square" lIns="0" rIns="0" tIns="0" bIns="0">
            <a:spAutoFit/>
          </a:bodyPr>
          <a:lstStyle/>
          <a:p>
            <a:pPr algn="l"/>
            <a:r>
              <a:rPr sz="3200" b="1" i="0" u="none">
                <a:solidFill>
                  <a:srgbClr val="0B2B4E"/>
                </a:solidFill>
                <a:latin typeface="Calibri"/>
              </a:rPr>
              <a:t>Module 2: Summary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1</a:t>
            </a:r>
          </a:p>
        </p:txBody>
      </p:sp>
      <p:sp>
        <p:nvSpPr>
          <p:cNvPr id="8" name="TextBox 7"/>
          <p:cNvSpPr txBox="1"/>
          <p:nvPr/>
        </p:nvSpPr>
        <p:spPr>
          <a:xfrm>
            <a:off x="1874519" y="149504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The Law of Demand</a:t>
            </a:r>
          </a:p>
          <a:p>
            <a:pPr algn="l">
              <a:spcBef>
                <a:spcPts val="0"/>
              </a:spcBef>
              <a:buNone/>
            </a:pPr>
            <a:r>
              <a:rPr sz="2200">
                <a:solidFill>
                  <a:srgbClr val="555B66"/>
                </a:solidFill>
                <a:latin typeface="Calibri"/>
              </a:rPr>
              <a:t>When the price falls, quantity demanded rises – holding everything else constant</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2</a:t>
            </a:r>
          </a:p>
        </p:txBody>
      </p:sp>
      <p:sp>
        <p:nvSpPr>
          <p:cNvPr id="10" name="TextBox 9"/>
          <p:cNvSpPr txBox="1"/>
          <p:nvPr/>
        </p:nvSpPr>
        <p:spPr>
          <a:xfrm>
            <a:off x="1874519" y="2327148"/>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Elasticities</a:t>
            </a:r>
          </a:p>
          <a:p>
            <a:pPr algn="l">
              <a:spcBef>
                <a:spcPts val="0"/>
              </a:spcBef>
              <a:buNone/>
            </a:pPr>
            <a:r>
              <a:rPr sz="2200">
                <a:solidFill>
                  <a:srgbClr val="555B66"/>
                </a:solidFill>
                <a:latin typeface="Calibri"/>
              </a:rPr>
              <a:t>How strongly demand responds to price, income, and the prices of other goods</a:t>
            </a:r>
          </a:p>
        </p:txBody>
      </p:sp>
      <p:sp>
        <p:nvSpPr>
          <p:cNvPr id="11" name="Oval 10"/>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3</a:t>
            </a:r>
          </a:p>
        </p:txBody>
      </p:sp>
      <p:sp>
        <p:nvSpPr>
          <p:cNvPr id="12" name="TextBox 11"/>
          <p:cNvSpPr txBox="1"/>
          <p:nvPr/>
        </p:nvSpPr>
        <p:spPr>
          <a:xfrm>
            <a:off x="1874519" y="3159252"/>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and Revenue</a:t>
            </a:r>
          </a:p>
          <a:p>
            <a:pPr algn="l">
              <a:spcBef>
                <a:spcPts val="0"/>
              </a:spcBef>
              <a:buNone/>
            </a:pPr>
            <a:r>
              <a:rPr sz="2200">
                <a:solidFill>
                  <a:srgbClr val="555B66"/>
                </a:solidFill>
                <a:latin typeface="Calibri"/>
              </a:rPr>
              <a:t>How the demand curve translates into total revenue</a:t>
            </a:r>
          </a:p>
        </p:txBody>
      </p:sp>
      <p:sp>
        <p:nvSpPr>
          <p:cNvPr id="13" name="Oval 12"/>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B2B4E"/>
                </a:solidFill>
                <a:latin typeface="Calibri"/>
              </a:rPr>
              <a:t>3a</a:t>
            </a:r>
          </a:p>
        </p:txBody>
      </p:sp>
      <p:sp>
        <p:nvSpPr>
          <p:cNvPr id="14" name="TextBox 13"/>
          <p:cNvSpPr txBox="1"/>
          <p:nvPr/>
        </p:nvSpPr>
        <p:spPr>
          <a:xfrm>
            <a:off x="2084831" y="3991356"/>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Elasticity and Revenue</a:t>
            </a:r>
          </a:p>
          <a:p>
            <a:pPr algn="l">
              <a:spcBef>
                <a:spcPts val="0"/>
              </a:spcBef>
              <a:buNone/>
            </a:pPr>
            <a:r>
              <a:rPr sz="2200">
                <a:solidFill>
                  <a:srgbClr val="555B66"/>
                </a:solidFill>
                <a:latin typeface="Calibri"/>
              </a:rPr>
              <a:t>When a price increase raises revenue – and when it backfires</a:t>
            </a:r>
          </a:p>
        </p:txBody>
      </p:sp>
      <p:sp>
        <p:nvSpPr>
          <p:cNvPr id="15" name="Oval 14"/>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0B2B4E"/>
                </a:solidFill>
                <a:latin typeface="Calibri"/>
              </a:rPr>
              <a:t>3b</a:t>
            </a:r>
          </a:p>
        </p:txBody>
      </p:sp>
      <p:sp>
        <p:nvSpPr>
          <p:cNvPr id="16" name="TextBox 15"/>
          <p:cNvSpPr txBox="1"/>
          <p:nvPr/>
        </p:nvSpPr>
        <p:spPr>
          <a:xfrm>
            <a:off x="2084831" y="4823460"/>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Marginal Revenue</a:t>
            </a:r>
          </a:p>
          <a:p>
            <a:pPr algn="l">
              <a:spcBef>
                <a:spcPts val="0"/>
              </a:spcBef>
              <a:buNone/>
            </a:pPr>
            <a:r>
              <a:rPr sz="2200">
                <a:solidFill>
                  <a:srgbClr val="555B66"/>
                </a:solidFill>
                <a:latin typeface="Calibri"/>
              </a:rPr>
              <a:t>The extra revenue from selling one more unit</a:t>
            </a:r>
          </a:p>
        </p:txBody>
      </p:sp>
      <p:sp>
        <p:nvSpPr>
          <p:cNvPr id="17" name="Oval 16"/>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500" b="1">
                <a:solidFill>
                  <a:srgbClr val="0B2B4E"/>
                </a:solidFill>
                <a:latin typeface="Calibri"/>
              </a:rPr>
              <a:t>4</a:t>
            </a:r>
          </a:p>
        </p:txBody>
      </p:sp>
      <p:sp>
        <p:nvSpPr>
          <p:cNvPr id="18" name="TextBox 17"/>
          <p:cNvSpPr txBox="1"/>
          <p:nvPr/>
        </p:nvSpPr>
        <p:spPr>
          <a:xfrm>
            <a:off x="1874519" y="5655564"/>
            <a:ext cx="10058400" cy="731520"/>
          </a:xfrm>
          <a:prstGeom prst="rect">
            <a:avLst/>
          </a:prstGeom>
          <a:noFill/>
        </p:spPr>
        <p:txBody>
          <a:bodyPr wrap="square" lIns="0" rIns="0" t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Demand Estimation</a:t>
            </a:r>
          </a:p>
          <a:p>
            <a:pPr algn="l">
              <a:spcBef>
                <a:spcPts val="0"/>
              </a:spcBef>
              <a:buNone/>
            </a:pPr>
            <a:r>
              <a:rPr sz="2200">
                <a:solidFill>
                  <a:srgbClr val="555B66"/>
                </a:solidFill>
                <a:latin typeface="Calibri"/>
              </a:rPr>
              <a:t>Measuring demand from data – market experiments and regression</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1999" y="6583680"/>
            <a:ext cx="10058400" cy="292608"/>
          </a:xfrm>
          <a:prstGeom prst="rect">
            <a:avLst/>
          </a:prstGeom>
          <a:noFill/>
        </p:spPr>
        <p:txBody>
          <a:bodyPr wrap="square" lIns="0" rIns="0" tIns="0" bIns="0">
            <a:spAutoFit/>
          </a:bodyPr>
          <a:lstStyle/>
          <a:p>
            <a:pPr algn="l"/>
            <a:r>
              <a:rPr sz="1200" b="0" i="0" u="none">
                <a:solidFill>
                  <a:srgbClr val="555B66"/>
                </a:solidFill>
                <a:latin typeface="Calibri"/>
              </a:rPr>
              <a:t>Management 405  ·  Module 2  ·  Demand Analysis</a:t>
            </a:r>
          </a:p>
        </p:txBody>
      </p:sp>
      <p:sp>
        <p:nvSpPr>
          <p:cNvPr id="22" name="TextBox 21"/>
          <p:cNvSpPr txBox="1"/>
          <p:nvPr/>
        </p:nvSpPr>
        <p:spPr>
          <a:xfrm>
            <a:off x="11475720" y="6583680"/>
            <a:ext cx="502920" cy="292608"/>
          </a:xfrm>
          <a:prstGeom prst="rect">
            <a:avLst/>
          </a:prstGeom>
          <a:noFill/>
        </p:spPr>
        <p:txBody>
          <a:bodyPr wrap="none" lIns="0" rIns="0" tIns="0" bIns="0">
            <a:spAutoFit/>
          </a:bodyPr>
          <a:lstStyle/>
          <a:p>
            <a:pPr algn="r"/>
            <a:fld id="{D92316FE-AD83-5987-BDF5-E5C35205586B}" type="slidenum">
              <a:rPr lang="en-US" sz="1200" dirty="0">
                <a:solidFill>
                  <a:srgbClr val="555B66"/>
                </a:solidFill>
                <a:latin typeface="Calibri"/>
              </a:rPr>
              <a:t>57</a:t>
            </a:fld>
          </a:p>
        </p:txBody>
      </p:sp>
    </p:spTree>
  </p:cSld>
  <p:clrMapOvr>
    <a:masterClrMapping/>
  </p:clrMapOvr>
</p:sld>
</file>

<file path=ppt/tags/pe22_tag1.xml><?xml version="1.0" encoding="utf-8"?>
<p:tagLst xmlns:a="http://schemas.openxmlformats.org/drawingml/2006/main" xmlns:r="http://schemas.openxmlformats.org/officeDocument/2006/relationships" xmlns:p="http://schemas.openxmlformats.org/presentationml/2006/main">
  <p:tag name="__PE_POLL_EMBED_ID" val="cc96dfb5-4d00-489e-8188-3c342d72674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