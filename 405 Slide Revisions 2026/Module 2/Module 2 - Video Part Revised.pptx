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pe24_notes.xml" ContentType="application/vnd.openxmlformats-officedocument.presentationml.notesSlide+xml"/>
  <Override PartName="/ppt/tags/pe24_tag7.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pe24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current example, from early 2026: under a deal with the White House, Novo Nordisk cut the U.S. self-pay price of Ozempic and Wegovy from $499 to $349 a month. The company then guided 2026 sales revenues down by 5 to 13%. Ask yourself what a price cut that REDUCES revenue tells you about the elasticity of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further: profit is revenue minus costs. The price cut reduced revenue, and because quantity sold rises, production costs rise too — so profits fall on both ends. The market agreed: when Novo Nordisk warned in February 2026 that lower U.S. prices would push 2026 sales and operating profit down 5 to 13%, its shares tumbled about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example from 2025: McDonald's and its U.S. franchisees agreed to cut combo-meal prices by about 15% relative to buying the items separately, and extended the value menu in 2026. Notable detail for the franchisee question: McDonald's set aside roughly $35 million to compensate operators hit by the lower prices — side payments to align incentives across locations with different demand elasticities.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Mega Millions. Method 1 gave us an elasticity of about −0.47 — inelastic — which suggests the price increase should raise revenue. In fact, revenue per drawing FELL from roughly $3.8 million to $2.8 million. The catch: the price rose 150%, and Method 1 is a small-change approximation. With changes this large, the initial-point elasticity and the revenue rule based on it can point the wrong way — a good reason to be careful before applying the rule to big price moves.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Marginal Revenue = Marginal Cost when Demand is Linear</a:t>
            </a:r>
          </a:p>
          <a:p>
            <a:r>
              <a:t>To set MR=MC, you need to know MC. For now, we assume a constant marginal cost: MC=$200. The harder part is MR. What is marginal revenue? In words, it is the change in revenues when you sell one more unit of the good. To get there, we want to find out what total revenue is only as a function of Q, so that we can take the derivative of revenue with respect to Q. </a:t>
            </a:r>
          </a:p>
          <a:p/>
          <a:p>
            <a:r>
              <a:t>Let's write down a specific demand function and work through an example using this demand function:</a:t>
            </a:r>
          </a:p>
          <a:p>
            <a:r>
              <a:t>Q=1600-4P</a:t>
            </a:r>
          </a:p>
          <a:p/>
          <a:p>
            <a:r>
              <a:t>The Recipe</a:t>
            </a:r>
          </a:p>
          <a:p>
            <a:r>
              <a:t>There are three steps to get to the mathematical answer for MR. You can apply this recipe whenever you face this type of problem:</a:t>
            </a:r>
          </a:p>
          <a:p/>
          <a:p>
            <a:r>
              <a:t>Invert your demand. That's the inconvenient legacy of Alfred Marshall that I mentioned in class:</a:t>
            </a:r>
          </a:p>
          <a:p>
            <a:r>
              <a:t>P=400 - 1/4 Q</a:t>
            </a:r>
          </a:p>
          <a:p>
            <a:r>
              <a:t>(If you're wondering what I did here, I just took our demand function, put P on the left side, Q on the right side and divided everything by 4).</a:t>
            </a:r>
          </a:p>
          <a:p/>
          <a:p>
            <a:r>
              <a:t>Write down total revenue. What's total revenue? It is P times Q. So:</a:t>
            </a:r>
          </a:p>
          <a:p>
            <a:r>
              <a:t>PQ=400Q-1/4 * Q^2</a:t>
            </a:r>
          </a:p>
          <a:p>
            <a:r>
              <a:t>(Here I just multiplied the previous equation by Q: easy!)</a:t>
            </a:r>
          </a:p>
          <a:p/>
          <a:p>
            <a:r>
              <a:t>Find Marginal Revenue. That's the hardest step. It entails taking the derivative of PQ with respect to Q. You may or may not know any calculus. But (I promise!) you can do this even if you don't know any calculus. All you need to know is that the derivative of Q with respect to Q is 1, and that the derivative of Q2 with respect to Q is 2Q:</a:t>
            </a:r>
          </a:p>
          <a:p/>
          <a:p>
            <a:r>
              <a:t>MR=(∆PQ)/∆Q=400-1/2Q</a:t>
            </a:r>
          </a:p>
          <a:p/>
          <a:p>
            <a:r>
              <a:t>So now we have MR. You will notice that MR has twice the slope of the inverse demand function. The slope of the inverse demand function is -1/4 and the slope of MR is -1/2. When demand is linear, MR is always twice as steep as demand.  </a:t>
            </a:r>
          </a:p>
          <a:p>
            <a:r>
              <a:t> </a:t>
            </a:r>
          </a:p>
          <a:p>
            <a:r>
              <a:t>Where MR=0, demand is unit elastic</a:t>
            </a:r>
          </a:p>
          <a:p>
            <a:r>
              <a:t> </a:t>
            </a:r>
          </a:p>
          <a:p>
            <a:r>
              <a:t>Try to understand intuitively why the elasticity of demand is exactly -1 when MR=0!</a:t>
            </a:r>
          </a:p>
          <a:p/>
          <a:p>
            <a:r>
              <a:t>Total revenue is maximized where E_d=-1. If MR&gt;0, then TR must be rising as Q increases. If MR&lt;0, then TR must be declining. </a:t>
            </a:r>
          </a:p>
          <a:p>
            <a:r>
              <a:t> </a:t>
            </a:r>
          </a:p>
          <a:p>
            <a:r>
              <a:t>Note that your goal is to maximize profits, not total revenue. A consideration of costs matters.</a:t>
            </a:r>
          </a:p>
          <a:p/>
          <a:p>
            <a:r>
              <a:t>Now we set MR equal to MC ($200) and we are done:</a:t>
            </a:r>
          </a:p>
          <a:p>
            <a:r>
              <a:t>MR=MC</a:t>
            </a:r>
          </a:p>
          <a:p>
            <a:r>
              <a:t>400-12Q=200</a:t>
            </a:r>
          </a:p>
          <a:p>
            <a:r>
              <a:t>Q=400</a:t>
            </a:r>
          </a:p>
          <a:p/>
          <a:p>
            <a:r>
              <a:t>So now we know that maximizing profits entails setting Q=400. What about the price P? Well, that's easy to find: our price-quantity combination must be located on the demand curve. So from the inverse demand we derived earlier, we find:</a:t>
            </a:r>
          </a:p>
          <a:p/>
          <a:p>
            <a:r>
              <a:t>P=400-1/4Q=400-100=$300</a:t>
            </a:r>
          </a:p>
          <a:p/>
          <a:p>
            <a:r>
              <a:t>Maximizing profits, here, entails setting Q=400 units and P=$300.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isn’t MR just P? </a:t>
            </a:r>
          </a:p>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p>
            <a:r>
              <a:t>Is there any situation under which MR=P? </a:t>
            </a:r>
          </a:p>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p>
            <a:r>
              <a:t>Can MR be negative? </a:t>
            </a:r>
          </a:p>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can say that we'll focus on market experimentation = cleanest way + increasingly ued thanks to new technologies + we'll discuss at the end why better than using transaction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camelcamelcamel.com is a free Amazon price tracker. It has followed Amazon listings since 2008 and plots the price history of a single product, marking the highest and lowest price it has ever recorded. The blue line on this slide is one listing over about five months, and the point is how restless it is: the price moves almost daily and swings between roughly $35 and $84 for the same item.</a:t>
            </a:r>
          </a:p>
          <a:p/>
          <a:p>
            <a:r>
              <a:t>That is the illustration. Amazon is not running one A/B test and then settling on an answer, the way the previous slide's classic experiment does. It re-prices continuously, so the price variation we would need to estimate a demand curve is being generated all the time. The flip side is the warning that comes a few slides later: these price moves are not randomized, so quantity differences across high- and low-price days also reflect whatever else changed on those days (a holiday, a competitor's promotion, a stock-out).</a:t>
            </a:r>
          </a:p>
          <a:p/>
          <a:p>
            <a:r>
              <a:t>The product above the chart is the Labubu plush keyring from Pop Mart's THE MONSTERS x Coca-Cola series, sold as a blind box. It is a good listing for this point because collectible demand is volatile, but nothing turns on the product itself; any listing with a restless price would make the same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intercept term is the value of a: horizontal intercept. When the price is zero you sell 479 units.</a:t>
            </a:r>
          </a:p>
          <a:p/>
          <a:p>
            <a:r>
              <a:t>The price has a negative coefficient: b=-1.64. Price and volume are inversely related, as in a demand function. For every unit you drop the price, you get a 1.64 unit expansion in volume sold.</a:t>
            </a:r>
          </a:p>
          <a:p/>
          <a:p>
            <a:r>
              <a:t>So now we have our values for a and b,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reported statistics (by Excel, R, or Stata) are interesting. </a:t>
            </a:r>
          </a:p>
          <a:p/>
          <a:p>
            <a:r>
              <a:t>— The first is a measure of FIT. The better the overall fit, the closer the data points are to the regression line, i.e. the regression line captures a lot of the variation in the data. A measure of what we can explain. Here R2 is about 60%. We can explain 60% of the variation in quantity only using the price. Not bad, but there is room for improvement – 40% to be precise. The logical next step is to try to explain more. You can do that by adding more variables on the right hand side. If all the points were exactly on the regression line, we would have R2=1. Needless to say, that is almost never the case.</a:t>
            </a:r>
          </a:p>
          <a:p/>
          <a:p>
            <a:r>
              <a:t>The second set of statistics measure statistical significance – i.e. how precisely each individual coefficient is measured. You can look at the standard error of your estimate, or the t-statistic that is simply the coefficient divided by the standard error. The rule of thumb is you want the absolute value of the t-statistic to be greater than 2 – for enough precision you want your coefficient to be twice the magnitude of its standard error. Then you can be 95% certain that the true coefficient is different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can we do better than an R2 of 0.59? Yes. Economics tells us a lot of other things besides your own price drive demand: income, price of substitutes, how much you spend on promotion and advertising, etc. So let’s include them in the regression and see what happens. -&gt; even if we have randomized prices, these factors might change and including them will increase precisions</a:t>
            </a:r>
          </a:p>
          <a:p>
            <a:r>
              <a:t> </a:t>
            </a:r>
          </a:p>
          <a:p>
            <a:r>
              <a:t>The multivariate model includes two additional regressors or independent variables:</a:t>
            </a:r>
          </a:p>
          <a:p/>
          <a:p>
            <a:r>
              <a:t>1. There is a competitor with a substitute product available (say United versus American)</a:t>
            </a:r>
          </a:p>
          <a:p>
            <a:r>
              <a:t>2. You have data on average income in the US at the time of the sales. That is a factor that influences demand (what is the expected direction? Positive if air travel is a normal good).</a:t>
            </a:r>
          </a:p>
          <a:p>
            <a:r>
              <a:t> </a:t>
            </a:r>
          </a:p>
          <a:p>
            <a:r>
              <a:t>Move to multiple regression module of the Excel workbook. Units are $ for price but an index for the income level. Run a multivariate regression of quantity on own price, price of substitute and income. The dependent variable stays the same, the independent variables now include Y and Pc.</a:t>
            </a:r>
          </a:p>
          <a:p/>
          <a:p>
            <a:r>
              <a:t>On Problem Set 2, you will have the opportunity to run a regression, and interpret and use the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has changed? </a:t>
            </a:r>
          </a:p>
          <a:p>
            <a:r>
              <a:t> </a:t>
            </a:r>
          </a:p>
          <a:p>
            <a:r>
              <a:t>The coefficient on Pc, which is dQ/dPc, equals 1.04. This indicates how my quantity sold changes with a one unit change in the competitor’s price. Since the product is a substitute, I expect a positive sign, which is what we get.</a:t>
            </a:r>
          </a:p>
          <a:p/>
          <a:p>
            <a:r>
              <a:t>The coefficient on Y is 3.09 indicating a normal good. For every 1 point increase in the index of income, you get a 3.09 increase in airline seats sold.</a:t>
            </a:r>
          </a:p>
          <a:p/>
          <a:p>
            <a:r>
              <a:t>You can derive elasticities from these numbers.</a:t>
            </a:r>
          </a:p>
          <a:p/>
          <a:p>
            <a:r>
              <a:t>There is not much meaning to the intercept here – value of Q is all the independent variables are zero.</a:t>
            </a:r>
          </a:p>
          <a:p/>
          <a:p>
            <a:r>
              <a:t>Note that R2 (which is not stated on this slide) is now up to 0.88, which mean 88% of the variation in Q is explained by our model, so we are doing much better. R2 always goes up when you include more variables, but how much it goes up matters.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show the graph to say that when MR is negative it means you are in the inelastic portion and in this portion you always want to increase the price + we can ask them</a:t>
            </a:r>
          </a:p>
          <a:p>
            <a:r>
              <a:t>Then which value do you expect for the elasticity at the current price (should answer absolute value below 1)</a:t>
            </a:r>
          </a:p>
          <a:p>
            <a:r>
              <a:t>How would you compute it? + if time could be done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call this omitted variable bias. </a:t>
            </a:r>
          </a:p>
          <a:p/>
          <a:p>
            <a:r>
              <a:t>https://www.thegreatcoursesdaily.com/correlation-or-causality-wine-and-heart-health/ </a:t>
            </a:r>
          </a:p>
          <a:p>
            <a:r>
              <a:t>“But experts warn that the two studies, both published in the Annals of Internal Medicine, do not show that drinking coffee was behind the overall lower risk, pointing out that it could be that coffee drinkers are healthier in various ways or that those who are unwell drink less coffee. In addition, levels of coffee drinking were self-reported.”</a:t>
            </a:r>
          </a:p>
        </p:txBody>
      </p:sp>
      <p:sp>
        <p:nvSpPr>
          <p:cNvPr id="4" name="Slide Number Placeholder 3"/>
          <p:cNvSpPr>
            <a:spLocks noGrp="1"/>
          </p:cNvSpPr>
          <p:nvPr>
            <p:ph type="sldNum" idx="5" sz="quarter"/>
          </p:nvPr>
        </p:nvSpPr>
        <p:spPr/>
      </p:sp>
    </p:spTree>
  </p:cSld>
  <p:clrMapOvr>
    <a:masterClrMapping/>
  </p:clrMapOvr>
</p:notes>
</file>

<file path=ppt/notesSlides/pe24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Marginal Revenue when Q=10-0.5P?
https://www.polleverywhere.com/multiple_choice_polls/C5Wxwwh4hdr3oNiTVckkc?flow=Default&amp;onscreen=persist</a:t>
            </a:r>
          </a:p>
        </p:txBody>
      </p:sp>
      <p:sp>
        <p:nvSpPr>
          <p:cNvPr id="4" name="Slide Number Placeholder 3"/>
          <p:cNvSpPr>
            <a:spLocks noGrp="1"/>
          </p:cNvSpPr>
          <p:nvPr>
            <p:ph type="sldNum" sz="quarter" idx="5"/>
          </p:nvPr>
        </p:nvSpPr>
        <p:spPr/>
        <p:txBody>
          <a:bodyPr/>
          <a:lstStyle/>
          <a:p>
            <a:fld id="{8D36AC2A-E969-3C46-9ED8-B46D40C5E669}" type="slidenum">
              <a:rPr lang="en-US" smtClean="0"/>
              <a:t>20</a:t>
            </a:fld>
            <a:endParaRPr lang="en-US"/>
          </a:p>
        </p:txBody>
      </p:sp>
      <p:sp>
        <p:nvSpPr>
          <p:cNvPr id="5" name="TextBox 4">
            <a:extLst>
              <a:ext uri="{FF2B5EF4-FFF2-40B4-BE49-F238E27FC236}">
                <a16:creationId xmlns:a16="http://schemas.microsoft.com/office/drawing/2014/main" id="{4821B7E2-5DB7-4132-AC27-6C4EA27E5205}"/>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30414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hyperlink" Target="https://www.pharmaceutical-technology.com/news/trump-hits-long-term-pledge-as-us-prices-of-weight-loss-drugs-slashe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pharmaceutical-technology.com/news/novo-nordisk-shares-tumble-18-after-2026-sales-dip-warn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24_notes.xml" /><Relationship Id="rId3" Type="http://schemas.openxmlformats.org/officeDocument/2006/relationships/tags" Target="../tags/pe24_tag7.xml" /><Relationship Id="rId4" Type="http://schemas.openxmlformats.org/officeDocument/2006/relationships/image" Target="../media/pe24_image15.png" /></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 Id="rId5" Type="http://schemas.openxmlformats.org/officeDocument/2006/relationships/hyperlink" Target="https://camelcamelcamel.com/product/B0DRVPMBX3"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1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 Id="rId5" Type="http://schemas.openxmlformats.org/officeDocument/2006/relationships/hyperlink" Target="https://www.tylervigen.com/spurious-correlatio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and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1</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1" name="Rounded Rectangle 10"/>
          <p:cNvSpPr/>
          <p:nvPr/>
        </p:nvSpPr>
        <p:spPr>
          <a:xfrm>
            <a:off x="822960" y="3104388"/>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3" name="TextBox 12"/>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4" name="Rounded Rectangle 13"/>
          <p:cNvSpPr/>
          <p:nvPr/>
        </p:nvSpPr>
        <p:spPr>
          <a:xfrm>
            <a:off x="1252728" y="3936492"/>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3a</a:t>
            </a:r>
          </a:p>
        </p:txBody>
      </p:sp>
      <p:sp>
        <p:nvSpPr>
          <p:cNvPr id="16" name="TextBox 15"/>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17" name="Oval 16"/>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18" name="TextBox 17"/>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19" name="Oval 18"/>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20" name="TextBox 19"/>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4" name="TextBox 23"/>
          <p:cNvSpPr txBox="1"/>
          <p:nvPr/>
        </p:nvSpPr>
        <p:spPr>
          <a:xfrm>
            <a:off x="11475720" y="6583680"/>
            <a:ext cx="502920" cy="292608"/>
          </a:xfrm>
          <a:prstGeom prst="rect">
            <a:avLst/>
          </a:prstGeom>
          <a:noFill/>
        </p:spPr>
        <p:txBody>
          <a:bodyPr wrap="none" lIns="0" rIns="0" tIns="0" bIns="0">
            <a:spAutoFit/>
          </a:bodyPr>
          <a:lstStyle/>
          <a:p>
            <a:pPr algn="r"/>
            <a:fld id="{B87BF060-47E1-5372-A36E-4FBB75A5DA1F}" type="slidenum">
              <a:rPr lang="en-US" sz="1200" dirty="0">
                <a:solidFill>
                  <a:srgbClr val="555B66"/>
                </a:solidFill>
                <a:latin typeface="Calibri"/>
              </a:rPr>
              <a:t>2</a:t>
            </a:fld>
          </a:p>
        </p:txBody>
      </p:sp>
      <p:sp>
        <p:nvSpPr>
          <p:cNvPr id="25" name="Rounded Rectangle 24"/>
          <p:cNvSpPr/>
          <p:nvPr/>
        </p:nvSpPr>
        <p:spPr>
          <a:xfrm>
            <a:off x="7498079" y="5735116"/>
            <a:ext cx="4480560" cy="658368"/>
          </a:xfrm>
          <a:prstGeom prst="roundRect">
            <a:avLst>
              <a:gd name="adj" fmla="val 20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B2B4E"/>
                </a:solidFill>
                <a:latin typeface="Calibri"/>
              </a:rPr>
              <a:t>▶  Teaching Note – Demand Elasticity and Total Revenue
On BL under “Module 2 Post-Work”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Plotting the (Inverse)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11064240" cy="502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i="1">
                <a:solidFill>
                  <a:srgbClr val="555B66"/>
                </a:solidFill>
                <a:latin typeface="Calibri"/>
              </a:rPr>
              <a:t>Note: this is the demand function a single </a:t>
            </a:r>
            <a:r>
              <a:rPr sz="2300" b="1" i="1">
                <a:solidFill>
                  <a:srgbClr val="0B2B4E"/>
                </a:solidFill>
                <a:latin typeface="Calibri"/>
              </a:rPr>
              <a:t>firm</a:t>
            </a:r>
            <a:r>
              <a:rPr sz="2300" i="1">
                <a:solidFill>
                  <a:srgbClr val="555B66"/>
                </a:solidFill>
                <a:latin typeface="Calibri"/>
              </a:rPr>
              <a:t> faces</a:t>
            </a:r>
          </a:p>
        </p:txBody>
      </p:sp>
      <p:cxnSp>
        <p:nvCxnSpPr>
          <p:cNvPr id="8" name="Connector 7"/>
          <p:cNvCxnSpPr/>
          <p:nvPr/>
        </p:nvCxnSpPr>
        <p:spPr>
          <a:xfrm flipV="1">
            <a:off x="1005840" y="2048256"/>
            <a:ext cx="0" cy="3803904"/>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05840" y="5852160"/>
            <a:ext cx="592531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04088" y="1847088"/>
            <a:ext cx="603504" cy="310896"/>
          </a:xfrm>
          <a:prstGeom prst="rect">
            <a:avLst/>
          </a:prstGeom>
          <a:noFill/>
        </p:spPr>
        <p:txBody>
          <a:bodyPr wrap="square" lIns="0" rIns="0" tIns="0" bIns="0">
            <a:spAutoFit/>
          </a:bodyPr>
          <a:lstStyle/>
          <a:p>
            <a:pPr algn="l"/>
            <a:r>
              <a:rPr sz="1900" b="1" i="1" u="none">
                <a:solidFill>
                  <a:srgbClr val="0B2B4E"/>
                </a:solidFill>
                <a:latin typeface="Calibri"/>
              </a:rPr>
              <a:t>P</a:t>
            </a:r>
          </a:p>
        </p:txBody>
      </p:sp>
      <p:sp>
        <p:nvSpPr>
          <p:cNvPr id="11" name="TextBox 10"/>
          <p:cNvSpPr txBox="1"/>
          <p:nvPr/>
        </p:nvSpPr>
        <p:spPr>
          <a:xfrm>
            <a:off x="6464808" y="5943600"/>
            <a:ext cx="603504" cy="292608"/>
          </a:xfrm>
          <a:prstGeom prst="rect">
            <a:avLst/>
          </a:prstGeom>
          <a:noFill/>
        </p:spPr>
        <p:txBody>
          <a:bodyPr wrap="square" lIns="0" rIns="0" tIns="0" bIns="0">
            <a:spAutoFit/>
          </a:bodyPr>
          <a:lstStyle/>
          <a:p>
            <a:pPr algn="l"/>
            <a:r>
              <a:rPr sz="1900" b="1" i="1" u="none">
                <a:solidFill>
                  <a:srgbClr val="0B2B4E"/>
                </a:solidFill>
                <a:latin typeface="Calibri"/>
              </a:rPr>
              <a:t>Q</a:t>
            </a:r>
          </a:p>
        </p:txBody>
      </p:sp>
      <p:cxnSp>
        <p:nvCxnSpPr>
          <p:cNvPr id="12" name="Connector 11"/>
          <p:cNvCxnSpPr/>
          <p:nvPr/>
        </p:nvCxnSpPr>
        <p:spPr>
          <a:xfrm>
            <a:off x="1005840" y="2895172"/>
            <a:ext cx="4744750" cy="2956988"/>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432" y="2767156"/>
            <a:ext cx="868680" cy="274320"/>
          </a:xfrm>
          <a:prstGeom prst="rect">
            <a:avLst/>
          </a:prstGeom>
          <a:noFill/>
        </p:spPr>
        <p:txBody>
          <a:bodyPr wrap="square" lIns="0" rIns="0" tIns="0" bIns="0">
            <a:spAutoFit/>
          </a:bodyPr>
          <a:lstStyle/>
          <a:p>
            <a:pPr algn="r"/>
            <a:r>
              <a:rPr sz="1800" b="0" i="0" u="none">
                <a:solidFill>
                  <a:srgbClr val="0B2B4E"/>
                </a:solidFill>
                <a:latin typeface="Calibri"/>
              </a:rPr>
              <a:t>$400</a:t>
            </a:r>
          </a:p>
        </p:txBody>
      </p:sp>
      <p:sp>
        <p:nvSpPr>
          <p:cNvPr id="14" name="TextBox 13"/>
          <p:cNvSpPr txBox="1"/>
          <p:nvPr/>
        </p:nvSpPr>
        <p:spPr>
          <a:xfrm>
            <a:off x="5293390" y="5907024"/>
            <a:ext cx="914400" cy="274320"/>
          </a:xfrm>
          <a:prstGeom prst="rect">
            <a:avLst/>
          </a:prstGeom>
          <a:noFill/>
        </p:spPr>
        <p:txBody>
          <a:bodyPr wrap="square" lIns="0" rIns="0" tIns="0" bIns="0">
            <a:spAutoFit/>
          </a:bodyPr>
          <a:lstStyle/>
          <a:p>
            <a:pPr algn="ctr"/>
            <a:r>
              <a:rPr sz="1800" b="0" i="0" u="none">
                <a:solidFill>
                  <a:srgbClr val="0B2B4E"/>
                </a:solidFill>
                <a:latin typeface="Calibri"/>
              </a:rPr>
              <a:t>1600</a:t>
            </a:r>
          </a:p>
        </p:txBody>
      </p:sp>
      <p:sp>
        <p:nvSpPr>
          <p:cNvPr id="15" name="TextBox 14"/>
          <p:cNvSpPr txBox="1"/>
          <p:nvPr/>
        </p:nvSpPr>
        <p:spPr>
          <a:xfrm>
            <a:off x="5879592" y="5541264"/>
            <a:ext cx="1463040" cy="310896"/>
          </a:xfrm>
          <a:prstGeom prst="rect">
            <a:avLst/>
          </a:prstGeom>
          <a:noFill/>
        </p:spPr>
        <p:txBody>
          <a:bodyPr wrap="square" lIns="0" rIns="0" tIns="0" bIns="0">
            <a:spAutoFit/>
          </a:bodyPr>
          <a:lstStyle/>
          <a:p>
            <a:pPr algn="l"/>
            <a:r>
              <a:rPr sz="2000" b="1" i="0" u="none">
                <a:solidFill>
                  <a:srgbClr val="0B2B4E"/>
                </a:solidFill>
                <a:latin typeface="Calibri"/>
              </a:rPr>
              <a:t>D</a:t>
            </a:r>
          </a:p>
        </p:txBody>
      </p:sp>
      <p:grpSp>
        <p:nvGrpSpPr>
          <p:cNvPr id="121" name="Group pair 121"/>
          <p:cNvGrpSpPr/>
          <p:nvPr/>
        </p:nvGrpSpPr>
        <p:grpSpPr>
          <a:xfrm>
            <a:off x="7498079" y="1783080"/>
            <a:ext cx="3657600" cy="2971800"/>
            <a:chOff x="7498079" y="1783080"/>
            <a:chExt cx="3657600" cy="2971800"/>
          </a:xfrm>
        </p:grpSpPr>
        <p:sp>
          <p:nvSpPr>
            <p:cNvPr id="16" name="Rounded Rectangle 15"/>
            <p:cNvSpPr/>
            <p:nvPr/>
          </p:nvSpPr>
          <p:spPr>
            <a:xfrm>
              <a:off x="7498079" y="1783080"/>
              <a:ext cx="3657600" cy="2971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59" y="1892808"/>
              <a:ext cx="3291840" cy="2752344"/>
            </a:xfrm>
            <a:prstGeom prst="rect">
              <a:avLst/>
            </a:prstGeom>
            <a:noFill/>
          </p:spPr>
          <p:txBody>
            <a:bodyPr wrap="square" lIns="45720" rIns="45720" tIns="0" bIns="0" anchor="ctr">
              <a:spAutoFit/>
            </a:bodyPr>
            <a:lstStyle/>
            <a:p>
              <a:pPr algn="ctr"/>
              <a:r>
                <a:rPr sz="1900" b="1" i="0" u="none">
                  <a:solidFill>
                    <a:srgbClr val="0B2B4E"/>
                  </a:solidFill>
                  <a:latin typeface="Calibri"/>
                </a:rPr>
                <a:t>Demand function</a:t>
              </a:r>
              <a:r>
                <a:rPr sz="2200" b="0" i="1" u="none">
                  <a:solidFill>
                    <a:srgbClr val="0B2B4E"/>
                  </a:solidFill>
                  <a:latin typeface="Calibri"/>
                </a:rPr>
                <a:t>
Q = 1,600 − 4P</a:t>
              </a:r>
              <a:r>
                <a:rPr sz="1200" b="0" i="0" u="none">
                  <a:solidFill>
                    <a:srgbClr val="0B2B4E"/>
                  </a:solidFill>
                  <a:latin typeface="Calibri"/>
                </a:rPr>
                <a:t>
</a:t>
              </a:r>
              <a:r>
                <a:rPr sz="1900" b="1" i="1" u="none">
                  <a:solidFill>
                    <a:srgbClr val="0B2B4E"/>
                  </a:solidFill>
                  <a:latin typeface="Calibri"/>
                </a:rPr>
                <a:t>
Rearrange for P: </a:t>
              </a:r>
              <a:r>
                <a:rPr sz="1900" b="1" i="0" u="none">
                  <a:solidFill>
                    <a:srgbClr val="0B2B4E"/>
                  </a:solidFill>
                  <a:latin typeface="Calibri"/>
                </a:rPr>
                <a:t>
Inverse demand function</a:t>
              </a:r>
              <a:r>
                <a:rPr sz="2200" b="1" i="1" u="none">
                  <a:solidFill>
                    <a:srgbClr val="0B2B4E"/>
                  </a:solidFill>
                  <a:latin typeface="Calibri"/>
                </a:rPr>
                <a:t>
P = 400 − Q/4</a:t>
              </a:r>
            </a:p>
          </p:txBody>
        </p:sp>
      </p:gr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1" name="TextBox 20"/>
          <p:cNvSpPr txBox="1"/>
          <p:nvPr/>
        </p:nvSpPr>
        <p:spPr>
          <a:xfrm>
            <a:off x="11475720" y="6583680"/>
            <a:ext cx="502920" cy="292608"/>
          </a:xfrm>
          <a:prstGeom prst="rect">
            <a:avLst/>
          </a:prstGeom>
          <a:noFill/>
        </p:spPr>
        <p:txBody>
          <a:bodyPr wrap="none" lIns="0" rIns="0" tIns="0" bIns="0">
            <a:spAutoFit/>
          </a:bodyPr>
          <a:lstStyle/>
          <a:p>
            <a:pPr algn="r"/>
            <a:fld id="{E483B8E3-9AB7-5D66-AC98-1C6603CE0F26}" type="slidenum">
              <a:rPr lang="en-US" sz="1200" dirty="0">
                <a:solidFill>
                  <a:srgbClr val="555B66"/>
                </a:solidFill>
                <a:latin typeface="Calibri"/>
              </a:rPr>
              <a:t>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From Demand to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2781100"/>
            <a:ext cx="1878171" cy="739340"/>
          </a:xfrm>
          <a:prstGeom prst="rect">
            <a:avLst/>
          </a:prstGeom>
          <a:solidFill>
            <a:srgbClr val="F6E8C9"/>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36" name="Group pair 136"/>
          <p:cNvGrpSpPr/>
          <p:nvPr/>
        </p:nvGrpSpPr>
        <p:grpSpPr>
          <a:xfrm>
            <a:off x="1024127" y="1252728"/>
            <a:ext cx="5541265" cy="2651760"/>
            <a:chOff x="1024127" y="1252728"/>
            <a:chExt cx="5541265" cy="2651760"/>
          </a:xfrm>
        </p:grpSpPr>
        <p:cxnSp>
          <p:nvCxnSpPr>
            <p:cNvPr id="8" name="Connector 7"/>
            <p:cNvCxnSpPr/>
            <p:nvPr/>
          </p:nvCxnSpPr>
          <p:spPr>
            <a:xfrm flipV="1">
              <a:off x="1325880" y="1453896"/>
              <a:ext cx="0" cy="2066544"/>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25880" y="3520440"/>
              <a:ext cx="4782312"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24127" y="1252728"/>
              <a:ext cx="603504" cy="310896"/>
            </a:xfrm>
            <a:prstGeom prst="rect">
              <a:avLst/>
            </a:prstGeom>
            <a:noFill/>
          </p:spPr>
          <p:txBody>
            <a:bodyPr wrap="square" lIns="0" rIns="0" tIns="0" bIns="0">
              <a:spAutoFit/>
            </a:bodyPr>
            <a:lstStyle/>
            <a:p>
              <a:pPr algn="l"/>
              <a:r>
                <a:rPr sz="1700" b="1" i="1" u="none">
                  <a:solidFill>
                    <a:srgbClr val="0B2B4E"/>
                  </a:solidFill>
                  <a:latin typeface="Calibri"/>
                </a:rPr>
                <a:t>P</a:t>
              </a:r>
            </a:p>
          </p:txBody>
        </p:sp>
        <p:sp>
          <p:nvSpPr>
            <p:cNvPr id="11" name="TextBox 10"/>
            <p:cNvSpPr txBox="1"/>
            <p:nvPr/>
          </p:nvSpPr>
          <p:spPr>
            <a:xfrm>
              <a:off x="5961888" y="3611880"/>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grpSp>
      <p:cxnSp>
        <p:nvCxnSpPr>
          <p:cNvPr id="12" name="Connector 11"/>
          <p:cNvCxnSpPr/>
          <p:nvPr/>
        </p:nvCxnSpPr>
        <p:spPr>
          <a:xfrm flipV="1">
            <a:off x="1325880" y="3785616"/>
            <a:ext cx="0" cy="2203704"/>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25880" y="5989320"/>
            <a:ext cx="4782312"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24127" y="3584448"/>
            <a:ext cx="603504" cy="310896"/>
          </a:xfrm>
          <a:prstGeom prst="rect">
            <a:avLst/>
          </a:prstGeom>
          <a:noFill/>
        </p:spPr>
        <p:txBody>
          <a:bodyPr wrap="square" lIns="0" rIns="0" tIns="0" bIns="0">
            <a:spAutoFit/>
          </a:bodyPr>
          <a:lstStyle/>
          <a:p>
            <a:pPr algn="l"/>
            <a:r>
              <a:rPr sz="1700" b="1" i="1" u="none">
                <a:solidFill>
                  <a:srgbClr val="0B2B4E"/>
                </a:solidFill>
                <a:latin typeface="Calibri"/>
              </a:rPr>
              <a:t>TR</a:t>
            </a:r>
          </a:p>
        </p:txBody>
      </p:sp>
      <p:sp>
        <p:nvSpPr>
          <p:cNvPr id="15" name="TextBox 14"/>
          <p:cNvSpPr txBox="1"/>
          <p:nvPr/>
        </p:nvSpPr>
        <p:spPr>
          <a:xfrm>
            <a:off x="5961888" y="6080759"/>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sp>
        <p:nvSpPr>
          <p:cNvPr id="16" name="TextBox 15"/>
          <p:cNvSpPr txBox="1"/>
          <p:nvPr/>
        </p:nvSpPr>
        <p:spPr>
          <a:xfrm>
            <a:off x="1325880" y="2995574"/>
            <a:ext cx="1878177" cy="310896"/>
          </a:xfrm>
          <a:prstGeom prst="rect">
            <a:avLst/>
          </a:prstGeom>
          <a:noFill/>
        </p:spPr>
        <p:txBody>
          <a:bodyPr wrap="square" lIns="0" rIns="0" tIns="0" bIns="0">
            <a:spAutoFit/>
          </a:bodyPr>
          <a:lstStyle/>
          <a:p>
            <a:pPr algn="ctr"/>
            <a:r>
              <a:rPr sz="1600" b="1" i="0" u="none">
                <a:solidFill>
                  <a:srgbClr val="0B2B4E"/>
                </a:solidFill>
                <a:latin typeface="Calibri"/>
              </a:rPr>
              <a:t>Total revenue</a:t>
            </a:r>
          </a:p>
        </p:txBody>
      </p:sp>
      <p:sp>
        <p:nvSpPr>
          <p:cNvPr id="17" name="TextBox 16"/>
          <p:cNvSpPr txBox="1"/>
          <p:nvPr/>
        </p:nvSpPr>
        <p:spPr>
          <a:xfrm>
            <a:off x="347471" y="2653084"/>
            <a:ext cx="868680" cy="274320"/>
          </a:xfrm>
          <a:prstGeom prst="rect">
            <a:avLst/>
          </a:prstGeom>
          <a:noFill/>
        </p:spPr>
        <p:txBody>
          <a:bodyPr wrap="square" lIns="0" rIns="0" tIns="0" bIns="0">
            <a:spAutoFit/>
          </a:bodyPr>
          <a:lstStyle/>
          <a:p>
            <a:pPr algn="r"/>
            <a:r>
              <a:rPr sz="1500" b="0" i="0" u="none">
                <a:solidFill>
                  <a:srgbClr val="0B2B4E"/>
                </a:solidFill>
                <a:latin typeface="Calibri"/>
              </a:rPr>
              <a:t>200</a:t>
            </a:r>
          </a:p>
        </p:txBody>
      </p:sp>
      <p:sp>
        <p:nvSpPr>
          <p:cNvPr id="18" name="TextBox 17"/>
          <p:cNvSpPr txBox="1"/>
          <p:nvPr/>
        </p:nvSpPr>
        <p:spPr>
          <a:xfrm>
            <a:off x="2746851" y="3575304"/>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grpSp>
        <p:nvGrpSpPr>
          <p:cNvPr id="138" name="Group pair 138"/>
          <p:cNvGrpSpPr/>
          <p:nvPr/>
        </p:nvGrpSpPr>
        <p:grpSpPr>
          <a:xfrm>
            <a:off x="347471" y="1913744"/>
            <a:ext cx="6122823" cy="1935880"/>
            <a:chOff x="347471" y="1913744"/>
            <a:chExt cx="6122823" cy="1935880"/>
          </a:xfrm>
        </p:grpSpPr>
        <p:grpSp>
          <p:nvGrpSpPr>
            <p:cNvPr id="137" name="Group pair 137"/>
            <p:cNvGrpSpPr/>
            <p:nvPr/>
          </p:nvGrpSpPr>
          <p:grpSpPr>
            <a:xfrm>
              <a:off x="1325880" y="2041760"/>
              <a:ext cx="5144414" cy="1478680"/>
              <a:chOff x="1325880" y="2041760"/>
              <a:chExt cx="5144414" cy="1478680"/>
            </a:xfrm>
          </p:grpSpPr>
          <p:cxnSp>
            <p:nvCxnSpPr>
              <p:cNvPr id="19" name="Connector 18"/>
              <p:cNvCxnSpPr/>
              <p:nvPr/>
            </p:nvCxnSpPr>
            <p:spPr>
              <a:xfrm>
                <a:off x="1325880" y="2041760"/>
                <a:ext cx="3756343" cy="147868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07254" y="3173882"/>
                <a:ext cx="1463040" cy="261518"/>
              </a:xfrm>
              <a:prstGeom prst="rect">
                <a:avLst/>
              </a:prstGeom>
              <a:noFill/>
            </p:spPr>
            <p:txBody>
              <a:bodyPr wrap="square" lIns="0" rIns="0" tIns="0" bIns="0">
                <a:spAutoFit/>
              </a:bodyPr>
              <a:lstStyle/>
              <a:p>
                <a:pPr algn="l"/>
                <a:r>
                  <a:rPr sz="1700" b="1" i="0" u="none">
                    <a:solidFill>
                      <a:srgbClr val="0B2B4E"/>
                    </a:solidFill>
                    <a:latin typeface="Calibri"/>
                  </a:rPr>
                  <a:t>D</a:t>
                </a:r>
              </a:p>
            </p:txBody>
          </p:sp>
        </p:grpSp>
        <p:sp>
          <p:nvSpPr>
            <p:cNvPr id="21" name="TextBox 20"/>
            <p:cNvSpPr txBox="1"/>
            <p:nvPr/>
          </p:nvSpPr>
          <p:spPr>
            <a:xfrm>
              <a:off x="347471" y="1913744"/>
              <a:ext cx="868680" cy="274320"/>
            </a:xfrm>
            <a:prstGeom prst="rect">
              <a:avLst/>
            </a:prstGeom>
            <a:noFill/>
          </p:spPr>
          <p:txBody>
            <a:bodyPr wrap="square" lIns="0" rIns="0" tIns="0" bIns="0">
              <a:spAutoFit/>
            </a:bodyPr>
            <a:lstStyle/>
            <a:p>
              <a:pPr algn="r"/>
              <a:r>
                <a:rPr sz="1500" b="0" i="0" u="none">
                  <a:solidFill>
                    <a:srgbClr val="0B2B4E"/>
                  </a:solidFill>
                  <a:latin typeface="Calibri"/>
                </a:rPr>
                <a:t>$400</a:t>
              </a:r>
            </a:p>
          </p:txBody>
        </p:sp>
        <p:sp>
          <p:nvSpPr>
            <p:cNvPr id="22" name="TextBox 21"/>
            <p:cNvSpPr txBox="1"/>
            <p:nvPr/>
          </p:nvSpPr>
          <p:spPr>
            <a:xfrm>
              <a:off x="4625023" y="3575304"/>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grpSp>
      <p:cxnSp>
        <p:nvCxnSpPr>
          <p:cNvPr id="23" name="Connector 22"/>
          <p:cNvCxnSpPr/>
          <p:nvPr/>
        </p:nvCxnSpPr>
        <p:spPr>
          <a:xfrm>
            <a:off x="1325880" y="2781100"/>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04051" y="2781100"/>
            <a:ext cx="0" cy="7393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325880" y="3827669"/>
            <a:ext cx="3756343" cy="2161651"/>
          </a:xfrm>
          <a:custGeom>
            <a:avLst/>
            <a:gdLst/>
            <a:ahLst/>
            <a:cxnLst/>
            <a:rect l="0" t="0" r="3756343" b="2161651"/>
            <a:pathLst>
              <a:path w="3756343" h="2161651">
                <a:moveTo>
                  <a:pt x="0" y="2161651"/>
                </a:moveTo>
                <a:cubicBezTo>
                  <a:pt x="1252114" y="0"/>
                  <a:pt x="2504228" y="0"/>
                  <a:pt x="3756343" y="2161651"/>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1" y="4240066"/>
            <a:ext cx="868680" cy="274320"/>
          </a:xfrm>
          <a:prstGeom prst="rect">
            <a:avLst/>
          </a:prstGeom>
          <a:noFill/>
        </p:spPr>
        <p:txBody>
          <a:bodyPr wrap="square" lIns="0" rIns="0" tIns="0" bIns="0">
            <a:spAutoFit/>
          </a:bodyPr>
          <a:lstStyle/>
          <a:p>
            <a:pPr algn="r"/>
            <a:r>
              <a:rPr sz="1500" b="0" i="0" u="none">
                <a:solidFill>
                  <a:srgbClr val="0B2B4E"/>
                </a:solidFill>
                <a:latin typeface="Calibri"/>
              </a:rPr>
              <a:t>$160,000</a:t>
            </a:r>
          </a:p>
        </p:txBody>
      </p:sp>
      <p:sp>
        <p:nvSpPr>
          <p:cNvPr id="27" name="TextBox 26"/>
          <p:cNvSpPr txBox="1"/>
          <p:nvPr/>
        </p:nvSpPr>
        <p:spPr>
          <a:xfrm>
            <a:off x="2746851" y="604418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8" name="TextBox 27"/>
          <p:cNvSpPr txBox="1"/>
          <p:nvPr/>
        </p:nvSpPr>
        <p:spPr>
          <a:xfrm>
            <a:off x="4625023" y="604418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cxnSp>
        <p:nvCxnSpPr>
          <p:cNvPr id="29" name="Connector 28"/>
          <p:cNvCxnSpPr/>
          <p:nvPr/>
        </p:nvCxnSpPr>
        <p:spPr>
          <a:xfrm>
            <a:off x="1325880" y="4368082"/>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04051" y="4368082"/>
            <a:ext cx="0" cy="162123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44791" y="2286000"/>
            <a:ext cx="4599432" cy="2779776"/>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7963" y="2552090"/>
            <a:ext cx="4134002" cy="224668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100" b="0">
                <a:solidFill>
                  <a:srgbClr val="0B2B4E"/>
                </a:solidFill>
                <a:latin typeface="Calibri"/>
              </a:defRPr>
            </a:lvl1pPr>
            <a:lvl2pPr marL="685800" indent="-228600">
              <a:spcBef>
                <a:spcPts val="300"/>
              </a:spcBef>
              <a:buClr>
                <a:srgbClr val="555B66"/>
              </a:buClr>
              <a:buFont typeface="Calibri"/>
              <a:buChar char="–"/>
              <a:defRPr sz="1700" b="0">
                <a:solidFill>
                  <a:srgbClr val="555B66"/>
                </a:solidFill>
                <a:latin typeface="Calibri"/>
              </a:defRPr>
            </a:lvl2pPr>
          </a:lstStyle>
          <a:p>
            <a:pPr algn="l"/>
            <a:r>
              <a:rPr b="1">
                <a:latin typeface="Calibri"/>
              </a:rPr>
              <a:t>Inverse demand:  </a:t>
            </a:r>
            <a:r>
              <a:rPr i="1">
                <a:latin typeface="Calibri"/>
              </a:rPr>
              <a:t>P = 400 − Q/4</a:t>
            </a:r>
          </a:p>
          <a:p>
            <a:pPr algn="l"/>
            <a:r>
              <a:rPr b="1">
                <a:latin typeface="Calibri"/>
              </a:rPr>
              <a:t>Total revenue:  </a:t>
            </a:r>
            <a:r>
              <a:rPr i="1">
                <a:latin typeface="Calibri"/>
              </a:rPr>
              <a:t>TR = P · Q</a:t>
            </a:r>
          </a:p>
          <a:p>
            <a:pPr algn="l" lvl="1">
              <a:spcBef>
                <a:spcPts val="200"/>
              </a:spcBef>
              <a:buNone/>
            </a:pPr>
            <a:r>
              <a:rPr sz="2000">
                <a:solidFill>
                  <a:srgbClr val="555B66"/>
                </a:solidFill>
                <a:latin typeface="Calibri"/>
              </a:rPr>
              <a:t>(illustrate for P=200)</a:t>
            </a:r>
          </a:p>
          <a:p>
            <a:pPr algn="l"/>
            <a:r>
              <a:rPr b="1">
                <a:latin typeface="Calibri"/>
              </a:rPr>
              <a:t>Plug in for P:  </a:t>
            </a:r>
            <a:r>
              <a:rPr i="1">
                <a:latin typeface="Calibri"/>
              </a:rPr>
              <a:t>TR = (400 − Q/4) · Q</a:t>
            </a:r>
          </a:p>
          <a:p>
            <a:pPr algn="l" lvl="1">
              <a:spcBef>
                <a:spcPts val="200"/>
              </a:spcBef>
              <a:buNone/>
            </a:pPr>
            <a:r>
              <a:rPr sz="1700" b="1" i="1">
                <a:solidFill>
                  <a:srgbClr val="E09F3E"/>
                </a:solidFill>
                <a:latin typeface="Calibri"/>
              </a:rPr>
              <a:t>TR = 400Q − Q²/4</a:t>
            </a:r>
          </a:p>
        </p:txBody>
      </p:sp>
      <p:sp>
        <p:nvSpPr>
          <p:cNvPr id="33" name="Rectangle 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6" name="TextBox 35"/>
          <p:cNvSpPr txBox="1"/>
          <p:nvPr/>
        </p:nvSpPr>
        <p:spPr>
          <a:xfrm>
            <a:off x="11475720" y="6583680"/>
            <a:ext cx="502920" cy="292608"/>
          </a:xfrm>
          <a:prstGeom prst="rect">
            <a:avLst/>
          </a:prstGeom>
          <a:noFill/>
        </p:spPr>
        <p:txBody>
          <a:bodyPr wrap="none" lIns="0" rIns="0" tIns="0" bIns="0">
            <a:spAutoFit/>
          </a:bodyPr>
          <a:lstStyle/>
          <a:p>
            <a:pPr algn="r"/>
            <a:fld id="{9F0D0457-7DD9-5B24-A8D9-45B32F967A96}" type="slidenum">
              <a:rPr lang="en-US" sz="1200" dirty="0">
                <a:solidFill>
                  <a:srgbClr val="555B66"/>
                </a:solidFill>
                <a:latin typeface="Calibri"/>
              </a:rPr>
              <a:t>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6"/>
                                        </p:tgtEl>
                                        <p:attrNameLst>
                                          <p:attrName>style.visibility</p:attrName>
                                        </p:attrNameLst>
                                      </p:cBhvr>
                                      <p:to>
                                        <p:strVal val="visible"/>
                                      </p:to>
                                    </p:set>
                                    <p:animEffect transition="in" filter="fade">
                                      <p:cBhvr>
                                        <p:cTn id="7" dur="500"/>
                                        <p:tgtEl>
                                          <p:spTgt spid="1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8"/>
                                        </p:tgtEl>
                                        <p:attrNameLst>
                                          <p:attrName>style.visibility</p:attrName>
                                        </p:attrNameLst>
                                      </p:cBhvr>
                                      <p:to>
                                        <p:strVal val="visible"/>
                                      </p:to>
                                    </p:set>
                                    <p:animEffect transition="in" filter="fade">
                                      <p:cBhvr>
                                        <p:cTn id="12" dur="500"/>
                                        <p:tgtEl>
                                          <p:spTgt spid="13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0" end="0"/>
                                            </p:txEl>
                                          </p:spTgt>
                                        </p:tgtEl>
                                        <p:attrNameLst>
                                          <p:attrName>style.visibility</p:attrName>
                                        </p:attrNameLst>
                                      </p:cBhvr>
                                      <p:to>
                                        <p:strVal val="visible"/>
                                      </p:to>
                                    </p:set>
                                    <p:animEffect transition="in" filter="fade">
                                      <p:cBhvr>
                                        <p:cTn id="17" dur="500"/>
                                        <p:tgtEl>
                                          <p:spTgt spid="32">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1" end="1"/>
                                            </p:txEl>
                                          </p:spTgt>
                                        </p:tgtEl>
                                        <p:attrNameLst>
                                          <p:attrName>style.visibility</p:attrName>
                                        </p:attrNameLst>
                                      </p:cBhvr>
                                      <p:to>
                                        <p:strVal val="visible"/>
                                      </p:to>
                                    </p:set>
                                    <p:animEffect transition="in" filter="fade">
                                      <p:cBhvr>
                                        <p:cTn id="22" dur="500"/>
                                        <p:tgtEl>
                                          <p:spTgt spid="32">
                                            <p:txEl>
                                              <p:pRg st="1" end="1"/>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2">
                                            <p:txEl>
                                              <p:pRg st="2" end="2"/>
                                            </p:txEl>
                                          </p:spTgt>
                                        </p:tgtEl>
                                        <p:attrNameLst>
                                          <p:attrName>style.visibility</p:attrName>
                                        </p:attrNameLst>
                                      </p:cBhvr>
                                      <p:to>
                                        <p:strVal val="visible"/>
                                      </p:to>
                                    </p:set>
                                    <p:animEffect transition="in" filter="fade">
                                      <p:cBhvr>
                                        <p:cTn id="25" dur="500"/>
                                        <p:tgtEl>
                                          <p:spTgt spid="32">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2">
                                            <p:txEl>
                                              <p:pRg st="3" end="3"/>
                                            </p:txEl>
                                          </p:spTgt>
                                        </p:tgtEl>
                                        <p:attrNameLst>
                                          <p:attrName>style.visibility</p:attrName>
                                        </p:attrNameLst>
                                      </p:cBhvr>
                                      <p:to>
                                        <p:strVal val="visible"/>
                                      </p:to>
                                    </p:set>
                                    <p:animEffect transition="in" filter="fade">
                                      <p:cBhvr>
                                        <p:cTn id="30" dur="500"/>
                                        <p:tgtEl>
                                          <p:spTgt spid="32">
                                            <p:txEl>
                                              <p:pRg st="3" end="3"/>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xEl>
                                              <p:pRg st="4" end="4"/>
                                            </p:txEl>
                                          </p:spTgt>
                                        </p:tgtEl>
                                        <p:attrNameLst>
                                          <p:attrName>style.visibility</p:attrName>
                                        </p:attrNameLst>
                                      </p:cBhvr>
                                      <p:to>
                                        <p:strVal val="visible"/>
                                      </p:to>
                                    </p:set>
                                    <p:animEffect transition="in" filter="fade">
                                      <p:cBhvr>
                                        <p:cTn id="33" dur="500"/>
                                        <p:tgtEl>
                                          <p:spTgt spid="3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build="p"/>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3840480"/>
            <a:ext cx="2194560" cy="2011680"/>
          </a:xfrm>
          <a:prstGeom prst="rect">
            <a:avLst/>
          </a:prstGeom>
          <a:solidFill>
            <a:srgbClr val="F6E8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3438144"/>
            <a:ext cx="1645920" cy="402336"/>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0" y="3840480"/>
            <a:ext cx="548640" cy="2011680"/>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1097280" y="1664208"/>
            <a:ext cx="0" cy="418795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97280" y="5852160"/>
            <a:ext cx="576072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5528" y="1298448"/>
            <a:ext cx="603504" cy="310896"/>
          </a:xfrm>
          <a:prstGeom prst="rect">
            <a:avLst/>
          </a:prstGeom>
          <a:noFill/>
        </p:spPr>
        <p:txBody>
          <a:bodyPr wrap="square" lIns="0" rIns="0" tIns="0" bIns="0">
            <a:spAutoFit/>
          </a:bodyPr>
          <a:lstStyle/>
          <a:p>
            <a:pPr algn="l"/>
            <a:r>
              <a:rPr sz="1900" b="1" i="1" u="none">
                <a:solidFill>
                  <a:srgbClr val="0B2B4E"/>
                </a:solidFill>
                <a:latin typeface="Calibri"/>
              </a:rPr>
              <a:t>P</a:t>
            </a:r>
          </a:p>
        </p:txBody>
      </p:sp>
      <p:sp>
        <p:nvSpPr>
          <p:cNvPr id="13" name="TextBox 12"/>
          <p:cNvSpPr txBox="1"/>
          <p:nvPr/>
        </p:nvSpPr>
        <p:spPr>
          <a:xfrm>
            <a:off x="6556248" y="5943600"/>
            <a:ext cx="603504" cy="292608"/>
          </a:xfrm>
          <a:prstGeom prst="rect">
            <a:avLst/>
          </a:prstGeom>
          <a:noFill/>
        </p:spPr>
        <p:txBody>
          <a:bodyPr wrap="square" lIns="0" rIns="0" tIns="0" bIns="0">
            <a:spAutoFit/>
          </a:bodyPr>
          <a:lstStyle/>
          <a:p>
            <a:pPr algn="l"/>
            <a:r>
              <a:rPr sz="1900" b="1" i="1" u="none">
                <a:solidFill>
                  <a:srgbClr val="0B2B4E"/>
                </a:solidFill>
                <a:latin typeface="Calibri"/>
              </a:rPr>
              <a:t>Q</a:t>
            </a:r>
          </a:p>
        </p:txBody>
      </p:sp>
      <p:cxnSp>
        <p:nvCxnSpPr>
          <p:cNvPr id="14" name="Connector 13"/>
          <p:cNvCxnSpPr/>
          <p:nvPr/>
        </p:nvCxnSpPr>
        <p:spPr>
          <a:xfrm>
            <a:off x="1097280" y="2231136"/>
            <a:ext cx="4937760" cy="362102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 y="3282696"/>
            <a:ext cx="548640" cy="310896"/>
          </a:xfrm>
          <a:prstGeom prst="rect">
            <a:avLst/>
          </a:prstGeom>
          <a:noFill/>
        </p:spPr>
        <p:txBody>
          <a:bodyPr wrap="square" lIns="0" rIns="0" tIns="0" bIns="0">
            <a:spAutoFit/>
          </a:bodyPr>
          <a:lstStyle/>
          <a:p>
            <a:pPr algn="l"/>
            <a:r>
              <a:rPr sz="2200" b="1" i="0" u="none">
                <a:solidFill>
                  <a:srgbClr val="0B2B4E"/>
                </a:solidFill>
                <a:latin typeface="Calibri"/>
              </a:rPr>
              <a:t>P</a:t>
            </a:r>
            <a:r>
              <a:rPr sz="2200" b="1" i="0" u="none" baseline="-25000">
                <a:solidFill>
                  <a:srgbClr val="0B2B4E"/>
                </a:solidFill>
                <a:latin typeface="Calibri"/>
              </a:rPr>
              <a:t>0</a:t>
            </a:r>
          </a:p>
        </p:txBody>
      </p:sp>
      <p:sp>
        <p:nvSpPr>
          <p:cNvPr id="16" name="TextBox 15"/>
          <p:cNvSpPr txBox="1"/>
          <p:nvPr/>
        </p:nvSpPr>
        <p:spPr>
          <a:xfrm>
            <a:off x="466344" y="3685032"/>
            <a:ext cx="548640" cy="310896"/>
          </a:xfrm>
          <a:prstGeom prst="rect">
            <a:avLst/>
          </a:prstGeom>
          <a:noFill/>
        </p:spPr>
        <p:txBody>
          <a:bodyPr wrap="square" lIns="0" rIns="0" tIns="0" bIns="0">
            <a:spAutoFit/>
          </a:bodyPr>
          <a:lstStyle/>
          <a:p>
            <a:pPr algn="l"/>
            <a:r>
              <a:rPr sz="2200" b="1" i="0" u="none">
                <a:solidFill>
                  <a:srgbClr val="0B2B4E"/>
                </a:solidFill>
                <a:latin typeface="Calibri"/>
              </a:rPr>
              <a:t>P</a:t>
            </a:r>
            <a:r>
              <a:rPr sz="2200" b="1" i="0" u="none" baseline="-25000">
                <a:solidFill>
                  <a:srgbClr val="0B2B4E"/>
                </a:solidFill>
                <a:latin typeface="Calibri"/>
              </a:rPr>
              <a:t>1</a:t>
            </a:r>
          </a:p>
        </p:txBody>
      </p:sp>
      <p:sp>
        <p:nvSpPr>
          <p:cNvPr id="17" name="TextBox 16"/>
          <p:cNvSpPr txBox="1"/>
          <p:nvPr/>
        </p:nvSpPr>
        <p:spPr>
          <a:xfrm>
            <a:off x="2468880" y="5943600"/>
            <a:ext cx="548640" cy="310896"/>
          </a:xfrm>
          <a:prstGeom prst="rect">
            <a:avLst/>
          </a:prstGeom>
          <a:noFill/>
        </p:spPr>
        <p:txBody>
          <a:bodyPr wrap="square" lIns="0" rIns="0" tIns="0" bIns="0">
            <a:spAutoFit/>
          </a:bodyPr>
          <a:lstStyle/>
          <a:p>
            <a:pPr algn="l"/>
            <a:r>
              <a:rPr sz="2000" b="1" i="0" u="none">
                <a:solidFill>
                  <a:srgbClr val="0B2B4E"/>
                </a:solidFill>
                <a:latin typeface="Calibri"/>
              </a:rPr>
              <a:t>Q</a:t>
            </a:r>
            <a:r>
              <a:rPr sz="2000" b="1" i="0" u="none" baseline="-25000">
                <a:solidFill>
                  <a:srgbClr val="0B2B4E"/>
                </a:solidFill>
                <a:latin typeface="Calibri"/>
              </a:rPr>
              <a:t>0</a:t>
            </a:r>
          </a:p>
        </p:txBody>
      </p:sp>
      <p:sp>
        <p:nvSpPr>
          <p:cNvPr id="18" name="TextBox 17"/>
          <p:cNvSpPr txBox="1"/>
          <p:nvPr/>
        </p:nvSpPr>
        <p:spPr>
          <a:xfrm>
            <a:off x="3017520" y="5943600"/>
            <a:ext cx="548640" cy="310896"/>
          </a:xfrm>
          <a:prstGeom prst="rect">
            <a:avLst/>
          </a:prstGeom>
          <a:noFill/>
        </p:spPr>
        <p:txBody>
          <a:bodyPr wrap="square" lIns="0" rIns="0" tIns="0" bIns="0">
            <a:spAutoFit/>
          </a:bodyPr>
          <a:lstStyle/>
          <a:p>
            <a:pPr algn="l"/>
            <a:r>
              <a:rPr sz="2000" b="1" i="0" u="none">
                <a:solidFill>
                  <a:srgbClr val="0B2B4E"/>
                </a:solidFill>
                <a:latin typeface="Calibri"/>
              </a:rPr>
              <a:t>Q</a:t>
            </a:r>
            <a:r>
              <a:rPr sz="2000" b="1" i="0" u="none" baseline="-25000">
                <a:solidFill>
                  <a:srgbClr val="0B2B4E"/>
                </a:solidFill>
                <a:latin typeface="Calibri"/>
              </a:rPr>
              <a:t>1</a:t>
            </a:r>
          </a:p>
        </p:txBody>
      </p:sp>
      <p:cxnSp>
        <p:nvCxnSpPr>
          <p:cNvPr id="19" name="Connector 18"/>
          <p:cNvCxnSpPr/>
          <p:nvPr/>
        </p:nvCxnSpPr>
        <p:spPr>
          <a:xfrm>
            <a:off x="374904" y="3401568"/>
            <a:ext cx="0" cy="425195"/>
          </a:xfrm>
          <a:prstGeom prst="line">
            <a:avLst/>
          </a:prstGeom>
          <a:ln w="2857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624328" y="6313932"/>
            <a:ext cx="576072" cy="0"/>
          </a:xfrm>
          <a:prstGeom prst="line">
            <a:avLst/>
          </a:prstGeom>
          <a:ln w="2857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617720" y="4489704"/>
            <a:ext cx="1828800" cy="310896"/>
          </a:xfrm>
          <a:prstGeom prst="rect">
            <a:avLst/>
          </a:prstGeom>
          <a:noFill/>
        </p:spPr>
        <p:txBody>
          <a:bodyPr wrap="square" lIns="0" rIns="0" tIns="0" bIns="0">
            <a:spAutoFit/>
          </a:bodyPr>
          <a:lstStyle/>
          <a:p>
            <a:pPr algn="l"/>
            <a:r>
              <a:rPr sz="2000" b="1" i="0" u="none">
                <a:solidFill>
                  <a:srgbClr val="0B2B4E"/>
                </a:solidFill>
                <a:latin typeface="Calibri"/>
              </a:rPr>
              <a:t>Demand</a:t>
            </a:r>
          </a:p>
        </p:txBody>
      </p:sp>
      <p:sp>
        <p:nvSpPr>
          <p:cNvPr id="22" name="TextBox 21"/>
          <p:cNvSpPr txBox="1"/>
          <p:nvPr/>
        </p:nvSpPr>
        <p:spPr>
          <a:xfrm>
            <a:off x="1097280" y="4663440"/>
            <a:ext cx="1645920" cy="365760"/>
          </a:xfrm>
          <a:prstGeom prst="rect">
            <a:avLst/>
          </a:prstGeom>
          <a:noFill/>
        </p:spPr>
        <p:txBody>
          <a:bodyPr wrap="square" lIns="0" rIns="0" tIns="0" bIns="0">
            <a:spAutoFit/>
          </a:bodyPr>
          <a:lstStyle/>
          <a:p>
            <a:pPr algn="ctr"/>
            <a:r>
              <a:rPr sz="2200" b="1" i="1" u="none">
                <a:solidFill>
                  <a:srgbClr val="0B2B4E"/>
                </a:solidFill>
                <a:latin typeface="Calibri"/>
              </a:rPr>
              <a:t>TR</a:t>
            </a:r>
          </a:p>
        </p:txBody>
      </p:sp>
      <p:sp>
        <p:nvSpPr>
          <p:cNvPr id="23" name="Rectangle 22"/>
          <p:cNvSpPr/>
          <p:nvPr/>
        </p:nvSpPr>
        <p:spPr>
          <a:xfrm>
            <a:off x="7315200" y="2194560"/>
            <a:ext cx="502920" cy="3840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82127" y="2103120"/>
            <a:ext cx="393192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Reduction in </a:t>
            </a:r>
            <a:r>
              <a:rPr sz="2000" i="1">
                <a:solidFill>
                  <a:srgbClr val="0B2B4E"/>
                </a:solidFill>
                <a:latin typeface="Calibri"/>
              </a:rPr>
              <a:t>TR</a:t>
            </a:r>
            <a:r>
              <a:rPr sz="2000">
                <a:solidFill>
                  <a:srgbClr val="0B2B4E"/>
                </a:solidFill>
                <a:latin typeface="Calibri"/>
              </a:rPr>
              <a:t> from a lower price</a:t>
            </a:r>
          </a:p>
        </p:txBody>
      </p:sp>
      <p:sp>
        <p:nvSpPr>
          <p:cNvPr id="25" name="Rectangle 24"/>
          <p:cNvSpPr/>
          <p:nvPr/>
        </p:nvSpPr>
        <p:spPr>
          <a:xfrm>
            <a:off x="7315200" y="3200400"/>
            <a:ext cx="502920" cy="384048"/>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82127" y="3108960"/>
            <a:ext cx="393192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Increase in </a:t>
            </a:r>
            <a:r>
              <a:rPr sz="2000" i="1">
                <a:solidFill>
                  <a:srgbClr val="0B2B4E"/>
                </a:solidFill>
                <a:latin typeface="Calibri"/>
              </a:rPr>
              <a:t>TR</a:t>
            </a:r>
            <a:r>
              <a:rPr sz="2000">
                <a:solidFill>
                  <a:srgbClr val="0B2B4E"/>
                </a:solidFill>
                <a:latin typeface="Calibri"/>
              </a:rPr>
              <a:t> from higher volume</a:t>
            </a:r>
          </a:p>
        </p:txBody>
      </p:sp>
      <p:sp>
        <p:nvSpPr>
          <p:cNvPr id="27" name="Rounded Rectangle 26"/>
          <p:cNvSpPr/>
          <p:nvPr/>
        </p:nvSpPr>
        <p:spPr>
          <a:xfrm>
            <a:off x="7863840" y="4480560"/>
            <a:ext cx="3291840" cy="86868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0B2B4E"/>
                </a:solidFill>
                <a:latin typeface="Calibri"/>
              </a:rPr>
              <a:t>Which area is bigger?</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1" name="TextBox 30"/>
          <p:cNvSpPr txBox="1"/>
          <p:nvPr/>
        </p:nvSpPr>
        <p:spPr>
          <a:xfrm>
            <a:off x="11475720" y="6583680"/>
            <a:ext cx="502920" cy="292608"/>
          </a:xfrm>
          <a:prstGeom prst="rect">
            <a:avLst/>
          </a:prstGeom>
          <a:noFill/>
        </p:spPr>
        <p:txBody>
          <a:bodyPr wrap="none" lIns="0" rIns="0" tIns="0" bIns="0">
            <a:spAutoFit/>
          </a:bodyPr>
          <a:lstStyle/>
          <a:p>
            <a:pPr algn="r"/>
            <a:fld id="{DD0FF23F-2665-581F-B7D1-2CC5B078E18B}" type="slidenum">
              <a:rPr lang="en-US" sz="1200" dirty="0">
                <a:solidFill>
                  <a:srgbClr val="555B66"/>
                </a:solidFill>
                <a:latin typeface="Calibri"/>
              </a:rPr>
              <a:t>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500"/>
                                        <p:tgtEl>
                                          <p:spTgt spid="2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500"/>
                                        <p:tgtEl>
                                          <p:spTgt spid="2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2560320" y="1481328"/>
            <a:ext cx="0" cy="235915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60320" y="3840480"/>
            <a:ext cx="585216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67712" y="1207008"/>
            <a:ext cx="603504" cy="310896"/>
          </a:xfrm>
          <a:prstGeom prst="rect">
            <a:avLst/>
          </a:prstGeom>
          <a:noFill/>
        </p:spPr>
        <p:txBody>
          <a:bodyPr wrap="square" lIns="0" rIns="0" tIns="0" bIns="0">
            <a:spAutoFit/>
          </a:bodyPr>
          <a:lstStyle/>
          <a:p>
            <a:pPr algn="l"/>
            <a:r>
              <a:rPr sz="1700" b="1" i="1" u="none">
                <a:solidFill>
                  <a:srgbClr val="0B2B4E"/>
                </a:solidFill>
                <a:latin typeface="Calibri"/>
              </a:rPr>
              <a:t>P</a:t>
            </a:r>
          </a:p>
        </p:txBody>
      </p:sp>
      <p:sp>
        <p:nvSpPr>
          <p:cNvPr id="10" name="TextBox 9"/>
          <p:cNvSpPr txBox="1"/>
          <p:nvPr/>
        </p:nvSpPr>
        <p:spPr>
          <a:xfrm>
            <a:off x="8110727" y="3931920"/>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cxnSp>
        <p:nvCxnSpPr>
          <p:cNvPr id="11" name="Connector 10"/>
          <p:cNvCxnSpPr/>
          <p:nvPr/>
        </p:nvCxnSpPr>
        <p:spPr>
          <a:xfrm>
            <a:off x="2560320" y="1865376"/>
            <a:ext cx="5020055" cy="197510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70348" y="2852928"/>
            <a:ext cx="0" cy="98755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690104" y="3566160"/>
            <a:ext cx="1463040" cy="310896"/>
          </a:xfrm>
          <a:prstGeom prst="rect">
            <a:avLst/>
          </a:prstGeom>
          <a:noFill/>
        </p:spPr>
        <p:txBody>
          <a:bodyPr wrap="square" lIns="0" rIns="0" tIns="0" bIns="0">
            <a:spAutoFit/>
          </a:bodyPr>
          <a:lstStyle/>
          <a:p>
            <a:pPr algn="l"/>
            <a:r>
              <a:rPr sz="1700" b="1" i="0" u="none">
                <a:solidFill>
                  <a:srgbClr val="0B2B4E"/>
                </a:solidFill>
                <a:latin typeface="Calibri"/>
              </a:rPr>
              <a:t>D</a:t>
            </a:r>
          </a:p>
        </p:txBody>
      </p:sp>
      <p:sp>
        <p:nvSpPr>
          <p:cNvPr id="14" name="Right Brace 13"/>
          <p:cNvSpPr/>
          <p:nvPr/>
        </p:nvSpPr>
        <p:spPr>
          <a:xfrm rot="17488607">
            <a:off x="3717590" y="854826"/>
            <a:ext cx="295148" cy="2668634"/>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1682496"/>
            <a:ext cx="2743200" cy="310896"/>
          </a:xfrm>
          <a:prstGeom prst="rect">
            <a:avLst/>
          </a:prstGeom>
          <a:noFill/>
        </p:spPr>
        <p:txBody>
          <a:bodyPr wrap="square" lIns="0" rIns="0" tIns="0" bIns="0">
            <a:spAutoFit/>
          </a:bodyPr>
          <a:lstStyle/>
          <a:p>
            <a:pPr algn="l"/>
            <a:r>
              <a:rPr sz="1600" b="1" i="0" u="none">
                <a:solidFill>
                  <a:srgbClr val="0070C0"/>
                </a:solidFill>
                <a:latin typeface="Calibri"/>
              </a:rPr>
              <a:t>E</a:t>
            </a:r>
            <a:r>
              <a:rPr sz="1600" b="1" i="0" u="none" baseline="-25000">
                <a:solidFill>
                  <a:srgbClr val="0070C0"/>
                </a:solidFill>
                <a:latin typeface="Calibri"/>
              </a:rPr>
              <a:t>D</a:t>
            </a:r>
            <a:r>
              <a:rPr sz="1600" b="1" i="0" u="none">
                <a:solidFill>
                  <a:srgbClr val="0070C0"/>
                </a:solidFill>
                <a:latin typeface="Calibri"/>
              </a:rPr>
              <a:t> &lt; −1   elastic</a:t>
            </a:r>
          </a:p>
        </p:txBody>
      </p:sp>
      <p:sp>
        <p:nvSpPr>
          <p:cNvPr id="16" name="Right Brace 15"/>
          <p:cNvSpPr/>
          <p:nvPr/>
        </p:nvSpPr>
        <p:spPr>
          <a:xfrm rot="17488607">
            <a:off x="6257346" y="1879504"/>
            <a:ext cx="292608" cy="2602951"/>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6713" y="2703880"/>
            <a:ext cx="3291840" cy="310896"/>
          </a:xfrm>
          <a:prstGeom prst="rect">
            <a:avLst/>
          </a:prstGeom>
          <a:noFill/>
        </p:spPr>
        <p:txBody>
          <a:bodyPr wrap="square" lIns="0" rIns="0" tIns="0" bIns="0">
            <a:spAutoFit/>
          </a:bodyPr>
          <a:lstStyle/>
          <a:p>
            <a:pPr algn="l"/>
            <a:r>
              <a:rPr sz="1600" b="1" i="0" u="none">
                <a:solidFill>
                  <a:srgbClr val="0070C0"/>
                </a:solidFill>
                <a:latin typeface="Calibri"/>
              </a:rPr>
              <a:t>−1 &lt; </a:t>
            </a:r>
            <a:r>
              <a:rPr sz="1600" b="1" i="0" u="none">
                <a:solidFill>
                  <a:srgbClr val="0070C0"/>
                </a:solidFill>
                <a:latin typeface="Calibri"/>
              </a:rPr>
              <a:t>E</a:t>
            </a:r>
            <a:r>
              <a:rPr sz="1600" b="1" i="0" u="none" baseline="-25000">
                <a:solidFill>
                  <a:srgbClr val="0070C0"/>
                </a:solidFill>
                <a:latin typeface="Calibri"/>
              </a:rPr>
              <a:t>D</a:t>
            </a:r>
            <a:r>
              <a:rPr sz="1600" b="1" i="0" u="none">
                <a:solidFill>
                  <a:srgbClr val="0070C0"/>
                </a:solidFill>
                <a:latin typeface="Calibri"/>
              </a:rPr>
              <a:t> &lt; 0   inelastic</a:t>
            </a:r>
          </a:p>
        </p:txBody>
      </p:sp>
      <p:sp>
        <p:nvSpPr>
          <p:cNvPr id="18" name="TextBox 17"/>
          <p:cNvSpPr txBox="1"/>
          <p:nvPr/>
        </p:nvSpPr>
        <p:spPr>
          <a:xfrm>
            <a:off x="5120640" y="2217420"/>
            <a:ext cx="1645920" cy="310896"/>
          </a:xfrm>
          <a:prstGeom prst="rect">
            <a:avLst/>
          </a:prstGeom>
          <a:noFill/>
        </p:spPr>
        <p:txBody>
          <a:bodyPr wrap="square" lIns="0" rIns="0" tIns="0" bIns="0">
            <a:spAutoFit/>
          </a:bodyPr>
          <a:lstStyle/>
          <a:p>
            <a:pPr algn="l"/>
            <a:r>
              <a:rPr sz="1600" b="1" i="0" u="none">
                <a:solidFill>
                  <a:srgbClr val="C0504D"/>
                </a:solidFill>
                <a:latin typeface="Calibri"/>
              </a:rPr>
              <a:t>E</a:t>
            </a:r>
            <a:r>
              <a:rPr sz="1600" b="1" i="0" u="none" baseline="-25000">
                <a:solidFill>
                  <a:srgbClr val="C0504D"/>
                </a:solidFill>
                <a:latin typeface="Calibri"/>
              </a:rPr>
              <a:t>D</a:t>
            </a:r>
            <a:r>
              <a:rPr sz="1600" b="1" i="0" u="none">
                <a:solidFill>
                  <a:srgbClr val="C0504D"/>
                </a:solidFill>
                <a:latin typeface="Calibri"/>
              </a:rPr>
              <a:t> = −1</a:t>
            </a:r>
          </a:p>
        </p:txBody>
      </p:sp>
      <p:cxnSp>
        <p:nvCxnSpPr>
          <p:cNvPr id="19" name="Connector 18"/>
          <p:cNvCxnSpPr/>
          <p:nvPr/>
        </p:nvCxnSpPr>
        <p:spPr>
          <a:xfrm flipH="1">
            <a:off x="5097780" y="2592324"/>
            <a:ext cx="80467" cy="234086"/>
          </a:xfrm>
          <a:prstGeom prst="line">
            <a:avLst/>
          </a:prstGeom>
          <a:ln w="22225">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560320" y="3950208"/>
            <a:ext cx="0" cy="222199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560320" y="6172200"/>
            <a:ext cx="585216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10727" y="6263640"/>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sp>
        <p:nvSpPr>
          <p:cNvPr id="23" name="Rectangle 22"/>
          <p:cNvSpPr/>
          <p:nvPr/>
        </p:nvSpPr>
        <p:spPr>
          <a:xfrm>
            <a:off x="2560320" y="3858158"/>
            <a:ext cx="5020055" cy="2314042"/>
          </a:xfrm>
          <a:custGeom>
            <a:avLst/>
            <a:gdLst/>
            <a:ahLst/>
            <a:cxnLst/>
            <a:rect l="0" t="0" r="5020055" b="2314042"/>
            <a:pathLst>
              <a:path w="5020055" h="2314042">
                <a:moveTo>
                  <a:pt x="0" y="2314042"/>
                </a:moveTo>
                <a:cubicBezTo>
                  <a:pt x="1673352" y="0"/>
                  <a:pt x="3346704" y="0"/>
                  <a:pt x="5020055" y="2314042"/>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5070348" y="4436668"/>
            <a:ext cx="0" cy="173553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808476" y="4366260"/>
            <a:ext cx="1463040" cy="310896"/>
          </a:xfrm>
          <a:prstGeom prst="rect">
            <a:avLst/>
          </a:prstGeom>
          <a:noFill/>
        </p:spPr>
        <p:txBody>
          <a:bodyPr wrap="square" lIns="0" rIns="0" tIns="0" bIns="0">
            <a:spAutoFit/>
          </a:bodyPr>
          <a:lstStyle/>
          <a:p>
            <a:pPr algn="l"/>
            <a:r>
              <a:rPr sz="1800" b="1" i="0" u="none">
                <a:solidFill>
                  <a:srgbClr val="E09F3E"/>
                </a:solidFill>
                <a:latin typeface="Calibri"/>
              </a:rPr>
              <a:t>TR</a:t>
            </a:r>
          </a:p>
        </p:txBody>
      </p:sp>
      <p:cxnSp>
        <p:nvCxnSpPr>
          <p:cNvPr id="26" name="Connector 25"/>
          <p:cNvCxnSpPr/>
          <p:nvPr/>
        </p:nvCxnSpPr>
        <p:spPr>
          <a:xfrm flipV="1">
            <a:off x="3671315" y="4777740"/>
            <a:ext cx="685801" cy="54864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3503" y="4907584"/>
            <a:ext cx="640080" cy="50292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204057" y="5582412"/>
            <a:ext cx="1687982" cy="430682"/>
          </a:xfrm>
          <a:prstGeom prst="rect">
            <a:avLst/>
          </a:prstGeom>
          <a:noFill/>
        </p:spPr>
        <p:txBody>
          <a:bodyPr wrap="square" lIns="0" rIns="0" t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a:solidFill>
                  <a:srgbClr val="0B2B4E"/>
                </a:solidFill>
                <a:latin typeface="Calibri"/>
              </a:rPr>
              <a:t>Elastic region</a:t>
            </a:r>
            <a:r>
              <a:rPr sz="1400">
                <a:solidFill>
                  <a:srgbClr val="0B2B4E"/>
                </a:solidFill>
                <a:latin typeface="Calibri"/>
              </a:rPr>
              <a:t>:  P falls
→ Q rises → </a:t>
            </a:r>
            <a:r>
              <a:rPr sz="1400" b="1">
                <a:solidFill>
                  <a:srgbClr val="E09F3E"/>
                </a:solidFill>
                <a:latin typeface="Calibri"/>
              </a:rPr>
              <a:t>TR rises</a:t>
            </a:r>
          </a:p>
        </p:txBody>
      </p:sp>
      <p:sp>
        <p:nvSpPr>
          <p:cNvPr id="29" name="TextBox 28"/>
          <p:cNvSpPr txBox="1"/>
          <p:nvPr/>
        </p:nvSpPr>
        <p:spPr>
          <a:xfrm>
            <a:off x="5296204" y="5576011"/>
            <a:ext cx="1700784" cy="430682"/>
          </a:xfrm>
          <a:prstGeom prst="rect">
            <a:avLst/>
          </a:prstGeom>
          <a:noFill/>
        </p:spPr>
        <p:txBody>
          <a:bodyPr wrap="square" lIns="0" rIns="0" t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a:solidFill>
                  <a:srgbClr val="0B2B4E"/>
                </a:solidFill>
                <a:latin typeface="Calibri"/>
              </a:rPr>
              <a:t>Inelastic region</a:t>
            </a:r>
            <a:r>
              <a:rPr sz="1400">
                <a:solidFill>
                  <a:srgbClr val="0B2B4E"/>
                </a:solidFill>
                <a:latin typeface="Calibri"/>
              </a:rPr>
              <a:t>:  P falls
→ Q rises → </a:t>
            </a:r>
            <a:r>
              <a:rPr sz="1400" b="1">
                <a:solidFill>
                  <a:srgbClr val="E09F3E"/>
                </a:solidFill>
                <a:latin typeface="Calibri"/>
              </a:rPr>
              <a:t>TR falls</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3" name="TextBox 32"/>
          <p:cNvSpPr txBox="1"/>
          <p:nvPr/>
        </p:nvSpPr>
        <p:spPr>
          <a:xfrm>
            <a:off x="11475720" y="6583680"/>
            <a:ext cx="502920" cy="292608"/>
          </a:xfrm>
          <a:prstGeom prst="rect">
            <a:avLst/>
          </a:prstGeom>
          <a:noFill/>
        </p:spPr>
        <p:txBody>
          <a:bodyPr wrap="none" lIns="0" rIns="0" tIns="0" bIns="0">
            <a:spAutoFit/>
          </a:bodyPr>
          <a:lstStyle/>
          <a:p>
            <a:pPr algn="r"/>
            <a:fld id="{30F67572-56A1-533B-9B3B-08B9F7B2B9A8}" type="slidenum">
              <a:rPr lang="en-US" sz="1200" dirty="0">
                <a:solidFill>
                  <a:srgbClr val="555B66"/>
                </a:solidFill>
                <a:latin typeface="Calibri"/>
              </a:rPr>
              <a:t>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00"/>
                                        <p:tgtEl>
                                          <p:spTgt spid="2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00"/>
                                        <p:tgtEl>
                                          <p:spTgt spid="2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00"/>
                                        <p:tgtEl>
                                          <p:spTgt spid="2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123444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a:solidFill>
                  <a:srgbClr val="0B2B4E"/>
                </a:solidFill>
                <a:latin typeface="Calibri"/>
              </a:rPr>
              <a:t>Total Revenues:   </a:t>
            </a:r>
            <a14:m>
              <m:oMath>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Q</m:t>
                </m:r>
              </m:oMath>
            </a14:m>
            <a:endParaRPr lang="en-US"/>
          </a:p>
          <a:p xmlns:m="http://schemas.openxmlformats.org/officeDocument/2006/math" xmlns:a14="http://schemas.microsoft.com/office/drawing/2010/main">
            <a:r>
              <a:rPr lang="en-US" sz="2400">
                <a:solidFill>
                  <a:srgbClr val="0B2B4E"/>
                </a:solidFill>
                <a:latin typeface="Calibri"/>
              </a:rPr>
              <a:t>In % changes, this implies:   </a:t>
            </a:r>
            <a14:m>
              <m:oMath>
                <m:r>
                  <m:rPr>
                    <m:sty m:val="p"/>
                  </m:rPr>
                  <a:rPr lang="en-US" b="0" i="0" sz="2400">
                    <a:solidFill>
                      <a:srgbClr val="0B2B4E"/>
                    </a:solidFill>
                    <a:latin typeface="Cambria Math"/>
                  </a:rPr>
                  <m:t xml:space="preserve">%Δ</m:t>
                </m:r>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Q</m:t>
                </m:r>
              </m:oMath>
            </a14:m>
            <a:endParaRPr lang="en-US"/>
          </a:p>
        </p:txBody>
      </p:sp>
      <p:sp>
        <p:nvSpPr>
          <p:cNvPr id="8" name="TextBox 7"/>
          <p:cNvSpPr txBox="1"/>
          <p:nvPr/>
        </p:nvSpPr>
        <p:spPr>
          <a:xfrm>
            <a:off x="389159" y="2880360"/>
            <a:ext cx="113385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To assess the effect of a </a:t>
            </a:r>
            <a:r>
              <a:rPr b="1">
                <a:solidFill>
                  <a:srgbClr val="C00000"/>
                </a:solidFill>
                <a:latin typeface="Calibri"/>
              </a:rPr>
              <a:t>price decrease</a:t>
            </a:r>
            <a:r>
              <a:rPr>
                <a:latin typeface="Calibri"/>
              </a:rPr>
              <a:t> on revenue, ask:</a:t>
            </a:r>
          </a:p>
          <a:p>
            <a:pPr algn="l" marL="0" indent="0">
              <a:spcBef>
                <a:spcPts val="0"/>
              </a:spcBef>
              <a:buNone/>
            </a:pPr>
            <a:r>
              <a:rPr sz="1800" i="1">
                <a:solidFill>
                  <a:srgbClr val="0B2B4E"/>
                </a:solidFill>
                <a:latin typeface="Calibri"/>
              </a:rPr>
              <a:t>        </a:t>
            </a:r>
            <a:r>
              <a:rPr sz="1800" i="1">
                <a:solidFill>
                  <a:srgbClr val="0B2B4E"/>
                </a:solidFill>
                <a:latin typeface="Calibri"/>
              </a:rPr>
              <a:t>[note: if P decreases, Q must increase]</a:t>
            </a:r>
          </a:p>
        </p:txBody>
      </p:sp>
      <p:grpSp>
        <p:nvGrpSpPr>
          <p:cNvPr id="116" name="Group pair 116"/>
          <p:cNvGrpSpPr/>
          <p:nvPr/>
        </p:nvGrpSpPr>
        <p:grpSpPr>
          <a:xfrm>
            <a:off x="663854" y="3930091"/>
            <a:ext cx="5394960" cy="1327708"/>
            <a:chOff x="663854" y="3930091"/>
            <a:chExt cx="5394960" cy="1327708"/>
          </a:xfrm>
        </p:grpSpPr>
        <p:sp>
          <p:nvSpPr>
            <p:cNvPr id="9" name="Rounded Rectangle 8"/>
            <p:cNvSpPr/>
            <p:nvPr/>
          </p:nvSpPr>
          <p:spPr>
            <a:xfrm>
              <a:off x="663854" y="3930091"/>
              <a:ext cx="5394960" cy="1327708"/>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6734" y="4039819"/>
              <a:ext cx="5029200" cy="110825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smaller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rises
</a:t>
              </a:r>
              <a:r>
                <a:rPr sz="1800" b="0" i="0" u="none">
                  <a:solidFill>
                    <a:srgbClr val="0B2B4E"/>
                  </a:solidFill>
                  <a:latin typeface="Calibri"/>
                </a:rPr>
                <a:t>→ Demand is </a:t>
              </a:r>
              <a:r>
                <a:rPr sz="1800" b="1" i="0" u="none">
                  <a:solidFill>
                    <a:srgbClr val="0070C0"/>
                  </a:solidFill>
                  <a:latin typeface="Calibri"/>
                </a:rPr>
                <a:t>elastic</a:t>
              </a:r>
            </a:p>
          </p:txBody>
        </p:sp>
      </p:grpSp>
      <p:grpSp>
        <p:nvGrpSpPr>
          <p:cNvPr id="117" name="Group pair 117"/>
          <p:cNvGrpSpPr/>
          <p:nvPr/>
        </p:nvGrpSpPr>
        <p:grpSpPr>
          <a:xfrm>
            <a:off x="6355080" y="3930091"/>
            <a:ext cx="5394960" cy="1327708"/>
            <a:chOff x="6355080" y="3930091"/>
            <a:chExt cx="5394960" cy="1327708"/>
          </a:xfrm>
        </p:grpSpPr>
        <p:sp>
          <p:nvSpPr>
            <p:cNvPr id="11" name="Rounded Rectangle 10"/>
            <p:cNvSpPr/>
            <p:nvPr/>
          </p:nvSpPr>
          <p:spPr>
            <a:xfrm>
              <a:off x="6355080" y="3930091"/>
              <a:ext cx="5394960" cy="1327708"/>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4039819"/>
              <a:ext cx="5029200" cy="110825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larger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declines
</a:t>
              </a:r>
              <a:r>
                <a:rPr sz="1800" b="0" i="0" u="none">
                  <a:solidFill>
                    <a:srgbClr val="0B2B4E"/>
                  </a:solidFill>
                  <a:latin typeface="Calibri"/>
                </a:rPr>
                <a:t>→ Demand is </a:t>
              </a:r>
              <a:r>
                <a:rPr sz="1800" b="1" i="0" u="none">
                  <a:solidFill>
                    <a:srgbClr val="0070C0"/>
                  </a:solidFill>
                  <a:latin typeface="Calibri"/>
                </a:rPr>
                <a:t>inelastic</a:t>
              </a:r>
            </a:p>
          </p:txBody>
        </p:sp>
      </p:gr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FFEA4D40-B8B2-522C-98C7-92A233DE4E34}" type="slidenum">
              <a:rPr lang="en-US" sz="1200" dirty="0">
                <a:solidFill>
                  <a:srgbClr val="555B66"/>
                </a:solidFill>
                <a:latin typeface="Calibri"/>
              </a:rPr>
              <a:t>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6"/>
                                        </p:tgtEl>
                                        <p:attrNameLst>
                                          <p:attrName>style.visibility</p:attrName>
                                        </p:attrNameLst>
                                      </p:cBhvr>
                                      <p:to>
                                        <p:strVal val="visible"/>
                                      </p:to>
                                    </p:set>
                                    <p:animEffect transition="in" filter="fade">
                                      <p:cBhvr>
                                        <p:cTn id="17" dur="500"/>
                                        <p:tgtEl>
                                          <p:spTgt spid="1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7"/>
                                        </p:tgtEl>
                                        <p:attrNameLst>
                                          <p:attrName>style.visibility</p:attrName>
                                        </p:attrNameLst>
                                      </p:cBhvr>
                                      <p:to>
                                        <p:strVal val="visible"/>
                                      </p:to>
                                    </p:set>
                                    <p:animEffect transition="in" filter="fade">
                                      <p:cBhvr>
                                        <p:cTn id="22"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Can a Price Cut and Revenues Tell Us About the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828800"/>
            <a:ext cx="6309360" cy="35661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Novo Nordisk</a:t>
            </a:r>
            <a:r>
              <a:rPr>
                <a:latin typeface="Calibri"/>
              </a:rPr>
              <a:t> lowered its U.S. price for Ozempic and Wegovy under a deal with the White House</a:t>
            </a:r>
          </a:p>
          <a:p>
            <a:pPr algn="l"/>
            <a:r>
              <a:rPr>
                <a:latin typeface="Calibri"/>
              </a:rPr>
              <a:t>As a result, revenues are forecasted to fall 5–13%</a:t>
            </a:r>
          </a:p>
          <a:p>
            <a:pPr algn="l"/>
            <a:r>
              <a:rPr>
                <a:latin typeface="Calibri"/>
              </a:rPr>
              <a:t>What does this imply about the </a:t>
            </a:r>
            <a:r>
              <a:rPr b="1">
                <a:solidFill>
                  <a:srgbClr val="0070C0"/>
                </a:solidFill>
                <a:latin typeface="Calibri"/>
              </a:rPr>
              <a:t>elasticity of demand</a:t>
            </a:r>
            <a:r>
              <a:rPr>
                <a:latin typeface="Calibri"/>
              </a:rPr>
              <a:t>?</a:t>
            </a:r>
          </a:p>
        </p:txBody>
      </p:sp>
      <p:grpSp>
        <p:nvGrpSpPr>
          <p:cNvPr id="9702" name="Group pair 9702"/>
          <p:cNvGrpSpPr/>
          <p:nvPr/>
        </p:nvGrpSpPr>
        <p:grpSpPr>
          <a:xfrm>
            <a:off x="6995160" y="2103120"/>
            <a:ext cx="4251960" cy="3264408"/>
            <a:chOff x="6995160" y="2103120"/>
            <a:chExt cx="4251960" cy="3264408"/>
          </a:xfrm>
        </p:grpSpPr>
        <p:pic>
          <p:nvPicPr>
            <p:cNvPr id="8" name="Picture 7" descr="ct_ozempic_image1.png"/>
            <p:cNvPicPr>
              <a:picLocks noChangeAspect="1"/>
            </p:cNvPicPr>
            <p:nvPr/>
          </p:nvPicPr>
          <p:blipFill>
            <a:blip r:embed="rId2"/>
            <a:stretch>
              <a:fillRect/>
            </a:stretch>
          </p:blipFill>
          <p:spPr>
            <a:xfrm>
              <a:off x="6995160" y="2103120"/>
              <a:ext cx="4251960" cy="288036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95160" y="5074920"/>
              <a:ext cx="4251960" cy="292608"/>
            </a:xfrm>
            <a:prstGeom prst="rect">
              <a:avLst/>
            </a:prstGeom>
            <a:noFill/>
          </p:spPr>
          <p:txBody>
            <a:bodyPr wrap="square" lIns="0" rIns="0" tIns="0" bIns="0">
              <a:spAutoFit/>
            </a:bodyPr>
            <a:lstStyle/>
            <a:p>
              <a:pPr algn="ctr"/>
              <a:r>
                <a:rPr sz="1200" b="0" i="1" u="sng">
                  <a:solidFill>
                    <a:srgbClr val="555B66"/>
                  </a:solidFill>
                  <a:latin typeface="Calibri"/>
                  <a:hlinkClick r:id="rId4">
                    <a:extLst>
                      <a:ext xmlns:ahyp="http://schemas.microsoft.com/office/drawing/2018/hyperlinkcolor" uri="{A12FA001-AC4F-418D-AE19-62706E023703}">
                        <ahyp:hlinkClr val="tx"/>
                      </a:ext>
                    </a:extLst>
                  </a:hlinkClick>
                </a:rPr>
                <a:t>Source: Pharmaceutical Technology</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C7268266-B9CE-510E-8DAE-CCAC4EF4FAAA}" type="slidenum">
              <a:rPr lang="en-US" sz="1200" dirty="0">
                <a:solidFill>
                  <a:srgbClr val="555B66"/>
                </a:solidFill>
                <a:latin typeface="Calibri"/>
              </a:rPr>
              <a:t>8</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874519"/>
            <a:ext cx="54864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3400">
                <a:solidFill>
                  <a:srgbClr val="0B2B4E"/>
                </a:solidFill>
                <a:latin typeface="Calibri"/>
              </a:rPr>
              <a:t>Demand is  </a:t>
            </a:r>
            <a:r>
              <a:rPr lang="en-US" sz="3400" b="1">
                <a:solidFill>
                  <a:srgbClr val="0070C0"/>
                </a:solidFill>
                <a:latin typeface="Calibri"/>
              </a:rPr>
              <a:t>inelastic</a:t>
            </a:r>
            <a:endParaRPr lang="en-US"/>
          </a:p>
        </p:txBody>
      </p:sp>
      <p:sp>
        <p:nvSpPr>
          <p:cNvPr id="8" name="TextBox 7"/>
          <p:cNvSpPr txBox="1"/>
          <p:nvPr/>
        </p:nvSpPr>
        <p:spPr>
          <a:xfrm>
            <a:off x="1005840" y="3246120"/>
            <a:ext cx="10241280" cy="21945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 price cut caused total revenue to fall</a:t>
            </a:r>
          </a:p>
          <a:p>
            <a:pPr algn="l"/>
            <a:r>
              <a:rPr>
                <a:latin typeface="Calibri"/>
              </a:rPr>
              <a:t>The quantity response was too small to offset the price cut</a:t>
            </a:r>
          </a:p>
          <a:p>
            <a:pPr algn="l"/>
            <a:r>
              <a:rPr b="1">
                <a:solidFill>
                  <a:srgbClr val="0070C0"/>
                </a:solidFill>
                <a:latin typeface="Calibri"/>
              </a:rPr>
              <a:t>Inelastic:  </a:t>
            </a:r>
            <a:r>
              <a:rPr i="1">
                <a:latin typeface="Calibri"/>
              </a:rPr>
              <a:t>|</a:t>
            </a:r>
            <a:r>
              <a:rPr i="1">
                <a:latin typeface="Calibri"/>
              </a:rPr>
              <a:t>E</a:t>
            </a:r>
            <a:r>
              <a:rPr i="1" baseline="-25000">
                <a:latin typeface="Calibri"/>
              </a:rPr>
              <a:t>D</a:t>
            </a:r>
            <a:r>
              <a:rPr i="1">
                <a:latin typeface="Calibri"/>
              </a:rPr>
              <a:t>| &lt; 1</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08682F91-49E7-5EED-9DBC-C131636935DD}" type="slidenum">
              <a:rPr lang="en-US" sz="1200" dirty="0">
                <a:solidFill>
                  <a:srgbClr val="555B66"/>
                </a:solidFill>
                <a:latin typeface="Calibri"/>
              </a:rPr>
              <a:t>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About Profits?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645920"/>
            <a:ext cx="571500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Profit  =  Revenue  −  Costs</a:t>
            </a:r>
          </a:p>
        </p:txBody>
      </p:sp>
      <p:sp>
        <p:nvSpPr>
          <p:cNvPr id="8" name="TextBox 7"/>
          <p:cNvSpPr txBox="1"/>
          <p:nvPr/>
        </p:nvSpPr>
        <p:spPr>
          <a:xfrm>
            <a:off x="1371600" y="2880360"/>
            <a:ext cx="9418320" cy="31089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The price decrease caused total revenue to decrease</a:t>
            </a:r>
          </a:p>
          <a:p>
            <a:pPr algn="l"/>
            <a:r>
              <a:rPr>
                <a:latin typeface="Calibri"/>
              </a:rPr>
              <a:t>It also raised the quantity produced/sold  →  costs increase</a:t>
            </a:r>
          </a:p>
          <a:p>
            <a:pPr algn="l"/>
            <a:r>
              <a:rPr>
                <a:latin typeface="Calibri"/>
              </a:rPr>
              <a:t>So profits fell</a:t>
            </a:r>
          </a:p>
          <a:p>
            <a:pPr algn="l"/>
            <a:r>
              <a:rPr>
                <a:latin typeface="Calibri"/>
              </a:rPr>
              <a:t>Markets agreed:  </a:t>
            </a:r>
            <a:r>
              <a:rPr u="sng">
                <a:solidFill>
                  <a:srgbClr val="0070C0"/>
                </a:solidFill>
                <a:latin typeface="Calibri"/>
                <a:hlinkClick r:id="rId3">
                  <a:extLst>
                    <a:ext xmlns:ahyp="http://schemas.microsoft.com/office/drawing/2018/hyperlinkcolor" uri="{A12FA001-AC4F-418D-AE19-62706E023703}">
                      <ahyp:hlinkClr val="tx"/>
                    </a:ext>
                  </a:extLst>
                </a:hlinkClick>
              </a:rPr>
              <a:t>Novo Nordisk shares tumbled ~18%</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A36B6251-3178-565F-97CD-AC46849C5395}" type="slidenum">
              <a:rPr lang="en-US" sz="1200" dirty="0">
                <a:solidFill>
                  <a:srgbClr val="555B66"/>
                </a:solidFill>
                <a:latin typeface="Calibri"/>
              </a:rPr>
              <a:t>10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3" end="3"/>
                                            </p:txEl>
                                          </p:spTgt>
                                        </p:tgtEl>
                                        <p:attrNameLst>
                                          <p:attrName>style.visibility</p:attrName>
                                        </p:attrNameLst>
                                      </p:cBhvr>
                                      <p:to>
                                        <p:strVal val="visible"/>
                                      </p:to>
                                    </p:set>
                                    <p:animEffect transition="in" filter="fade">
                                      <p:cBhvr>
                                        <p:cTn id="22"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Summary: Effect of a Price Change on TR —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554480"/>
            <a:ext cx="11338560" cy="9144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Is the percent reduction in price greater or smaller than the percent increase in quantity sold?</a:t>
            </a:r>
          </a:p>
          <a:p>
            <a:pPr algn="l"/>
            <a:r>
              <a:rPr>
                <a:latin typeface="Calibri"/>
              </a:rPr>
              <a:t>More precisely: is demand elastic or inelastic?</a:t>
            </a:r>
          </a:p>
        </p:txBody>
      </p:sp>
      <p:grpSp>
        <p:nvGrpSpPr>
          <p:cNvPr id="113" name="Group pair 113"/>
          <p:cNvGrpSpPr/>
          <p:nvPr/>
        </p:nvGrpSpPr>
        <p:grpSpPr>
          <a:xfrm>
            <a:off x="640080" y="2651760"/>
            <a:ext cx="10881360" cy="3566160"/>
            <a:chOff x="640080" y="2651760"/>
            <a:chExt cx="10881360" cy="3566160"/>
          </a:xfrm>
        </p:grpSpPr>
        <p:sp>
          <p:nvSpPr>
            <p:cNvPr id="8" name="Rectangle 7"/>
            <p:cNvSpPr/>
            <p:nvPr/>
          </p:nvSpPr>
          <p:spPr>
            <a:xfrm>
              <a:off x="640080" y="2651760"/>
              <a:ext cx="10881360" cy="3566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77240" y="2788920"/>
            <a:ext cx="10607040" cy="3291840"/>
          </p:xfrm>
          <a:graphic>
            <a:graphicData uri="http://schemas.openxmlformats.org/drawingml/2006/table">
              <a:tbl>
                <a:tblPr firstRow="0" bandRow="0"/>
                <a:tblGrid>
                  <a:gridCol w="2651760"/>
                  <a:gridCol w="2651760"/>
                  <a:gridCol w="2651760"/>
                  <a:gridCol w="2651760"/>
                </a:tblGrid>
                <a:tr h="658368">
                  <a:tc>
                    <a:txBody>
                      <a:bodyPr wrap="square"/>
                      <a:lstStyle/>
                      <a:p>
                        <a:pPr algn="ctr"/>
                        <a:r>
                          <a:rPr sz="1600" b="1">
                            <a:solidFill>
                              <a:srgbClr val="FFFFFF"/>
                            </a:solidFill>
                            <a:latin typeface="Calibri"/>
                          </a:rPr>
                          <a:t>% change in P</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 change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Demand is…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change in revenue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Q increases by MORE than P falls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Q increases by LESS than P falls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Q decreases by MORE than P rises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Q decreases by LESS than P rises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F540A15-85A1-5986-921E-239DF3489994}" type="slidenum">
              <a:rPr lang="en-US" sz="1200" dirty="0">
                <a:solidFill>
                  <a:srgbClr val="555B66"/>
                </a:solidFill>
                <a:latin typeface="Calibri"/>
              </a:rPr>
              <a:t>11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The Netflix 2014 Price Increase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783080"/>
            <a:ext cx="10607040" cy="3931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In 2014, Netflix raised its monthly price by $1, from $7.99 to $8.99</a:t>
            </a:r>
          </a:p>
          <a:p>
            <a:pPr algn="l"/>
            <a:r>
              <a:rPr>
                <a:latin typeface="Calibri"/>
              </a:rPr>
              <a:t>Then: 50 million subscribers, own-price elasticity of demand </a:t>
            </a:r>
            <a:r>
              <a:rPr b="1">
                <a:solidFill>
                  <a:srgbClr val="0070C0"/>
                </a:solidFill>
                <a:latin typeface="Calibri"/>
              </a:rPr>
              <a:t>≈ −2</a:t>
            </a:r>
          </a:p>
          <a:p>
            <a:pPr algn="l"/>
            <a:r>
              <a:rPr>
                <a:latin typeface="Calibri"/>
              </a:rPr>
              <a:t>Implications of the price increase for:</a:t>
            </a:r>
          </a:p>
          <a:p>
            <a:pPr algn="l" lvl="1"/>
            <a:r>
              <a:rPr>
                <a:latin typeface="Calibri"/>
              </a:rPr>
              <a:t>Number of subscriptions (quantitative)?</a:t>
            </a:r>
          </a:p>
          <a:p>
            <a:pPr algn="l" lvl="1"/>
            <a:r>
              <a:rPr>
                <a:latin typeface="Calibri"/>
              </a:rPr>
              <a:t>Revenue (qualitative)?</a:t>
            </a:r>
          </a:p>
          <a:p>
            <a:pPr algn="l" lvl="1"/>
            <a:r>
              <a:rPr>
                <a:latin typeface="Calibri"/>
              </a:rPr>
              <a:t>Profits (speculative)?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78DDFAD-BFD6-5411-B71F-E4CA0CA35FDF}" type="slidenum">
              <a:rPr lang="en-US" sz="1200" dirty="0">
                <a:solidFill>
                  <a:srgbClr val="555B66"/>
                </a:solidFill>
                <a:latin typeface="Calibri"/>
              </a:rPr>
              <a:t>12</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Netflix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Subscriptions decline</a:t>
            </a:r>
            <a:r>
              <a:rPr sz="2200">
                <a:solidFill>
                  <a:srgbClr val="0B2B4E"/>
                </a:solidFill>
                <a:latin typeface="Calibri"/>
              </a:rPr>
              <a:t> — by how much? Use Method 1 with </a:t>
            </a:r>
            <a:r>
              <a:rPr sz="2200" b="1">
                <a:solidFill>
                  <a:srgbClr val="0070C0"/>
                </a:solidFill>
                <a:latin typeface="Calibri"/>
              </a:rPr>
              <a:t>E</a:t>
            </a:r>
            <a:r>
              <a:rPr sz="2200" b="1" baseline="-25000">
                <a:solidFill>
                  <a:srgbClr val="0070C0"/>
                </a:solidFill>
                <a:latin typeface="Calibri"/>
              </a:rPr>
              <a:t>D</a:t>
            </a:r>
            <a:r>
              <a:rPr sz="2200" b="1">
                <a:solidFill>
                  <a:srgbClr val="0070C0"/>
                </a:solidFill>
                <a:latin typeface="Calibri"/>
              </a:rPr>
              <a:t> = −2</a:t>
            </a:r>
            <a:r>
              <a:rPr sz="2200">
                <a:solidFill>
                  <a:srgbClr val="0B2B4E"/>
                </a:solidFill>
                <a:latin typeface="Calibri"/>
              </a:rPr>
              <a:t> :</a:t>
            </a:r>
          </a:p>
        </p:txBody>
      </p:sp>
      <p:sp>
        <p:nvSpPr>
          <p:cNvPr id="8" name="TextBox 7"/>
          <p:cNvSpPr txBox="1"/>
          <p:nvPr/>
        </p:nvSpPr>
        <p:spPr>
          <a:xfrm>
            <a:off x="2423160" y="2331720"/>
            <a:ext cx="7315200" cy="1051560"/>
          </a:xfrm>
          <a:prstGeom prst="rect">
            <a:avLst/>
          </a:prstGeom>
          <a:noFill/>
        </p:spPr>
        <p:txBody>
          <a:bodyPr wrap="square" anchor="ctr">
            <a:spAutoFit/>
          </a:bodyPr>
          <a:lstStyle/>
          <a:p xmlns:m="http://schemas.openxmlformats.org/officeDocument/2006/math" xmlns:a14="http://schemas.microsoft.com/office/drawing/2010/main">
            <a:pPr algn="ctr">
              <a:defRPr sz="2600" b="0" i="1">
                <a:solidFill>
                  <a:srgbClr val="0B2B4E"/>
                </a:solidFill>
                <a:latin typeface="Cambria Math"/>
              </a:defRPr>
            </a:pPr>
            <a14:m>
              <m:oMathPara>
                <m:oMathParaPr>
                  <m:jc m:val="centerGroup"/>
                </m:oMathParaPr>
                <m:oMath>
                  <m:sSub>
                    <m:sSubPr>
                      <m:ctrlPr>
                        <a:rPr lang="en-US" i="1">
                          <a:latin typeface="Cambria Math"/>
                        </a:rPr>
                      </m:ctrlPr>
                    </m:sSubPr>
                    <m:e>
                      <m:r>
                        <a:rPr lang="en-US" b="0" i="1" sz="2600">
                          <a:solidFill>
                            <a:srgbClr val="0B2B4E"/>
                          </a:solidFill>
                          <a:latin typeface="Cambria Math"/>
                          <a:ea typeface="Cambria Math"/>
                        </a:rPr>
                        <m:t>E</m:t>
                      </m:r>
                    </m:e>
                    <m:sub>
                      <m:r>
                        <m:rPr>
                          <m:sty m:val="p"/>
                        </m:rPr>
                        <a:rPr lang="en-US" b="0" i="0" sz="2600">
                          <a:solidFill>
                            <a:srgbClr val="0B2B4E"/>
                          </a:solidFill>
                          <a:latin typeface="Cambria Math"/>
                        </a:rPr>
                        <m:t xml:space="preserve">D</m:t>
                      </m:r>
                    </m:sub>
                  </m:sSub>
                  <m:r>
                    <m:rPr>
                      <m:sty m:val="p"/>
                    </m:rPr>
                    <a:rPr lang="en-US" b="0" i="0" sz="2600">
                      <a:solidFill>
                        <a:srgbClr val="0B2B4E"/>
                      </a:solidFill>
                      <a:latin typeface="Cambria Math"/>
                    </a:rPr>
                    <m:t xml:space="preserve"> = </m:t>
                  </m:r>
                  <m:f>
                    <m:fPr>
                      <m:ctrlPr>
                        <a:rPr lang="en-US" i="1">
                          <a:latin typeface="Cambria Math"/>
                        </a:rPr>
                      </m:ctrlPr>
                    </m:fPr>
                    <m:num>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Q</m:t>
                      </m:r>
                    </m:num>
                    <m:den>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P</m:t>
                      </m:r>
                    </m:den>
                  </m:f>
                  <m:r>
                    <m:rPr>
                      <m:sty m:val="p"/>
                    </m:rPr>
                    <a:rPr lang="en-US" b="0" i="0" sz="2600">
                      <a:solidFill>
                        <a:srgbClr val="0B2B4E"/>
                      </a:solidFill>
                      <a:latin typeface="Cambria Math"/>
                    </a:rPr>
                    <m:t xml:space="preserve"> = </m:t>
                  </m:r>
                  <m:f>
                    <m:fPr>
                      <m:ctrlPr>
                        <a:rPr lang="en-US" i="1">
                          <a:latin typeface="Cambria Math"/>
                        </a:rPr>
                      </m:ctrlPr>
                    </m:fPr>
                    <m:num>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Q</m:t>
                      </m:r>
                    </m:num>
                    <m:den>
                      <m:r>
                        <m:rPr>
                          <m:sty m:val="p"/>
                        </m:rPr>
                        <a:rPr lang="en-US" b="0" i="0" sz="2600">
                          <a:solidFill>
                            <a:srgbClr val="0B2B4E"/>
                          </a:solidFill>
                          <a:latin typeface="Cambria Math"/>
                        </a:rPr>
                        <m:t xml:space="preserve">12.5%</m:t>
                      </m:r>
                    </m:den>
                  </m:f>
                  <m:r>
                    <m:rPr>
                      <m:sty m:val="p"/>
                    </m:rPr>
                    <a:rPr lang="en-US" b="0" i="0" sz="2600">
                      <a:solidFill>
                        <a:srgbClr val="0B2B4E"/>
                      </a:solidFill>
                      <a:latin typeface="Cambria Math"/>
                    </a:rPr>
                    <m:t xml:space="preserve"> = −2</m:t>
                  </m:r>
                </m:oMath>
              </m:oMathPara>
            </a14:m>
            <a:endParaRPr lang="en-US" sz="2600"/>
          </a:p>
        </p:txBody>
      </p:sp>
      <p:sp>
        <p:nvSpPr>
          <p:cNvPr id="9" name="TextBox 8"/>
          <p:cNvSpPr txBox="1"/>
          <p:nvPr/>
        </p:nvSpPr>
        <p:spPr>
          <a:xfrm>
            <a:off x="754919" y="3566160"/>
            <a:ext cx="10972800" cy="4572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where  %ΔP = (8.99 − 7.99) / 7.99 = +12.5%,   so   %ΔQ = −25%</a:t>
            </a:r>
          </a:p>
        </p:txBody>
      </p:sp>
      <p:sp>
        <p:nvSpPr>
          <p:cNvPr id="10" name="TextBox 9"/>
          <p:cNvSpPr txBox="1"/>
          <p:nvPr/>
        </p:nvSpPr>
        <p:spPr>
          <a:xfrm>
            <a:off x="389159" y="4297680"/>
            <a:ext cx="11338560" cy="192024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a:solidFill>
                  <a:srgbClr val="0B2B4E"/>
                </a:solidFill>
                <a:latin typeface="Calibri"/>
              </a:rPr>
              <a:t>→  a </a:t>
            </a:r>
            <a:r>
              <a:rPr sz="2200" b="1">
                <a:solidFill>
                  <a:srgbClr val="0070C0"/>
                </a:solidFill>
                <a:latin typeface="Calibri"/>
              </a:rPr>
              <a:t>25% decline</a:t>
            </a:r>
            <a:r>
              <a:rPr sz="2200">
                <a:solidFill>
                  <a:srgbClr val="0B2B4E"/>
                </a:solidFill>
                <a:latin typeface="Calibri"/>
              </a:rPr>
              <a:t> in subscriptions</a:t>
            </a:r>
          </a:p>
          <a:p>
            <a:pPr algn="l"/>
            <a:r>
              <a:rPr b="1">
                <a:latin typeface="Calibri"/>
              </a:rPr>
              <a:t>Revenue:</a:t>
            </a:r>
            <a:r>
              <a:rPr>
                <a:latin typeface="Calibri"/>
              </a:rPr>
              <a:t> demand is </a:t>
            </a:r>
            <a:r>
              <a:rPr b="1">
                <a:solidFill>
                  <a:srgbClr val="0070C0"/>
                </a:solidFill>
                <a:latin typeface="Calibri"/>
              </a:rPr>
              <a:t>elastic</a:t>
            </a:r>
            <a:r>
              <a:rPr>
                <a:latin typeface="Calibri"/>
              </a:rPr>
              <a:t>, so quantity outweighs price  →  revenue falls</a:t>
            </a:r>
          </a:p>
          <a:p>
            <a:pPr algn="l"/>
            <a:r>
              <a:rPr b="1">
                <a:latin typeface="Calibri"/>
              </a:rPr>
              <a:t>Profits:</a:t>
            </a:r>
            <a:r>
              <a:rPr>
                <a:latin typeface="Calibri"/>
              </a:rPr>
              <a:t> fewer subscribers, near-zero cost savings  →  profits likely fell too</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B45C40F2-F2B4-5868-BF9F-18E8E5BC9381}" type="slidenum">
              <a:rPr lang="en-US" sz="1200" dirty="0">
                <a:solidFill>
                  <a:srgbClr val="555B66"/>
                </a:solidFill>
                <a:latin typeface="Calibri"/>
              </a:rPr>
              <a:t>13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fade">
                                      <p:cBhvr>
                                        <p:cTn id="17" dur="5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xEl>
                                              <p:pRg st="1" end="1"/>
                                            </p:txEl>
                                          </p:spTgt>
                                        </p:tgtEl>
                                        <p:attrNameLst>
                                          <p:attrName>style.visibility</p:attrName>
                                        </p:attrNameLst>
                                      </p:cBhvr>
                                      <p:to>
                                        <p:strVal val="visible"/>
                                      </p:to>
                                    </p:set>
                                    <p:animEffect transition="in" filter="fade">
                                      <p:cBhvr>
                                        <p:cTn id="22" dur="500"/>
                                        <p:tgtEl>
                                          <p:spTgt spid="10">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xEl>
                                              <p:pRg st="2" end="2"/>
                                            </p:txEl>
                                          </p:spTgt>
                                        </p:tgtEl>
                                        <p:attrNameLst>
                                          <p:attrName>style.visibility</p:attrName>
                                        </p:attrNameLst>
                                      </p:cBhvr>
                                      <p:to>
                                        <p:strVal val="visible"/>
                                      </p:to>
                                    </p:set>
                                    <p:animEffect transition="in" filter="fade">
                                      <p:cBhvr>
                                        <p:cTn id="27" dur="5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McDonald's Cutting Prices?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mcdonalds_image3.png"/>
          <p:cNvPicPr>
            <a:picLocks noChangeAspect="1"/>
          </p:cNvPicPr>
          <p:nvPr/>
        </p:nvPicPr>
        <p:blipFill>
          <a:blip r:embed="rId2"/>
          <a:stretch>
            <a:fillRect/>
          </a:stretch>
        </p:blipFill>
        <p:spPr>
          <a:xfrm>
            <a:off x="3108960" y="1463040"/>
            <a:ext cx="5943600" cy="1863171"/>
          </a:xfrm>
          <a:prstGeom prst="rect">
            <a:avLst/>
          </a:prstGeom>
        </p:spPr>
      </p:pic>
      <p:sp>
        <p:nvSpPr>
          <p:cNvPr id="8" name="TextBox 7"/>
          <p:cNvSpPr txBox="1"/>
          <p:nvPr/>
        </p:nvSpPr>
        <p:spPr>
          <a:xfrm>
            <a:off x="1097280" y="3657600"/>
            <a:ext cx="10058400" cy="256032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does this suggest about its demand?</a:t>
            </a:r>
          </a:p>
          <a:p>
            <a:pPr algn="l"/>
            <a:r>
              <a:rPr>
                <a:latin typeface="Calibri"/>
              </a:rPr>
              <a:t>How did it persuade franchisees to adopt the cuts?</a:t>
            </a:r>
          </a:p>
          <a:p>
            <a:pPr algn="l"/>
            <a:r>
              <a:rPr>
                <a:latin typeface="Calibri"/>
              </a:rPr>
              <a:t>What does this reveal about demand across locations?</a:t>
            </a:r>
          </a:p>
          <a:p>
            <a:pPr algn="l"/>
            <a:r>
              <a:rPr>
                <a:latin typeface="Calibri"/>
              </a:rPr>
              <a:t>What are the implications for revenue and profit given a franchise's </a:t>
            </a:r>
            <a:r>
              <a:rPr b="1">
                <a:solidFill>
                  <a:srgbClr val="0070C0"/>
                </a:solidFill>
                <a:latin typeface="Calibri"/>
              </a:rPr>
              <a:t>E</a:t>
            </a:r>
            <a:r>
              <a:rPr b="1" baseline="-25000">
                <a:solidFill>
                  <a:srgbClr val="0070C0"/>
                </a:solidFill>
                <a:latin typeface="Calibri"/>
              </a:rPr>
              <a:t>D</a:t>
            </a:r>
            <a:r>
              <a:rPr>
                <a:latin typeface="Calibri"/>
              </a:rPr>
              <a: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7EE5B772-28C2-5CCD-AA16-49F8FF391118}" type="slidenum">
              <a:rPr lang="en-US" sz="1200" dirty="0">
                <a:solidFill>
                  <a:srgbClr val="555B66"/>
                </a:solidFill>
                <a:latin typeface="Calibri"/>
              </a:rPr>
              <a:t>14</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animEffect transition="in" filter="fade">
                                      <p:cBhvr>
                                        <p:cTn id="17"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Mega Millions, Revisited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783080"/>
            <a:ext cx="10881360" cy="329184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April 2025: Mega Millions raised its ticket price from $2 to $5  (+150%)</a:t>
            </a:r>
          </a:p>
          <a:p>
            <a:pPr algn="l"/>
            <a:r>
              <a:rPr>
                <a:latin typeface="Calibri"/>
              </a:rPr>
              <a:t>In New York, tickets sold per drawing fell from ~1.9 million to ~560,000  (≈ −70%)</a:t>
            </a:r>
          </a:p>
          <a:p>
            <a:pPr algn="l"/>
            <a:r>
              <a:rPr>
                <a:latin typeface="Calibri"/>
              </a:rPr>
              <a:t>We computed  </a:t>
            </a:r>
            <a:r>
              <a:rPr b="1">
                <a:solidFill>
                  <a:srgbClr val="0070C0"/>
                </a:solidFill>
                <a:latin typeface="Calibri"/>
              </a:rPr>
              <a:t>E</a:t>
            </a:r>
            <a:r>
              <a:rPr b="1" baseline="-25000">
                <a:solidFill>
                  <a:srgbClr val="0070C0"/>
                </a:solidFill>
                <a:latin typeface="Calibri"/>
              </a:rPr>
              <a:t>D</a:t>
            </a:r>
            <a:r>
              <a:rPr b="1">
                <a:solidFill>
                  <a:srgbClr val="0070C0"/>
                </a:solidFill>
                <a:latin typeface="Calibri"/>
              </a:rPr>
              <a:t> ≈ −0.47</a:t>
            </a:r>
            <a:r>
              <a:rPr>
                <a:latin typeface="Calibri"/>
              </a:rPr>
              <a:t>  →  inelastic</a:t>
            </a:r>
          </a:p>
          <a:p>
            <a:pPr algn="l"/>
            <a:r>
              <a:rPr b="1">
                <a:latin typeface="Calibri"/>
              </a:rPr>
              <a:t>Inelastic demand suggests revenue should RISE when the price rises. Did it?</a:t>
            </a:r>
          </a:p>
        </p:txBody>
      </p:sp>
      <p:sp>
        <p:nvSpPr>
          <p:cNvPr id="8" name="Rounded Rectangle 7"/>
          <p:cNvSpPr/>
          <p:nvPr/>
        </p:nvSpPr>
        <p:spPr>
          <a:xfrm>
            <a:off x="1417320" y="5257800"/>
            <a:ext cx="9326880" cy="77724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5367528"/>
            <a:ext cx="8961120" cy="557784"/>
          </a:xfrm>
          <a:prstGeom prst="rect">
            <a:avLst/>
          </a:prstGeom>
          <a:noFill/>
        </p:spPr>
        <p:txBody>
          <a:bodyPr wrap="square" lIns="45720" rIns="45720" tIns="0" bIns="0" anchor="ctr">
            <a:spAutoFit/>
          </a:bodyPr>
          <a:lstStyle/>
          <a:p>
            <a:pPr algn="l"/>
            <a:r>
              <a:rPr sz="1500" b="1" i="0" u="none">
                <a:solidFill>
                  <a:srgbClr val="0B2B4E"/>
                </a:solidFill>
                <a:latin typeface="Calibri"/>
              </a:rPr>
              <a:t>Caution: </a:t>
            </a:r>
            <a:r>
              <a:rPr sz="1500" b="0" i="0" u="none">
                <a:solidFill>
                  <a:srgbClr val="0B2B4E"/>
                </a:solidFill>
                <a:latin typeface="Calibri"/>
              </a:rPr>
              <a:t>Method 1 approximates % changes – for LARGE changes like this one, the elasticity-revenue rule can mislead</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5064C755-CC80-55A3-BB83-1820E17D2280}" type="slidenum">
              <a:rPr lang="en-US" sz="1200" dirty="0">
                <a:solidFill>
                  <a:srgbClr val="555B66"/>
                </a:solidFill>
                <a:latin typeface="Calibri"/>
              </a:rPr>
              <a:t>15</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700"/>
                                        </p:tgtEl>
                                        <p:attrNameLst>
                                          <p:attrName>style.visibility</p:attrName>
                                        </p:attrNameLst>
                                      </p:cBhvr>
                                      <p:to>
                                        <p:strVal val="visible"/>
                                      </p:to>
                                    </p:set>
                                    <p:animEffect transition="in" filter="fade">
                                      <p:cBhvr>
                                        <p:cTn id="22" dur="500"/>
                                        <p:tgtEl>
                                          <p:spTgt spid="97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Marginal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2</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3" name="Oval 12"/>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4" name="TextBox 13"/>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5" name="Rounded Rectangle 14"/>
          <p:cNvSpPr/>
          <p:nvPr/>
        </p:nvSpPr>
        <p:spPr>
          <a:xfrm>
            <a:off x="1252728" y="4768596"/>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3b</a:t>
            </a:r>
          </a:p>
        </p:txBody>
      </p:sp>
      <p:sp>
        <p:nvSpPr>
          <p:cNvPr id="17" name="TextBox 16"/>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18" name="Oval 17"/>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19" name="TextBox 18"/>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D11E3725-2B2B-5068-95F8-EA42C5BEA37A}" type="slidenum">
              <a:rPr lang="en-US" sz="1200" dirty="0">
                <a:solidFill>
                  <a:srgbClr val="555B66"/>
                </a:solidFill>
                <a:latin typeface="Calibri"/>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Do We Care About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10149840" cy="9601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300">
                <a:solidFill>
                  <a:srgbClr val="0B2B4E"/>
                </a:solidFill>
                <a:latin typeface="Calibri"/>
              </a:rPr>
              <a:t>General objective: maximize </a:t>
            </a:r>
            <a:r>
              <a:rPr sz="2300" b="1">
                <a:solidFill>
                  <a:srgbClr val="0B2B4E"/>
                </a:solidFill>
                <a:latin typeface="Calibri"/>
              </a:rPr>
              <a:t>net benefits</a:t>
            </a:r>
          </a:p>
          <a:p>
            <a:pPr algn="l" lvl="1"/>
            <a:r>
              <a:rPr sz="2000">
                <a:latin typeface="Calibri"/>
              </a:rPr>
              <a:t>Use marginal analysis</a:t>
            </a:r>
          </a:p>
        </p:txBody>
      </p:sp>
      <p:sp>
        <p:nvSpPr>
          <p:cNvPr id="8" name="Rounded Rectangle 7"/>
          <p:cNvSpPr/>
          <p:nvPr/>
        </p:nvSpPr>
        <p:spPr>
          <a:xfrm>
            <a:off x="1463040" y="2697480"/>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Net benefits are maximized where MB = MC</a:t>
            </a:r>
          </a:p>
        </p:txBody>
      </p:sp>
      <p:sp>
        <p:nvSpPr>
          <p:cNvPr id="9" name="TextBox 8"/>
          <p:cNvSpPr txBox="1"/>
          <p:nvPr/>
        </p:nvSpPr>
        <p:spPr>
          <a:xfrm>
            <a:off x="1005840" y="3611880"/>
            <a:ext cx="10149840" cy="502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Firms’ objective: maximize </a:t>
            </a:r>
            <a:r>
              <a:rPr sz="2300" b="1">
                <a:solidFill>
                  <a:srgbClr val="0B2B4E"/>
                </a:solidFill>
                <a:latin typeface="Calibri"/>
              </a:rPr>
              <a:t>profits</a:t>
            </a:r>
          </a:p>
        </p:txBody>
      </p:sp>
      <p:sp>
        <p:nvSpPr>
          <p:cNvPr id="10" name="Rounded Rectangle 9"/>
          <p:cNvSpPr/>
          <p:nvPr/>
        </p:nvSpPr>
        <p:spPr>
          <a:xfrm>
            <a:off x="1463040" y="4297680"/>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Produce where Marginal Revenue (MR) = Marginal Cost (MC)</a:t>
            </a:r>
          </a:p>
        </p:txBody>
      </p:sp>
      <p:sp>
        <p:nvSpPr>
          <p:cNvPr id="11" name="TextBox 10"/>
          <p:cNvSpPr txBox="1"/>
          <p:nvPr/>
        </p:nvSpPr>
        <p:spPr>
          <a:xfrm>
            <a:off x="1005840" y="5257800"/>
            <a:ext cx="1014984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Today: how to compute </a:t>
            </a:r>
            <a:r>
              <a:rPr sz="2300" b="1" i="1">
                <a:solidFill>
                  <a:srgbClr val="0B2B4E"/>
                </a:solidFill>
                <a:latin typeface="Calibri"/>
              </a:rPr>
              <a:t>MR</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1F781904-1376-5E0B-A609-DB08D4E0BB65}" type="slidenum">
              <a:rPr lang="en-US" sz="1200" dirty="0">
                <a:solidFill>
                  <a:srgbClr val="555B66"/>
                </a:solidFill>
                <a:latin typeface="Calibri"/>
              </a:rPr>
              <a:t>18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Marginal Revenue: Definition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37360"/>
            <a:ext cx="11338560" cy="13716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Intuitively:</a:t>
            </a:r>
            <a:r>
              <a:rPr>
                <a:latin typeface="Calibri"/>
              </a:rPr>
              <a:t>  Additional revenue from selling one more unit</a:t>
            </a:r>
          </a:p>
          <a:p>
            <a:pPr algn="l"/>
            <a:r>
              <a:rPr b="1">
                <a:latin typeface="Calibri"/>
              </a:rPr>
              <a:t>Mathematically:</a:t>
            </a:r>
            <a:r>
              <a:rPr>
                <a:latin typeface="Calibri"/>
              </a:rPr>
              <a:t>  How much total revenue changes when quantity sold increases by one unit</a:t>
            </a:r>
          </a:p>
        </p:txBody>
      </p:sp>
      <p:sp>
        <p:nvSpPr>
          <p:cNvPr id="8" name="TextBox 7"/>
          <p:cNvSpPr txBox="1"/>
          <p:nvPr/>
        </p:nvSpPr>
        <p:spPr>
          <a:xfrm>
            <a:off x="3977639" y="3429000"/>
            <a:ext cx="4206240" cy="12344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000" b="0" i="1">
                <a:solidFill>
                  <a:srgbClr val="0B2B4E"/>
                </a:solidFill>
                <a:latin typeface="Cambria Math"/>
              </a:defRPr>
            </a:pPr>
            <a14:m>
              <m:oMathPara>
                <m:oMathParaPr>
                  <m:jc m:val="centerGroup"/>
                </m:oMathParaPr>
                <m:oMath>
                  <m:r>
                    <m:rPr>
                      <m:sty m:val="p"/>
                    </m:rPr>
                    <a:rPr lang="en-US" b="0" i="0" sz="3000">
                      <a:solidFill>
                        <a:srgbClr val="0B2B4E"/>
                      </a:solidFill>
                      <a:latin typeface="Cambria Math"/>
                    </a:rPr>
                    <m:t xml:space="preserve">MR</m:t>
                  </m:r>
                  <m:r>
                    <m:rPr>
                      <m:sty m:val="p"/>
                    </m:rPr>
                    <a:rPr lang="en-US" b="0" i="0" sz="3000">
                      <a:solidFill>
                        <a:srgbClr val="0B2B4E"/>
                      </a:solidFill>
                      <a:latin typeface="Cambria Math"/>
                    </a:rPr>
                    <m:t xml:space="preserve"> = </m:t>
                  </m:r>
                  <m:f>
                    <m:fPr>
                      <m:ctrlPr>
                        <a:rPr lang="en-US" i="1">
                          <a:latin typeface="Cambria Math"/>
                        </a:rPr>
                      </m:ctrlPr>
                    </m:fPr>
                    <m:num>
                      <m:r>
                        <m:rPr>
                          <m:sty m:val="p"/>
                        </m:rPr>
                        <a:rPr lang="en-US" b="0" i="0" sz="3000">
                          <a:solidFill>
                            <a:srgbClr val="0B2B4E"/>
                          </a:solidFill>
                          <a:latin typeface="Cambria Math"/>
                        </a:rPr>
                        <m:t xml:space="preserve">Δ</m:t>
                      </m:r>
                      <m:r>
                        <m:rPr>
                          <m:sty m:val="p"/>
                        </m:rPr>
                        <a:rPr lang="en-US" b="0" i="0" sz="3000">
                          <a:solidFill>
                            <a:srgbClr val="0B2B4E"/>
                          </a:solidFill>
                          <a:latin typeface="Cambria Math"/>
                        </a:rPr>
                        <m:t xml:space="preserve">TR</m:t>
                      </m:r>
                    </m:num>
                    <m:den>
                      <m:r>
                        <m:rPr>
                          <m:sty m:val="p"/>
                        </m:rPr>
                        <a:rPr lang="en-US" b="0" i="0" sz="3000">
                          <a:solidFill>
                            <a:srgbClr val="0B2B4E"/>
                          </a:solidFill>
                          <a:latin typeface="Cambria Math"/>
                        </a:rPr>
                        <m:t xml:space="preserve">Δ</m:t>
                      </m:r>
                      <m:r>
                        <a:rPr lang="en-US" b="0" i="1" sz="3000">
                          <a:solidFill>
                            <a:srgbClr val="0B2B4E"/>
                          </a:solidFill>
                          <a:latin typeface="Cambria Math"/>
                          <a:ea typeface="Cambria Math"/>
                        </a:rPr>
                        <m:t>Q</m:t>
                      </m:r>
                    </m:den>
                  </m:f>
                  <m:r>
                    <m:rPr>
                      <m:sty m:val="p"/>
                    </m:rPr>
                    <a:rPr lang="en-US" b="0" i="0" sz="3000">
                      <a:solidFill>
                        <a:srgbClr val="0B2B4E"/>
                      </a:solidFill>
                      <a:latin typeface="Cambria Math"/>
                    </a:rPr>
                    <m:t xml:space="preserve"> = </m:t>
                  </m:r>
                  <m:f>
                    <m:fPr>
                      <m:ctrlPr>
                        <a:rPr lang="en-US" i="1">
                          <a:latin typeface="Cambria Math"/>
                        </a:rPr>
                      </m:ctrlPr>
                    </m:fPr>
                    <m:num>
                      <m:r>
                        <a:rPr lang="en-US" b="0" i="1" sz="3000">
                          <a:solidFill>
                            <a:srgbClr val="0B2B4E"/>
                          </a:solidFill>
                          <a:latin typeface="Cambria Math"/>
                          <a:ea typeface="Cambria Math"/>
                        </a:rPr>
                        <m:t>d</m:t>
                      </m:r>
                      <m:r>
                        <m:rPr>
                          <m:sty m:val="p"/>
                        </m:rPr>
                        <a:rPr lang="en-US" b="0" i="0" sz="3000">
                          <a:solidFill>
                            <a:srgbClr val="0B2B4E"/>
                          </a:solidFill>
                          <a:latin typeface="Cambria Math"/>
                        </a:rPr>
                        <m:t xml:space="preserve">TR</m:t>
                      </m:r>
                    </m:num>
                    <m:den>
                      <m:r>
                        <a:rPr lang="en-US" b="0" i="1" sz="3000">
                          <a:solidFill>
                            <a:srgbClr val="0B2B4E"/>
                          </a:solidFill>
                          <a:latin typeface="Cambria Math"/>
                          <a:ea typeface="Cambria Math"/>
                        </a:rPr>
                        <m:t>d</m:t>
                      </m:r>
                      <m:r>
                        <a:rPr lang="en-US" b="0" i="1" sz="3000">
                          <a:solidFill>
                            <a:srgbClr val="0B2B4E"/>
                          </a:solidFill>
                          <a:latin typeface="Cambria Math"/>
                          <a:ea typeface="Cambria Math"/>
                        </a:rPr>
                        <m:t>Q</m:t>
                      </m:r>
                    </m:den>
                  </m:f>
                </m:oMath>
              </m:oMathPara>
            </a14:m>
            <a:endParaRPr lang="en-US" sz="3000"/>
          </a:p>
        </p:txBody>
      </p:sp>
      <p:sp>
        <p:nvSpPr>
          <p:cNvPr id="9" name="TextBox 8"/>
          <p:cNvSpPr txBox="1"/>
          <p:nvPr/>
        </p:nvSpPr>
        <p:spPr>
          <a:xfrm>
            <a:off x="8549640" y="3703320"/>
            <a:ext cx="1828800" cy="365760"/>
          </a:xfrm>
          <a:prstGeom prst="rect">
            <a:avLst/>
          </a:prstGeom>
          <a:noFill/>
        </p:spPr>
        <p:txBody>
          <a:bodyPr wrap="square" lIns="0" rIns="0" tIns="0" bIns="0">
            <a:spAutoFit/>
          </a:bodyPr>
          <a:lstStyle/>
          <a:p>
            <a:pPr algn="l"/>
            <a:r>
              <a:rPr sz="1800" b="1" i="0" u="none">
                <a:solidFill>
                  <a:srgbClr val="0070C0"/>
                </a:solidFill>
                <a:latin typeface="Calibri"/>
              </a:rPr>
              <a:t>Derivative</a:t>
            </a:r>
          </a:p>
        </p:txBody>
      </p:sp>
      <p:cxnSp>
        <p:nvCxnSpPr>
          <p:cNvPr id="10" name="Connector 9"/>
          <p:cNvCxnSpPr/>
          <p:nvPr/>
        </p:nvCxnSpPr>
        <p:spPr>
          <a:xfrm flipH="1">
            <a:off x="7909560" y="3886200"/>
            <a:ext cx="594360" cy="91439"/>
          </a:xfrm>
          <a:prstGeom prst="line">
            <a:avLst/>
          </a:prstGeom>
          <a:ln w="22225">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9159" y="5166360"/>
            <a:ext cx="113385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How to compute </a:t>
            </a:r>
            <a:r>
              <a:rPr b="1" i="1">
                <a:latin typeface="Calibri"/>
              </a:rPr>
              <a:t>MR</a:t>
            </a:r>
            <a:r>
              <a:rPr b="1">
                <a:latin typeface="Calibri"/>
              </a:rPr>
              <a:t> : start from the demand function and use a 3-step method</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0D79D32D-CBB0-5A36-872D-80D6EDC94917}" type="slidenum">
              <a:rPr lang="en-US" sz="1200" dirty="0">
                <a:solidFill>
                  <a:srgbClr val="555B66"/>
                </a:solidFill>
                <a:latin typeface="Calibri"/>
              </a:rPr>
              <a:t>19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Calculus Refresher: Derivatives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7" name="Group pair 117"/>
          <p:cNvGrpSpPr/>
          <p:nvPr/>
        </p:nvGrpSpPr>
        <p:grpSpPr>
          <a:xfrm>
            <a:off x="1615744" y="1481328"/>
            <a:ext cx="8961120" cy="1188720"/>
            <a:chOff x="1615744" y="1481328"/>
            <a:chExt cx="8961120" cy="1188720"/>
          </a:xfrm>
        </p:grpSpPr>
        <p:sp>
          <p:nvSpPr>
            <p:cNvPr id="7" name="Rounded Rectangle 6"/>
            <p:cNvSpPr/>
            <p:nvPr/>
          </p:nvSpPr>
          <p:spPr>
            <a:xfrm>
              <a:off x="1615744" y="1481328"/>
              <a:ext cx="8961120" cy="11887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98624" y="1591056"/>
              <a:ext cx="8595360" cy="969264"/>
            </a:xfrm>
            <a:prstGeom prst="rect">
              <a:avLst/>
            </a:prstGeom>
            <a:noFill/>
          </p:spPr>
          <p:txBody>
            <a:bodyPr wrap="square" lIns="45720" rIns="45720" tIns="0" bIns="0" anchor="ctr">
              <a:spAutoFit/>
            </a:bodyPr>
            <a:lstStyle/>
            <a:p>
              <a:pPr algn="ctr"/>
              <a:r>
                <a:rPr sz="2200" b="1" i="0" u="none">
                  <a:solidFill>
                    <a:srgbClr val="0B2B4E"/>
                  </a:solidFill>
                  <a:latin typeface="Calibri"/>
                </a:rPr>
                <a:t>A derivative measures a rate of change.</a:t>
              </a:r>
              <a:r>
                <a:rPr sz="2200" b="0" i="0" u="none">
                  <a:solidFill>
                    <a:srgbClr val="0B2B4E"/>
                  </a:solidFill>
                  <a:latin typeface="Calibri"/>
                </a:rPr>
                <a:t>
</a:t>
              </a:r>
              <a:r>
                <a:rPr sz="2200" b="0" i="0" u="none">
                  <a:solidFill>
                    <a:srgbClr val="0B2B4E"/>
                  </a:solidFill>
                  <a:latin typeface="Calibri"/>
                </a:rPr>
                <a:t>dY/dX is the change in </a:t>
              </a:r>
              <a:r>
                <a:rPr sz="2200" b="0" i="1" u="none">
                  <a:solidFill>
                    <a:srgbClr val="0B2B4E"/>
                  </a:solidFill>
                  <a:latin typeface="Calibri"/>
                </a:rPr>
                <a:t>Y</a:t>
              </a:r>
              <a:r>
                <a:rPr sz="2200" b="0" i="0" u="none">
                  <a:solidFill>
                    <a:srgbClr val="0B2B4E"/>
                  </a:solidFill>
                  <a:latin typeface="Calibri"/>
                </a:rPr>
                <a:t> caused by a small (marginal) change in </a:t>
              </a:r>
              <a:r>
                <a:rPr sz="2200" b="0" i="1" u="none">
                  <a:solidFill>
                    <a:srgbClr val="0B2B4E"/>
                  </a:solidFill>
                  <a:latin typeface="Calibri"/>
                </a:rPr>
                <a:t>X</a:t>
              </a:r>
              <a:r>
                <a:rPr sz="2200" b="0" i="0" u="none">
                  <a:solidFill>
                    <a:srgbClr val="0B2B4E"/>
                  </a:solidFill>
                  <a:latin typeface="Calibri"/>
                </a:rPr>
                <a:t>.</a:t>
              </a:r>
            </a:p>
          </p:txBody>
        </p:sp>
      </p:grpSp>
      <p:sp>
        <p:nvSpPr>
          <p:cNvPr id="9" name="TextBox 8"/>
          <p:cNvSpPr txBox="1"/>
          <p:nvPr/>
        </p:nvSpPr>
        <p:spPr>
          <a:xfrm>
            <a:off x="685800" y="2880360"/>
            <a:ext cx="5212080" cy="365760"/>
          </a:xfrm>
          <a:prstGeom prst="rect">
            <a:avLst/>
          </a:prstGeom>
          <a:noFill/>
        </p:spPr>
        <p:txBody>
          <a:bodyPr wrap="square" lIns="0" rIns="0" tIns="0" bIns="0">
            <a:spAutoFit/>
          </a:bodyPr>
          <a:lstStyle/>
          <a:p>
            <a:pPr algn="l"/>
            <a:r>
              <a:rPr sz="2200" b="1" i="0" u="none">
                <a:solidFill>
                  <a:srgbClr val="0B2B4E"/>
                </a:solidFill>
                <a:latin typeface="Calibri"/>
              </a:rPr>
              <a:t>The general rule</a:t>
            </a:r>
          </a:p>
        </p:txBody>
      </p:sp>
      <p:sp>
        <p:nvSpPr>
          <p:cNvPr id="10" name="TextBox 9"/>
          <p:cNvSpPr txBox="1"/>
          <p:nvPr/>
        </p:nvSpPr>
        <p:spPr>
          <a:xfrm>
            <a:off x="685800" y="3364992"/>
            <a:ext cx="521208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2100">
                <a:solidFill>
                  <a:srgbClr val="0B2B4E"/>
                </a:solidFill>
                <a:latin typeface="Calibri"/>
              </a:rPr>
              <a:t>If   </a:t>
            </a:r>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a</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bX</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c</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r>
              <a:rPr lang="en-US" sz="1800">
                <a:solidFill>
                  <a:srgbClr val="0B2B4E"/>
                </a:solidFill>
                <a:latin typeface="Calibri"/>
              </a:rPr>
              <a:t>with a, b, c constant,</a:t>
            </a:r>
            <a:endParaRPr lang="en-US"/>
          </a:p>
          <a:p xmlns:m="http://schemas.openxmlformats.org/officeDocument/2006/math" xmlns:a14="http://schemas.microsoft.com/office/drawing/2010/main">
            <a:endParaRPr lang="en-US"/>
          </a:p>
          <a:p xmlns:m="http://schemas.openxmlformats.org/officeDocument/2006/math" xmlns:a14="http://schemas.microsoft.com/office/drawing/2010/main">
            <a:r>
              <a:rPr lang="en-US" sz="2100">
                <a:solidFill>
                  <a:srgbClr val="0B2B4E"/>
                </a:solidFill>
                <a:latin typeface="Calibri"/>
              </a:rPr>
              <a:t>then   </a:t>
            </a:r>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+ 2</m:t>
                </m:r>
                <m:r>
                  <a:rPr lang="en-US" b="0" i="1" sz="2400">
                    <a:solidFill>
                      <a:srgbClr val="0B2B4E"/>
                    </a:solidFill>
                    <a:latin typeface="Cambria Math"/>
                    <a:ea typeface="Cambria Math"/>
                  </a:rPr>
                  <m:t>cX</m:t>
                </m:r>
              </m:oMath>
            </a14:m>
            <a:endParaRPr lang="en-US"/>
          </a:p>
        </p:txBody>
      </p:sp>
      <p:sp>
        <p:nvSpPr>
          <p:cNvPr id="11" name="TextBox 10"/>
          <p:cNvSpPr txBox="1"/>
          <p:nvPr/>
        </p:nvSpPr>
        <p:spPr>
          <a:xfrm>
            <a:off x="6446520" y="2880360"/>
            <a:ext cx="5074920" cy="365760"/>
          </a:xfrm>
          <a:prstGeom prst="rect">
            <a:avLst/>
          </a:prstGeom>
          <a:noFill/>
        </p:spPr>
        <p:txBody>
          <a:bodyPr wrap="square" lIns="0" rIns="0" tIns="0" bIns="0">
            <a:spAutoFit/>
          </a:bodyPr>
          <a:lstStyle/>
          <a:p>
            <a:pPr algn="l"/>
            <a:r>
              <a:rPr sz="2200" b="1" i="0" u="none">
                <a:solidFill>
                  <a:srgbClr val="0B2B4E"/>
                </a:solidFill>
                <a:latin typeface="Calibri"/>
              </a:rPr>
              <a:t>A worked example</a:t>
            </a:r>
          </a:p>
        </p:txBody>
      </p:sp>
      <p:sp>
        <p:nvSpPr>
          <p:cNvPr id="12" name="TextBox 11"/>
          <p:cNvSpPr txBox="1"/>
          <p:nvPr/>
        </p:nvSpPr>
        <p:spPr>
          <a:xfrm>
            <a:off x="6446520" y="3364992"/>
            <a:ext cx="507492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1800">
                <a:solidFill>
                  <a:srgbClr val="0B2B4E"/>
                </a:solidFill>
                <a:latin typeface="Calibri"/>
              </a:rPr>
              <a:t>With a = 1, b = 3, c = 2:</a:t>
            </a:r>
            <a:endParaRPr lang="en-US"/>
          </a:p>
          <a:p xmlns:m="http://schemas.openxmlformats.org/officeDocument/2006/math" xmlns:a14="http://schemas.microsoft.com/office/drawing/2010/main">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1 + 3</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+ 2</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endParaRPr lang="en-US"/>
          </a:p>
          <a:p xmlns:m="http://schemas.openxmlformats.org/officeDocument/2006/math" xmlns:a14="http://schemas.microsoft.com/office/drawing/2010/main">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3 + 2⋅2⋅</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3 + 4</m:t>
                </m:r>
                <m:r>
                  <a:rPr lang="en-US" b="0" i="1" sz="2400">
                    <a:solidFill>
                      <a:srgbClr val="0B2B4E"/>
                    </a:solidFill>
                    <a:latin typeface="Cambria Math"/>
                    <a:ea typeface="Cambria Math"/>
                  </a:rPr>
                  <m:t>X</m:t>
                </m:r>
              </m:oMath>
            </a14:m>
            <a:endParaRPr lang="en-US"/>
          </a:p>
        </p:txBody>
      </p:sp>
      <p:sp>
        <p:nvSpPr>
          <p:cNvPr id="13" name="Rounded Rectangle 12"/>
          <p:cNvSpPr/>
          <p:nvPr/>
        </p:nvSpPr>
        <p:spPr>
          <a:xfrm>
            <a:off x="4160520" y="5806440"/>
            <a:ext cx="3886200" cy="50292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See TA’s Math Review Videos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7" name="TextBox 16"/>
          <p:cNvSpPr txBox="1"/>
          <p:nvPr/>
        </p:nvSpPr>
        <p:spPr>
          <a:xfrm>
            <a:off x="11475720" y="6583680"/>
            <a:ext cx="502920" cy="292608"/>
          </a:xfrm>
          <a:prstGeom prst="rect">
            <a:avLst/>
          </a:prstGeom>
          <a:noFill/>
        </p:spPr>
        <p:txBody>
          <a:bodyPr wrap="none" lIns="0" rIns="0" tIns="0" bIns="0">
            <a:spAutoFit/>
          </a:bodyPr>
          <a:lstStyle/>
          <a:p>
            <a:pPr algn="r"/>
            <a:fld id="{5DCA6EF3-CA19-5683-AC1B-F9B07305DAD0}" type="slidenum">
              <a:rPr lang="en-US" sz="1200" dirty="0">
                <a:solidFill>
                  <a:srgbClr val="555B66"/>
                </a:solidFill>
                <a:latin typeface="Calibri"/>
              </a:rPr>
              <a:t>20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3-Step Method in Action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0" name="Group pair 120"/>
          <p:cNvGrpSpPr/>
          <p:nvPr/>
        </p:nvGrpSpPr>
        <p:grpSpPr>
          <a:xfrm>
            <a:off x="389159" y="1417320"/>
            <a:ext cx="5394960" cy="685800"/>
            <a:chOff x="389159" y="1417320"/>
            <a:chExt cx="5394960" cy="685800"/>
          </a:xfrm>
        </p:grpSpPr>
        <p:sp>
          <p:nvSpPr>
            <p:cNvPr id="7" name="Rounded Rectangle 6"/>
            <p:cNvSpPr/>
            <p:nvPr/>
          </p:nvSpPr>
          <p:spPr>
            <a:xfrm>
              <a:off x="389159" y="1417320"/>
              <a:ext cx="5394960" cy="685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2039" y="1527048"/>
              <a:ext cx="5029200" cy="466344"/>
            </a:xfrm>
            <a:prstGeom prst="rect">
              <a:avLst/>
            </a:prstGeom>
            <a:noFill/>
          </p:spPr>
          <p:txBody>
            <a:bodyPr wrap="square" lIns="45720" rIns="45720" tIns="0" bIns="0" anchor="ctr">
              <a:spAutoFit/>
            </a:bodyPr>
            <a:lstStyle/>
            <a:p>
              <a:pPr algn="l"/>
              <a:r>
                <a:rPr sz="1800" b="1" i="0" u="none">
                  <a:solidFill>
                    <a:srgbClr val="0B2B4E"/>
                  </a:solidFill>
                  <a:latin typeface="Calibri"/>
                </a:rPr>
                <a:t>Suppose demand is:   Q = 1,600 − 4P</a:t>
              </a:r>
            </a:p>
          </p:txBody>
        </p:sp>
      </p:grpSp>
      <p:sp>
        <p:nvSpPr>
          <p:cNvPr id="9" name="TextBox 8"/>
          <p:cNvSpPr txBox="1"/>
          <p:nvPr/>
        </p:nvSpPr>
        <p:spPr>
          <a:xfrm>
            <a:off x="389159" y="230428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1:  Calculate inverse demand</a:t>
            </a:r>
            <a:r>
              <a:rPr sz="1900">
                <a:solidFill>
                  <a:srgbClr val="0B2B4E"/>
                </a:solidFill>
                <a:latin typeface="Calibri"/>
              </a:rPr>
              <a:t> (solve for P)</a:t>
            </a:r>
          </a:p>
          <a:p>
            <a:pPr algn="l">
              <a:spcBef>
                <a:spcPts val="500"/>
              </a:spcBef>
              <a:buNone/>
            </a:pPr>
            <a:r>
              <a:rPr sz="1700">
                <a:solidFill>
                  <a:srgbClr val="555B66"/>
                </a:solidFill>
                <a:latin typeface="Calibri"/>
              </a:rPr>
              <a:t>Rearrange demand so </a:t>
            </a:r>
            <a:r>
              <a:rPr sz="1700" i="1">
                <a:solidFill>
                  <a:srgbClr val="555B66"/>
                </a:solidFill>
                <a:latin typeface="Calibri"/>
              </a:rPr>
              <a:t>P</a:t>
            </a:r>
            <a:r>
              <a:rPr sz="1700">
                <a:solidFill>
                  <a:srgbClr val="555B66"/>
                </a:solidFill>
                <a:latin typeface="Calibri"/>
              </a:rPr>
              <a:t> is a function of </a:t>
            </a:r>
            <a:r>
              <a:rPr sz="1700" i="1">
                <a:solidFill>
                  <a:srgbClr val="555B66"/>
                </a:solidFill>
                <a:latin typeface="Calibri"/>
              </a:rPr>
              <a:t>Q</a:t>
            </a:r>
          </a:p>
        </p:txBody>
      </p:sp>
      <p:sp>
        <p:nvSpPr>
          <p:cNvPr id="10" name="TextBox 9"/>
          <p:cNvSpPr txBox="1"/>
          <p:nvPr/>
        </p:nvSpPr>
        <p:spPr>
          <a:xfrm>
            <a:off x="5897880" y="221284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a:rPr lang="en-US" b="0" i="1" sz="2100">
                      <a:solidFill>
                        <a:srgbClr val="0B2B4E"/>
                      </a:solidFill>
                      <a:latin typeface="Cambria Math"/>
                      <a:ea typeface="Cambria Math"/>
                    </a:rPr>
                    <m:t>P</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oMath>
              </m:oMathPara>
            </a14:m>
            <a:endParaRPr lang="en-US" sz="2100"/>
          </a:p>
        </p:txBody>
      </p:sp>
      <p:sp>
        <p:nvSpPr>
          <p:cNvPr id="11" name="TextBox 10"/>
          <p:cNvSpPr txBox="1"/>
          <p:nvPr/>
        </p:nvSpPr>
        <p:spPr>
          <a:xfrm>
            <a:off x="389159" y="358444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2:  Calculate total revenue </a:t>
            </a:r>
            <a:r>
              <a:rPr sz="1900">
                <a:solidFill>
                  <a:srgbClr val="0B2B4E"/>
                </a:solidFill>
                <a:latin typeface="Calibri"/>
              </a:rPr>
              <a:t>(multiply P by Q)</a:t>
            </a:r>
          </a:p>
          <a:p>
            <a:pPr algn="l">
              <a:spcBef>
                <a:spcPts val="500"/>
              </a:spcBef>
              <a:buNone/>
            </a:pPr>
            <a:r>
              <a:rPr sz="1700" i="1">
                <a:solidFill>
                  <a:srgbClr val="555B66"/>
                </a:solidFill>
                <a:latin typeface="Calibri"/>
              </a:rPr>
              <a:t>TR = P · Q</a:t>
            </a:r>
            <a:r>
              <a:rPr sz="1700">
                <a:solidFill>
                  <a:srgbClr val="555B66"/>
                </a:solidFill>
                <a:latin typeface="Calibri"/>
              </a:rPr>
              <a:t>; replace P with inverse demand so TR is a function of </a:t>
            </a:r>
            <a:r>
              <a:rPr sz="1700" i="1">
                <a:solidFill>
                  <a:srgbClr val="555B66"/>
                </a:solidFill>
                <a:latin typeface="Calibri"/>
              </a:rPr>
              <a:t>Q</a:t>
            </a:r>
            <a:r>
              <a:rPr sz="1700">
                <a:solidFill>
                  <a:srgbClr val="555B66"/>
                </a:solidFill>
                <a:latin typeface="Calibri"/>
              </a:rPr>
              <a:t> only</a:t>
            </a:r>
          </a:p>
        </p:txBody>
      </p:sp>
      <p:sp>
        <p:nvSpPr>
          <p:cNvPr id="12" name="TextBox 11"/>
          <p:cNvSpPr txBox="1"/>
          <p:nvPr/>
        </p:nvSpPr>
        <p:spPr>
          <a:xfrm>
            <a:off x="5897880" y="349300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TR</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sSup>
                    <m:sSupPr>
                      <m:ctrlPr>
                        <a:rPr lang="en-US" i="1">
                          <a:latin typeface="Cambria Math"/>
                        </a:rPr>
                      </m:ctrlPr>
                    </m:sSupPr>
                    <m:e>
                      <m:r>
                        <a:rPr lang="en-US" b="0" i="1" sz="2100">
                          <a:solidFill>
                            <a:srgbClr val="0B2B4E"/>
                          </a:solidFill>
                          <a:latin typeface="Cambria Math"/>
                          <a:ea typeface="Cambria Math"/>
                        </a:rPr>
                        <m:t>Q</m:t>
                      </m:r>
                    </m:e>
                    <m:sup>
                      <m:r>
                        <m:rPr>
                          <m:sty m:val="p"/>
                        </m:rPr>
                        <a:rPr lang="en-US" b="0" i="0" sz="2100">
                          <a:solidFill>
                            <a:srgbClr val="0B2B4E"/>
                          </a:solidFill>
                          <a:latin typeface="Cambria Math"/>
                        </a:rPr>
                        <m:t xml:space="preserve">2</m:t>
                      </m:r>
                    </m:sup>
                  </m:sSup>
                </m:oMath>
              </m:oMathPara>
            </a14:m>
            <a:endParaRPr lang="en-US" sz="2100"/>
          </a:p>
        </p:txBody>
      </p:sp>
      <p:sp>
        <p:nvSpPr>
          <p:cNvPr id="13" name="TextBox 12"/>
          <p:cNvSpPr txBox="1"/>
          <p:nvPr/>
        </p:nvSpPr>
        <p:spPr>
          <a:xfrm>
            <a:off x="389159" y="486460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3:  Compute Marginal Revenue from total revenue </a:t>
            </a:r>
            <a:r>
              <a:rPr sz="1900">
                <a:solidFill>
                  <a:srgbClr val="0B2B4E"/>
                </a:solidFill>
                <a:latin typeface="Calibri"/>
              </a:rPr>
              <a:t>(MR = dTR/dQ)</a:t>
            </a:r>
          </a:p>
          <a:p>
            <a:pPr algn="l">
              <a:spcBef>
                <a:spcPts val="500"/>
              </a:spcBef>
              <a:buNone/>
            </a:pPr>
            <a:r>
              <a:rPr sz="1700">
                <a:solidFill>
                  <a:srgbClr val="555B66"/>
                </a:solidFill>
                <a:latin typeface="Calibri"/>
              </a:rPr>
              <a:t>Take the derivative of </a:t>
            </a:r>
            <a:r>
              <a:rPr sz="1700" i="1">
                <a:solidFill>
                  <a:srgbClr val="555B66"/>
                </a:solidFill>
                <a:latin typeface="Calibri"/>
              </a:rPr>
              <a:t>TR</a:t>
            </a:r>
            <a:r>
              <a:rPr sz="1700">
                <a:solidFill>
                  <a:srgbClr val="555B66"/>
                </a:solidFill>
                <a:latin typeface="Calibri"/>
              </a:rPr>
              <a:t> with respect to </a:t>
            </a:r>
            <a:r>
              <a:rPr sz="1700" i="1">
                <a:solidFill>
                  <a:srgbClr val="555B66"/>
                </a:solidFill>
                <a:latin typeface="Calibri"/>
              </a:rPr>
              <a:t>Q</a:t>
            </a:r>
          </a:p>
        </p:txBody>
      </p:sp>
      <p:sp>
        <p:nvSpPr>
          <p:cNvPr id="14" name="TextBox 13"/>
          <p:cNvSpPr txBox="1"/>
          <p:nvPr/>
        </p:nvSpPr>
        <p:spPr>
          <a:xfrm>
            <a:off x="5897880" y="477316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MR</m:t>
                  </m:r>
                  <m:r>
                    <m:rPr>
                      <m:sty m:val="p"/>
                    </m:rPr>
                    <a:rPr lang="en-US" b="0" i="0" sz="2100">
                      <a:solidFill>
                        <a:srgbClr val="0B2B4E"/>
                      </a:solidFill>
                      <a:latin typeface="Cambria Math"/>
                    </a:rPr>
                    <m:t xml:space="preserve"> = 400 − (2⋅</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m:rPr>
                      <m:sty m:val="p"/>
                    </m:rPr>
                    <a:rPr lang="en-US" b="0" i="0" sz="2100">
                      <a:solidFill>
                        <a:srgbClr val="0B2B4E"/>
                      </a:solidFill>
                      <a:latin typeface="Cambria Math"/>
                    </a:rPr>
                    <m:t xml:space="preserve">)∙</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2</m:t>
                      </m:r>
                    </m:den>
                  </m:f>
                  <m:r>
                    <a:rPr lang="en-US" b="0" i="1" sz="2100">
                      <a:solidFill>
                        <a:srgbClr val="0B2B4E"/>
                      </a:solidFill>
                      <a:latin typeface="Cambria Math"/>
                      <a:ea typeface="Cambria Math"/>
                    </a:rPr>
                    <m:t>Q</m:t>
                  </m:r>
                </m:oMath>
              </m:oMathPara>
            </a14:m>
            <a:endParaRPr lang="en-US" sz="2100"/>
          </a:p>
        </p:txBody>
      </p:sp>
      <p:sp>
        <p:nvSpPr>
          <p:cNvPr id="15" name="Rounded Rectangle 14"/>
          <p:cNvSpPr/>
          <p:nvPr/>
        </p:nvSpPr>
        <p:spPr>
          <a:xfrm>
            <a:off x="310896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sp>
        <p:nvSpPr>
          <p:cNvPr id="16" name="Rounded Rectangle 15"/>
          <p:cNvSpPr/>
          <p:nvPr/>
        </p:nvSpPr>
        <p:spPr>
          <a:xfrm>
            <a:off x="5760720" y="5961888"/>
            <a:ext cx="32918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Teaching Note: Marginal Revenue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0" name="TextBox 19"/>
          <p:cNvSpPr txBox="1"/>
          <p:nvPr/>
        </p:nvSpPr>
        <p:spPr>
          <a:xfrm>
            <a:off x="11475720" y="6583680"/>
            <a:ext cx="502920" cy="292608"/>
          </a:xfrm>
          <a:prstGeom prst="rect">
            <a:avLst/>
          </a:prstGeom>
          <a:noFill/>
        </p:spPr>
        <p:txBody>
          <a:bodyPr wrap="none" lIns="0" rIns="0" tIns="0" bIns="0">
            <a:spAutoFit/>
          </a:bodyPr>
          <a:lstStyle/>
          <a:p>
            <a:pPr algn="r"/>
            <a:fld id="{8805CC04-5CE8-5D74-9E68-D8915217C41F}" type="slidenum">
              <a:rPr lang="en-US" sz="1200" dirty="0">
                <a:solidFill>
                  <a:srgbClr val="555B66"/>
                </a:solidFill>
                <a:latin typeface="Calibri"/>
              </a:rPr>
              <a:t>21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MR: Graphical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600200" y="1572768"/>
            <a:ext cx="0" cy="2130552"/>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97280" y="1353312"/>
            <a:ext cx="640080" cy="292608"/>
          </a:xfrm>
          <a:prstGeom prst="rect">
            <a:avLst/>
          </a:prstGeom>
          <a:noFill/>
        </p:spPr>
        <p:txBody>
          <a:bodyPr wrap="square" lIns="0" rIns="0" tIns="0" bIns="0">
            <a:spAutoFit/>
          </a:bodyPr>
          <a:lstStyle/>
          <a:p>
            <a:pPr algn="l"/>
            <a:r>
              <a:rPr sz="1600" b="1" i="1" u="none">
                <a:solidFill>
                  <a:srgbClr val="0B2B4E"/>
                </a:solidFill>
                <a:latin typeface="Calibri"/>
              </a:rPr>
              <a:t>P</a:t>
            </a:r>
          </a:p>
        </p:txBody>
      </p:sp>
      <p:sp>
        <p:nvSpPr>
          <p:cNvPr id="10" name="TextBox 9"/>
          <p:cNvSpPr txBox="1"/>
          <p:nvPr/>
        </p:nvSpPr>
        <p:spPr>
          <a:xfrm>
            <a:off x="7379208" y="365760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97280" y="3913631"/>
            <a:ext cx="640080" cy="292608"/>
          </a:xfrm>
          <a:prstGeom prst="rect">
            <a:avLst/>
          </a:prstGeom>
          <a:noFill/>
        </p:spPr>
        <p:txBody>
          <a:bodyPr wrap="square" lIns="0" rIns="0" tIns="0" bIns="0">
            <a:spAutoFit/>
          </a:bodyPr>
          <a:lstStyle/>
          <a:p>
            <a:pPr algn="l"/>
            <a:r>
              <a:rPr sz="1600" b="1" i="1" u="none">
                <a:solidFill>
                  <a:srgbClr val="0B2B4E"/>
                </a:solidFill>
                <a:latin typeface="Calibri"/>
              </a:rPr>
              <a:t>TR</a:t>
            </a:r>
          </a:p>
        </p:txBody>
      </p:sp>
      <p:sp>
        <p:nvSpPr>
          <p:cNvPr id="14" name="TextBox 13"/>
          <p:cNvSpPr txBox="1"/>
          <p:nvPr/>
        </p:nvSpPr>
        <p:spPr>
          <a:xfrm>
            <a:off x="7379208" y="621792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5" name="Connector 14"/>
          <p:cNvCxnSpPr/>
          <p:nvPr/>
        </p:nvCxnSpPr>
        <p:spPr>
          <a:xfrm>
            <a:off x="1600200" y="1955799"/>
            <a:ext cx="5120640" cy="174752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4848" y="3310127"/>
            <a:ext cx="457200" cy="320040"/>
          </a:xfrm>
          <a:prstGeom prst="rect">
            <a:avLst/>
          </a:prstGeom>
          <a:noFill/>
        </p:spPr>
        <p:txBody>
          <a:bodyPr wrap="square" lIns="0" rIns="0" tIns="0" bIns="0">
            <a:spAutoFit/>
          </a:bodyPr>
          <a:lstStyle/>
          <a:p>
            <a:pPr algn="l"/>
            <a:r>
              <a:rPr sz="1800" b="1" i="0" u="none">
                <a:solidFill>
                  <a:srgbClr val="0B2B4E"/>
                </a:solidFill>
                <a:latin typeface="Calibri"/>
              </a:rPr>
              <a:t>D</a:t>
            </a:r>
          </a:p>
        </p:txBody>
      </p:sp>
      <p:cxnSp>
        <p:nvCxnSpPr>
          <p:cNvPr id="17" name="Connector 16"/>
          <p:cNvCxnSpPr/>
          <p:nvPr/>
        </p:nvCxnSpPr>
        <p:spPr>
          <a:xfrm>
            <a:off x="1600200" y="1955799"/>
            <a:ext cx="2560320" cy="1747521"/>
          </a:xfrm>
          <a:prstGeom prst="line">
            <a:avLst/>
          </a:prstGeom>
          <a:ln w="34925">
            <a:solidFill>
              <a:srgbClr val="0070C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848356" y="3026156"/>
            <a:ext cx="640080" cy="320040"/>
          </a:xfrm>
          <a:prstGeom prst="rect">
            <a:avLst/>
          </a:prstGeom>
          <a:noFill/>
        </p:spPr>
        <p:txBody>
          <a:bodyPr wrap="square" lIns="0" rIns="0" tIns="0" bIns="0">
            <a:spAutoFit/>
          </a:bodyPr>
          <a:lstStyle/>
          <a:p>
            <a:pPr algn="l"/>
            <a:r>
              <a:rPr sz="1600" b="1" i="1" u="none">
                <a:solidFill>
                  <a:srgbClr val="0070C0"/>
                </a:solidFill>
                <a:latin typeface="Calibri"/>
              </a:rPr>
              <a:t>MR</a:t>
            </a:r>
          </a:p>
        </p:txBody>
      </p:sp>
      <p:sp>
        <p:nvSpPr>
          <p:cNvPr id="19" name="TextBox 18"/>
          <p:cNvSpPr txBox="1"/>
          <p:nvPr/>
        </p:nvSpPr>
        <p:spPr>
          <a:xfrm>
            <a:off x="621792" y="1827783"/>
            <a:ext cx="868680" cy="274320"/>
          </a:xfrm>
          <a:prstGeom prst="rect">
            <a:avLst/>
          </a:prstGeom>
          <a:noFill/>
        </p:spPr>
        <p:txBody>
          <a:bodyPr wrap="square" lIns="0" rIns="0" tIns="0" bIns="0">
            <a:spAutoFit/>
          </a:bodyPr>
          <a:lstStyle/>
          <a:p>
            <a:pPr algn="r"/>
            <a:r>
              <a:rPr sz="1500" b="0" i="0" u="none">
                <a:solidFill>
                  <a:srgbClr val="0B2B4E"/>
                </a:solidFill>
                <a:latin typeface="Calibri"/>
              </a:rPr>
              <a:t>400</a:t>
            </a:r>
          </a:p>
        </p:txBody>
      </p:sp>
      <p:sp>
        <p:nvSpPr>
          <p:cNvPr id="20" name="TextBox 19"/>
          <p:cNvSpPr txBox="1"/>
          <p:nvPr/>
        </p:nvSpPr>
        <p:spPr>
          <a:xfrm>
            <a:off x="370332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1" name="TextBox 20"/>
          <p:cNvSpPr txBox="1"/>
          <p:nvPr/>
        </p:nvSpPr>
        <p:spPr>
          <a:xfrm>
            <a:off x="626364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sp>
        <p:nvSpPr>
          <p:cNvPr id="22" name="Right Brace 21"/>
          <p:cNvSpPr/>
          <p:nvPr/>
        </p:nvSpPr>
        <p:spPr>
          <a:xfrm rot="6530593">
            <a:off x="2771597" y="849638"/>
            <a:ext cx="347472" cy="2705308"/>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Brace 22"/>
          <p:cNvSpPr/>
          <p:nvPr/>
        </p:nvSpPr>
        <p:spPr>
          <a:xfrm rot="6530594">
            <a:off x="5331917" y="1723398"/>
            <a:ext cx="347472" cy="2705309"/>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10228" y="2779267"/>
            <a:ext cx="100584" cy="100584"/>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8476" y="2589276"/>
            <a:ext cx="1371600" cy="292608"/>
          </a:xfrm>
          <a:prstGeom prst="rect">
            <a:avLst/>
          </a:prstGeom>
          <a:noFill/>
        </p:spPr>
        <p:txBody>
          <a:bodyPr wrap="square" lIns="0" rIns="0" tIns="0" bIns="0">
            <a:spAutoFit/>
          </a:bodyPr>
          <a:lstStyle/>
          <a:p>
            <a:pPr algn="l"/>
            <a:r>
              <a:rPr sz="1600" b="1" i="0" u="none">
                <a:solidFill>
                  <a:srgbClr val="0B2B4E"/>
                </a:solidFill>
                <a:latin typeface="Calibri"/>
              </a:rPr>
              <a:t>E</a:t>
            </a:r>
            <a:r>
              <a:rPr sz="1600" b="1" i="0" u="none" baseline="-25000">
                <a:solidFill>
                  <a:srgbClr val="0B2B4E"/>
                </a:solidFill>
                <a:latin typeface="Calibri"/>
              </a:rPr>
              <a:t>D</a:t>
            </a:r>
            <a:r>
              <a:rPr sz="1600" b="1" i="0" u="none">
                <a:solidFill>
                  <a:srgbClr val="0B2B4E"/>
                </a:solidFill>
                <a:latin typeface="Calibri"/>
              </a:rPr>
              <a:t> = −1</a:t>
            </a:r>
          </a:p>
        </p:txBody>
      </p:sp>
      <p:sp>
        <p:nvSpPr>
          <p:cNvPr id="26" name="TextBox 25"/>
          <p:cNvSpPr txBox="1"/>
          <p:nvPr/>
        </p:nvSpPr>
        <p:spPr>
          <a:xfrm>
            <a:off x="2080260" y="1781047"/>
            <a:ext cx="2194560" cy="310896"/>
          </a:xfrm>
          <a:prstGeom prst="rect">
            <a:avLst/>
          </a:prstGeom>
          <a:noFill/>
        </p:spPr>
        <p:txBody>
          <a:bodyPr wrap="square" lIns="0" rIns="0" tIns="0" bIns="0">
            <a:spAutoFit/>
          </a:bodyPr>
          <a:lstStyle/>
          <a:p>
            <a:pPr algn="l"/>
            <a:r>
              <a:rPr sz="1600" b="1" i="0" u="none">
                <a:solidFill>
                  <a:srgbClr val="0070C0"/>
                </a:solidFill>
                <a:latin typeface="Calibri"/>
              </a:rPr>
              <a:t>Elastic portion</a:t>
            </a:r>
          </a:p>
        </p:txBody>
      </p:sp>
      <p:sp>
        <p:nvSpPr>
          <p:cNvPr id="27" name="TextBox 26"/>
          <p:cNvSpPr txBox="1"/>
          <p:nvPr/>
        </p:nvSpPr>
        <p:spPr>
          <a:xfrm>
            <a:off x="5280660" y="2698496"/>
            <a:ext cx="2011680" cy="310896"/>
          </a:xfrm>
          <a:prstGeom prst="rect">
            <a:avLst/>
          </a:prstGeom>
          <a:noFill/>
        </p:spPr>
        <p:txBody>
          <a:bodyPr wrap="square" lIns="0" rIns="0" tIns="0" bIns="0">
            <a:spAutoFit/>
          </a:bodyPr>
          <a:lstStyle/>
          <a:p>
            <a:pPr algn="l"/>
            <a:r>
              <a:rPr sz="1600" b="1" i="0" u="none">
                <a:solidFill>
                  <a:srgbClr val="0070C0"/>
                </a:solidFill>
                <a:latin typeface="Calibri"/>
              </a:rPr>
              <a:t>Inelastic portion</a:t>
            </a:r>
          </a:p>
        </p:txBody>
      </p:sp>
      <p:sp>
        <p:nvSpPr>
          <p:cNvPr id="28" name="Rectangle 27"/>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0700" y="4843779"/>
            <a:ext cx="731520" cy="320040"/>
          </a:xfrm>
          <a:prstGeom prst="rect">
            <a:avLst/>
          </a:prstGeom>
          <a:noFill/>
        </p:spPr>
        <p:txBody>
          <a:bodyPr wrap="square" lIns="0" rIns="0" tIns="0" bIns="0">
            <a:spAutoFit/>
          </a:bodyPr>
          <a:lstStyle/>
          <a:p>
            <a:pPr algn="l"/>
            <a:r>
              <a:rPr sz="1600" b="1" i="1" u="none">
                <a:solidFill>
                  <a:srgbClr val="E09F3E"/>
                </a:solidFill>
                <a:latin typeface="Calibri"/>
              </a:rPr>
              <a:t>TR</a:t>
            </a:r>
          </a:p>
        </p:txBody>
      </p:sp>
      <p:sp>
        <p:nvSpPr>
          <p:cNvPr id="30" name="TextBox 29"/>
          <p:cNvSpPr txBox="1"/>
          <p:nvPr/>
        </p:nvSpPr>
        <p:spPr>
          <a:xfrm>
            <a:off x="3703320" y="631850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cxnSp>
        <p:nvCxnSpPr>
          <p:cNvPr id="31" name="Connector 30"/>
          <p:cNvCxnSpPr/>
          <p:nvPr/>
        </p:nvCxnSpPr>
        <p:spPr>
          <a:xfrm>
            <a:off x="4160520" y="2829559"/>
            <a:ext cx="0" cy="3434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140" name="Group pair 140"/>
          <p:cNvGrpSpPr/>
          <p:nvPr/>
        </p:nvGrpSpPr>
        <p:grpSpPr>
          <a:xfrm>
            <a:off x="8001000" y="1554480"/>
            <a:ext cx="3886200" cy="1965960"/>
            <a:chOff x="8001000" y="1554480"/>
            <a:chExt cx="3886200" cy="1965960"/>
          </a:xfrm>
        </p:grpSpPr>
        <p:sp>
          <p:nvSpPr>
            <p:cNvPr id="32" name="Rounded Rectangle 31"/>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80" y="1664208"/>
              <a:ext cx="3520440" cy="1746504"/>
            </a:xfrm>
            <a:prstGeom prst="rect">
              <a:avLst/>
            </a:prstGeom>
            <a:noFill/>
          </p:spPr>
          <p:txBody>
            <a:bodyPr wrap="square" lIns="45720" rIns="45720" tIns="0" bIns="0" anchor="ctr">
              <a:spAutoFit/>
            </a:bodyPr>
            <a:lstStyle/>
            <a:p>
              <a:pPr algn="l"/>
              <a:r>
                <a:rPr sz="1700" b="0" i="1" u="none">
                  <a:solidFill>
                    <a:srgbClr val="0B2B4E"/>
                  </a:solidFill>
                  <a:latin typeface="Calibri"/>
                </a:rPr>
                <a:t>Q = 1,600 − 4P</a:t>
              </a:r>
              <a:r>
                <a:rPr sz="1700" b="0" i="1" u="none">
                  <a:solidFill>
                    <a:srgbClr val="0B2B4E"/>
                  </a:solidFill>
                  <a:latin typeface="Calibri"/>
                </a:rPr>
                <a:t>
P = 400 − Q/4</a:t>
              </a:r>
              <a:r>
                <a:rPr sz="1700" b="0" i="1" u="none">
                  <a:solidFill>
                    <a:srgbClr val="0B2B4E"/>
                  </a:solidFill>
                  <a:latin typeface="Calibri"/>
                </a:rPr>
                <a:t>
TR = 400Q − Q²/4</a:t>
              </a:r>
              <a:r>
                <a:rPr sz="1700" b="1" i="1" u="none">
                  <a:solidFill>
                    <a:srgbClr val="0070C0"/>
                  </a:solidFill>
                  <a:latin typeface="Calibri"/>
                </a:rPr>
                <a:t>
MR = 400 − Q/2</a:t>
              </a:r>
            </a:p>
          </p:txBody>
        </p:sp>
      </p:grpSp>
      <p:grpSp>
        <p:nvGrpSpPr>
          <p:cNvPr id="141" name="Group pair 141"/>
          <p:cNvGrpSpPr/>
          <p:nvPr/>
        </p:nvGrpSpPr>
        <p:grpSpPr>
          <a:xfrm>
            <a:off x="8001000" y="3977639"/>
            <a:ext cx="3886200" cy="914400"/>
            <a:chOff x="8001000" y="3977639"/>
            <a:chExt cx="3886200" cy="914400"/>
          </a:xfrm>
        </p:grpSpPr>
        <p:sp>
          <p:nvSpPr>
            <p:cNvPr id="34" name="Rounded Rectangle 33"/>
            <p:cNvSpPr/>
            <p:nvPr/>
          </p:nvSpPr>
          <p:spPr>
            <a:xfrm>
              <a:off x="8001000" y="3977639"/>
              <a:ext cx="3886200" cy="9144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80" y="4087367"/>
              <a:ext cx="3520440" cy="694944"/>
            </a:xfrm>
            <a:prstGeom prst="rect">
              <a:avLst/>
            </a:prstGeom>
            <a:noFill/>
          </p:spPr>
          <p:txBody>
            <a:bodyPr wrap="square" lIns="45720" rIns="45720" tIns="0" bIns="0" anchor="ctr">
              <a:spAutoFit/>
            </a:bodyPr>
            <a:lstStyle/>
            <a:p>
              <a:pPr algn="l"/>
              <a:r>
                <a:rPr sz="1700" b="1" i="0" u="none">
                  <a:solidFill>
                    <a:srgbClr val="0070C0"/>
                  </a:solidFill>
                  <a:latin typeface="Calibri"/>
                </a:rPr>
                <a:t>TR is max. where MR = 0</a:t>
              </a:r>
            </a:p>
          </p:txBody>
        </p:sp>
      </p:grpSp>
      <p:cxnSp>
        <p:nvCxnSpPr>
          <p:cNvPr id="36" name="Connector 35"/>
          <p:cNvCxnSpPr/>
          <p:nvPr/>
        </p:nvCxnSpPr>
        <p:spPr>
          <a:xfrm flipH="1">
            <a:off x="4256531" y="4434840"/>
            <a:ext cx="3698748" cy="103124"/>
          </a:xfrm>
          <a:prstGeom prst="line">
            <a:avLst/>
          </a:prstGeom>
          <a:ln w="2222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0" name="TextBox 39"/>
          <p:cNvSpPr txBox="1"/>
          <p:nvPr/>
        </p:nvSpPr>
        <p:spPr>
          <a:xfrm>
            <a:off x="11475720" y="6583680"/>
            <a:ext cx="502920" cy="292608"/>
          </a:xfrm>
          <a:prstGeom prst="rect">
            <a:avLst/>
          </a:prstGeom>
          <a:noFill/>
        </p:spPr>
        <p:txBody>
          <a:bodyPr wrap="none" lIns="0" rIns="0" tIns="0" bIns="0">
            <a:spAutoFit/>
          </a:bodyPr>
          <a:lstStyle/>
          <a:p>
            <a:pPr algn="r"/>
            <a:fld id="{57E788C4-EDEA-506B-9706-C2817ED5B6F6}" type="slidenum">
              <a:rPr lang="en-US" sz="1200" dirty="0">
                <a:solidFill>
                  <a:srgbClr val="555B66"/>
                </a:solidFill>
                <a:latin typeface="Calibri"/>
              </a:rPr>
              <a:t>22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5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5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5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5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MR Different From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MR</a:t>
            </a:r>
            <a:r>
              <a:rPr>
                <a:latin typeface="Calibri"/>
              </a:rPr>
              <a:t> : additional revenue from selling one more unit. Sounds like the price! But…</a:t>
            </a:r>
          </a:p>
          <a:p>
            <a:pPr algn="l"/>
            <a:r>
              <a:rPr>
                <a:latin typeface="Calibri"/>
              </a:rPr>
              <a:t>Law of demand: you need to lower the price to sell one more unit</a:t>
            </a:r>
          </a:p>
          <a:p>
            <a:pPr algn="l"/>
            <a:r>
              <a:rPr>
                <a:latin typeface="Calibri"/>
              </a:rPr>
              <a:t>The lower price will apply to </a:t>
            </a:r>
            <a:r>
              <a:rPr i="1">
                <a:latin typeface="Calibri"/>
              </a:rPr>
              <a:t>all</a:t>
            </a:r>
            <a:r>
              <a:rPr>
                <a:latin typeface="Calibri"/>
              </a:rPr>
              <a:t> units, not just the extra one</a:t>
            </a:r>
          </a:p>
          <a:p>
            <a:pPr algn="l"/>
            <a:r>
              <a:rPr i="1">
                <a:latin typeface="Calibri"/>
              </a:rPr>
              <a:t>MR</a:t>
            </a:r>
            <a:r>
              <a:rPr>
                <a:latin typeface="Calibri"/>
              </a:rPr>
              <a:t> from selling one additional unit takes into account the loss on every other unit  →  </a:t>
            </a:r>
            <a:r>
              <a:rPr b="1" i="1">
                <a:latin typeface="Calibri"/>
              </a:rPr>
              <a:t>MR &lt; P</a:t>
            </a:r>
          </a:p>
          <a:p>
            <a:pPr algn="l"/>
            <a:r>
              <a:rPr sz="2200" u="sng">
                <a:latin typeface="Calibri"/>
              </a:rPr>
              <a:t>Note</a:t>
            </a:r>
            <a:r>
              <a:rPr sz="2200">
                <a:latin typeface="Calibri"/>
              </a:rPr>
              <a:t>: Total Revenues (</a:t>
            </a:r>
            <a:r>
              <a:rPr sz="2200" i="1">
                <a:latin typeface="Calibri"/>
              </a:rPr>
              <a:t>TR</a:t>
            </a:r>
            <a:r>
              <a:rPr sz="2200">
                <a:latin typeface="Calibri"/>
              </a:rPr>
              <a:t>) may either increase or decrease when </a:t>
            </a:r>
            <a:r>
              <a:rPr sz="2200" i="1">
                <a:latin typeface="Calibri"/>
              </a:rPr>
              <a:t>Q</a:t>
            </a:r>
            <a:r>
              <a:rPr sz="2200">
                <a:latin typeface="Calibri"/>
              </a:rPr>
              <a:t> increases (depends on elastic vs. inelastic demand)</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A790C0B-6B70-5B65-9ADE-9A8C3E542444}" type="slidenum">
              <a:rPr lang="en-US" sz="1200" dirty="0">
                <a:solidFill>
                  <a:srgbClr val="555B66"/>
                </a:solidFill>
                <a:latin typeface="Calibri"/>
              </a:rPr>
              <a:t>23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1524000" y="0"/>
          <a:ext cx="0" cy="0"/>
          <a:chOff x="0" y="0"/>
          <a:chExt cx="0" cy="0"/>
        </a:xfrm>
      </p:grpSpPr>
      <p:pic>
        <p:nvPicPr>
          <p:cNvPr id="3" name="Picture 2">
            <a:extLst>
              <a:ext uri="{FF2B5EF4-FFF2-40B4-BE49-F238E27FC236}">
                <a16:creationId xmlns:a16="http://schemas.microsoft.com/office/drawing/2014/main" id="{79231CA4-4D2D-4D94-8499-FA3634C5072C}"/>
              </a:ext>
            </a:extLst>
          </p:cNvPr>
          <p:cNvPicPr>
            <a:picLocks/>
          </p:cNvPicPr>
          <p:nvPr>
            <p:custDataLst>
              <p:tags r:id="rId3"/>
            </p:custDataLst>
          </p:nvPr>
        </p:nvPicPr>
        <p:blipFill>
          <a:blip r:embed="rId4"/>
          <a:stretch>
            <a:fillRect/>
          </a:stretch>
        </p:blipFill>
        <p:spPr>
          <a:xfrm>
            <a:off x="1825557" y="253999"/>
            <a:ext cx="8588443" cy="6351081"/>
          </a:xfrm>
          <a:prstGeom prst="rect">
            <a:avLst/>
          </a:prstGeom>
        </p:spPr>
      </p:pic>
      <p:sp>
        <p:nvSpPr>
          <p:cNvPr id="9802" name="PageNum"/>
          <p:cNvSpPr txBox="1"/>
          <p:nvPr/>
        </p:nvSpPr>
        <p:spPr>
          <a:xfrm>
            <a:off x="11475720" y="6583680"/>
            <a:ext cx="502920" cy="292608"/>
          </a:xfrm>
          <a:prstGeom prst="rect">
            <a:avLst/>
          </a:prstGeom>
          <a:noFill/>
        </p:spPr>
        <p:txBody>
          <a:bodyPr wrap="none" lIns="0" tIns="0" rIns="0" bIns="0"/>
          <a:lstStyle/>
          <a:p>
            <a:pPr algn="r"/>
            <a:fld id="{1C6810F1-47BC-59E1-9E66-CA6A0F8F5F55}" type="slidenum">
              <a:rPr lang="en-US" sz="1200" dirty="0">
                <a:solidFill>
                  <a:srgbClr val="555B66"/>
                </a:solidFill>
                <a:latin typeface="Calibri"/>
              </a:rPr>
              <a:t>24</a:t>
            </a:fld>
          </a:p>
        </p:txBody>
      </p:sp>
    </p:spTree>
    <p:extLst>
      <p:ext uri="{BB962C8B-B14F-4D97-AF65-F5344CB8AC3E}">
        <p14:creationId xmlns:p14="http://schemas.microsoft.com/office/powerpoint/2010/main" val="1417714857"/>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Rectangle 3"/>
          <p:cNvSpPr/>
          <p:nvPr/>
        </p:nvSpPr>
        <p:spPr>
          <a:xfrm>
            <a:off x="251999" y="1170432"/>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51999" y="1156716"/>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1999" y="502920"/>
            <a:ext cx="11687697" cy="6400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buNone/>
            </a:pPr>
            <a:r>
              <a:rPr sz="3000" b="1">
                <a:solidFill>
                  <a:srgbClr val="0B2B4E"/>
                </a:solidFill>
                <a:latin typeface="Calibri"/>
              </a:rPr>
              <a:t>Solution: If  </a:t>
            </a:r>
            <a:r>
              <a:rPr sz="3000" b="1" i="1">
                <a:solidFill>
                  <a:srgbClr val="0B2B4E"/>
                </a:solidFill>
                <a:latin typeface="Calibri"/>
              </a:rPr>
              <a:t>Q = 10 − 0.5P</a:t>
            </a:r>
            <a:r>
              <a:rPr sz="3000" b="1">
                <a:solidFill>
                  <a:srgbClr val="0B2B4E"/>
                </a:solidFill>
                <a:latin typeface="Calibri"/>
              </a:rPr>
              <a:t> , What Is  </a:t>
            </a:r>
            <a:r>
              <a:rPr sz="3000" b="1" i="1">
                <a:solidFill>
                  <a:srgbClr val="0B2B4E"/>
                </a:solidFill>
                <a:latin typeface="Calibri"/>
              </a:rPr>
              <a:t>MR</a:t>
            </a:r>
            <a:r>
              <a:rPr sz="3000" b="1">
                <a:solidFill>
                  <a:srgbClr val="0B2B4E"/>
                </a:solidFill>
                <a:latin typeface="Calibri"/>
              </a:rPr>
              <a:t> ?</a:t>
            </a:r>
          </a:p>
        </p:txBody>
      </p:sp>
      <p:sp>
        <p:nvSpPr>
          <p:cNvPr id="7" name="TextBox 6"/>
          <p:cNvSpPr txBox="1"/>
          <p:nvPr/>
        </p:nvSpPr>
        <p:spPr>
          <a:xfrm>
            <a:off x="389159" y="216712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1.  Inverse Demand:</a:t>
            </a:r>
          </a:p>
        </p:txBody>
      </p:sp>
      <p:sp>
        <p:nvSpPr>
          <p:cNvPr id="8" name="TextBox 7"/>
          <p:cNvSpPr txBox="1"/>
          <p:nvPr/>
        </p:nvSpPr>
        <p:spPr>
          <a:xfrm>
            <a:off x="5532120" y="196596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oMath>
              </m:oMathPara>
            </a14:m>
            <a:endParaRPr lang="en-US" sz="2200"/>
          </a:p>
        </p:txBody>
      </p:sp>
      <p:sp>
        <p:nvSpPr>
          <p:cNvPr id="9" name="TextBox 8"/>
          <p:cNvSpPr txBox="1"/>
          <p:nvPr/>
        </p:nvSpPr>
        <p:spPr>
          <a:xfrm>
            <a:off x="389159" y="349300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2.  Total revenue:  TR = P ∙ Q</a:t>
            </a:r>
          </a:p>
        </p:txBody>
      </p:sp>
      <p:sp>
        <p:nvSpPr>
          <p:cNvPr id="10" name="TextBox 9"/>
          <p:cNvSpPr txBox="1"/>
          <p:nvPr/>
        </p:nvSpPr>
        <p:spPr>
          <a:xfrm>
            <a:off x="5532120" y="329184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solidFill>
                        <a:srgbClr val="0B2B4E"/>
                      </a:solidFill>
                      <a:latin typeface="Cambria Math"/>
                    </a:rPr>
                    <m:t xml:space="preserve">TR</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20</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m:t>
                  </m:r>
                  <m:sSup>
                    <m:sSupPr>
                      <m:ctrlPr>
                        <a:rPr lang="en-US" i="1">
                          <a:latin typeface="Cambria Math"/>
                        </a:rPr>
                      </m:ctrlPr>
                    </m:sSupPr>
                    <m:e>
                      <m:r>
                        <a:rPr lang="en-US" b="0" i="1" sz="2200">
                          <a:solidFill>
                            <a:srgbClr val="0B2B4E"/>
                          </a:solidFill>
                          <a:latin typeface="Cambria Math"/>
                          <a:ea typeface="Cambria Math"/>
                        </a:rPr>
                        <m:t>Q</m:t>
                      </m:r>
                    </m:e>
                    <m:sup>
                      <m:r>
                        <m:rPr>
                          <m:sty m:val="p"/>
                        </m:rPr>
                        <a:rPr lang="en-US" b="0" i="0" sz="2200">
                          <a:solidFill>
                            <a:srgbClr val="0B2B4E"/>
                          </a:solidFill>
                          <a:latin typeface="Cambria Math"/>
                        </a:rPr>
                        <m:t xml:space="preserve">2</m:t>
                      </m:r>
                    </m:sup>
                  </m:sSup>
                </m:oMath>
              </m:oMathPara>
            </a14:m>
            <a:endParaRPr lang="en-US" sz="2200"/>
          </a:p>
        </p:txBody>
      </p:sp>
      <p:sp>
        <p:nvSpPr>
          <p:cNvPr id="11" name="TextBox 10"/>
          <p:cNvSpPr txBox="1"/>
          <p:nvPr/>
        </p:nvSpPr>
        <p:spPr>
          <a:xfrm>
            <a:off x="389159" y="481888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3.  Derivative of TR w.r.t. Q:</a:t>
            </a:r>
          </a:p>
        </p:txBody>
      </p:sp>
      <p:sp>
        <p:nvSpPr>
          <p:cNvPr id="12" name="TextBox 11"/>
          <p:cNvSpPr txBox="1"/>
          <p:nvPr/>
        </p:nvSpPr>
        <p:spPr>
          <a:xfrm>
            <a:off x="5532120" y="461772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C00000"/>
                </a:solidFill>
                <a:latin typeface="Cambria Math"/>
              </a:defRPr>
            </a:pPr>
            <a14:m>
              <m:oMathPara>
                <m:oMathParaPr>
                  <m:jc m:val="centerGroup"/>
                </m:oMathParaPr>
                <m:oMath>
                  <m:r>
                    <m:rPr>
                      <m:sty m:val="p"/>
                    </m:rPr>
                    <a:rPr lang="en-US" b="0" i="0" sz="2200">
                      <a:solidFill>
                        <a:srgbClr val="C00000"/>
                      </a:solidFill>
                      <a:latin typeface="Cambria Math"/>
                    </a:rPr>
                    <m:t xml:space="preserve">MR</m:t>
                  </m:r>
                  <m:r>
                    <m:rPr>
                      <m:sty m:val="p"/>
                    </m:rPr>
                    <a:rPr lang="en-US" b="0" i="0" sz="2200">
                      <a:solidFill>
                        <a:srgbClr val="C00000"/>
                      </a:solidFill>
                      <a:latin typeface="Cambria Math"/>
                    </a:rPr>
                    <m:t xml:space="preserve"> = </m:t>
                  </m:r>
                  <m:f>
                    <m:fPr>
                      <m:ctrlPr>
                        <a:rPr lang="en-US" i="1">
                          <a:latin typeface="Cambria Math"/>
                        </a:rPr>
                      </m:ctrlPr>
                    </m:fPr>
                    <m:num>
                      <m:r>
                        <a:rPr lang="en-US" b="0" i="1" sz="2200">
                          <a:solidFill>
                            <a:srgbClr val="C00000"/>
                          </a:solidFill>
                          <a:latin typeface="Cambria Math"/>
                          <a:ea typeface="Cambria Math"/>
                        </a:rPr>
                        <m:t>d</m:t>
                      </m:r>
                      <m:r>
                        <m:rPr>
                          <m:sty m:val="p"/>
                        </m:rPr>
                        <a:rPr lang="en-US" b="0" i="0" sz="2200">
                          <a:solidFill>
                            <a:srgbClr val="C00000"/>
                          </a:solidFill>
                          <a:latin typeface="Cambria Math"/>
                        </a:rPr>
                        <m:t xml:space="preserve">TR</m:t>
                      </m:r>
                    </m:num>
                    <m:den>
                      <m:r>
                        <a:rPr lang="en-US" b="0" i="1" sz="2200">
                          <a:solidFill>
                            <a:srgbClr val="C00000"/>
                          </a:solidFill>
                          <a:latin typeface="Cambria Math"/>
                          <a:ea typeface="Cambria Math"/>
                        </a:rPr>
                        <m:t>d</m:t>
                      </m:r>
                      <m:r>
                        <a:rPr lang="en-US" b="0" i="1" sz="2200">
                          <a:solidFill>
                            <a:srgbClr val="C00000"/>
                          </a:solidFill>
                          <a:latin typeface="Cambria Math"/>
                          <a:ea typeface="Cambria Math"/>
                        </a:rPr>
                        <m:t>Q</m:t>
                      </m:r>
                    </m:den>
                  </m:f>
                  <m:r>
                    <m:rPr>
                      <m:sty m:val="p"/>
                    </m:rPr>
                    <a:rPr lang="en-US" b="0" i="0" sz="2200">
                      <a:solidFill>
                        <a:srgbClr val="C00000"/>
                      </a:solidFill>
                      <a:latin typeface="Cambria Math"/>
                    </a:rPr>
                    <m:t xml:space="preserve"> = 20 − 4</m:t>
                  </m:r>
                  <m:r>
                    <a:rPr lang="en-US" b="0" i="1" sz="2200">
                      <a:solidFill>
                        <a:srgbClr val="C00000"/>
                      </a:solidFill>
                      <a:latin typeface="Cambria Math"/>
                      <a:ea typeface="Cambria Math"/>
                    </a:rPr>
                    <m:t>Q</m:t>
                  </m:r>
                </m:oMath>
              </m:oMathPara>
            </a14:m>
            <a:endParaRPr lang="en-US" sz="2200"/>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E0729668-7938-543C-9968-420033430F3B}" type="slidenum">
              <a:rPr lang="en-US" sz="1200" dirty="0">
                <a:solidFill>
                  <a:srgbClr val="555B66"/>
                </a:solidFill>
                <a:latin typeface="Calibri"/>
              </a:rPr>
              <a:t>25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Inside Out 2's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83080"/>
            <a:ext cx="667512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Demand for streaming </a:t>
            </a:r>
            <a:r>
              <a:rPr i="1">
                <a:latin typeface="Calibri"/>
              </a:rPr>
              <a:t>Inside Out 2</a:t>
            </a:r>
            <a:r>
              <a:rPr>
                <a:latin typeface="Calibri"/>
              </a:rPr>
              <a:t> on Disney+   (Q: viewers, in millions):</a:t>
            </a:r>
          </a:p>
        </p:txBody>
      </p:sp>
      <p:sp>
        <p:nvSpPr>
          <p:cNvPr id="8" name="TextBox 7"/>
          <p:cNvSpPr txBox="1"/>
          <p:nvPr/>
        </p:nvSpPr>
        <p:spPr>
          <a:xfrm>
            <a:off x="1325880" y="2880360"/>
            <a:ext cx="402336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800" b="0" i="1">
                <a:solidFill>
                  <a:srgbClr val="0B2B4E"/>
                </a:solidFill>
                <a:latin typeface="Cambria Math"/>
              </a:defRPr>
            </a:pPr>
            <a14:m>
              <m:oMathPara>
                <m:oMathParaPr>
                  <m:jc m:val="centerGroup"/>
                </m:oMathParaPr>
                <m:oMath>
                  <m:r>
                    <a:rPr lang="en-US" b="0" i="1" sz="2800">
                      <a:solidFill>
                        <a:srgbClr val="0B2B4E"/>
                      </a:solidFill>
                      <a:latin typeface="Cambria Math"/>
                      <a:ea typeface="Cambria Math"/>
                    </a:rPr>
                    <m:t>Q</m:t>
                  </m:r>
                  <m:r>
                    <m:rPr>
                      <m:sty m:val="p"/>
                    </m:rPr>
                    <a:rPr lang="en-US" b="0" i="0" sz="2800">
                      <a:solidFill>
                        <a:srgbClr val="0B2B4E"/>
                      </a:solidFill>
                      <a:latin typeface="Cambria Math"/>
                    </a:rPr>
                    <m:t xml:space="preserve"> = 20 − </m:t>
                  </m:r>
                  <m:f>
                    <m:fPr>
                      <m:ctrlPr>
                        <a:rPr lang="en-US" i="1">
                          <a:latin typeface="Cambria Math"/>
                        </a:rPr>
                      </m:ctrlPr>
                    </m:fPr>
                    <m:num>
                      <m:r>
                        <m:rPr>
                          <m:sty m:val="p"/>
                        </m:rPr>
                        <a:rPr lang="en-US" b="0" i="0" sz="2800">
                          <a:solidFill>
                            <a:srgbClr val="0B2B4E"/>
                          </a:solidFill>
                          <a:latin typeface="Cambria Math"/>
                        </a:rPr>
                        <m:t xml:space="preserve">1</m:t>
                      </m:r>
                    </m:num>
                    <m:den>
                      <m:r>
                        <m:rPr>
                          <m:sty m:val="p"/>
                        </m:rPr>
                        <a:rPr lang="en-US" b="0" i="0" sz="2800">
                          <a:solidFill>
                            <a:srgbClr val="0B2B4E"/>
                          </a:solidFill>
                          <a:latin typeface="Cambria Math"/>
                        </a:rPr>
                        <m:t xml:space="preserve">2</m:t>
                      </m:r>
                    </m:den>
                  </m:f>
                  <m:r>
                    <a:rPr lang="en-US" b="0" i="1" sz="2800">
                      <a:solidFill>
                        <a:srgbClr val="0B2B4E"/>
                      </a:solidFill>
                      <a:latin typeface="Cambria Math"/>
                      <a:ea typeface="Cambria Math"/>
                    </a:rPr>
                    <m:t>P</m:t>
                  </m:r>
                </m:oMath>
              </m:oMathPara>
            </a14:m>
            <a:endParaRPr lang="en-US" sz="2800"/>
          </a:p>
        </p:txBody>
      </p:sp>
      <p:sp>
        <p:nvSpPr>
          <p:cNvPr id="9" name="TextBox 8"/>
          <p:cNvSpPr txBox="1"/>
          <p:nvPr/>
        </p:nvSpPr>
        <p:spPr>
          <a:xfrm>
            <a:off x="389159" y="4343400"/>
            <a:ext cx="6675120" cy="155448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What is the revenue-maximizing price?</a:t>
            </a:r>
          </a:p>
          <a:p>
            <a:pPr algn="l"/>
            <a:r>
              <a:rPr>
                <a:latin typeface="Calibri"/>
              </a:rPr>
              <a:t>Why might Disney care about </a:t>
            </a:r>
            <a:r>
              <a:rPr i="1">
                <a:latin typeface="Calibri"/>
              </a:rPr>
              <a:t>revenue</a:t>
            </a:r>
            <a:r>
              <a:rPr>
                <a:latin typeface="Calibri"/>
              </a:rPr>
              <a:t> maximization?</a:t>
            </a:r>
          </a:p>
        </p:txBody>
      </p:sp>
      <p:pic>
        <p:nvPicPr>
          <p:cNvPr id="10" name="Picture 9" descr="ct_insideout_image7.png"/>
          <p:cNvPicPr>
            <a:picLocks noChangeAspect="1"/>
          </p:cNvPicPr>
          <p:nvPr/>
        </p:nvPicPr>
        <p:blipFill>
          <a:blip r:embed="rId2"/>
          <a:stretch>
            <a:fillRect/>
          </a:stretch>
        </p:blipFill>
        <p:spPr>
          <a:xfrm>
            <a:off x="7635240" y="1737360"/>
            <a:ext cx="3840480" cy="1935320"/>
          </a:xfrm>
          <a:prstGeom prst="roundRect">
            <a:avLst>
              <a:gd name="adj" fmla="val 8000"/>
            </a:avLst>
          </a:prstGeom>
          <a:effectLst>
            <a:outerShdw blurRad="50800" dist="38100" dir="2700000" algn="tl" rotWithShape="0">
              <a:srgbClr val="000000">
                <a:alpha val="50000"/>
              </a:srgbClr>
            </a:outerShdw>
          </a:effectLst>
        </p:spPr>
      </p:pic>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37B08771-CD11-5268-847D-22AE1355E9FC}" type="slidenum">
              <a:rPr lang="en-US" sz="1200" dirty="0">
                <a:solidFill>
                  <a:srgbClr val="555B66"/>
                </a:solidFill>
                <a:latin typeface="Calibri"/>
              </a:rPr>
              <a:t>26</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5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Inside Out 2's Revenue-Maximizing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a:solidFill>
                  <a:srgbClr val="0B2B4E"/>
                </a:solidFill>
                <a:latin typeface="Calibri"/>
              </a:rPr>
              <a:t>Revenue is maximized where </a:t>
            </a:r>
            <a:r>
              <a:rPr sz="2200" b="1">
                <a:solidFill>
                  <a:srgbClr val="0070C0"/>
                </a:solidFill>
                <a:latin typeface="Calibri"/>
              </a:rPr>
              <a:t>MR = 0</a:t>
            </a:r>
            <a:r>
              <a:rPr sz="2200">
                <a:solidFill>
                  <a:srgbClr val="0B2B4E"/>
                </a:solidFill>
                <a:latin typeface="Calibri"/>
              </a:rPr>
              <a:t> .  Compute MR using the 3-step method:</a:t>
            </a:r>
          </a:p>
        </p:txBody>
      </p:sp>
      <p:sp>
        <p:nvSpPr>
          <p:cNvPr id="8" name="TextBox 7"/>
          <p:cNvSpPr txBox="1"/>
          <p:nvPr/>
        </p:nvSpPr>
        <p:spPr>
          <a:xfrm>
            <a:off x="572039" y="2331720"/>
            <a:ext cx="5852160" cy="22860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1.  Inverse demand:   </a:t>
            </a:r>
            <a:r>
              <a:rPr sz="2200" i="1">
                <a:solidFill>
                  <a:srgbClr val="0B2B4E"/>
                </a:solidFill>
                <a:latin typeface="Calibri"/>
              </a:rPr>
              <a:t>P = 40 − 2Q</a:t>
            </a:r>
          </a:p>
          <a:p>
            <a:pPr algn="l">
              <a:spcBef>
                <a:spcPts val="1600"/>
              </a:spcBef>
              <a:buNone/>
            </a:pPr>
            <a:r>
              <a:rPr sz="2200" b="1">
                <a:solidFill>
                  <a:srgbClr val="0B2B4E"/>
                </a:solidFill>
                <a:latin typeface="Calibri"/>
              </a:rPr>
              <a:t>2.  Total revenue:   </a:t>
            </a:r>
            <a:r>
              <a:rPr sz="2200" i="1">
                <a:solidFill>
                  <a:srgbClr val="0B2B4E"/>
                </a:solidFill>
                <a:latin typeface="Calibri"/>
              </a:rPr>
              <a:t>TR = 40Q − 2Q²</a:t>
            </a:r>
          </a:p>
          <a:p>
            <a:pPr algn="l">
              <a:spcBef>
                <a:spcPts val="1600"/>
              </a:spcBef>
              <a:buNone/>
            </a:pPr>
            <a:r>
              <a:rPr sz="2200" b="1">
                <a:solidFill>
                  <a:srgbClr val="0B2B4E"/>
                </a:solidFill>
                <a:latin typeface="Calibri"/>
              </a:rPr>
              <a:t>3.  Derivative:   </a:t>
            </a:r>
            <a:r>
              <a:rPr sz="2200" i="1">
                <a:solidFill>
                  <a:srgbClr val="0B2B4E"/>
                </a:solidFill>
                <a:latin typeface="Calibri"/>
              </a:rPr>
              <a:t>MR = 40 − 4Q</a:t>
            </a:r>
          </a:p>
        </p:txBody>
      </p:sp>
      <p:sp>
        <p:nvSpPr>
          <p:cNvPr id="9" name="TextBox 8"/>
          <p:cNvSpPr txBox="1"/>
          <p:nvPr/>
        </p:nvSpPr>
        <p:spPr>
          <a:xfrm>
            <a:off x="6812280" y="2377440"/>
            <a:ext cx="4754880" cy="182880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C00000"/>
                </a:solidFill>
                <a:latin typeface="Cambria Math"/>
              </a:defRPr>
            </a:pPr>
            <a14:m>
              <m:oMathPara>
                <m:oMathParaPr>
                  <m:jc m:val="centerGroup"/>
                </m:oMathParaPr>
                <m:oMath>
                  <m:r>
                    <m:rPr>
                      <m:sty m:val="p"/>
                    </m:rPr>
                    <a:rPr lang="en-US" b="0" i="0" sz="2400">
                      <a:solidFill>
                        <a:srgbClr val="C00000"/>
                      </a:solidFill>
                      <a:latin typeface="Cambria Math"/>
                    </a:rPr>
                    <m:t xml:space="preserve">MR</m:t>
                  </m:r>
                  <m:r>
                    <m:rPr>
                      <m:sty m:val="p"/>
                    </m:rPr>
                    <a:rPr lang="en-US" b="0" i="0" sz="2400">
                      <a:solidFill>
                        <a:srgbClr val="C00000"/>
                      </a:solidFill>
                      <a:latin typeface="Cambria Math"/>
                    </a:rPr>
                    <m:t xml:space="preserve"> = 0:  40 − 4</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0  ⇒  </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10  ⇒  </m:t>
                  </m:r>
                  <m:r>
                    <a:rPr lang="en-US" b="0" i="1" sz="2400">
                      <a:solidFill>
                        <a:srgbClr val="C00000"/>
                      </a:solidFill>
                      <a:latin typeface="Cambria Math"/>
                      <a:ea typeface="Cambria Math"/>
                    </a:rPr>
                    <m:t>P</m:t>
                  </m:r>
                  <m:r>
                    <m:rPr>
                      <m:sty m:val="p"/>
                    </m:rPr>
                    <a:rPr lang="en-US" b="0" i="0" sz="2400">
                      <a:solidFill>
                        <a:srgbClr val="C00000"/>
                      </a:solidFill>
                      <a:latin typeface="Cambria Math"/>
                    </a:rPr>
                    <m:t xml:space="preserve"> = $20</m:t>
                  </m:r>
                </m:oMath>
              </m:oMathPara>
            </a14:m>
            <a:endParaRPr lang="en-US" sz="2400"/>
          </a:p>
        </p:txBody>
      </p:sp>
      <p:sp>
        <p:nvSpPr>
          <p:cNvPr id="10" name="TextBox 9"/>
          <p:cNvSpPr txBox="1"/>
          <p:nvPr/>
        </p:nvSpPr>
        <p:spPr>
          <a:xfrm>
            <a:off x="389159" y="4892040"/>
            <a:ext cx="11338560" cy="11887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Why revenue maximization? The marginal cost of one more stream is </a:t>
            </a:r>
            <a:r>
              <a:rPr b="1">
                <a:latin typeface="Calibri"/>
              </a:rPr>
              <a:t>close to zero</a:t>
            </a:r>
            <a:r>
              <a:rPr>
                <a:latin typeface="Calibri"/>
              </a:rPr>
              <a:t> – so maximizing revenue is (almost) maximizing profit</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F3B1110B-0D61-54FE-BA88-C776D06F94D7}" type="slidenum">
              <a:rPr lang="en-US" sz="1200" dirty="0">
                <a:solidFill>
                  <a:srgbClr val="555B66"/>
                </a:solidFill>
                <a:latin typeface="Calibri"/>
              </a:rPr>
              <a:t>27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Effect transition="in" filter="fade">
                                      <p:cBhvr>
                                        <p:cTn id="23" dur="5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0"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Estimation</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3</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3" name="Oval 12"/>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4" name="TextBox 13"/>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5" name="Oval 14"/>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16" name="TextBox 15"/>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17" name="Rounded Rectangle 16"/>
          <p:cNvSpPr/>
          <p:nvPr/>
        </p:nvSpPr>
        <p:spPr>
          <a:xfrm>
            <a:off x="822960" y="5600700"/>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9" name="TextBox 18"/>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AE74B37C-B665-5DEA-BA51-58DA93724889}" type="slidenum">
              <a:rPr lang="en-US" sz="1200" dirty="0">
                <a:solidFill>
                  <a:srgbClr val="555B66"/>
                </a:solidFill>
                <a:latin typeface="Calibri"/>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How to Estimate a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a:latin typeface="Calibri"/>
              </a:rPr>
              <a:t>Use regression analysis to estimate the relationship between price and quantity</a:t>
            </a:r>
          </a:p>
          <a:p>
            <a:pPr algn="l"/>
            <a:r>
              <a:rPr>
                <a:latin typeface="Calibri"/>
              </a:rPr>
              <a:t>Need data linking prices to quantities</a:t>
            </a:r>
          </a:p>
          <a:p>
            <a:pPr algn="l"/>
            <a:r>
              <a:rPr>
                <a:latin typeface="Calibri"/>
              </a:rPr>
              <a:t>Several approaches</a:t>
            </a:r>
          </a:p>
          <a:p>
            <a:pPr algn="l" lvl="1"/>
            <a:r>
              <a:rPr>
                <a:latin typeface="Calibri"/>
              </a:rPr>
              <a:t>Transaction data (marketing firms, internet, store club cards)</a:t>
            </a:r>
          </a:p>
          <a:p>
            <a:pPr algn="l" lvl="1"/>
            <a:r>
              <a:rPr>
                <a:latin typeface="Calibri"/>
              </a:rPr>
              <a:t>Surveys</a:t>
            </a:r>
          </a:p>
          <a:p>
            <a:pPr algn="l" lvl="1"/>
            <a:r>
              <a:rPr b="1">
                <a:latin typeface="Calibri"/>
              </a:rPr>
              <a:t>Market experimentation</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7A9A74B7-DF7F-5EA1-924A-779BB974D1B0}" type="slidenum">
              <a:rPr lang="en-US" sz="1200" dirty="0">
                <a:solidFill>
                  <a:srgbClr val="555B66"/>
                </a:solidFill>
                <a:latin typeface="Calibri"/>
              </a:rPr>
              <a:t>30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What Is the Demand for This Product?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btest_image8.png"/>
          <p:cNvPicPr>
            <a:picLocks noChangeAspect="1"/>
          </p:cNvPicPr>
          <p:nvPr/>
        </p:nvPicPr>
        <p:blipFill>
          <a:blip r:embed="rId2"/>
          <a:stretch>
            <a:fillRect/>
          </a:stretch>
        </p:blipFill>
        <p:spPr>
          <a:xfrm>
            <a:off x="4434840" y="1463040"/>
            <a:ext cx="3657685" cy="4892040"/>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3BCAF25-C377-5DA9-851D-16C0F8DFA561}" type="slidenum">
              <a:rPr lang="en-US" sz="1200" dirty="0">
                <a:solidFill>
                  <a:srgbClr val="555B66"/>
                </a:solidFill>
                <a:latin typeface="Calibri"/>
              </a:rPr>
              <a:t>31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mazonexp_image9.png"/>
          <p:cNvPicPr>
            <a:picLocks noChangeAspect="1"/>
          </p:cNvPicPr>
          <p:nvPr/>
        </p:nvPicPr>
        <p:blipFill>
          <a:blip r:embed="rId2"/>
          <a:stretch>
            <a:fillRect/>
          </a:stretch>
        </p:blipFill>
        <p:spPr>
          <a:xfrm>
            <a:off x="2331720" y="1554480"/>
            <a:ext cx="7498079" cy="4174038"/>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17E18FD9-22B3-59C6-B4F5-392A7FD15CC9}" type="slidenum">
              <a:rPr lang="en-US" sz="1200" dirty="0">
                <a:solidFill>
                  <a:srgbClr val="555B66"/>
                </a:solidFill>
                <a:latin typeface="Calibri"/>
              </a:rPr>
              <a:t>32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Recent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4" name="Group pair 114"/>
          <p:cNvGrpSpPr/>
          <p:nvPr/>
        </p:nvGrpSpPr>
        <p:grpSpPr>
          <a:xfrm>
            <a:off x="4641494" y="1298448"/>
            <a:ext cx="2926080" cy="1838168"/>
            <a:chOff x="4641494" y="1298448"/>
            <a:chExt cx="2926080" cy="1838168"/>
          </a:xfrm>
        </p:grpSpPr>
        <p:sp>
          <p:nvSpPr>
            <p:cNvPr id="7" name="TextBox 6"/>
            <p:cNvSpPr txBox="1"/>
            <p:nvPr/>
          </p:nvSpPr>
          <p:spPr>
            <a:xfrm>
              <a:off x="4641494" y="1298448"/>
              <a:ext cx="2926080" cy="274320"/>
            </a:xfrm>
            <a:prstGeom prst="rect">
              <a:avLst/>
            </a:prstGeom>
            <a:noFill/>
          </p:spPr>
          <p:txBody>
            <a:bodyPr wrap="square" lIns="0" rIns="0" tIns="0" bIns="0">
              <a:spAutoFit/>
            </a:bodyPr>
            <a:lstStyle/>
            <a:p>
              <a:pPr algn="ctr"/>
              <a:r>
                <a:rPr sz="1300" b="1" i="1" u="none">
                  <a:solidFill>
                    <a:srgbClr val="0B2B4E"/>
                  </a:solidFill>
                  <a:latin typeface="Calibri"/>
                </a:rPr>
                <a:t>Pop Mart × Coca-Cola Labubu keychain</a:t>
              </a:r>
            </a:p>
          </p:txBody>
        </p:sp>
        <p:pic>
          <p:nvPicPr>
            <p:cNvPr id="8" name="Picture 7" descr="ct_amazonrecent_image10.png"/>
            <p:cNvPicPr>
              <a:picLocks noChangeAspect="1"/>
            </p:cNvPicPr>
            <p:nvPr/>
          </p:nvPicPr>
          <p:blipFill>
            <a:blip r:embed="rId2"/>
            <a:stretch>
              <a:fillRect/>
            </a:stretch>
          </p:blipFill>
          <p:spPr>
            <a:xfrm>
              <a:off x="5114239" y="1627632"/>
              <a:ext cx="1979676" cy="1508984"/>
            </a:xfrm>
            <a:prstGeom prst="roundRect">
              <a:avLst>
                <a:gd name="adj" fmla="val 8000"/>
              </a:avLst>
            </a:prstGeom>
            <a:effectLst>
              <a:outerShdw blurRad="50800" dist="38100" dir="2700000" algn="tl" rotWithShape="0">
                <a:srgbClr val="000000">
                  <a:alpha val="50000"/>
                </a:srgbClr>
              </a:outerShdw>
            </a:effectLst>
          </p:spPr>
        </p:pic>
      </p:grpSp>
      <p:grpSp>
        <p:nvGrpSpPr>
          <p:cNvPr id="115" name="Group pair 115"/>
          <p:cNvGrpSpPr/>
          <p:nvPr/>
        </p:nvGrpSpPr>
        <p:grpSpPr>
          <a:xfrm>
            <a:off x="274320" y="3273552"/>
            <a:ext cx="11640312" cy="3163824"/>
            <a:chOff x="274320" y="3273552"/>
            <a:chExt cx="11640312" cy="3163824"/>
          </a:xfrm>
        </p:grpSpPr>
        <p:pic>
          <p:nvPicPr>
            <p:cNvPr id="9" name="Picture 8" descr="ct_amazonrecent_image11.png"/>
            <p:cNvPicPr>
              <a:picLocks noChangeAspect="1"/>
            </p:cNvPicPr>
            <p:nvPr/>
          </p:nvPicPr>
          <p:blipFill>
            <a:blip r:embed="rId3"/>
            <a:stretch>
              <a:fillRect/>
            </a:stretch>
          </p:blipFill>
          <p:spPr>
            <a:xfrm>
              <a:off x="3076956" y="3273552"/>
              <a:ext cx="6035040" cy="2738443"/>
            </a:xfrm>
            <a:prstGeom prst="rect">
              <a:avLst/>
            </a:prstGeom>
          </p:spPr>
        </p:pic>
        <p:sp>
          <p:nvSpPr>
            <p:cNvPr id="10" name="TextBox 9"/>
            <p:cNvSpPr txBox="1"/>
            <p:nvPr/>
          </p:nvSpPr>
          <p:spPr>
            <a:xfrm>
              <a:off x="274320" y="6126480"/>
              <a:ext cx="11640312"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camelcamelcamel.com</a:t>
              </a:r>
            </a:p>
          </p:txBody>
        </p:sp>
      </p:gr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BB3661D5-2092-5197-9E3A-279E8634BA61}" type="slidenum">
              <a:rPr lang="en-US" sz="1200" dirty="0">
                <a:solidFill>
                  <a:srgbClr val="555B66"/>
                </a:solidFill>
                <a:latin typeface="Calibri"/>
              </a:rPr>
              <a:t>33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Econometric Estimates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Description:  </a:t>
            </a:r>
            <a:r>
              <a:rPr>
                <a:latin typeface="Calibri"/>
              </a:rPr>
              <a:t>combine economics, statistics, and mathematical model building</a:t>
            </a:r>
          </a:p>
          <a:p>
            <a:pPr algn="l"/>
            <a:r>
              <a:rPr>
                <a:latin typeface="Calibri"/>
              </a:rPr>
              <a:t>Develop hypotheses linking dependent variables (e.g., sales) to explanatory variables (e.g., price)</a:t>
            </a:r>
          </a:p>
          <a:p>
            <a:pPr algn="l"/>
            <a:r>
              <a:rPr b="1">
                <a:latin typeface="Calibri"/>
              </a:rPr>
              <a:t>How:  </a:t>
            </a:r>
            <a:r>
              <a:rPr>
                <a:latin typeface="Calibri"/>
              </a:rPr>
              <a:t>least squares regression analysis</a:t>
            </a:r>
          </a:p>
          <a:p>
            <a:pPr algn="l" lvl="1"/>
            <a:r>
              <a:rPr>
                <a:latin typeface="Calibri"/>
              </a:rPr>
              <a:t>Covered in detail in your Stats class</a:t>
            </a:r>
          </a:p>
          <a:p>
            <a:pPr algn="l" lvl="1"/>
            <a:r>
              <a:rPr>
                <a:latin typeface="Calibri"/>
              </a:rPr>
              <a:t>Today: a broad overview</a:t>
            </a:r>
          </a:p>
          <a:p>
            <a:pPr algn="l" lvl="1"/>
            <a:r>
              <a:rPr>
                <a:latin typeface="Calibri"/>
              </a:rPr>
              <a:t>What you need here: interpret and use the </a:t>
            </a:r>
            <a:r>
              <a:rPr b="1">
                <a:latin typeface="Calibri"/>
              </a:rPr>
              <a:t>coefficients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620F01A7-6A92-54D9-B022-88C72E5AF930}" type="slidenum">
              <a:rPr lang="en-US" sz="1200" dirty="0">
                <a:solidFill>
                  <a:srgbClr val="555B66"/>
                </a:solidFill>
                <a:latin typeface="Calibri"/>
              </a:rPr>
              <a:t>34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Ordinary Least Squares: The Basic Equation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13048" y="1417320"/>
            <a:ext cx="4572000" cy="914400"/>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Q = a + b · P</a:t>
            </a:r>
          </a:p>
        </p:txBody>
      </p:sp>
      <p:sp>
        <p:nvSpPr>
          <p:cNvPr id="8" name="TextBox 7"/>
          <p:cNvSpPr txBox="1"/>
          <p:nvPr/>
        </p:nvSpPr>
        <p:spPr>
          <a:xfrm>
            <a:off x="685800" y="2423160"/>
            <a:ext cx="10881360" cy="30175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b="1" i="1">
                <a:latin typeface="Calibri"/>
              </a:rPr>
              <a:t>Q</a:t>
            </a:r>
            <a:r>
              <a:rPr>
                <a:latin typeface="Calibri"/>
              </a:rPr>
              <a:t> = dependent variable</a:t>
            </a:r>
          </a:p>
          <a:p>
            <a:pPr algn="l"/>
            <a:r>
              <a:rPr b="1" i="1">
                <a:latin typeface="Calibri"/>
              </a:rPr>
              <a:t>P</a:t>
            </a:r>
            <a:r>
              <a:rPr>
                <a:latin typeface="Calibri"/>
              </a:rPr>
              <a:t> = independent variable</a:t>
            </a:r>
          </a:p>
          <a:p>
            <a:pPr algn="l"/>
            <a:r>
              <a:rPr b="1" i="1">
                <a:latin typeface="Calibri"/>
              </a:rPr>
              <a:t>a</a:t>
            </a:r>
            <a:r>
              <a:rPr>
                <a:latin typeface="Calibri"/>
              </a:rPr>
              <a:t> = intercept with the y-axis (Q on y-axis)</a:t>
            </a:r>
          </a:p>
          <a:p>
            <a:pPr algn="l"/>
            <a:r>
              <a:rPr b="1" i="1">
                <a:latin typeface="Calibri"/>
              </a:rPr>
              <a:t>b</a:t>
            </a:r>
            <a:r>
              <a:rPr>
                <a:latin typeface="Calibri"/>
              </a:rPr>
              <a:t> = slope of the regression line (inverse of the usual demand slope)</a:t>
            </a:r>
          </a:p>
        </p:txBody>
      </p:sp>
      <p:sp>
        <p:nvSpPr>
          <p:cNvPr id="9" name="TextBox 8"/>
          <p:cNvSpPr txBox="1"/>
          <p:nvPr/>
        </p:nvSpPr>
        <p:spPr>
          <a:xfrm>
            <a:off x="3017520" y="5532120"/>
            <a:ext cx="6126480" cy="841248"/>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solidFill>
                            <a:srgbClr val="0B2B4E"/>
                          </a:solidFill>
                          <a:latin typeface="Cambria Math"/>
                          <a:ea typeface="Cambria Math"/>
                        </a:rPr>
                        <m:t>E</m:t>
                      </m:r>
                    </m:e>
                    <m:sub>
                      <m:r>
                        <m:rPr>
                          <m:sty m:val="p"/>
                        </m:rPr>
                        <a:rPr lang="en-US" b="0" i="0" sz="2400">
                          <a:solidFill>
                            <a:srgbClr val="0B2B4E"/>
                          </a:solidFill>
                          <a:latin typeface="Cambria Math"/>
                        </a:rPr>
                        <m:t xml:space="preserve">D</m:t>
                      </m:r>
                    </m:sub>
                  </m:sSub>
                  <m:r>
                    <m:rPr>
                      <m:sty m:val="p"/>
                    </m:rPr>
                    <a:rPr lang="en-US" b="0" i="0" sz="2400">
                      <a:solidFill>
                        <a:srgbClr val="0B2B4E"/>
                      </a:solidFill>
                      <a:latin typeface="Cambria Math"/>
                    </a:rPr>
                    <m:t xml:space="preserve"> = </m:t>
                  </m:r>
                  <m:f>
                    <m:fPr>
                      <m:ctrlPr>
                        <a:rPr lang="en-US" i="1">
                          <a:latin typeface="Cambria Math"/>
                        </a:rPr>
                      </m:ctrlPr>
                    </m:fPr>
                    <m:num>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Q</m:t>
                      </m:r>
                    </m:num>
                    <m:den>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P</m:t>
                      </m:r>
                    </m:den>
                  </m:f>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oMath>
              </m:oMathPara>
            </a14:m>
            <a:endParaRPr lang="en-US" sz="2400"/>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76FAE18-E794-5440-845E-93938A34ADB1}" type="slidenum">
              <a:rPr lang="en-US" sz="1200" dirty="0">
                <a:solidFill>
                  <a:srgbClr val="555B66"/>
                </a:solidFill>
                <a:latin typeface="Calibri"/>
              </a:rPr>
              <a:t>35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5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Airline Ticket Experimentation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3" name="Group pair 113"/>
          <p:cNvGrpSpPr/>
          <p:nvPr/>
        </p:nvGrpSpPr>
        <p:grpSpPr>
          <a:xfrm>
            <a:off x="2560320" y="1289304"/>
            <a:ext cx="4251959" cy="4572000"/>
            <a:chOff x="2560320" y="1289304"/>
            <a:chExt cx="4251959" cy="4572000"/>
          </a:xfrm>
        </p:grpSpPr>
        <p:sp>
          <p:nvSpPr>
            <p:cNvPr id="7" name="Rectangle 6"/>
            <p:cNvSpPr/>
            <p:nvPr/>
          </p:nvSpPr>
          <p:spPr>
            <a:xfrm>
              <a:off x="2560320" y="1289304"/>
              <a:ext cx="4251959" cy="45720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697480" y="1426464"/>
            <a:ext cx="3977638" cy="4297680"/>
          </p:xfrm>
          <a:graphic>
            <a:graphicData uri="http://schemas.openxmlformats.org/drawingml/2006/table">
              <a:tbl>
                <a:tblPr firstRow="0" bandRow="0"/>
                <a:tblGrid>
                  <a:gridCol w="1988819"/>
                  <a:gridCol w="1988819"/>
                </a:tblGrid>
                <a:tr h="252804">
                  <a:tc>
                    <a:txBody>
                      <a:bodyPr wrap="square"/>
                      <a:lstStyle/>
                      <a:p>
                        <a:pPr algn="ctr"/>
                        <a:r>
                          <a:rPr sz="1400" b="1">
                            <a:solidFill>
                              <a:srgbClr val="FFFFFF"/>
                            </a:solidFill>
                            <a:latin typeface="Calibri"/>
                          </a:rPr>
                          <a:t>Price ($)</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400" b="1">
                            <a:solidFill>
                              <a:srgbClr val="FFFFFF"/>
                            </a:solidFill>
                            <a:latin typeface="Calibri"/>
                          </a:rPr>
                          <a:t>Seats sold</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64</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33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109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96</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59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90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75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16">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pic>
        <p:nvPicPr>
          <p:cNvPr id="9" name="Picture 8" descr="ct_airline_plane.png"/>
          <p:cNvPicPr>
            <a:picLocks noChangeAspect="1"/>
          </p:cNvPicPr>
          <p:nvPr/>
        </p:nvPicPr>
        <p:blipFill>
          <a:blip r:embed="rId2"/>
          <a:stretch>
            <a:fillRect/>
          </a:stretch>
        </p:blipFill>
        <p:spPr>
          <a:xfrm>
            <a:off x="7452360" y="2651760"/>
            <a:ext cx="3840480" cy="2641600"/>
          </a:xfrm>
          <a:prstGeom prst="rect">
            <a:avLst/>
          </a:prstGeom>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B85D8FA1-40B8-5136-B161-3F66860BFBA4}" type="slidenum">
              <a:rPr lang="en-US" sz="1200" dirty="0">
                <a:solidFill>
                  <a:srgbClr val="555B66"/>
                </a:solidFill>
                <a:latin typeface="Calibri"/>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First Pass: Eyeball the Relationship</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1371600"/>
            <a:ext cx="6675120" cy="411480"/>
          </a:xfrm>
          <a:prstGeom prst="rect">
            <a:avLst/>
          </a:prstGeom>
          <a:noFill/>
        </p:spPr>
        <p:txBody>
          <a:bodyPr wrap="square" lIns="0" rIns="0" tIns="0" bIns="0">
            <a:spAutoFit/>
          </a:bodyPr>
          <a:lstStyle/>
          <a:p>
            <a:pPr algn="ctr"/>
            <a:r>
              <a:rPr sz="2000" b="1" i="1" u="none">
                <a:solidFill>
                  <a:srgbClr val="0B2B4E"/>
                </a:solidFill>
                <a:latin typeface="Calibri"/>
              </a:rPr>
              <a:t>Scatterplot of Q versus P</a:t>
            </a:r>
          </a:p>
        </p:txBody>
      </p:sp>
      <p:cxnSp>
        <p:nvCxnSpPr>
          <p:cNvPr id="8" name="Connector 7"/>
          <p:cNvCxnSpPr/>
          <p:nvPr/>
        </p:nvCxnSpPr>
        <p:spPr>
          <a:xfrm flipV="1">
            <a:off x="3108960" y="1938527"/>
            <a:ext cx="0" cy="3822193"/>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108960" y="5760720"/>
            <a:ext cx="6309359"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88920" y="1536191"/>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1" name="TextBox 10"/>
          <p:cNvSpPr txBox="1"/>
          <p:nvPr/>
        </p:nvSpPr>
        <p:spPr>
          <a:xfrm>
            <a:off x="940917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2" name="TextBox 11"/>
          <p:cNvSpPr txBox="1"/>
          <p:nvPr/>
        </p:nvSpPr>
        <p:spPr>
          <a:xfrm>
            <a:off x="3579972"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3" name="TextBox 12"/>
          <p:cNvSpPr txBox="1"/>
          <p:nvPr/>
        </p:nvSpPr>
        <p:spPr>
          <a:xfrm>
            <a:off x="5436398"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4" name="TextBox 13"/>
          <p:cNvSpPr txBox="1"/>
          <p:nvPr/>
        </p:nvSpPr>
        <p:spPr>
          <a:xfrm>
            <a:off x="7292823"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5" name="TextBox 14"/>
          <p:cNvSpPr txBox="1"/>
          <p:nvPr/>
        </p:nvSpPr>
        <p:spPr>
          <a:xfrm>
            <a:off x="2130552" y="441350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6" name="TextBox 15"/>
          <p:cNvSpPr txBox="1"/>
          <p:nvPr/>
        </p:nvSpPr>
        <p:spPr>
          <a:xfrm>
            <a:off x="2130552" y="319430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7" name="TextBox 16"/>
          <p:cNvSpPr txBox="1"/>
          <p:nvPr/>
        </p:nvSpPr>
        <p:spPr>
          <a:xfrm>
            <a:off x="2130552" y="197510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8" name="Oval 17"/>
          <p:cNvSpPr/>
          <p:nvPr/>
        </p:nvSpPr>
        <p:spPr>
          <a:xfrm>
            <a:off x="6766946" y="414528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159265" y="4901184"/>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9265" y="48036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38734"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910521" y="29992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46415" y="23652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46415" y="30480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82308" y="33649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910521" y="42672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374627"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2840" y="351129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838734" y="31455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66946" y="387705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38734" y="3486911"/>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838734" y="297484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74627" y="32186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037076" y="2517343"/>
            <a:ext cx="4271162" cy="2511857"/>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037076" y="2907792"/>
            <a:ext cx="4456785" cy="1634032"/>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9" name="TextBox 38"/>
          <p:cNvSpPr txBox="1"/>
          <p:nvPr/>
        </p:nvSpPr>
        <p:spPr>
          <a:xfrm>
            <a:off x="11475720" y="6583680"/>
            <a:ext cx="502920" cy="292608"/>
          </a:xfrm>
          <a:prstGeom prst="rect">
            <a:avLst/>
          </a:prstGeom>
          <a:noFill/>
        </p:spPr>
        <p:txBody>
          <a:bodyPr wrap="none" lIns="0" rIns="0" tIns="0" bIns="0">
            <a:spAutoFit/>
          </a:bodyPr>
          <a:lstStyle/>
          <a:p>
            <a:pPr algn="r"/>
            <a:fld id="{D08F1797-AD54-52A3-A710-94438C6EF77E}" type="slidenum">
              <a:rPr lang="en-US" sz="1200" dirty="0">
                <a:solidFill>
                  <a:srgbClr val="555B66"/>
                </a:solidFill>
                <a:latin typeface="Calibri"/>
              </a:rPr>
              <a:t>37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Least Squares Estimation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914400" y="1847088"/>
            <a:ext cx="0" cy="391363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14400" y="5760720"/>
            <a:ext cx="5943600"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1444752"/>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0" name="TextBox 9"/>
          <p:cNvSpPr txBox="1"/>
          <p:nvPr/>
        </p:nvSpPr>
        <p:spPr>
          <a:xfrm>
            <a:off x="684885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1" name="TextBox 10"/>
          <p:cNvSpPr txBox="1"/>
          <p:nvPr/>
        </p:nvSpPr>
        <p:spPr>
          <a:xfrm>
            <a:off x="1330161"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2" name="TextBox 11"/>
          <p:cNvSpPr txBox="1"/>
          <p:nvPr/>
        </p:nvSpPr>
        <p:spPr>
          <a:xfrm>
            <a:off x="3076085"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3" name="TextBox 12"/>
          <p:cNvSpPr txBox="1"/>
          <p:nvPr/>
        </p:nvSpPr>
        <p:spPr>
          <a:xfrm>
            <a:off x="4822009"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4" name="TextBox 13"/>
          <p:cNvSpPr txBox="1"/>
          <p:nvPr/>
        </p:nvSpPr>
        <p:spPr>
          <a:xfrm>
            <a:off x="-64008" y="438302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5" name="TextBox 14"/>
          <p:cNvSpPr txBox="1"/>
          <p:nvPr/>
        </p:nvSpPr>
        <p:spPr>
          <a:xfrm>
            <a:off x="-64008" y="313334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6" name="TextBox 15"/>
          <p:cNvSpPr txBox="1"/>
          <p:nvPr/>
        </p:nvSpPr>
        <p:spPr>
          <a:xfrm>
            <a:off x="-64008" y="188366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7" name="Oval 16"/>
          <p:cNvSpPr/>
          <p:nvPr/>
        </p:nvSpPr>
        <p:spPr>
          <a:xfrm>
            <a:off x="4351383" y="4106265"/>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660826" y="488106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0826" y="47810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78421"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605459" y="293156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168978" y="22817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68978" y="298155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32497" y="330647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05459" y="423123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041940"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914902" y="34564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78421" y="308152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351383" y="38313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8421" y="343143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78421" y="290657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041940" y="315650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2048256" y="2930652"/>
            <a:ext cx="4535424" cy="2131466"/>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659075" y="3217773"/>
            <a:ext cx="0" cy="1068019"/>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966667" y="3511296"/>
            <a:ext cx="0" cy="320954"/>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grpSp>
        <p:nvGrpSpPr>
          <p:cNvPr id="141" name="Group pair 141"/>
          <p:cNvGrpSpPr/>
          <p:nvPr/>
        </p:nvGrpSpPr>
        <p:grpSpPr>
          <a:xfrm>
            <a:off x="7269480" y="2286000"/>
            <a:ext cx="4434840" cy="2697480"/>
            <a:chOff x="7269480" y="2286000"/>
            <a:chExt cx="4434840" cy="2697480"/>
          </a:xfrm>
        </p:grpSpPr>
        <p:sp>
          <p:nvSpPr>
            <p:cNvPr id="36" name="Rounded Rectangle 35"/>
            <p:cNvSpPr/>
            <p:nvPr/>
          </p:nvSpPr>
          <p:spPr>
            <a:xfrm>
              <a:off x="7269480" y="2286000"/>
              <a:ext cx="4434840" cy="2697480"/>
            </a:xfrm>
            <a:prstGeom prst="roundRect">
              <a:avLst>
                <a:gd name="adj" fmla="val 10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37" name="TextBox 36"/>
            <p:cNvSpPr txBox="1"/>
            <p:nvPr/>
          </p:nvSpPr>
          <p:spPr>
            <a:xfrm>
              <a:off x="7498079" y="2395728"/>
              <a:ext cx="4069080" cy="246888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Least Squares Algorithm</a:t>
              </a:r>
            </a:p>
            <a:p>
              <a:pPr algn="l">
                <a:spcBef>
                  <a:spcPts val="1000"/>
                </a:spcBef>
                <a:buNone/>
              </a:pPr>
              <a:r>
                <a:rPr sz="1900">
                  <a:solidFill>
                    <a:srgbClr val="0B2B4E"/>
                  </a:solidFill>
                  <a:latin typeface="Calibri"/>
                </a:rPr>
                <a:t>1.  Calculate all vertical distances</a:t>
              </a:r>
            </a:p>
            <a:p>
              <a:pPr algn="l">
                <a:spcBef>
                  <a:spcPts val="1000"/>
                </a:spcBef>
                <a:buNone/>
              </a:pPr>
              <a:r>
                <a:rPr sz="1900">
                  <a:solidFill>
                    <a:srgbClr val="0B2B4E"/>
                  </a:solidFill>
                  <a:latin typeface="Calibri"/>
                </a:rPr>
                <a:t>2.  Square them</a:t>
              </a:r>
            </a:p>
            <a:p>
              <a:pPr algn="l">
                <a:spcBef>
                  <a:spcPts val="1000"/>
                </a:spcBef>
                <a:buNone/>
              </a:pPr>
              <a:r>
                <a:rPr sz="1900">
                  <a:solidFill>
                    <a:srgbClr val="0B2B4E"/>
                  </a:solidFill>
                  <a:latin typeface="Calibri"/>
                </a:rPr>
                <a:t>3.  Sum them over all data points</a:t>
              </a:r>
            </a:p>
            <a:p>
              <a:pPr algn="l">
                <a:spcBef>
                  <a:spcPts val="1000"/>
                </a:spcBef>
                <a:buNone/>
              </a:pPr>
              <a:r>
                <a:rPr sz="1900">
                  <a:solidFill>
                    <a:srgbClr val="0B2B4E"/>
                  </a:solidFill>
                  <a:latin typeface="Calibri"/>
                </a:rPr>
                <a:t>4.  Choose the line that minimizes the sum of squares</a:t>
              </a:r>
            </a:p>
          </p:txBody>
        </p:sp>
      </p:grpSp>
      <p:sp>
        <p:nvSpPr>
          <p:cNvPr id="38" name="Rectangle 3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1" name="TextBox 40"/>
          <p:cNvSpPr txBox="1"/>
          <p:nvPr/>
        </p:nvSpPr>
        <p:spPr>
          <a:xfrm>
            <a:off x="11475720" y="6583680"/>
            <a:ext cx="502920" cy="292608"/>
          </a:xfrm>
          <a:prstGeom prst="rect">
            <a:avLst/>
          </a:prstGeom>
          <a:noFill/>
        </p:spPr>
        <p:txBody>
          <a:bodyPr wrap="none" lIns="0" rIns="0" tIns="0" bIns="0">
            <a:spAutoFit/>
          </a:bodyPr>
          <a:lstStyle/>
          <a:p>
            <a:pPr algn="r"/>
            <a:fld id="{EDF708DD-CB73-56E8-9FB3-32D439A6BCE9}" type="slidenum">
              <a:rPr lang="en-US" sz="1200" dirty="0">
                <a:solidFill>
                  <a:srgbClr val="555B66"/>
                </a:solidFill>
                <a:latin typeface="Calibri"/>
              </a:rPr>
              <a:t>38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1"/>
                                        </p:tgtEl>
                                        <p:attrNameLst>
                                          <p:attrName>style.visibility</p:attrName>
                                        </p:attrNameLst>
                                      </p:cBhvr>
                                      <p:to>
                                        <p:strVal val="visible"/>
                                      </p:to>
                                    </p:set>
                                    <p:animEffect transition="in" filter="fade">
                                      <p:cBhvr>
                                        <p:cTn id="7" dur="500"/>
                                        <p:tgtEl>
                                          <p:spTgt spid="14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Regression Results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6" name="Group pair 116"/>
          <p:cNvGrpSpPr/>
          <p:nvPr/>
        </p:nvGrpSpPr>
        <p:grpSpPr>
          <a:xfrm>
            <a:off x="3127248" y="1325880"/>
            <a:ext cx="5943600" cy="2523744"/>
            <a:chOff x="3127248" y="1325880"/>
            <a:chExt cx="5943600" cy="2523744"/>
          </a:xfrm>
        </p:grpSpPr>
        <p:sp>
          <p:nvSpPr>
            <p:cNvPr id="7" name="Rectangle 6"/>
            <p:cNvSpPr/>
            <p:nvPr/>
          </p:nvSpPr>
          <p:spPr>
            <a:xfrm>
              <a:off x="3127248" y="1325880"/>
              <a:ext cx="5943600" cy="252374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264408" y="1463040"/>
            <a:ext cx="5669280" cy="2249424"/>
          </p:xfrm>
          <a:graphic>
            <a:graphicData uri="http://schemas.openxmlformats.org/drawingml/2006/table">
              <a:tbl>
                <a:tblPr firstRow="0" bandRow="0"/>
                <a:tblGrid>
                  <a:gridCol w="2834640"/>
                  <a:gridCol w="2834640"/>
                </a:tblGrid>
                <a:tr h="749808">
                  <a:tc>
                    <a:txBody>
                      <a:bodyPr wrap="square"/>
                      <a:lstStyle/>
                      <a:p>
                        <a:pPr algn="ctr"/>
                        <a:r>
                          <a:rPr sz="24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4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749808">
                  <a:tc>
                    <a:txBody>
                      <a:bodyPr wrap="square"/>
                      <a:lstStyle/>
                      <a:p>
                        <a:pPr algn="l"/>
                        <a:r>
                          <a:rPr sz="26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600" b="0">
                            <a:solidFill>
                              <a:srgbClr val="0B2B4E"/>
                            </a:solidFill>
                            <a:latin typeface="Calibri"/>
                          </a:rPr>
                          <a:t>478.95</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749808">
                  <a:tc>
                    <a:txBody>
                      <a:bodyPr wrap="square"/>
                      <a:lstStyle/>
                      <a:p>
                        <a:pPr algn="l"/>
                        <a:r>
                          <a:rPr sz="26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600" b="0">
                            <a:solidFill>
                              <a:srgbClr val="0B2B4E"/>
                            </a:solidFill>
                            <a:latin typeface="Calibri"/>
                          </a:rPr>
                          <a:t>−1.64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5" name="Group pair 115"/>
          <p:cNvGrpSpPr/>
          <p:nvPr/>
        </p:nvGrpSpPr>
        <p:grpSpPr>
          <a:xfrm>
            <a:off x="3520440" y="4114800"/>
            <a:ext cx="5166360" cy="960120"/>
            <a:chOff x="3520440" y="4114800"/>
            <a:chExt cx="5166360" cy="960120"/>
          </a:xfrm>
        </p:grpSpPr>
        <p:sp>
          <p:nvSpPr>
            <p:cNvPr id="9" name="Rounded Rectangle 8"/>
            <p:cNvSpPr/>
            <p:nvPr/>
          </p:nvSpPr>
          <p:spPr>
            <a:xfrm>
              <a:off x="3520440" y="4114800"/>
              <a:ext cx="5166360" cy="9601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4224528"/>
              <a:ext cx="4800600" cy="740664"/>
            </a:xfrm>
            <a:prstGeom prst="rect">
              <a:avLst/>
            </a:prstGeom>
            <a:noFill/>
          </p:spPr>
          <p:txBody>
            <a:bodyPr wrap="square" lIns="45720" rIns="45720" tIns="0" bIns="0" anchor="ctr">
              <a:spAutoFit/>
            </a:bodyPr>
            <a:lstStyle/>
            <a:p>
              <a:pPr algn="ctr"/>
              <a:r>
                <a:rPr sz="3000" b="0" i="1" u="none">
                  <a:solidFill>
                    <a:srgbClr val="0B2B4E"/>
                  </a:solidFill>
                  <a:latin typeface="Calibri"/>
                </a:rPr>
                <a:t>Q = 478.95 − 1.64 P</a:t>
              </a:r>
            </a:p>
          </p:txBody>
        </p:sp>
      </p:grpSp>
      <p:sp>
        <p:nvSpPr>
          <p:cNvPr id="11" name="TextBox 10"/>
          <p:cNvSpPr txBox="1"/>
          <p:nvPr/>
        </p:nvSpPr>
        <p:spPr>
          <a:xfrm>
            <a:off x="914400" y="5577840"/>
            <a:ext cx="10360152" cy="457200"/>
          </a:xfrm>
          <a:prstGeom prst="rect">
            <a:avLst/>
          </a:prstGeom>
          <a:noFill/>
        </p:spPr>
        <p:txBody>
          <a:bodyPr wrap="square" lIns="0" rIns="0" tIns="0" bIns="0">
            <a:spAutoFit/>
          </a:bodyPr>
          <a:lstStyle/>
          <a:p>
            <a:pPr algn="ctr"/>
            <a:r>
              <a:rPr sz="2100" b="1" i="1" u="none">
                <a:solidFill>
                  <a:srgbClr val="0B2B4E"/>
                </a:solidFill>
                <a:latin typeface="Calibri"/>
              </a:rPr>
              <a:t>Now that we have demand, we can compute MR!</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309A7237-68A3-58BF-89D4-A14B9AA726D3}" type="slidenum">
              <a:rPr lang="en-US" sz="1200" dirty="0">
                <a:solidFill>
                  <a:srgbClr val="555B66"/>
                </a:solidFill>
                <a:latin typeface="Calibri"/>
              </a:rPr>
              <a:t>39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animEffect transition="in" filter="fade">
                                      <p:cBhvr>
                                        <p:cTn id="7" dur="500"/>
                                        <p:tgtEl>
                                          <p:spTgt spid="1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Multivariate Regression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80160"/>
            <a:ext cx="11640312" cy="457200"/>
          </a:xfrm>
          <a:prstGeom prst="rect">
            <a:avLst/>
          </a:prstGeom>
          <a:noFill/>
        </p:spPr>
        <p:txBody>
          <a:bodyPr wrap="square" lIns="0" rIns="0" tIns="0" bIns="0">
            <a:spAutoFit/>
          </a:bodyPr>
          <a:lstStyle/>
          <a:p>
            <a:pPr algn="ctr"/>
            <a:r>
              <a:rPr sz="2300" b="1" i="1" u="none">
                <a:solidFill>
                  <a:srgbClr val="0B2B4E"/>
                </a:solidFill>
                <a:latin typeface="Calibri"/>
              </a:rPr>
              <a:t>Incorporating other determinants of demand</a:t>
            </a:r>
          </a:p>
        </p:txBody>
      </p:sp>
      <p:sp>
        <p:nvSpPr>
          <p:cNvPr id="8" name="TextBox 7"/>
          <p:cNvSpPr txBox="1"/>
          <p:nvPr/>
        </p:nvSpPr>
        <p:spPr>
          <a:xfrm>
            <a:off x="2898648" y="1874519"/>
            <a:ext cx="6400800" cy="96012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100" b="0" i="1">
                <a:solidFill>
                  <a:srgbClr val="FFFFFF"/>
                </a:solidFill>
                <a:latin typeface="Cambria Math"/>
              </a:defRPr>
            </a:pPr>
            <a14:m>
              <m:oMathPara>
                <m:oMathParaPr>
                  <m:jc m:val="centerGroup"/>
                </m:oMathParaPr>
                <m:oMath>
                  <m:r>
                    <a:rPr lang="en-US" b="0" i="1" sz="3100">
                      <a:solidFill>
                        <a:srgbClr val="FFFFFF"/>
                      </a:solidFill>
                      <a:latin typeface="Cambria Math"/>
                      <a:ea typeface="Cambria Math"/>
                    </a:rPr>
                    <m:t>Q</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a</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b</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P</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c</m:t>
                  </m:r>
                  <m:r>
                    <m:rPr>
                      <m:sty m:val="p"/>
                    </m:rPr>
                    <a:rPr lang="en-US" b="0" i="0" sz="3100">
                      <a:solidFill>
                        <a:srgbClr val="FFFFFF"/>
                      </a:solidFill>
                      <a:latin typeface="Cambria Math"/>
                    </a:rPr>
                    <m:t xml:space="preserve"> · </m:t>
                  </m:r>
                  <m:sSub>
                    <m:sSubPr>
                      <m:ctrlPr>
                        <a:rPr lang="en-US" i="1">
                          <a:latin typeface="Cambria Math"/>
                        </a:rPr>
                      </m:ctrlPr>
                    </m:sSubPr>
                    <m:e>
                      <m:r>
                        <a:rPr lang="en-US" b="0" i="1" sz="3100">
                          <a:solidFill>
                            <a:srgbClr val="FFFFFF"/>
                          </a:solidFill>
                          <a:latin typeface="Cambria Math"/>
                          <a:ea typeface="Cambria Math"/>
                        </a:rPr>
                        <m:t>P</m:t>
                      </m:r>
                    </m:e>
                    <m:sub>
                      <m:r>
                        <m:rPr>
                          <m:sty m:val="p"/>
                        </m:rPr>
                        <a:rPr lang="en-US" b="0" i="0" sz="3100">
                          <a:solidFill>
                            <a:srgbClr val="FFFFFF"/>
                          </a:solidFill>
                          <a:latin typeface="Cambria Math"/>
                        </a:rPr>
                        <m:t xml:space="preserve">c</m:t>
                      </m:r>
                    </m:sub>
                  </m:sSub>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d</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Y</m:t>
                  </m:r>
                </m:oMath>
              </m:oMathPara>
            </a14:m>
            <a:endParaRPr lang="en-US" sz="3100"/>
          </a:p>
        </p:txBody>
      </p:sp>
      <p:sp>
        <p:nvSpPr>
          <p:cNvPr id="9" name="TextBox 8"/>
          <p:cNvSpPr txBox="1"/>
          <p:nvPr/>
        </p:nvSpPr>
        <p:spPr>
          <a:xfrm>
            <a:off x="3246120" y="3017520"/>
            <a:ext cx="6309360" cy="32004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9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b="1" i="1">
                <a:latin typeface="Calibri"/>
              </a:rPr>
              <a:t>Q</a:t>
            </a:r>
            <a:r>
              <a:rPr>
                <a:latin typeface="Calibri"/>
              </a:rPr>
              <a:t> = amount purchased</a:t>
            </a:r>
          </a:p>
          <a:p>
            <a:pPr algn="l"/>
            <a:r>
              <a:rPr b="1" i="1">
                <a:latin typeface="Calibri"/>
              </a:rPr>
              <a:t>P</a:t>
            </a:r>
            <a:r>
              <a:rPr>
                <a:latin typeface="Calibri"/>
              </a:rPr>
              <a:t> = own price</a:t>
            </a:r>
          </a:p>
          <a:p>
            <a:pPr algn="l"/>
            <a:r>
              <a:rPr b="1" i="1">
                <a:latin typeface="Calibri"/>
              </a:rPr>
              <a:t>P</a:t>
            </a:r>
            <a:r>
              <a:rPr b="1" i="1" baseline="-25000">
                <a:latin typeface="Calibri"/>
              </a:rPr>
              <a:t>C</a:t>
            </a:r>
            <a:r>
              <a:rPr>
                <a:latin typeface="Calibri"/>
              </a:rPr>
              <a:t> = competitor’s price</a:t>
            </a:r>
          </a:p>
          <a:p>
            <a:pPr algn="l"/>
            <a:r>
              <a:rPr b="1" i="1">
                <a:latin typeface="Calibri"/>
              </a:rPr>
              <a:t>Y</a:t>
            </a:r>
            <a:r>
              <a:rPr>
                <a:latin typeface="Calibri"/>
              </a:rPr>
              <a:t> = income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B551B001-1FD0-5D4A-BFED-2042C378193A}" type="slidenum">
              <a:rPr lang="en-US" sz="1200" dirty="0">
                <a:solidFill>
                  <a:srgbClr val="555B66"/>
                </a:solidFill>
                <a:latin typeface="Calibri"/>
              </a:rPr>
              <a:t>40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5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Results With Added Variables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5" name="Group pair 115"/>
          <p:cNvGrpSpPr/>
          <p:nvPr/>
        </p:nvGrpSpPr>
        <p:grpSpPr>
          <a:xfrm>
            <a:off x="2990088" y="1691640"/>
            <a:ext cx="6217920" cy="3291840"/>
            <a:chOff x="2990088" y="1691640"/>
            <a:chExt cx="6217920" cy="3291840"/>
          </a:xfrm>
        </p:grpSpPr>
        <p:sp>
          <p:nvSpPr>
            <p:cNvPr id="7" name="Rectangle 6"/>
            <p:cNvSpPr/>
            <p:nvPr/>
          </p:nvSpPr>
          <p:spPr>
            <a:xfrm>
              <a:off x="2990088" y="1691640"/>
              <a:ext cx="6217920" cy="32918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127248" y="1828800"/>
            <a:ext cx="5943600" cy="3017520"/>
          </p:xfrm>
          <a:graphic>
            <a:graphicData uri="http://schemas.openxmlformats.org/drawingml/2006/table">
              <a:tbl>
                <a:tblPr firstRow="0" bandRow="0"/>
                <a:tblGrid>
                  <a:gridCol w="3566160"/>
                  <a:gridCol w="2377440"/>
                </a:tblGrid>
                <a:tr h="603504">
                  <a:tc>
                    <a:txBody>
                      <a:bodyPr wrap="square"/>
                      <a:lstStyle/>
                      <a:p>
                        <a:pPr algn="ctr"/>
                        <a:r>
                          <a:rPr sz="22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2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03504">
                  <a:tc>
                    <a:txBody>
                      <a:bodyPr wrap="square"/>
                      <a:lstStyle/>
                      <a:p>
                        <a:pPr algn="l"/>
                        <a:r>
                          <a:rPr sz="23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26.70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−2.13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03504">
                  <a:tc>
                    <a:txBody>
                      <a:bodyPr wrap="square"/>
                      <a:lstStyle/>
                      <a:p>
                        <a:pPr algn="l"/>
                        <a:r>
                          <a:rPr sz="2300" b="1">
                            <a:solidFill>
                              <a:srgbClr val="0B2B4E"/>
                            </a:solidFill>
                            <a:latin typeface="Calibri"/>
                          </a:rPr>
                          <a:t>Competitor’s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1.04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Income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3.10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4" name="Group pair 114"/>
          <p:cNvGrpSpPr/>
          <p:nvPr/>
        </p:nvGrpSpPr>
        <p:grpSpPr>
          <a:xfrm>
            <a:off x="2606040" y="5166360"/>
            <a:ext cx="6995160" cy="896112"/>
            <a:chOff x="2606040" y="5166360"/>
            <a:chExt cx="6995160" cy="896112"/>
          </a:xfrm>
        </p:grpSpPr>
        <p:sp>
          <p:nvSpPr>
            <p:cNvPr id="9" name="Rounded Rectangle 8"/>
            <p:cNvSpPr/>
            <p:nvPr/>
          </p:nvSpPr>
          <p:spPr>
            <a:xfrm>
              <a:off x="2606040" y="5166360"/>
              <a:ext cx="6995160" cy="8961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88920" y="5276088"/>
              <a:ext cx="6629400" cy="676656"/>
            </a:xfrm>
            <a:prstGeom prst="rect">
              <a:avLst/>
            </a:prstGeom>
            <a:noFill/>
          </p:spPr>
          <p:txBody>
            <a:bodyPr wrap="square" lIns="45720" rIns="45720" tIns="0" bIns="0" anchor="ctr">
              <a:spAutoFit/>
            </a:bodyPr>
            <a:lstStyle/>
            <a:p>
              <a:pPr algn="ctr"/>
              <a:r>
                <a:rPr sz="2600" b="0" i="1" u="none">
                  <a:solidFill>
                    <a:srgbClr val="0B2B4E"/>
                  </a:solidFill>
                  <a:latin typeface="Calibri"/>
                </a:rPr>
                <a:t>Q = 26.70 − 2.13 P + 1.04 </a:t>
              </a:r>
              <a:r>
                <a:rPr sz="2600" b="0" i="1" u="none">
                  <a:solidFill>
                    <a:srgbClr val="0B2B4E"/>
                  </a:solidFill>
                  <a:latin typeface="Calibri"/>
                </a:rPr>
                <a:t>P</a:t>
              </a:r>
              <a:r>
                <a:rPr sz="2600" b="0" i="1" u="none" baseline="-25000">
                  <a:solidFill>
                    <a:srgbClr val="0B2B4E"/>
                  </a:solidFill>
                  <a:latin typeface="Calibri"/>
                </a:rPr>
                <a:t>C</a:t>
              </a:r>
              <a:r>
                <a:rPr sz="2600" b="0" i="1" u="none">
                  <a:solidFill>
                    <a:srgbClr val="0B2B4E"/>
                  </a:solidFill>
                  <a:latin typeface="Calibri"/>
                </a:rPr>
                <a:t> + 3.10 Y</a:t>
              </a:r>
            </a:p>
          </p:txBody>
        </p:sp>
      </p:gr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7A060044-857B-5EDC-8811-7472FED22B15}" type="slidenum">
              <a:rPr lang="en-US" sz="1200" dirty="0">
                <a:solidFill>
                  <a:srgbClr val="555B66"/>
                </a:solidFill>
                <a:latin typeface="Calibri"/>
              </a:rPr>
              <a:t>41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4"/>
                                        </p:tgtEl>
                                        <p:attrNameLst>
                                          <p:attrName>style.visibility</p:attrName>
                                        </p:attrNameLst>
                                      </p:cBhvr>
                                      <p:to>
                                        <p:strVal val="visible"/>
                                      </p:to>
                                    </p:set>
                                    <p:animEffect transition="in" filter="fade">
                                      <p:cBhvr>
                                        <p:cTn id="12"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Application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9706" name="Group pair 9706"/>
          <p:cNvGrpSpPr/>
          <p:nvPr/>
        </p:nvGrpSpPr>
        <p:grpSpPr>
          <a:xfrm>
            <a:off x="3108960" y="2194560"/>
            <a:ext cx="5943600" cy="1051560"/>
            <a:chOff x="3108960" y="2194560"/>
            <a:chExt cx="5943600" cy="1051560"/>
          </a:xfrm>
        </p:grpSpPr>
        <p:sp>
          <p:nvSpPr>
            <p:cNvPr id="7" name="Rounded Rectangle 6"/>
            <p:cNvSpPr/>
            <p:nvPr/>
          </p:nvSpPr>
          <p:spPr>
            <a:xfrm>
              <a:off x="3108960" y="2194560"/>
              <a:ext cx="5943600" cy="10515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2304288"/>
              <a:ext cx="5577840" cy="832104"/>
            </a:xfrm>
            <a:prstGeom prst="rect">
              <a:avLst/>
            </a:prstGeom>
            <a:noFill/>
          </p:spPr>
          <p:txBody>
            <a:bodyPr wrap="square" lIns="45720" rIns="45720" tIns="0" bIns="0" anchor="ctr">
              <a:spAutoFit/>
            </a:bodyPr>
            <a:lstStyle/>
            <a:p>
              <a:pPr algn="ctr"/>
              <a:r>
                <a:rPr sz="2800" b="0" i="1" u="none">
                  <a:solidFill>
                    <a:srgbClr val="0B2B4E"/>
                  </a:solidFill>
                  <a:latin typeface="Calibri"/>
                </a:rPr>
                <a:t>Q = 478.95 − 1.64 P</a:t>
              </a:r>
            </a:p>
          </p:txBody>
        </p:sp>
      </p:grpSp>
      <p:sp>
        <p:nvSpPr>
          <p:cNvPr id="9" name="TextBox 8"/>
          <p:cNvSpPr txBox="1"/>
          <p:nvPr/>
        </p:nvSpPr>
        <p:spPr>
          <a:xfrm>
            <a:off x="914400" y="3657600"/>
            <a:ext cx="10360152" cy="548640"/>
          </a:xfrm>
          <a:prstGeom prst="rect">
            <a:avLst/>
          </a:prstGeom>
          <a:noFill/>
        </p:spPr>
        <p:txBody>
          <a:bodyPr wrap="square" lIns="0" rIns="0" tIns="0" bIns="0">
            <a:spAutoFit/>
          </a:bodyPr>
          <a:lstStyle/>
          <a:p>
            <a:pPr algn="ctr"/>
            <a:r>
              <a:rPr sz="2400" b="0" i="0" u="none">
                <a:solidFill>
                  <a:srgbClr val="0B2B4E"/>
                </a:solidFill>
                <a:latin typeface="Calibri"/>
              </a:rPr>
              <a:t>Use the estimated airline demand to answer the polls</a:t>
            </a:r>
          </a:p>
        </p:txBody>
      </p:sp>
      <p:sp>
        <p:nvSpPr>
          <p:cNvPr id="10" name="Rounded Rectangle 9"/>
          <p:cNvSpPr/>
          <p:nvPr/>
        </p:nvSpPr>
        <p:spPr>
          <a:xfrm>
            <a:off x="91440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
        <p:nvSpPr>
          <p:cNvPr id="9603" name="Rectangle 960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4" name="Rectangle 960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5" name="TextBox 960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9606" name="TextBox 9605"/>
          <p:cNvSpPr txBox="1"/>
          <p:nvPr/>
        </p:nvSpPr>
        <p:spPr>
          <a:xfrm>
            <a:off x="11475720" y="6583680"/>
            <a:ext cx="502920" cy="292608"/>
          </a:xfrm>
          <a:prstGeom prst="rect">
            <a:avLst/>
          </a:prstGeom>
          <a:noFill/>
        </p:spPr>
        <p:txBody>
          <a:bodyPr wrap="none" lIns="0" rIns="0" tIns="0" bIns="0">
            <a:spAutoFit/>
          </a:bodyPr>
          <a:lstStyle/>
          <a:p>
            <a:pPr algn="r"/>
            <a:fld id="{681580C5-F9E7-5F50-8570-4BB2D342F0A0}" type="slidenum">
              <a:rPr lang="en-US" sz="1200" dirty="0">
                <a:solidFill>
                  <a:srgbClr val="555B66"/>
                </a:solidFill>
                <a:latin typeface="Calibri"/>
              </a:rPr>
              <a:t>42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706"/>
                                        </p:tgtEl>
                                        <p:attrNameLst>
                                          <p:attrName>style.visibility</p:attrName>
                                        </p:attrNameLst>
                                      </p:cBhvr>
                                      <p:to>
                                        <p:strVal val="visible"/>
                                      </p:to>
                                    </p:set>
                                    <p:animEffect transition="in" filter="fade">
                                      <p:cBhvr>
                                        <p:cTn id="7" dur="500"/>
                                        <p:tgtEl>
                                          <p:spTgt spid="97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600"/>
                                        </p:tgtEl>
                                        <p:attrNameLst>
                                          <p:attrName>style.visibility</p:attrName>
                                        </p:attrNameLst>
                                      </p:cBhvr>
                                      <p:to>
                                        <p:strVal val="visible"/>
                                      </p:to>
                                    </p:set>
                                    <p:animEffect transition="in" filter="fade">
                                      <p:cBhvr>
                                        <p:cTn id="12" dur="500"/>
                                        <p:tgtEl>
                                          <p:spTgt spid="96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What Is </a:t>
            </a:r>
            <a:r>
              <a:rPr sz="3200" b="1" i="0" u="none">
                <a:solidFill>
                  <a:srgbClr val="0B2B4E"/>
                </a:solidFill>
                <a:latin typeface="Calibri"/>
              </a:rPr>
              <a:t>E</a:t>
            </a:r>
            <a:r>
              <a:rPr sz="3200" b="1" i="0" u="none" baseline="-25000">
                <a:solidFill>
                  <a:srgbClr val="0B2B4E"/>
                </a:solidFill>
                <a:latin typeface="Calibri"/>
              </a:rPr>
              <a:t>D</a:t>
            </a:r>
            <a:r>
              <a:rPr sz="3200" b="1" i="0" u="none">
                <a:solidFill>
                  <a:srgbClr val="0B2B4E"/>
                </a:solidFill>
                <a:latin typeface="Calibri"/>
              </a:rPr>
              <a:t> at P = 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9F95CEC7-5C0E-5D92-A2F7-8EF5BB18D691}" type="slidenum">
              <a:rPr lang="en-US" sz="1200" dirty="0">
                <a:solidFill>
                  <a:srgbClr val="555B66"/>
                </a:solidFill>
                <a:latin typeface="Calibri"/>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Results: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33EC7E8C-E57E-5CE5-B987-A0EDCAE55A2F}" type="slidenum">
              <a:rPr lang="en-US" sz="1200" dirty="0">
                <a:solidFill>
                  <a:srgbClr val="555B66"/>
                </a:solidFill>
                <a:latin typeface="Calibri"/>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b="1" i="1">
                <a:latin typeface="Calibri"/>
              </a:rPr>
              <a:t>Q = 478.95 − 1.64 P</a:t>
            </a:r>
          </a:p>
          <a:p>
            <a:pPr algn="l"/>
            <a:r>
              <a:rPr>
                <a:latin typeface="Calibri"/>
              </a:rPr>
              <a:t>Recall  </a:t>
            </a:r>
            <a:r>
              <a:rPr i="1">
                <a:latin typeface="Calibri"/>
              </a:rPr>
              <a:t>E</a:t>
            </a:r>
            <a:r>
              <a:rPr i="1" baseline="-25000">
                <a:latin typeface="Calibri"/>
              </a:rPr>
              <a:t>D</a:t>
            </a:r>
            <a:r>
              <a:rPr i="1">
                <a:latin typeface="Calibri"/>
              </a:rPr>
              <a:t> = (ΔQ/ΔP) · (P/Q)</a:t>
            </a:r>
          </a:p>
          <a:p>
            <a:pPr algn="l"/>
            <a:r>
              <a:rPr i="1">
                <a:latin typeface="Calibri"/>
              </a:rPr>
              <a:t>ΔQ/ΔP</a:t>
            </a:r>
            <a:r>
              <a:rPr>
                <a:latin typeface="Calibri"/>
              </a:rPr>
              <a:t> is the slope of demand  ⇒  ΔQ/ΔP = </a:t>
            </a:r>
            <a:r>
              <a:rPr b="1">
                <a:latin typeface="Calibri"/>
              </a:rPr>
              <a:t>−1.64</a:t>
            </a:r>
          </a:p>
          <a:p>
            <a:pPr algn="l"/>
            <a:r>
              <a:rPr>
                <a:latin typeface="Calibri"/>
              </a:rPr>
              <a:t>Plug </a:t>
            </a:r>
            <a:r>
              <a:rPr i="1">
                <a:latin typeface="Calibri"/>
              </a:rPr>
              <a:t>P</a:t>
            </a:r>
            <a:r>
              <a:rPr>
                <a:latin typeface="Calibri"/>
              </a:rPr>
              <a:t> in to get </a:t>
            </a:r>
            <a:r>
              <a:rPr i="1">
                <a:latin typeface="Calibri"/>
              </a:rPr>
              <a:t>Q</a:t>
            </a:r>
            <a:r>
              <a:rPr>
                <a:latin typeface="Calibri"/>
              </a:rPr>
              <a:t>:  </a:t>
            </a:r>
            <a:r>
              <a:rPr b="1" i="1">
                <a:latin typeface="Calibri"/>
              </a:rPr>
              <a:t>Q = 478.95 − 1.64 · 140 = 249.35</a:t>
            </a:r>
          </a:p>
          <a:p>
            <a:pPr algn="l"/>
            <a:r>
              <a:rPr i="1">
                <a:latin typeface="Calibri"/>
              </a:rPr>
              <a:t>E</a:t>
            </a:r>
            <a:r>
              <a:rPr i="1" baseline="-25000">
                <a:latin typeface="Calibri"/>
              </a:rPr>
              <a:t>D</a:t>
            </a:r>
            <a:r>
              <a:rPr i="1">
                <a:latin typeface="Calibri"/>
              </a:rPr>
              <a:t> = </a:t>
            </a:r>
            <a:r>
              <a:rPr>
                <a:latin typeface="Calibri"/>
              </a:rPr>
              <a:t>−1.64 · (140 / 249.35) = </a:t>
            </a:r>
            <a:r>
              <a:rPr b="1">
                <a:latin typeface="Calibri"/>
              </a:rPr>
              <a:t>−0.92</a:t>
            </a:r>
          </a:p>
          <a:p>
            <a:pPr algn="l"/>
            <a:r>
              <a:rPr>
                <a:latin typeface="Calibri"/>
              </a:rPr>
              <a:t>Demand is </a:t>
            </a:r>
            <a:r>
              <a:rPr b="1">
                <a:solidFill>
                  <a:srgbClr val="0070C0"/>
                </a:solidFill>
                <a:latin typeface="Calibri"/>
              </a:rPr>
              <a:t>inelastic</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98FEED1-0EF8-5FBE-A609-6A5C9704C17A}" type="slidenum">
              <a:rPr lang="en-US" sz="1200" dirty="0">
                <a:solidFill>
                  <a:srgbClr val="555B66"/>
                </a:solidFill>
                <a:latin typeface="Calibri"/>
              </a:rPr>
              <a:t>45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What Is MR at P = 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9411D196-C623-5435-9D16-19E066E9CB01}" type="slidenum">
              <a:rPr lang="en-US" sz="1200" dirty="0">
                <a:solidFill>
                  <a:srgbClr val="555B66"/>
                </a:solidFill>
                <a:latin typeface="Calibri"/>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Results: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22BC27D3-51A2-5F90-879D-724E6E524C78}" type="slidenum">
              <a:rPr lang="en-US" sz="1200" dirty="0">
                <a:solidFill>
                  <a:srgbClr val="555B66"/>
                </a:solidFill>
                <a:latin typeface="Calibri"/>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MR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b="1">
                <a:latin typeface="Calibri"/>
              </a:rPr>
              <a:t>3-step method</a:t>
            </a:r>
          </a:p>
          <a:p>
            <a:pPr algn="l" lvl="1">
              <a:spcBef>
                <a:spcPts val="300"/>
              </a:spcBef>
              <a:buNone/>
            </a:pPr>
            <a:r>
              <a:rPr sz="2600" b="1">
                <a:solidFill>
                  <a:srgbClr val="555B66"/>
                </a:solidFill>
                <a:latin typeface="Calibri"/>
              </a:rPr>
              <a:t>1.  Inverse demand:   </a:t>
            </a:r>
            <a:r>
              <a:rPr sz="2600" i="1">
                <a:solidFill>
                  <a:srgbClr val="555B66"/>
                </a:solidFill>
                <a:latin typeface="Calibri"/>
              </a:rPr>
              <a:t>P = 292 − (1/1.64) Q</a:t>
            </a:r>
          </a:p>
          <a:p>
            <a:pPr algn="l" lvl="1">
              <a:spcBef>
                <a:spcPts val="300"/>
              </a:spcBef>
              <a:buNone/>
            </a:pPr>
            <a:r>
              <a:rPr sz="2600" b="1">
                <a:solidFill>
                  <a:srgbClr val="555B66"/>
                </a:solidFill>
                <a:latin typeface="Calibri"/>
              </a:rPr>
              <a:t>2.  Total revenue:   </a:t>
            </a:r>
            <a:r>
              <a:rPr sz="2600" i="1">
                <a:solidFill>
                  <a:srgbClr val="555B66"/>
                </a:solidFill>
                <a:latin typeface="Calibri"/>
              </a:rPr>
              <a:t>TR = 292 Q − (1/1.64) Q²</a:t>
            </a:r>
          </a:p>
          <a:p>
            <a:pPr algn="l" lvl="1">
              <a:spcBef>
                <a:spcPts val="300"/>
              </a:spcBef>
              <a:buNone/>
            </a:pPr>
            <a:r>
              <a:rPr sz="2600" b="1">
                <a:solidFill>
                  <a:srgbClr val="555B66"/>
                </a:solidFill>
                <a:latin typeface="Calibri"/>
              </a:rPr>
              <a:t>3.  Derivative:   </a:t>
            </a:r>
            <a:r>
              <a:rPr sz="2600" i="1">
                <a:solidFill>
                  <a:srgbClr val="555B66"/>
                </a:solidFill>
                <a:latin typeface="Calibri"/>
              </a:rPr>
              <a:t>MR = 292 − 1.22 Q</a:t>
            </a:r>
          </a:p>
          <a:p>
            <a:pPr algn="l"/>
            <a:r>
              <a:rPr b="1">
                <a:latin typeface="Calibri"/>
              </a:rPr>
              <a:t>MR at P = 140?</a:t>
            </a:r>
          </a:p>
          <a:p>
            <a:pPr algn="l" lvl="1">
              <a:spcBef>
                <a:spcPts val="300"/>
              </a:spcBef>
              <a:buNone/>
            </a:pPr>
            <a:r>
              <a:rPr sz="2600">
                <a:solidFill>
                  <a:srgbClr val="555B66"/>
                </a:solidFill>
                <a:latin typeface="Calibri"/>
              </a:rPr>
              <a:t>P = 140  →  Q = 249.35  →  </a:t>
            </a:r>
            <a:r>
              <a:rPr sz="2600" b="1" i="1">
                <a:solidFill>
                  <a:srgbClr val="555B66"/>
                </a:solidFill>
                <a:latin typeface="Calibri"/>
              </a:rPr>
              <a:t>MR = −12</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D9A67DD4-F7AE-544E-90A8-A1061E835C94}" type="slidenum">
              <a:rPr lang="en-US" sz="1200" dirty="0">
                <a:solidFill>
                  <a:srgbClr val="555B66"/>
                </a:solidFill>
                <a:latin typeface="Calibri"/>
              </a:rPr>
              <a:t>48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4" end="4"/>
                                            </p:txEl>
                                          </p:spTgt>
                                        </p:tgtEl>
                                        <p:attrNameLst>
                                          <p:attrName>style.visibility</p:attrName>
                                        </p:attrNameLst>
                                      </p:cBhvr>
                                      <p:to>
                                        <p:strVal val="visible"/>
                                      </p:to>
                                    </p:set>
                                    <p:animEffect transition="in" filter="fade">
                                      <p:cBhvr>
                                        <p:cTn id="7" dur="500"/>
                                        <p:tgtEl>
                                          <p:spTgt spid="7">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5" end="5"/>
                                            </p:txEl>
                                          </p:spTgt>
                                        </p:tgtEl>
                                        <p:attrNameLst>
                                          <p:attrName>style.visibility</p:attrName>
                                        </p:attrNameLst>
                                      </p:cBhvr>
                                      <p:to>
                                        <p:strVal val="visible"/>
                                      </p:to>
                                    </p:set>
                                    <p:animEffect transition="in" filter="fade">
                                      <p:cBhvr>
                                        <p:cTn id="10"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Pricing Recommendation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2DB18AEB-6F3A-5D2F-99F2-AAFEDB67B91B}" type="slidenum">
              <a:rPr lang="en-US" sz="1200" dirty="0">
                <a:solidFill>
                  <a:srgbClr val="555B66"/>
                </a:solidFill>
                <a:latin typeface="Calibri"/>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Results: Pricing Recommendation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5A113D4-7497-5168-BB4C-F5395F354B8F}" type="slidenum">
              <a:rPr lang="en-US" sz="1200" dirty="0">
                <a:solidFill>
                  <a:srgbClr val="555B66"/>
                </a:solidFill>
                <a:latin typeface="Calibri"/>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Raise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54480"/>
            <a:ext cx="5943600" cy="32918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i="1">
                <a:latin typeface="Calibri"/>
              </a:rPr>
              <a:t>MR</a:t>
            </a:r>
            <a:r>
              <a:rPr>
                <a:latin typeface="Calibri"/>
              </a:rPr>
              <a:t> is negative</a:t>
            </a:r>
          </a:p>
          <a:p>
            <a:pPr algn="l"/>
            <a:r>
              <a:rPr>
                <a:latin typeface="Calibri"/>
              </a:rPr>
              <a:t>So you want to sell </a:t>
            </a:r>
            <a:r>
              <a:rPr b="1">
                <a:latin typeface="Calibri"/>
              </a:rPr>
              <a:t>less</a:t>
            </a:r>
          </a:p>
          <a:p>
            <a:pPr algn="l"/>
            <a:r>
              <a:rPr>
                <a:latin typeface="Calibri"/>
              </a:rPr>
              <a:t>By </a:t>
            </a:r>
            <a:r>
              <a:rPr b="1">
                <a:latin typeface="Calibri"/>
              </a:rPr>
              <a:t>increasing the price</a:t>
            </a:r>
          </a:p>
        </p:txBody>
      </p:sp>
      <p:cxnSp>
        <p:nvCxnSpPr>
          <p:cNvPr id="8" name="Connector 7"/>
          <p:cNvCxnSpPr/>
          <p:nvPr/>
        </p:nvCxnSpPr>
        <p:spPr>
          <a:xfrm flipV="1">
            <a:off x="6949440" y="1664208"/>
            <a:ext cx="0" cy="409651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49440" y="5760720"/>
            <a:ext cx="475488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47688" y="1298448"/>
            <a:ext cx="603504" cy="310896"/>
          </a:xfrm>
          <a:prstGeom prst="rect">
            <a:avLst/>
          </a:prstGeom>
          <a:noFill/>
        </p:spPr>
        <p:txBody>
          <a:bodyPr wrap="square" lIns="0" rIns="0" tIns="0" bIns="0">
            <a:spAutoFit/>
          </a:bodyPr>
          <a:lstStyle/>
          <a:p>
            <a:pPr algn="l"/>
            <a:r>
              <a:rPr sz="1800" b="1" i="1" u="none">
                <a:solidFill>
                  <a:srgbClr val="0B2B4E"/>
                </a:solidFill>
                <a:latin typeface="Calibri"/>
              </a:rPr>
              <a:t>P</a:t>
            </a:r>
          </a:p>
        </p:txBody>
      </p:sp>
      <p:sp>
        <p:nvSpPr>
          <p:cNvPr id="11" name="TextBox 10"/>
          <p:cNvSpPr txBox="1"/>
          <p:nvPr/>
        </p:nvSpPr>
        <p:spPr>
          <a:xfrm>
            <a:off x="11402568" y="5852160"/>
            <a:ext cx="603504" cy="292608"/>
          </a:xfrm>
          <a:prstGeom prst="rect">
            <a:avLst/>
          </a:prstGeom>
          <a:noFill/>
        </p:spPr>
        <p:txBody>
          <a:bodyPr wrap="square" lIns="0" rIns="0" tIns="0" bIns="0">
            <a:spAutoFit/>
          </a:bodyPr>
          <a:lstStyle/>
          <a:p>
            <a:pPr algn="l"/>
            <a:r>
              <a:rPr sz="1800" b="1" i="1" u="none">
                <a:solidFill>
                  <a:srgbClr val="0B2B4E"/>
                </a:solidFill>
                <a:latin typeface="Calibri"/>
              </a:rPr>
              <a:t>Q</a:t>
            </a:r>
          </a:p>
        </p:txBody>
      </p:sp>
      <p:cxnSp>
        <p:nvCxnSpPr>
          <p:cNvPr id="12" name="Connector 11"/>
          <p:cNvCxnSpPr/>
          <p:nvPr/>
        </p:nvCxnSpPr>
        <p:spPr>
          <a:xfrm>
            <a:off x="6949440" y="2281428"/>
            <a:ext cx="4127601" cy="3479292"/>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2281428"/>
            <a:ext cx="2326233" cy="3924604"/>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008668" y="4021531"/>
            <a:ext cx="0" cy="1739189"/>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42224" y="4306824"/>
            <a:ext cx="1188720" cy="310896"/>
          </a:xfrm>
          <a:prstGeom prst="rect">
            <a:avLst/>
          </a:prstGeom>
          <a:noFill/>
        </p:spPr>
        <p:txBody>
          <a:bodyPr wrap="square" lIns="0" rIns="0" tIns="0" bIns="0">
            <a:spAutoFit/>
          </a:bodyPr>
          <a:lstStyle/>
          <a:p>
            <a:pPr algn="l"/>
            <a:r>
              <a:rPr sz="2200" b="1" i="0" u="none">
                <a:solidFill>
                  <a:srgbClr val="E09F3E"/>
                </a:solidFill>
                <a:latin typeface="Calibri"/>
              </a:rPr>
              <a:t>MR</a:t>
            </a:r>
          </a:p>
        </p:txBody>
      </p:sp>
      <p:sp>
        <p:nvSpPr>
          <p:cNvPr id="16" name="TextBox 15"/>
          <p:cNvSpPr txBox="1"/>
          <p:nvPr/>
        </p:nvSpPr>
        <p:spPr>
          <a:xfrm>
            <a:off x="11048695" y="5339181"/>
            <a:ext cx="914400" cy="310896"/>
          </a:xfrm>
          <a:prstGeom prst="rect">
            <a:avLst/>
          </a:prstGeom>
          <a:noFill/>
        </p:spPr>
        <p:txBody>
          <a:bodyPr wrap="square" lIns="0" rIns="0" tIns="0" bIns="0">
            <a:spAutoFit/>
          </a:bodyPr>
          <a:lstStyle/>
          <a:p>
            <a:pPr algn="l"/>
            <a:r>
              <a:rPr sz="2200" b="1" i="0" u="none">
                <a:solidFill>
                  <a:srgbClr val="0B2B4E"/>
                </a:solidFill>
                <a:latin typeface="Calibri"/>
              </a:rPr>
              <a:t>D</a:t>
            </a:r>
          </a:p>
        </p:txBody>
      </p:sp>
      <p:sp>
        <p:nvSpPr>
          <p:cNvPr id="17" name="TextBox 16"/>
          <p:cNvSpPr txBox="1"/>
          <p:nvPr/>
        </p:nvSpPr>
        <p:spPr>
          <a:xfrm>
            <a:off x="8991295" y="3674059"/>
            <a:ext cx="2103120" cy="310896"/>
          </a:xfrm>
          <a:prstGeom prst="rect">
            <a:avLst/>
          </a:prstGeom>
          <a:noFill/>
        </p:spPr>
        <p:txBody>
          <a:bodyPr wrap="square" lIns="0" rIns="0" tIns="0" bIns="0">
            <a:spAutoFit/>
          </a:bodyPr>
          <a:lstStyle/>
          <a:p>
            <a:pPr algn="l"/>
            <a:r>
              <a:rPr sz="1800" b="1" i="0" u="none">
                <a:solidFill>
                  <a:srgbClr val="0B2B4E"/>
                </a:solidFill>
                <a:latin typeface="Calibri"/>
              </a:rPr>
              <a:t>E</a:t>
            </a:r>
            <a:r>
              <a:rPr sz="1800" b="1" i="0" u="none" baseline="-25000">
                <a:solidFill>
                  <a:srgbClr val="0B2B4E"/>
                </a:solidFill>
                <a:latin typeface="Calibri"/>
              </a:rPr>
              <a:t>D</a:t>
            </a:r>
            <a:r>
              <a:rPr sz="1800" b="1" i="0" u="none">
                <a:solidFill>
                  <a:srgbClr val="0B2B4E"/>
                </a:solidFill>
                <a:latin typeface="Calibri"/>
              </a:rPr>
              <a:t> = −1</a:t>
            </a:r>
          </a:p>
        </p:txBody>
      </p:sp>
      <p:sp>
        <p:nvSpPr>
          <p:cNvPr id="18" name="TextBox 17"/>
          <p:cNvSpPr txBox="1"/>
          <p:nvPr/>
        </p:nvSpPr>
        <p:spPr>
          <a:xfrm>
            <a:off x="7851952" y="2532888"/>
            <a:ext cx="1737360" cy="310896"/>
          </a:xfrm>
          <a:prstGeom prst="rect">
            <a:avLst/>
          </a:prstGeom>
          <a:noFill/>
        </p:spPr>
        <p:txBody>
          <a:bodyPr wrap="square" lIns="0" rIns="0" tIns="0" bIns="0">
            <a:spAutoFit/>
          </a:bodyPr>
          <a:lstStyle/>
          <a:p>
            <a:pPr algn="l"/>
            <a:r>
              <a:rPr sz="1800" b="1" i="0" u="none">
                <a:solidFill>
                  <a:srgbClr val="0070C0"/>
                </a:solidFill>
                <a:latin typeface="Calibri"/>
              </a:rPr>
              <a:t>Elastic</a:t>
            </a:r>
          </a:p>
        </p:txBody>
      </p:sp>
      <p:sp>
        <p:nvSpPr>
          <p:cNvPr id="19" name="TextBox 18"/>
          <p:cNvSpPr txBox="1"/>
          <p:nvPr/>
        </p:nvSpPr>
        <p:spPr>
          <a:xfrm>
            <a:off x="10068458" y="4440326"/>
            <a:ext cx="1920240" cy="310896"/>
          </a:xfrm>
          <a:prstGeom prst="rect">
            <a:avLst/>
          </a:prstGeom>
          <a:noFill/>
        </p:spPr>
        <p:txBody>
          <a:bodyPr wrap="square" lIns="0" rIns="0" tIns="0" bIns="0">
            <a:spAutoFit/>
          </a:bodyPr>
          <a:lstStyle/>
          <a:p>
            <a:pPr algn="l"/>
            <a:r>
              <a:rPr sz="1800" b="1" i="0" u="none">
                <a:solidFill>
                  <a:srgbClr val="0070C0"/>
                </a:solidFill>
                <a:latin typeface="Calibri"/>
              </a:rPr>
              <a:t>Inelastic</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5408FD56-BFF0-5DB7-9236-61A05EBE3659}" type="slidenum">
              <a:rPr lang="en-US" sz="1200" dirty="0">
                <a:solidFill>
                  <a:srgbClr val="555B66"/>
                </a:solidFill>
                <a:latin typeface="Calibri"/>
              </a:rPr>
              <a:t>51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xEl>
                                              <p:pRg st="2" end="2"/>
                                            </p:txEl>
                                          </p:spTgt>
                                        </p:tgtEl>
                                        <p:attrNameLst>
                                          <p:attrName>style.visibility</p:attrName>
                                        </p:attrNameLst>
                                      </p:cBhvr>
                                      <p:to>
                                        <p:strVal val="visible"/>
                                      </p:to>
                                    </p:set>
                                    <p:animEffect transition="in" filter="fade">
                                      <p:cBhvr>
                                        <p:cTn id="45"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Issues With Transaction Data: 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Transaction data:  </a:t>
            </a:r>
            <a:r>
              <a:rPr>
                <a:latin typeface="Calibri"/>
              </a:rPr>
              <a:t>prices and quantities evolving over time, across locations and stores</a:t>
            </a:r>
          </a:p>
          <a:p>
            <a:pPr algn="l"/>
            <a:r>
              <a:rPr>
                <a:latin typeface="Calibri"/>
              </a:rPr>
              <a:t>Can we be sure the change in quantity is due to the price change?</a:t>
            </a:r>
          </a:p>
          <a:p>
            <a:pPr algn="l"/>
            <a:r>
              <a:rPr b="1">
                <a:latin typeface="Calibri"/>
              </a:rPr>
              <a:t>Airline example:  </a:t>
            </a:r>
            <a:r>
              <a:rPr>
                <a:latin typeface="Calibri"/>
              </a:rPr>
              <a:t>Aug 2019 sold 135 tickets at $200; Oct 2019 sold 90 at $180</a:t>
            </a:r>
          </a:p>
          <a:p>
            <a:pPr algn="l" lvl="1"/>
            <a:r>
              <a:rPr>
                <a:latin typeface="Calibri"/>
              </a:rPr>
              <a:t>Should we conclude demand slopes upward?</a:t>
            </a:r>
          </a:p>
          <a:p>
            <a:pPr algn="l" lvl="1"/>
            <a:r>
              <a:rPr>
                <a:latin typeface="Calibri"/>
              </a:rPr>
              <a:t>What else changed between those two periods?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C69781D-FAF3-5E5A-B5F5-5C7A4C1C5FAA}" type="slidenum">
              <a:rPr lang="en-US" sz="1200" dirty="0">
                <a:solidFill>
                  <a:srgbClr val="555B66"/>
                </a:solidFill>
                <a:latin typeface="Calibri"/>
              </a:rPr>
              <a:t>52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Example:  </a:t>
            </a:r>
            <a:r>
              <a:rPr sz="2700">
                <a:solidFill>
                  <a:srgbClr val="0B2B4E"/>
                </a:solidFill>
                <a:latin typeface="Calibri"/>
              </a:rPr>
              <a:t>on average, people who drink two glasses of wine a day are healthier than those who drink none</a:t>
            </a:r>
          </a:p>
        </p:txBody>
      </p:sp>
      <p:sp>
        <p:nvSpPr>
          <p:cNvPr id="8" name="TextBox 7"/>
          <p:cNvSpPr txBox="1"/>
          <p:nvPr/>
        </p:nvSpPr>
        <p:spPr>
          <a:xfrm>
            <a:off x="731520" y="2697480"/>
            <a:ext cx="10725912"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b="1">
                <a:solidFill>
                  <a:srgbClr val="0B2B4E"/>
                </a:solidFill>
                <a:latin typeface="Calibri"/>
              </a:rPr>
              <a:t>Causal interpretation:  </a:t>
            </a:r>
            <a:r>
              <a:rPr sz="2600" i="1">
                <a:solidFill>
                  <a:srgbClr val="0B2B4E"/>
                </a:solidFill>
                <a:latin typeface="Calibri"/>
              </a:rPr>
              <a:t>wine improves health (I wish!)</a:t>
            </a:r>
          </a:p>
        </p:txBody>
      </p:sp>
      <p:pic>
        <p:nvPicPr>
          <p:cNvPr id="9" name="Picture 8" descr="ct_s57_image19.png"/>
          <p:cNvPicPr>
            <a:picLocks noChangeAspect="1"/>
          </p:cNvPicPr>
          <p:nvPr/>
        </p:nvPicPr>
        <p:blipFill>
          <a:blip r:embed="rId2"/>
          <a:stretch>
            <a:fillRect/>
          </a:stretch>
        </p:blipFill>
        <p:spPr>
          <a:xfrm>
            <a:off x="3108960" y="3657600"/>
            <a:ext cx="2194560" cy="1367736"/>
          </a:xfrm>
          <a:prstGeom prst="roundRect">
            <a:avLst>
              <a:gd name="adj" fmla="val 8000"/>
            </a:avLst>
          </a:prstGeom>
          <a:effectLst>
            <a:outerShdw blurRad="50800" dist="38100" dir="2700000" algn="tl" rotWithShape="0">
              <a:srgbClr val="000000">
                <a:alpha val="50000"/>
              </a:srgbClr>
            </a:outerShdw>
          </a:effectLst>
        </p:spPr>
      </p:pic>
      <p:cxnSp>
        <p:nvCxnSpPr>
          <p:cNvPr id="10" name="Connector 9"/>
          <p:cNvCxnSpPr/>
          <p:nvPr/>
        </p:nvCxnSpPr>
        <p:spPr>
          <a:xfrm>
            <a:off x="5577840" y="4434840"/>
            <a:ext cx="1188720" cy="0"/>
          </a:xfrm>
          <a:prstGeom prst="line">
            <a:avLst/>
          </a:prstGeom>
          <a:ln w="381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20.png"/>
          <p:cNvPicPr>
            <a:picLocks noChangeAspect="1"/>
          </p:cNvPicPr>
          <p:nvPr/>
        </p:nvPicPr>
        <p:blipFill>
          <a:blip r:embed="rId3"/>
          <a:stretch>
            <a:fillRect/>
          </a:stretch>
        </p:blipFill>
        <p:spPr>
          <a:xfrm>
            <a:off x="7040880" y="3657600"/>
            <a:ext cx="2194560" cy="1455089"/>
          </a:xfrm>
          <a:prstGeom prst="roundRect">
            <a:avLst>
              <a:gd name="adj" fmla="val 8000"/>
            </a:avLst>
          </a:prstGeom>
          <a:effectLst>
            <a:outerShdw blurRad="50800" dist="38100" dir="2700000" algn="tl" rotWithShape="0">
              <a:srgbClr val="000000">
                <a:alpha val="50000"/>
              </a:srgbClr>
            </a:outerShdw>
          </a:effectLst>
        </p:spPr>
      </p:pic>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C2A3D6DF-E3F9-5513-AEB0-3E3022388832}" type="slidenum">
              <a:rPr lang="en-US" sz="1200" dirty="0">
                <a:solidFill>
                  <a:srgbClr val="555B66"/>
                </a:solidFill>
                <a:latin typeface="Calibri"/>
              </a:rPr>
              <a:t>53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Potential problem:  </a:t>
            </a:r>
            <a:r>
              <a:rPr sz="2700">
                <a:solidFill>
                  <a:srgbClr val="0B2B4E"/>
                </a:solidFill>
                <a:latin typeface="Calibri"/>
              </a:rPr>
              <a:t>some other factor is causing the correlation</a:t>
            </a:r>
          </a:p>
        </p:txBody>
      </p:sp>
      <p:pic>
        <p:nvPicPr>
          <p:cNvPr id="8" name="Picture 7" descr="ct_s58_image21.png"/>
          <p:cNvPicPr>
            <a:picLocks noChangeAspect="1"/>
          </p:cNvPicPr>
          <p:nvPr/>
        </p:nvPicPr>
        <p:blipFill>
          <a:blip r:embed="rId2"/>
          <a:stretch>
            <a:fillRect/>
          </a:stretch>
        </p:blipFill>
        <p:spPr>
          <a:xfrm>
            <a:off x="5029200" y="2286000"/>
            <a:ext cx="2148840" cy="1241391"/>
          </a:xfrm>
          <a:prstGeom prst="roundRect">
            <a:avLst>
              <a:gd name="adj" fmla="val 8000"/>
            </a:avLst>
          </a:prstGeom>
          <a:effectLst>
            <a:outerShdw blurRad="50800" dist="38100" dir="2700000" algn="tl" rotWithShape="0">
              <a:srgbClr val="000000">
                <a:alpha val="50000"/>
              </a:srgbClr>
            </a:outerShdw>
          </a:effectLst>
        </p:spPr>
      </p:pic>
      <p:cxnSp>
        <p:nvCxnSpPr>
          <p:cNvPr id="9" name="Connector 8"/>
          <p:cNvCxnSpPr/>
          <p:nvPr/>
        </p:nvCxnSpPr>
        <p:spPr>
          <a:xfrm flipH="1">
            <a:off x="429768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4944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19.png"/>
          <p:cNvPicPr>
            <a:picLocks noChangeAspect="1"/>
          </p:cNvPicPr>
          <p:nvPr/>
        </p:nvPicPr>
        <p:blipFill>
          <a:blip r:embed="rId3"/>
          <a:stretch>
            <a:fillRect/>
          </a:stretch>
        </p:blipFill>
        <p:spPr>
          <a:xfrm>
            <a:off x="3017520" y="4617720"/>
            <a:ext cx="2103120" cy="1310747"/>
          </a:xfrm>
          <a:prstGeom prst="roundRect">
            <a:avLst>
              <a:gd name="adj" fmla="val 8000"/>
            </a:avLst>
          </a:prstGeom>
          <a:effectLst>
            <a:outerShdw blurRad="50800" dist="38100" dir="2700000" algn="tl" rotWithShape="0">
              <a:srgbClr val="000000">
                <a:alpha val="50000"/>
              </a:srgbClr>
            </a:outerShdw>
          </a:effectLst>
        </p:spPr>
      </p:pic>
      <p:pic>
        <p:nvPicPr>
          <p:cNvPr id="12" name="Picture 11" descr="ct_s57_image20.png"/>
          <p:cNvPicPr>
            <a:picLocks noChangeAspect="1"/>
          </p:cNvPicPr>
          <p:nvPr/>
        </p:nvPicPr>
        <p:blipFill>
          <a:blip r:embed="rId4"/>
          <a:stretch>
            <a:fillRect/>
          </a:stretch>
        </p:blipFill>
        <p:spPr>
          <a:xfrm>
            <a:off x="7040880" y="4617720"/>
            <a:ext cx="2103120" cy="1394460"/>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6B316F47-2D5B-5841-BECC-F01A646B7EC0}" type="slidenum">
              <a:rPr lang="en-US" sz="1200" dirty="0">
                <a:solidFill>
                  <a:srgbClr val="555B66"/>
                </a:solidFill>
                <a:latin typeface="Calibri"/>
              </a:rPr>
              <a:t>54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Spurious Correlations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s59_image22.png"/>
          <p:cNvPicPr>
            <a:picLocks noChangeAspect="1"/>
          </p:cNvPicPr>
          <p:nvPr/>
        </p:nvPicPr>
        <p:blipFill>
          <a:blip r:embed="rId2"/>
          <a:stretch>
            <a:fillRect/>
          </a:stretch>
        </p:blipFill>
        <p:spPr>
          <a:xfrm>
            <a:off x="424281" y="1828800"/>
            <a:ext cx="5323636" cy="3565991"/>
          </a:xfrm>
          <a:prstGeom prst="rect">
            <a:avLst/>
          </a:prstGeom>
          <a:effectLst>
            <a:outerShdw blurRad="50800" dist="38100" dir="2700000" algn="tl" rotWithShape="0">
              <a:srgbClr val="000000">
                <a:alpha val="45000"/>
              </a:srgbClr>
            </a:outerShdw>
          </a:effectLst>
        </p:spPr>
      </p:pic>
      <p:pic>
        <p:nvPicPr>
          <p:cNvPr id="8" name="Picture 7" descr="ct_s59_image23.png"/>
          <p:cNvPicPr>
            <a:picLocks noChangeAspect="1"/>
          </p:cNvPicPr>
          <p:nvPr/>
        </p:nvPicPr>
        <p:blipFill>
          <a:blip r:embed="rId3"/>
          <a:stretch>
            <a:fillRect/>
          </a:stretch>
        </p:blipFill>
        <p:spPr>
          <a:xfrm>
            <a:off x="5982919" y="1828800"/>
            <a:ext cx="5864961" cy="3566132"/>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274320" y="6172200"/>
            <a:ext cx="11640312"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tylervigen.com/spurious-correlations</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92F0233B-FA12-5BD7-869B-26D085D25AB3}" type="slidenum">
              <a:rPr lang="en-US" sz="1200" dirty="0">
                <a:solidFill>
                  <a:srgbClr val="555B66"/>
                </a:solidFill>
                <a:latin typeface="Calibri"/>
              </a:rPr>
              <a:t>55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10058400" cy="47548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Randomizing prices ensures that </a:t>
            </a:r>
            <a:r>
              <a:rPr b="1">
                <a:latin typeface="Calibri"/>
              </a:rPr>
              <a:t>“all else is equal”</a:t>
            </a:r>
            <a:r>
              <a:rPr>
                <a:latin typeface="Calibri"/>
              </a:rPr>
              <a:t> other than the price change</a:t>
            </a:r>
          </a:p>
          <a:p>
            <a:pPr algn="l"/>
            <a:r>
              <a:rPr>
                <a:latin typeface="Calibri"/>
              </a:rPr>
              <a:t>Allows us to estimate the </a:t>
            </a:r>
            <a:r>
              <a:rPr b="1">
                <a:solidFill>
                  <a:srgbClr val="0070C0"/>
                </a:solidFill>
                <a:latin typeface="Calibri"/>
              </a:rPr>
              <a:t>causal effect</a:t>
            </a:r>
            <a:r>
              <a:rPr>
                <a:latin typeface="Calibri"/>
              </a:rPr>
              <a:t> of price on quantity demanded  →  the demand curve!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1C9AF297-709C-5291-9F97-67F6EA752D3C}" type="slidenum">
              <a:rPr lang="en-US" sz="1200" dirty="0">
                <a:solidFill>
                  <a:srgbClr val="555B66"/>
                </a:solidFill>
                <a:latin typeface="Calibri"/>
              </a:rPr>
              <a:t>56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Summary</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Module 2: Summary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Law of Demand</a:t>
            </a:r>
          </a:p>
          <a:p>
            <a:pPr algn="l">
              <a:spcBef>
                <a:spcPts val="0"/>
              </a:spcBef>
              <a:buNone/>
            </a:pPr>
            <a:r>
              <a:rPr sz="2200">
                <a:solidFill>
                  <a:srgbClr val="555B66"/>
                </a:solidFill>
                <a:latin typeface="Calibri"/>
              </a:rPr>
              <a:t>When the price falls, quantity demanded rises – holding everything else constant</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Elasticities</a:t>
            </a:r>
          </a:p>
          <a:p>
            <a:pPr algn="l">
              <a:spcBef>
                <a:spcPts val="0"/>
              </a:spcBef>
              <a:buNone/>
            </a:pPr>
            <a:r>
              <a:rPr sz="2200">
                <a:solidFill>
                  <a:srgbClr val="555B66"/>
                </a:solidFill>
                <a:latin typeface="Calibri"/>
              </a:rPr>
              <a:t>How strongly demand responds to price, income, and the prices of other goods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3" name="Oval 12"/>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3a</a:t>
            </a:r>
          </a:p>
        </p:txBody>
      </p:sp>
      <p:sp>
        <p:nvSpPr>
          <p:cNvPr id="14" name="TextBox 13"/>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15" name="Oval 14"/>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3b</a:t>
            </a:r>
          </a:p>
        </p:txBody>
      </p:sp>
      <p:sp>
        <p:nvSpPr>
          <p:cNvPr id="16" name="TextBox 15"/>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17" name="Oval 16"/>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8" name="TextBox 17"/>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2" name="TextBox 21"/>
          <p:cNvSpPr txBox="1"/>
          <p:nvPr/>
        </p:nvSpPr>
        <p:spPr>
          <a:xfrm>
            <a:off x="11475720" y="6583680"/>
            <a:ext cx="502920" cy="292608"/>
          </a:xfrm>
          <a:prstGeom prst="rect">
            <a:avLst/>
          </a:prstGeom>
          <a:noFill/>
        </p:spPr>
        <p:txBody>
          <a:bodyPr wrap="none" lIns="0" rIns="0" tIns="0" bIns="0">
            <a:spAutoFit/>
          </a:bodyPr>
          <a:lstStyle/>
          <a:p>
            <a:pPr algn="r"/>
            <a:fld id="{D92316FE-AD83-5987-BDF5-E5C35205586B}" type="slidenum">
              <a:rPr lang="en-US" sz="1200" dirty="0">
                <a:solidFill>
                  <a:srgbClr val="555B66"/>
                </a:solidFill>
                <a:latin typeface="Calibri"/>
              </a:rPr>
              <a:t>57</a:t>
            </a:fld>
          </a:p>
        </p:txBody>
      </p:sp>
    </p:spTree>
  </p:cSld>
  <p:clrMapOvr>
    <a:masterClrMapping/>
  </p:clrMapOvr>
</p:sld>
</file>

<file path=ppt/tags/pe24_tag7.xml><?xml version="1.0" encoding="utf-8"?>
<p:tagLst xmlns:a="http://schemas.openxmlformats.org/drawingml/2006/main" xmlns:r="http://schemas.openxmlformats.org/officeDocument/2006/relationships" xmlns:p="http://schemas.openxmlformats.org/presentationml/2006/main">
  <p:tag name="__PE_POLL_EMBED_ID" val="18e6fcfd-d35d-4aad-adb6-3ccc2d988d8f"/>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