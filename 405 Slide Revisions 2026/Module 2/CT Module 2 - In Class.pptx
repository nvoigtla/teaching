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omments/modernComment_137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57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1C616F-91FD-64E5-85C1-1E64E268B33E}" name="CLEMENCE TRICAUD" initials="CT" userId="S-1-5-21-1914341619-2963887621-4192079504-392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ctricaud\Dropbox\Teaching%20405%20GEM%20Folder\%23%23%20Revised%20Slides%202026\CT_working_directory\PizzaDemand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/>
          <a:lstStyle/>
          <a:p>
            <a:pPr>
              <a:defRPr sz="1300" b="0" u="none" strike="noStrike">
                <a:uFillTx/>
                <a:latin typeface="Arial"/>
              </a:defRPr>
            </a:pPr>
            <a:r>
              <a:rPr lang="en-US" sz="1800" b="1" u="none" strike="noStrike">
                <a:solidFill>
                  <a:srgbClr val="000000"/>
                </a:solidFill>
                <a:uFillTx/>
                <a:latin typeface="Calibri"/>
              </a:rPr>
              <a:t>Pizza Demand Curve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Demand</c:v>
          </c:tx>
          <c:spPr>
            <a:ln w="12600">
              <a:solidFill>
                <a:srgbClr val="0B2B4E"/>
              </a:solidFill>
              <a:round/>
            </a:ln>
          </c:spPr>
          <c:marker>
            <c:symbol val="circle"/>
            <c:size val="5"/>
            <c:spPr>
              <a:solidFill>
                <a:srgbClr val="0B2B4E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60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xVal>
            <c:numRef>
              <c:f>'Pizza Demand'!$C$4:$C$10</c:f>
              <c:numCache>
                <c:formatCode>General</c:formatCode>
                <c:ptCount val="7"/>
                <c:pt idx="0">
                  <c:v>5</c:v>
                </c:pt>
                <c:pt idx="1">
                  <c:v>20</c:v>
                </c:pt>
                <c:pt idx="2">
                  <c:v>45</c:v>
                </c:pt>
                <c:pt idx="3">
                  <c:v>60</c:v>
                </c:pt>
                <c:pt idx="4">
                  <c:v>66</c:v>
                </c:pt>
                <c:pt idx="5">
                  <c:v>72</c:v>
                </c:pt>
                <c:pt idx="6">
                  <c:v>74</c:v>
                </c:pt>
              </c:numCache>
            </c:numRef>
          </c:xVal>
          <c:yVal>
            <c:numRef>
              <c:f>'Pizza Demand'!$A$4:$A$10</c:f>
              <c:numCache>
                <c:formatCode>\$#,##0</c:formatCode>
                <c:ptCount val="7"/>
                <c:pt idx="0">
                  <c:v>20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469-46CB-862D-E9497CA998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698283"/>
        <c:axId val="92393435"/>
      </c:scatterChart>
      <c:valAx>
        <c:axId val="29698283"/>
        <c:scaling>
          <c:orientation val="minMax"/>
        </c:scaling>
        <c:delete val="0"/>
        <c:axPos val="b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uFillTx/>
                    <a:latin typeface="Arial"/>
                  </a:defRPr>
                </a:pPr>
                <a:r>
                  <a:rPr 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Quantity (slices demanded)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en-US"/>
          </a:p>
        </c:txPr>
        <c:crossAx val="92393435"/>
        <c:crosses val="autoZero"/>
        <c:crossBetween val="midCat"/>
      </c:valAx>
      <c:valAx>
        <c:axId val="9239343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uFillTx/>
                    <a:latin typeface="Arial"/>
                  </a:defRPr>
                </a:pPr>
                <a:r>
                  <a:rPr 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Price ($)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\$#,##0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en-US"/>
          </a:p>
        </c:txPr>
        <c:crossAx val="29698283"/>
        <c:crosses val="autoZero"/>
        <c:crossBetween val="midCat"/>
      </c:valAx>
      <c:spPr>
        <a:solidFill>
          <a:srgbClr val="FFFFFF"/>
        </a:solidFill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2">
    <c:autoUpdate val="0"/>
  </c:externalData>
</c:chartSpace>
</file>

<file path=ppt/comments/modernComment_13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90A2DC-7091-4A78-9DCD-39E004B3AB3B}" authorId="{491C616F-91FD-64E5-85C1-1E64E268B33E}" created="2026-06-24T02:52:26.4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1"/>
      <ac:spMk id="4" creationId="{00000000-0000-0000-0000-000000000000}"/>
      <ac:txMk cp="0" len="33">
        <ac:context len="34" hash="121477588"/>
      </ac:txMk>
    </ac:txMkLst>
    <p188:pos x="5385075" y="708042"/>
    <p188:txBody>
      <a:bodyPr/>
      <a:lstStyle/>
      <a:p>
        <a:r>
          <a:rPr lang="en-US"/>
          <a:t>Example I give on how to prepare for the midterm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5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7_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91640"/>
            <a:ext cx="1164031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0B2B4E"/>
                </a:solidFill>
                <a:latin typeface="Calibri"/>
              </a:rPr>
              <a:t>Demand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880360"/>
            <a:ext cx="116403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E09F3E"/>
                </a:solidFill>
                <a:latin typeface="Calibri"/>
              </a:rPr>
              <a:t>The Law of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270248" y="3703320"/>
            <a:ext cx="3657600" cy="54864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4069080"/>
            <a:ext cx="1164031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 dirty="0">
                <a:solidFill>
                  <a:srgbClr val="555B66"/>
                </a:solidFill>
                <a:latin typeface="Calibri"/>
              </a:rPr>
              <a:t>Management 405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09160"/>
            <a:ext cx="11640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0" i="0">
                <a:solidFill>
                  <a:srgbClr val="555B66"/>
                </a:solidFill>
                <a:latin typeface="Calibri"/>
              </a:rPr>
              <a:t>Prof. Clemence Tricaud  ·  UCLA Anderson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Course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Agenda for the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858768" y="2606040"/>
            <a:ext cx="2240280" cy="731520"/>
          </a:xfrm>
          <a:prstGeom prst="line">
            <a:avLst/>
          </a:prstGeom>
          <a:ln w="28575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9048" y="2606040"/>
            <a:ext cx="2240279" cy="731520"/>
          </a:xfrm>
          <a:prstGeom prst="line">
            <a:avLst/>
          </a:prstGeom>
          <a:ln w="25400">
            <a:solidFill>
              <a:srgbClr val="B0B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58768" y="4114800"/>
            <a:ext cx="2240280" cy="914400"/>
          </a:xfrm>
          <a:prstGeom prst="line">
            <a:avLst/>
          </a:prstGeom>
          <a:ln w="25400">
            <a:solidFill>
              <a:srgbClr val="B0B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99048" y="4114800"/>
            <a:ext cx="2240279" cy="914400"/>
          </a:xfrm>
          <a:prstGeom prst="line">
            <a:avLst/>
          </a:prstGeom>
          <a:ln w="25400">
            <a:solidFill>
              <a:srgbClr val="B0B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67128" y="1828800"/>
            <a:ext cx="7863840" cy="777240"/>
          </a:xfrm>
          <a:prstGeom prst="roundRect">
            <a:avLst>
              <a:gd name="adj" fmla="val 10000"/>
            </a:avLst>
          </a:prstGeom>
          <a:solidFill>
            <a:srgbClr val="B0B5B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1.  Basic Principles and Economic Way of Thinking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5648" y="3337560"/>
            <a:ext cx="4206240" cy="777240"/>
          </a:xfrm>
          <a:prstGeom prst="roundRect">
            <a:avLst>
              <a:gd name="adj" fmla="val 10000"/>
            </a:avLst>
          </a:prstGeom>
          <a:solidFill>
            <a:srgbClr val="0B2B4E"/>
          </a:solidFill>
          <a:ln w="12700">
            <a:solidFill>
              <a:srgbClr val="000000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2.  Value and 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337560"/>
            <a:ext cx="4206240" cy="777240"/>
          </a:xfrm>
          <a:prstGeom prst="roundRect">
            <a:avLst>
              <a:gd name="adj" fmla="val 10000"/>
            </a:avLst>
          </a:prstGeom>
          <a:solidFill>
            <a:srgbClr val="B0B5B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3.  Supply and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67128" y="5029200"/>
            <a:ext cx="7863840" cy="777240"/>
          </a:xfrm>
          <a:prstGeom prst="roundRect">
            <a:avLst>
              <a:gd name="adj" fmla="val 10000"/>
            </a:avLst>
          </a:prstGeom>
          <a:solidFill>
            <a:srgbClr val="B0B5B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4.  Markets, Pricing, and Strategy</a:t>
            </a:r>
          </a:p>
        </p:txBody>
      </p:sp>
      <p:sp>
        <p:nvSpPr>
          <p:cNvPr id="19" name="Up Arrow 18"/>
          <p:cNvSpPr/>
          <p:nvPr/>
        </p:nvSpPr>
        <p:spPr>
          <a:xfrm>
            <a:off x="2468880" y="4114800"/>
            <a:ext cx="457200" cy="438912"/>
          </a:xfrm>
          <a:prstGeom prst="upArrow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62686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09F3E"/>
                </a:solidFill>
                <a:latin typeface="Calibri"/>
              </a:rPr>
              <a:t>we are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178308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0B2B4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7335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2B4E"/>
                </a:solidFill>
                <a:latin typeface="Calibri"/>
              </a:rPr>
              <a:t>The Law of Demand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555B66"/>
                </a:solidFill>
                <a:latin typeface="Calibri"/>
              </a:rPr>
              <a:t>When price falls, quantity demanded rises — holding all else constant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7063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2B4E"/>
                </a:solidFill>
                <a:latin typeface="Calibri"/>
              </a:rPr>
              <a:t>Elasticities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555B66"/>
                </a:solidFill>
                <a:latin typeface="Calibri"/>
              </a:rPr>
              <a:t>How responsive demand is to own price, income, and competitors' prices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977639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0B2B4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67911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2B4E"/>
                </a:solidFill>
                <a:latin typeface="Calibri"/>
              </a:rPr>
              <a:t>Demand and Revenue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555B66"/>
                </a:solidFill>
                <a:latin typeface="Calibri"/>
              </a:rPr>
              <a:t>How own-price elasticity drives total revenue, and how to find marginal revenue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507492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0B2B4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6519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2B4E"/>
                </a:solidFill>
                <a:latin typeface="Calibri"/>
              </a:rPr>
              <a:t>Demand Estimation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555B66"/>
                </a:solidFill>
                <a:latin typeface="Calibri"/>
              </a:rPr>
              <a:t>Measuring demand through market experiments and regression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655064"/>
            <a:ext cx="10561320" cy="914400"/>
          </a:xfrm>
          <a:prstGeom prst="roundRect">
            <a:avLst>
              <a:gd name="adj" fmla="val 14000"/>
            </a:avLst>
          </a:prstGeom>
          <a:solidFill>
            <a:srgbClr val="FDF6E6"/>
          </a:solidFill>
          <a:ln w="127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1560" y="1783080"/>
            <a:ext cx="530352" cy="530352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67335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2B4E"/>
                </a:solidFill>
                <a:latin typeface="Calibri"/>
              </a:rPr>
              <a:t>The Law of Demand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555B66"/>
                </a:solidFill>
                <a:latin typeface="Calibri"/>
              </a:rPr>
              <a:t>When price falls, quantity demanded rises — holding all else constant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88036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77063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B0B5BC"/>
                </a:solidFill>
                <a:latin typeface="Calibri"/>
              </a:rPr>
              <a:t>Elasticities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B0B5BC"/>
                </a:solidFill>
                <a:latin typeface="Calibri"/>
              </a:rPr>
              <a:t>How responsive demand is to own price, income, and competitors' prices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3977639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67911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B0B5BC"/>
                </a:solidFill>
                <a:latin typeface="Calibri"/>
              </a:rPr>
              <a:t>Demand and Revenue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B0B5BC"/>
                </a:solidFill>
                <a:latin typeface="Calibri"/>
              </a:rPr>
              <a:t>How own-price elasticity drives total revenue, and how to find marginal revenue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507492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96519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B0B5BC"/>
                </a:solidFill>
                <a:latin typeface="Calibri"/>
              </a:rPr>
              <a:t>Demand Estimation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B0B5BC"/>
                </a:solidFill>
                <a:latin typeface="Calibri"/>
              </a:rPr>
              <a:t>Measuring demand through market experiments and regression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The Law of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126480" cy="132588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The demand curve is downward sloping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As the price of a good falls, the quantity demanded rises — all else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B2B4E"/>
                </a:solidFill>
                <a:latin typeface="Calibri"/>
              </a:rPr>
              <a:t>As the price declines: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7360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600" b="0" i="0">
                <a:solidFill>
                  <a:srgbClr val="0B2B4E"/>
                </a:solidFill>
                <a:latin typeface="Calibri"/>
              </a:rPr>
              <a:t>1.   More customers are willing to buy the product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600" b="0" i="0">
                <a:solidFill>
                  <a:srgbClr val="0B2B4E"/>
                </a:solidFill>
                <a:latin typeface="Calibri"/>
              </a:rPr>
              <a:t>2.   Existing customers buy more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2" y="2130552"/>
            <a:ext cx="3602736" cy="331420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8586216" y="2569464"/>
            <a:ext cx="0" cy="2399809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86216" y="4969273"/>
            <a:ext cx="2944368" cy="0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17376" y="3032348"/>
            <a:ext cx="2456078" cy="1833747"/>
          </a:xfrm>
          <a:prstGeom prst="line">
            <a:avLst/>
          </a:prstGeom>
          <a:ln w="4064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227734" y="4536911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1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2240280"/>
            <a:ext cx="12801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B2B4E"/>
                </a:solidFill>
                <a:latin typeface="Calibri"/>
              </a:rPr>
              <a:t>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5014993"/>
            <a:ext cx="1463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1">
                <a:solidFill>
                  <a:srgbClr val="0B2B4E"/>
                </a:solidFill>
                <a:latin typeface="Calibri"/>
              </a:rPr>
              <a:t>Quantity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1. More Customers Buy the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pic>
        <p:nvPicPr>
          <p:cNvPr id="12" name="Picture 11" descr="image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67127"/>
            <a:ext cx="4663440" cy="3497579"/>
          </a:xfrm>
          <a:prstGeom prst="roundRect">
            <a:avLst>
              <a:gd name="adj" fmla="val 5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640080" y="1691640"/>
            <a:ext cx="6355080" cy="3520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2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How much would you pay for a slice of Gjelina pizza when you're hungry?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Your maximum willingness to pay is your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Marginal Personal Value (MPV)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 of the slice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9509760" y="5897880"/>
            <a:ext cx="2377440" cy="50292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 i="0">
                <a:solidFill>
                  <a:srgbClr val="0B2B4E"/>
                </a:solidFill>
                <a:latin typeface="Calibri"/>
              </a:rPr>
              <a:t>Poll break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Poll: What Would You Pay?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pic>
        <p:nvPicPr>
          <p:cNvPr id="11" name="Picture 10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40" y="1554480"/>
            <a:ext cx="6339840" cy="475488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pic>
        <p:nvPicPr>
          <p:cNvPr id="11" name="Picture 10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40" y="1554480"/>
            <a:ext cx="6339840" cy="475488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1. More Customers Buy the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4562791"/>
              </p:ext>
            </p:extLst>
          </p:nvPr>
        </p:nvGraphicFramePr>
        <p:xfrm>
          <a:off x="1865744" y="1431452"/>
          <a:ext cx="8192655" cy="464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The Law of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126480" cy="132588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The demand curve is downward sloping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As the price of a good falls, the quantity demanded rises — all else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B2B4E"/>
                </a:solidFill>
                <a:latin typeface="Calibri"/>
              </a:rPr>
              <a:t>As the price declines: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7360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600" b="0" i="0">
                <a:solidFill>
                  <a:srgbClr val="0B2B4E"/>
                </a:solidFill>
                <a:latin typeface="Calibri"/>
              </a:rPr>
              <a:t>1.   More customers are willing to buy the product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600" b="0" i="0">
                <a:solidFill>
                  <a:srgbClr val="0B2B4E"/>
                </a:solidFill>
                <a:latin typeface="Calibri"/>
              </a:rPr>
              <a:t>2.   Existing customers buy more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2" y="2130552"/>
            <a:ext cx="3602736" cy="331420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8586216" y="2569464"/>
            <a:ext cx="0" cy="2399809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86216" y="4969273"/>
            <a:ext cx="2944368" cy="0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17376" y="3032348"/>
            <a:ext cx="2456078" cy="1833747"/>
          </a:xfrm>
          <a:prstGeom prst="line">
            <a:avLst/>
          </a:prstGeom>
          <a:ln w="4064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227734" y="4536911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1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2240280"/>
            <a:ext cx="12801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B2B4E"/>
                </a:solidFill>
                <a:latin typeface="Calibri"/>
              </a:rPr>
              <a:t>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5014993"/>
            <a:ext cx="1463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1">
                <a:solidFill>
                  <a:srgbClr val="0B2B4E"/>
                </a:solidFill>
                <a:latin typeface="Calibri"/>
              </a:rPr>
              <a:t>Quantity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2. Existing Customers Buy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pic>
        <p:nvPicPr>
          <p:cNvPr id="12" name="Picture 11" descr="image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286000"/>
            <a:ext cx="3840480" cy="2880359"/>
          </a:xfrm>
          <a:prstGeom prst="roundRect">
            <a:avLst>
              <a:gd name="adj" fmla="val 5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640080" y="1783080"/>
            <a:ext cx="704088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How much for a slice of Gjelina pizza when you're hungry?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What about a second slice?</a:t>
            </a:r>
          </a:p>
          <a:p>
            <a:pPr marL="566928" indent="-237744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100" b="0" i="0">
                <a:solidFill>
                  <a:srgbClr val="555B66"/>
                </a:solidFill>
                <a:latin typeface="Calibri"/>
              </a:rPr>
              <a:t>A third?</a:t>
            </a:r>
          </a:p>
          <a:p>
            <a:pPr marL="566928" indent="-237744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100" b="0" i="0">
                <a:solidFill>
                  <a:srgbClr val="555B66"/>
                </a:solidFill>
                <a:latin typeface="Calibri"/>
              </a:rPr>
              <a:t>A fourth?</a:t>
            </a:r>
          </a:p>
          <a:p>
            <a:pPr marL="566928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100" b="0" i="0">
                <a:solidFill>
                  <a:srgbClr val="555B66"/>
                </a:solidFill>
                <a:latin typeface="Calibri"/>
              </a:rPr>
              <a:t>A millionth?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1" i="0">
                <a:solidFill>
                  <a:srgbClr val="0B2B4E"/>
                </a:solidFill>
                <a:latin typeface="Calibri"/>
              </a:rPr>
              <a:t>… Diminishing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Marginal Personal Value (MPV)</a:t>
            </a:r>
            <a:r>
              <a:rPr sz="2400" b="1" i="0">
                <a:solidFill>
                  <a:srgbClr val="0B2B4E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Each Extra Slice Is Worth 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307592"/>
            <a:ext cx="6163056" cy="44988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162556" y="5897880"/>
            <a:ext cx="7863840" cy="502920"/>
          </a:xfrm>
          <a:prstGeom prst="roundRect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1">
                <a:solidFill>
                  <a:srgbClr val="0B2B4E"/>
                </a:solidFill>
                <a:latin typeface="Calibri"/>
              </a:rPr>
              <a:t>Marginal Personal Value falls with each additional unit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94176" y="1819655"/>
            <a:ext cx="0" cy="3310128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94176" y="5129783"/>
            <a:ext cx="5175504" cy="0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91256" y="5010912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B2B4E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4332732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B2B4E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256" y="3654551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B2B4E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2976372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B2B4E"/>
                </a:solidFill>
                <a:latin typeface="Calibr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1256" y="2298192"/>
            <a:ext cx="43891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B2B4E"/>
                </a:solidFill>
                <a:latin typeface="Calibr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9016" y="5175503"/>
            <a:ext cx="457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0B2B4E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2456" y="5175503"/>
            <a:ext cx="457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5175503"/>
            <a:ext cx="457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0B2B4E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336" y="5175503"/>
            <a:ext cx="457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0B2B4E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2776" y="5175503"/>
            <a:ext cx="457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0B2B4E"/>
                </a:solidFill>
                <a:latin typeface="Calibr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55033" y="2417064"/>
            <a:ext cx="785164" cy="2712719"/>
          </a:xfrm>
          <a:prstGeom prst="rect">
            <a:avLst/>
          </a:prstGeom>
          <a:solidFill>
            <a:srgbClr val="E09F3E"/>
          </a:solidFill>
          <a:ln w="1778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6448" y="2106168"/>
            <a:ext cx="402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B4E"/>
                </a:solidFill>
                <a:latin typeface="Calibri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8704" y="3572255"/>
            <a:ext cx="87782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MPV for</a:t>
            </a:r>
          </a:p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1st slice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8473" y="3095244"/>
            <a:ext cx="785164" cy="2034539"/>
          </a:xfrm>
          <a:prstGeom prst="rect">
            <a:avLst/>
          </a:prstGeom>
          <a:solidFill>
            <a:srgbClr val="E09F3E"/>
          </a:solidFill>
          <a:ln w="1778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99888" y="2784348"/>
            <a:ext cx="402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B4E"/>
                </a:solidFill>
                <a:latin typeface="Calibri"/>
              </a:rPr>
              <a:t>p2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2143" y="3911346"/>
            <a:ext cx="87782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MPV for</a:t>
            </a:r>
          </a:p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2nd slice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1913" y="3773423"/>
            <a:ext cx="785164" cy="1356360"/>
          </a:xfrm>
          <a:prstGeom prst="rect">
            <a:avLst/>
          </a:prstGeom>
          <a:solidFill>
            <a:srgbClr val="E09F3E"/>
          </a:solidFill>
          <a:ln w="1778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53328" y="3462527"/>
            <a:ext cx="402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B4E"/>
                </a:solidFill>
                <a:latin typeface="Calibri"/>
              </a:rPr>
              <a:t>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3" y="4250436"/>
            <a:ext cx="87782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i="0" dirty="0">
                <a:solidFill>
                  <a:srgbClr val="0B2B4E"/>
                </a:solidFill>
                <a:latin typeface="Calibri"/>
              </a:rPr>
              <a:t>MPV for</a:t>
            </a:r>
          </a:p>
          <a:p>
            <a:pPr algn="ctr"/>
            <a:r>
              <a:rPr sz="1000" b="0" i="0" dirty="0">
                <a:solidFill>
                  <a:srgbClr val="0B2B4E"/>
                </a:solidFill>
                <a:latin typeface="Calibri"/>
              </a:rPr>
              <a:t>3rd slice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15353" y="4451604"/>
            <a:ext cx="785164" cy="678179"/>
          </a:xfrm>
          <a:prstGeom prst="rect">
            <a:avLst/>
          </a:prstGeom>
          <a:solidFill>
            <a:srgbClr val="E09F3E"/>
          </a:solidFill>
          <a:ln w="1778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06768" y="4140708"/>
            <a:ext cx="402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B4E"/>
                </a:solidFill>
                <a:latin typeface="Calibri"/>
              </a:rPr>
              <a:t>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9024" y="4589525"/>
            <a:ext cx="87782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MPV for</a:t>
            </a:r>
          </a:p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4th slice</a:t>
            </a:r>
          </a:p>
        </p:txBody>
      </p:sp>
      <p:sp>
        <p:nvSpPr>
          <p:cNvPr id="12" name="Freeform 11"/>
          <p:cNvSpPr/>
          <p:nvPr/>
        </p:nvSpPr>
        <p:spPr>
          <a:xfrm>
            <a:off x="4155033" y="2417064"/>
            <a:ext cx="4198925" cy="2712719"/>
          </a:xfrm>
          <a:custGeom>
            <a:avLst/>
            <a:gdLst/>
            <a:ahLst/>
            <a:cxnLst/>
            <a:rect l="l" t="t" r="r" b="b"/>
            <a:pathLst>
              <a:path w="4198925" h="2712719">
                <a:moveTo>
                  <a:pt x="0" y="0"/>
                </a:moveTo>
                <a:lnTo>
                  <a:pt x="785165" y="0"/>
                </a:lnTo>
                <a:lnTo>
                  <a:pt x="785165" y="678180"/>
                </a:lnTo>
                <a:lnTo>
                  <a:pt x="1638605" y="678180"/>
                </a:lnTo>
                <a:lnTo>
                  <a:pt x="1638605" y="1356359"/>
                </a:lnTo>
                <a:lnTo>
                  <a:pt x="2492045" y="1356359"/>
                </a:lnTo>
                <a:lnTo>
                  <a:pt x="2492045" y="2034540"/>
                </a:lnTo>
                <a:lnTo>
                  <a:pt x="3345485" y="2034540"/>
                </a:lnTo>
                <a:lnTo>
                  <a:pt x="3345485" y="2712719"/>
                </a:lnTo>
                <a:lnTo>
                  <a:pt x="4198925" y="2712719"/>
                </a:lnTo>
              </a:path>
            </a:pathLst>
          </a:custGeom>
          <a:noFill/>
          <a:ln w="3048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58456" y="4716322"/>
            <a:ext cx="10058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MPV for</a:t>
            </a:r>
          </a:p>
          <a:p>
            <a:pPr algn="ctr"/>
            <a:r>
              <a:rPr sz="1000" b="0" i="0">
                <a:solidFill>
                  <a:srgbClr val="0B2B4E"/>
                </a:solidFill>
                <a:latin typeface="Calibri"/>
              </a:rPr>
              <a:t>5th slice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4928" y="1463039"/>
            <a:ext cx="1371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1" dirty="0">
                <a:solidFill>
                  <a:srgbClr val="0B2B4E"/>
                </a:solidFill>
                <a:latin typeface="Calibri"/>
              </a:rPr>
              <a:t>Price ($)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9336" y="5422645"/>
            <a:ext cx="21031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1" dirty="0">
                <a:solidFill>
                  <a:srgbClr val="0B2B4E"/>
                </a:solidFill>
                <a:latin typeface="Calibri"/>
              </a:rPr>
              <a:t>Quantity (slices)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Diminishing Marginal Personal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E09F3E"/>
                </a:solidFill>
                <a:latin typeface="Calibri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94560"/>
            <a:ext cx="56692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0B2B4E"/>
                </a:solidFill>
                <a:latin typeface="Calibri"/>
              </a:rPr>
              <a:t>I can understand wanting to have a million dollars… but once you get beyond that, I have to tell you, it’s the same hamburger.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21208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B2B4E"/>
                </a:solidFill>
                <a:latin typeface="Calibri"/>
              </a:rPr>
              <a:t>— Bill Gates</a:t>
            </a:r>
          </a:p>
        </p:txBody>
      </p:sp>
      <p:pic>
        <p:nvPicPr>
          <p:cNvPr id="14" name="Picture 13" descr="gat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77440"/>
            <a:ext cx="4297680" cy="3389027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Diminishing Marginal Personal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3777" y="691079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1" dirty="0">
                <a:solidFill>
                  <a:srgbClr val="0B2B4E"/>
                </a:solidFill>
                <a:latin typeface="Calibri"/>
              </a:rPr>
              <a:t>Life satisfaction vs. income across countries</a:t>
            </a:r>
          </a:p>
        </p:txBody>
      </p:sp>
      <p:pic>
        <p:nvPicPr>
          <p:cNvPr id="12" name="Picture 11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93" y="1281395"/>
            <a:ext cx="5467546" cy="5235590"/>
          </a:xfrm>
          <a:prstGeom prst="roundRect">
            <a:avLst>
              <a:gd name="adj" fmla="val 5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365760" y="6217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55B66"/>
                </a:solidFill>
                <a:latin typeface="Calibri"/>
              </a:rPr>
              <a:t>Source: Inglehart (2018)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Consumers Optimize Where MPV = MC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5029200" cy="10515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200" b="1" i="0" dirty="0">
                <a:solidFill>
                  <a:srgbClr val="E09F3E"/>
                </a:solidFill>
                <a:latin typeface="Calibri"/>
              </a:rPr>
              <a:t>Optimization rule (from </a:t>
            </a:r>
            <a:r>
              <a:rPr lang="fr-FR" sz="2200" b="1" i="0" dirty="0">
                <a:solidFill>
                  <a:srgbClr val="E09F3E"/>
                </a:solidFill>
                <a:latin typeface="Calibri"/>
              </a:rPr>
              <a:t>class 1</a:t>
            </a:r>
            <a:r>
              <a:rPr sz="2200" b="1" i="0" dirty="0">
                <a:solidFill>
                  <a:srgbClr val="E09F3E"/>
                </a:solidFill>
                <a:latin typeface="Calibri"/>
              </a:rPr>
              <a:t>)</a:t>
            </a:r>
          </a:p>
          <a:p>
            <a:pPr algn="ctr"/>
            <a:r>
              <a:rPr sz="3400" b="1" i="0" dirty="0">
                <a:solidFill>
                  <a:srgbClr val="FFFFFF"/>
                </a:solidFill>
                <a:latin typeface="Cambria Math"/>
              </a:rPr>
              <a:t>MB  =  MC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10360152" cy="146304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072384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Marginal benefit (MB) =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Marginal Personal Value (MPV)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Marginal cost (MC) = price of the good + opportunity cost (e.g., time)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17720"/>
            <a:ext cx="10360152" cy="86868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200" b="1" i="0">
                <a:solidFill>
                  <a:srgbClr val="0B2B4E"/>
                </a:solidFill>
                <a:latin typeface="Calibri"/>
              </a:rPr>
              <a:t>Choose Q where </a:t>
            </a:r>
            <a:r>
              <a:rPr sz="2200" b="1" i="0">
                <a:solidFill>
                  <a:srgbClr val="0B2B4E"/>
                </a:solidFill>
                <a:latin typeface="Cambria Math"/>
              </a:rPr>
              <a:t>MPV = MC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    ·    if MPV &gt; MC buy more    ·    if MPV &lt; MC buy less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The Optimal Quantity Sets MPV = MC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5782" y="1444752"/>
            <a:ext cx="7529954" cy="4928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2699830" y="2002536"/>
            <a:ext cx="0" cy="3803904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99830" y="5806440"/>
            <a:ext cx="6816722" cy="0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828627" y="2322666"/>
            <a:ext cx="6311067" cy="3040477"/>
          </a:xfrm>
          <a:custGeom>
            <a:avLst/>
            <a:gdLst/>
            <a:ahLst/>
            <a:cxnLst/>
            <a:rect l="l" t="t" r="r" b="b"/>
            <a:pathLst>
              <a:path w="6311067" h="3040477">
                <a:moveTo>
                  <a:pt x="0" y="0"/>
                </a:moveTo>
                <a:lnTo>
                  <a:pt x="157776" y="215439"/>
                </a:lnTo>
                <a:lnTo>
                  <a:pt x="315553" y="416594"/>
                </a:lnTo>
                <a:lnTo>
                  <a:pt x="473330" y="604413"/>
                </a:lnTo>
                <a:lnTo>
                  <a:pt x="631107" y="779779"/>
                </a:lnTo>
                <a:lnTo>
                  <a:pt x="788883" y="943518"/>
                </a:lnTo>
                <a:lnTo>
                  <a:pt x="946660" y="1096402"/>
                </a:lnTo>
                <a:lnTo>
                  <a:pt x="1104437" y="1239150"/>
                </a:lnTo>
                <a:lnTo>
                  <a:pt x="1262213" y="1372433"/>
                </a:lnTo>
                <a:lnTo>
                  <a:pt x="1419990" y="1496879"/>
                </a:lnTo>
                <a:lnTo>
                  <a:pt x="1577767" y="1613075"/>
                </a:lnTo>
                <a:lnTo>
                  <a:pt x="1735543" y="1721567"/>
                </a:lnTo>
                <a:lnTo>
                  <a:pt x="1893320" y="1822866"/>
                </a:lnTo>
                <a:lnTo>
                  <a:pt x="2051097" y="1917449"/>
                </a:lnTo>
                <a:lnTo>
                  <a:pt x="2208873" y="2005761"/>
                </a:lnTo>
                <a:lnTo>
                  <a:pt x="2366650" y="2088218"/>
                </a:lnTo>
                <a:lnTo>
                  <a:pt x="2524427" y="2165209"/>
                </a:lnTo>
                <a:lnTo>
                  <a:pt x="2682203" y="2237094"/>
                </a:lnTo>
                <a:lnTo>
                  <a:pt x="2839980" y="2304214"/>
                </a:lnTo>
                <a:lnTo>
                  <a:pt x="2997757" y="2366884"/>
                </a:lnTo>
                <a:lnTo>
                  <a:pt x="3155534" y="2425398"/>
                </a:lnTo>
                <a:lnTo>
                  <a:pt x="3313310" y="2480033"/>
                </a:lnTo>
                <a:lnTo>
                  <a:pt x="3471087" y="2531046"/>
                </a:lnTo>
                <a:lnTo>
                  <a:pt x="3628864" y="2578677"/>
                </a:lnTo>
                <a:lnTo>
                  <a:pt x="3786640" y="2623150"/>
                </a:lnTo>
                <a:lnTo>
                  <a:pt x="3944417" y="2664674"/>
                </a:lnTo>
                <a:lnTo>
                  <a:pt x="4102194" y="2703445"/>
                </a:lnTo>
                <a:lnTo>
                  <a:pt x="4259970" y="2739646"/>
                </a:lnTo>
                <a:lnTo>
                  <a:pt x="4417747" y="2773446"/>
                </a:lnTo>
                <a:lnTo>
                  <a:pt x="4575524" y="2805006"/>
                </a:lnTo>
                <a:lnTo>
                  <a:pt x="4733300" y="2834473"/>
                </a:lnTo>
                <a:lnTo>
                  <a:pt x="4891077" y="2861986"/>
                </a:lnTo>
                <a:lnTo>
                  <a:pt x="5048854" y="2887676"/>
                </a:lnTo>
                <a:lnTo>
                  <a:pt x="5206630" y="2911662"/>
                </a:lnTo>
                <a:lnTo>
                  <a:pt x="5364407" y="2934058"/>
                </a:lnTo>
                <a:lnTo>
                  <a:pt x="5522184" y="2954969"/>
                </a:lnTo>
                <a:lnTo>
                  <a:pt x="5679961" y="2974494"/>
                </a:lnTo>
                <a:lnTo>
                  <a:pt x="5837737" y="2992724"/>
                </a:lnTo>
                <a:lnTo>
                  <a:pt x="5995514" y="3009745"/>
                </a:lnTo>
                <a:lnTo>
                  <a:pt x="6153291" y="3025638"/>
                </a:lnTo>
                <a:lnTo>
                  <a:pt x="6311067" y="3040477"/>
                </a:lnTo>
              </a:path>
            </a:pathLst>
          </a:custGeom>
          <a:noFill/>
          <a:ln w="381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2828627" y="4556760"/>
            <a:ext cx="6311067" cy="841971"/>
          </a:xfrm>
          <a:prstGeom prst="line">
            <a:avLst/>
          </a:prstGeom>
          <a:ln w="38100">
            <a:solidFill>
              <a:srgbClr val="E09F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726566" y="4650402"/>
            <a:ext cx="0" cy="1156038"/>
          </a:xfrm>
          <a:prstGeom prst="line">
            <a:avLst/>
          </a:prstGeom>
          <a:ln w="20320">
            <a:solidFill>
              <a:srgbClr val="555B6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662558" y="4586394"/>
            <a:ext cx="128016" cy="128016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2558" y="5815861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1">
                <a:solidFill>
                  <a:srgbClr val="0B2B4E"/>
                </a:solidFill>
                <a:latin typeface="Calibri"/>
              </a:rPr>
              <a:t>Q*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2068" y="1609344"/>
            <a:ext cx="14630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1" dirty="0">
                <a:solidFill>
                  <a:srgbClr val="0B2B4E"/>
                </a:solidFill>
                <a:latin typeface="Calibri"/>
              </a:rPr>
              <a:t>$/movie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9527" y="5989321"/>
            <a:ext cx="21945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i="1" dirty="0">
                <a:solidFill>
                  <a:srgbClr val="0B2B4E"/>
                </a:solidFill>
                <a:latin typeface="Calibri"/>
              </a:rPr>
              <a:t>Movies per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2579" y="2278380"/>
            <a:ext cx="420624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2B4E"/>
                </a:solidFill>
                <a:latin typeface="Calibri"/>
              </a:rPr>
              <a:t>MPV diminishes as more and more</a:t>
            </a:r>
          </a:p>
          <a:p>
            <a:pPr algn="l"/>
            <a:r>
              <a:rPr sz="1400" b="0" i="0">
                <a:solidFill>
                  <a:srgbClr val="0B2B4E"/>
                </a:solidFill>
                <a:latin typeface="Calibri"/>
              </a:rPr>
              <a:t>movies have been watched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0586" y="3434334"/>
            <a:ext cx="438912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2B4E"/>
                </a:solidFill>
                <a:latin typeface="Calibri"/>
              </a:rPr>
              <a:t>MPV is the demand curve</a:t>
            </a:r>
          </a:p>
          <a:p>
            <a:pPr algn="l"/>
            <a:r>
              <a:rPr sz="1400" b="0" i="1">
                <a:solidFill>
                  <a:srgbClr val="0B2B4E"/>
                </a:solidFill>
                <a:latin typeface="Calibri"/>
              </a:rPr>
              <a:t>(strictly, the “inverse” demand curve)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552" y="4277868"/>
            <a:ext cx="36576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09F3E"/>
                </a:solidFill>
                <a:latin typeface="Calibri"/>
              </a:rPr>
              <a:t>MC (incl. opportunity cost)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Market Demand Sums Individual Demands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3597" y="1444752"/>
            <a:ext cx="7894325" cy="492861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2791965" y="2157984"/>
            <a:ext cx="0" cy="3648456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91965" y="5806440"/>
            <a:ext cx="6906773" cy="0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9045" y="2914122"/>
            <a:ext cx="43891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B2B4E"/>
                </a:solidFill>
                <a:latin typeface="Calibri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9045" y="3605197"/>
            <a:ext cx="43891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B2B4E"/>
                </a:solidFill>
                <a:latin typeface="Calibri"/>
              </a:rP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9045" y="4296273"/>
            <a:ext cx="43891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B2B4E"/>
                </a:solidFill>
                <a:latin typeface="Calibri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9045" y="4987348"/>
            <a:ext cx="43891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B2B4E"/>
                </a:solidFill>
                <a:latin typeface="Calibri"/>
              </a:rPr>
              <a:t>p4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9513" y="3042138"/>
            <a:ext cx="1015098" cy="0"/>
          </a:xfrm>
          <a:prstGeom prst="line">
            <a:avLst/>
          </a:prstGeom>
          <a:ln w="13970">
            <a:solidFill>
              <a:srgbClr val="9AA0A8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06984" y="277144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4533" y="277144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07062" y="3733213"/>
            <a:ext cx="2030195" cy="0"/>
          </a:xfrm>
          <a:prstGeom prst="line">
            <a:avLst/>
          </a:prstGeom>
          <a:ln w="13970">
            <a:solidFill>
              <a:srgbClr val="9AA0A8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68307" y="346251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3405" y="346251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14611" y="4424289"/>
            <a:ext cx="3045293" cy="0"/>
          </a:xfrm>
          <a:prstGeom prst="line">
            <a:avLst/>
          </a:prstGeom>
          <a:ln w="13970">
            <a:solidFill>
              <a:srgbClr val="9AA0A8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29630" y="4153591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277" y="4153591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22160" y="5115364"/>
            <a:ext cx="4060390" cy="0"/>
          </a:xfrm>
          <a:prstGeom prst="line">
            <a:avLst/>
          </a:prstGeom>
          <a:ln w="13970">
            <a:solidFill>
              <a:srgbClr val="9AA0A8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90953" y="484466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1149" y="484466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30" name="Freeform 29"/>
          <p:cNvSpPr/>
          <p:nvPr/>
        </p:nvSpPr>
        <p:spPr>
          <a:xfrm>
            <a:off x="3299513" y="3042138"/>
            <a:ext cx="1522647" cy="2073226"/>
          </a:xfrm>
          <a:custGeom>
            <a:avLst/>
            <a:gdLst/>
            <a:ahLst/>
            <a:cxnLst/>
            <a:rect l="l" t="t" r="r" b="b"/>
            <a:pathLst>
              <a:path w="1522647" h="2073226">
                <a:moveTo>
                  <a:pt x="0" y="0"/>
                </a:moveTo>
                <a:lnTo>
                  <a:pt x="507549" y="691075"/>
                </a:lnTo>
                <a:lnTo>
                  <a:pt x="1015098" y="1382151"/>
                </a:lnTo>
                <a:lnTo>
                  <a:pt x="1522647" y="2073226"/>
                </a:lnTo>
              </a:path>
            </a:pathLst>
          </a:custGeom>
          <a:noFill/>
          <a:ln w="3302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26361" y="2968986"/>
            <a:ext cx="146304" cy="146304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733910" y="3660061"/>
            <a:ext cx="146304" cy="146304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241459" y="4351137"/>
            <a:ext cx="146304" cy="146304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749008" y="5042212"/>
            <a:ext cx="146304" cy="146304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3807062" y="3042138"/>
            <a:ext cx="3045293" cy="2073226"/>
          </a:xfrm>
          <a:custGeom>
            <a:avLst/>
            <a:gdLst/>
            <a:ahLst/>
            <a:cxnLst/>
            <a:rect l="l" t="t" r="r" b="b"/>
            <a:pathLst>
              <a:path w="3045293" h="2073226">
                <a:moveTo>
                  <a:pt x="0" y="0"/>
                </a:moveTo>
                <a:lnTo>
                  <a:pt x="1015098" y="691075"/>
                </a:lnTo>
                <a:lnTo>
                  <a:pt x="2030195" y="1382151"/>
                </a:lnTo>
                <a:lnTo>
                  <a:pt x="3045293" y="2073226"/>
                </a:lnTo>
              </a:path>
            </a:pathLst>
          </a:custGeom>
          <a:noFill/>
          <a:ln w="3302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sosceles Triangle 35"/>
          <p:cNvSpPr/>
          <p:nvPr/>
        </p:nvSpPr>
        <p:spPr>
          <a:xfrm>
            <a:off x="3733910" y="2968986"/>
            <a:ext cx="146304" cy="146304"/>
          </a:xfrm>
          <a:prstGeom prst="triangl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sosceles Triangle 36"/>
          <p:cNvSpPr/>
          <p:nvPr/>
        </p:nvSpPr>
        <p:spPr>
          <a:xfrm>
            <a:off x="4749008" y="3660061"/>
            <a:ext cx="146304" cy="146304"/>
          </a:xfrm>
          <a:prstGeom prst="triangl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sosceles Triangle 37"/>
          <p:cNvSpPr/>
          <p:nvPr/>
        </p:nvSpPr>
        <p:spPr>
          <a:xfrm>
            <a:off x="5764105" y="4351137"/>
            <a:ext cx="146304" cy="146304"/>
          </a:xfrm>
          <a:prstGeom prst="triangl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sosceles Triangle 38"/>
          <p:cNvSpPr/>
          <p:nvPr/>
        </p:nvSpPr>
        <p:spPr>
          <a:xfrm>
            <a:off x="6779203" y="5042212"/>
            <a:ext cx="146304" cy="146304"/>
          </a:xfrm>
          <a:prstGeom prst="triangl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4314611" y="3042138"/>
            <a:ext cx="4567939" cy="2073226"/>
          </a:xfrm>
          <a:custGeom>
            <a:avLst/>
            <a:gdLst/>
            <a:ahLst/>
            <a:cxnLst/>
            <a:rect l="l" t="t" r="r" b="b"/>
            <a:pathLst>
              <a:path w="4567939" h="2073226">
                <a:moveTo>
                  <a:pt x="0" y="0"/>
                </a:moveTo>
                <a:lnTo>
                  <a:pt x="1522646" y="691075"/>
                </a:lnTo>
                <a:lnTo>
                  <a:pt x="3045293" y="1382151"/>
                </a:lnTo>
                <a:lnTo>
                  <a:pt x="4567939" y="2073226"/>
                </a:lnTo>
              </a:path>
            </a:pathLst>
          </a:custGeom>
          <a:noFill/>
          <a:ln w="3302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41459" y="2968986"/>
            <a:ext cx="146304" cy="14630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64105" y="3660061"/>
            <a:ext cx="146304" cy="14630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286752" y="4351137"/>
            <a:ext cx="146304" cy="14630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809398" y="5042212"/>
            <a:ext cx="146304" cy="14630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24688" y="2221024"/>
            <a:ext cx="105151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2B4E"/>
                </a:solidFill>
                <a:latin typeface="Calibri"/>
              </a:rPr>
              <a:t>Consumer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7368" y="2221024"/>
            <a:ext cx="204581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2B4E"/>
                </a:solidFill>
                <a:latin typeface="Calibri"/>
              </a:rPr>
              <a:t>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83117" y="2221024"/>
            <a:ext cx="105151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09F3E"/>
                </a:solidFill>
                <a:latin typeface="Calibri"/>
              </a:rPr>
              <a:t>Consumer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5798" y="2221024"/>
            <a:ext cx="204581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1547" y="2221024"/>
            <a:ext cx="1379331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  <a:latin typeface="Calibri"/>
              </a:rPr>
              <a:t>Market demand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08501" y="1725329"/>
            <a:ext cx="14630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1" dirty="0">
                <a:solidFill>
                  <a:srgbClr val="0B2B4E"/>
                </a:solidFill>
                <a:latin typeface="Calibri"/>
              </a:rPr>
              <a:t>Price ($)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8" y="6108192"/>
            <a:ext cx="16459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i="1" dirty="0">
                <a:solidFill>
                  <a:srgbClr val="0B2B4E"/>
                </a:solidFill>
                <a:latin typeface="Calibri"/>
              </a:rPr>
              <a:t>Quantity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296137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021817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803355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529035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310573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036253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817790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543470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4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325008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50688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32226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557906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6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339443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065123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846661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572341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8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53879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79559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9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861096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586776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10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368314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093994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11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875532" y="5760720"/>
            <a:ext cx="0" cy="91440"/>
          </a:xfrm>
          <a:prstGeom prst="line">
            <a:avLst/>
          </a:prstGeom>
          <a:ln w="952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601212" y="5852160"/>
            <a:ext cx="548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>
                <a:solidFill>
                  <a:srgbClr val="0B2B4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What Shifts the Demand Curve?  Factors Affecting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83080"/>
            <a:ext cx="5394960" cy="429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Income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Prices of related goods</a:t>
            </a:r>
          </a:p>
          <a:p>
            <a:pPr marL="566928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500" b="0" i="0">
                <a:solidFill>
                  <a:srgbClr val="555B66"/>
                </a:solidFill>
                <a:latin typeface="Calibri"/>
              </a:rPr>
              <a:t>Complements versus substitutes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Price expectations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Population size and composition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Network effects</a:t>
            </a:r>
          </a:p>
          <a:p>
            <a:pPr marL="566928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500" b="0" i="0">
                <a:solidFill>
                  <a:srgbClr val="555B66"/>
                </a:solidFill>
                <a:latin typeface="Calibri"/>
              </a:rPr>
              <a:t>Snob and bandwagon effects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0637" y="2404872"/>
            <a:ext cx="3675364" cy="35112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7982973" y="2871216"/>
            <a:ext cx="0" cy="2551176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82973" y="5422392"/>
            <a:ext cx="3035284" cy="0"/>
          </a:xfrm>
          <a:prstGeom prst="line">
            <a:avLst/>
          </a:prstGeom>
          <a:ln w="2286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61798" y="3310512"/>
            <a:ext cx="2622769" cy="1977079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47294" y="3332978"/>
            <a:ext cx="1937273" cy="1460343"/>
          </a:xfrm>
          <a:prstGeom prst="line">
            <a:avLst/>
          </a:prstGeom>
          <a:ln w="25400">
            <a:solidFill>
              <a:srgbClr val="0B2B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61798" y="3804781"/>
            <a:ext cx="1907469" cy="1437876"/>
          </a:xfrm>
          <a:prstGeom prst="line">
            <a:avLst/>
          </a:prstGeom>
          <a:ln w="25400">
            <a:solidFill>
              <a:srgbClr val="0B2B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3574" y="4174235"/>
            <a:ext cx="387455" cy="0"/>
          </a:xfrm>
          <a:prstGeom prst="line">
            <a:avLst/>
          </a:prstGeom>
          <a:ln w="33020">
            <a:solidFill>
              <a:srgbClr val="E09F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473183" y="4673498"/>
            <a:ext cx="387454" cy="0"/>
          </a:xfrm>
          <a:prstGeom prst="line">
            <a:avLst/>
          </a:prstGeom>
          <a:ln w="33020">
            <a:solidFill>
              <a:srgbClr val="E09F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38847" y="4976695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1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565" y="2587489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1" dirty="0">
                <a:solidFill>
                  <a:srgbClr val="0B2B4E"/>
                </a:solidFill>
                <a:latin typeface="Calibri"/>
              </a:rPr>
              <a:t>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1793" y="5468112"/>
            <a:ext cx="1371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1" i="1">
                <a:solidFill>
                  <a:srgbClr val="0B2B4E"/>
                </a:solidFill>
                <a:latin typeface="Calibri"/>
              </a:rPr>
              <a:t>Quantity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9462" y="3650010"/>
            <a:ext cx="155448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E09F3E"/>
                </a:solidFill>
                <a:latin typeface="Calibri"/>
              </a:rPr>
              <a:t>demand</a:t>
            </a:r>
          </a:p>
          <a:p>
            <a:pPr algn="ctr"/>
            <a:r>
              <a:rPr sz="1300" b="1" i="1">
                <a:solidFill>
                  <a:srgbClr val="E09F3E"/>
                </a:solidFill>
                <a:latin typeface="Calibri"/>
              </a:rPr>
              <a:t>rises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0623" y="4798314"/>
            <a:ext cx="155448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E09F3E"/>
                </a:solidFill>
                <a:latin typeface="Calibri"/>
              </a:rPr>
              <a:t>demand</a:t>
            </a:r>
          </a:p>
          <a:p>
            <a:pPr algn="ctr"/>
            <a:r>
              <a:rPr sz="1300" b="1" i="1">
                <a:solidFill>
                  <a:srgbClr val="E09F3E"/>
                </a:solidFill>
                <a:latin typeface="Calibri"/>
              </a:rPr>
              <a:t>falls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The Snob Effect in the News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20</a:t>
            </a:r>
          </a:p>
        </p:txBody>
      </p:sp>
      <p:pic>
        <p:nvPicPr>
          <p:cNvPr id="11" name="Picture 10" descr="image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7" y="1874519"/>
            <a:ext cx="4873705" cy="2743200"/>
          </a:xfrm>
          <a:prstGeom prst="roundRect">
            <a:avLst>
              <a:gd name="adj" fmla="val 5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pic>
        <p:nvPicPr>
          <p:cNvPr id="12" name="Picture 11" descr="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54880"/>
            <a:ext cx="5120640" cy="916424"/>
          </a:xfrm>
          <a:prstGeom prst="rect">
            <a:avLst/>
          </a:prstGeom>
          <a:effectLst/>
        </p:spPr>
      </p:pic>
      <p:pic>
        <p:nvPicPr>
          <p:cNvPr id="13" name="Picture 12" descr="image2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216" y="1874519"/>
            <a:ext cx="4120686" cy="2743200"/>
          </a:xfrm>
          <a:prstGeom prst="roundRect">
            <a:avLst>
              <a:gd name="adj" fmla="val 5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pic>
        <p:nvPicPr>
          <p:cNvPr id="14" name="Picture 13" descr="image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587" y="4754880"/>
            <a:ext cx="4563945" cy="11887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The Law of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What Shifts the Demand Curve?  Factors Affecting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96926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Income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Prices of related goods</a:t>
            </a:r>
          </a:p>
          <a:p>
            <a:pPr marL="566928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555B66"/>
                </a:solidFill>
                <a:latin typeface="Calibri"/>
              </a:rPr>
              <a:t>Complements versus substitutes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Price expectations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Population size and composition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Network effects</a:t>
            </a:r>
          </a:p>
          <a:p>
            <a:pPr marL="566928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555B66"/>
                </a:solidFill>
                <a:latin typeface="Calibri"/>
              </a:rPr>
              <a:t>Snob and bandwagon effects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Product, advertising, placement </a:t>
            </a:r>
            <a:r>
              <a:rPr sz="2400" b="0" i="1">
                <a:solidFill>
                  <a:srgbClr val="555B66"/>
                </a:solidFill>
                <a:latin typeface="Calibri"/>
              </a:rPr>
              <a:t>(within the firm’s control)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3048" y="5806440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/>
            <a:r>
              <a:rPr sz="2000" b="1" i="1">
                <a:solidFill>
                  <a:srgbClr val="0B2B4E"/>
                </a:solidFill>
                <a:latin typeface="Calibri"/>
              </a:rPr>
              <a:t>Anything else?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Outline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Outline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val 10"/>
          <p:cNvSpPr/>
          <p:nvPr/>
        </p:nvSpPr>
        <p:spPr>
          <a:xfrm>
            <a:off x="1051560" y="1691640"/>
            <a:ext cx="524160" cy="52416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1874520" y="1581840"/>
            <a:ext cx="9320760" cy="90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500" b="1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The Law of Demand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2000" b="0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When price falls, quantity demanded rises — holding all else constant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2"/>
          <p:cNvSpPr/>
          <p:nvPr/>
        </p:nvSpPr>
        <p:spPr>
          <a:xfrm>
            <a:off x="868680" y="2624400"/>
            <a:ext cx="10555200" cy="908280"/>
          </a:xfrm>
          <a:prstGeom prst="roundRect">
            <a:avLst>
              <a:gd name="adj" fmla="val 14000"/>
            </a:avLst>
          </a:prstGeom>
          <a:solidFill>
            <a:srgbClr val="FDF6E6"/>
          </a:solidFill>
          <a:ln w="1270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Oval 13"/>
          <p:cNvSpPr/>
          <p:nvPr/>
        </p:nvSpPr>
        <p:spPr>
          <a:xfrm>
            <a:off x="1051560" y="2752200"/>
            <a:ext cx="524160" cy="52416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1874520" y="2642760"/>
            <a:ext cx="9320760" cy="90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5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Elasticities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20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How responsive demand is to own price, income, and competitors' prices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15"/>
          <p:cNvSpPr/>
          <p:nvPr/>
        </p:nvSpPr>
        <p:spPr>
          <a:xfrm>
            <a:off x="1051560" y="3813120"/>
            <a:ext cx="524160" cy="52416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1874520" y="3703320"/>
            <a:ext cx="9320760" cy="90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500" b="1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Demand and Revenue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2000" b="0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How own-price elasticity drives total revenue, and how to find marginal revenue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val 17"/>
          <p:cNvSpPr/>
          <p:nvPr/>
        </p:nvSpPr>
        <p:spPr>
          <a:xfrm>
            <a:off x="1051560" y="4873680"/>
            <a:ext cx="524160" cy="52416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1874520" y="4763880"/>
            <a:ext cx="9320760" cy="90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500" b="1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Demand Estimation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2000" b="0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Measuring demand through market experiments and regression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9"/>
          <p:cNvSpPr/>
          <p:nvPr/>
        </p:nvSpPr>
        <p:spPr>
          <a:xfrm>
            <a:off x="3657600" y="5943600"/>
            <a:ext cx="4867560" cy="542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Problem Set 2  ·  #1, #2, #3, #5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Elasticity to Study the Effects of Price Changes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731520" y="1783080"/>
            <a:ext cx="5205960" cy="29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55960" defTabSz="457200">
              <a:lnSpc>
                <a:spcPct val="100000"/>
              </a:lnSpc>
              <a:spcAft>
                <a:spcPts val="1599"/>
              </a:spcAft>
              <a:buClr>
                <a:srgbClr val="0B2B4E"/>
              </a:buClr>
              <a:buFont typeface="Arial"/>
              <a:buChar char="▪"/>
            </a:pP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Netflix frequently raises its monthly subscription price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55960" defTabSz="457200">
              <a:lnSpc>
                <a:spcPct val="100000"/>
              </a:lnSpc>
              <a:spcAft>
                <a:spcPts val="799"/>
              </a:spcAft>
              <a:buClr>
                <a:srgbClr val="0B2B4E"/>
              </a:buClr>
              <a:buFont typeface="Arial"/>
              <a:buChar char="▪"/>
            </a:pP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What are the implications of price increases for: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4360" indent="-255960" defTabSz="457200">
              <a:lnSpc>
                <a:spcPct val="100000"/>
              </a:lnSpc>
              <a:spcAft>
                <a:spcPts val="499"/>
              </a:spcAft>
              <a:buClr>
                <a:srgbClr val="555B66"/>
              </a:buClr>
              <a:buFont typeface="Arial"/>
              <a:buChar char="–"/>
            </a:pPr>
            <a:r>
              <a:rPr lang="en-US" sz="24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Number of subscriptions?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4360" indent="-255960" defTabSz="457200">
              <a:lnSpc>
                <a:spcPct val="100000"/>
              </a:lnSpc>
              <a:spcAft>
                <a:spcPts val="400"/>
              </a:spcAft>
              <a:buClr>
                <a:srgbClr val="555B66"/>
              </a:buClr>
              <a:buFont typeface="Arial"/>
              <a:buChar char="–"/>
            </a:pPr>
            <a:r>
              <a:rPr lang="en-US" sz="24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Revenues?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1"/>
          <p:cNvSpPr/>
          <p:nvPr/>
        </p:nvSpPr>
        <p:spPr>
          <a:xfrm>
            <a:off x="731520" y="5074920"/>
            <a:ext cx="4840200" cy="725400"/>
          </a:xfrm>
          <a:prstGeom prst="roundRect">
            <a:avLst>
              <a:gd name="adj" fmla="val 16000"/>
            </a:avLst>
          </a:prstGeom>
          <a:solidFill>
            <a:srgbClr val="E09F3E"/>
          </a:solidFill>
          <a:ln>
            <a:noFill/>
          </a:ln>
          <a:effectLst>
            <a:outerShdw blurRad="50760" dist="37674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Key concept:  Elasticity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2"/>
          <p:cNvSpPr/>
          <p:nvPr/>
        </p:nvSpPr>
        <p:spPr>
          <a:xfrm>
            <a:off x="6263640" y="1691640"/>
            <a:ext cx="5434560" cy="429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outerShdw blurRad="50760" dist="37674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6446520" y="1801440"/>
            <a:ext cx="506880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2200" b="1" u="none" strike="noStrike">
                <a:solidFill>
                  <a:srgbClr val="E50914"/>
                </a:solidFill>
                <a:effectLst/>
                <a:uFillTx/>
                <a:latin typeface="Calibri"/>
              </a:rPr>
              <a:t>N E T F L I 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Standard plan — U.S. monthly price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Connector 14"/>
          <p:cNvCxnSpPr/>
          <p:nvPr/>
        </p:nvCxnSpPr>
        <p:spPr>
          <a:xfrm flipV="1">
            <a:off x="6830280" y="2514600"/>
            <a:ext cx="6120" cy="3023640"/>
          </a:xfrm>
          <a:prstGeom prst="straightConnector1">
            <a:avLst/>
          </a:prstGeom>
          <a:ln w="2032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101" name="Connector 15"/>
          <p:cNvCxnSpPr/>
          <p:nvPr/>
        </p:nvCxnSpPr>
        <p:spPr>
          <a:xfrm>
            <a:off x="6830280" y="5532120"/>
            <a:ext cx="4697280" cy="6120"/>
          </a:xfrm>
          <a:prstGeom prst="straightConnector1">
            <a:avLst/>
          </a:prstGeom>
          <a:ln w="2032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102" name="TextBox 16"/>
          <p:cNvSpPr/>
          <p:nvPr/>
        </p:nvSpPr>
        <p:spPr>
          <a:xfrm>
            <a:off x="6327720" y="4956120"/>
            <a:ext cx="451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$8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6327720" y="4041720"/>
            <a:ext cx="451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$12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6327720" y="3127320"/>
            <a:ext cx="451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$16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6464880" y="5586840"/>
            <a:ext cx="72540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2010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7626240" y="5586840"/>
            <a:ext cx="72540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2014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8787240" y="5586840"/>
            <a:ext cx="72540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2018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9948600" y="5586840"/>
            <a:ext cx="72540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2022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3"/>
          <p:cNvSpPr/>
          <p:nvPr/>
        </p:nvSpPr>
        <p:spPr>
          <a:xfrm>
            <a:off x="10819800" y="5586840"/>
            <a:ext cx="72540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2025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Freeform 24"/>
          <p:cNvSpPr/>
          <p:nvPr/>
        </p:nvSpPr>
        <p:spPr>
          <a:xfrm>
            <a:off x="6830640" y="2791080"/>
            <a:ext cx="4638960" cy="2279880"/>
          </a:xfrm>
          <a:custGeom>
            <a:avLst/>
            <a:gdLst>
              <a:gd name="textAreaLeft" fmla="*/ 0 w 4638960"/>
              <a:gd name="textAreaRight" fmla="*/ 4645080 w 4638960"/>
              <a:gd name="textAreaTop" fmla="*/ 0 h 2279880"/>
              <a:gd name="textAreaBottom" fmla="*/ 2286000 h 2279880"/>
            </a:gdLst>
            <a:ahLst/>
            <a:cxnLst/>
            <a:rect l="textAreaLeft" t="textAreaTop" r="textAreaRight" b="textAreaBottom"/>
            <a:pathLst>
              <a:path w="4645152" h="2286000">
                <a:moveTo>
                  <a:pt x="0" y="2286000"/>
                </a:moveTo>
                <a:lnTo>
                  <a:pt x="1161288" y="2286000"/>
                </a:lnTo>
                <a:lnTo>
                  <a:pt x="1161288" y="2057400"/>
                </a:lnTo>
                <a:lnTo>
                  <a:pt x="1451609" y="2057400"/>
                </a:lnTo>
                <a:lnTo>
                  <a:pt x="1451609" y="1828799"/>
                </a:lnTo>
                <a:lnTo>
                  <a:pt x="2032254" y="1828799"/>
                </a:lnTo>
                <a:lnTo>
                  <a:pt x="2032254" y="1600200"/>
                </a:lnTo>
                <a:lnTo>
                  <a:pt x="2612898" y="1600200"/>
                </a:lnTo>
                <a:lnTo>
                  <a:pt x="2612898" y="1143000"/>
                </a:lnTo>
                <a:lnTo>
                  <a:pt x="2903220" y="1143000"/>
                </a:lnTo>
                <a:lnTo>
                  <a:pt x="2903220" y="914399"/>
                </a:lnTo>
                <a:lnTo>
                  <a:pt x="3483864" y="914399"/>
                </a:lnTo>
                <a:lnTo>
                  <a:pt x="3483864" y="571500"/>
                </a:lnTo>
                <a:lnTo>
                  <a:pt x="4354830" y="571500"/>
                </a:lnTo>
                <a:lnTo>
                  <a:pt x="4354830" y="0"/>
                </a:lnTo>
                <a:lnTo>
                  <a:pt x="4645152" y="0"/>
                </a:lnTo>
              </a:path>
            </a:pathLst>
          </a:custGeom>
          <a:noFill/>
          <a:ln w="35560">
            <a:solidFill>
              <a:srgbClr val="0B2B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25"/>
          <p:cNvSpPr/>
          <p:nvPr/>
        </p:nvSpPr>
        <p:spPr>
          <a:xfrm>
            <a:off x="6775560" y="502236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Oval 26"/>
          <p:cNvSpPr/>
          <p:nvPr/>
        </p:nvSpPr>
        <p:spPr>
          <a:xfrm>
            <a:off x="7936920" y="479376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Oval 27"/>
          <p:cNvSpPr/>
          <p:nvPr/>
        </p:nvSpPr>
        <p:spPr>
          <a:xfrm>
            <a:off x="8227440" y="456516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Oval 28"/>
          <p:cNvSpPr/>
          <p:nvPr/>
        </p:nvSpPr>
        <p:spPr>
          <a:xfrm>
            <a:off x="8808120" y="433656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Oval 29"/>
          <p:cNvSpPr/>
          <p:nvPr/>
        </p:nvSpPr>
        <p:spPr>
          <a:xfrm>
            <a:off x="9388440" y="387936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30"/>
          <p:cNvSpPr/>
          <p:nvPr/>
        </p:nvSpPr>
        <p:spPr>
          <a:xfrm>
            <a:off x="9678960" y="365076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Oval 31"/>
          <p:cNvSpPr/>
          <p:nvPr/>
        </p:nvSpPr>
        <p:spPr>
          <a:xfrm>
            <a:off x="10259640" y="330768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Oval 32"/>
          <p:cNvSpPr/>
          <p:nvPr/>
        </p:nvSpPr>
        <p:spPr>
          <a:xfrm>
            <a:off x="11130480" y="2736360"/>
            <a:ext cx="103680" cy="103680"/>
          </a:xfrm>
          <a:prstGeom prst="ellipse">
            <a:avLst/>
          </a:prstGeom>
          <a:solidFill>
            <a:srgbClr val="0B2B4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1840" tIns="32760" rIns="5184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Oval 33"/>
          <p:cNvSpPr/>
          <p:nvPr/>
        </p:nvSpPr>
        <p:spPr>
          <a:xfrm>
            <a:off x="7909560" y="4766400"/>
            <a:ext cx="158400" cy="15840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200" tIns="45000" rIns="792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20" name="Connector 34"/>
          <p:cNvCxnSpPr/>
          <p:nvPr/>
        </p:nvCxnSpPr>
        <p:spPr>
          <a:xfrm>
            <a:off x="7803000" y="4457520"/>
            <a:ext cx="180360" cy="326160"/>
          </a:xfrm>
          <a:prstGeom prst="straightConnector1">
            <a:avLst/>
          </a:prstGeom>
          <a:ln w="0">
            <a:solidFill>
              <a:srgbClr val="E09F3E"/>
            </a:solidFill>
            <a:tailEnd type="triangle" w="med" len="med"/>
          </a:ln>
        </p:spPr>
      </p:cxnSp>
      <p:sp>
        <p:nvSpPr>
          <p:cNvPr id="121" name="TextBox 35"/>
          <p:cNvSpPr/>
          <p:nvPr/>
        </p:nvSpPr>
        <p:spPr>
          <a:xfrm>
            <a:off x="6975720" y="3794760"/>
            <a:ext cx="237132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i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+$1 in 2014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i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($7.99 → $8.99)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What Is the Elasticity of Demand?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0"/>
          <p:cNvSpPr/>
          <p:nvPr/>
        </p:nvSpPr>
        <p:spPr>
          <a:xfrm>
            <a:off x="3992760" y="1463040"/>
            <a:ext cx="4620600" cy="136548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1188720" y="3154680"/>
            <a:ext cx="10784160" cy="301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9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Definition: A measure of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responsiveness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, or sensitivity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901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5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How quantity demanded (Q) changes with respect to another variable (X)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9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Characteristic: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Unit 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6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How to talk about elasticity: A % change in quantity demanded (Q) due to a 1% change in another variable (X)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5467320" y="1882080"/>
            <a:ext cx="2257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5737320" y="1882080"/>
            <a:ext cx="229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" name="Connector 15"/>
          <p:cNvCxnSpPr/>
          <p:nvPr/>
        </p:nvCxnSpPr>
        <p:spPr>
          <a:xfrm>
            <a:off x="6010920" y="2148840"/>
            <a:ext cx="711720" cy="612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136" name="TextBox 16"/>
          <p:cNvSpPr/>
          <p:nvPr/>
        </p:nvSpPr>
        <p:spPr>
          <a:xfrm>
            <a:off x="6041520" y="1710000"/>
            <a:ext cx="68436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7"/>
          <p:cNvSpPr/>
          <p:nvPr/>
        </p:nvSpPr>
        <p:spPr>
          <a:xfrm>
            <a:off x="6066720" y="2129040"/>
            <a:ext cx="6336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%ΔX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Oval 18"/>
          <p:cNvSpPr/>
          <p:nvPr/>
        </p:nvSpPr>
        <p:spPr>
          <a:xfrm>
            <a:off x="5989320" y="1691640"/>
            <a:ext cx="451080" cy="451080"/>
          </a:xfrm>
          <a:prstGeom prst="ellipse">
            <a:avLst/>
          </a:prstGeom>
          <a:noFill/>
          <a:ln w="28575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720840" y="1499760"/>
            <a:ext cx="178272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percentage change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20"/>
          <p:cNvCxnSpPr/>
          <p:nvPr/>
        </p:nvCxnSpPr>
        <p:spPr>
          <a:xfrm flipH="1">
            <a:off x="6355080" y="1663920"/>
            <a:ext cx="256320" cy="42480"/>
          </a:xfrm>
          <a:prstGeom prst="straightConnector1">
            <a:avLst/>
          </a:prstGeom>
          <a:ln w="15875">
            <a:solidFill>
              <a:srgbClr val="E09F3E"/>
            </a:solidFill>
            <a:round/>
            <a:tailEnd type="triangle" w="sm" len="sm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Three Types of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0"/>
          <p:cNvSpPr/>
          <p:nvPr/>
        </p:nvSpPr>
        <p:spPr>
          <a:xfrm>
            <a:off x="640080" y="2697480"/>
            <a:ext cx="3377160" cy="908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Own-price elasticity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2"/>
          <p:cNvSpPr/>
          <p:nvPr/>
        </p:nvSpPr>
        <p:spPr>
          <a:xfrm>
            <a:off x="8174880" y="2697480"/>
            <a:ext cx="3377160" cy="908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Cross-price elasticity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4"/>
          <p:cNvSpPr/>
          <p:nvPr/>
        </p:nvSpPr>
        <p:spPr>
          <a:xfrm>
            <a:off x="4407480" y="2697480"/>
            <a:ext cx="3377160" cy="908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Income elasticity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52"/>
          <p:cNvSpPr/>
          <p:nvPr/>
        </p:nvSpPr>
        <p:spPr>
          <a:xfrm>
            <a:off x="1400760" y="4073040"/>
            <a:ext cx="49824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5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53"/>
          <p:cNvSpPr/>
          <p:nvPr/>
        </p:nvSpPr>
        <p:spPr>
          <a:xfrm>
            <a:off x="1941480" y="4073040"/>
            <a:ext cx="30780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54"/>
          <p:cNvSpPr/>
          <p:nvPr/>
        </p:nvSpPr>
        <p:spPr>
          <a:xfrm>
            <a:off x="2373840" y="384156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55"/>
          <p:cNvSpPr/>
          <p:nvPr/>
        </p:nvSpPr>
        <p:spPr>
          <a:xfrm>
            <a:off x="2373840" y="446220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7" name="Connector 156"/>
          <p:cNvCxnSpPr/>
          <p:nvPr/>
        </p:nvCxnSpPr>
        <p:spPr>
          <a:xfrm>
            <a:off x="2309400" y="4434840"/>
            <a:ext cx="958680" cy="576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158" name="TextBox 157"/>
          <p:cNvSpPr/>
          <p:nvPr/>
        </p:nvSpPr>
        <p:spPr>
          <a:xfrm>
            <a:off x="8772480" y="4073040"/>
            <a:ext cx="67896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5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X,Y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58"/>
          <p:cNvSpPr/>
          <p:nvPr/>
        </p:nvSpPr>
        <p:spPr>
          <a:xfrm>
            <a:off x="9494280" y="4073040"/>
            <a:ext cx="30780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59"/>
          <p:cNvSpPr/>
          <p:nvPr/>
        </p:nvSpPr>
        <p:spPr>
          <a:xfrm>
            <a:off x="9926640" y="3841560"/>
            <a:ext cx="96408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r>
              <a:rPr lang="en-US" sz="22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60"/>
          <p:cNvSpPr/>
          <p:nvPr/>
        </p:nvSpPr>
        <p:spPr>
          <a:xfrm>
            <a:off x="9926640" y="4462200"/>
            <a:ext cx="96408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r>
              <a:rPr lang="en-US" sz="22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Connector 161"/>
          <p:cNvCxnSpPr/>
          <p:nvPr/>
        </p:nvCxnSpPr>
        <p:spPr>
          <a:xfrm>
            <a:off x="9862200" y="4434840"/>
            <a:ext cx="1103760" cy="576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163" name="TextBox 162"/>
          <p:cNvSpPr/>
          <p:nvPr/>
        </p:nvSpPr>
        <p:spPr>
          <a:xfrm>
            <a:off x="5225760" y="4073040"/>
            <a:ext cx="38304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5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I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63"/>
          <p:cNvSpPr/>
          <p:nvPr/>
        </p:nvSpPr>
        <p:spPr>
          <a:xfrm>
            <a:off x="5650920" y="4073040"/>
            <a:ext cx="30780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64"/>
          <p:cNvSpPr/>
          <p:nvPr/>
        </p:nvSpPr>
        <p:spPr>
          <a:xfrm>
            <a:off x="6083280" y="384156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65"/>
          <p:cNvSpPr/>
          <p:nvPr/>
        </p:nvSpPr>
        <p:spPr>
          <a:xfrm>
            <a:off x="6083280" y="446220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%ΔI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" name="Connector 166"/>
          <p:cNvCxnSpPr/>
          <p:nvPr/>
        </p:nvCxnSpPr>
        <p:spPr>
          <a:xfrm>
            <a:off x="6019200" y="4434840"/>
            <a:ext cx="958680" cy="576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Own-Price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Own-Price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0"/>
          <p:cNvSpPr/>
          <p:nvPr/>
        </p:nvSpPr>
        <p:spPr>
          <a:xfrm>
            <a:off x="3992760" y="2011680"/>
            <a:ext cx="4200120" cy="136548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2"/>
          <p:cNvSpPr/>
          <p:nvPr/>
        </p:nvSpPr>
        <p:spPr>
          <a:xfrm>
            <a:off x="1188720" y="3703320"/>
            <a:ext cx="10784160" cy="301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10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 change in quantity demanded divided by % change in price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0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Intuition: How sensitive demand is to the good's own price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6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Sign of E</a:t>
            </a:r>
            <a:r>
              <a:rPr lang="en-US" sz="19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: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Negative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3"/>
          <p:cNvSpPr/>
          <p:nvPr/>
        </p:nvSpPr>
        <p:spPr>
          <a:xfrm>
            <a:off x="5400720" y="2430720"/>
            <a:ext cx="35928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977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4"/>
          <p:cNvSpPr/>
          <p:nvPr/>
        </p:nvSpPr>
        <p:spPr>
          <a:xfrm>
            <a:off x="5804280" y="2430720"/>
            <a:ext cx="229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15"/>
          <p:cNvCxnSpPr/>
          <p:nvPr/>
        </p:nvCxnSpPr>
        <p:spPr>
          <a:xfrm>
            <a:off x="6077520" y="2697480"/>
            <a:ext cx="711720" cy="612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182" name="TextBox 16"/>
          <p:cNvSpPr/>
          <p:nvPr/>
        </p:nvSpPr>
        <p:spPr>
          <a:xfrm>
            <a:off x="6108120" y="2258640"/>
            <a:ext cx="68436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7"/>
          <p:cNvSpPr/>
          <p:nvPr/>
        </p:nvSpPr>
        <p:spPr>
          <a:xfrm>
            <a:off x="6134040" y="2677680"/>
            <a:ext cx="63288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98" descr="water.png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0" y="-640080"/>
            <a:ext cx="12183840" cy="812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Own-Price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Example: Demand Elasticity for Water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0"/>
          <p:cNvSpPr/>
          <p:nvPr/>
        </p:nvSpPr>
        <p:spPr>
          <a:xfrm>
            <a:off x="1188720" y="1828800"/>
            <a:ext cx="10784520" cy="273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2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Consulting company estimated: price elasticity of demand for water in L.A. is </a:t>
            </a: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−0.4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2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LADWP wants to reduce quantity demanded by 10%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2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How much should it raise the price?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1"/>
          <p:cNvSpPr/>
          <p:nvPr/>
        </p:nvSpPr>
        <p:spPr>
          <a:xfrm>
            <a:off x="5072400" y="4963680"/>
            <a:ext cx="521280" cy="76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3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86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2"/>
          <p:cNvSpPr/>
          <p:nvPr/>
        </p:nvSpPr>
        <p:spPr>
          <a:xfrm>
            <a:off x="5657400" y="4963680"/>
            <a:ext cx="332640" cy="76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3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7" name="Connector 13"/>
          <p:cNvCxnSpPr/>
          <p:nvPr/>
        </p:nvCxnSpPr>
        <p:spPr>
          <a:xfrm>
            <a:off x="6053400" y="5350320"/>
            <a:ext cx="1032120" cy="864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198" name="TextBox 14"/>
          <p:cNvSpPr/>
          <p:nvPr/>
        </p:nvSpPr>
        <p:spPr>
          <a:xfrm>
            <a:off x="6098040" y="4714200"/>
            <a:ext cx="992520" cy="65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74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5"/>
          <p:cNvSpPr/>
          <p:nvPr/>
        </p:nvSpPr>
        <p:spPr>
          <a:xfrm>
            <a:off x="6135840" y="5321880"/>
            <a:ext cx="918000" cy="65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74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Own-Price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Solution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0"/>
          <p:cNvSpPr/>
          <p:nvPr/>
        </p:nvSpPr>
        <p:spPr>
          <a:xfrm>
            <a:off x="1280160" y="1554480"/>
            <a:ext cx="9595080" cy="12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6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Elasticity = −0.4; target quantity reduction = −10%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2"/>
          <p:cNvSpPr/>
          <p:nvPr/>
        </p:nvSpPr>
        <p:spPr>
          <a:xfrm>
            <a:off x="2103120" y="5623560"/>
            <a:ext cx="7977240" cy="653040"/>
          </a:xfrm>
          <a:prstGeom prst="roundRect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Raise the price 25% to cut water use by 10%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09"/>
          <p:cNvSpPr/>
          <p:nvPr/>
        </p:nvSpPr>
        <p:spPr>
          <a:xfrm>
            <a:off x="5259240" y="2548800"/>
            <a:ext cx="3920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10"/>
          <p:cNvSpPr/>
          <p:nvPr/>
        </p:nvSpPr>
        <p:spPr>
          <a:xfrm>
            <a:off x="5747760" y="2548800"/>
            <a:ext cx="2394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11"/>
          <p:cNvSpPr/>
          <p:nvPr/>
        </p:nvSpPr>
        <p:spPr>
          <a:xfrm>
            <a:off x="6083640" y="2318400"/>
            <a:ext cx="84096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12"/>
          <p:cNvSpPr/>
          <p:nvPr/>
        </p:nvSpPr>
        <p:spPr>
          <a:xfrm>
            <a:off x="6083640" y="2853000"/>
            <a:ext cx="84096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5" name="Connector 213"/>
          <p:cNvCxnSpPr/>
          <p:nvPr/>
        </p:nvCxnSpPr>
        <p:spPr>
          <a:xfrm>
            <a:off x="6156720" y="2834640"/>
            <a:ext cx="704880" cy="504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216" name="TextBox 214"/>
          <p:cNvSpPr/>
          <p:nvPr/>
        </p:nvSpPr>
        <p:spPr>
          <a:xfrm>
            <a:off x="5048280" y="3600360"/>
            <a:ext cx="721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−0.4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15"/>
          <p:cNvSpPr/>
          <p:nvPr/>
        </p:nvSpPr>
        <p:spPr>
          <a:xfrm>
            <a:off x="5866560" y="3600360"/>
            <a:ext cx="2394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16"/>
          <p:cNvSpPr/>
          <p:nvPr/>
        </p:nvSpPr>
        <p:spPr>
          <a:xfrm>
            <a:off x="6202440" y="3369960"/>
            <a:ext cx="93312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−10%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17"/>
          <p:cNvSpPr/>
          <p:nvPr/>
        </p:nvSpPr>
        <p:spPr>
          <a:xfrm>
            <a:off x="6202440" y="3904560"/>
            <a:ext cx="93312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218"/>
          <p:cNvCxnSpPr/>
          <p:nvPr/>
        </p:nvCxnSpPr>
        <p:spPr>
          <a:xfrm>
            <a:off x="6275520" y="3886200"/>
            <a:ext cx="797040" cy="504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221" name="TextBox 219"/>
          <p:cNvSpPr/>
          <p:nvPr/>
        </p:nvSpPr>
        <p:spPr>
          <a:xfrm>
            <a:off x="4501440" y="4651920"/>
            <a:ext cx="7340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20"/>
          <p:cNvSpPr/>
          <p:nvPr/>
        </p:nvSpPr>
        <p:spPr>
          <a:xfrm>
            <a:off x="5332320" y="4651920"/>
            <a:ext cx="2394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21"/>
          <p:cNvSpPr/>
          <p:nvPr/>
        </p:nvSpPr>
        <p:spPr>
          <a:xfrm>
            <a:off x="5668200" y="4421520"/>
            <a:ext cx="93312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−10%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22"/>
          <p:cNvSpPr/>
          <p:nvPr/>
        </p:nvSpPr>
        <p:spPr>
          <a:xfrm>
            <a:off x="5668200" y="4956120"/>
            <a:ext cx="933120" cy="4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−0.4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Connector 223"/>
          <p:cNvCxnSpPr/>
          <p:nvPr/>
        </p:nvCxnSpPr>
        <p:spPr>
          <a:xfrm>
            <a:off x="5741280" y="4937760"/>
            <a:ext cx="797040" cy="504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226" name="TextBox 224"/>
          <p:cNvSpPr/>
          <p:nvPr/>
        </p:nvSpPr>
        <p:spPr>
          <a:xfrm>
            <a:off x="6752880" y="4651920"/>
            <a:ext cx="9842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 25%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Own-Price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Categories of Own-Price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10"/>
          <p:cNvSpPr/>
          <p:nvPr/>
        </p:nvSpPr>
        <p:spPr>
          <a:xfrm>
            <a:off x="3992760" y="1463040"/>
            <a:ext cx="4200120" cy="1274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ounded Rectangle 12"/>
          <p:cNvSpPr/>
          <p:nvPr/>
        </p:nvSpPr>
        <p:spPr>
          <a:xfrm>
            <a:off x="731520" y="3154680"/>
            <a:ext cx="3377160" cy="1568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0 &lt; </a:t>
            </a:r>
            <a:r>
              <a:rPr lang="en-US" sz="255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7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55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&lt; 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−1 &lt; E</a:t>
            </a:r>
            <a:r>
              <a:rPr lang="en-US" sz="17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&lt; 0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3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demand is </a:t>
            </a:r>
            <a:r>
              <a:rPr lang="en-US" sz="232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inelastic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13"/>
          <p:cNvSpPr/>
          <p:nvPr/>
        </p:nvSpPr>
        <p:spPr>
          <a:xfrm>
            <a:off x="4407480" y="3154680"/>
            <a:ext cx="3377160" cy="1568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55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7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55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&gt; 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7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&lt; −1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3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demand is </a:t>
            </a:r>
            <a:r>
              <a:rPr lang="en-US" sz="232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elastic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14"/>
          <p:cNvSpPr/>
          <p:nvPr/>
        </p:nvSpPr>
        <p:spPr>
          <a:xfrm>
            <a:off x="8083440" y="3154680"/>
            <a:ext cx="3377160" cy="1568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55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7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55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7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5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−1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3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demand is </a:t>
            </a:r>
            <a:r>
              <a:rPr lang="en-US" sz="232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unit elastic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5400720" y="1836360"/>
            <a:ext cx="35928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977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6"/>
          <p:cNvSpPr/>
          <p:nvPr/>
        </p:nvSpPr>
        <p:spPr>
          <a:xfrm>
            <a:off x="5804280" y="1836360"/>
            <a:ext cx="229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Connector 17"/>
          <p:cNvCxnSpPr/>
          <p:nvPr/>
        </p:nvCxnSpPr>
        <p:spPr>
          <a:xfrm>
            <a:off x="6077520" y="2103120"/>
            <a:ext cx="711720" cy="612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243" name="TextBox 18"/>
          <p:cNvSpPr/>
          <p:nvPr/>
        </p:nvSpPr>
        <p:spPr>
          <a:xfrm>
            <a:off x="6108120" y="1664280"/>
            <a:ext cx="68436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9"/>
          <p:cNvSpPr/>
          <p:nvPr/>
        </p:nvSpPr>
        <p:spPr>
          <a:xfrm>
            <a:off x="6134040" y="2083320"/>
            <a:ext cx="63288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44"/>
          <p:cNvSpPr/>
          <p:nvPr/>
        </p:nvSpPr>
        <p:spPr>
          <a:xfrm>
            <a:off x="1188000" y="2670120"/>
            <a:ext cx="2464560" cy="32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i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absolute value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Connector 245"/>
          <p:cNvCxnSpPr/>
          <p:nvPr/>
        </p:nvCxnSpPr>
        <p:spPr>
          <a:xfrm>
            <a:off x="2102040" y="3072240"/>
            <a:ext cx="214560" cy="351720"/>
          </a:xfrm>
          <a:prstGeom prst="straightConnector1">
            <a:avLst/>
          </a:prstGeom>
          <a:ln w="19050">
            <a:solidFill>
              <a:srgbClr val="E09F3E"/>
            </a:solidFill>
            <a:round/>
            <a:tailEnd type="triangle" w="sm" len="sm"/>
          </a:ln>
        </p:spPr>
      </p:cxnSp>
      <p:pic>
        <p:nvPicPr>
          <p:cNvPr id="247" name="Picture 246" descr="box_right.png"/>
          <p:cNvPicPr/>
          <p:nvPr/>
        </p:nvPicPr>
        <p:blipFill>
          <a:blip r:embed="rId2"/>
          <a:stretch/>
        </p:blipFill>
        <p:spPr>
          <a:xfrm>
            <a:off x="1890720" y="4846320"/>
            <a:ext cx="1061280" cy="14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Picture 247" descr="box_left.png"/>
          <p:cNvPicPr/>
          <p:nvPr/>
        </p:nvPicPr>
        <p:blipFill>
          <a:blip r:embed="rId3"/>
          <a:stretch/>
        </p:blipFill>
        <p:spPr>
          <a:xfrm>
            <a:off x="5492880" y="4846320"/>
            <a:ext cx="1208520" cy="1413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Own-Price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Example: Demand Elasticity for Yoga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0"/>
          <p:cNvSpPr/>
          <p:nvPr/>
        </p:nvSpPr>
        <p:spPr>
          <a:xfrm>
            <a:off x="731520" y="1874520"/>
            <a:ext cx="10694880" cy="200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CorePower Yoga cuts its price by 17%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number of booked lessons double as a result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What is the price elasticity of demand that the yoga studio faces?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arallelogram 13"/>
          <p:cNvSpPr/>
          <p:nvPr/>
        </p:nvSpPr>
        <p:spPr>
          <a:xfrm>
            <a:off x="9509760" y="5897880"/>
            <a:ext cx="2371320" cy="49680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 break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Picture 260" descr="yoga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977640"/>
            <a:ext cx="6762960" cy="2255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Poll: Elasticity for Yoga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Picture 26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80" y="1463040"/>
            <a:ext cx="6455520" cy="4840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 Results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Picture 27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80" y="1463040"/>
            <a:ext cx="6455520" cy="4840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Own-Price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Solution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1"/>
          <p:cNvSpPr/>
          <p:nvPr/>
        </p:nvSpPr>
        <p:spPr>
          <a:xfrm>
            <a:off x="1280160" y="3246120"/>
            <a:ext cx="9872280" cy="264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55960">
              <a:lnSpc>
                <a:spcPct val="100000"/>
              </a:lnSpc>
              <a:spcAft>
                <a:spcPts val="901"/>
              </a:spcAft>
              <a:buClr>
                <a:srgbClr val="0B2B4E"/>
              </a:buClr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Unit free  → not 6%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55960">
              <a:lnSpc>
                <a:spcPct val="100000"/>
              </a:lnSpc>
              <a:spcAft>
                <a:spcPts val="901"/>
              </a:spcAft>
              <a:buClr>
                <a:srgbClr val="0B2B4E"/>
              </a:buClr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Is demand for yoga lessons elastic or inelastic?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55960">
              <a:lnSpc>
                <a:spcPct val="100000"/>
              </a:lnSpc>
              <a:spcAft>
                <a:spcPts val="901"/>
              </a:spcAft>
              <a:buClr>
                <a:srgbClr val="0B2B4E"/>
              </a:buClr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Answer: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elastic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, since E</a:t>
            </a:r>
            <a:r>
              <a:rPr lang="en-US" sz="19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&lt; −1  (or </a:t>
            </a:r>
            <a:r>
              <a:rPr lang="en-US" sz="280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9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80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|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&gt; 1)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55960">
              <a:lnSpc>
                <a:spcPct val="100000"/>
              </a:lnSpc>
              <a:spcAft>
                <a:spcPts val="901"/>
              </a:spcAft>
              <a:buClr>
                <a:srgbClr val="0B2B4E"/>
              </a:buClr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As price falls, quantity rises by </a:t>
            </a:r>
            <a:r>
              <a:rPr lang="en-US" sz="28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MORE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than the price falls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2"/>
          <p:cNvSpPr/>
          <p:nvPr/>
        </p:nvSpPr>
        <p:spPr>
          <a:xfrm>
            <a:off x="4114440" y="2099160"/>
            <a:ext cx="35928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977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3"/>
          <p:cNvSpPr/>
          <p:nvPr/>
        </p:nvSpPr>
        <p:spPr>
          <a:xfrm>
            <a:off x="4518000" y="2099160"/>
            <a:ext cx="229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Connector 14"/>
          <p:cNvCxnSpPr/>
          <p:nvPr/>
        </p:nvCxnSpPr>
        <p:spPr>
          <a:xfrm>
            <a:off x="4791240" y="2365560"/>
            <a:ext cx="969840" cy="612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294" name="TextBox 15"/>
          <p:cNvSpPr/>
          <p:nvPr/>
        </p:nvSpPr>
        <p:spPr>
          <a:xfrm>
            <a:off x="4822200" y="1927080"/>
            <a:ext cx="9421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+100%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6"/>
          <p:cNvSpPr/>
          <p:nvPr/>
        </p:nvSpPr>
        <p:spPr>
          <a:xfrm>
            <a:off x="4905720" y="2346120"/>
            <a:ext cx="7747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−17%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7"/>
          <p:cNvSpPr/>
          <p:nvPr/>
        </p:nvSpPr>
        <p:spPr>
          <a:xfrm>
            <a:off x="5838840" y="2099160"/>
            <a:ext cx="229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8"/>
          <p:cNvSpPr/>
          <p:nvPr/>
        </p:nvSpPr>
        <p:spPr>
          <a:xfrm>
            <a:off x="6112440" y="2099160"/>
            <a:ext cx="196668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−5.88  (≈ −6)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Computing Elasticity — Method 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10"/>
          <p:cNvSpPr/>
          <p:nvPr/>
        </p:nvSpPr>
        <p:spPr>
          <a:xfrm>
            <a:off x="3281760" y="2788920"/>
            <a:ext cx="5623560" cy="299268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2"/>
          <p:cNvSpPr/>
          <p:nvPr/>
        </p:nvSpPr>
        <p:spPr>
          <a:xfrm>
            <a:off x="1097280" y="1371600"/>
            <a:ext cx="10604880" cy="218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10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When you have two price/quantity bundles (P</a:t>
            </a:r>
            <a:r>
              <a:rPr lang="en-US" sz="20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, Q</a:t>
            </a:r>
            <a:r>
              <a:rPr lang="en-US" sz="20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) and (P</a:t>
            </a:r>
            <a:r>
              <a:rPr lang="en-US" sz="20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, Q</a:t>
            </a:r>
            <a:r>
              <a:rPr lang="en-US" sz="20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0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This method approximates the percentage changes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13"/>
          <p:cNvSpPr/>
          <p:nvPr/>
        </p:nvSpPr>
        <p:spPr>
          <a:xfrm>
            <a:off x="4023360" y="5989320"/>
            <a:ext cx="4108680" cy="49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Problem Set 2  ·  #1, #3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09"/>
          <p:cNvSpPr/>
          <p:nvPr/>
        </p:nvSpPr>
        <p:spPr>
          <a:xfrm>
            <a:off x="3951720" y="3674880"/>
            <a:ext cx="505440" cy="63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4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63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310"/>
          <p:cNvSpPr/>
          <p:nvPr/>
        </p:nvSpPr>
        <p:spPr>
          <a:xfrm>
            <a:off x="4628520" y="3674880"/>
            <a:ext cx="299880" cy="63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4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311"/>
          <p:cNvSpPr/>
          <p:nvPr/>
        </p:nvSpPr>
        <p:spPr>
          <a:xfrm>
            <a:off x="5214600" y="3410640"/>
            <a:ext cx="800280" cy="52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7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12"/>
          <p:cNvSpPr/>
          <p:nvPr/>
        </p:nvSpPr>
        <p:spPr>
          <a:xfrm>
            <a:off x="5245920" y="4045320"/>
            <a:ext cx="737280" cy="52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7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Connector 313"/>
          <p:cNvCxnSpPr/>
          <p:nvPr/>
        </p:nvCxnSpPr>
        <p:spPr>
          <a:xfrm>
            <a:off x="5098320" y="3992040"/>
            <a:ext cx="952560" cy="252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315" name="TextBox 314"/>
          <p:cNvSpPr/>
          <p:nvPr/>
        </p:nvSpPr>
        <p:spPr>
          <a:xfrm>
            <a:off x="6301440" y="3674880"/>
            <a:ext cx="299880" cy="63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4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315"/>
          <p:cNvSpPr/>
          <p:nvPr/>
        </p:nvSpPr>
        <p:spPr>
          <a:xfrm>
            <a:off x="7003080" y="2903040"/>
            <a:ext cx="1083960" cy="46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r>
              <a:rPr lang="en-US" sz="195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− Q</a:t>
            </a:r>
            <a:r>
              <a:rPr lang="en-US" sz="195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316"/>
          <p:cNvSpPr/>
          <p:nvPr/>
        </p:nvSpPr>
        <p:spPr>
          <a:xfrm>
            <a:off x="7329960" y="3474360"/>
            <a:ext cx="430200" cy="46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r>
              <a:rPr lang="en-US" sz="195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8" name="Connector 317"/>
          <p:cNvCxnSpPr/>
          <p:nvPr/>
        </p:nvCxnSpPr>
        <p:spPr>
          <a:xfrm>
            <a:off x="6886800" y="3421080"/>
            <a:ext cx="1236240" cy="252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319" name="TextBox 318"/>
          <p:cNvSpPr/>
          <p:nvPr/>
        </p:nvSpPr>
        <p:spPr>
          <a:xfrm>
            <a:off x="7058520" y="4045320"/>
            <a:ext cx="973440" cy="46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r>
              <a:rPr lang="en-US" sz="195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− P</a:t>
            </a:r>
            <a:r>
              <a:rPr lang="en-US" sz="195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319"/>
          <p:cNvSpPr/>
          <p:nvPr/>
        </p:nvSpPr>
        <p:spPr>
          <a:xfrm>
            <a:off x="7358040" y="4615920"/>
            <a:ext cx="374760" cy="46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r>
              <a:rPr lang="en-US" sz="195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1" name="Connector 320"/>
          <p:cNvCxnSpPr/>
          <p:nvPr/>
        </p:nvCxnSpPr>
        <p:spPr>
          <a:xfrm>
            <a:off x="6942600" y="4563360"/>
            <a:ext cx="1125000" cy="252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cxnSp>
        <p:nvCxnSpPr>
          <p:cNvPr id="322" name="Connector 321"/>
          <p:cNvCxnSpPr/>
          <p:nvPr/>
        </p:nvCxnSpPr>
        <p:spPr>
          <a:xfrm>
            <a:off x="6771600" y="3992040"/>
            <a:ext cx="1467000" cy="252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323" name="TextBox 322"/>
          <p:cNvSpPr/>
          <p:nvPr/>
        </p:nvSpPr>
        <p:spPr>
          <a:xfrm>
            <a:off x="3556080" y="5214240"/>
            <a:ext cx="507492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Convention: </a:t>
            </a:r>
            <a:r>
              <a:rPr lang="en-US" sz="2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start from the initial point (P</a:t>
            </a:r>
            <a:r>
              <a:rPr lang="en-US" sz="16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r>
              <a:rPr lang="en-US" sz="2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, Q</a:t>
            </a:r>
            <a:r>
              <a:rPr lang="en-US" sz="16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r>
              <a:rPr lang="en-US" sz="2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336" descr="img16.png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0" y="0"/>
            <a:ext cx="1218924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Lottery Sales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0"/>
          <p:cNvSpPr/>
          <p:nvPr/>
        </p:nvSpPr>
        <p:spPr>
          <a:xfrm>
            <a:off x="1371600" y="1417320"/>
            <a:ext cx="9416160" cy="456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15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In 2024 the MA State Lottery raised ticket prices from $2 to $5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5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As a result, weekly ticket sales fell from 142,170 to 100,297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5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What is the implied price elasticity of demand (using $2 as the initial price)?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arallelogram 13"/>
          <p:cNvSpPr/>
          <p:nvPr/>
        </p:nvSpPr>
        <p:spPr>
          <a:xfrm>
            <a:off x="9509760" y="5897880"/>
            <a:ext cx="2371320" cy="49680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 break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Poll: Implied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Picture 3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80" y="1463040"/>
            <a:ext cx="6455520" cy="4840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 Results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Picture 10" descr="image19.png"/>
          <p:cNvPicPr/>
          <p:nvPr/>
        </p:nvPicPr>
        <p:blipFill>
          <a:blip r:embed="rId2"/>
          <a:stretch/>
        </p:blipFill>
        <p:spPr>
          <a:xfrm>
            <a:off x="2895480" y="1463040"/>
            <a:ext cx="6455520" cy="4840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Solution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364"/>
          <p:cNvSpPr/>
          <p:nvPr/>
        </p:nvSpPr>
        <p:spPr>
          <a:xfrm>
            <a:off x="914400" y="1463040"/>
            <a:ext cx="10358280" cy="86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2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Price:  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r>
              <a:rPr lang="en-US" sz="16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$2   →   P</a:t>
            </a:r>
            <a:r>
              <a:rPr lang="en-US" sz="16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$5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2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Quantity:  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r>
              <a:rPr lang="en-US" sz="16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142,170   →   Q</a:t>
            </a:r>
            <a:r>
              <a:rPr lang="en-US" sz="16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100,297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2739600" y="2688480"/>
            <a:ext cx="80532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367"/>
          <p:cNvSpPr/>
          <p:nvPr/>
        </p:nvSpPr>
        <p:spPr>
          <a:xfrm>
            <a:off x="3569040" y="268848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4036680" y="2506680"/>
            <a:ext cx="93024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r>
              <a:rPr lang="en-US" sz="15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− Q</a:t>
            </a:r>
            <a:r>
              <a:rPr lang="en-US" sz="15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369"/>
          <p:cNvSpPr/>
          <p:nvPr/>
        </p:nvSpPr>
        <p:spPr>
          <a:xfrm>
            <a:off x="4313160" y="3002760"/>
            <a:ext cx="37764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r>
              <a:rPr lang="en-US" sz="15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0" name="Connector 370"/>
          <p:cNvCxnSpPr/>
          <p:nvPr/>
        </p:nvCxnSpPr>
        <p:spPr>
          <a:xfrm>
            <a:off x="3926520" y="2953440"/>
            <a:ext cx="1066320" cy="2160"/>
          </a:xfrm>
          <a:prstGeom prst="straightConnector1">
            <a:avLst/>
          </a:prstGeom>
          <a:ln w="0">
            <a:solidFill>
              <a:srgbClr val="0B2B4E"/>
            </a:solidFill>
          </a:ln>
        </p:spPr>
      </p:cxnSp>
      <p:sp>
        <p:nvSpPr>
          <p:cNvPr id="371" name="TextBox 371"/>
          <p:cNvSpPr/>
          <p:nvPr/>
        </p:nvSpPr>
        <p:spPr>
          <a:xfrm>
            <a:off x="5166360" y="268848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372"/>
          <p:cNvSpPr/>
          <p:nvPr/>
        </p:nvSpPr>
        <p:spPr>
          <a:xfrm>
            <a:off x="5633640" y="2506680"/>
            <a:ext cx="215136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100,297 − 142,170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373"/>
          <p:cNvSpPr/>
          <p:nvPr/>
        </p:nvSpPr>
        <p:spPr>
          <a:xfrm>
            <a:off x="6215760" y="3002760"/>
            <a:ext cx="98856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142,170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4" name="Connector 374"/>
          <p:cNvCxnSpPr/>
          <p:nvPr/>
        </p:nvCxnSpPr>
        <p:spPr>
          <a:xfrm>
            <a:off x="5523840" y="2953440"/>
            <a:ext cx="2287440" cy="2160"/>
          </a:xfrm>
          <a:prstGeom prst="straightConnector1">
            <a:avLst/>
          </a:prstGeom>
          <a:ln w="0">
            <a:solidFill>
              <a:srgbClr val="0B2B4E"/>
            </a:solidFill>
          </a:ln>
        </p:spPr>
      </p:cxnSp>
      <p:sp>
        <p:nvSpPr>
          <p:cNvPr id="375" name="TextBox 375"/>
          <p:cNvSpPr/>
          <p:nvPr/>
        </p:nvSpPr>
        <p:spPr>
          <a:xfrm>
            <a:off x="7985160" y="268848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76"/>
          <p:cNvSpPr/>
          <p:nvPr/>
        </p:nvSpPr>
        <p:spPr>
          <a:xfrm>
            <a:off x="8342640" y="2688480"/>
            <a:ext cx="117756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−29.5%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77"/>
          <p:cNvSpPr/>
          <p:nvPr/>
        </p:nvSpPr>
        <p:spPr>
          <a:xfrm>
            <a:off x="2802960" y="3895560"/>
            <a:ext cx="74268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378"/>
          <p:cNvSpPr/>
          <p:nvPr/>
        </p:nvSpPr>
        <p:spPr>
          <a:xfrm>
            <a:off x="3569040" y="389556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379"/>
          <p:cNvSpPr/>
          <p:nvPr/>
        </p:nvSpPr>
        <p:spPr>
          <a:xfrm>
            <a:off x="4036680" y="3713400"/>
            <a:ext cx="83592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r>
              <a:rPr lang="en-US" sz="15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− P</a:t>
            </a:r>
            <a:r>
              <a:rPr lang="en-US" sz="15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4289400" y="4209840"/>
            <a:ext cx="33048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r>
              <a:rPr lang="en-US" sz="15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0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1" name="Connector 381"/>
          <p:cNvCxnSpPr/>
          <p:nvPr/>
        </p:nvCxnSpPr>
        <p:spPr>
          <a:xfrm>
            <a:off x="3926520" y="4160520"/>
            <a:ext cx="971640" cy="2160"/>
          </a:xfrm>
          <a:prstGeom prst="straightConnector1">
            <a:avLst/>
          </a:prstGeom>
          <a:ln w="0">
            <a:solidFill>
              <a:srgbClr val="0B2B4E"/>
            </a:solidFill>
          </a:ln>
        </p:spPr>
      </p:cxnSp>
      <p:sp>
        <p:nvSpPr>
          <p:cNvPr id="382" name="TextBox 382"/>
          <p:cNvSpPr/>
          <p:nvPr/>
        </p:nvSpPr>
        <p:spPr>
          <a:xfrm>
            <a:off x="5072040" y="389556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383"/>
          <p:cNvSpPr/>
          <p:nvPr/>
        </p:nvSpPr>
        <p:spPr>
          <a:xfrm>
            <a:off x="5539680" y="3713400"/>
            <a:ext cx="62424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5 − 2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5739480" y="4209840"/>
            <a:ext cx="22464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5" name="Connector 385"/>
          <p:cNvCxnSpPr/>
          <p:nvPr/>
        </p:nvCxnSpPr>
        <p:spPr>
          <a:xfrm>
            <a:off x="5429520" y="4160520"/>
            <a:ext cx="760320" cy="2160"/>
          </a:xfrm>
          <a:prstGeom prst="straightConnector1">
            <a:avLst/>
          </a:prstGeom>
          <a:ln w="0">
            <a:solidFill>
              <a:srgbClr val="0B2B4E"/>
            </a:solidFill>
          </a:ln>
        </p:spPr>
      </p:cxnSp>
      <p:sp>
        <p:nvSpPr>
          <p:cNvPr id="386" name="TextBox 386"/>
          <p:cNvSpPr/>
          <p:nvPr/>
        </p:nvSpPr>
        <p:spPr>
          <a:xfrm>
            <a:off x="6363720" y="389556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387"/>
          <p:cNvSpPr/>
          <p:nvPr/>
        </p:nvSpPr>
        <p:spPr>
          <a:xfrm>
            <a:off x="6721560" y="3895560"/>
            <a:ext cx="9032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150%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8"/>
          <p:cNvSpPr/>
          <p:nvPr/>
        </p:nvSpPr>
        <p:spPr>
          <a:xfrm>
            <a:off x="3114720" y="5102280"/>
            <a:ext cx="43092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1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389"/>
          <p:cNvSpPr/>
          <p:nvPr/>
        </p:nvSpPr>
        <p:spPr>
          <a:xfrm>
            <a:off x="3569040" y="510228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90"/>
          <p:cNvSpPr/>
          <p:nvPr/>
        </p:nvSpPr>
        <p:spPr>
          <a:xfrm>
            <a:off x="4036680" y="4920480"/>
            <a:ext cx="62568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391"/>
          <p:cNvSpPr/>
          <p:nvPr/>
        </p:nvSpPr>
        <p:spPr>
          <a:xfrm>
            <a:off x="4060440" y="5416920"/>
            <a:ext cx="57852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2" name="Connector 392"/>
          <p:cNvCxnSpPr/>
          <p:nvPr/>
        </p:nvCxnSpPr>
        <p:spPr>
          <a:xfrm>
            <a:off x="3926520" y="5367600"/>
            <a:ext cx="761400" cy="2160"/>
          </a:xfrm>
          <a:prstGeom prst="straightConnector1">
            <a:avLst/>
          </a:prstGeom>
          <a:ln w="0">
            <a:solidFill>
              <a:srgbClr val="0B2B4E"/>
            </a:solidFill>
          </a:ln>
        </p:spPr>
      </p:cxnSp>
      <p:sp>
        <p:nvSpPr>
          <p:cNvPr id="393" name="TextBox 393"/>
          <p:cNvSpPr/>
          <p:nvPr/>
        </p:nvSpPr>
        <p:spPr>
          <a:xfrm>
            <a:off x="4861800" y="510228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394"/>
          <p:cNvSpPr/>
          <p:nvPr/>
        </p:nvSpPr>
        <p:spPr>
          <a:xfrm>
            <a:off x="5329080" y="4920480"/>
            <a:ext cx="90468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−29.5%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395"/>
          <p:cNvSpPr/>
          <p:nvPr/>
        </p:nvSpPr>
        <p:spPr>
          <a:xfrm>
            <a:off x="5432400" y="5416920"/>
            <a:ext cx="69876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150%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6" name="Connector 396"/>
          <p:cNvCxnSpPr/>
          <p:nvPr/>
        </p:nvCxnSpPr>
        <p:spPr>
          <a:xfrm>
            <a:off x="5219280" y="5367600"/>
            <a:ext cx="1040400" cy="2160"/>
          </a:xfrm>
          <a:prstGeom prst="straightConnector1">
            <a:avLst/>
          </a:prstGeom>
          <a:ln w="0">
            <a:solidFill>
              <a:srgbClr val="0B2B4E"/>
            </a:solidFill>
          </a:ln>
        </p:spPr>
      </p:cxnSp>
      <p:sp>
        <p:nvSpPr>
          <p:cNvPr id="397" name="TextBox 397"/>
          <p:cNvSpPr/>
          <p:nvPr/>
        </p:nvSpPr>
        <p:spPr>
          <a:xfrm>
            <a:off x="6433920" y="5102280"/>
            <a:ext cx="26784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≈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6791400" y="5102280"/>
            <a:ext cx="731160" cy="5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−0.2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Computing Elasticity — Method 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1097280" y="1371600"/>
            <a:ext cx="107888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55960">
              <a:lnSpc>
                <a:spcPct val="100000"/>
              </a:lnSpc>
              <a:buClr>
                <a:srgbClr val="0B2B4E"/>
              </a:buClr>
              <a:buFont typeface="Arial"/>
              <a:buChar char="▪"/>
            </a:pP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When you have an entire demand curve, use it!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409"/>
          <p:cNvSpPr/>
          <p:nvPr/>
        </p:nvSpPr>
        <p:spPr>
          <a:xfrm>
            <a:off x="3386880" y="1948680"/>
            <a:ext cx="5414040" cy="239148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3552120" y="2685240"/>
            <a:ext cx="455040" cy="5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4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279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411"/>
          <p:cNvSpPr/>
          <p:nvPr/>
        </p:nvSpPr>
        <p:spPr>
          <a:xfrm>
            <a:off x="4123800" y="2685240"/>
            <a:ext cx="283320" cy="5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4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4628520" y="2545920"/>
            <a:ext cx="59724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413"/>
          <p:cNvSpPr/>
          <p:nvPr/>
        </p:nvSpPr>
        <p:spPr>
          <a:xfrm>
            <a:off x="4650120" y="3011040"/>
            <a:ext cx="55296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4" name="Connector 414"/>
          <p:cNvCxnSpPr/>
          <p:nvPr/>
        </p:nvCxnSpPr>
        <p:spPr>
          <a:xfrm>
            <a:off x="4523760" y="2964240"/>
            <a:ext cx="715320" cy="1440"/>
          </a:xfrm>
          <a:prstGeom prst="straightConnector1">
            <a:avLst/>
          </a:prstGeom>
          <a:ln w="22860">
            <a:solidFill>
              <a:srgbClr val="0B2B4E"/>
            </a:solidFill>
            <a:round/>
          </a:ln>
        </p:spPr>
      </p:cxnSp>
      <p:sp>
        <p:nvSpPr>
          <p:cNvPr id="415" name="TextBox 415"/>
          <p:cNvSpPr/>
          <p:nvPr/>
        </p:nvSpPr>
        <p:spPr>
          <a:xfrm>
            <a:off x="5446800" y="2685240"/>
            <a:ext cx="283320" cy="5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4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416"/>
          <p:cNvSpPr/>
          <p:nvPr/>
        </p:nvSpPr>
        <p:spPr>
          <a:xfrm>
            <a:off x="6055200" y="2080440"/>
            <a:ext cx="41328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ΔQ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417"/>
          <p:cNvSpPr/>
          <p:nvPr/>
        </p:nvSpPr>
        <p:spPr>
          <a:xfrm>
            <a:off x="6127560" y="2545920"/>
            <a:ext cx="26820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8" name="Connector 418"/>
          <p:cNvCxnSpPr/>
          <p:nvPr/>
        </p:nvCxnSpPr>
        <p:spPr>
          <a:xfrm>
            <a:off x="5950080" y="2499120"/>
            <a:ext cx="532080" cy="1440"/>
          </a:xfrm>
          <a:prstGeom prst="straightConnector1">
            <a:avLst/>
          </a:prstGeom>
          <a:ln w="22860">
            <a:solidFill>
              <a:srgbClr val="0B2B4E"/>
            </a:solidFill>
            <a:round/>
          </a:ln>
        </p:spPr>
      </p:cxnSp>
      <p:sp>
        <p:nvSpPr>
          <p:cNvPr id="419" name="TextBox 419"/>
          <p:cNvSpPr/>
          <p:nvPr/>
        </p:nvSpPr>
        <p:spPr>
          <a:xfrm>
            <a:off x="6076800" y="3011040"/>
            <a:ext cx="36900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ΔP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420"/>
          <p:cNvSpPr/>
          <p:nvPr/>
        </p:nvSpPr>
        <p:spPr>
          <a:xfrm>
            <a:off x="6149520" y="3476160"/>
            <a:ext cx="22428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1" name="Connector 421"/>
          <p:cNvCxnSpPr/>
          <p:nvPr/>
        </p:nvCxnSpPr>
        <p:spPr>
          <a:xfrm>
            <a:off x="5972400" y="3429720"/>
            <a:ext cx="487440" cy="1080"/>
          </a:xfrm>
          <a:prstGeom prst="straightConnector1">
            <a:avLst/>
          </a:prstGeom>
          <a:ln w="22860">
            <a:solidFill>
              <a:srgbClr val="0B2B4E"/>
            </a:solidFill>
            <a:round/>
          </a:ln>
        </p:spPr>
      </p:cxnSp>
      <p:cxnSp>
        <p:nvCxnSpPr>
          <p:cNvPr id="422" name="Connector 422"/>
          <p:cNvCxnSpPr/>
          <p:nvPr/>
        </p:nvCxnSpPr>
        <p:spPr>
          <a:xfrm>
            <a:off x="5846400" y="2964240"/>
            <a:ext cx="739800" cy="1440"/>
          </a:xfrm>
          <a:prstGeom prst="straightConnector1">
            <a:avLst/>
          </a:prstGeom>
          <a:ln w="22860">
            <a:solidFill>
              <a:srgbClr val="0B2B4E"/>
            </a:solidFill>
            <a:round/>
          </a:ln>
        </p:spPr>
      </p:cxnSp>
      <p:sp>
        <p:nvSpPr>
          <p:cNvPr id="423" name="TextBox 423"/>
          <p:cNvSpPr/>
          <p:nvPr/>
        </p:nvSpPr>
        <p:spPr>
          <a:xfrm>
            <a:off x="6793200" y="2685240"/>
            <a:ext cx="283320" cy="5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4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7297920" y="2545920"/>
            <a:ext cx="41328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ΔQ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425"/>
          <p:cNvSpPr/>
          <p:nvPr/>
        </p:nvSpPr>
        <p:spPr>
          <a:xfrm>
            <a:off x="7319880" y="3011040"/>
            <a:ext cx="36900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ΔP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6" name="Connector 426"/>
          <p:cNvCxnSpPr/>
          <p:nvPr/>
        </p:nvCxnSpPr>
        <p:spPr>
          <a:xfrm>
            <a:off x="7193520" y="2964240"/>
            <a:ext cx="531360" cy="1440"/>
          </a:xfrm>
          <a:prstGeom prst="straightConnector1">
            <a:avLst/>
          </a:prstGeom>
          <a:ln w="22860">
            <a:solidFill>
              <a:srgbClr val="0B2B4E"/>
            </a:solidFill>
            <a:round/>
          </a:ln>
        </p:spPr>
      </p:cxnSp>
      <p:sp>
        <p:nvSpPr>
          <p:cNvPr id="427" name="TextBox 427"/>
          <p:cNvSpPr/>
          <p:nvPr/>
        </p:nvSpPr>
        <p:spPr>
          <a:xfrm>
            <a:off x="7932240" y="2685240"/>
            <a:ext cx="188640" cy="55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4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·</a:t>
            </a:r>
            <a:endParaRPr lang="en-US" sz="3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8363520" y="2545920"/>
            <a:ext cx="22428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429"/>
          <p:cNvSpPr/>
          <p:nvPr/>
        </p:nvSpPr>
        <p:spPr>
          <a:xfrm>
            <a:off x="8341560" y="3011040"/>
            <a:ext cx="26820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0" name="Connector 430"/>
          <p:cNvCxnSpPr/>
          <p:nvPr/>
        </p:nvCxnSpPr>
        <p:spPr>
          <a:xfrm>
            <a:off x="8237160" y="2964240"/>
            <a:ext cx="386640" cy="1440"/>
          </a:xfrm>
          <a:prstGeom prst="straightConnector1">
            <a:avLst/>
          </a:prstGeom>
          <a:ln w="22860">
            <a:solidFill>
              <a:srgbClr val="0B2B4E"/>
            </a:solidFill>
            <a:round/>
          </a:ln>
        </p:spPr>
      </p:cxnSp>
      <p:sp>
        <p:nvSpPr>
          <p:cNvPr id="431" name="Rounded Rectangle 431"/>
          <p:cNvSpPr/>
          <p:nvPr/>
        </p:nvSpPr>
        <p:spPr>
          <a:xfrm>
            <a:off x="7089480" y="2476080"/>
            <a:ext cx="737280" cy="97560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E09F3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432"/>
          <p:cNvSpPr/>
          <p:nvPr/>
        </p:nvSpPr>
        <p:spPr>
          <a:xfrm>
            <a:off x="6186240" y="3568680"/>
            <a:ext cx="2543400" cy="72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770" b="1" i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Slope of demand</a:t>
            </a:r>
            <a:endParaRPr lang="en-US" sz="1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40" b="1" i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(constant)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3" name="Connector 433"/>
          <p:cNvCxnSpPr/>
          <p:nvPr/>
        </p:nvCxnSpPr>
        <p:spPr>
          <a:xfrm flipV="1">
            <a:off x="7458480" y="3475800"/>
            <a:ext cx="1440" cy="82080"/>
          </a:xfrm>
          <a:prstGeom prst="straightConnector1">
            <a:avLst/>
          </a:prstGeom>
          <a:ln w="17780">
            <a:solidFill>
              <a:srgbClr val="E09F3E"/>
            </a:solidFill>
            <a:round/>
            <a:tailEnd type="triangle" w="sm" len="sm"/>
          </a:ln>
        </p:spPr>
      </p:cxnSp>
      <p:sp>
        <p:nvSpPr>
          <p:cNvPr id="434" name="TextBox 434"/>
          <p:cNvSpPr/>
          <p:nvPr/>
        </p:nvSpPr>
        <p:spPr>
          <a:xfrm>
            <a:off x="1097280" y="4498920"/>
            <a:ext cx="107888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Suppose the demand curve is:   Q = 1,600 </a:t>
            </a:r>
            <a:r>
              <a:rPr lang="en-US" sz="253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− 4</a:t>
            </a:r>
            <a:r>
              <a:rPr lang="en-US" sz="253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     (slope = </a:t>
            </a:r>
            <a:r>
              <a:rPr lang="en-US" sz="2200" b="1" i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−4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435"/>
          <p:cNvSpPr/>
          <p:nvPr/>
        </p:nvSpPr>
        <p:spPr>
          <a:xfrm>
            <a:off x="1097280" y="5139000"/>
            <a:ext cx="10788840" cy="127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55960">
              <a:lnSpc>
                <a:spcPct val="100000"/>
              </a:lnSpc>
              <a:spcAft>
                <a:spcPts val="601"/>
              </a:spcAft>
              <a:buClr>
                <a:srgbClr val="0B2B4E"/>
              </a:buClr>
              <a:buFont typeface="Arial"/>
              <a:buChar char="▪"/>
            </a:pPr>
            <a:r>
              <a:rPr lang="en-US" sz="24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For a linear demand curve, elasticity depends on the price at which it is measured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ounded Rectangle 436"/>
          <p:cNvSpPr/>
          <p:nvPr/>
        </p:nvSpPr>
        <p:spPr>
          <a:xfrm>
            <a:off x="4206240" y="5989320"/>
            <a:ext cx="3747960" cy="437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Problem Set 2  ·  #5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Elasticity Along a Linear Demand Curve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EqBox20"/>
          <p:cNvSpPr/>
          <p:nvPr/>
        </p:nvSpPr>
        <p:spPr>
          <a:xfrm>
            <a:off x="4406040" y="1571040"/>
            <a:ext cx="3166200" cy="106380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444"/>
          <p:cNvSpPr/>
          <p:nvPr/>
        </p:nvSpPr>
        <p:spPr>
          <a:xfrm>
            <a:off x="4607280" y="1917360"/>
            <a:ext cx="299880" cy="3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4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445"/>
          <p:cNvSpPr/>
          <p:nvPr/>
        </p:nvSpPr>
        <p:spPr>
          <a:xfrm>
            <a:off x="5001120" y="1917360"/>
            <a:ext cx="188640" cy="3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446"/>
          <p:cNvSpPr/>
          <p:nvPr/>
        </p:nvSpPr>
        <p:spPr>
          <a:xfrm>
            <a:off x="5365800" y="1772280"/>
            <a:ext cx="4539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447"/>
          <p:cNvSpPr/>
          <p:nvPr/>
        </p:nvSpPr>
        <p:spPr>
          <a:xfrm>
            <a:off x="5382720" y="2144880"/>
            <a:ext cx="4197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1" name="Connector 448"/>
          <p:cNvCxnSpPr/>
          <p:nvPr/>
        </p:nvCxnSpPr>
        <p:spPr>
          <a:xfrm>
            <a:off x="5283000" y="2103480"/>
            <a:ext cx="559440" cy="1080"/>
          </a:xfrm>
          <a:prstGeom prst="straightConnector1">
            <a:avLst/>
          </a:prstGeom>
          <a:ln w="20320">
            <a:solidFill>
              <a:srgbClr val="0B2B4E"/>
            </a:solidFill>
            <a:round/>
          </a:ln>
        </p:spPr>
      </p:cxnSp>
      <p:sp>
        <p:nvSpPr>
          <p:cNvPr id="452" name="TextBox 457"/>
          <p:cNvSpPr/>
          <p:nvPr/>
        </p:nvSpPr>
        <p:spPr>
          <a:xfrm>
            <a:off x="5997600" y="1917360"/>
            <a:ext cx="188640" cy="3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458"/>
          <p:cNvSpPr/>
          <p:nvPr/>
        </p:nvSpPr>
        <p:spPr>
          <a:xfrm>
            <a:off x="6361920" y="1772280"/>
            <a:ext cx="31104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ΔQ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459"/>
          <p:cNvSpPr/>
          <p:nvPr/>
        </p:nvSpPr>
        <p:spPr>
          <a:xfrm>
            <a:off x="6379560" y="2144880"/>
            <a:ext cx="27684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ΔP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5" name="Connector 460"/>
          <p:cNvCxnSpPr/>
          <p:nvPr/>
        </p:nvCxnSpPr>
        <p:spPr>
          <a:xfrm>
            <a:off x="6279840" y="2103480"/>
            <a:ext cx="416160" cy="1080"/>
          </a:xfrm>
          <a:prstGeom prst="straightConnector1">
            <a:avLst/>
          </a:prstGeom>
          <a:ln w="20320">
            <a:solidFill>
              <a:srgbClr val="0B2B4E"/>
            </a:solidFill>
            <a:round/>
          </a:ln>
        </p:spPr>
      </p:cxnSp>
      <p:sp>
        <p:nvSpPr>
          <p:cNvPr id="456" name="TextBox 461"/>
          <p:cNvSpPr/>
          <p:nvPr/>
        </p:nvSpPr>
        <p:spPr>
          <a:xfrm>
            <a:off x="6849360" y="1917360"/>
            <a:ext cx="125280" cy="3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2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·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462"/>
          <p:cNvSpPr/>
          <p:nvPr/>
        </p:nvSpPr>
        <p:spPr>
          <a:xfrm>
            <a:off x="7167960" y="1772280"/>
            <a:ext cx="1641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463"/>
          <p:cNvSpPr/>
          <p:nvPr/>
        </p:nvSpPr>
        <p:spPr>
          <a:xfrm>
            <a:off x="7150680" y="2144880"/>
            <a:ext cx="1983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9" name="Connector 464"/>
          <p:cNvCxnSpPr/>
          <p:nvPr/>
        </p:nvCxnSpPr>
        <p:spPr>
          <a:xfrm>
            <a:off x="7068240" y="2103480"/>
            <a:ext cx="303120" cy="1080"/>
          </a:xfrm>
          <a:prstGeom prst="straightConnector1">
            <a:avLst/>
          </a:prstGeom>
          <a:ln w="20320">
            <a:solidFill>
              <a:srgbClr val="0B2B4E"/>
            </a:solidFill>
            <a:round/>
          </a:ln>
        </p:spPr>
      </p:cxnSp>
      <p:cxnSp>
        <p:nvCxnSpPr>
          <p:cNvPr id="460" name="Connector 465"/>
          <p:cNvCxnSpPr/>
          <p:nvPr/>
        </p:nvCxnSpPr>
        <p:spPr>
          <a:xfrm flipV="1">
            <a:off x="2331720" y="2971800"/>
            <a:ext cx="360" cy="3017880"/>
          </a:xfrm>
          <a:prstGeom prst="straightConnector1">
            <a:avLst/>
          </a:prstGeom>
          <a:ln w="2286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461" name="Connector 466"/>
          <p:cNvCxnSpPr/>
          <p:nvPr/>
        </p:nvCxnSpPr>
        <p:spPr>
          <a:xfrm>
            <a:off x="2331720" y="5989320"/>
            <a:ext cx="6126840" cy="360"/>
          </a:xfrm>
          <a:prstGeom prst="straightConnector1">
            <a:avLst/>
          </a:prstGeom>
          <a:ln w="2286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462" name="TextBox 467"/>
          <p:cNvSpPr/>
          <p:nvPr/>
        </p:nvSpPr>
        <p:spPr>
          <a:xfrm>
            <a:off x="2011680" y="243230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92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468"/>
          <p:cNvSpPr/>
          <p:nvPr/>
        </p:nvSpPr>
        <p:spPr>
          <a:xfrm>
            <a:off x="7818120" y="6053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92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Quantity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4" name="Connector 469"/>
          <p:cNvCxnSpPr>
            <a:cxnSpLocks/>
          </p:cNvCxnSpPr>
          <p:nvPr/>
        </p:nvCxnSpPr>
        <p:spPr>
          <a:xfrm>
            <a:off x="2368210" y="3154680"/>
            <a:ext cx="5263690" cy="2835000"/>
          </a:xfrm>
          <a:prstGeom prst="straightConnector1">
            <a:avLst/>
          </a:prstGeom>
          <a:ln w="33020">
            <a:solidFill>
              <a:srgbClr val="0B2B4E"/>
            </a:solidFill>
            <a:round/>
          </a:ln>
        </p:spPr>
      </p:cxnSp>
      <p:sp>
        <p:nvSpPr>
          <p:cNvPr id="465" name="TextBox 470"/>
          <p:cNvSpPr/>
          <p:nvPr/>
        </p:nvSpPr>
        <p:spPr>
          <a:xfrm>
            <a:off x="6781176" y="566388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60" b="1" i="1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1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Oval 471"/>
          <p:cNvSpPr/>
          <p:nvPr/>
        </p:nvSpPr>
        <p:spPr>
          <a:xfrm>
            <a:off x="4910328" y="4480560"/>
            <a:ext cx="182520" cy="1825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720" tIns="45000" rIns="7272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472"/>
          <p:cNvSpPr/>
          <p:nvPr/>
        </p:nvSpPr>
        <p:spPr>
          <a:xfrm>
            <a:off x="2514240" y="2639844"/>
            <a:ext cx="155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318" b="0" u="none" strike="noStrike" baseline="-25000" dirty="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18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 = −∞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473"/>
          <p:cNvSpPr/>
          <p:nvPr/>
        </p:nvSpPr>
        <p:spPr>
          <a:xfrm>
            <a:off x="7592154" y="5593843"/>
            <a:ext cx="1371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318" b="0" u="none" strike="noStrike" baseline="-25000" dirty="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18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 = 0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ight Brace 474"/>
          <p:cNvSpPr/>
          <p:nvPr/>
        </p:nvSpPr>
        <p:spPr>
          <a:xfrm rot="17880000">
            <a:off x="3611880" y="2176272"/>
            <a:ext cx="384048" cy="2926080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>
            <a:solidFill>
              <a:srgbClr val="E09F3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Right Brace 475"/>
          <p:cNvSpPr/>
          <p:nvPr/>
        </p:nvSpPr>
        <p:spPr>
          <a:xfrm rot="17880000">
            <a:off x="6245352" y="3593592"/>
            <a:ext cx="384048" cy="2926080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>
            <a:solidFill>
              <a:srgbClr val="E09F3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476"/>
          <p:cNvSpPr/>
          <p:nvPr/>
        </p:nvSpPr>
        <p:spPr>
          <a:xfrm>
            <a:off x="3788897" y="3054509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6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558" b="0" u="none" strike="noStrike" baseline="-25000" dirty="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16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 &lt; −1   </a:t>
            </a:r>
            <a:r>
              <a:rPr lang="en-US" sz="2160" b="1" u="none" strike="noStrike" dirty="0">
                <a:solidFill>
                  <a:srgbClr val="0070C0"/>
                </a:solidFill>
                <a:effectLst/>
                <a:uFillTx/>
                <a:latin typeface="Calibri"/>
              </a:rPr>
              <a:t>elastic</a:t>
            </a:r>
            <a:endParaRPr lang="en-US" sz="21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477"/>
          <p:cNvSpPr/>
          <p:nvPr/>
        </p:nvSpPr>
        <p:spPr>
          <a:xfrm>
            <a:off x="6632582" y="45302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−1 &lt; E</a:t>
            </a:r>
            <a:r>
              <a:rPr lang="en-US" sz="155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16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&lt; 0   </a:t>
            </a:r>
            <a:r>
              <a:rPr lang="en-US" sz="216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inelastic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478"/>
          <p:cNvSpPr/>
          <p:nvPr/>
        </p:nvSpPr>
        <p:spPr>
          <a:xfrm>
            <a:off x="5628730" y="391356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40" b="1" u="none" strike="noStrike" dirty="0">
                <a:solidFill>
                  <a:srgbClr val="E09F3E"/>
                </a:solidFill>
                <a:effectLst/>
                <a:uFillTx/>
                <a:latin typeface="Calibri"/>
              </a:rPr>
              <a:t>E</a:t>
            </a:r>
            <a:r>
              <a:rPr lang="en-US" sz="1439" b="1" u="none" strike="noStrike" baseline="-25000" dirty="0">
                <a:solidFill>
                  <a:srgbClr val="E09F3E"/>
                </a:solidFill>
                <a:effectLst/>
                <a:uFillTx/>
                <a:latin typeface="Calibri"/>
              </a:rPr>
              <a:t>D</a:t>
            </a:r>
            <a:r>
              <a:rPr lang="en-US" sz="2040" b="1" u="none" strike="noStrike" dirty="0">
                <a:solidFill>
                  <a:srgbClr val="E09F3E"/>
                </a:solidFill>
                <a:effectLst/>
                <a:uFillTx/>
                <a:latin typeface="Calibri"/>
              </a:rPr>
              <a:t> = −1   unit elastic</a:t>
            </a:r>
            <a:endParaRPr lang="en-US" sz="20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4" name="Connector 479"/>
          <p:cNvCxnSpPr>
            <a:cxnSpLocks/>
          </p:cNvCxnSpPr>
          <p:nvPr/>
        </p:nvCxnSpPr>
        <p:spPr>
          <a:xfrm flipH="1">
            <a:off x="5074920" y="4224528"/>
            <a:ext cx="457200" cy="310896"/>
          </a:xfrm>
          <a:prstGeom prst="straightConnector1">
            <a:avLst/>
          </a:prstGeom>
          <a:ln w="17780">
            <a:solidFill>
              <a:srgbClr val="E09F3E"/>
            </a:solidFill>
            <a:round/>
          </a:ln>
        </p:spPr>
      </p:cxnSp>
      <p:cxnSp>
        <p:nvCxnSpPr>
          <p:cNvPr id="475" name="Connector 474"/>
          <p:cNvCxnSpPr>
            <a:cxnSpLocks/>
          </p:cNvCxnSpPr>
          <p:nvPr/>
        </p:nvCxnSpPr>
        <p:spPr>
          <a:xfrm flipH="1">
            <a:off x="2377203" y="2880963"/>
            <a:ext cx="132602" cy="253863"/>
          </a:xfrm>
          <a:prstGeom prst="line">
            <a:avLst/>
          </a:prstGeom>
          <a:ln w="19050">
            <a:solidFill>
              <a:srgbClr val="0B2B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>
            <a:off x="7659640" y="5796936"/>
            <a:ext cx="237744" cy="146304"/>
          </a:xfrm>
          <a:prstGeom prst="line">
            <a:avLst/>
          </a:prstGeom>
          <a:ln w="19050">
            <a:solidFill>
              <a:srgbClr val="0B2B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Poll: Elasticity at Q = 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4" name="Picture 10" descr="image20.png"/>
          <p:cNvPicPr/>
          <p:nvPr/>
        </p:nvPicPr>
        <p:blipFill>
          <a:blip r:embed="rId2"/>
          <a:stretch/>
        </p:blipFill>
        <p:spPr>
          <a:xfrm>
            <a:off x="2895480" y="1463040"/>
            <a:ext cx="6455520" cy="4840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 Results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4" name="Picture 10" descr="image22.png"/>
          <p:cNvPicPr/>
          <p:nvPr/>
        </p:nvPicPr>
        <p:blipFill>
          <a:blip r:embed="rId2"/>
          <a:stretch/>
        </p:blipFill>
        <p:spPr>
          <a:xfrm>
            <a:off x="2895480" y="1463040"/>
            <a:ext cx="6455520" cy="4840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If Q = 10 − P, What Is Elasticity at Q = 8?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11"/>
          <p:cNvSpPr/>
          <p:nvPr/>
        </p:nvSpPr>
        <p:spPr>
          <a:xfrm>
            <a:off x="3048120" y="3063240"/>
            <a:ext cx="6415200" cy="324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74320" indent="-255960" defTabSz="457200">
              <a:lnSpc>
                <a:spcPct val="104000"/>
              </a:lnSpc>
              <a:spcAft>
                <a:spcPts val="10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Slope of demand:  </a:t>
            </a:r>
            <a:r>
              <a:rPr lang="en-US" sz="320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ΔQ/ΔP</a:t>
            </a: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</a:t>
            </a:r>
            <a:r>
              <a:rPr lang="en-US" sz="320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−1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55960" defTabSz="457200">
              <a:lnSpc>
                <a:spcPct val="104000"/>
              </a:lnSpc>
              <a:spcAft>
                <a:spcPts val="10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At Q = 8,  price P = 10 − 8 = 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55960" defTabSz="457200">
              <a:lnSpc>
                <a:spcPct val="104000"/>
              </a:lnSpc>
              <a:spcAft>
                <a:spcPts val="6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1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−0.25   →   demand is </a:t>
            </a: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inelastic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12"/>
          <p:cNvSpPr/>
          <p:nvPr/>
        </p:nvSpPr>
        <p:spPr>
          <a:xfrm>
            <a:off x="3820680" y="2098440"/>
            <a:ext cx="43848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40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13"/>
          <p:cNvSpPr/>
          <p:nvPr/>
        </p:nvSpPr>
        <p:spPr>
          <a:xfrm>
            <a:off x="4313160" y="2098440"/>
            <a:ext cx="27972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7" name="Connector 14"/>
          <p:cNvCxnSpPr/>
          <p:nvPr/>
        </p:nvCxnSpPr>
        <p:spPr>
          <a:xfrm>
            <a:off x="4646160" y="2423520"/>
            <a:ext cx="580320" cy="756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508" name="TextBox 15"/>
          <p:cNvSpPr/>
          <p:nvPr/>
        </p:nvSpPr>
        <p:spPr>
          <a:xfrm>
            <a:off x="4683600" y="1888560"/>
            <a:ext cx="5468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ΔQ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16"/>
          <p:cNvSpPr/>
          <p:nvPr/>
        </p:nvSpPr>
        <p:spPr>
          <a:xfrm>
            <a:off x="4715280" y="2399760"/>
            <a:ext cx="48420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ΔP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7"/>
          <p:cNvSpPr/>
          <p:nvPr/>
        </p:nvSpPr>
        <p:spPr>
          <a:xfrm>
            <a:off x="5321880" y="2098440"/>
            <a:ext cx="16560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·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1" name="Connector 18"/>
          <p:cNvCxnSpPr/>
          <p:nvPr/>
        </p:nvCxnSpPr>
        <p:spPr>
          <a:xfrm>
            <a:off x="5540760" y="2423520"/>
            <a:ext cx="353160" cy="756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512" name="TextBox 19"/>
          <p:cNvSpPr/>
          <p:nvPr/>
        </p:nvSpPr>
        <p:spPr>
          <a:xfrm>
            <a:off x="5609880" y="1888560"/>
            <a:ext cx="2566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0"/>
          <p:cNvSpPr/>
          <p:nvPr/>
        </p:nvSpPr>
        <p:spPr>
          <a:xfrm>
            <a:off x="5578560" y="2399760"/>
            <a:ext cx="319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21"/>
          <p:cNvSpPr/>
          <p:nvPr/>
        </p:nvSpPr>
        <p:spPr>
          <a:xfrm>
            <a:off x="5988960" y="2098440"/>
            <a:ext cx="27972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22"/>
          <p:cNvSpPr/>
          <p:nvPr/>
        </p:nvSpPr>
        <p:spPr>
          <a:xfrm>
            <a:off x="6323040" y="2098440"/>
            <a:ext cx="73800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−1</a:t>
            </a: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·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6" name="Connector 23"/>
          <p:cNvCxnSpPr/>
          <p:nvPr/>
        </p:nvCxnSpPr>
        <p:spPr>
          <a:xfrm>
            <a:off x="7113960" y="2423520"/>
            <a:ext cx="285840" cy="756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517" name="TextBox 24"/>
          <p:cNvSpPr/>
          <p:nvPr/>
        </p:nvSpPr>
        <p:spPr>
          <a:xfrm>
            <a:off x="7152120" y="1888560"/>
            <a:ext cx="252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25"/>
          <p:cNvSpPr/>
          <p:nvPr/>
        </p:nvSpPr>
        <p:spPr>
          <a:xfrm>
            <a:off x="7152120" y="2399760"/>
            <a:ext cx="252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8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26"/>
          <p:cNvSpPr/>
          <p:nvPr/>
        </p:nvSpPr>
        <p:spPr>
          <a:xfrm>
            <a:off x="7495560" y="2098440"/>
            <a:ext cx="27972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0" name="Connector 27"/>
          <p:cNvCxnSpPr/>
          <p:nvPr/>
        </p:nvCxnSpPr>
        <p:spPr>
          <a:xfrm>
            <a:off x="7828560" y="2423520"/>
            <a:ext cx="486720" cy="756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521" name="TextBox 28"/>
          <p:cNvSpPr/>
          <p:nvPr/>
        </p:nvSpPr>
        <p:spPr>
          <a:xfrm>
            <a:off x="7866360" y="1888560"/>
            <a:ext cx="4532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−1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29"/>
          <p:cNvSpPr/>
          <p:nvPr/>
        </p:nvSpPr>
        <p:spPr>
          <a:xfrm>
            <a:off x="7966800" y="2399760"/>
            <a:ext cx="2527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4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Special Cases of Price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10"/>
          <p:cNvSpPr/>
          <p:nvPr/>
        </p:nvSpPr>
        <p:spPr>
          <a:xfrm>
            <a:off x="2092680" y="1810440"/>
            <a:ext cx="7969680" cy="4053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Rounded Rectangle 12"/>
          <p:cNvSpPr/>
          <p:nvPr/>
        </p:nvSpPr>
        <p:spPr>
          <a:xfrm>
            <a:off x="1645920" y="5897880"/>
            <a:ext cx="8863560" cy="496800"/>
          </a:xfrm>
          <a:prstGeom prst="roundRect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Elasticity depends on the starting price — except in these two extremes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4" name="Connector 13"/>
          <p:cNvCxnSpPr/>
          <p:nvPr/>
        </p:nvCxnSpPr>
        <p:spPr>
          <a:xfrm flipV="1">
            <a:off x="2377440" y="2148840"/>
            <a:ext cx="360" cy="3383640"/>
          </a:xfrm>
          <a:prstGeom prst="straightConnector1">
            <a:avLst/>
          </a:prstGeom>
          <a:ln w="2286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535" name="Connector 14"/>
          <p:cNvCxnSpPr/>
          <p:nvPr/>
        </p:nvCxnSpPr>
        <p:spPr>
          <a:xfrm>
            <a:off x="2377440" y="5532120"/>
            <a:ext cx="3520800" cy="360"/>
          </a:xfrm>
          <a:prstGeom prst="straightConnector1">
            <a:avLst/>
          </a:prstGeom>
          <a:ln w="2286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536" name="Connector 15"/>
          <p:cNvCxnSpPr/>
          <p:nvPr/>
        </p:nvCxnSpPr>
        <p:spPr>
          <a:xfrm>
            <a:off x="2560320" y="3703320"/>
            <a:ext cx="3200760" cy="360"/>
          </a:xfrm>
          <a:prstGeom prst="straightConnector1">
            <a:avLst/>
          </a:prstGeom>
          <a:ln w="38100">
            <a:solidFill>
              <a:srgbClr val="0B2B4E"/>
            </a:solidFill>
            <a:round/>
          </a:ln>
        </p:spPr>
      </p:cxnSp>
      <p:sp>
        <p:nvSpPr>
          <p:cNvPr id="537" name="TextBox 16"/>
          <p:cNvSpPr/>
          <p:nvPr/>
        </p:nvSpPr>
        <p:spPr>
          <a:xfrm>
            <a:off x="2103120" y="18104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17"/>
          <p:cNvSpPr/>
          <p:nvPr/>
        </p:nvSpPr>
        <p:spPr>
          <a:xfrm>
            <a:off x="4572000" y="55778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Quantity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18"/>
          <p:cNvSpPr/>
          <p:nvPr/>
        </p:nvSpPr>
        <p:spPr>
          <a:xfrm>
            <a:off x="5806440" y="3474720"/>
            <a:ext cx="411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19"/>
          <p:cNvSpPr/>
          <p:nvPr/>
        </p:nvSpPr>
        <p:spPr>
          <a:xfrm>
            <a:off x="3154680" y="267012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308" b="1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−∞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20"/>
          <p:cNvSpPr/>
          <p:nvPr/>
        </p:nvSpPr>
        <p:spPr>
          <a:xfrm>
            <a:off x="3063240" y="312732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Perfectly elastic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2" name="Connector 21"/>
          <p:cNvCxnSpPr/>
          <p:nvPr/>
        </p:nvCxnSpPr>
        <p:spPr>
          <a:xfrm flipV="1">
            <a:off x="6675120" y="2148840"/>
            <a:ext cx="360" cy="3383640"/>
          </a:xfrm>
          <a:prstGeom prst="straightConnector1">
            <a:avLst/>
          </a:prstGeom>
          <a:ln w="2286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543" name="Connector 22"/>
          <p:cNvCxnSpPr/>
          <p:nvPr/>
        </p:nvCxnSpPr>
        <p:spPr>
          <a:xfrm>
            <a:off x="6675120" y="5532120"/>
            <a:ext cx="3383640" cy="360"/>
          </a:xfrm>
          <a:prstGeom prst="straightConnector1">
            <a:avLst/>
          </a:prstGeom>
          <a:ln w="2286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544" name="Connector 23"/>
          <p:cNvCxnSpPr/>
          <p:nvPr/>
        </p:nvCxnSpPr>
        <p:spPr>
          <a:xfrm flipV="1">
            <a:off x="8686800" y="2377440"/>
            <a:ext cx="360" cy="3155040"/>
          </a:xfrm>
          <a:prstGeom prst="straightConnector1">
            <a:avLst/>
          </a:prstGeom>
          <a:ln w="38100">
            <a:solidFill>
              <a:srgbClr val="0B2B4E"/>
            </a:solidFill>
            <a:round/>
          </a:ln>
        </p:spPr>
      </p:cxnSp>
      <p:sp>
        <p:nvSpPr>
          <p:cNvPr id="545" name="TextBox 24"/>
          <p:cNvSpPr/>
          <p:nvPr/>
        </p:nvSpPr>
        <p:spPr>
          <a:xfrm>
            <a:off x="6400800" y="18104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25"/>
          <p:cNvSpPr/>
          <p:nvPr/>
        </p:nvSpPr>
        <p:spPr>
          <a:xfrm>
            <a:off x="8778240" y="55778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Quantity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26"/>
          <p:cNvSpPr/>
          <p:nvPr/>
        </p:nvSpPr>
        <p:spPr>
          <a:xfrm>
            <a:off x="8732520" y="2103120"/>
            <a:ext cx="411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27"/>
          <p:cNvSpPr/>
          <p:nvPr/>
        </p:nvSpPr>
        <p:spPr>
          <a:xfrm>
            <a:off x="6812280" y="2670120"/>
            <a:ext cx="1737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308" b="1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=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28"/>
          <p:cNvSpPr/>
          <p:nvPr/>
        </p:nvSpPr>
        <p:spPr>
          <a:xfrm>
            <a:off x="6583680" y="312732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Perfectly inelastic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What Determines the Elasticity of Demand?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10"/>
          <p:cNvSpPr/>
          <p:nvPr/>
        </p:nvSpPr>
        <p:spPr>
          <a:xfrm>
            <a:off x="731520" y="1207008"/>
            <a:ext cx="6354720" cy="507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Availability of substitutes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1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5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How many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1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5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How close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Willingness to switch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Firm size relative to the market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1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5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Smaller size  →  higher demand elasticity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icture 11" descr="image23.png"/>
          <p:cNvSpPr/>
          <p:nvPr/>
        </p:nvSpPr>
        <p:spPr>
          <a:xfrm>
            <a:off x="7198560" y="1234440"/>
            <a:ext cx="4642560" cy="5230080"/>
          </a:xfrm>
          <a:prstGeom prst="roundRect">
            <a:avLst>
              <a:gd name="adj" fmla="val 5000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Market vs. Firm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5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10"/>
          <p:cNvSpPr/>
          <p:nvPr/>
        </p:nvSpPr>
        <p:spPr>
          <a:xfrm>
            <a:off x="731520" y="1280160"/>
            <a:ext cx="6400440" cy="51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elasticity a company faces is </a:t>
            </a:r>
            <a:r>
              <a:rPr lang="en-US" sz="28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not the same</a:t>
            </a: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as the elasticity the industry faces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6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 firm's demand is more elastic when…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5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the overall market elasticity is high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5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the firm's market share is small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601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5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competitors don't react to its price changes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579"/>
          <p:cNvSpPr/>
          <p:nvPr/>
        </p:nvSpPr>
        <p:spPr>
          <a:xfrm>
            <a:off x="7269480" y="1993320"/>
            <a:ext cx="4800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Gas market vs. Gas stations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2" name="Picture 580" descr="Gas.png"/>
          <p:cNvPicPr/>
          <p:nvPr/>
        </p:nvPicPr>
        <p:blipFill>
          <a:blip r:embed="rId2"/>
          <a:stretch/>
        </p:blipFill>
        <p:spPr>
          <a:xfrm>
            <a:off x="7269480" y="2377440"/>
            <a:ext cx="4754520" cy="3172680"/>
          </a:xfrm>
          <a:prstGeom prst="rect">
            <a:avLst/>
          </a:prstGeom>
          <a:noFill/>
          <a:ln w="0">
            <a:noFill/>
          </a:ln>
          <a:effectLst>
            <a:outerShdw blurRad="36000" dist="23928" dir="2700000" rotWithShape="0">
              <a:srgbClr val="000000">
                <a:alpha val="3400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Three Types of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ounded Rectangle 10"/>
          <p:cNvSpPr/>
          <p:nvPr/>
        </p:nvSpPr>
        <p:spPr>
          <a:xfrm>
            <a:off x="640080" y="2697480"/>
            <a:ext cx="3377160" cy="908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B5B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Own-price elasticity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Rounded Rectangle 12"/>
          <p:cNvSpPr/>
          <p:nvPr/>
        </p:nvSpPr>
        <p:spPr>
          <a:xfrm>
            <a:off x="8174880" y="2697480"/>
            <a:ext cx="3377160" cy="908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Cross-price elasticity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ounded Rectangle 14"/>
          <p:cNvSpPr/>
          <p:nvPr/>
        </p:nvSpPr>
        <p:spPr>
          <a:xfrm>
            <a:off x="4407480" y="2697480"/>
            <a:ext cx="3377160" cy="908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45000" rIns="14616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Income elasticity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152"/>
          <p:cNvSpPr/>
          <p:nvPr/>
        </p:nvSpPr>
        <p:spPr>
          <a:xfrm>
            <a:off x="1400760" y="4073040"/>
            <a:ext cx="49824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E</a:t>
            </a:r>
            <a:r>
              <a:rPr lang="en-US" sz="2500" b="0" u="none" strike="noStrike" baseline="-25000">
                <a:solidFill>
                  <a:srgbClr val="B0B5BC"/>
                </a:solidFill>
                <a:effectLst/>
                <a:uFillTx/>
                <a:latin typeface="Calibri"/>
              </a:rPr>
              <a:t>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53"/>
          <p:cNvSpPr/>
          <p:nvPr/>
        </p:nvSpPr>
        <p:spPr>
          <a:xfrm>
            <a:off x="1941480" y="4073040"/>
            <a:ext cx="30780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=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154"/>
          <p:cNvSpPr/>
          <p:nvPr/>
        </p:nvSpPr>
        <p:spPr>
          <a:xfrm>
            <a:off x="2373840" y="384156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%ΔQ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155"/>
          <p:cNvSpPr/>
          <p:nvPr/>
        </p:nvSpPr>
        <p:spPr>
          <a:xfrm>
            <a:off x="2373840" y="446220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B0B5BC"/>
                </a:solidFill>
                <a:effectLst/>
                <a:uFillTx/>
                <a:latin typeface="Calibri"/>
              </a:rPr>
              <a:t>%ΔP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9" name="Connector 156"/>
          <p:cNvCxnSpPr/>
          <p:nvPr/>
        </p:nvCxnSpPr>
        <p:spPr>
          <a:xfrm>
            <a:off x="2309400" y="4434840"/>
            <a:ext cx="958680" cy="5760"/>
          </a:xfrm>
          <a:prstGeom prst="straightConnector1">
            <a:avLst/>
          </a:prstGeom>
          <a:ln w="30480">
            <a:solidFill>
              <a:srgbClr val="B0B5BC"/>
            </a:solidFill>
            <a:round/>
          </a:ln>
        </p:spPr>
      </p:cxnSp>
      <p:sp>
        <p:nvSpPr>
          <p:cNvPr id="590" name="TextBox 157"/>
          <p:cNvSpPr/>
          <p:nvPr/>
        </p:nvSpPr>
        <p:spPr>
          <a:xfrm>
            <a:off x="8772480" y="4073040"/>
            <a:ext cx="67896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5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X,Y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158"/>
          <p:cNvSpPr/>
          <p:nvPr/>
        </p:nvSpPr>
        <p:spPr>
          <a:xfrm>
            <a:off x="9494280" y="4073040"/>
            <a:ext cx="30780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Box 159"/>
          <p:cNvSpPr/>
          <p:nvPr/>
        </p:nvSpPr>
        <p:spPr>
          <a:xfrm>
            <a:off x="9926640" y="3841560"/>
            <a:ext cx="96408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r>
              <a:rPr lang="en-US" sz="22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160"/>
          <p:cNvSpPr/>
          <p:nvPr/>
        </p:nvSpPr>
        <p:spPr>
          <a:xfrm>
            <a:off x="9926640" y="4462200"/>
            <a:ext cx="96408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r>
              <a:rPr lang="en-US" sz="22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4" name="Connector 161"/>
          <p:cNvCxnSpPr/>
          <p:nvPr/>
        </p:nvCxnSpPr>
        <p:spPr>
          <a:xfrm>
            <a:off x="9862200" y="4434840"/>
            <a:ext cx="1103760" cy="576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595" name="TextBox 162"/>
          <p:cNvSpPr/>
          <p:nvPr/>
        </p:nvSpPr>
        <p:spPr>
          <a:xfrm>
            <a:off x="5225760" y="4073040"/>
            <a:ext cx="38304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5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I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163"/>
          <p:cNvSpPr/>
          <p:nvPr/>
        </p:nvSpPr>
        <p:spPr>
          <a:xfrm>
            <a:off x="5650920" y="4073040"/>
            <a:ext cx="307800" cy="7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164"/>
          <p:cNvSpPr/>
          <p:nvPr/>
        </p:nvSpPr>
        <p:spPr>
          <a:xfrm>
            <a:off x="6083280" y="384156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165"/>
          <p:cNvSpPr/>
          <p:nvPr/>
        </p:nvSpPr>
        <p:spPr>
          <a:xfrm>
            <a:off x="6083280" y="4462200"/>
            <a:ext cx="8190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%ΔI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9" name="Connector 166"/>
          <p:cNvCxnSpPr/>
          <p:nvPr/>
        </p:nvCxnSpPr>
        <p:spPr>
          <a:xfrm>
            <a:off x="6019200" y="4434840"/>
            <a:ext cx="958680" cy="5760"/>
          </a:xfrm>
          <a:prstGeom prst="straightConnector1">
            <a:avLst/>
          </a:prstGeom>
          <a:ln w="30480">
            <a:solidFill>
              <a:srgbClr val="0B2B4E"/>
            </a:solidFill>
            <a:round/>
          </a:ln>
        </p:spPr>
      </p:cxnSp>
      <p:sp>
        <p:nvSpPr>
          <p:cNvPr id="600" name="Rounded Rectangle 167"/>
          <p:cNvSpPr/>
          <p:nvPr/>
        </p:nvSpPr>
        <p:spPr>
          <a:xfrm>
            <a:off x="4160520" y="2487240"/>
            <a:ext cx="7634880" cy="274284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E09F3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Picture 595" descr="Ferrari_crop.png"/>
          <p:cNvPicPr/>
          <p:nvPr/>
        </p:nvPicPr>
        <p:blipFill>
          <a:blip r:embed="rId2"/>
          <a:stretch/>
        </p:blipFill>
        <p:spPr>
          <a:xfrm>
            <a:off x="2124000" y="4892040"/>
            <a:ext cx="240732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Income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Income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8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ounded Rectangle 10"/>
          <p:cNvSpPr/>
          <p:nvPr/>
        </p:nvSpPr>
        <p:spPr>
          <a:xfrm>
            <a:off x="3992760" y="1280160"/>
            <a:ext cx="4200120" cy="1142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12"/>
          <p:cNvSpPr/>
          <p:nvPr/>
        </p:nvSpPr>
        <p:spPr>
          <a:xfrm>
            <a:off x="1188720" y="2880360"/>
            <a:ext cx="1078056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4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 change in quantity demanded divided by % change in income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4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Intuition: how sensitive demand is to customers' income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4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If &gt; 0 → </a:t>
            </a:r>
            <a:r>
              <a:rPr lang="en-US" sz="25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normal good</a:t>
            </a: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  (if &gt; 1 → </a:t>
            </a:r>
            <a:r>
              <a:rPr lang="en-US" sz="25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luxury good</a:t>
            </a: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4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If &lt; 0 → </a:t>
            </a:r>
            <a:r>
              <a:rPr lang="en-US" sz="25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inferior good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13"/>
          <p:cNvSpPr/>
          <p:nvPr/>
        </p:nvSpPr>
        <p:spPr>
          <a:xfrm>
            <a:off x="5431680" y="1587960"/>
            <a:ext cx="28980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977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I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14"/>
          <p:cNvSpPr/>
          <p:nvPr/>
        </p:nvSpPr>
        <p:spPr>
          <a:xfrm>
            <a:off x="5765760" y="1587960"/>
            <a:ext cx="229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Connector 15"/>
          <p:cNvCxnSpPr/>
          <p:nvPr/>
        </p:nvCxnSpPr>
        <p:spPr>
          <a:xfrm>
            <a:off x="6039000" y="1854360"/>
            <a:ext cx="711720" cy="612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615" name="TextBox 16"/>
          <p:cNvSpPr/>
          <p:nvPr/>
        </p:nvSpPr>
        <p:spPr>
          <a:xfrm>
            <a:off x="6069960" y="1415880"/>
            <a:ext cx="68436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17"/>
          <p:cNvSpPr/>
          <p:nvPr/>
        </p:nvSpPr>
        <p:spPr>
          <a:xfrm>
            <a:off x="6139440" y="1834920"/>
            <a:ext cx="54504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%ΔI</a:t>
            </a:r>
            <a:endParaRPr lang="en-US" sz="2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8" name="Picture 596" descr="Car_crop.png"/>
          <p:cNvPicPr/>
          <p:nvPr/>
        </p:nvPicPr>
        <p:blipFill>
          <a:blip r:embed="rId3"/>
          <a:stretch/>
        </p:blipFill>
        <p:spPr>
          <a:xfrm>
            <a:off x="5171760" y="4892040"/>
            <a:ext cx="204444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9" name="Picture 618" descr="bus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640" y="4892040"/>
            <a:ext cx="2210760" cy="1142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Income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Which Retailers Do Well in a Recession?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5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9" name="Picture 7_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3292" t="6456" r="2467" b="69182"/>
          <a:stretch/>
        </p:blipFill>
        <p:spPr>
          <a:xfrm>
            <a:off x="2843640" y="5182740"/>
            <a:ext cx="6519240" cy="136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0" name="Picture 8_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3292" t="30000" r="2467" b="11137"/>
          <a:stretch/>
        </p:blipFill>
        <p:spPr>
          <a:xfrm>
            <a:off x="2263320" y="1325880"/>
            <a:ext cx="7662240" cy="388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Picture 4_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3292" t="30000" r="50597" b="11137"/>
          <a:stretch/>
        </p:blipFill>
        <p:spPr>
          <a:xfrm>
            <a:off x="2263320" y="1325880"/>
            <a:ext cx="3748680" cy="3885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Income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Inferior Goods in the News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8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icture 10" descr="image28.jpeg"/>
          <p:cNvSpPr/>
          <p:nvPr/>
        </p:nvSpPr>
        <p:spPr>
          <a:xfrm>
            <a:off x="914400" y="1828800"/>
            <a:ext cx="5297400" cy="3524400"/>
          </a:xfrm>
          <a:prstGeom prst="roundRect">
            <a:avLst>
              <a:gd name="adj" fmla="val 5000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2" name="Picture 11" descr="image27.png"/>
          <p:cNvPicPr/>
          <p:nvPr/>
        </p:nvPicPr>
        <p:blipFill>
          <a:blip r:embed="rId3"/>
          <a:stretch/>
        </p:blipFill>
        <p:spPr>
          <a:xfrm>
            <a:off x="6492240" y="2743200"/>
            <a:ext cx="5114520" cy="138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Picture 617" descr="image.png"/>
          <p:cNvPicPr/>
          <p:nvPr/>
        </p:nvPicPr>
        <p:blipFill>
          <a:blip r:embed="rId4"/>
          <a:stretch/>
        </p:blipFill>
        <p:spPr>
          <a:xfrm>
            <a:off x="6492240" y="2103120"/>
            <a:ext cx="4023000" cy="46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Cross-Price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Cross-Price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8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0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ounded Rectangle 10"/>
          <p:cNvSpPr/>
          <p:nvPr/>
        </p:nvSpPr>
        <p:spPr>
          <a:xfrm>
            <a:off x="3809880" y="1325880"/>
            <a:ext cx="4565880" cy="118836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TextBox 12"/>
          <p:cNvSpPr/>
          <p:nvPr/>
        </p:nvSpPr>
        <p:spPr>
          <a:xfrm>
            <a:off x="731520" y="2743200"/>
            <a:ext cx="7223400" cy="356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7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5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% change in the quantity demanded of good X, divided by the % change in the price of good Y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7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500" b="1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Intuition: </a:t>
            </a:r>
            <a:r>
              <a:rPr lang="en-US" sz="25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How sensitive demand is to changes in the price of another good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7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500" b="1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Two cases: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3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If &gt; 0, then the goods are </a:t>
            </a:r>
            <a:r>
              <a:rPr lang="en-US" sz="2300" b="1" u="none" strike="noStrike" dirty="0">
                <a:solidFill>
                  <a:srgbClr val="0070C0"/>
                </a:solidFill>
                <a:effectLst/>
                <a:uFillTx/>
                <a:latin typeface="Calibri"/>
              </a:rPr>
              <a:t>substitutes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7000" indent="-237600" defTabSz="457200">
              <a:lnSpc>
                <a:spcPct val="104000"/>
              </a:lnSpc>
              <a:spcAft>
                <a:spcPts val="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lang="en-US" sz="23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If &lt; 0, then the goods are </a:t>
            </a:r>
            <a:r>
              <a:rPr lang="en-US" sz="2300" b="1" u="none" strike="noStrike" dirty="0">
                <a:solidFill>
                  <a:srgbClr val="0070C0"/>
                </a:solidFill>
                <a:effectLst/>
                <a:uFillTx/>
                <a:latin typeface="Calibri"/>
              </a:rPr>
              <a:t>complements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Box 13"/>
          <p:cNvSpPr/>
          <p:nvPr/>
        </p:nvSpPr>
        <p:spPr>
          <a:xfrm>
            <a:off x="5257440" y="1656720"/>
            <a:ext cx="526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1977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X,Y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14"/>
          <p:cNvSpPr/>
          <p:nvPr/>
        </p:nvSpPr>
        <p:spPr>
          <a:xfrm>
            <a:off x="5828040" y="1656720"/>
            <a:ext cx="2293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7" name="Connector 15"/>
          <p:cNvCxnSpPr/>
          <p:nvPr/>
        </p:nvCxnSpPr>
        <p:spPr>
          <a:xfrm>
            <a:off x="6100920" y="1923120"/>
            <a:ext cx="824040" cy="612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658" name="TextBox 16"/>
          <p:cNvSpPr/>
          <p:nvPr/>
        </p:nvSpPr>
        <p:spPr>
          <a:xfrm>
            <a:off x="6132240" y="1484280"/>
            <a:ext cx="7963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%ΔQ</a:t>
            </a:r>
            <a:r>
              <a:rPr lang="en-US" sz="17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17"/>
          <p:cNvSpPr/>
          <p:nvPr/>
        </p:nvSpPr>
        <p:spPr>
          <a:xfrm>
            <a:off x="6161400" y="1903320"/>
            <a:ext cx="7380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8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%ΔP</a:t>
            </a:r>
            <a:r>
              <a:rPr lang="en-US" sz="1700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0" name="Picture 634" descr="ice_creams_rev.png"/>
          <p:cNvPicPr/>
          <p:nvPr/>
        </p:nvPicPr>
        <p:blipFill>
          <a:blip r:embed="rId2"/>
          <a:stretch/>
        </p:blipFill>
        <p:spPr>
          <a:xfrm>
            <a:off x="8123184" y="2777580"/>
            <a:ext cx="3785256" cy="3248280"/>
          </a:xfrm>
          <a:prstGeom prst="rect">
            <a:avLst/>
          </a:prstGeom>
          <a:noFill/>
          <a:ln w="0">
            <a:noFill/>
          </a:ln>
          <a:effectLst>
            <a:outerShdw blurRad="32040" dist="19855" dir="2700000" rotWithShape="0">
              <a:srgbClr val="000000">
                <a:alpha val="26000"/>
              </a:srgbClr>
            </a:outerShdw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2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Cross-Price Elasticity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Example: Movie Tickets and Popcorn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5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6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Box 10"/>
          <p:cNvSpPr/>
          <p:nvPr/>
        </p:nvSpPr>
        <p:spPr>
          <a:xfrm>
            <a:off x="731520" y="1874520"/>
            <a:ext cx="10698120" cy="29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 theater raises its ticket price from $10 to $12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Quantity of popcorn demanded falls by 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6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2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What is the implied cross-price elasticity?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Picture 12" descr="image29.jpeg"/>
          <p:cNvSpPr/>
          <p:nvPr/>
        </p:nvSpPr>
        <p:spPr>
          <a:xfrm>
            <a:off x="4053960" y="4069080"/>
            <a:ext cx="4083480" cy="2285640"/>
          </a:xfrm>
          <a:prstGeom prst="roundRect">
            <a:avLst>
              <a:gd name="adj" fmla="val 5000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arallelogram 13"/>
          <p:cNvSpPr/>
          <p:nvPr/>
        </p:nvSpPr>
        <p:spPr>
          <a:xfrm>
            <a:off x="9509760" y="5897880"/>
            <a:ext cx="2371320" cy="49680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720" dist="26983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 break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4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Poll: Cross-Price Elasticity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8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2" name="Picture 10" descr="image30.png"/>
          <p:cNvPicPr/>
          <p:nvPr/>
        </p:nvPicPr>
        <p:blipFill>
          <a:blip r:embed="rId2"/>
          <a:stretch/>
        </p:blipFill>
        <p:spPr>
          <a:xfrm>
            <a:off x="2895480" y="1463040"/>
            <a:ext cx="6455520" cy="4840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 Results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7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2" name="Picture 10" descr="image31.png"/>
          <p:cNvPicPr/>
          <p:nvPr/>
        </p:nvPicPr>
        <p:blipFill>
          <a:blip r:embed="rId2"/>
          <a:stretch/>
        </p:blipFill>
        <p:spPr>
          <a:xfrm>
            <a:off x="2895480" y="1463040"/>
            <a:ext cx="6455520" cy="4840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Solution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7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8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Box 11"/>
          <p:cNvSpPr/>
          <p:nvPr/>
        </p:nvSpPr>
        <p:spPr>
          <a:xfrm>
            <a:off x="1472400" y="2942928"/>
            <a:ext cx="924696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74320" indent="-237600" defTabSz="457200">
              <a:lnSpc>
                <a:spcPct val="104000"/>
              </a:lnSpc>
              <a:spcAft>
                <a:spcPts val="7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2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Change in quantity of popcorn (X) = −8%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799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lang="en-US" sz="3200" b="0" u="none" strike="noStrike" dirty="0">
                <a:solidFill>
                  <a:srgbClr val="0B2B4E"/>
                </a:solidFill>
                <a:effectLst/>
                <a:uFillTx/>
                <a:latin typeface="Calibri"/>
              </a:rPr>
              <a:t>Change in ticket price (Y) = (12−10)/10 = +20%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" indent="-237600" defTabSz="457200">
              <a:lnSpc>
                <a:spcPct val="104000"/>
              </a:lnSpc>
              <a:spcAft>
                <a:spcPts val="601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3200" b="0">
                <a:solidFill>
                  <a:srgbClr val="0B2B4E"/>
                </a:solidFill>
                <a:latin typeface="Calibri"/>
              </a:rPr>
              <a:t>E</a:t>
            </a:r>
            <a:r>
              <a:rPr sz="2100" b="0" baseline="-25000">
                <a:solidFill>
                  <a:srgbClr val="0B2B4E"/>
                </a:solidFill>
                <a:latin typeface="Calibri"/>
              </a:rPr>
              <a:t>X,Y</a:t>
            </a:r>
            <a:r>
              <a:rPr sz="3200" b="0">
                <a:solidFill>
                  <a:srgbClr val="0B2B4E"/>
                </a:solidFill>
                <a:latin typeface="Calibri"/>
              </a:rPr>
              <a:t> = −0.4   →   popcorn and tickets are </a:t>
            </a:r>
            <a:r>
              <a:rPr sz="3200" b="1">
                <a:solidFill>
                  <a:srgbClr val="0070C0"/>
                </a:solidFill>
                <a:latin typeface="Calibri"/>
              </a:rPr>
              <a:t>complements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Box 12"/>
          <p:cNvSpPr/>
          <p:nvPr/>
        </p:nvSpPr>
        <p:spPr>
          <a:xfrm>
            <a:off x="4443840" y="2052720"/>
            <a:ext cx="64224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E</a:t>
            </a:r>
            <a:r>
              <a:rPr lang="en-US" sz="2408" b="0" u="none" strike="noStrike" baseline="-25000">
                <a:solidFill>
                  <a:srgbClr val="0B2B4E"/>
                </a:solidFill>
                <a:effectLst/>
                <a:uFillTx/>
                <a:latin typeface="Calibri"/>
              </a:rPr>
              <a:t>X,Y</a:t>
            </a:r>
            <a:endParaRPr lang="en-US" sz="2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Box 13"/>
          <p:cNvSpPr/>
          <p:nvPr/>
        </p:nvSpPr>
        <p:spPr>
          <a:xfrm>
            <a:off x="5140080" y="2052720"/>
            <a:ext cx="27972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5" name="Connector 14"/>
          <p:cNvCxnSpPr/>
          <p:nvPr/>
        </p:nvCxnSpPr>
        <p:spPr>
          <a:xfrm>
            <a:off x="5473440" y="2377800"/>
            <a:ext cx="978480" cy="7560"/>
          </a:xfrm>
          <a:prstGeom prst="straightConnector1">
            <a:avLst/>
          </a:prstGeom>
          <a:ln w="19050">
            <a:solidFill>
              <a:srgbClr val="0B2B4E"/>
            </a:solidFill>
            <a:round/>
          </a:ln>
        </p:spPr>
      </p:cxnSp>
      <p:sp>
        <p:nvSpPr>
          <p:cNvPr id="706" name="TextBox 15"/>
          <p:cNvSpPr/>
          <p:nvPr/>
        </p:nvSpPr>
        <p:spPr>
          <a:xfrm>
            <a:off x="5613120" y="1842840"/>
            <a:ext cx="74160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−8%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Box 16"/>
          <p:cNvSpPr/>
          <p:nvPr/>
        </p:nvSpPr>
        <p:spPr>
          <a:xfrm>
            <a:off x="5511240" y="2354040"/>
            <a:ext cx="9453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+20%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Box 17"/>
          <p:cNvSpPr/>
          <p:nvPr/>
        </p:nvSpPr>
        <p:spPr>
          <a:xfrm>
            <a:off x="6547680" y="2052720"/>
            <a:ext cx="27972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=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18"/>
          <p:cNvSpPr/>
          <p:nvPr/>
        </p:nvSpPr>
        <p:spPr>
          <a:xfrm>
            <a:off x="6881040" y="2052720"/>
            <a:ext cx="868320" cy="64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59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−0.4</a:t>
            </a:r>
            <a:endParaRPr lang="en-US" sz="36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Rectangle 1"/>
          <p:cNvSpPr/>
          <p:nvPr/>
        </p:nvSpPr>
        <p:spPr>
          <a:xfrm>
            <a:off x="0" y="0"/>
            <a:ext cx="12185640" cy="378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TextBox 2"/>
          <p:cNvSpPr/>
          <p:nvPr/>
        </p:nvSpPr>
        <p:spPr>
          <a:xfrm>
            <a:off x="274320" y="18360"/>
            <a:ext cx="1096668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Demand Analysis · Elasticities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3"/>
          <p:cNvSpPr/>
          <p:nvPr/>
        </p:nvSpPr>
        <p:spPr>
          <a:xfrm>
            <a:off x="274320" y="502920"/>
            <a:ext cx="11634120" cy="70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Cross-Price Elasticity in the News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Rectangle 4"/>
          <p:cNvSpPr/>
          <p:nvPr/>
        </p:nvSpPr>
        <p:spPr>
          <a:xfrm>
            <a:off x="274320" y="1170360"/>
            <a:ext cx="1163412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4" name="Rectangle 5"/>
          <p:cNvSpPr/>
          <p:nvPr/>
        </p:nvSpPr>
        <p:spPr>
          <a:xfrm>
            <a:off x="274320" y="115668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Rectangle 6"/>
          <p:cNvSpPr/>
          <p:nvPr/>
        </p:nvSpPr>
        <p:spPr>
          <a:xfrm>
            <a:off x="0" y="6537960"/>
            <a:ext cx="12185640" cy="1224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6" name="Rectangle 7"/>
          <p:cNvSpPr/>
          <p:nvPr/>
        </p:nvSpPr>
        <p:spPr>
          <a:xfrm>
            <a:off x="274320" y="6519600"/>
            <a:ext cx="2005560" cy="3960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7" name="TextBox 8"/>
          <p:cNvSpPr/>
          <p:nvPr/>
        </p:nvSpPr>
        <p:spPr>
          <a:xfrm>
            <a:off x="274320" y="6565320"/>
            <a:ext cx="1005228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Demand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9"/>
          <p:cNvSpPr/>
          <p:nvPr/>
        </p:nvSpPr>
        <p:spPr>
          <a:xfrm>
            <a:off x="11338560" y="6565320"/>
            <a:ext cx="633960" cy="26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1" name="Picture 7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335024"/>
            <a:ext cx="3017520" cy="347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497317-0B64-3BB8-CBEC-909A5EC05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790" y="1749600"/>
            <a:ext cx="6180083" cy="1212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57603A-26E2-38E6-DE38-587A644FA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864" y="2894681"/>
            <a:ext cx="4988920" cy="361591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 dirty="0">
                <a:solidFill>
                  <a:srgbClr val="0B2B4E"/>
                </a:solidFill>
                <a:latin typeface="Calibri"/>
              </a:rPr>
              <a:t>Cheat Sheet: Own-Price Elasticity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44752"/>
            <a:ext cx="5394960" cy="2139696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B2B4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775" y="1940560"/>
            <a:ext cx="513074" cy="690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0" i="0">
                <a:solidFill>
                  <a:srgbClr val="0B2B4E"/>
                </a:solidFill>
                <a:latin typeface="Calibri"/>
              </a:rPr>
              <a:t>E</a:t>
            </a:r>
            <a:r>
              <a:rPr sz="3400" b="0" i="0" baseline="-2500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849" y="1940560"/>
            <a:ext cx="251632" cy="690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0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4481" y="1673448"/>
            <a:ext cx="779422" cy="5665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788" b="0" i="0">
                <a:solidFill>
                  <a:srgbClr val="0B2B4E"/>
                </a:solidFill>
                <a:latin typeface="Calibri"/>
              </a:rPr>
              <a:t>%ΔQ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4481" y="2332029"/>
            <a:ext cx="779422" cy="5665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788" b="0" i="0">
                <a:solidFill>
                  <a:srgbClr val="0B2B4E"/>
                </a:solidFill>
                <a:latin typeface="Calibri"/>
              </a:rPr>
              <a:t>%ΔP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84481" y="2286000"/>
            <a:ext cx="742847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283464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B2B4E"/>
                </a:solidFill>
                <a:latin typeface="Calibri"/>
              </a:rPr>
              <a:t>Intuitively:  </a:t>
            </a:r>
            <a:r>
              <a:rPr sz="2000" b="0" i="1">
                <a:solidFill>
                  <a:srgbClr val="0B2B4E"/>
                </a:solidFill>
                <a:latin typeface="Calibri"/>
              </a:rPr>
              <a:t>measures consumers' price sensitivity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44752"/>
            <a:ext cx="5486400" cy="2139696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5544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B2B4E"/>
                </a:solidFill>
                <a:latin typeface="Calibri"/>
              </a:rPr>
              <a:t>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84831"/>
            <a:ext cx="51663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300" b="1" i="0">
                <a:solidFill>
                  <a:srgbClr val="0070C0"/>
                </a:solidFill>
                <a:latin typeface="Calibri"/>
              </a:rPr>
              <a:t>Inelastic:  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−1 &lt; E</a:t>
            </a:r>
            <a:r>
              <a:rPr sz="23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 &lt; 0   (|E</a:t>
            </a:r>
            <a:r>
              <a:rPr sz="23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| &lt; 1)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300" b="1" i="0">
                <a:solidFill>
                  <a:srgbClr val="0070C0"/>
                </a:solidFill>
                <a:latin typeface="Calibri"/>
              </a:rPr>
              <a:t>Unit-elastic:  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E</a:t>
            </a:r>
            <a:r>
              <a:rPr sz="23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 = −1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300" b="1" i="0">
                <a:solidFill>
                  <a:srgbClr val="0070C0"/>
                </a:solidFill>
                <a:latin typeface="Calibri"/>
              </a:rPr>
              <a:t>Elastic:  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E</a:t>
            </a:r>
            <a:r>
              <a:rPr sz="23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 &lt; −1   (|E</a:t>
            </a:r>
            <a:r>
              <a:rPr sz="23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300" b="0" i="1">
                <a:solidFill>
                  <a:srgbClr val="0B2B4E"/>
                </a:solidFill>
                <a:latin typeface="Calibri"/>
              </a:rPr>
              <a:t>| &gt; 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57600"/>
            <a:ext cx="11064240" cy="246888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76732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B2B4E"/>
                </a:solidFill>
                <a:latin typeface="Calibri"/>
              </a:rPr>
              <a:t>Computing elasticity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8795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1">
                <a:solidFill>
                  <a:srgbClr val="0B2B4E"/>
                </a:solidFill>
                <a:latin typeface="Calibri"/>
              </a:rPr>
              <a:t>Two observed points (approximation):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87089" y="4907280"/>
            <a:ext cx="417228" cy="609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0" i="0">
                <a:solidFill>
                  <a:srgbClr val="0B2B4E"/>
                </a:solidFill>
                <a:latin typeface="Calibri"/>
              </a:rPr>
              <a:t>E</a:t>
            </a:r>
            <a:r>
              <a:rPr sz="3000" b="0" i="0" baseline="-2500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4318" y="4907280"/>
            <a:ext cx="226331" cy="609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0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0650" y="4684776"/>
            <a:ext cx="1474499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0" i="0">
                <a:solidFill>
                  <a:srgbClr val="0B2B4E"/>
                </a:solidFill>
                <a:latin typeface="Calibri"/>
              </a:rPr>
              <a:t>(Q₁−Q₀)/Q₀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0650" y="5251704"/>
            <a:ext cx="1474499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0" i="0">
                <a:solidFill>
                  <a:srgbClr val="0B2B4E"/>
                </a:solidFill>
                <a:latin typeface="Calibri"/>
              </a:rPr>
              <a:t>(P₁−P₀)/P₀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30650" y="5212080"/>
            <a:ext cx="1437924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0" y="418795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1">
                <a:solidFill>
                  <a:srgbClr val="0B2B4E"/>
                </a:solidFill>
                <a:latin typeface="Calibri"/>
              </a:rPr>
              <a:t>Whole demand function known: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3447" y="4704080"/>
            <a:ext cx="442579" cy="650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200" b="0" i="0">
                <a:solidFill>
                  <a:srgbClr val="0B2B4E"/>
                </a:solidFill>
                <a:latin typeface="Calibri"/>
              </a:rPr>
              <a:t>E</a:t>
            </a:r>
            <a:r>
              <a:rPr sz="3200" b="0" i="0" baseline="-2500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026" y="4704080"/>
            <a:ext cx="238982" cy="650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200" b="0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5008" y="4452680"/>
            <a:ext cx="500022" cy="5331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24" b="0" i="0">
                <a:solidFill>
                  <a:srgbClr val="0B2B4E"/>
                </a:solidFill>
                <a:latin typeface="Calibri"/>
              </a:rPr>
              <a:t>ΔQ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5008" y="5072522"/>
            <a:ext cx="500022" cy="5331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24" b="0" i="0">
                <a:solidFill>
                  <a:srgbClr val="0B2B4E"/>
                </a:solidFill>
                <a:latin typeface="Calibri"/>
              </a:rPr>
              <a:t>ΔP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05008" y="5029200"/>
            <a:ext cx="463447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005031" y="4704080"/>
            <a:ext cx="322921" cy="650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200" b="0" i="0">
                <a:solidFill>
                  <a:srgbClr val="0B2B4E"/>
                </a:solidFill>
                <a:latin typeface="Calibri"/>
              </a:rPr>
              <a:t> ·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7952" y="4452680"/>
            <a:ext cx="313640" cy="5331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24" b="0" i="0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7952" y="5072522"/>
            <a:ext cx="313640" cy="5331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24" b="0" i="0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27952" y="5029200"/>
            <a:ext cx="277064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0" y="566928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ΔQ/ΔP</a:t>
            </a:r>
            <a:r>
              <a:rPr sz="1700" b="0" i="1">
                <a:solidFill>
                  <a:srgbClr val="0B2B4E"/>
                </a:solidFill>
                <a:latin typeface="Calibri"/>
              </a:rPr>
              <a:t> = slope of the demand function (Q as a function of P)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2747</Words>
  <Application>Microsoft Office PowerPoint</Application>
  <PresentationFormat>Widescreen</PresentationFormat>
  <Paragraphs>686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CLEMENCE TRICAUD</dc:creator>
  <cp:keywords/>
  <dc:description>generated using python-pptx</dc:description>
  <cp:lastModifiedBy>Nico Voigtländer</cp:lastModifiedBy>
  <cp:revision>7</cp:revision>
  <dcterms:created xsi:type="dcterms:W3CDTF">2013-01-27T09:14:16Z</dcterms:created>
  <dcterms:modified xsi:type="dcterms:W3CDTF">2026-08-14T13:44:52Z</dcterms:modified>
  <cp:category/>
</cp:coreProperties>
</file>