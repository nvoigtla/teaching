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for the whole video. One firm, one product, two separate markets, and the same marginal cost of serving either. Profit maximization means setting marginal revenue equal in the two markets, and equal to marginal cost. Here is the intuition for why. If the two marginal revenues differ, you can move one unit from the low-marginal-revenue market to the high one and earn more without producing anything extra, so a single price for both cannot have been optimal. The rule in the box is what that works out to in practice, and the rest of the video is the arithmetic behind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numbers. Quantities are in thousands of cars and prices in thousands of dollars, so a price of 75 means $75,000. The two demand curves have the SAME slope; what differs is the intercept, 75 in the US against 95 in Germany. Marginal cost is 45 in both markets. Pause here and let them work out the two profit-maximizing prices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mechanics, done slowly, because the next three slides all reuse them. Write total revenue as price times quantity using the inverse demand, then differentiate to get marginal revenue, which for a linear demand keeps the same intercept and doubles the slope. Set that equal to marginal cost of 45 and solve for quantity, then put the quantity back into demand to get the price. The US answer is 30 thousand cars at $60 thousand, and it is set in dark red because that is the line delivering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Exactly the same three steps in Germany, with the higher intercept of 95. Marginal revenue is 95 minus Q, setting it equal to 45 gives 50 thousand cars, and demand then gives a price of $70 thousand. Notice that the higher price came out in Germany, and we have not said a word about elasticity yet.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 have so far, gathered in one place before the second question. Both optima are on the table: 30 thousand cars at $60 thousand in the US, 50 thousand at $70 thousand in Germany, with marginal cost 45 in both. Now ask them for the demand elasticity at each of those prices, and the Lerner Index that goes with it. Pause here as well.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inverting demand so that quantity is a function of price, because elasticity is defined on that derivative. The slope is minus 2, and elasticity is that slope times price over quantity, which gives minus 4.00 in the US. The Lerner Index is the mark-up as a share of price, 15 over 60, or 0.25. The recall box is the identity that ties the two together: the mark-up equals one over the absolute elasticity, and one over 4 is indeed 0.25.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Germany the same way. The slope is again minus 2, but price is 70 and quantity 50, so elasticity comes out at minus 2.80. That is LESS elastic than the US. The Lerner Index is 25 over 70, or 0.36, and again it is one over the absolute elasticity. So the market with the less elastic demand carries the bigger mark-up, which is the rule from the second slide arriving as a result rather than as an assertion.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two answers, drawn. Each panel carries its own demand curve and marginal revenue, the flat marginal cost line at 45, and the shaded rectangle between price and marginal cost out to the optimal quantity, which is the profit. The two panels share one quantity scale, so the rectangles really are comparable by eye. The double-headed arrow at the left edge of each rectangle is the mark-up, and it is visibly taller in Germany. Profit is $450 million in the US against $1,250 million in Germany.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counterfactual. To find the best single price you need the two markets combined, and the step people get wrong is that you add QUANTITIES at a given price, not prices at a given quantity. So invert both demands first, add them, then invert back. That gives P equals 85 minus 0.25 Q. Set marginal revenue equal to marginal cost on that curve and the best single price is $65 thousand on 80 thousand cars, worth $1,600 million. The check at the bottom matters: adding the two demands is only valid while BOTH markets are still buying, and $65 is below the US choke price of $75, so it 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picture for the single price. The kink in the demand curve is where the US drops out: above $75 thousand only Germany is still buying, so the upper segment IS Germany's demand curve, and below it the two add together. Name the kink and then leave it alone; how to aggregate demand formally is beyond this class. The profit rectangle here is $1,600 million, and the next slide puts it beside the two we found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and the take-away. Two separate prices earn $450 million plus $1,250 million, or $1,700 million. The best single price earns $1,600 million. The $100 million gap, about 6 percent, is what segmenting is worth here, and the direction never reverses: one price applied to two different demand curves can never beat giving each curve its own. And the reason the German price is the higher one is the elasticity result from earlier, not anything about German buyers being wealthier.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713232"/>
            <a:ext cx="12191695" cy="1005840"/>
          </a:xfrm>
          <a:prstGeom prst="rect">
            <a:avLst/>
          </a:prstGeom>
          <a:noFill/>
        </p:spPr>
        <p:txBody>
          <a:bodyPr wrap="square" lIns="0" rIns="0" tIns="0" bIns="0">
            <a:spAutoFit/>
          </a:bodyPr>
          <a:lstStyle/>
          <a:p>
            <a:pPr algn="ctr"/>
            <a:r>
              <a:rPr sz="5400" b="1" i="0" u="none">
                <a:solidFill>
                  <a:srgbClr val="0B2B4E"/>
                </a:solidFill>
                <a:latin typeface="Calibri"/>
              </a:rPr>
              <a:t>Optimal Pricing in Two Markets</a:t>
            </a:r>
          </a:p>
        </p:txBody>
      </p:sp>
      <p:sp>
        <p:nvSpPr>
          <p:cNvPr id="3" name="TextBox 2"/>
          <p:cNvSpPr txBox="1"/>
          <p:nvPr/>
        </p:nvSpPr>
        <p:spPr>
          <a:xfrm>
            <a:off x="0" y="1810512"/>
            <a:ext cx="12191695" cy="685800"/>
          </a:xfrm>
          <a:prstGeom prst="rect">
            <a:avLst/>
          </a:prstGeom>
          <a:noFill/>
        </p:spPr>
        <p:txBody>
          <a:bodyPr wrap="square" lIns="0" rIns="0" tIns="0" bIns="0">
            <a:spAutoFit/>
          </a:bodyPr>
          <a:lstStyle/>
          <a:p>
            <a:pPr algn="ctr"/>
            <a:r>
              <a:rPr sz="3600" b="1" i="0" u="none">
                <a:solidFill>
                  <a:srgbClr val="E09F3E"/>
                </a:solidFill>
                <a:latin typeface="Calibri"/>
              </a:rPr>
              <a:t>Module 6  ·  Practice Video</a:t>
            </a:r>
          </a:p>
        </p:txBody>
      </p:sp>
      <p:sp>
        <p:nvSpPr>
          <p:cNvPr id="4" name="Rectangle 3"/>
          <p:cNvSpPr/>
          <p:nvPr/>
        </p:nvSpPr>
        <p:spPr>
          <a:xfrm>
            <a:off x="4267047" y="2706624"/>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3017520"/>
            <a:ext cx="12191695" cy="502920"/>
          </a:xfrm>
          <a:prstGeom prst="rect">
            <a:avLst/>
          </a:prstGeom>
          <a:noFill/>
        </p:spPr>
        <p:txBody>
          <a:bodyPr wrap="square" lIns="0" rIns="0" tIns="0" bIns="0">
            <a:spAutoFit/>
          </a:bodyPr>
          <a:lstStyle/>
          <a:p>
            <a:pPr algn="ctr"/>
            <a:r>
              <a:rPr sz="2600" b="1" i="0" u="none">
                <a:solidFill>
                  <a:srgbClr val="555B66"/>
                </a:solidFill>
                <a:latin typeface="Calibri"/>
              </a:rPr>
              <a:t>Management 405</a:t>
            </a:r>
          </a:p>
        </p:txBody>
      </p:sp>
      <p:sp>
        <p:nvSpPr>
          <p:cNvPr id="6" name="TextBox 5"/>
          <p:cNvSpPr txBox="1"/>
          <p:nvPr/>
        </p:nvSpPr>
        <p:spPr>
          <a:xfrm>
            <a:off x="0" y="3657600"/>
            <a:ext cx="12191695" cy="338328"/>
          </a:xfrm>
          <a:prstGeom prst="rect">
            <a:avLst/>
          </a:prstGeom>
          <a:noFill/>
        </p:spPr>
        <p:txBody>
          <a:bodyPr wrap="square" lIns="0" rIns="0" tIns="0" bIns="0">
            <a:spAutoFit/>
          </a:bodyPr>
          <a:lstStyle/>
          <a:p>
            <a:pPr algn="ctr"/>
            <a:r>
              <a:rPr sz="2200" b="0" i="0" u="none">
                <a:solidFill>
                  <a:srgbClr val="555B66"/>
                </a:solidFill>
                <a:latin typeface="Calibri"/>
              </a:rPr>
              <a:t>Prof. Nico Voigtländer</a:t>
            </a:r>
          </a:p>
        </p:txBody>
      </p:sp>
      <p:pic>
        <p:nvPicPr>
          <p:cNvPr id="7" name="Picture 6" descr="PV_s01_car.png"/>
          <p:cNvPicPr>
            <a:picLocks noChangeAspect="1"/>
          </p:cNvPicPr>
          <p:nvPr/>
        </p:nvPicPr>
        <p:blipFill>
          <a:blip r:embed="rId2"/>
          <a:stretch>
            <a:fillRect/>
          </a:stretch>
        </p:blipFill>
        <p:spPr>
          <a:xfrm>
            <a:off x="256032" y="3831336"/>
            <a:ext cx="4361688" cy="2305738"/>
          </a:xfrm>
          <a:prstGeom prst="roundRect">
            <a:avLst>
              <a:gd name="adj" fmla="val 8000"/>
            </a:avLst>
          </a:prstGeom>
          <a:effectLst>
            <a:outerShdw blurRad="50800" dist="38100" dir="2700000" algn="tl" rotWithShape="0">
              <a:srgbClr val="000000">
                <a:alpha val="50000"/>
              </a:srgbClr>
            </a:outerShdw>
          </a:effectLst>
        </p:spPr>
      </p:pic>
      <p:pic>
        <p:nvPicPr>
          <p:cNvPr id="8" name="Picture 7" descr="PV_s01_right2.png"/>
          <p:cNvPicPr>
            <a:picLocks noChangeAspect="1"/>
          </p:cNvPicPr>
          <p:nvPr/>
        </p:nvPicPr>
        <p:blipFill>
          <a:blip r:embed="rId3"/>
          <a:stretch>
            <a:fillRect/>
          </a:stretch>
        </p:blipFill>
        <p:spPr>
          <a:xfrm>
            <a:off x="7507224" y="3922776"/>
            <a:ext cx="4425696" cy="2286856"/>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Segment Pricing Analytically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200"/>
            <a:ext cx="10881360" cy="1371600"/>
          </a:xfrm>
          <a:prstGeom prst="rect">
            <a:avLst/>
          </a:prstGeom>
          <a:noFill/>
        </p:spPr>
        <p:txBody>
          <a:bodyPr wrap="square" lIns="0" rIns="0" tIns="0" bIns="0">
            <a:noAutofit/>
          </a:bodyPr>
          <a:lstStyle>
            <a:lvl1pPr marL="342900" indent="-342900">
              <a:spcBef>
                <a:spcPts val="13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A firm produces the same product for two markets</a:t>
            </a:r>
          </a:p>
          <a:p>
            <a:pPr algn="l"/>
            <a:r>
              <a:rPr>
                <a:latin typeface="Calibri"/>
              </a:rPr>
              <a:t>Assume marginal cost is the same in both</a:t>
            </a:r>
          </a:p>
        </p:txBody>
      </p:sp>
      <p:sp>
        <p:nvSpPr>
          <p:cNvPr id="8" name="TextBox 7"/>
          <p:cNvSpPr txBox="1"/>
          <p:nvPr/>
        </p:nvSpPr>
        <p:spPr>
          <a:xfrm>
            <a:off x="731520" y="3154680"/>
            <a:ext cx="10881360" cy="384048"/>
          </a:xfrm>
          <a:prstGeom prst="rect">
            <a:avLst/>
          </a:prstGeom>
          <a:noFill/>
        </p:spPr>
        <p:txBody>
          <a:bodyPr wrap="square" lIns="0" rIns="0" tIns="0" bIns="0">
            <a:spAutoFit/>
          </a:bodyPr>
          <a:lstStyle/>
          <a:p>
            <a:pPr algn="l"/>
            <a:r>
              <a:rPr sz="2200" b="1" i="0" u="none">
                <a:solidFill>
                  <a:srgbClr val="0B2B4E"/>
                </a:solidFill>
                <a:latin typeface="Calibri"/>
              </a:rPr>
              <a:t>Profit maximization:</a:t>
            </a:r>
          </a:p>
        </p:txBody>
      </p:sp>
      <p:sp>
        <p:nvSpPr>
          <p:cNvPr id="9" name="TextBox 8"/>
          <p:cNvSpPr txBox="1"/>
          <p:nvPr/>
        </p:nvSpPr>
        <p:spPr>
          <a:xfrm>
            <a:off x="3803904" y="3529584"/>
            <a:ext cx="4572000" cy="603504"/>
          </a:xfrm>
          <a:prstGeom prst="roundRect">
            <a:avLst>
              <a:gd name="adj" fmla="val 14000"/>
            </a:avLst>
          </a:prstGeom>
          <a:solidFill>
            <a:srgbClr val="A2162A"/>
          </a:solidFill>
          <a:ln w="9525">
            <a:solidFill>
              <a:srgbClr val="A2162A"/>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400" b="0" i="1">
                <a:solidFill>
                  <a:srgbClr val="FFFFFF"/>
                </a:solidFill>
                <a:latin typeface="Cambria Math"/>
              </a:defRPr>
            </a:pPr>
            <a14:m>
              <m:oMathPara>
                <m:oMathParaPr>
                  <m:jc m:val="centerGroup"/>
                </m:oMathParaPr>
                <m:oMath>
                  <m:sSub>
                    <m:sSubPr>
                      <m:ctrlPr>
                        <a:rPr lang="en-US" i="1">
                          <a:latin typeface="Cambria Math"/>
                        </a:rPr>
                      </m:ctrlPr>
                    </m:sSubPr>
                    <m:e>
                      <m:r>
                        <a:rPr lang="en-US" b="0" i="1" sz="2400">
                          <a:solidFill>
                            <a:srgbClr val="FFFFFF"/>
                          </a:solidFill>
                          <a:latin typeface="Cambria Math"/>
                          <a:ea typeface="Cambria Math"/>
                        </a:rPr>
                        <m:t>MR</m:t>
                      </m:r>
                    </m:e>
                    <m:sub>
                      <m:r>
                        <m:rPr>
                          <m:sty m:val="p"/>
                        </m:rPr>
                        <a:rPr lang="en-US" b="0" i="0" sz="2400">
                          <a:solidFill>
                            <a:srgbClr val="FFFFFF"/>
                          </a:solidFill>
                          <a:latin typeface="Cambria Math"/>
                        </a:rPr>
                        <m:t xml:space="preserve">a</m:t>
                      </m:r>
                    </m:sub>
                  </m:sSub>
                  <m:r>
                    <m:rPr>
                      <m:sty m:val="p"/>
                    </m:rPr>
                    <a:rPr lang="en-US" b="0" i="0" sz="2400">
                      <a:solidFill>
                        <a:srgbClr val="FFFFFF"/>
                      </a:solidFill>
                      <a:latin typeface="Cambria Math"/>
                    </a:rPr>
                    <m:t xml:space="preserve"> = </m:t>
                  </m:r>
                  <m:sSub>
                    <m:sSubPr>
                      <m:ctrlPr>
                        <a:rPr lang="en-US" i="1">
                          <a:latin typeface="Cambria Math"/>
                        </a:rPr>
                      </m:ctrlPr>
                    </m:sSubPr>
                    <m:e>
                      <m:r>
                        <a:rPr lang="en-US" b="0" i="1" sz="2400">
                          <a:solidFill>
                            <a:srgbClr val="FFFFFF"/>
                          </a:solidFill>
                          <a:latin typeface="Cambria Math"/>
                          <a:ea typeface="Cambria Math"/>
                        </a:rPr>
                        <m:t>MR</m:t>
                      </m:r>
                    </m:e>
                    <m:sub>
                      <m:r>
                        <m:rPr>
                          <m:sty m:val="p"/>
                        </m:rPr>
                        <a:rPr lang="en-US" b="0" i="0" sz="2400">
                          <a:solidFill>
                            <a:srgbClr val="FFFFFF"/>
                          </a:solidFill>
                          <a:latin typeface="Cambria Math"/>
                        </a:rPr>
                        <m:t xml:space="preserve">b</m:t>
                      </m:r>
                    </m:sub>
                  </m:sSub>
                  <m:r>
                    <m:rPr>
                      <m:sty m:val="p"/>
                    </m:rPr>
                    <a:rPr lang="en-US" b="0" i="0" sz="2400">
                      <a:solidFill>
                        <a:srgbClr val="FFFFFF"/>
                      </a:solidFill>
                      <a:latin typeface="Cambria Math"/>
                    </a:rPr>
                    <m:t xml:space="preserve">  ( = </m:t>
                  </m:r>
                  <m:r>
                    <a:rPr lang="en-US" b="0" i="1" sz="2400">
                      <a:solidFill>
                        <a:srgbClr val="FFFFFF"/>
                      </a:solidFill>
                      <a:latin typeface="Cambria Math"/>
                      <a:ea typeface="Cambria Math"/>
                    </a:rPr>
                    <m:t>MC</m:t>
                  </m:r>
                  <m:r>
                    <m:rPr>
                      <m:sty m:val="p"/>
                    </m:rPr>
                    <a:rPr lang="en-US" b="0" i="0" sz="2400">
                      <a:solidFill>
                        <a:srgbClr val="FFFFFF"/>
                      </a:solidFill>
                      <a:latin typeface="Cambria Math"/>
                    </a:rPr>
                    <m:t xml:space="preserve"> )</m:t>
                  </m:r>
                </m:oMath>
              </m:oMathPara>
            </a14:m>
            <a:endParaRPr lang="en-US" sz="2400"/>
          </a:p>
        </p:txBody>
      </p:sp>
      <p:sp>
        <p:nvSpPr>
          <p:cNvPr id="10" name="TextBox 9"/>
          <p:cNvSpPr txBox="1"/>
          <p:nvPr/>
        </p:nvSpPr>
        <p:spPr>
          <a:xfrm>
            <a:off x="731520" y="4343400"/>
            <a:ext cx="10881360" cy="731520"/>
          </a:xfrm>
          <a:prstGeom prst="rect">
            <a:avLst/>
          </a:prstGeom>
          <a:noFill/>
        </p:spPr>
        <p:txBody>
          <a:bodyPr wrap="square" lIns="0" rIns="0" tIns="0" bIns="0">
            <a:noAutofit/>
          </a:bodyPr>
          <a:lstStyle>
            <a:lvl1pPr marL="342900" indent="-342900">
              <a:spcBef>
                <a:spcPts val="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a:latin typeface="Calibri"/>
              </a:rPr>
              <a:t>If the two marginal revenues differ, one price for both markets cannot be optimal</a:t>
            </a:r>
          </a:p>
        </p:txBody>
      </p:sp>
      <p:sp>
        <p:nvSpPr>
          <p:cNvPr id="11" name="Rounded Rectangle 10"/>
          <p:cNvSpPr/>
          <p:nvPr/>
        </p:nvSpPr>
        <p:spPr>
          <a:xfrm>
            <a:off x="2560320" y="5385816"/>
            <a:ext cx="7077456" cy="576072"/>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RULE:  charge the higher price in the less elastic market</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92B64BE3-EAA0-5B55-B44E-8B588CEF81A4}" type="slidenum">
              <a:rPr lang="en-US" sz="1200" dirty="0">
                <a:solidFill>
                  <a:srgbClr val="555B66"/>
                </a:solidFill>
                <a:latin typeface="Calibri"/>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BMW and Segmentation: Setup and Question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417320"/>
            <a:ext cx="10607040" cy="585216"/>
          </a:xfrm>
          <a:prstGeom prst="roundRect">
            <a:avLst>
              <a:gd name="adj" fmla="val 12000"/>
            </a:avLst>
          </a:prstGeom>
          <a:solidFill>
            <a:srgbClr val="1B5E20">
              <a:alpha val="15000"/>
            </a:srgbClr>
          </a:solidFill>
          <a:ln w="19050">
            <a:solidFill>
              <a:srgbClr val="1B5E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27048"/>
            <a:ext cx="10241280" cy="365760"/>
          </a:xfrm>
          <a:prstGeom prst="rect">
            <a:avLst/>
          </a:prstGeom>
          <a:noFill/>
        </p:spPr>
        <p:txBody>
          <a:bodyPr wrap="square" lIns="45720" rIns="45720" tIns="0" bIns="0" anchor="ctr">
            <a:spAutoFit/>
          </a:bodyPr>
          <a:lstStyle/>
          <a:p>
            <a:pPr algn="l"/>
            <a:r>
              <a:rPr sz="2100" b="1" i="0" u="none">
                <a:solidFill>
                  <a:srgbClr val="1B5E20"/>
                </a:solidFill>
                <a:latin typeface="Calibri"/>
              </a:rPr>
              <a:t>Your turn:  </a:t>
            </a:r>
            <a:r>
              <a:rPr sz="2100" b="0" i="0" u="none">
                <a:solidFill>
                  <a:srgbClr val="1B5E20"/>
                </a:solidFill>
                <a:latin typeface="Calibri"/>
              </a:rPr>
              <a:t>1. What is the profit-maximizing price in the US and in Germany?</a:t>
            </a:r>
          </a:p>
        </p:txBody>
      </p:sp>
      <p:sp>
        <p:nvSpPr>
          <p:cNvPr id="9" name="TextBox 8"/>
          <p:cNvSpPr txBox="1"/>
          <p:nvPr/>
        </p:nvSpPr>
        <p:spPr>
          <a:xfrm>
            <a:off x="777240" y="2304288"/>
            <a:ext cx="5486400" cy="384048"/>
          </a:xfrm>
          <a:prstGeom prst="rect">
            <a:avLst/>
          </a:prstGeom>
          <a:noFill/>
        </p:spPr>
        <p:txBody>
          <a:bodyPr wrap="square" lIns="0" rIns="0" tIns="0" bIns="0">
            <a:spAutoFit/>
          </a:bodyPr>
          <a:lstStyle/>
          <a:p>
            <a:pPr algn="l"/>
            <a:r>
              <a:rPr sz="2500" b="1" i="0" u="none">
                <a:solidFill>
                  <a:srgbClr val="0B2B4E"/>
                </a:solidFill>
                <a:latin typeface="Calibri"/>
              </a:rPr>
              <a:t>What we know:</a:t>
            </a:r>
          </a:p>
        </p:txBody>
      </p:sp>
      <p:sp>
        <p:nvSpPr>
          <p:cNvPr id="10" name="Rectangle 9"/>
          <p:cNvSpPr/>
          <p:nvPr/>
        </p:nvSpPr>
        <p:spPr>
          <a:xfrm>
            <a:off x="777240" y="2724912"/>
            <a:ext cx="96012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71216"/>
            <a:ext cx="10607040" cy="548640"/>
          </a:xfrm>
          <a:prstGeom prst="rect">
            <a:avLst/>
          </a:prstGeom>
          <a:noFill/>
        </p:spPr>
        <p:txBody>
          <a:bodyPr wrap="square" lIns="0" rIns="0" tIns="0" bIns="0">
            <a:noAutofit/>
          </a:bodyPr>
          <a:lstStyle>
            <a:lvl1pPr marL="342900" indent="-342900">
              <a:spcBef>
                <a:spcPts val="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r>
              <a:rPr>
                <a:latin typeface="Calibri"/>
              </a:rPr>
              <a:t>Q : number of cars (in 1,000)</a:t>
            </a:r>
          </a:p>
        </p:txBody>
      </p:sp>
      <p:sp>
        <p:nvSpPr>
          <p:cNvPr id="12" name="TextBox 11"/>
          <p:cNvSpPr txBox="1"/>
          <p:nvPr/>
        </p:nvSpPr>
        <p:spPr>
          <a:xfrm>
            <a:off x="731520" y="3456432"/>
            <a:ext cx="10881360" cy="384048"/>
          </a:xfrm>
          <a:prstGeom prst="rect">
            <a:avLst/>
          </a:prstGeom>
          <a:noFill/>
        </p:spPr>
        <p:txBody>
          <a:bodyPr wrap="square" lIns="0" rIns="0" tIns="0" bIns="0">
            <a:spAutoFit/>
          </a:bodyPr>
          <a:lstStyle/>
          <a:p>
            <a:pPr algn="l"/>
            <a:r>
              <a:rPr sz="2300" b="1" i="0" u="none">
                <a:solidFill>
                  <a:srgbClr val="0B2B4E"/>
                </a:solidFill>
                <a:latin typeface="Calibri"/>
              </a:rPr>
              <a:t>(Inverse) demand in the US:</a:t>
            </a:r>
          </a:p>
        </p:txBody>
      </p:sp>
      <p:sp>
        <p:nvSpPr>
          <p:cNvPr id="13" name="TextBox 12"/>
          <p:cNvSpPr txBox="1"/>
          <p:nvPr/>
        </p:nvSpPr>
        <p:spPr>
          <a:xfrm>
            <a:off x="4663440" y="3895344"/>
            <a:ext cx="5486400" cy="5029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a:rPr lang="en-US" b="0" i="1" sz="2600">
                      <a:solidFill>
                        <a:srgbClr val="0B2B4E"/>
                      </a:solidFill>
                      <a:latin typeface="Cambria Math"/>
                      <a:ea typeface="Cambria Math"/>
                    </a:rPr>
                    <m:t>P</m:t>
                  </m:r>
                  <m:r>
                    <m:rPr>
                      <m:sty m:val="p"/>
                    </m:rPr>
                    <a:rPr lang="en-US" b="0" i="0" sz="2600">
                      <a:solidFill>
                        <a:srgbClr val="0B2B4E"/>
                      </a:solidFill>
                      <a:latin typeface="Cambria Math"/>
                    </a:rPr>
                    <m:t xml:space="preserve"> = 75 − 0.5</m:t>
                  </m:r>
                  <m:r>
                    <a:rPr lang="en-US" b="0" i="1" sz="2600">
                      <a:solidFill>
                        <a:srgbClr val="0B2B4E"/>
                      </a:solidFill>
                      <a:latin typeface="Cambria Math"/>
                      <a:ea typeface="Cambria Math"/>
                    </a:rPr>
                    <m:t>Q</m:t>
                  </m:r>
                </m:oMath>
              </m:oMathPara>
            </a14:m>
            <a:endParaRPr lang="en-US" sz="2600"/>
          </a:p>
        </p:txBody>
      </p:sp>
      <p:sp>
        <p:nvSpPr>
          <p:cNvPr id="14" name="TextBox 13"/>
          <p:cNvSpPr txBox="1"/>
          <p:nvPr/>
        </p:nvSpPr>
        <p:spPr>
          <a:xfrm>
            <a:off x="731520" y="4535424"/>
            <a:ext cx="10881360" cy="384048"/>
          </a:xfrm>
          <a:prstGeom prst="rect">
            <a:avLst/>
          </a:prstGeom>
          <a:noFill/>
        </p:spPr>
        <p:txBody>
          <a:bodyPr wrap="square" lIns="0" rIns="0" tIns="0" bIns="0">
            <a:spAutoFit/>
          </a:bodyPr>
          <a:lstStyle/>
          <a:p>
            <a:pPr algn="l"/>
            <a:r>
              <a:rPr sz="2300" b="1" i="0" u="none">
                <a:solidFill>
                  <a:srgbClr val="0B2B4E"/>
                </a:solidFill>
                <a:latin typeface="Calibri"/>
              </a:rPr>
              <a:t>(Inverse) demand in Germany:</a:t>
            </a:r>
          </a:p>
        </p:txBody>
      </p:sp>
      <p:sp>
        <p:nvSpPr>
          <p:cNvPr id="15" name="TextBox 14"/>
          <p:cNvSpPr txBox="1"/>
          <p:nvPr/>
        </p:nvSpPr>
        <p:spPr>
          <a:xfrm>
            <a:off x="4663440" y="4974336"/>
            <a:ext cx="5486400" cy="50292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r>
                    <a:rPr lang="en-US" b="0" i="1" sz="2600">
                      <a:solidFill>
                        <a:srgbClr val="0B2B4E"/>
                      </a:solidFill>
                      <a:latin typeface="Cambria Math"/>
                      <a:ea typeface="Cambria Math"/>
                    </a:rPr>
                    <m:t>P</m:t>
                  </m:r>
                  <m:r>
                    <m:rPr>
                      <m:sty m:val="p"/>
                    </m:rPr>
                    <a:rPr lang="en-US" b="0" i="0" sz="2600">
                      <a:solidFill>
                        <a:srgbClr val="0B2B4E"/>
                      </a:solidFill>
                      <a:latin typeface="Cambria Math"/>
                    </a:rPr>
                    <m:t xml:space="preserve"> = 95 − 0.5</m:t>
                  </m:r>
                  <m:r>
                    <a:rPr lang="en-US" b="0" i="1" sz="2600">
                      <a:solidFill>
                        <a:srgbClr val="0B2B4E"/>
                      </a:solidFill>
                      <a:latin typeface="Cambria Math"/>
                      <a:ea typeface="Cambria Math"/>
                    </a:rPr>
                    <m:t>Q</m:t>
                  </m:r>
                </m:oMath>
              </m:oMathPara>
            </a14:m>
            <a:endParaRPr lang="en-US" sz="2600"/>
          </a:p>
        </p:txBody>
      </p:sp>
      <p:sp>
        <p:nvSpPr>
          <p:cNvPr id="16" name="TextBox 15"/>
          <p:cNvSpPr txBox="1"/>
          <p:nvPr/>
        </p:nvSpPr>
        <p:spPr>
          <a:xfrm>
            <a:off x="731520" y="5614416"/>
            <a:ext cx="10881360" cy="384048"/>
          </a:xfrm>
          <a:prstGeom prst="rect">
            <a:avLst/>
          </a:prstGeom>
          <a:noFill/>
        </p:spPr>
        <p:txBody>
          <a:bodyPr wrap="square" lIns="0" rIns="0" tIns="0" bIns="0">
            <a:spAutoFit/>
          </a:bodyPr>
          <a:lstStyle/>
          <a:p>
            <a:pPr algn="l"/>
            <a:r>
              <a:rPr sz="2300" b="1" i="0" u="none">
                <a:solidFill>
                  <a:srgbClr val="0B2B4E"/>
                </a:solidFill>
                <a:latin typeface="Calibri"/>
              </a:rPr>
              <a:t>MC = 45 in both markets   [in $1,000]</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20" name="TextBox 19"/>
          <p:cNvSpPr txBox="1"/>
          <p:nvPr/>
        </p:nvSpPr>
        <p:spPr>
          <a:xfrm>
            <a:off x="11475720" y="6583680"/>
            <a:ext cx="502920" cy="292608"/>
          </a:xfrm>
          <a:prstGeom prst="rect">
            <a:avLst/>
          </a:prstGeom>
          <a:noFill/>
        </p:spPr>
        <p:txBody>
          <a:bodyPr wrap="none" lIns="0" rIns="0" tIns="0" bIns="0">
            <a:spAutoFit/>
          </a:bodyPr>
          <a:lstStyle/>
          <a:p>
            <a:pPr algn="r"/>
            <a:fld id="{A45A4D84-7183-56C5-AAA9-0FBCD4EF9048}" type="slidenum">
              <a:rPr lang="en-US" sz="1200" dirty="0">
                <a:solidFill>
                  <a:srgbClr val="555B66"/>
                </a:solidFill>
                <a:latin typeface="Calibri"/>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Profit Maximization in the US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10881360" cy="384048"/>
          </a:xfrm>
          <a:prstGeom prst="rect">
            <a:avLst/>
          </a:prstGeom>
          <a:noFill/>
        </p:spPr>
        <p:txBody>
          <a:bodyPr wrap="square" lIns="0" rIns="0" tIns="0" bIns="0">
            <a:spAutoFit/>
          </a:bodyPr>
          <a:lstStyle/>
          <a:p>
            <a:pPr algn="l"/>
            <a:r>
              <a:rPr sz="2200" b="1" i="0" u="none">
                <a:solidFill>
                  <a:srgbClr val="0B2B4E"/>
                </a:solidFill>
                <a:latin typeface="Calibri"/>
              </a:rPr>
              <a:t>Compute MR:</a:t>
            </a:r>
          </a:p>
        </p:txBody>
      </p:sp>
      <p:sp>
        <p:nvSpPr>
          <p:cNvPr id="8" name="TextBox 7"/>
          <p:cNvSpPr txBox="1"/>
          <p:nvPr/>
        </p:nvSpPr>
        <p:spPr>
          <a:xfrm>
            <a:off x="1188720" y="2011680"/>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75 − 0.5</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oMath>
              </m:oMathPara>
            </a14:m>
            <a:endParaRPr lang="en-US" sz="2300"/>
          </a:p>
        </p:txBody>
      </p:sp>
      <p:sp>
        <p:nvSpPr>
          <p:cNvPr id="9" name="TextBox 8"/>
          <p:cNvSpPr txBox="1"/>
          <p:nvPr/>
        </p:nvSpPr>
        <p:spPr>
          <a:xfrm>
            <a:off x="1188720" y="2542032"/>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TR</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m:t>
                  </m:r>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75·</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− 0.5</m:t>
                  </m:r>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e>
                    <m:sup>
                      <m:r>
                        <m:rPr>
                          <m:sty m:val="p"/>
                        </m:rPr>
                        <a:rPr lang="en-US" b="0" i="0" sz="2300">
                          <a:solidFill>
                            <a:srgbClr val="0B2B4E"/>
                          </a:solidFill>
                          <a:latin typeface="Cambria Math"/>
                        </a:rPr>
                        <m:t xml:space="preserve">2</m:t>
                      </m:r>
                    </m:sup>
                  </m:sSup>
                </m:oMath>
              </m:oMathPara>
            </a14:m>
            <a:endParaRPr lang="en-US" sz="2300"/>
          </a:p>
        </p:txBody>
      </p:sp>
      <p:sp>
        <p:nvSpPr>
          <p:cNvPr id="10" name="TextBox 9"/>
          <p:cNvSpPr txBox="1"/>
          <p:nvPr/>
        </p:nvSpPr>
        <p:spPr>
          <a:xfrm>
            <a:off x="1188720" y="3072384"/>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MR</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75 − </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oMath>
              </m:oMathPara>
            </a14:m>
            <a:endParaRPr lang="en-US" sz="2300"/>
          </a:p>
        </p:txBody>
      </p:sp>
      <p:sp>
        <p:nvSpPr>
          <p:cNvPr id="11" name="TextBox 10"/>
          <p:cNvSpPr txBox="1"/>
          <p:nvPr/>
        </p:nvSpPr>
        <p:spPr>
          <a:xfrm>
            <a:off x="731520" y="3749039"/>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solidFill>
                        <a:srgbClr val="0B2B4E"/>
                      </a:solidFill>
                      <a:latin typeface="Cambria Math"/>
                    </a:rPr>
                    <m:t xml:space="preserve">Set   </m:t>
                  </m:r>
                  <m:sSub>
                    <m:sSubPr>
                      <m:ctrlPr>
                        <a:rPr lang="en-US" i="1">
                          <a:latin typeface="Cambria Math"/>
                        </a:rPr>
                      </m:ctrlPr>
                    </m:sSubPr>
                    <m:e>
                      <m:r>
                        <a:rPr lang="en-US" b="0" i="1" sz="2200">
                          <a:solidFill>
                            <a:srgbClr val="0B2B4E"/>
                          </a:solidFill>
                          <a:latin typeface="Cambria Math"/>
                          <a:ea typeface="Cambria Math"/>
                        </a:rPr>
                        <m:t>MR</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 </m:t>
                  </m:r>
                  <m:r>
                    <a:rPr lang="en-US" b="0" i="1" sz="2200">
                      <a:solidFill>
                        <a:srgbClr val="0B2B4E"/>
                      </a:solidFill>
                      <a:latin typeface="Cambria Math"/>
                      <a:ea typeface="Cambria Math"/>
                    </a:rPr>
                    <m:t>MC</m:t>
                  </m:r>
                  <m:r>
                    <m:rPr>
                      <m:sty m:val="p"/>
                    </m:rPr>
                    <a:rPr lang="en-US" b="0" i="0" sz="2200">
                      <a:solidFill>
                        <a:srgbClr val="0B2B4E"/>
                      </a:solidFill>
                      <a:latin typeface="Cambria Math"/>
                    </a:rPr>
                    <m:t xml:space="preserve">     (recall: </m:t>
                  </m:r>
                  <m:r>
                    <a:rPr lang="en-US" b="0" i="1" sz="2200">
                      <a:solidFill>
                        <a:srgbClr val="0B2B4E"/>
                      </a:solidFill>
                      <a:latin typeface="Cambria Math"/>
                      <a:ea typeface="Cambria Math"/>
                    </a:rPr>
                    <m:t>MC</m:t>
                  </m:r>
                  <m:r>
                    <m:rPr>
                      <m:sty m:val="p"/>
                    </m:rPr>
                    <a:rPr lang="en-US" b="0" i="0" sz="2200">
                      <a:solidFill>
                        <a:srgbClr val="0B2B4E"/>
                      </a:solidFill>
                      <a:latin typeface="Cambria Math"/>
                    </a:rPr>
                    <m:t xml:space="preserve"> = 45)</m:t>
                  </m:r>
                </m:oMath>
              </m:oMathPara>
            </a14:m>
            <a:endParaRPr lang="en-US" sz="2200"/>
          </a:p>
        </p:txBody>
      </p:sp>
      <p:sp>
        <p:nvSpPr>
          <p:cNvPr id="12" name="TextBox 11"/>
          <p:cNvSpPr txBox="1"/>
          <p:nvPr/>
        </p:nvSpPr>
        <p:spPr>
          <a:xfrm>
            <a:off x="1188720" y="4206240"/>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r>
                    <m:rPr>
                      <m:sty m:val="p"/>
                    </m:rPr>
                    <a:rPr lang="en-US" b="0" i="0" sz="2300">
                      <a:solidFill>
                        <a:srgbClr val="0B2B4E"/>
                      </a:solidFill>
                      <a:latin typeface="Cambria Math"/>
                    </a:rPr>
                    <m:t xml:space="preserve">75 − </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45</m:t>
                  </m:r>
                </m:oMath>
              </m:oMathPara>
            </a14:m>
            <a:endParaRPr lang="en-US" sz="2300"/>
          </a:p>
        </p:txBody>
      </p:sp>
      <p:sp>
        <p:nvSpPr>
          <p:cNvPr id="13" name="TextBox 12"/>
          <p:cNvSpPr txBox="1"/>
          <p:nvPr/>
        </p:nvSpPr>
        <p:spPr>
          <a:xfrm>
            <a:off x="1188720" y="4736592"/>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e>
                    <m:sup>
                      <m:r>
                        <m:rPr>
                          <m:sty m:val="p"/>
                        </m:rPr>
                        <a:rPr lang="en-US" b="0" i="0" sz="2300">
                          <a:solidFill>
                            <a:srgbClr val="0B2B4E"/>
                          </a:solidFill>
                          <a:latin typeface="Cambria Math"/>
                        </a:rPr>
                        <m:t xml:space="preserve">*</m:t>
                      </m:r>
                    </m:sup>
                  </m:sSup>
                  <m:r>
                    <m:rPr>
                      <m:sty m:val="p"/>
                    </m:rPr>
                    <a:rPr lang="en-US" b="0" i="0" sz="2300">
                      <a:solidFill>
                        <a:srgbClr val="0B2B4E"/>
                      </a:solidFill>
                      <a:latin typeface="Cambria Math"/>
                    </a:rPr>
                    <m:t xml:space="preserve"> = 30</m:t>
                  </m:r>
                </m:oMath>
              </m:oMathPara>
            </a14:m>
            <a:endParaRPr lang="en-US" sz="2300"/>
          </a:p>
        </p:txBody>
      </p:sp>
      <p:sp>
        <p:nvSpPr>
          <p:cNvPr id="14" name="TextBox 13"/>
          <p:cNvSpPr txBox="1"/>
          <p:nvPr/>
        </p:nvSpPr>
        <p:spPr>
          <a:xfrm>
            <a:off x="1188720" y="5303520"/>
            <a:ext cx="9692640" cy="566928"/>
          </a:xfrm>
          <a:prstGeom prst="rect">
            <a:avLst/>
          </a:prstGeom>
          <a:noFill/>
        </p:spPr>
        <p:txBody>
          <a:bodyPr wrap="square" anchor="ctr">
            <a:spAutoFit/>
          </a:bodyPr>
          <a:lstStyle/>
          <a:p xmlns:m="http://schemas.openxmlformats.org/officeDocument/2006/math" xmlns:a14="http://schemas.microsoft.com/office/drawing/2010/main">
            <a:pPr algn="ctr">
              <a:defRPr sz="2700" b="0" i="1">
                <a:solidFill>
                  <a:srgbClr val="A2162A"/>
                </a:solidFill>
                <a:latin typeface="Cambria Math"/>
              </a:defRPr>
            </a:pPr>
            <a14:m>
              <m:oMathPara>
                <m:oMathParaPr>
                  <m:jc m:val="centerGroup"/>
                </m:oMathParaPr>
                <m:oMath>
                  <m:sSup>
                    <m:sSupPr>
                      <m:ctrlPr>
                        <a:rPr lang="en-US" i="1">
                          <a:latin typeface="Cambria Math"/>
                        </a:rPr>
                      </m:ctrlPr>
                    </m:sSupPr>
                    <m:e>
                      <m:sSub>
                        <m:sSubPr>
                          <m:ctrlPr>
                            <a:rPr lang="en-US" i="1">
                              <a:latin typeface="Cambria Math"/>
                            </a:rPr>
                          </m:ctrlPr>
                        </m:sSubPr>
                        <m:e>
                          <m:r>
                            <a:rPr lang="en-US" b="0" i="1" sz="2700">
                              <a:solidFill>
                                <a:srgbClr val="A2162A"/>
                              </a:solidFill>
                              <a:latin typeface="Cambria Math"/>
                              <a:ea typeface="Cambria Math"/>
                            </a:rPr>
                            <m:t>P</m:t>
                          </m:r>
                        </m:e>
                        <m:sub>
                          <m:r>
                            <m:rPr>
                              <m:sty m:val="p"/>
                            </m:rPr>
                            <a:rPr lang="en-US" b="0" i="0" sz="2700">
                              <a:solidFill>
                                <a:srgbClr val="A2162A"/>
                              </a:solidFill>
                              <a:latin typeface="Cambria Math"/>
                            </a:rPr>
                            <m:t xml:space="preserve">US</m:t>
                          </m:r>
                        </m:sub>
                      </m:sSub>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75 − 0.5·</m:t>
                  </m:r>
                  <m:sSup>
                    <m:sSupPr>
                      <m:ctrlPr>
                        <a:rPr lang="en-US" i="1">
                          <a:latin typeface="Cambria Math"/>
                        </a:rPr>
                      </m:ctrlPr>
                    </m:sSupPr>
                    <m:e>
                      <m:sSub>
                        <m:sSubPr>
                          <m:ctrlPr>
                            <a:rPr lang="en-US" i="1">
                              <a:latin typeface="Cambria Math"/>
                            </a:rPr>
                          </m:ctrlPr>
                        </m:sSubPr>
                        <m:e>
                          <m:r>
                            <a:rPr lang="en-US" b="0" i="1" sz="2700">
                              <a:solidFill>
                                <a:srgbClr val="A2162A"/>
                              </a:solidFill>
                              <a:latin typeface="Cambria Math"/>
                              <a:ea typeface="Cambria Math"/>
                            </a:rPr>
                            <m:t>Q</m:t>
                          </m:r>
                        </m:e>
                        <m:sub>
                          <m:r>
                            <m:rPr>
                              <m:sty m:val="p"/>
                            </m:rPr>
                            <a:rPr lang="en-US" b="0" i="0" sz="2700">
                              <a:solidFill>
                                <a:srgbClr val="A2162A"/>
                              </a:solidFill>
                              <a:latin typeface="Cambria Math"/>
                            </a:rPr>
                            <m:t xml:space="preserve">US</m:t>
                          </m:r>
                        </m:sub>
                      </m:sSub>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m:t>
                  </m:r>
                  <m:sSup>
                    <m:sSupPr>
                      <m:ctrlPr>
                        <a:rPr lang="en-US" i="1">
                          <a:latin typeface="Cambria Math"/>
                        </a:rPr>
                      </m:ctrlPr>
                    </m:sSupPr>
                    <m:e>
                      <m:sSub>
                        <m:sSubPr>
                          <m:ctrlPr>
                            <a:rPr lang="en-US" i="1">
                              <a:latin typeface="Cambria Math"/>
                            </a:rPr>
                          </m:ctrlPr>
                        </m:sSubPr>
                        <m:e>
                          <m:r>
                            <a:rPr lang="en-US" b="0" i="1" sz="2700">
                              <a:solidFill>
                                <a:srgbClr val="A2162A"/>
                              </a:solidFill>
                              <a:latin typeface="Cambria Math"/>
                              <a:ea typeface="Cambria Math"/>
                            </a:rPr>
                            <m:t>P</m:t>
                          </m:r>
                        </m:e>
                        <m:sub>
                          <m:r>
                            <m:rPr>
                              <m:sty m:val="p"/>
                            </m:rPr>
                            <a:rPr lang="en-US" b="0" i="0" sz="2700">
                              <a:solidFill>
                                <a:srgbClr val="A2162A"/>
                              </a:solidFill>
                              <a:latin typeface="Cambria Math"/>
                            </a:rPr>
                            <m:t xml:space="preserve">US</m:t>
                          </m:r>
                        </m:sub>
                      </m:sSub>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60</m:t>
                  </m:r>
                </m:oMath>
              </m:oMathPara>
            </a14:m>
            <a:endParaRPr lang="en-US" sz="2700"/>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18" name="TextBox 17"/>
          <p:cNvSpPr txBox="1"/>
          <p:nvPr/>
        </p:nvSpPr>
        <p:spPr>
          <a:xfrm>
            <a:off x="11475720" y="6583680"/>
            <a:ext cx="502920" cy="292608"/>
          </a:xfrm>
          <a:prstGeom prst="rect">
            <a:avLst/>
          </a:prstGeom>
          <a:noFill/>
        </p:spPr>
        <p:txBody>
          <a:bodyPr wrap="none" lIns="0" rIns="0" tIns="0" bIns="0">
            <a:spAutoFit/>
          </a:bodyPr>
          <a:lstStyle/>
          <a:p>
            <a:pPr algn="r"/>
            <a:fld id="{15B941D9-D594-59B7-AD0C-322EB1EE6C39}" type="slidenum">
              <a:rPr lang="en-US" sz="1200" dirty="0">
                <a:solidFill>
                  <a:srgbClr val="555B66"/>
                </a:solidFill>
                <a:latin typeface="Calibri"/>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Profit Maximization in Germany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10881360" cy="384048"/>
          </a:xfrm>
          <a:prstGeom prst="rect">
            <a:avLst/>
          </a:prstGeom>
          <a:noFill/>
        </p:spPr>
        <p:txBody>
          <a:bodyPr wrap="square" lIns="0" rIns="0" tIns="0" bIns="0">
            <a:spAutoFit/>
          </a:bodyPr>
          <a:lstStyle/>
          <a:p>
            <a:pPr algn="l"/>
            <a:r>
              <a:rPr sz="2200" b="1" i="0" u="none">
                <a:solidFill>
                  <a:srgbClr val="0B2B4E"/>
                </a:solidFill>
                <a:latin typeface="Calibri"/>
              </a:rPr>
              <a:t>Compute MR:</a:t>
            </a:r>
          </a:p>
        </p:txBody>
      </p:sp>
      <p:sp>
        <p:nvSpPr>
          <p:cNvPr id="8" name="TextBox 7"/>
          <p:cNvSpPr txBox="1"/>
          <p:nvPr/>
        </p:nvSpPr>
        <p:spPr>
          <a:xfrm>
            <a:off x="1188720" y="2011680"/>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95 − 0.5</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oMath>
              </m:oMathPara>
            </a14:m>
            <a:endParaRPr lang="en-US" sz="2300"/>
          </a:p>
        </p:txBody>
      </p:sp>
      <p:sp>
        <p:nvSpPr>
          <p:cNvPr id="9" name="TextBox 8"/>
          <p:cNvSpPr txBox="1"/>
          <p:nvPr/>
        </p:nvSpPr>
        <p:spPr>
          <a:xfrm>
            <a:off x="1188720" y="2542032"/>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TR</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m:t>
                  </m:r>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95·</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− 0.5</m:t>
                  </m:r>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e>
                    <m:sup>
                      <m:r>
                        <m:rPr>
                          <m:sty m:val="p"/>
                        </m:rPr>
                        <a:rPr lang="en-US" b="0" i="0" sz="2300">
                          <a:solidFill>
                            <a:srgbClr val="0B2B4E"/>
                          </a:solidFill>
                          <a:latin typeface="Cambria Math"/>
                        </a:rPr>
                        <m:t xml:space="preserve">2</m:t>
                      </m:r>
                    </m:sup>
                  </m:sSup>
                </m:oMath>
              </m:oMathPara>
            </a14:m>
            <a:endParaRPr lang="en-US" sz="2300"/>
          </a:p>
        </p:txBody>
      </p:sp>
      <p:sp>
        <p:nvSpPr>
          <p:cNvPr id="10" name="TextBox 9"/>
          <p:cNvSpPr txBox="1"/>
          <p:nvPr/>
        </p:nvSpPr>
        <p:spPr>
          <a:xfrm>
            <a:off x="1188720" y="3072384"/>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MR</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95 − </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oMath>
              </m:oMathPara>
            </a14:m>
            <a:endParaRPr lang="en-US" sz="2300"/>
          </a:p>
        </p:txBody>
      </p:sp>
      <p:sp>
        <p:nvSpPr>
          <p:cNvPr id="11" name="TextBox 10"/>
          <p:cNvSpPr txBox="1"/>
          <p:nvPr/>
        </p:nvSpPr>
        <p:spPr>
          <a:xfrm>
            <a:off x="731520" y="3749039"/>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solidFill>
                        <a:srgbClr val="0B2B4E"/>
                      </a:solidFill>
                      <a:latin typeface="Cambria Math"/>
                    </a:rPr>
                    <m:t xml:space="preserve">Set   </m:t>
                  </m:r>
                  <m:sSub>
                    <m:sSubPr>
                      <m:ctrlPr>
                        <a:rPr lang="en-US" i="1">
                          <a:latin typeface="Cambria Math"/>
                        </a:rPr>
                      </m:ctrlPr>
                    </m:sSubPr>
                    <m:e>
                      <m:r>
                        <a:rPr lang="en-US" b="0" i="1" sz="2200">
                          <a:solidFill>
                            <a:srgbClr val="0B2B4E"/>
                          </a:solidFill>
                          <a:latin typeface="Cambria Math"/>
                          <a:ea typeface="Cambria Math"/>
                        </a:rPr>
                        <m:t>MR</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 = </m:t>
                  </m:r>
                  <m:r>
                    <a:rPr lang="en-US" b="0" i="1" sz="2200">
                      <a:solidFill>
                        <a:srgbClr val="0B2B4E"/>
                      </a:solidFill>
                      <a:latin typeface="Cambria Math"/>
                      <a:ea typeface="Cambria Math"/>
                    </a:rPr>
                    <m:t>MC</m:t>
                  </m:r>
                  <m:r>
                    <m:rPr>
                      <m:sty m:val="p"/>
                    </m:rPr>
                    <a:rPr lang="en-US" b="0" i="0" sz="2200">
                      <a:solidFill>
                        <a:srgbClr val="0B2B4E"/>
                      </a:solidFill>
                      <a:latin typeface="Cambria Math"/>
                    </a:rPr>
                    <m:t xml:space="preserve">     (recall: </m:t>
                  </m:r>
                  <m:r>
                    <a:rPr lang="en-US" b="0" i="1" sz="2200">
                      <a:solidFill>
                        <a:srgbClr val="0B2B4E"/>
                      </a:solidFill>
                      <a:latin typeface="Cambria Math"/>
                      <a:ea typeface="Cambria Math"/>
                    </a:rPr>
                    <m:t>MC</m:t>
                  </m:r>
                  <m:r>
                    <m:rPr>
                      <m:sty m:val="p"/>
                    </m:rPr>
                    <a:rPr lang="en-US" b="0" i="0" sz="2200">
                      <a:solidFill>
                        <a:srgbClr val="0B2B4E"/>
                      </a:solidFill>
                      <a:latin typeface="Cambria Math"/>
                    </a:rPr>
                    <m:t xml:space="preserve"> = 45)</m:t>
                  </m:r>
                </m:oMath>
              </m:oMathPara>
            </a14:m>
            <a:endParaRPr lang="en-US" sz="2200"/>
          </a:p>
        </p:txBody>
      </p:sp>
      <p:sp>
        <p:nvSpPr>
          <p:cNvPr id="12" name="TextBox 11"/>
          <p:cNvSpPr txBox="1"/>
          <p:nvPr/>
        </p:nvSpPr>
        <p:spPr>
          <a:xfrm>
            <a:off x="1188720" y="4206240"/>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r>
                    <m:rPr>
                      <m:sty m:val="p"/>
                    </m:rPr>
                    <a:rPr lang="en-US" b="0" i="0" sz="2300">
                      <a:solidFill>
                        <a:srgbClr val="0B2B4E"/>
                      </a:solidFill>
                      <a:latin typeface="Cambria Math"/>
                    </a:rPr>
                    <m:t xml:space="preserve">95 − </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45</m:t>
                  </m:r>
                </m:oMath>
              </m:oMathPara>
            </a14:m>
            <a:endParaRPr lang="en-US" sz="2300"/>
          </a:p>
        </p:txBody>
      </p:sp>
      <p:sp>
        <p:nvSpPr>
          <p:cNvPr id="13" name="TextBox 12"/>
          <p:cNvSpPr txBox="1"/>
          <p:nvPr/>
        </p:nvSpPr>
        <p:spPr>
          <a:xfrm>
            <a:off x="1188720" y="4736592"/>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e>
                    <m:sup>
                      <m:r>
                        <m:rPr>
                          <m:sty m:val="p"/>
                        </m:rPr>
                        <a:rPr lang="en-US" b="0" i="0" sz="2300">
                          <a:solidFill>
                            <a:srgbClr val="0B2B4E"/>
                          </a:solidFill>
                          <a:latin typeface="Cambria Math"/>
                        </a:rPr>
                        <m:t xml:space="preserve">*</m:t>
                      </m:r>
                    </m:sup>
                  </m:sSup>
                  <m:r>
                    <m:rPr>
                      <m:sty m:val="p"/>
                    </m:rPr>
                    <a:rPr lang="en-US" b="0" i="0" sz="2300">
                      <a:solidFill>
                        <a:srgbClr val="0B2B4E"/>
                      </a:solidFill>
                      <a:latin typeface="Cambria Math"/>
                    </a:rPr>
                    <m:t xml:space="preserve"> = 50</m:t>
                  </m:r>
                </m:oMath>
              </m:oMathPara>
            </a14:m>
            <a:endParaRPr lang="en-US" sz="2300"/>
          </a:p>
        </p:txBody>
      </p:sp>
      <p:sp>
        <p:nvSpPr>
          <p:cNvPr id="14" name="TextBox 13"/>
          <p:cNvSpPr txBox="1"/>
          <p:nvPr/>
        </p:nvSpPr>
        <p:spPr>
          <a:xfrm>
            <a:off x="1188720" y="5303520"/>
            <a:ext cx="9692640" cy="566928"/>
          </a:xfrm>
          <a:prstGeom prst="rect">
            <a:avLst/>
          </a:prstGeom>
          <a:noFill/>
        </p:spPr>
        <p:txBody>
          <a:bodyPr wrap="square" anchor="ctr">
            <a:spAutoFit/>
          </a:bodyPr>
          <a:lstStyle/>
          <a:p xmlns:m="http://schemas.openxmlformats.org/officeDocument/2006/math" xmlns:a14="http://schemas.microsoft.com/office/drawing/2010/main">
            <a:pPr algn="ctr">
              <a:defRPr sz="2700" b="0" i="1">
                <a:solidFill>
                  <a:srgbClr val="A2162A"/>
                </a:solidFill>
                <a:latin typeface="Cambria Math"/>
              </a:defRPr>
            </a:pPr>
            <a14:m>
              <m:oMathPara>
                <m:oMathParaPr>
                  <m:jc m:val="centerGroup"/>
                </m:oMathParaPr>
                <m:oMath>
                  <m:sSup>
                    <m:sSupPr>
                      <m:ctrlPr>
                        <a:rPr lang="en-US" i="1">
                          <a:latin typeface="Cambria Math"/>
                        </a:rPr>
                      </m:ctrlPr>
                    </m:sSupPr>
                    <m:e>
                      <m:sSub>
                        <m:sSubPr>
                          <m:ctrlPr>
                            <a:rPr lang="en-US" i="1">
                              <a:latin typeface="Cambria Math"/>
                            </a:rPr>
                          </m:ctrlPr>
                        </m:sSubPr>
                        <m:e>
                          <m:r>
                            <a:rPr lang="en-US" b="0" i="1" sz="2700">
                              <a:solidFill>
                                <a:srgbClr val="A2162A"/>
                              </a:solidFill>
                              <a:latin typeface="Cambria Math"/>
                              <a:ea typeface="Cambria Math"/>
                            </a:rPr>
                            <m:t>P</m:t>
                          </m:r>
                        </m:e>
                        <m:sub>
                          <m:r>
                            <m:rPr>
                              <m:sty m:val="p"/>
                            </m:rPr>
                            <a:rPr lang="en-US" b="0" i="0" sz="2700">
                              <a:solidFill>
                                <a:srgbClr val="A2162A"/>
                              </a:solidFill>
                              <a:latin typeface="Cambria Math"/>
                            </a:rPr>
                            <m:t xml:space="preserve">D</m:t>
                          </m:r>
                        </m:sub>
                      </m:sSub>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95 − 0.5·</m:t>
                  </m:r>
                  <m:sSup>
                    <m:sSupPr>
                      <m:ctrlPr>
                        <a:rPr lang="en-US" i="1">
                          <a:latin typeface="Cambria Math"/>
                        </a:rPr>
                      </m:ctrlPr>
                    </m:sSupPr>
                    <m:e>
                      <m:sSub>
                        <m:sSubPr>
                          <m:ctrlPr>
                            <a:rPr lang="en-US" i="1">
                              <a:latin typeface="Cambria Math"/>
                            </a:rPr>
                          </m:ctrlPr>
                        </m:sSubPr>
                        <m:e>
                          <m:r>
                            <a:rPr lang="en-US" b="0" i="1" sz="2700">
                              <a:solidFill>
                                <a:srgbClr val="A2162A"/>
                              </a:solidFill>
                              <a:latin typeface="Cambria Math"/>
                              <a:ea typeface="Cambria Math"/>
                            </a:rPr>
                            <m:t>Q</m:t>
                          </m:r>
                        </m:e>
                        <m:sub>
                          <m:r>
                            <m:rPr>
                              <m:sty m:val="p"/>
                            </m:rPr>
                            <a:rPr lang="en-US" b="0" i="0" sz="2700">
                              <a:solidFill>
                                <a:srgbClr val="A2162A"/>
                              </a:solidFill>
                              <a:latin typeface="Cambria Math"/>
                            </a:rPr>
                            <m:t xml:space="preserve">D</m:t>
                          </m:r>
                        </m:sub>
                      </m:sSub>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m:t>
                  </m:r>
                  <m:sSup>
                    <m:sSupPr>
                      <m:ctrlPr>
                        <a:rPr lang="en-US" i="1">
                          <a:latin typeface="Cambria Math"/>
                        </a:rPr>
                      </m:ctrlPr>
                    </m:sSupPr>
                    <m:e>
                      <m:sSub>
                        <m:sSubPr>
                          <m:ctrlPr>
                            <a:rPr lang="en-US" i="1">
                              <a:latin typeface="Cambria Math"/>
                            </a:rPr>
                          </m:ctrlPr>
                        </m:sSubPr>
                        <m:e>
                          <m:r>
                            <a:rPr lang="en-US" b="0" i="1" sz="2700">
                              <a:solidFill>
                                <a:srgbClr val="A2162A"/>
                              </a:solidFill>
                              <a:latin typeface="Cambria Math"/>
                              <a:ea typeface="Cambria Math"/>
                            </a:rPr>
                            <m:t>P</m:t>
                          </m:r>
                        </m:e>
                        <m:sub>
                          <m:r>
                            <m:rPr>
                              <m:sty m:val="p"/>
                            </m:rPr>
                            <a:rPr lang="en-US" b="0" i="0" sz="2700">
                              <a:solidFill>
                                <a:srgbClr val="A2162A"/>
                              </a:solidFill>
                              <a:latin typeface="Cambria Math"/>
                            </a:rPr>
                            <m:t xml:space="preserve">D</m:t>
                          </m:r>
                        </m:sub>
                      </m:sSub>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70</m:t>
                  </m:r>
                </m:oMath>
              </m:oMathPara>
            </a14:m>
            <a:endParaRPr lang="en-US" sz="2700"/>
          </a:p>
        </p:txBody>
      </p:sp>
      <p:sp>
        <p:nvSpPr>
          <p:cNvPr id="15" name="Rectangle 14"/>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18" name="TextBox 17"/>
          <p:cNvSpPr txBox="1"/>
          <p:nvPr/>
        </p:nvSpPr>
        <p:spPr>
          <a:xfrm>
            <a:off x="11475720" y="6583680"/>
            <a:ext cx="502920" cy="292608"/>
          </a:xfrm>
          <a:prstGeom prst="rect">
            <a:avLst/>
          </a:prstGeom>
          <a:noFill/>
        </p:spPr>
        <p:txBody>
          <a:bodyPr wrap="none" lIns="0" rIns="0" tIns="0" bIns="0">
            <a:spAutoFit/>
          </a:bodyPr>
          <a:lstStyle/>
          <a:p>
            <a:pPr algn="r"/>
            <a:fld id="{93248381-6920-52FA-A239-9A7875F0D053}" type="slidenum">
              <a:rPr lang="en-US" sz="1200" dirty="0">
                <a:solidFill>
                  <a:srgbClr val="555B66"/>
                </a:solidFill>
                <a:latin typeface="Calibri"/>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BMW and Segmentation: Question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389888"/>
            <a:ext cx="10607040" cy="822960"/>
          </a:xfrm>
          <a:prstGeom prst="roundRect">
            <a:avLst>
              <a:gd name="adj" fmla="val 12000"/>
            </a:avLst>
          </a:prstGeom>
          <a:solidFill>
            <a:srgbClr val="1B5E20">
              <a:alpha val="15000"/>
            </a:srgbClr>
          </a:solidFill>
          <a:ln w="19050">
            <a:solidFill>
              <a:srgbClr val="1B5E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99616"/>
            <a:ext cx="10241280" cy="603504"/>
          </a:xfrm>
          <a:prstGeom prst="rect">
            <a:avLst/>
          </a:prstGeom>
          <a:noFill/>
        </p:spPr>
        <p:txBody>
          <a:bodyPr wrap="square" lIns="45720" rIns="45720" tIns="0" bIns="0" anchor="ctr">
            <a:spAutoFit/>
          </a:bodyPr>
          <a:lstStyle/>
          <a:p>
            <a:pPr algn="l"/>
            <a:r>
              <a:rPr sz="2100" b="1" i="0" u="none">
                <a:solidFill>
                  <a:srgbClr val="1B5E20"/>
                </a:solidFill>
                <a:latin typeface="Calibri"/>
              </a:rPr>
              <a:t>Your turn:  </a:t>
            </a:r>
            <a:r>
              <a:rPr sz="2100" b="0" i="0" u="none">
                <a:solidFill>
                  <a:srgbClr val="1B5E20"/>
                </a:solidFill>
                <a:latin typeface="Calibri"/>
              </a:rPr>
              <a:t>2. What is the demand elasticity at the profit-maximizing price, and the Lerner Index, in the two countries?</a:t>
            </a:r>
          </a:p>
        </p:txBody>
      </p:sp>
      <p:sp>
        <p:nvSpPr>
          <p:cNvPr id="9" name="TextBox 8"/>
          <p:cNvSpPr txBox="1"/>
          <p:nvPr/>
        </p:nvSpPr>
        <p:spPr>
          <a:xfrm>
            <a:off x="777240" y="2395728"/>
            <a:ext cx="5486400" cy="384048"/>
          </a:xfrm>
          <a:prstGeom prst="rect">
            <a:avLst/>
          </a:prstGeom>
          <a:noFill/>
        </p:spPr>
        <p:txBody>
          <a:bodyPr wrap="square" lIns="0" rIns="0" tIns="0" bIns="0">
            <a:spAutoFit/>
          </a:bodyPr>
          <a:lstStyle/>
          <a:p>
            <a:pPr algn="l"/>
            <a:r>
              <a:rPr sz="2500" b="1" i="0" u="none">
                <a:solidFill>
                  <a:srgbClr val="0B2B4E"/>
                </a:solidFill>
                <a:latin typeface="Calibri"/>
              </a:rPr>
              <a:t>What we know:</a:t>
            </a:r>
          </a:p>
        </p:txBody>
      </p:sp>
      <p:sp>
        <p:nvSpPr>
          <p:cNvPr id="10" name="Rectangle 9"/>
          <p:cNvSpPr/>
          <p:nvPr/>
        </p:nvSpPr>
        <p:spPr>
          <a:xfrm>
            <a:off x="777240" y="2816352"/>
            <a:ext cx="96012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44368"/>
            <a:ext cx="10881360" cy="384048"/>
          </a:xfrm>
          <a:prstGeom prst="rect">
            <a:avLst/>
          </a:prstGeom>
          <a:noFill/>
        </p:spPr>
        <p:txBody>
          <a:bodyPr wrap="square" lIns="0" rIns="0" tIns="0" bIns="0">
            <a:spAutoFit/>
          </a:bodyPr>
          <a:lstStyle/>
          <a:p>
            <a:pPr algn="l"/>
            <a:r>
              <a:rPr sz="2300" b="1" i="0" u="none">
                <a:solidFill>
                  <a:srgbClr val="0B2B4E"/>
                </a:solidFill>
                <a:latin typeface="Calibri"/>
              </a:rPr>
              <a:t>MC = 45</a:t>
            </a:r>
          </a:p>
        </p:txBody>
      </p:sp>
      <p:sp>
        <p:nvSpPr>
          <p:cNvPr id="12" name="TextBox 11"/>
          <p:cNvSpPr txBox="1"/>
          <p:nvPr/>
        </p:nvSpPr>
        <p:spPr>
          <a:xfrm>
            <a:off x="731520" y="3328416"/>
            <a:ext cx="10881360" cy="384048"/>
          </a:xfrm>
          <a:prstGeom prst="rect">
            <a:avLst/>
          </a:prstGeom>
          <a:noFill/>
        </p:spPr>
        <p:txBody>
          <a:bodyPr wrap="square" lIns="0" rIns="0" tIns="0" bIns="0">
            <a:spAutoFit/>
          </a:bodyPr>
          <a:lstStyle/>
          <a:p>
            <a:pPr algn="l"/>
            <a:r>
              <a:rPr sz="2300" b="1" i="0" u="none">
                <a:solidFill>
                  <a:srgbClr val="0B2B4E"/>
                </a:solidFill>
                <a:latin typeface="Calibri"/>
              </a:rPr>
              <a:t>US market</a:t>
            </a:r>
          </a:p>
        </p:txBody>
      </p:sp>
      <p:sp>
        <p:nvSpPr>
          <p:cNvPr id="13" name="TextBox 12"/>
          <p:cNvSpPr txBox="1"/>
          <p:nvPr/>
        </p:nvSpPr>
        <p:spPr>
          <a:xfrm>
            <a:off x="1508760" y="3712463"/>
            <a:ext cx="5120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US</m:t>
                      </m:r>
                    </m:sub>
                  </m:sSub>
                  <m:r>
                    <m:rPr>
                      <m:sty m:val="p"/>
                    </m:rPr>
                    <a:rPr lang="en-US" b="0" i="0" sz="2300">
                      <a:solidFill>
                        <a:srgbClr val="0B2B4E"/>
                      </a:solidFill>
                      <a:latin typeface="Cambria Math"/>
                    </a:rPr>
                    <m:t xml:space="preserve"> = 75 − 0.5</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oMath>
              </m:oMathPara>
            </a14:m>
            <a:endParaRPr lang="en-US" sz="2300"/>
          </a:p>
        </p:txBody>
      </p:sp>
      <p:sp>
        <p:nvSpPr>
          <p:cNvPr id="14" name="TextBox 13"/>
          <p:cNvSpPr txBox="1"/>
          <p:nvPr/>
        </p:nvSpPr>
        <p:spPr>
          <a:xfrm>
            <a:off x="1508760" y="4133087"/>
            <a:ext cx="5120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US</m:t>
                          </m:r>
                        </m:sub>
                      </m:sSub>
                    </m:e>
                    <m:sup>
                      <m:r>
                        <m:rPr>
                          <m:sty m:val="p"/>
                        </m:rPr>
                        <a:rPr lang="en-US" b="0" i="0" sz="2300">
                          <a:solidFill>
                            <a:srgbClr val="0B2B4E"/>
                          </a:solidFill>
                          <a:latin typeface="Cambria Math"/>
                        </a:rPr>
                        <m:t xml:space="preserve">*</m:t>
                      </m:r>
                    </m:sup>
                  </m:sSup>
                  <m:r>
                    <m:rPr>
                      <m:sty m:val="p"/>
                    </m:rPr>
                    <a:rPr lang="en-US" b="0" i="0" sz="2300">
                      <a:solidFill>
                        <a:srgbClr val="0B2B4E"/>
                      </a:solidFill>
                      <a:latin typeface="Cambria Math"/>
                    </a:rPr>
                    <m:t xml:space="preserve"> = 30,   </m:t>
                  </m:r>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US</m:t>
                          </m:r>
                        </m:sub>
                      </m:sSub>
                    </m:e>
                    <m:sup>
                      <m:r>
                        <m:rPr>
                          <m:sty m:val="p"/>
                        </m:rPr>
                        <a:rPr lang="en-US" b="0" i="0" sz="2300">
                          <a:solidFill>
                            <a:srgbClr val="0B2B4E"/>
                          </a:solidFill>
                          <a:latin typeface="Cambria Math"/>
                        </a:rPr>
                        <m:t xml:space="preserve">*</m:t>
                      </m:r>
                    </m:sup>
                  </m:sSup>
                  <m:r>
                    <m:rPr>
                      <m:sty m:val="p"/>
                    </m:rPr>
                    <a:rPr lang="en-US" b="0" i="0" sz="2300">
                      <a:solidFill>
                        <a:srgbClr val="0B2B4E"/>
                      </a:solidFill>
                      <a:latin typeface="Cambria Math"/>
                    </a:rPr>
                    <m:t xml:space="preserve"> = 60</m:t>
                  </m:r>
                </m:oMath>
              </m:oMathPara>
            </a14:m>
            <a:endParaRPr lang="en-US" sz="2300"/>
          </a:p>
        </p:txBody>
      </p:sp>
      <p:sp>
        <p:nvSpPr>
          <p:cNvPr id="15" name="TextBox 14"/>
          <p:cNvSpPr txBox="1"/>
          <p:nvPr/>
        </p:nvSpPr>
        <p:spPr>
          <a:xfrm>
            <a:off x="731520" y="4663440"/>
            <a:ext cx="10881360" cy="384048"/>
          </a:xfrm>
          <a:prstGeom prst="rect">
            <a:avLst/>
          </a:prstGeom>
          <a:noFill/>
        </p:spPr>
        <p:txBody>
          <a:bodyPr wrap="square" lIns="0" rIns="0" tIns="0" bIns="0">
            <a:spAutoFit/>
          </a:bodyPr>
          <a:lstStyle/>
          <a:p>
            <a:pPr algn="l"/>
            <a:r>
              <a:rPr sz="2300" b="1" i="0" u="none">
                <a:solidFill>
                  <a:srgbClr val="0B2B4E"/>
                </a:solidFill>
                <a:latin typeface="Calibri"/>
              </a:rPr>
              <a:t>German market</a:t>
            </a:r>
          </a:p>
        </p:txBody>
      </p:sp>
      <p:sp>
        <p:nvSpPr>
          <p:cNvPr id="16" name="TextBox 15"/>
          <p:cNvSpPr txBox="1"/>
          <p:nvPr/>
        </p:nvSpPr>
        <p:spPr>
          <a:xfrm>
            <a:off x="1508760" y="5047488"/>
            <a:ext cx="5120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D</m:t>
                      </m:r>
                    </m:sub>
                  </m:sSub>
                  <m:r>
                    <m:rPr>
                      <m:sty m:val="p"/>
                    </m:rPr>
                    <a:rPr lang="en-US" b="0" i="0" sz="2300">
                      <a:solidFill>
                        <a:srgbClr val="0B2B4E"/>
                      </a:solidFill>
                      <a:latin typeface="Cambria Math"/>
                    </a:rPr>
                    <m:t xml:space="preserve"> = 95 − 0.5</m:t>
                  </m:r>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oMath>
              </m:oMathPara>
            </a14:m>
            <a:endParaRPr lang="en-US" sz="2300"/>
          </a:p>
        </p:txBody>
      </p:sp>
      <p:sp>
        <p:nvSpPr>
          <p:cNvPr id="17" name="TextBox 16"/>
          <p:cNvSpPr txBox="1"/>
          <p:nvPr/>
        </p:nvSpPr>
        <p:spPr>
          <a:xfrm>
            <a:off x="1508760" y="5468112"/>
            <a:ext cx="5120640" cy="502920"/>
          </a:xfrm>
          <a:prstGeom prst="rect">
            <a:avLst/>
          </a:prstGeom>
          <a:noFill/>
        </p:spPr>
        <p:txBody>
          <a:bodyPr wrap="square" anchor="ctr">
            <a:spAutoFit/>
          </a:bodyPr>
          <a:lstStyle/>
          <a:p xmlns:m="http://schemas.openxmlformats.org/officeDocument/2006/math" xmlns:a14="http://schemas.microsoft.com/office/drawing/2010/main">
            <a:pPr algn="ctr">
              <a:defRPr sz="2300" b="0" i="1">
                <a:solidFill>
                  <a:srgbClr val="0B2B4E"/>
                </a:solidFill>
                <a:latin typeface="Cambria Math"/>
              </a:defRPr>
            </a:pPr>
            <a14:m>
              <m:oMathPara>
                <m:oMathParaPr>
                  <m:jc m:val="centerGroup"/>
                </m:oMathParaPr>
                <m:oMath>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Q</m:t>
                          </m:r>
                        </m:e>
                        <m:sub>
                          <m:r>
                            <m:rPr>
                              <m:sty m:val="p"/>
                            </m:rPr>
                            <a:rPr lang="en-US" b="0" i="0" sz="2300">
                              <a:solidFill>
                                <a:srgbClr val="0B2B4E"/>
                              </a:solidFill>
                              <a:latin typeface="Cambria Math"/>
                            </a:rPr>
                            <m:t xml:space="preserve">D</m:t>
                          </m:r>
                        </m:sub>
                      </m:sSub>
                    </m:e>
                    <m:sup>
                      <m:r>
                        <m:rPr>
                          <m:sty m:val="p"/>
                        </m:rPr>
                        <a:rPr lang="en-US" b="0" i="0" sz="2300">
                          <a:solidFill>
                            <a:srgbClr val="0B2B4E"/>
                          </a:solidFill>
                          <a:latin typeface="Cambria Math"/>
                        </a:rPr>
                        <m:t xml:space="preserve">*</m:t>
                      </m:r>
                    </m:sup>
                  </m:sSup>
                  <m:r>
                    <m:rPr>
                      <m:sty m:val="p"/>
                    </m:rPr>
                    <a:rPr lang="en-US" b="0" i="0" sz="2300">
                      <a:solidFill>
                        <a:srgbClr val="0B2B4E"/>
                      </a:solidFill>
                      <a:latin typeface="Cambria Math"/>
                    </a:rPr>
                    <m:t xml:space="preserve"> = 50,   </m:t>
                  </m:r>
                  <m:sSup>
                    <m:sSupPr>
                      <m:ctrlPr>
                        <a:rPr lang="en-US" i="1">
                          <a:latin typeface="Cambria Math"/>
                        </a:rPr>
                      </m:ctrlPr>
                    </m:sSupPr>
                    <m:e>
                      <m:sSub>
                        <m:sSubPr>
                          <m:ctrlPr>
                            <a:rPr lang="en-US" i="1">
                              <a:latin typeface="Cambria Math"/>
                            </a:rPr>
                          </m:ctrlPr>
                        </m:sSubPr>
                        <m:e>
                          <m:r>
                            <a:rPr lang="en-US" b="0" i="1" sz="2300">
                              <a:solidFill>
                                <a:srgbClr val="0B2B4E"/>
                              </a:solidFill>
                              <a:latin typeface="Cambria Math"/>
                              <a:ea typeface="Cambria Math"/>
                            </a:rPr>
                            <m:t>P</m:t>
                          </m:r>
                        </m:e>
                        <m:sub>
                          <m:r>
                            <m:rPr>
                              <m:sty m:val="p"/>
                            </m:rPr>
                            <a:rPr lang="en-US" b="0" i="0" sz="2300">
                              <a:solidFill>
                                <a:srgbClr val="0B2B4E"/>
                              </a:solidFill>
                              <a:latin typeface="Cambria Math"/>
                            </a:rPr>
                            <m:t xml:space="preserve">D</m:t>
                          </m:r>
                        </m:sub>
                      </m:sSub>
                    </m:e>
                    <m:sup>
                      <m:r>
                        <m:rPr>
                          <m:sty m:val="p"/>
                        </m:rPr>
                        <a:rPr lang="en-US" b="0" i="0" sz="2300">
                          <a:solidFill>
                            <a:srgbClr val="0B2B4E"/>
                          </a:solidFill>
                          <a:latin typeface="Cambria Math"/>
                        </a:rPr>
                        <m:t xml:space="preserve">*</m:t>
                      </m:r>
                    </m:sup>
                  </m:sSup>
                  <m:r>
                    <m:rPr>
                      <m:sty m:val="p"/>
                    </m:rPr>
                    <a:rPr lang="en-US" b="0" i="0" sz="2300">
                      <a:solidFill>
                        <a:srgbClr val="0B2B4E"/>
                      </a:solidFill>
                      <a:latin typeface="Cambria Math"/>
                    </a:rPr>
                    <m:t xml:space="preserve"> = 70</m:t>
                  </m:r>
                </m:oMath>
              </m:oMathPara>
            </a14:m>
            <a:endParaRPr lang="en-US" sz="2300"/>
          </a:p>
        </p:txBody>
      </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21" name="TextBox 20"/>
          <p:cNvSpPr txBox="1"/>
          <p:nvPr/>
        </p:nvSpPr>
        <p:spPr>
          <a:xfrm>
            <a:off x="11475720" y="6583680"/>
            <a:ext cx="502920" cy="292608"/>
          </a:xfrm>
          <a:prstGeom prst="rect">
            <a:avLst/>
          </a:prstGeom>
          <a:noFill/>
        </p:spPr>
        <p:txBody>
          <a:bodyPr wrap="none" lIns="0" rIns="0" tIns="0" bIns="0">
            <a:spAutoFit/>
          </a:bodyPr>
          <a:lstStyle/>
          <a:p>
            <a:pPr algn="r"/>
            <a:fld id="{9AF6752B-E42B-5771-9B4C-30619DDD446A}" type="slidenum">
              <a:rPr lang="en-US" sz="1200" dirty="0">
                <a:solidFill>
                  <a:srgbClr val="555B66"/>
                </a:solidFill>
                <a:latin typeface="Calibri"/>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Demand Elasticity and Mark-up in the US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10881360" cy="384048"/>
          </a:xfrm>
          <a:prstGeom prst="rect">
            <a:avLst/>
          </a:prstGeom>
          <a:noFill/>
        </p:spPr>
        <p:txBody>
          <a:bodyPr wrap="square" lIns="0" rIns="0" tIns="0" bIns="0">
            <a:spAutoFit/>
          </a:bodyPr>
          <a:lstStyle/>
          <a:p>
            <a:pPr algn="l"/>
            <a:r>
              <a:rPr sz="2200" b="1" i="0" u="none">
                <a:solidFill>
                  <a:srgbClr val="0B2B4E"/>
                </a:solidFill>
                <a:latin typeface="Calibri"/>
              </a:rPr>
              <a:t>Elasticity:</a:t>
            </a:r>
          </a:p>
        </p:txBody>
      </p:sp>
      <p:sp>
        <p:nvSpPr>
          <p:cNvPr id="8" name="TextBox 7"/>
          <p:cNvSpPr txBox="1"/>
          <p:nvPr/>
        </p:nvSpPr>
        <p:spPr>
          <a:xfrm>
            <a:off x="1188720" y="1938528"/>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 75 − 0.5</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   </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 150 − 2</m:t>
                  </m:r>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US</m:t>
                      </m:r>
                    </m:sub>
                  </m:sSub>
                </m:oMath>
              </m:oMathPara>
            </a14:m>
            <a:endParaRPr lang="en-US" sz="2200"/>
          </a:p>
        </p:txBody>
      </p:sp>
      <p:sp>
        <p:nvSpPr>
          <p:cNvPr id="9" name="TextBox 8"/>
          <p:cNvSpPr txBox="1"/>
          <p:nvPr/>
        </p:nvSpPr>
        <p:spPr>
          <a:xfrm>
            <a:off x="1188720" y="2468880"/>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r>
                        <m:rPr>
                          <m:sty m:val="p"/>
                        </m:rPr>
                        <a:rPr lang="en-US" b="0" i="0" sz="2200">
                          <a:solidFill>
                            <a:srgbClr val="0B2B4E"/>
                          </a:solidFill>
                          <a:latin typeface="Cambria Math"/>
                        </a:rPr>
                        <m:t xml:space="preserve">d</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US</m:t>
                          </m:r>
                        </m:sub>
                      </m:sSub>
                    </m:num>
                    <m:den>
                      <m:r>
                        <m:rPr>
                          <m:sty m:val="p"/>
                        </m:rPr>
                        <a:rPr lang="en-US" b="0" i="0" sz="2200">
                          <a:solidFill>
                            <a:srgbClr val="0B2B4E"/>
                          </a:solidFill>
                          <a:latin typeface="Cambria Math"/>
                        </a:rPr>
                        <m:t xml:space="preserve">d</m:t>
                      </m:r>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US</m:t>
                          </m:r>
                        </m:sub>
                      </m:sSub>
                    </m:den>
                  </m:f>
                  <m:r>
                    <m:rPr>
                      <m:sty m:val="p"/>
                    </m:rPr>
                    <a:rPr lang="en-US" b="0" i="0" sz="2200">
                      <a:solidFill>
                        <a:srgbClr val="0B2B4E"/>
                      </a:solidFill>
                      <a:latin typeface="Cambria Math"/>
                    </a:rPr>
                    <m:t xml:space="preserve"> = −2   (the slope of the demand curve)</m:t>
                  </m:r>
                </m:oMath>
              </m:oMathPara>
            </a14:m>
            <a:endParaRPr lang="en-US" sz="2200"/>
          </a:p>
        </p:txBody>
      </p:sp>
      <p:sp>
        <p:nvSpPr>
          <p:cNvPr id="10" name="TextBox 9"/>
          <p:cNvSpPr txBox="1"/>
          <p:nvPr/>
        </p:nvSpPr>
        <p:spPr>
          <a:xfrm>
            <a:off x="1188720" y="3054096"/>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A2162A"/>
                </a:solidFill>
                <a:latin typeface="Cambria Math"/>
              </a:defRPr>
            </a:pPr>
            <a14:m>
              <m:oMathPara>
                <m:oMathParaPr>
                  <m:jc m:val="centerGroup"/>
                </m:oMathParaPr>
                <m:oMath>
                  <m:sSub>
                    <m:sSubPr>
                      <m:ctrlPr>
                        <a:rPr lang="en-US" i="1">
                          <a:latin typeface="Cambria Math"/>
                        </a:rPr>
                      </m:ctrlPr>
                    </m:sSubPr>
                    <m:e>
                      <m:r>
                        <a:rPr lang="en-US" b="0" i="1" sz="2400">
                          <a:solidFill>
                            <a:srgbClr val="A2162A"/>
                          </a:solidFill>
                          <a:latin typeface="Cambria Math"/>
                          <a:ea typeface="Cambria Math"/>
                        </a:rPr>
                        <m:t>E</m:t>
                      </m:r>
                    </m:e>
                    <m:sub>
                      <m:r>
                        <m:rPr>
                          <m:sty m:val="p"/>
                        </m:rPr>
                        <a:rPr lang="en-US" b="0" i="0" sz="2400">
                          <a:solidFill>
                            <a:srgbClr val="A2162A"/>
                          </a:solidFill>
                          <a:latin typeface="Cambria Math"/>
                        </a:rPr>
                        <m:t xml:space="preserve">US</m:t>
                      </m:r>
                    </m:sub>
                  </m:sSub>
                  <m:r>
                    <m:rPr>
                      <m:sty m:val="p"/>
                    </m:rPr>
                    <a:rPr lang="en-US" b="0" i="0" sz="2400">
                      <a:solidFill>
                        <a:srgbClr val="A2162A"/>
                      </a:solidFill>
                      <a:latin typeface="Cambria Math"/>
                    </a:rPr>
                    <m:t xml:space="preserve"> = −2 · (60/30) = -4.00</m:t>
                  </m:r>
                </m:oMath>
              </m:oMathPara>
            </a14:m>
            <a:endParaRPr lang="en-US" sz="2400"/>
          </a:p>
        </p:txBody>
      </p:sp>
      <p:sp>
        <p:nvSpPr>
          <p:cNvPr id="11" name="TextBox 10"/>
          <p:cNvSpPr txBox="1"/>
          <p:nvPr/>
        </p:nvSpPr>
        <p:spPr>
          <a:xfrm>
            <a:off x="731520" y="3749039"/>
            <a:ext cx="10881360" cy="384048"/>
          </a:xfrm>
          <a:prstGeom prst="rect">
            <a:avLst/>
          </a:prstGeom>
          <a:noFill/>
        </p:spPr>
        <p:txBody>
          <a:bodyPr wrap="square" lIns="0" rIns="0" tIns="0" bIns="0">
            <a:spAutoFit/>
          </a:bodyPr>
          <a:lstStyle/>
          <a:p>
            <a:pPr algn="l"/>
            <a:r>
              <a:rPr sz="2200" b="1" i="0" u="none">
                <a:solidFill>
                  <a:srgbClr val="0B2B4E"/>
                </a:solidFill>
                <a:latin typeface="Calibri"/>
              </a:rPr>
              <a:t>Lerner Index (mark-up):</a:t>
            </a:r>
          </a:p>
        </p:txBody>
      </p:sp>
      <p:sp>
        <p:nvSpPr>
          <p:cNvPr id="12" name="TextBox 11"/>
          <p:cNvSpPr txBox="1"/>
          <p:nvPr/>
        </p:nvSpPr>
        <p:spPr>
          <a:xfrm>
            <a:off x="1188720" y="4187952"/>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A2162A"/>
                </a:solidFill>
                <a:latin typeface="Cambria Math"/>
              </a:defRPr>
            </a:pPr>
            <a14:m>
              <m:oMathPara>
                <m:oMathParaPr>
                  <m:jc m:val="centerGroup"/>
                </m:oMathParaPr>
                <m:oMath>
                  <m:f>
                    <m:fPr>
                      <m:ctrlPr>
                        <a:rPr lang="en-US" i="1">
                          <a:latin typeface="Cambria Math"/>
                        </a:rPr>
                      </m:ctrlPr>
                    </m:fPr>
                    <m:num>
                      <m:r>
                        <a:rPr lang="en-US" b="0" i="1" sz="2400">
                          <a:solidFill>
                            <a:srgbClr val="A2162A"/>
                          </a:solidFill>
                          <a:latin typeface="Cambria Math"/>
                          <a:ea typeface="Cambria Math"/>
                        </a:rPr>
                        <m:t>P</m:t>
                      </m:r>
                      <m:r>
                        <m:rPr>
                          <m:sty m:val="p"/>
                        </m:rPr>
                        <a:rPr lang="en-US" b="0" i="0" sz="2400">
                          <a:solidFill>
                            <a:srgbClr val="A2162A"/>
                          </a:solidFill>
                          <a:latin typeface="Cambria Math"/>
                        </a:rPr>
                        <m:t xml:space="preserve"> − </m:t>
                      </m:r>
                      <m:r>
                        <a:rPr lang="en-US" b="0" i="1" sz="2400">
                          <a:solidFill>
                            <a:srgbClr val="A2162A"/>
                          </a:solidFill>
                          <a:latin typeface="Cambria Math"/>
                          <a:ea typeface="Cambria Math"/>
                        </a:rPr>
                        <m:t>MC</m:t>
                      </m:r>
                    </m:num>
                    <m:den>
                      <m:r>
                        <a:rPr lang="en-US" b="0" i="1" sz="2400">
                          <a:solidFill>
                            <a:srgbClr val="A2162A"/>
                          </a:solidFill>
                          <a:latin typeface="Cambria Math"/>
                          <a:ea typeface="Cambria Math"/>
                        </a:rPr>
                        <m:t>P</m:t>
                      </m:r>
                    </m:den>
                  </m:f>
                  <m:r>
                    <m:rPr>
                      <m:sty m:val="p"/>
                    </m:rPr>
                    <a:rPr lang="en-US" b="0" i="0" sz="2400">
                      <a:solidFill>
                        <a:srgbClr val="A2162A"/>
                      </a:solidFill>
                      <a:latin typeface="Cambria Math"/>
                    </a:rPr>
                    <m:t xml:space="preserve"> = (60 − 45)/60 = 0.25</m:t>
                  </m:r>
                </m:oMath>
              </m:oMathPara>
            </a14:m>
            <a:endParaRPr lang="en-US" sz="2400"/>
          </a:p>
        </p:txBody>
      </p:sp>
      <p:sp>
        <p:nvSpPr>
          <p:cNvPr id="13" name="Rounded Rectangle 12"/>
          <p:cNvSpPr/>
          <p:nvPr/>
        </p:nvSpPr>
        <p:spPr>
          <a:xfrm>
            <a:off x="868680" y="5029200"/>
            <a:ext cx="10424160" cy="47548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138928"/>
            <a:ext cx="10058400" cy="256032"/>
          </a:xfrm>
          <a:prstGeom prst="rect">
            <a:avLst/>
          </a:prstGeom>
          <a:noFill/>
        </p:spPr>
        <p:txBody>
          <a:bodyPr wrap="square" lIns="45720" rIns="45720" tIns="0" bIns="0" anchor="ctr">
            <a:spAutoFit/>
          </a:bodyPr>
          <a:lstStyle/>
          <a:p>
            <a:pPr algn="l"/>
            <a:r>
              <a:rPr sz="1800" b="1" i="0" u="none">
                <a:solidFill>
                  <a:srgbClr val="0B2B4E"/>
                </a:solidFill>
                <a:latin typeface="Calibri"/>
              </a:rPr>
              <a:t>Recall (Module 5):  </a:t>
            </a:r>
            <a:r>
              <a:rPr sz="1800" b="0" i="0" u="none">
                <a:solidFill>
                  <a:srgbClr val="0B2B4E"/>
                </a:solidFill>
                <a:latin typeface="Calibri"/>
              </a:rPr>
              <a:t>the mark-up is one over the absolute elasticity</a:t>
            </a:r>
          </a:p>
        </p:txBody>
      </p:sp>
      <p:sp>
        <p:nvSpPr>
          <p:cNvPr id="15" name="TextBox 14"/>
          <p:cNvSpPr txBox="1"/>
          <p:nvPr/>
        </p:nvSpPr>
        <p:spPr>
          <a:xfrm>
            <a:off x="868680" y="5623560"/>
            <a:ext cx="1042416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r>
                        <a:rPr lang="en-US" b="0" i="1" sz="2200">
                          <a:solidFill>
                            <a:srgbClr val="0B2B4E"/>
                          </a:solidFill>
                          <a:latin typeface="Cambria Math"/>
                          <a:ea typeface="Cambria Math"/>
                        </a:rPr>
                        <m:t>P</m:t>
                      </m:r>
                      <m:r>
                        <m:rPr>
                          <m:sty m:val="p"/>
                        </m:rPr>
                        <a:rPr lang="en-US" b="0" i="0" sz="2200">
                          <a:solidFill>
                            <a:srgbClr val="0B2B4E"/>
                          </a:solidFill>
                          <a:latin typeface="Cambria Math"/>
                        </a:rPr>
                        <m:t xml:space="preserve"> − </m:t>
                      </m:r>
                      <m:r>
                        <a:rPr lang="en-US" b="0" i="1" sz="2200">
                          <a:solidFill>
                            <a:srgbClr val="0B2B4E"/>
                          </a:solidFill>
                          <a:latin typeface="Cambria Math"/>
                          <a:ea typeface="Cambria Math"/>
                        </a:rPr>
                        <m:t>MC</m:t>
                      </m:r>
                    </m:num>
                    <m:den>
                      <m:r>
                        <a:rPr lang="en-US" b="0" i="1" sz="2200">
                          <a:solidFill>
                            <a:srgbClr val="0B2B4E"/>
                          </a:solidFill>
                          <a:latin typeface="Cambria Math"/>
                          <a:ea typeface="Cambria Math"/>
                        </a:rPr>
                        <m:t>P</m:t>
                      </m:r>
                    </m:den>
                  </m:f>
                  <m:r>
                    <m:rPr>
                      <m:sty m:val="p"/>
                    </m:rPr>
                    <a:rPr lang="en-US" b="0" i="0" sz="2200">
                      <a:solidFill>
                        <a:srgbClr val="0B2B4E"/>
                      </a:solidFill>
                      <a:latin typeface="Cambria Math"/>
                    </a:rPr>
                    <m:t xml:space="preserve">  =  </m:t>
                  </m:r>
                  <m:f>
                    <m:fPr>
                      <m:ctrlPr>
                        <a:rPr lang="en-US" i="1">
                          <a:latin typeface="Cambria Math"/>
                        </a:rPr>
                      </m:ctrlPr>
                    </m:fPr>
                    <m:num>
                      <m:r>
                        <m:rPr>
                          <m:sty m:val="p"/>
                        </m:rPr>
                        <a:rPr lang="en-US" b="0" i="0" sz="2200">
                          <a:solidFill>
                            <a:srgbClr val="0B2B4E"/>
                          </a:solidFill>
                          <a:latin typeface="Cambria Math"/>
                        </a:rPr>
                        <m:t xml:space="preserve">1</m:t>
                      </m:r>
                    </m:num>
                    <m:den>
                      <m:r>
                        <m:rPr>
                          <m:sty m:val="p"/>
                        </m:rPr>
                        <a:rPr lang="en-US" b="0" i="0" sz="2200">
                          <a:solidFill>
                            <a:srgbClr val="0B2B4E"/>
                          </a:solidFill>
                          <a:latin typeface="Cambria Math"/>
                        </a:rPr>
                        <m:t xml:space="preserve">|</m:t>
                      </m:r>
                      <m:sSub>
                        <m:sSubPr>
                          <m:ctrlPr>
                            <a:rPr lang="en-US" i="1">
                              <a:latin typeface="Cambria Math"/>
                            </a:rPr>
                          </m:ctrlPr>
                        </m:sSubPr>
                        <m:e>
                          <m:r>
                            <a:rPr lang="en-US" b="0" i="1" sz="2200">
                              <a:solidFill>
                                <a:srgbClr val="0B2B4E"/>
                              </a:solidFill>
                              <a:latin typeface="Cambria Math"/>
                              <a:ea typeface="Cambria Math"/>
                            </a:rPr>
                            <m:t>E</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m:t>
                      </m:r>
                    </m:den>
                  </m:f>
                </m:oMath>
              </m:oMathPara>
            </a14:m>
            <a:endParaRPr lang="en-US" sz="2200"/>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19" name="TextBox 18"/>
          <p:cNvSpPr txBox="1"/>
          <p:nvPr/>
        </p:nvSpPr>
        <p:spPr>
          <a:xfrm>
            <a:off x="11475720" y="6583680"/>
            <a:ext cx="502920" cy="292608"/>
          </a:xfrm>
          <a:prstGeom prst="rect">
            <a:avLst/>
          </a:prstGeom>
          <a:noFill/>
        </p:spPr>
        <p:txBody>
          <a:bodyPr wrap="none" lIns="0" rIns="0" tIns="0" bIns="0">
            <a:spAutoFit/>
          </a:bodyPr>
          <a:lstStyle/>
          <a:p>
            <a:pPr algn="r"/>
            <a:fld id="{7D93220A-BEE9-5825-A0F6-F5D6DED4371C}" type="slidenum">
              <a:rPr lang="en-US" sz="1200" dirty="0">
                <a:solidFill>
                  <a:srgbClr val="555B66"/>
                </a:solidFill>
                <a:latin typeface="Calibri"/>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Demand Elasticity and Mark-up in Germany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10881360" cy="384048"/>
          </a:xfrm>
          <a:prstGeom prst="rect">
            <a:avLst/>
          </a:prstGeom>
          <a:noFill/>
        </p:spPr>
        <p:txBody>
          <a:bodyPr wrap="square" lIns="0" rIns="0" tIns="0" bIns="0">
            <a:spAutoFit/>
          </a:bodyPr>
          <a:lstStyle/>
          <a:p>
            <a:pPr algn="l"/>
            <a:r>
              <a:rPr sz="2200" b="1" i="0" u="none">
                <a:solidFill>
                  <a:srgbClr val="0B2B4E"/>
                </a:solidFill>
                <a:latin typeface="Calibri"/>
              </a:rPr>
              <a:t>Elasticity:</a:t>
            </a:r>
          </a:p>
        </p:txBody>
      </p:sp>
      <p:sp>
        <p:nvSpPr>
          <p:cNvPr id="8" name="TextBox 7"/>
          <p:cNvSpPr txBox="1"/>
          <p:nvPr/>
        </p:nvSpPr>
        <p:spPr>
          <a:xfrm>
            <a:off x="1188720" y="1938528"/>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 = 95 − 0.5</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   ⇒   </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 = 190 − 2</m:t>
                  </m:r>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D</m:t>
                      </m:r>
                    </m:sub>
                  </m:sSub>
                </m:oMath>
              </m:oMathPara>
            </a14:m>
            <a:endParaRPr lang="en-US" sz="2200"/>
          </a:p>
        </p:txBody>
      </p:sp>
      <p:sp>
        <p:nvSpPr>
          <p:cNvPr id="9" name="TextBox 8"/>
          <p:cNvSpPr txBox="1"/>
          <p:nvPr/>
        </p:nvSpPr>
        <p:spPr>
          <a:xfrm>
            <a:off x="1188720" y="2468880"/>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r>
                        <m:rPr>
                          <m:sty m:val="p"/>
                        </m:rPr>
                        <a:rPr lang="en-US" b="0" i="0" sz="2200">
                          <a:solidFill>
                            <a:srgbClr val="0B2B4E"/>
                          </a:solidFill>
                          <a:latin typeface="Cambria Math"/>
                        </a:rPr>
                        <m:t xml:space="preserve">d</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D</m:t>
                          </m:r>
                        </m:sub>
                      </m:sSub>
                    </m:num>
                    <m:den>
                      <m:r>
                        <m:rPr>
                          <m:sty m:val="p"/>
                        </m:rPr>
                        <a:rPr lang="en-US" b="0" i="0" sz="2200">
                          <a:solidFill>
                            <a:srgbClr val="0B2B4E"/>
                          </a:solidFill>
                          <a:latin typeface="Cambria Math"/>
                        </a:rPr>
                        <m:t xml:space="preserve">d</m:t>
                      </m:r>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D</m:t>
                          </m:r>
                        </m:sub>
                      </m:sSub>
                    </m:den>
                  </m:f>
                  <m:r>
                    <m:rPr>
                      <m:sty m:val="p"/>
                    </m:rPr>
                    <a:rPr lang="en-US" b="0" i="0" sz="2200">
                      <a:solidFill>
                        <a:srgbClr val="0B2B4E"/>
                      </a:solidFill>
                      <a:latin typeface="Cambria Math"/>
                    </a:rPr>
                    <m:t xml:space="preserve"> = −2   (the slope of the demand curve)</m:t>
                  </m:r>
                </m:oMath>
              </m:oMathPara>
            </a14:m>
            <a:endParaRPr lang="en-US" sz="2200"/>
          </a:p>
        </p:txBody>
      </p:sp>
      <p:sp>
        <p:nvSpPr>
          <p:cNvPr id="10" name="TextBox 9"/>
          <p:cNvSpPr txBox="1"/>
          <p:nvPr/>
        </p:nvSpPr>
        <p:spPr>
          <a:xfrm>
            <a:off x="1188720" y="3054096"/>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A2162A"/>
                </a:solidFill>
                <a:latin typeface="Cambria Math"/>
              </a:defRPr>
            </a:pPr>
            <a14:m>
              <m:oMathPara>
                <m:oMathParaPr>
                  <m:jc m:val="centerGroup"/>
                </m:oMathParaPr>
                <m:oMath>
                  <m:sSub>
                    <m:sSubPr>
                      <m:ctrlPr>
                        <a:rPr lang="en-US" i="1">
                          <a:latin typeface="Cambria Math"/>
                        </a:rPr>
                      </m:ctrlPr>
                    </m:sSubPr>
                    <m:e>
                      <m:r>
                        <a:rPr lang="en-US" b="0" i="1" sz="2400">
                          <a:solidFill>
                            <a:srgbClr val="A2162A"/>
                          </a:solidFill>
                          <a:latin typeface="Cambria Math"/>
                          <a:ea typeface="Cambria Math"/>
                        </a:rPr>
                        <m:t>E</m:t>
                      </m:r>
                    </m:e>
                    <m:sub>
                      <m:r>
                        <m:rPr>
                          <m:sty m:val="p"/>
                        </m:rPr>
                        <a:rPr lang="en-US" b="0" i="0" sz="2400">
                          <a:solidFill>
                            <a:srgbClr val="A2162A"/>
                          </a:solidFill>
                          <a:latin typeface="Cambria Math"/>
                        </a:rPr>
                        <m:t xml:space="preserve">D</m:t>
                      </m:r>
                    </m:sub>
                  </m:sSub>
                  <m:r>
                    <m:rPr>
                      <m:sty m:val="p"/>
                    </m:rPr>
                    <a:rPr lang="en-US" b="0" i="0" sz="2400">
                      <a:solidFill>
                        <a:srgbClr val="A2162A"/>
                      </a:solidFill>
                      <a:latin typeface="Cambria Math"/>
                    </a:rPr>
                    <m:t xml:space="preserve"> = −2 · (70/50) = -2.80</m:t>
                  </m:r>
                </m:oMath>
              </m:oMathPara>
            </a14:m>
            <a:endParaRPr lang="en-US" sz="2400"/>
          </a:p>
        </p:txBody>
      </p:sp>
      <p:sp>
        <p:nvSpPr>
          <p:cNvPr id="11" name="TextBox 10"/>
          <p:cNvSpPr txBox="1"/>
          <p:nvPr/>
        </p:nvSpPr>
        <p:spPr>
          <a:xfrm>
            <a:off x="731520" y="3749039"/>
            <a:ext cx="10881360" cy="384048"/>
          </a:xfrm>
          <a:prstGeom prst="rect">
            <a:avLst/>
          </a:prstGeom>
          <a:noFill/>
        </p:spPr>
        <p:txBody>
          <a:bodyPr wrap="square" lIns="0" rIns="0" tIns="0" bIns="0">
            <a:spAutoFit/>
          </a:bodyPr>
          <a:lstStyle/>
          <a:p>
            <a:pPr algn="l"/>
            <a:r>
              <a:rPr sz="2200" b="1" i="0" u="none">
                <a:solidFill>
                  <a:srgbClr val="0B2B4E"/>
                </a:solidFill>
                <a:latin typeface="Calibri"/>
              </a:rPr>
              <a:t>Lerner Index (mark-up):</a:t>
            </a:r>
          </a:p>
        </p:txBody>
      </p:sp>
      <p:sp>
        <p:nvSpPr>
          <p:cNvPr id="12" name="TextBox 11"/>
          <p:cNvSpPr txBox="1"/>
          <p:nvPr/>
        </p:nvSpPr>
        <p:spPr>
          <a:xfrm>
            <a:off x="1188720" y="4187952"/>
            <a:ext cx="9692640" cy="50292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A2162A"/>
                </a:solidFill>
                <a:latin typeface="Cambria Math"/>
              </a:defRPr>
            </a:pPr>
            <a14:m>
              <m:oMathPara>
                <m:oMathParaPr>
                  <m:jc m:val="centerGroup"/>
                </m:oMathParaPr>
                <m:oMath>
                  <m:f>
                    <m:fPr>
                      <m:ctrlPr>
                        <a:rPr lang="en-US" i="1">
                          <a:latin typeface="Cambria Math"/>
                        </a:rPr>
                      </m:ctrlPr>
                    </m:fPr>
                    <m:num>
                      <m:r>
                        <a:rPr lang="en-US" b="0" i="1" sz="2400">
                          <a:solidFill>
                            <a:srgbClr val="A2162A"/>
                          </a:solidFill>
                          <a:latin typeface="Cambria Math"/>
                          <a:ea typeface="Cambria Math"/>
                        </a:rPr>
                        <m:t>P</m:t>
                      </m:r>
                      <m:r>
                        <m:rPr>
                          <m:sty m:val="p"/>
                        </m:rPr>
                        <a:rPr lang="en-US" b="0" i="0" sz="2400">
                          <a:solidFill>
                            <a:srgbClr val="A2162A"/>
                          </a:solidFill>
                          <a:latin typeface="Cambria Math"/>
                        </a:rPr>
                        <m:t xml:space="preserve"> − </m:t>
                      </m:r>
                      <m:r>
                        <a:rPr lang="en-US" b="0" i="1" sz="2400">
                          <a:solidFill>
                            <a:srgbClr val="A2162A"/>
                          </a:solidFill>
                          <a:latin typeface="Cambria Math"/>
                          <a:ea typeface="Cambria Math"/>
                        </a:rPr>
                        <m:t>MC</m:t>
                      </m:r>
                    </m:num>
                    <m:den>
                      <m:r>
                        <a:rPr lang="en-US" b="0" i="1" sz="2400">
                          <a:solidFill>
                            <a:srgbClr val="A2162A"/>
                          </a:solidFill>
                          <a:latin typeface="Cambria Math"/>
                          <a:ea typeface="Cambria Math"/>
                        </a:rPr>
                        <m:t>P</m:t>
                      </m:r>
                    </m:den>
                  </m:f>
                  <m:r>
                    <m:rPr>
                      <m:sty m:val="p"/>
                    </m:rPr>
                    <a:rPr lang="en-US" b="0" i="0" sz="2400">
                      <a:solidFill>
                        <a:srgbClr val="A2162A"/>
                      </a:solidFill>
                      <a:latin typeface="Cambria Math"/>
                    </a:rPr>
                    <m:t xml:space="preserve"> = (70 − 45)/70 = 0.36</m:t>
                  </m:r>
                </m:oMath>
              </m:oMathPara>
            </a14:m>
            <a:endParaRPr lang="en-US" sz="2400"/>
          </a:p>
        </p:txBody>
      </p:sp>
      <p:sp>
        <p:nvSpPr>
          <p:cNvPr id="13" name="Rounded Rectangle 12"/>
          <p:cNvSpPr/>
          <p:nvPr/>
        </p:nvSpPr>
        <p:spPr>
          <a:xfrm>
            <a:off x="868680" y="5029200"/>
            <a:ext cx="10424160" cy="47548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138928"/>
            <a:ext cx="10058400" cy="256032"/>
          </a:xfrm>
          <a:prstGeom prst="rect">
            <a:avLst/>
          </a:prstGeom>
          <a:noFill/>
        </p:spPr>
        <p:txBody>
          <a:bodyPr wrap="square" lIns="45720" rIns="45720" tIns="0" bIns="0" anchor="ctr">
            <a:spAutoFit/>
          </a:bodyPr>
          <a:lstStyle/>
          <a:p>
            <a:pPr algn="l"/>
            <a:r>
              <a:rPr sz="1800" b="1" i="0" u="none">
                <a:solidFill>
                  <a:srgbClr val="0B2B4E"/>
                </a:solidFill>
                <a:latin typeface="Calibri"/>
              </a:rPr>
              <a:t>Lerner Index:  </a:t>
            </a:r>
            <a:r>
              <a:rPr sz="1800" b="0" i="0" u="none">
                <a:solidFill>
                  <a:srgbClr val="0B2B4E"/>
                </a:solidFill>
                <a:latin typeface="Calibri"/>
              </a:rPr>
              <a:t>the mark-up is one over the absolute elasticity</a:t>
            </a:r>
          </a:p>
        </p:txBody>
      </p:sp>
      <p:sp>
        <p:nvSpPr>
          <p:cNvPr id="15" name="TextBox 14"/>
          <p:cNvSpPr txBox="1"/>
          <p:nvPr/>
        </p:nvSpPr>
        <p:spPr>
          <a:xfrm>
            <a:off x="868680" y="5623560"/>
            <a:ext cx="1042416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f>
                    <m:fPr>
                      <m:ctrlPr>
                        <a:rPr lang="en-US" i="1">
                          <a:latin typeface="Cambria Math"/>
                        </a:rPr>
                      </m:ctrlPr>
                    </m:fPr>
                    <m:num>
                      <m:r>
                        <a:rPr lang="en-US" b="0" i="1" sz="2200">
                          <a:solidFill>
                            <a:srgbClr val="0B2B4E"/>
                          </a:solidFill>
                          <a:latin typeface="Cambria Math"/>
                          <a:ea typeface="Cambria Math"/>
                        </a:rPr>
                        <m:t>P</m:t>
                      </m:r>
                      <m:r>
                        <m:rPr>
                          <m:sty m:val="p"/>
                        </m:rPr>
                        <a:rPr lang="en-US" b="0" i="0" sz="2200">
                          <a:solidFill>
                            <a:srgbClr val="0B2B4E"/>
                          </a:solidFill>
                          <a:latin typeface="Cambria Math"/>
                        </a:rPr>
                        <m:t xml:space="preserve"> − </m:t>
                      </m:r>
                      <m:r>
                        <a:rPr lang="en-US" b="0" i="1" sz="2200">
                          <a:solidFill>
                            <a:srgbClr val="0B2B4E"/>
                          </a:solidFill>
                          <a:latin typeface="Cambria Math"/>
                          <a:ea typeface="Cambria Math"/>
                        </a:rPr>
                        <m:t>MC</m:t>
                      </m:r>
                    </m:num>
                    <m:den>
                      <m:r>
                        <a:rPr lang="en-US" b="0" i="1" sz="2200">
                          <a:solidFill>
                            <a:srgbClr val="0B2B4E"/>
                          </a:solidFill>
                          <a:latin typeface="Cambria Math"/>
                          <a:ea typeface="Cambria Math"/>
                        </a:rPr>
                        <m:t>P</m:t>
                      </m:r>
                    </m:den>
                  </m:f>
                  <m:r>
                    <m:rPr>
                      <m:sty m:val="p"/>
                    </m:rPr>
                    <a:rPr lang="en-US" b="0" i="0" sz="2200">
                      <a:solidFill>
                        <a:srgbClr val="0B2B4E"/>
                      </a:solidFill>
                      <a:latin typeface="Cambria Math"/>
                    </a:rPr>
                    <m:t xml:space="preserve">  =  </m:t>
                  </m:r>
                  <m:f>
                    <m:fPr>
                      <m:ctrlPr>
                        <a:rPr lang="en-US" i="1">
                          <a:latin typeface="Cambria Math"/>
                        </a:rPr>
                      </m:ctrlPr>
                    </m:fPr>
                    <m:num>
                      <m:r>
                        <m:rPr>
                          <m:sty m:val="p"/>
                        </m:rPr>
                        <a:rPr lang="en-US" b="0" i="0" sz="2200">
                          <a:solidFill>
                            <a:srgbClr val="0B2B4E"/>
                          </a:solidFill>
                          <a:latin typeface="Cambria Math"/>
                        </a:rPr>
                        <m:t xml:space="preserve">1</m:t>
                      </m:r>
                    </m:num>
                    <m:den>
                      <m:r>
                        <m:rPr>
                          <m:sty m:val="p"/>
                        </m:rPr>
                        <a:rPr lang="en-US" b="0" i="0" sz="2200">
                          <a:solidFill>
                            <a:srgbClr val="0B2B4E"/>
                          </a:solidFill>
                          <a:latin typeface="Cambria Math"/>
                        </a:rPr>
                        <m:t xml:space="preserve">|</m:t>
                      </m:r>
                      <m:sSub>
                        <m:sSubPr>
                          <m:ctrlPr>
                            <a:rPr lang="en-US" i="1">
                              <a:latin typeface="Cambria Math"/>
                            </a:rPr>
                          </m:ctrlPr>
                        </m:sSubPr>
                        <m:e>
                          <m:r>
                            <a:rPr lang="en-US" b="0" i="1" sz="2200">
                              <a:solidFill>
                                <a:srgbClr val="0B2B4E"/>
                              </a:solidFill>
                              <a:latin typeface="Cambria Math"/>
                              <a:ea typeface="Cambria Math"/>
                            </a:rPr>
                            <m:t>E</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m:t>
                      </m:r>
                    </m:den>
                  </m:f>
                </m:oMath>
              </m:oMathPara>
            </a14:m>
            <a:endParaRPr lang="en-US" sz="2200"/>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19" name="TextBox 18"/>
          <p:cNvSpPr txBox="1"/>
          <p:nvPr/>
        </p:nvSpPr>
        <p:spPr>
          <a:xfrm>
            <a:off x="11475720" y="6583680"/>
            <a:ext cx="502920" cy="292608"/>
          </a:xfrm>
          <a:prstGeom prst="rect">
            <a:avLst/>
          </a:prstGeom>
          <a:noFill/>
        </p:spPr>
        <p:txBody>
          <a:bodyPr wrap="none" lIns="0" rIns="0" tIns="0" bIns="0">
            <a:spAutoFit/>
          </a:bodyPr>
          <a:lstStyle/>
          <a:p>
            <a:pPr algn="r"/>
            <a:fld id="{FDE0808A-C7B3-55BB-BE33-D789A22A62C4}" type="slidenum">
              <a:rPr lang="en-US" sz="1200" dirty="0">
                <a:solidFill>
                  <a:srgbClr val="555B66"/>
                </a:solidFill>
                <a:latin typeface="Calibri"/>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Illustrating Segment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81912"/>
            <a:ext cx="4754880" cy="310896"/>
          </a:xfrm>
          <a:prstGeom prst="rect">
            <a:avLst/>
          </a:prstGeom>
          <a:noFill/>
        </p:spPr>
        <p:txBody>
          <a:bodyPr wrap="square" lIns="0" rIns="0" tIns="0" bIns="0">
            <a:spAutoFit/>
          </a:bodyPr>
          <a:lstStyle/>
          <a:p>
            <a:pPr algn="ctr"/>
            <a:r>
              <a:rPr sz="1700" b="1" i="0" u="none">
                <a:solidFill>
                  <a:srgbClr val="0B2B4E"/>
                </a:solidFill>
                <a:latin typeface="Calibri"/>
              </a:rPr>
              <a:t>US market</a:t>
            </a:r>
          </a:p>
        </p:txBody>
      </p:sp>
      <p:cxnSp>
        <p:nvCxnSpPr>
          <p:cNvPr id="8" name="sdaxis:y"/>
          <p:cNvCxnSpPr/>
          <p:nvPr/>
        </p:nvCxnSpPr>
        <p:spPr>
          <a:xfrm flipV="1">
            <a:off x="1005840" y="1801367"/>
            <a:ext cx="0" cy="34107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1005840" y="5212079"/>
            <a:ext cx="44622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764286" y="1668779"/>
            <a:ext cx="168402" cy="265176"/>
          </a:xfrm>
          <a:prstGeom prst="rect">
            <a:avLst/>
          </a:prstGeom>
          <a:noFill/>
        </p:spPr>
        <p:txBody>
          <a:bodyPr wrap="square" lIns="0" rIns="0" tIns="0" bIns="0">
            <a:spAutoFit/>
          </a:bodyPr>
          <a:lstStyle/>
          <a:p>
            <a:pPr algn="l"/>
            <a:r>
              <a:rPr sz="1400" b="1" i="1" u="none">
                <a:solidFill>
                  <a:srgbClr val="0B2B4E"/>
                </a:solidFill>
                <a:latin typeface="Calibri"/>
              </a:rPr>
              <a:t>P</a:t>
            </a:r>
          </a:p>
        </p:txBody>
      </p:sp>
      <p:sp>
        <p:nvSpPr>
          <p:cNvPr id="11" name="sdaxistitle:x"/>
          <p:cNvSpPr txBox="1"/>
          <p:nvPr/>
        </p:nvSpPr>
        <p:spPr>
          <a:xfrm>
            <a:off x="5369623" y="5257799"/>
            <a:ext cx="196976" cy="265176"/>
          </a:xfrm>
          <a:prstGeom prst="rect">
            <a:avLst/>
          </a:prstGeom>
          <a:noFill/>
        </p:spPr>
        <p:txBody>
          <a:bodyPr wrap="square" lIns="0" rIns="0" tIns="0" bIns="0">
            <a:spAutoFit/>
          </a:bodyPr>
          <a:lstStyle/>
          <a:p>
            <a:pPr algn="l"/>
            <a:r>
              <a:rPr sz="1400" b="1" i="1" u="none">
                <a:solidFill>
                  <a:srgbClr val="0B2B4E"/>
                </a:solidFill>
                <a:latin typeface="Calibri"/>
              </a:rPr>
              <a:t>Q</a:t>
            </a:r>
          </a:p>
        </p:txBody>
      </p:sp>
      <p:sp>
        <p:nvSpPr>
          <p:cNvPr id="12" name="sdregion:974abd14"/>
          <p:cNvSpPr/>
          <p:nvPr/>
        </p:nvSpPr>
        <p:spPr>
          <a:xfrm>
            <a:off x="1005840" y="3357154"/>
            <a:ext cx="613954" cy="463731"/>
          </a:xfrm>
          <a:custGeom>
            <a:avLst/>
            <a:gdLst/>
            <a:ahLst/>
            <a:cxnLst/>
            <a:rect l="0" t="0" r="r" b="b"/>
            <a:pathLst>
              <a:path w="613954" h="463731">
                <a:moveTo>
                  <a:pt x="0" y="0"/>
                </a:moveTo>
                <a:lnTo>
                  <a:pt x="0" y="463731"/>
                </a:lnTo>
                <a:lnTo>
                  <a:pt x="613954" y="463731"/>
                </a:lnTo>
                <a:lnTo>
                  <a:pt x="613954"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005840" y="2893422"/>
            <a:ext cx="3069771" cy="2318657"/>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14" name="sdcurve:MR:us"/>
          <p:cNvCxnSpPr/>
          <p:nvPr/>
        </p:nvCxnSpPr>
        <p:spPr>
          <a:xfrm>
            <a:off x="1005840" y="2893422"/>
            <a:ext cx="1534885" cy="2318657"/>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05840" y="3820885"/>
            <a:ext cx="4168749"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43984" y="3512275"/>
            <a:ext cx="311277" cy="292608"/>
          </a:xfrm>
          <a:prstGeom prst="rect">
            <a:avLst/>
          </a:prstGeom>
          <a:noFill/>
        </p:spPr>
        <p:txBody>
          <a:bodyPr wrap="square" lIns="0" rIns="0" tIns="0" bIns="0">
            <a:spAutoFit/>
          </a:bodyPr>
          <a:lstStyle/>
          <a:p>
            <a:pPr algn="l"/>
            <a:r>
              <a:rPr sz="1300" b="1" i="1" u="none">
                <a:solidFill>
                  <a:srgbClr val="0B2B4E"/>
                </a:solidFill>
                <a:latin typeface="Calibri"/>
              </a:rPr>
              <a:t>MC</a:t>
            </a:r>
          </a:p>
        </p:txBody>
      </p:sp>
      <p:sp>
        <p:nvSpPr>
          <p:cNvPr id="17" name="sdcurvelab:MR:us"/>
          <p:cNvSpPr txBox="1"/>
          <p:nvPr/>
        </p:nvSpPr>
        <p:spPr>
          <a:xfrm>
            <a:off x="2600893" y="4838547"/>
            <a:ext cx="311277" cy="292608"/>
          </a:xfrm>
          <a:prstGeom prst="rect">
            <a:avLst/>
          </a:prstGeom>
          <a:noFill/>
        </p:spPr>
        <p:txBody>
          <a:bodyPr wrap="square" lIns="0" rIns="0" tIns="0" bIns="0">
            <a:spAutoFit/>
          </a:bodyPr>
          <a:lstStyle/>
          <a:p>
            <a:pPr algn="l"/>
            <a:r>
              <a:rPr sz="1300" b="1" i="1" u="none">
                <a:solidFill>
                  <a:srgbClr val="A2162A"/>
                </a:solidFill>
                <a:latin typeface="Calibri"/>
              </a:rPr>
              <a:t>MR</a:t>
            </a:r>
          </a:p>
        </p:txBody>
      </p:sp>
      <p:sp>
        <p:nvSpPr>
          <p:cNvPr id="18" name="TextBox 17"/>
          <p:cNvSpPr txBox="1"/>
          <p:nvPr/>
        </p:nvSpPr>
        <p:spPr>
          <a:xfrm>
            <a:off x="4135778" y="4838547"/>
            <a:ext cx="177927" cy="292608"/>
          </a:xfrm>
          <a:prstGeom prst="rect">
            <a:avLst/>
          </a:prstGeom>
          <a:noFill/>
        </p:spPr>
        <p:txBody>
          <a:bodyPr wrap="square" lIns="0" rIns="0" tIns="0" bIns="0">
            <a:spAutoFit/>
          </a:bodyPr>
          <a:lstStyle/>
          <a:p>
            <a:pPr algn="l"/>
            <a:r>
              <a:rPr sz="1300" b="1" i="1" u="none">
                <a:solidFill>
                  <a:srgbClr val="A2162A"/>
                </a:solidFill>
                <a:latin typeface="Calibri"/>
              </a:rPr>
              <a:t>D</a:t>
            </a:r>
          </a:p>
        </p:txBody>
      </p:sp>
      <p:cxnSp>
        <p:nvCxnSpPr>
          <p:cNvPr id="19" name="Connector 18"/>
          <p:cNvCxnSpPr/>
          <p:nvPr/>
        </p:nvCxnSpPr>
        <p:spPr>
          <a:xfrm>
            <a:off x="1005840" y="3357154"/>
            <a:ext cx="613954"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619794" y="3357154"/>
            <a:ext cx="0" cy="1854925"/>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34770" y="3357154"/>
            <a:ext cx="0" cy="463731"/>
          </a:xfrm>
          <a:prstGeom prst="line">
            <a:avLst/>
          </a:prstGeom>
          <a:ln w="15875">
            <a:solidFill>
              <a:srgbClr val="A2162A"/>
            </a:solidFill>
            <a:headEnd type="triangle" w="sm" h="sm"/>
            <a:tailEnd type="triangle" w="sm" h="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57412" y="3950501"/>
            <a:ext cx="616077" cy="292608"/>
          </a:xfrm>
          <a:prstGeom prst="rect">
            <a:avLst/>
          </a:prstGeom>
          <a:noFill/>
        </p:spPr>
        <p:txBody>
          <a:bodyPr wrap="square" lIns="0" rIns="0" tIns="0" bIns="0">
            <a:spAutoFit/>
          </a:bodyPr>
          <a:lstStyle/>
          <a:p>
            <a:pPr algn="l"/>
            <a:r>
              <a:rPr sz="1200" b="1" i="1" u="none">
                <a:solidFill>
                  <a:srgbClr val="A2162A"/>
                </a:solidFill>
                <a:latin typeface="Calibri"/>
              </a:rPr>
              <a:t>Mark-up</a:t>
            </a:r>
          </a:p>
        </p:txBody>
      </p:sp>
      <p:sp>
        <p:nvSpPr>
          <p:cNvPr id="23" name="TextBox 22"/>
          <p:cNvSpPr txBox="1"/>
          <p:nvPr/>
        </p:nvSpPr>
        <p:spPr>
          <a:xfrm>
            <a:off x="602361" y="2756262"/>
            <a:ext cx="330327" cy="274320"/>
          </a:xfrm>
          <a:prstGeom prst="rect">
            <a:avLst/>
          </a:prstGeom>
          <a:noFill/>
        </p:spPr>
        <p:txBody>
          <a:bodyPr wrap="square" lIns="0" rIns="0" tIns="0" bIns="0">
            <a:spAutoFit/>
          </a:bodyPr>
          <a:lstStyle/>
          <a:p>
            <a:pPr algn="r"/>
            <a:r>
              <a:rPr sz="1300" b="0" i="1" u="none">
                <a:solidFill>
                  <a:srgbClr val="A2162A"/>
                </a:solidFill>
                <a:latin typeface="Calibri"/>
              </a:rPr>
              <a:t>$75</a:t>
            </a:r>
          </a:p>
        </p:txBody>
      </p:sp>
      <p:sp>
        <p:nvSpPr>
          <p:cNvPr id="24" name="TextBox 23"/>
          <p:cNvSpPr txBox="1"/>
          <p:nvPr/>
        </p:nvSpPr>
        <p:spPr>
          <a:xfrm>
            <a:off x="230886" y="3219994"/>
            <a:ext cx="701802" cy="274320"/>
          </a:xfrm>
          <a:prstGeom prst="rect">
            <a:avLst/>
          </a:prstGeom>
          <a:noFill/>
        </p:spPr>
        <p:txBody>
          <a:bodyPr wrap="square" lIns="0" rIns="0" tIns="0" bIns="0">
            <a:spAutoFit/>
          </a:bodyPr>
          <a:lstStyle/>
          <a:p>
            <a:pPr algn="r"/>
            <a:r>
              <a:rPr sz="1400" b="1" i="1" u="none">
                <a:solidFill>
                  <a:srgbClr val="0B2B4E"/>
                </a:solidFill>
                <a:latin typeface="Calibri"/>
              </a:rPr>
              <a:t>P* = $60</a:t>
            </a:r>
          </a:p>
        </p:txBody>
      </p:sp>
      <p:sp>
        <p:nvSpPr>
          <p:cNvPr id="25" name="TextBox 24"/>
          <p:cNvSpPr txBox="1"/>
          <p:nvPr/>
        </p:nvSpPr>
        <p:spPr>
          <a:xfrm>
            <a:off x="602361" y="3683725"/>
            <a:ext cx="330327" cy="274320"/>
          </a:xfrm>
          <a:prstGeom prst="rect">
            <a:avLst/>
          </a:prstGeom>
          <a:noFill/>
        </p:spPr>
        <p:txBody>
          <a:bodyPr wrap="square" lIns="0" rIns="0" tIns="0" bIns="0">
            <a:spAutoFit/>
          </a:bodyPr>
          <a:lstStyle/>
          <a:p>
            <a:pPr algn="r"/>
            <a:r>
              <a:rPr sz="1300" b="0" i="1" u="none">
                <a:solidFill>
                  <a:srgbClr val="0B2B4E"/>
                </a:solidFill>
                <a:latin typeface="Calibri"/>
              </a:rPr>
              <a:t>$45</a:t>
            </a:r>
          </a:p>
        </p:txBody>
      </p:sp>
      <p:sp>
        <p:nvSpPr>
          <p:cNvPr id="26" name="TextBox 25"/>
          <p:cNvSpPr txBox="1"/>
          <p:nvPr/>
        </p:nvSpPr>
        <p:spPr>
          <a:xfrm>
            <a:off x="1302231" y="5266943"/>
            <a:ext cx="635127" cy="274320"/>
          </a:xfrm>
          <a:prstGeom prst="rect">
            <a:avLst/>
          </a:prstGeom>
          <a:noFill/>
        </p:spPr>
        <p:txBody>
          <a:bodyPr wrap="square" lIns="0" rIns="0" tIns="0" bIns="0">
            <a:spAutoFit/>
          </a:bodyPr>
          <a:lstStyle/>
          <a:p>
            <a:pPr algn="ctr"/>
            <a:r>
              <a:rPr sz="1400" b="1" i="1" u="none">
                <a:solidFill>
                  <a:srgbClr val="0B2B4E"/>
                </a:solidFill>
                <a:latin typeface="Calibri"/>
              </a:rPr>
              <a:t>Q* = 30</a:t>
            </a:r>
          </a:p>
        </p:txBody>
      </p:sp>
      <p:sp>
        <p:nvSpPr>
          <p:cNvPr id="27" name="TextBox 26"/>
          <p:cNvSpPr txBox="1"/>
          <p:nvPr/>
        </p:nvSpPr>
        <p:spPr>
          <a:xfrm>
            <a:off x="3910448" y="5266943"/>
            <a:ext cx="330327" cy="274320"/>
          </a:xfrm>
          <a:prstGeom prst="rect">
            <a:avLst/>
          </a:prstGeom>
          <a:noFill/>
        </p:spPr>
        <p:txBody>
          <a:bodyPr wrap="square" lIns="0" rIns="0" tIns="0" bIns="0">
            <a:spAutoFit/>
          </a:bodyPr>
          <a:lstStyle/>
          <a:p>
            <a:pPr algn="ctr"/>
            <a:r>
              <a:rPr sz="1300" b="0" i="1" u="none">
                <a:solidFill>
                  <a:srgbClr val="A2162A"/>
                </a:solidFill>
                <a:latin typeface="Calibri"/>
              </a:rPr>
              <a:t>150</a:t>
            </a:r>
          </a:p>
        </p:txBody>
      </p:sp>
      <p:sp>
        <p:nvSpPr>
          <p:cNvPr id="28" name="TextBox 27"/>
          <p:cNvSpPr txBox="1"/>
          <p:nvPr/>
        </p:nvSpPr>
        <p:spPr>
          <a:xfrm>
            <a:off x="731520" y="5532120"/>
            <a:ext cx="4846320" cy="329184"/>
          </a:xfrm>
          <a:prstGeom prst="rect">
            <a:avLst/>
          </a:prstGeom>
          <a:noFill/>
        </p:spPr>
        <p:txBody>
          <a:bodyPr wrap="square" lIns="0" rIns="0" tIns="0" bIns="0">
            <a:spAutoFit/>
          </a:bodyPr>
          <a:lstStyle/>
          <a:p>
            <a:pPr algn="ctr"/>
            <a:r>
              <a:rPr sz="1700" b="1" i="0" u="none">
                <a:solidFill>
                  <a:srgbClr val="0B2B4E"/>
                </a:solidFill>
                <a:latin typeface="Calibri"/>
              </a:rPr>
              <a:t>Profit = ($60 − $45) · 30 = $450 m</a:t>
            </a:r>
          </a:p>
        </p:txBody>
      </p:sp>
      <p:sp>
        <p:nvSpPr>
          <p:cNvPr id="29" name="TextBox 28"/>
          <p:cNvSpPr txBox="1"/>
          <p:nvPr/>
        </p:nvSpPr>
        <p:spPr>
          <a:xfrm>
            <a:off x="731520" y="5888736"/>
            <a:ext cx="4846320" cy="329184"/>
          </a:xfrm>
          <a:prstGeom prst="rect">
            <a:avLst/>
          </a:prstGeom>
          <a:noFill/>
        </p:spPr>
        <p:txBody>
          <a:bodyPr wrap="square" lIns="0" rIns="0" tIns="0" bIns="0">
            <a:spAutoFit/>
          </a:bodyPr>
          <a:lstStyle/>
          <a:p>
            <a:pPr algn="ctr"/>
            <a:r>
              <a:rPr sz="1700" b="1" i="0" u="none">
                <a:solidFill>
                  <a:srgbClr val="A2162A"/>
                </a:solidFill>
                <a:latin typeface="Calibri"/>
              </a:rPr>
              <a:t>Mark-up = ($60 − $45)/$60 = 25 %</a:t>
            </a:r>
          </a:p>
        </p:txBody>
      </p:sp>
      <p:sp>
        <p:nvSpPr>
          <p:cNvPr id="30" name="TextBox 29"/>
          <p:cNvSpPr txBox="1"/>
          <p:nvPr/>
        </p:nvSpPr>
        <p:spPr>
          <a:xfrm>
            <a:off x="6355080" y="1581912"/>
            <a:ext cx="4754880" cy="310896"/>
          </a:xfrm>
          <a:prstGeom prst="rect">
            <a:avLst/>
          </a:prstGeom>
          <a:noFill/>
        </p:spPr>
        <p:txBody>
          <a:bodyPr wrap="square" lIns="0" rIns="0" tIns="0" bIns="0">
            <a:spAutoFit/>
          </a:bodyPr>
          <a:lstStyle/>
          <a:p>
            <a:pPr algn="ctr"/>
            <a:r>
              <a:rPr sz="1700" b="1" i="0" u="none">
                <a:solidFill>
                  <a:srgbClr val="0B2B4E"/>
                </a:solidFill>
                <a:latin typeface="Calibri"/>
              </a:rPr>
              <a:t>German market</a:t>
            </a:r>
          </a:p>
        </p:txBody>
      </p:sp>
      <p:cxnSp>
        <p:nvCxnSpPr>
          <p:cNvPr id="31" name="sdaxis:y"/>
          <p:cNvCxnSpPr/>
          <p:nvPr/>
        </p:nvCxnSpPr>
        <p:spPr>
          <a:xfrm flipV="1">
            <a:off x="6583680" y="1801367"/>
            <a:ext cx="0" cy="34107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32" name="sdaxis:x"/>
          <p:cNvCxnSpPr/>
          <p:nvPr/>
        </p:nvCxnSpPr>
        <p:spPr>
          <a:xfrm>
            <a:off x="6583680" y="5212079"/>
            <a:ext cx="446227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33" name="sdaxistitle:y"/>
          <p:cNvSpPr txBox="1"/>
          <p:nvPr/>
        </p:nvSpPr>
        <p:spPr>
          <a:xfrm>
            <a:off x="6342126" y="1668779"/>
            <a:ext cx="168402" cy="265176"/>
          </a:xfrm>
          <a:prstGeom prst="rect">
            <a:avLst/>
          </a:prstGeom>
          <a:noFill/>
        </p:spPr>
        <p:txBody>
          <a:bodyPr wrap="square" lIns="0" rIns="0" tIns="0" bIns="0">
            <a:spAutoFit/>
          </a:bodyPr>
          <a:lstStyle/>
          <a:p>
            <a:pPr algn="l"/>
            <a:r>
              <a:rPr sz="1400" b="1" i="1" u="none">
                <a:solidFill>
                  <a:srgbClr val="0B2B4E"/>
                </a:solidFill>
                <a:latin typeface="Calibri"/>
              </a:rPr>
              <a:t>P</a:t>
            </a:r>
          </a:p>
        </p:txBody>
      </p:sp>
      <p:sp>
        <p:nvSpPr>
          <p:cNvPr id="34" name="sdaxistitle:x"/>
          <p:cNvSpPr txBox="1"/>
          <p:nvPr/>
        </p:nvSpPr>
        <p:spPr>
          <a:xfrm>
            <a:off x="10947463" y="5257799"/>
            <a:ext cx="196976" cy="265176"/>
          </a:xfrm>
          <a:prstGeom prst="rect">
            <a:avLst/>
          </a:prstGeom>
          <a:noFill/>
        </p:spPr>
        <p:txBody>
          <a:bodyPr wrap="square" lIns="0" rIns="0" tIns="0" bIns="0">
            <a:spAutoFit/>
          </a:bodyPr>
          <a:lstStyle/>
          <a:p>
            <a:pPr algn="l"/>
            <a:r>
              <a:rPr sz="1400" b="1" i="1" u="none">
                <a:solidFill>
                  <a:srgbClr val="0B2B4E"/>
                </a:solidFill>
                <a:latin typeface="Calibri"/>
              </a:rPr>
              <a:t>Q</a:t>
            </a:r>
          </a:p>
        </p:txBody>
      </p:sp>
      <p:sp>
        <p:nvSpPr>
          <p:cNvPr id="35" name="sdregion:3432b902"/>
          <p:cNvSpPr/>
          <p:nvPr/>
        </p:nvSpPr>
        <p:spPr>
          <a:xfrm>
            <a:off x="6583680" y="3047999"/>
            <a:ext cx="1023257" cy="772886"/>
          </a:xfrm>
          <a:custGeom>
            <a:avLst/>
            <a:gdLst/>
            <a:ahLst/>
            <a:cxnLst/>
            <a:rect l="0" t="0" r="r" b="b"/>
            <a:pathLst>
              <a:path w="1023257" h="772886">
                <a:moveTo>
                  <a:pt x="0" y="0"/>
                </a:moveTo>
                <a:lnTo>
                  <a:pt x="0" y="772886"/>
                </a:lnTo>
                <a:lnTo>
                  <a:pt x="1023257" y="772886"/>
                </a:lnTo>
                <a:lnTo>
                  <a:pt x="1023257"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6583680" y="2275114"/>
            <a:ext cx="3888377" cy="2936965"/>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37" name="sdcurve:MR:de"/>
          <p:cNvCxnSpPr/>
          <p:nvPr/>
        </p:nvCxnSpPr>
        <p:spPr>
          <a:xfrm>
            <a:off x="6583680" y="2275114"/>
            <a:ext cx="1944188" cy="2936965"/>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583680" y="3820885"/>
            <a:ext cx="4168749"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021824" y="3512275"/>
            <a:ext cx="311277" cy="292608"/>
          </a:xfrm>
          <a:prstGeom prst="rect">
            <a:avLst/>
          </a:prstGeom>
          <a:noFill/>
        </p:spPr>
        <p:txBody>
          <a:bodyPr wrap="square" lIns="0" rIns="0" tIns="0" bIns="0">
            <a:spAutoFit/>
          </a:bodyPr>
          <a:lstStyle/>
          <a:p>
            <a:pPr algn="l"/>
            <a:r>
              <a:rPr sz="1300" b="1" i="1" u="none">
                <a:solidFill>
                  <a:srgbClr val="0B2B4E"/>
                </a:solidFill>
                <a:latin typeface="Calibri"/>
              </a:rPr>
              <a:t>MC</a:t>
            </a:r>
          </a:p>
        </p:txBody>
      </p:sp>
      <p:sp>
        <p:nvSpPr>
          <p:cNvPr id="40" name="sdcurvelab:MR:de"/>
          <p:cNvSpPr txBox="1"/>
          <p:nvPr/>
        </p:nvSpPr>
        <p:spPr>
          <a:xfrm>
            <a:off x="8588036" y="4838547"/>
            <a:ext cx="311277" cy="292608"/>
          </a:xfrm>
          <a:prstGeom prst="rect">
            <a:avLst/>
          </a:prstGeom>
          <a:noFill/>
        </p:spPr>
        <p:txBody>
          <a:bodyPr wrap="square" lIns="0" rIns="0" tIns="0" bIns="0">
            <a:spAutoFit/>
          </a:bodyPr>
          <a:lstStyle/>
          <a:p>
            <a:pPr algn="l"/>
            <a:r>
              <a:rPr sz="1300" b="1" i="1" u="none">
                <a:solidFill>
                  <a:srgbClr val="A2162A"/>
                </a:solidFill>
                <a:latin typeface="Calibri"/>
              </a:rPr>
              <a:t>MR</a:t>
            </a:r>
          </a:p>
        </p:txBody>
      </p:sp>
      <p:sp>
        <p:nvSpPr>
          <p:cNvPr id="41" name="TextBox 40"/>
          <p:cNvSpPr txBox="1"/>
          <p:nvPr/>
        </p:nvSpPr>
        <p:spPr>
          <a:xfrm>
            <a:off x="10532224" y="4838547"/>
            <a:ext cx="177927" cy="292608"/>
          </a:xfrm>
          <a:prstGeom prst="rect">
            <a:avLst/>
          </a:prstGeom>
          <a:noFill/>
        </p:spPr>
        <p:txBody>
          <a:bodyPr wrap="square" lIns="0" rIns="0" tIns="0" bIns="0">
            <a:spAutoFit/>
          </a:bodyPr>
          <a:lstStyle/>
          <a:p>
            <a:pPr algn="l"/>
            <a:r>
              <a:rPr sz="1300" b="1" i="1" u="none">
                <a:solidFill>
                  <a:srgbClr val="A2162A"/>
                </a:solidFill>
                <a:latin typeface="Calibri"/>
              </a:rPr>
              <a:t>D</a:t>
            </a:r>
          </a:p>
        </p:txBody>
      </p:sp>
      <p:cxnSp>
        <p:nvCxnSpPr>
          <p:cNvPr id="42" name="Connector 41"/>
          <p:cNvCxnSpPr/>
          <p:nvPr/>
        </p:nvCxnSpPr>
        <p:spPr>
          <a:xfrm>
            <a:off x="6583680" y="3047999"/>
            <a:ext cx="1023257"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606937" y="3047999"/>
            <a:ext cx="0" cy="216408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6712610" y="3047999"/>
            <a:ext cx="0" cy="772886"/>
          </a:xfrm>
          <a:prstGeom prst="line">
            <a:avLst/>
          </a:prstGeom>
          <a:ln w="15875">
            <a:solidFill>
              <a:srgbClr val="A2162A"/>
            </a:solidFill>
            <a:headEnd type="triangle" w="sm" h="sm"/>
            <a:tailEnd type="triangle" w="sm" h="sm"/>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635252" y="3950501"/>
            <a:ext cx="616077" cy="292608"/>
          </a:xfrm>
          <a:prstGeom prst="rect">
            <a:avLst/>
          </a:prstGeom>
          <a:noFill/>
        </p:spPr>
        <p:txBody>
          <a:bodyPr wrap="square" lIns="0" rIns="0" tIns="0" bIns="0">
            <a:spAutoFit/>
          </a:bodyPr>
          <a:lstStyle/>
          <a:p>
            <a:pPr algn="l"/>
            <a:r>
              <a:rPr sz="1200" b="1" i="1" u="none">
                <a:solidFill>
                  <a:srgbClr val="A2162A"/>
                </a:solidFill>
                <a:latin typeface="Calibri"/>
              </a:rPr>
              <a:t>Mark-up</a:t>
            </a:r>
          </a:p>
        </p:txBody>
      </p:sp>
      <p:sp>
        <p:nvSpPr>
          <p:cNvPr id="46" name="TextBox 45"/>
          <p:cNvSpPr txBox="1"/>
          <p:nvPr/>
        </p:nvSpPr>
        <p:spPr>
          <a:xfrm>
            <a:off x="6180201" y="2137954"/>
            <a:ext cx="330327" cy="274320"/>
          </a:xfrm>
          <a:prstGeom prst="rect">
            <a:avLst/>
          </a:prstGeom>
          <a:noFill/>
        </p:spPr>
        <p:txBody>
          <a:bodyPr wrap="square" lIns="0" rIns="0" tIns="0" bIns="0">
            <a:spAutoFit/>
          </a:bodyPr>
          <a:lstStyle/>
          <a:p>
            <a:pPr algn="r"/>
            <a:r>
              <a:rPr sz="1300" b="0" i="1" u="none">
                <a:solidFill>
                  <a:srgbClr val="A2162A"/>
                </a:solidFill>
                <a:latin typeface="Calibri"/>
              </a:rPr>
              <a:t>$95</a:t>
            </a:r>
          </a:p>
        </p:txBody>
      </p:sp>
      <p:sp>
        <p:nvSpPr>
          <p:cNvPr id="47" name="TextBox 46"/>
          <p:cNvSpPr txBox="1"/>
          <p:nvPr/>
        </p:nvSpPr>
        <p:spPr>
          <a:xfrm>
            <a:off x="5808726" y="2910839"/>
            <a:ext cx="701802" cy="274320"/>
          </a:xfrm>
          <a:prstGeom prst="rect">
            <a:avLst/>
          </a:prstGeom>
          <a:noFill/>
        </p:spPr>
        <p:txBody>
          <a:bodyPr wrap="square" lIns="0" rIns="0" tIns="0" bIns="0">
            <a:spAutoFit/>
          </a:bodyPr>
          <a:lstStyle/>
          <a:p>
            <a:pPr algn="r"/>
            <a:r>
              <a:rPr sz="1400" b="1" i="1" u="none">
                <a:solidFill>
                  <a:srgbClr val="0B2B4E"/>
                </a:solidFill>
                <a:latin typeface="Calibri"/>
              </a:rPr>
              <a:t>P* = $70</a:t>
            </a:r>
          </a:p>
        </p:txBody>
      </p:sp>
      <p:sp>
        <p:nvSpPr>
          <p:cNvPr id="48" name="TextBox 47"/>
          <p:cNvSpPr txBox="1"/>
          <p:nvPr/>
        </p:nvSpPr>
        <p:spPr>
          <a:xfrm>
            <a:off x="6180201" y="3683725"/>
            <a:ext cx="330327" cy="274320"/>
          </a:xfrm>
          <a:prstGeom prst="rect">
            <a:avLst/>
          </a:prstGeom>
          <a:noFill/>
        </p:spPr>
        <p:txBody>
          <a:bodyPr wrap="square" lIns="0" rIns="0" tIns="0" bIns="0">
            <a:spAutoFit/>
          </a:bodyPr>
          <a:lstStyle/>
          <a:p>
            <a:pPr algn="r"/>
            <a:r>
              <a:rPr sz="1300" b="0" i="1" u="none">
                <a:solidFill>
                  <a:srgbClr val="0B2B4E"/>
                </a:solidFill>
                <a:latin typeface="Calibri"/>
              </a:rPr>
              <a:t>$45</a:t>
            </a:r>
          </a:p>
        </p:txBody>
      </p:sp>
      <p:sp>
        <p:nvSpPr>
          <p:cNvPr id="49" name="TextBox 48"/>
          <p:cNvSpPr txBox="1"/>
          <p:nvPr/>
        </p:nvSpPr>
        <p:spPr>
          <a:xfrm>
            <a:off x="7289374" y="5266943"/>
            <a:ext cx="635127" cy="274320"/>
          </a:xfrm>
          <a:prstGeom prst="rect">
            <a:avLst/>
          </a:prstGeom>
          <a:noFill/>
        </p:spPr>
        <p:txBody>
          <a:bodyPr wrap="square" lIns="0" rIns="0" tIns="0" bIns="0">
            <a:spAutoFit/>
          </a:bodyPr>
          <a:lstStyle/>
          <a:p>
            <a:pPr algn="ctr"/>
            <a:r>
              <a:rPr sz="1400" b="1" i="1" u="none">
                <a:solidFill>
                  <a:srgbClr val="0B2B4E"/>
                </a:solidFill>
                <a:latin typeface="Calibri"/>
              </a:rPr>
              <a:t>Q* = 50</a:t>
            </a:r>
          </a:p>
        </p:txBody>
      </p:sp>
      <p:sp>
        <p:nvSpPr>
          <p:cNvPr id="50" name="TextBox 49"/>
          <p:cNvSpPr txBox="1"/>
          <p:nvPr/>
        </p:nvSpPr>
        <p:spPr>
          <a:xfrm>
            <a:off x="10306894" y="5266943"/>
            <a:ext cx="330327" cy="274320"/>
          </a:xfrm>
          <a:prstGeom prst="rect">
            <a:avLst/>
          </a:prstGeom>
          <a:noFill/>
        </p:spPr>
        <p:txBody>
          <a:bodyPr wrap="square" lIns="0" rIns="0" tIns="0" bIns="0">
            <a:spAutoFit/>
          </a:bodyPr>
          <a:lstStyle/>
          <a:p>
            <a:pPr algn="ctr"/>
            <a:r>
              <a:rPr sz="1300" b="0" i="1" u="none">
                <a:solidFill>
                  <a:srgbClr val="A2162A"/>
                </a:solidFill>
                <a:latin typeface="Calibri"/>
              </a:rPr>
              <a:t>190</a:t>
            </a:r>
          </a:p>
        </p:txBody>
      </p:sp>
      <p:sp>
        <p:nvSpPr>
          <p:cNvPr id="51" name="TextBox 50"/>
          <p:cNvSpPr txBox="1"/>
          <p:nvPr/>
        </p:nvSpPr>
        <p:spPr>
          <a:xfrm>
            <a:off x="6309360" y="5532120"/>
            <a:ext cx="4846320" cy="329184"/>
          </a:xfrm>
          <a:prstGeom prst="rect">
            <a:avLst/>
          </a:prstGeom>
          <a:noFill/>
        </p:spPr>
        <p:txBody>
          <a:bodyPr wrap="square" lIns="0" rIns="0" tIns="0" bIns="0">
            <a:spAutoFit/>
          </a:bodyPr>
          <a:lstStyle/>
          <a:p>
            <a:pPr algn="ctr"/>
            <a:r>
              <a:rPr sz="1700" b="1" i="0" u="none">
                <a:solidFill>
                  <a:srgbClr val="0B2B4E"/>
                </a:solidFill>
                <a:latin typeface="Calibri"/>
              </a:rPr>
              <a:t>Profit = ($70 − $45) · 50 = $1,250 m</a:t>
            </a:r>
          </a:p>
        </p:txBody>
      </p:sp>
      <p:sp>
        <p:nvSpPr>
          <p:cNvPr id="52" name="TextBox 51"/>
          <p:cNvSpPr txBox="1"/>
          <p:nvPr/>
        </p:nvSpPr>
        <p:spPr>
          <a:xfrm>
            <a:off x="6309360" y="5888736"/>
            <a:ext cx="4846320" cy="329184"/>
          </a:xfrm>
          <a:prstGeom prst="rect">
            <a:avLst/>
          </a:prstGeom>
          <a:noFill/>
        </p:spPr>
        <p:txBody>
          <a:bodyPr wrap="square" lIns="0" rIns="0" tIns="0" bIns="0">
            <a:spAutoFit/>
          </a:bodyPr>
          <a:lstStyle/>
          <a:p>
            <a:pPr algn="ctr"/>
            <a:r>
              <a:rPr sz="1700" b="1" i="0" u="none">
                <a:solidFill>
                  <a:srgbClr val="A2162A"/>
                </a:solidFill>
                <a:latin typeface="Calibri"/>
              </a:rPr>
              <a:t>Mark-up = ($70 − $45)/$70 = 36 %</a:t>
            </a:r>
          </a:p>
        </p:txBody>
      </p:sp>
      <p:sp>
        <p:nvSpPr>
          <p:cNvPr id="53" name="Rectangle 5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56" name="TextBox 55"/>
          <p:cNvSpPr txBox="1"/>
          <p:nvPr/>
        </p:nvSpPr>
        <p:spPr>
          <a:xfrm>
            <a:off x="11475720" y="6583680"/>
            <a:ext cx="502920" cy="292608"/>
          </a:xfrm>
          <a:prstGeom prst="rect">
            <a:avLst/>
          </a:prstGeom>
          <a:noFill/>
        </p:spPr>
        <p:txBody>
          <a:bodyPr wrap="none" lIns="0" rIns="0" tIns="0" bIns="0">
            <a:spAutoFit/>
          </a:bodyPr>
          <a:lstStyle/>
          <a:p>
            <a:pPr algn="r"/>
            <a:fld id="{1D9370A3-FA17-5659-A86A-2BA5B8731561}" type="slidenum">
              <a:rPr lang="en-US" sz="1200" dirty="0">
                <a:solidFill>
                  <a:srgbClr val="555B66"/>
                </a:solidFill>
                <a:latin typeface="Calibri"/>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What if They Charged the Same Price in Both Markets?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81328"/>
            <a:ext cx="10881360" cy="384048"/>
          </a:xfrm>
          <a:prstGeom prst="rect">
            <a:avLst/>
          </a:prstGeom>
          <a:noFill/>
        </p:spPr>
        <p:txBody>
          <a:bodyPr wrap="square" lIns="0" rIns="0" tIns="0" bIns="0">
            <a:spAutoFit/>
          </a:bodyPr>
          <a:lstStyle/>
          <a:p>
            <a:pPr algn="l"/>
            <a:r>
              <a:rPr sz="2100" b="1" i="0" u="none">
                <a:solidFill>
                  <a:srgbClr val="0B2B4E"/>
                </a:solidFill>
                <a:latin typeface="Calibri"/>
              </a:rPr>
              <a:t>Step 1 — invert each demand (quantity at a given price):</a:t>
            </a:r>
          </a:p>
        </p:txBody>
      </p:sp>
      <p:sp>
        <p:nvSpPr>
          <p:cNvPr id="8" name="TextBox 7"/>
          <p:cNvSpPr txBox="1"/>
          <p:nvPr/>
        </p:nvSpPr>
        <p:spPr>
          <a:xfrm>
            <a:off x="960120" y="1883664"/>
            <a:ext cx="1005840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 150 − 2</m:t>
                  </m:r>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 = 190 − 2</m:t>
                  </m:r>
                  <m:sSub>
                    <m:sSubPr>
                      <m:ctrlPr>
                        <a:rPr lang="en-US" i="1">
                          <a:latin typeface="Cambria Math"/>
                        </a:rPr>
                      </m:ctrlPr>
                    </m:sSubPr>
                    <m:e>
                      <m:r>
                        <a:rPr lang="en-US" b="0" i="1" sz="2200">
                          <a:solidFill>
                            <a:srgbClr val="0B2B4E"/>
                          </a:solidFill>
                          <a:latin typeface="Cambria Math"/>
                          <a:ea typeface="Cambria Math"/>
                        </a:rPr>
                        <m:t>P</m:t>
                      </m:r>
                    </m:e>
                    <m:sub>
                      <m:r>
                        <m:rPr>
                          <m:sty m:val="p"/>
                        </m:rPr>
                        <a:rPr lang="en-US" b="0" i="0" sz="2200">
                          <a:solidFill>
                            <a:srgbClr val="0B2B4E"/>
                          </a:solidFill>
                          <a:latin typeface="Cambria Math"/>
                        </a:rPr>
                        <m:t xml:space="preserve">D</m:t>
                      </m:r>
                    </m:sub>
                  </m:sSub>
                </m:oMath>
              </m:oMathPara>
            </a14:m>
            <a:endParaRPr lang="en-US" sz="2200"/>
          </a:p>
        </p:txBody>
      </p:sp>
      <p:sp>
        <p:nvSpPr>
          <p:cNvPr id="9" name="TextBox 8"/>
          <p:cNvSpPr txBox="1"/>
          <p:nvPr/>
        </p:nvSpPr>
        <p:spPr>
          <a:xfrm>
            <a:off x="731520" y="2432304"/>
            <a:ext cx="10881360" cy="384048"/>
          </a:xfrm>
          <a:prstGeom prst="rect">
            <a:avLst/>
          </a:prstGeom>
          <a:noFill/>
        </p:spPr>
        <p:txBody>
          <a:bodyPr wrap="square" lIns="0" rIns="0" tIns="0" bIns="0">
            <a:spAutoFit/>
          </a:bodyPr>
          <a:lstStyle/>
          <a:p>
            <a:pPr algn="l"/>
            <a:r>
              <a:rPr sz="2100" b="1" i="0" u="none">
                <a:solidFill>
                  <a:srgbClr val="0B2B4E"/>
                </a:solidFill>
                <a:latin typeface="Calibri"/>
              </a:rPr>
              <a:t>Step 2 — add the QUANTITIES at each price (horizontal summation):</a:t>
            </a:r>
          </a:p>
        </p:txBody>
      </p:sp>
      <p:sp>
        <p:nvSpPr>
          <p:cNvPr id="10" name="TextBox 9"/>
          <p:cNvSpPr txBox="1"/>
          <p:nvPr/>
        </p:nvSpPr>
        <p:spPr>
          <a:xfrm>
            <a:off x="960120" y="2834640"/>
            <a:ext cx="1005840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a:rPr lang="en-US" b="0" i="1" sz="2200">
                      <a:solidFill>
                        <a:srgbClr val="0B2B4E"/>
                      </a:solidFill>
                      <a:latin typeface="Cambria Math"/>
                      <a:ea typeface="Cambria Math"/>
                    </a:rPr>
                    <m:t>Q</m:t>
                  </m:r>
                  <m:r>
                    <m:rPr>
                      <m:sty m:val="p"/>
                    </m:rPr>
                    <a:rPr lang="en-US" b="0" i="0" sz="2200">
                      <a:solidFill>
                        <a:srgbClr val="0B2B4E"/>
                      </a:solidFill>
                      <a:latin typeface="Cambria Math"/>
                    </a:rPr>
                    <m:t xml:space="preserve"> = </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US</m:t>
                      </m:r>
                    </m:sub>
                  </m:sSub>
                  <m:r>
                    <m:rPr>
                      <m:sty m:val="p"/>
                    </m:rPr>
                    <a:rPr lang="en-US" b="0" i="0" sz="2200">
                      <a:solidFill>
                        <a:srgbClr val="0B2B4E"/>
                      </a:solidFill>
                      <a:latin typeface="Cambria Math"/>
                    </a:rPr>
                    <m:t xml:space="preserve"> + </m:t>
                  </m:r>
                  <m:sSub>
                    <m:sSubPr>
                      <m:ctrlPr>
                        <a:rPr lang="en-US" i="1">
                          <a:latin typeface="Cambria Math"/>
                        </a:rPr>
                      </m:ctrlPr>
                    </m:sSubPr>
                    <m:e>
                      <m:r>
                        <a:rPr lang="en-US" b="0" i="1" sz="2200">
                          <a:solidFill>
                            <a:srgbClr val="0B2B4E"/>
                          </a:solidFill>
                          <a:latin typeface="Cambria Math"/>
                          <a:ea typeface="Cambria Math"/>
                        </a:rPr>
                        <m:t>Q</m:t>
                      </m:r>
                    </m:e>
                    <m:sub>
                      <m:r>
                        <m:rPr>
                          <m:sty m:val="p"/>
                        </m:rPr>
                        <a:rPr lang="en-US" b="0" i="0" sz="2200">
                          <a:solidFill>
                            <a:srgbClr val="0B2B4E"/>
                          </a:solidFill>
                          <a:latin typeface="Cambria Math"/>
                        </a:rPr>
                        <m:t xml:space="preserve">D</m:t>
                      </m:r>
                    </m:sub>
                  </m:sSub>
                  <m:r>
                    <m:rPr>
                      <m:sty m:val="p"/>
                    </m:rPr>
                    <a:rPr lang="en-US" b="0" i="0" sz="2200">
                      <a:solidFill>
                        <a:srgbClr val="0B2B4E"/>
                      </a:solidFill>
                      <a:latin typeface="Cambria Math"/>
                    </a:rPr>
                    <m:t xml:space="preserve"> = 340 − 4</m:t>
                  </m:r>
                  <m:r>
                    <a:rPr lang="en-US" b="0" i="1" sz="2200">
                      <a:solidFill>
                        <a:srgbClr val="0B2B4E"/>
                      </a:solidFill>
                      <a:latin typeface="Cambria Math"/>
                      <a:ea typeface="Cambria Math"/>
                    </a:rPr>
                    <m:t>P</m:t>
                  </m:r>
                  <m:r>
                    <m:rPr>
                      <m:sty m:val="p"/>
                    </m:rPr>
                    <a:rPr lang="en-US" b="0" i="0" sz="2200">
                      <a:solidFill>
                        <a:srgbClr val="0B2B4E"/>
                      </a:solidFill>
                      <a:latin typeface="Cambria Math"/>
                    </a:rPr>
                    <m:t xml:space="preserve">     ⇒     </m:t>
                  </m:r>
                  <m:r>
                    <a:rPr lang="en-US" b="0" i="1" sz="2200">
                      <a:solidFill>
                        <a:srgbClr val="0B2B4E"/>
                      </a:solidFill>
                      <a:latin typeface="Cambria Math"/>
                      <a:ea typeface="Cambria Math"/>
                    </a:rPr>
                    <m:t>P</m:t>
                  </m:r>
                  <m:r>
                    <m:rPr>
                      <m:sty m:val="p"/>
                    </m:rPr>
                    <a:rPr lang="en-US" b="0" i="0" sz="2200">
                      <a:solidFill>
                        <a:srgbClr val="0B2B4E"/>
                      </a:solidFill>
                      <a:latin typeface="Cambria Math"/>
                    </a:rPr>
                    <m:t xml:space="preserve"> = 85 − 0.25</m:t>
                  </m:r>
                  <m:r>
                    <a:rPr lang="en-US" b="0" i="1" sz="2200">
                      <a:solidFill>
                        <a:srgbClr val="0B2B4E"/>
                      </a:solidFill>
                      <a:latin typeface="Cambria Math"/>
                      <a:ea typeface="Cambria Math"/>
                    </a:rPr>
                    <m:t>Q</m:t>
                  </m:r>
                </m:oMath>
              </m:oMathPara>
            </a14:m>
            <a:endParaRPr lang="en-US" sz="2200"/>
          </a:p>
        </p:txBody>
      </p:sp>
      <p:sp>
        <p:nvSpPr>
          <p:cNvPr id="11" name="TextBox 10"/>
          <p:cNvSpPr txBox="1"/>
          <p:nvPr/>
        </p:nvSpPr>
        <p:spPr>
          <a:xfrm>
            <a:off x="731520" y="3401568"/>
            <a:ext cx="10881360" cy="384048"/>
          </a:xfrm>
          <a:prstGeom prst="rect">
            <a:avLst/>
          </a:prstGeom>
          <a:noFill/>
        </p:spPr>
        <p:txBody>
          <a:bodyPr wrap="square" lIns="0" rIns="0" tIns="0" bIns="0">
            <a:spAutoFit/>
          </a:bodyPr>
          <a:lstStyle/>
          <a:p>
            <a:pPr algn="l"/>
            <a:r>
              <a:rPr sz="2100" b="1" i="0" u="none">
                <a:solidFill>
                  <a:srgbClr val="0B2B4E"/>
                </a:solidFill>
                <a:latin typeface="Calibri"/>
              </a:rPr>
              <a:t>Step 3 — set MR = MC on the aggregate demand:</a:t>
            </a:r>
          </a:p>
        </p:txBody>
      </p:sp>
      <p:sp>
        <p:nvSpPr>
          <p:cNvPr id="12" name="TextBox 11"/>
          <p:cNvSpPr txBox="1"/>
          <p:nvPr/>
        </p:nvSpPr>
        <p:spPr>
          <a:xfrm>
            <a:off x="960120" y="3803904"/>
            <a:ext cx="1005840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a:rPr lang="en-US" b="0" i="1" sz="2200">
                      <a:solidFill>
                        <a:srgbClr val="0B2B4E"/>
                      </a:solidFill>
                      <a:latin typeface="Cambria Math"/>
                      <a:ea typeface="Cambria Math"/>
                    </a:rPr>
                    <m:t>MR</m:t>
                  </m:r>
                  <m:r>
                    <m:rPr>
                      <m:sty m:val="p"/>
                    </m:rPr>
                    <a:rPr lang="en-US" b="0" i="0" sz="2200">
                      <a:solidFill>
                        <a:srgbClr val="0B2B4E"/>
                      </a:solidFill>
                      <a:latin typeface="Cambria Math"/>
                    </a:rPr>
                    <m:t xml:space="preserve"> = 85 − 0.5</m:t>
                  </m:r>
                  <m:r>
                    <a:rPr lang="en-US" b="0" i="1" sz="2200">
                      <a:solidFill>
                        <a:srgbClr val="0B2B4E"/>
                      </a:solidFill>
                      <a:latin typeface="Cambria Math"/>
                      <a:ea typeface="Cambria Math"/>
                    </a:rPr>
                    <m:t>Q</m:t>
                  </m:r>
                  <m:r>
                    <m:rPr>
                      <m:sty m:val="p"/>
                    </m:rPr>
                    <a:rPr lang="en-US" b="0" i="0" sz="2200">
                      <a:solidFill>
                        <a:srgbClr val="0B2B4E"/>
                      </a:solidFill>
                      <a:latin typeface="Cambria Math"/>
                    </a:rPr>
                    <m:t xml:space="preserve">     ⇒     85 − 0.5</m:t>
                  </m:r>
                  <m:r>
                    <a:rPr lang="en-US" b="0" i="1" sz="2200">
                      <a:solidFill>
                        <a:srgbClr val="0B2B4E"/>
                      </a:solidFill>
                      <a:latin typeface="Cambria Math"/>
                      <a:ea typeface="Cambria Math"/>
                    </a:rPr>
                    <m:t>Q</m:t>
                  </m:r>
                  <m:r>
                    <m:rPr>
                      <m:sty m:val="p"/>
                    </m:rPr>
                    <a:rPr lang="en-US" b="0" i="0" sz="2200">
                      <a:solidFill>
                        <a:srgbClr val="0B2B4E"/>
                      </a:solidFill>
                      <a:latin typeface="Cambria Math"/>
                    </a:rPr>
                    <m:t xml:space="preserve"> = 45</m:t>
                  </m:r>
                </m:oMath>
              </m:oMathPara>
            </a14:m>
            <a:endParaRPr lang="en-US" sz="2200"/>
          </a:p>
        </p:txBody>
      </p:sp>
      <p:sp>
        <p:nvSpPr>
          <p:cNvPr id="13" name="TextBox 12"/>
          <p:cNvSpPr txBox="1"/>
          <p:nvPr/>
        </p:nvSpPr>
        <p:spPr>
          <a:xfrm>
            <a:off x="960120" y="4315968"/>
            <a:ext cx="10058400" cy="502920"/>
          </a:xfrm>
          <a:prstGeom prst="rect">
            <a:avLst/>
          </a:prstGeom>
          <a:noFill/>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sSup>
                    <m:sSupPr>
                      <m:ctrlPr>
                        <a:rPr lang="en-US" i="1">
                          <a:latin typeface="Cambria Math"/>
                        </a:rPr>
                      </m:ctrlPr>
                    </m:sSupPr>
                    <m:e>
                      <m:r>
                        <a:rPr lang="en-US" b="0" i="1" sz="2200">
                          <a:solidFill>
                            <a:srgbClr val="0B2B4E"/>
                          </a:solidFill>
                          <a:latin typeface="Cambria Math"/>
                          <a:ea typeface="Cambria Math"/>
                        </a:rPr>
                        <m:t>Q</m:t>
                      </m:r>
                    </m:e>
                    <m:sup>
                      <m:r>
                        <m:rPr>
                          <m:sty m:val="p"/>
                        </m:rPr>
                        <a:rPr lang="en-US" b="0" i="0" sz="2200">
                          <a:solidFill>
                            <a:srgbClr val="0B2B4E"/>
                          </a:solidFill>
                          <a:latin typeface="Cambria Math"/>
                        </a:rPr>
                        <m:t xml:space="preserve">*</m:t>
                      </m:r>
                    </m:sup>
                  </m:sSup>
                  <m:r>
                    <m:rPr>
                      <m:sty m:val="p"/>
                    </m:rPr>
                    <a:rPr lang="en-US" b="0" i="0" sz="2200">
                      <a:solidFill>
                        <a:srgbClr val="0B2B4E"/>
                      </a:solidFill>
                      <a:latin typeface="Cambria Math"/>
                    </a:rPr>
                    <m:t xml:space="preserve"> = 80</m:t>
                  </m:r>
                </m:oMath>
              </m:oMathPara>
            </a14:m>
            <a:endParaRPr lang="en-US" sz="2200"/>
          </a:p>
        </p:txBody>
      </p:sp>
      <p:sp>
        <p:nvSpPr>
          <p:cNvPr id="14" name="TextBox 13"/>
          <p:cNvSpPr txBox="1"/>
          <p:nvPr/>
        </p:nvSpPr>
        <p:spPr>
          <a:xfrm>
            <a:off x="960120" y="4846320"/>
            <a:ext cx="10058400" cy="566928"/>
          </a:xfrm>
          <a:prstGeom prst="rect">
            <a:avLst/>
          </a:prstGeom>
          <a:noFill/>
        </p:spPr>
        <p:txBody>
          <a:bodyPr wrap="square" anchor="ctr">
            <a:spAutoFit/>
          </a:bodyPr>
          <a:lstStyle/>
          <a:p xmlns:m="http://schemas.openxmlformats.org/officeDocument/2006/math" xmlns:a14="http://schemas.microsoft.com/office/drawing/2010/main">
            <a:pPr algn="ctr">
              <a:defRPr sz="2700" b="0" i="1">
                <a:solidFill>
                  <a:srgbClr val="A2162A"/>
                </a:solidFill>
                <a:latin typeface="Cambria Math"/>
              </a:defRPr>
            </a:pPr>
            <a14:m>
              <m:oMathPara>
                <m:oMathParaPr>
                  <m:jc m:val="centerGroup"/>
                </m:oMathParaPr>
                <m:oMath>
                  <m:sSup>
                    <m:sSupPr>
                      <m:ctrlPr>
                        <a:rPr lang="en-US" i="1">
                          <a:latin typeface="Cambria Math"/>
                        </a:rPr>
                      </m:ctrlPr>
                    </m:sSupPr>
                    <m:e>
                      <m:r>
                        <a:rPr lang="en-US" b="0" i="1" sz="2700">
                          <a:solidFill>
                            <a:srgbClr val="A2162A"/>
                          </a:solidFill>
                          <a:latin typeface="Cambria Math"/>
                          <a:ea typeface="Cambria Math"/>
                        </a:rPr>
                        <m:t>P</m:t>
                      </m:r>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85 − 0.25·80</m:t>
                  </m:r>
                  <m:r>
                    <m:rPr>
                      <m:sty m:val="p"/>
                    </m:rPr>
                    <a:rPr lang="en-US" b="0" i="0" sz="2700">
                      <a:solidFill>
                        <a:srgbClr val="A2162A"/>
                      </a:solidFill>
                      <a:latin typeface="Cambria Math"/>
                    </a:rPr>
                    <m:t xml:space="preserve">   ⇒   </m:t>
                  </m:r>
                  <m:sSup>
                    <m:sSupPr>
                      <m:ctrlPr>
                        <a:rPr lang="en-US" i="1">
                          <a:latin typeface="Cambria Math"/>
                        </a:rPr>
                      </m:ctrlPr>
                    </m:sSupPr>
                    <m:e>
                      <m:r>
                        <a:rPr lang="en-US" b="0" i="1" sz="2700">
                          <a:solidFill>
                            <a:srgbClr val="A2162A"/>
                          </a:solidFill>
                          <a:latin typeface="Cambria Math"/>
                          <a:ea typeface="Cambria Math"/>
                        </a:rPr>
                        <m:t>P</m:t>
                      </m:r>
                    </m:e>
                    <m:sup>
                      <m:r>
                        <m:rPr>
                          <m:sty m:val="p"/>
                        </m:rPr>
                        <a:rPr lang="en-US" b="0" i="0" sz="2700">
                          <a:solidFill>
                            <a:srgbClr val="A2162A"/>
                          </a:solidFill>
                          <a:latin typeface="Cambria Math"/>
                        </a:rPr>
                        <m:t xml:space="preserve">*</m:t>
                      </m:r>
                    </m:sup>
                  </m:sSup>
                  <m:r>
                    <m:rPr>
                      <m:sty m:val="p"/>
                    </m:rPr>
                    <a:rPr lang="en-US" b="0" i="0" sz="2700">
                      <a:solidFill>
                        <a:srgbClr val="A2162A"/>
                      </a:solidFill>
                      <a:latin typeface="Cambria Math"/>
                    </a:rPr>
                    <m:t xml:space="preserve"> = 65     (profit = $1,600 m)</m:t>
                  </m:r>
                </m:oMath>
              </m:oMathPara>
            </a14:m>
            <a:endParaRPr lang="en-US" sz="2700"/>
          </a:p>
        </p:txBody>
      </p:sp>
      <p:sp>
        <p:nvSpPr>
          <p:cNvPr id="15" name="Rounded Rectangle 14"/>
          <p:cNvSpPr/>
          <p:nvPr/>
        </p:nvSpPr>
        <p:spPr>
          <a:xfrm>
            <a:off x="960120" y="5632704"/>
            <a:ext cx="10058400" cy="566928"/>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5742432"/>
            <a:ext cx="9692640" cy="347472"/>
          </a:xfrm>
          <a:prstGeom prst="rect">
            <a:avLst/>
          </a:prstGeom>
          <a:noFill/>
        </p:spPr>
        <p:txBody>
          <a:bodyPr wrap="square" lIns="45720" rIns="45720" tIns="0" bIns="0" anchor="ctr">
            <a:spAutoFit/>
          </a:bodyPr>
          <a:lstStyle/>
          <a:p>
            <a:pPr algn="l"/>
            <a:r>
              <a:rPr sz="1900" b="1" i="0" u="none">
                <a:solidFill>
                  <a:srgbClr val="0B2B4E"/>
                </a:solidFill>
                <a:latin typeface="Calibri"/>
              </a:rPr>
              <a:t>Check:  </a:t>
            </a:r>
            <a:r>
              <a:rPr sz="1900" b="0" i="0" u="none">
                <a:solidFill>
                  <a:srgbClr val="0B2B4E"/>
                </a:solidFill>
                <a:latin typeface="Calibri"/>
              </a:rPr>
              <a:t>P* = $65 is below the US choke price of $75, so both markets really do buy at this price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20" name="TextBox 19"/>
          <p:cNvSpPr txBox="1"/>
          <p:nvPr/>
        </p:nvSpPr>
        <p:spPr>
          <a:xfrm>
            <a:off x="11475720" y="6583680"/>
            <a:ext cx="502920" cy="292608"/>
          </a:xfrm>
          <a:prstGeom prst="rect">
            <a:avLst/>
          </a:prstGeom>
          <a:noFill/>
        </p:spPr>
        <p:txBody>
          <a:bodyPr wrap="none" lIns="0" rIns="0" tIns="0" bIns="0">
            <a:spAutoFit/>
          </a:bodyPr>
          <a:lstStyle/>
          <a:p>
            <a:pPr algn="r"/>
            <a:fld id="{26EFB99A-B290-50B4-9E80-1277B2FA641F}" type="slidenum">
              <a:rPr lang="en-US" sz="1200" dirty="0">
                <a:solidFill>
                  <a:srgbClr val="555B66"/>
                </a:solidFill>
                <a:latin typeface="Calibri"/>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Illustrating Uniform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353312"/>
            <a:ext cx="6217920" cy="310896"/>
          </a:xfrm>
          <a:prstGeom prst="rect">
            <a:avLst/>
          </a:prstGeom>
          <a:noFill/>
        </p:spPr>
        <p:txBody>
          <a:bodyPr wrap="square" lIns="0" rIns="0" tIns="0" bIns="0">
            <a:spAutoFit/>
          </a:bodyPr>
          <a:lstStyle/>
          <a:p>
            <a:pPr algn="ctr"/>
            <a:r>
              <a:rPr sz="1700" b="1" i="0" u="none">
                <a:solidFill>
                  <a:srgbClr val="0B2B4E"/>
                </a:solidFill>
                <a:latin typeface="Calibri"/>
              </a:rPr>
              <a:t>Joint market (US + Germany)</a:t>
            </a:r>
          </a:p>
        </p:txBody>
      </p:sp>
      <p:cxnSp>
        <p:nvCxnSpPr>
          <p:cNvPr id="8" name="sdaxis:y"/>
          <p:cNvCxnSpPr/>
          <p:nvPr/>
        </p:nvCxnSpPr>
        <p:spPr>
          <a:xfrm flipV="1">
            <a:off x="3246120" y="1572767"/>
            <a:ext cx="0" cy="386791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sdaxis:x"/>
          <p:cNvCxnSpPr/>
          <p:nvPr/>
        </p:nvCxnSpPr>
        <p:spPr>
          <a:xfrm>
            <a:off x="3246120" y="5440679"/>
            <a:ext cx="592531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sdaxistitle:y"/>
          <p:cNvSpPr txBox="1"/>
          <p:nvPr/>
        </p:nvSpPr>
        <p:spPr>
          <a:xfrm>
            <a:off x="3004566" y="1440179"/>
            <a:ext cx="168402" cy="265176"/>
          </a:xfrm>
          <a:prstGeom prst="rect">
            <a:avLst/>
          </a:prstGeom>
          <a:noFill/>
        </p:spPr>
        <p:txBody>
          <a:bodyPr wrap="square" lIns="0" rIns="0" tIns="0" bIns="0">
            <a:spAutoFit/>
          </a:bodyPr>
          <a:lstStyle/>
          <a:p>
            <a:pPr algn="l"/>
            <a:r>
              <a:rPr sz="1400" b="1" i="1" u="none">
                <a:solidFill>
                  <a:srgbClr val="0B2B4E"/>
                </a:solidFill>
                <a:latin typeface="Calibri"/>
              </a:rPr>
              <a:t>P</a:t>
            </a:r>
          </a:p>
        </p:txBody>
      </p:sp>
      <p:sp>
        <p:nvSpPr>
          <p:cNvPr id="11" name="sdaxistitle:x"/>
          <p:cNvSpPr txBox="1"/>
          <p:nvPr/>
        </p:nvSpPr>
        <p:spPr>
          <a:xfrm>
            <a:off x="9072943" y="5486399"/>
            <a:ext cx="196976" cy="265176"/>
          </a:xfrm>
          <a:prstGeom prst="rect">
            <a:avLst/>
          </a:prstGeom>
          <a:noFill/>
        </p:spPr>
        <p:txBody>
          <a:bodyPr wrap="square" lIns="0" rIns="0" tIns="0" bIns="0">
            <a:spAutoFit/>
          </a:bodyPr>
          <a:lstStyle/>
          <a:p>
            <a:pPr algn="l"/>
            <a:r>
              <a:rPr sz="1400" b="1" i="1" u="none">
                <a:solidFill>
                  <a:srgbClr val="0B2B4E"/>
                </a:solidFill>
                <a:latin typeface="Calibri"/>
              </a:rPr>
              <a:t>Q</a:t>
            </a:r>
          </a:p>
        </p:txBody>
      </p:sp>
      <p:sp>
        <p:nvSpPr>
          <p:cNvPr id="12" name="sdregion:23af82a6"/>
          <p:cNvSpPr/>
          <p:nvPr/>
        </p:nvSpPr>
        <p:spPr>
          <a:xfrm>
            <a:off x="3246120" y="3148148"/>
            <a:ext cx="1245561" cy="705394"/>
          </a:xfrm>
          <a:custGeom>
            <a:avLst/>
            <a:gdLst/>
            <a:ahLst/>
            <a:cxnLst/>
            <a:rect l="0" t="0" r="r" b="b"/>
            <a:pathLst>
              <a:path w="1245561" h="705394">
                <a:moveTo>
                  <a:pt x="0" y="0"/>
                </a:moveTo>
                <a:lnTo>
                  <a:pt x="0" y="705394"/>
                </a:lnTo>
                <a:lnTo>
                  <a:pt x="1245561" y="705394"/>
                </a:lnTo>
                <a:lnTo>
                  <a:pt x="1245561" y="0"/>
                </a:lnTo>
                <a:close/>
              </a:path>
            </a:pathLst>
          </a:custGeom>
          <a:solidFill>
            <a:srgbClr val="A2162A">
              <a:alpha val="2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3246120" y="2090057"/>
            <a:ext cx="622780" cy="705394"/>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868900" y="2795451"/>
            <a:ext cx="4670854" cy="2645228"/>
          </a:xfrm>
          <a:prstGeom prst="line">
            <a:avLst/>
          </a:prstGeom>
          <a:ln w="28575">
            <a:solidFill>
              <a:srgbClr val="A2162A"/>
            </a:solidFill>
          </a:ln>
        </p:spPr>
        <p:style>
          <a:lnRef idx="2">
            <a:schemeClr val="accent1"/>
          </a:lnRef>
          <a:fillRef idx="0">
            <a:schemeClr val="accent1"/>
          </a:fillRef>
          <a:effectRef idx="1">
            <a:schemeClr val="accent1"/>
          </a:effectRef>
          <a:fontRef idx="minor">
            <a:schemeClr val="tx1"/>
          </a:fontRef>
        </p:style>
      </p:cxnSp>
      <p:cxnSp>
        <p:nvCxnSpPr>
          <p:cNvPr id="15" name="sdcurve:MR:uni"/>
          <p:cNvCxnSpPr/>
          <p:nvPr/>
        </p:nvCxnSpPr>
        <p:spPr>
          <a:xfrm>
            <a:off x="3246120" y="2442754"/>
            <a:ext cx="2646817" cy="2997925"/>
          </a:xfrm>
          <a:prstGeom prst="line">
            <a:avLst/>
          </a:prstGeom>
          <a:ln w="19050">
            <a:solidFill>
              <a:srgbClr val="A2162A"/>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46120" y="3853542"/>
            <a:ext cx="5587898" cy="0"/>
          </a:xfrm>
          <a:prstGeom prst="line">
            <a:avLst/>
          </a:prstGeom>
          <a:ln w="22225">
            <a:solidFill>
              <a:srgbClr val="0B2B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54696" y="3522072"/>
            <a:ext cx="311277" cy="292608"/>
          </a:xfrm>
          <a:prstGeom prst="rect">
            <a:avLst/>
          </a:prstGeom>
          <a:noFill/>
        </p:spPr>
        <p:txBody>
          <a:bodyPr wrap="square" lIns="0" rIns="0" tIns="0" bIns="0">
            <a:spAutoFit/>
          </a:bodyPr>
          <a:lstStyle/>
          <a:p>
            <a:pPr algn="l"/>
            <a:r>
              <a:rPr sz="1300" b="1" i="1" u="none">
                <a:solidFill>
                  <a:srgbClr val="0B2B4E"/>
                </a:solidFill>
                <a:latin typeface="Calibri"/>
              </a:rPr>
              <a:t>MC</a:t>
            </a:r>
          </a:p>
        </p:txBody>
      </p:sp>
      <p:sp>
        <p:nvSpPr>
          <p:cNvPr id="18" name="sdcurvelab:MR:uni"/>
          <p:cNvSpPr txBox="1"/>
          <p:nvPr/>
        </p:nvSpPr>
        <p:spPr>
          <a:xfrm>
            <a:off x="5973587" y="5035143"/>
            <a:ext cx="311277" cy="292608"/>
          </a:xfrm>
          <a:prstGeom prst="rect">
            <a:avLst/>
          </a:prstGeom>
          <a:noFill/>
        </p:spPr>
        <p:txBody>
          <a:bodyPr wrap="square" lIns="0" rIns="0" tIns="0" bIns="0">
            <a:spAutoFit/>
          </a:bodyPr>
          <a:lstStyle/>
          <a:p>
            <a:pPr algn="l"/>
            <a:r>
              <a:rPr sz="1300" b="1" i="1" u="none">
                <a:solidFill>
                  <a:srgbClr val="A2162A"/>
                </a:solidFill>
                <a:latin typeface="Calibri"/>
              </a:rPr>
              <a:t>MR</a:t>
            </a:r>
          </a:p>
        </p:txBody>
      </p:sp>
      <p:sp>
        <p:nvSpPr>
          <p:cNvPr id="19" name="TextBox 18"/>
          <p:cNvSpPr txBox="1"/>
          <p:nvPr/>
        </p:nvSpPr>
        <p:spPr>
          <a:xfrm>
            <a:off x="8620404" y="5035143"/>
            <a:ext cx="177927" cy="292608"/>
          </a:xfrm>
          <a:prstGeom prst="rect">
            <a:avLst/>
          </a:prstGeom>
          <a:noFill/>
        </p:spPr>
        <p:txBody>
          <a:bodyPr wrap="square" lIns="0" rIns="0" tIns="0" bIns="0">
            <a:spAutoFit/>
          </a:bodyPr>
          <a:lstStyle/>
          <a:p>
            <a:pPr algn="l"/>
            <a:r>
              <a:rPr sz="1300" b="1" i="1" u="none">
                <a:solidFill>
                  <a:srgbClr val="A2162A"/>
                </a:solidFill>
                <a:latin typeface="Calibri"/>
              </a:rPr>
              <a:t>D</a:t>
            </a:r>
          </a:p>
        </p:txBody>
      </p:sp>
      <p:cxnSp>
        <p:nvCxnSpPr>
          <p:cNvPr id="20" name="Connector 19"/>
          <p:cNvCxnSpPr/>
          <p:nvPr/>
        </p:nvCxnSpPr>
        <p:spPr>
          <a:xfrm>
            <a:off x="3246120" y="3148148"/>
            <a:ext cx="1245561"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91681" y="3148148"/>
            <a:ext cx="0" cy="229253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842640" y="1952897"/>
            <a:ext cx="330327" cy="274320"/>
          </a:xfrm>
          <a:prstGeom prst="rect">
            <a:avLst/>
          </a:prstGeom>
          <a:noFill/>
        </p:spPr>
        <p:txBody>
          <a:bodyPr wrap="square" lIns="0" rIns="0" tIns="0" bIns="0">
            <a:spAutoFit/>
          </a:bodyPr>
          <a:lstStyle/>
          <a:p>
            <a:pPr algn="r"/>
            <a:r>
              <a:rPr sz="1300" b="0" i="1" u="none">
                <a:solidFill>
                  <a:srgbClr val="A2162A"/>
                </a:solidFill>
                <a:latin typeface="Calibri"/>
              </a:rPr>
              <a:t>$95</a:t>
            </a:r>
          </a:p>
        </p:txBody>
      </p:sp>
      <p:sp>
        <p:nvSpPr>
          <p:cNvPr id="23" name="TextBox 22"/>
          <p:cNvSpPr txBox="1"/>
          <p:nvPr/>
        </p:nvSpPr>
        <p:spPr>
          <a:xfrm>
            <a:off x="2471165" y="3010988"/>
            <a:ext cx="701802" cy="274320"/>
          </a:xfrm>
          <a:prstGeom prst="rect">
            <a:avLst/>
          </a:prstGeom>
          <a:noFill/>
        </p:spPr>
        <p:txBody>
          <a:bodyPr wrap="square" lIns="0" rIns="0" tIns="0" bIns="0">
            <a:spAutoFit/>
          </a:bodyPr>
          <a:lstStyle/>
          <a:p>
            <a:pPr algn="r"/>
            <a:r>
              <a:rPr sz="1400" b="1" i="1" u="none">
                <a:solidFill>
                  <a:srgbClr val="0B2B4E"/>
                </a:solidFill>
                <a:latin typeface="Calibri"/>
              </a:rPr>
              <a:t>P* = $65</a:t>
            </a:r>
          </a:p>
        </p:txBody>
      </p:sp>
      <p:sp>
        <p:nvSpPr>
          <p:cNvPr id="24" name="TextBox 23"/>
          <p:cNvSpPr txBox="1"/>
          <p:nvPr/>
        </p:nvSpPr>
        <p:spPr>
          <a:xfrm>
            <a:off x="2842640" y="3716382"/>
            <a:ext cx="330327" cy="274320"/>
          </a:xfrm>
          <a:prstGeom prst="rect">
            <a:avLst/>
          </a:prstGeom>
          <a:noFill/>
        </p:spPr>
        <p:txBody>
          <a:bodyPr wrap="square" lIns="0" rIns="0" tIns="0" bIns="0">
            <a:spAutoFit/>
          </a:bodyPr>
          <a:lstStyle/>
          <a:p>
            <a:pPr algn="r"/>
            <a:r>
              <a:rPr sz="1300" b="0" i="1" u="none">
                <a:solidFill>
                  <a:srgbClr val="0B2B4E"/>
                </a:solidFill>
                <a:latin typeface="Calibri"/>
              </a:rPr>
              <a:t>$45</a:t>
            </a:r>
          </a:p>
        </p:txBody>
      </p:sp>
      <p:sp>
        <p:nvSpPr>
          <p:cNvPr id="25" name="TextBox 24"/>
          <p:cNvSpPr txBox="1"/>
          <p:nvPr/>
        </p:nvSpPr>
        <p:spPr>
          <a:xfrm>
            <a:off x="4174118" y="5495543"/>
            <a:ext cx="635127" cy="274320"/>
          </a:xfrm>
          <a:prstGeom prst="rect">
            <a:avLst/>
          </a:prstGeom>
          <a:noFill/>
        </p:spPr>
        <p:txBody>
          <a:bodyPr wrap="square" lIns="0" rIns="0" tIns="0" bIns="0">
            <a:spAutoFit/>
          </a:bodyPr>
          <a:lstStyle/>
          <a:p>
            <a:pPr algn="ctr"/>
            <a:r>
              <a:rPr sz="1400" b="1" i="1" u="none">
                <a:solidFill>
                  <a:srgbClr val="0B2B4E"/>
                </a:solidFill>
                <a:latin typeface="Calibri"/>
              </a:rPr>
              <a:t>Q* = 80</a:t>
            </a:r>
          </a:p>
        </p:txBody>
      </p:sp>
      <p:sp>
        <p:nvSpPr>
          <p:cNvPr id="26" name="TextBox 25"/>
          <p:cNvSpPr txBox="1"/>
          <p:nvPr/>
        </p:nvSpPr>
        <p:spPr>
          <a:xfrm>
            <a:off x="8374591" y="5495543"/>
            <a:ext cx="330327" cy="274320"/>
          </a:xfrm>
          <a:prstGeom prst="rect">
            <a:avLst/>
          </a:prstGeom>
          <a:noFill/>
        </p:spPr>
        <p:txBody>
          <a:bodyPr wrap="square" lIns="0" rIns="0" tIns="0" bIns="0">
            <a:spAutoFit/>
          </a:bodyPr>
          <a:lstStyle/>
          <a:p>
            <a:pPr algn="ctr"/>
            <a:r>
              <a:rPr sz="1300" b="0" i="1" u="none">
                <a:solidFill>
                  <a:srgbClr val="A2162A"/>
                </a:solidFill>
                <a:latin typeface="Calibri"/>
              </a:rPr>
              <a:t>340</a:t>
            </a:r>
          </a:p>
        </p:txBody>
      </p:sp>
      <p:sp>
        <p:nvSpPr>
          <p:cNvPr id="27" name="TextBox 26"/>
          <p:cNvSpPr txBox="1"/>
          <p:nvPr/>
        </p:nvSpPr>
        <p:spPr>
          <a:xfrm>
            <a:off x="4160520" y="1874519"/>
            <a:ext cx="2834640" cy="566928"/>
          </a:xfrm>
          <a:prstGeom prst="rect">
            <a:avLst/>
          </a:prstGeom>
          <a:noFill/>
        </p:spPr>
        <p:txBody>
          <a:bodyPr wrap="square" lIns="0" rIns="0" tIns="0" bIns="0">
            <a:spAutoFit/>
          </a:bodyPr>
          <a:lstStyle/>
          <a:p>
            <a:pPr algn="ctr"/>
            <a:r>
              <a:rPr sz="1400" b="0" i="1" u="none">
                <a:solidFill>
                  <a:srgbClr val="555B66"/>
                </a:solidFill>
                <a:latin typeface="Calibri"/>
              </a:rPr>
              <a:t>Kink results from demand aggregation (beyond the scope of this class)</a:t>
            </a:r>
          </a:p>
        </p:txBody>
      </p:sp>
      <p:cxnSp>
        <p:nvCxnSpPr>
          <p:cNvPr id="28" name="sdleader:29"/>
          <p:cNvCxnSpPr/>
          <p:nvPr/>
        </p:nvCxnSpPr>
        <p:spPr>
          <a:xfrm flipH="1">
            <a:off x="3868900" y="2460621"/>
            <a:ext cx="897618" cy="334830"/>
          </a:xfrm>
          <a:prstGeom prst="line">
            <a:avLst/>
          </a:prstGeom>
          <a:ln w="19050">
            <a:solidFill>
              <a:srgbClr val="555B66"/>
            </a:solidFill>
            <a:tailEnd type="triangle" w="med" h="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971800" y="5760720"/>
            <a:ext cx="6309360" cy="365760"/>
          </a:xfrm>
          <a:prstGeom prst="rect">
            <a:avLst/>
          </a:prstGeom>
          <a:noFill/>
        </p:spPr>
        <p:txBody>
          <a:bodyPr wrap="square" lIns="0" rIns="0" tIns="0" bIns="0">
            <a:spAutoFit/>
          </a:bodyPr>
          <a:lstStyle/>
          <a:p>
            <a:pPr algn="ctr"/>
            <a:r>
              <a:rPr sz="1900" b="1" i="0" u="none">
                <a:solidFill>
                  <a:srgbClr val="0B2B4E"/>
                </a:solidFill>
                <a:latin typeface="Calibri"/>
              </a:rPr>
              <a:t>Profit = ($65 − $45) · 80 = $1,600 m</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33" name="TextBox 32"/>
          <p:cNvSpPr txBox="1"/>
          <p:nvPr/>
        </p:nvSpPr>
        <p:spPr>
          <a:xfrm>
            <a:off x="11475720" y="6583680"/>
            <a:ext cx="502920" cy="292608"/>
          </a:xfrm>
          <a:prstGeom prst="rect">
            <a:avLst/>
          </a:prstGeom>
          <a:noFill/>
        </p:spPr>
        <p:txBody>
          <a:bodyPr wrap="none" lIns="0" rIns="0" tIns="0" bIns="0">
            <a:spAutoFit/>
          </a:bodyPr>
          <a:lstStyle/>
          <a:p>
            <a:pPr algn="r"/>
            <a:fld id="{DD9ABE14-3AE8-5115-8866-7D6C21C4E047}" type="slidenum">
              <a:rPr lang="en-US" sz="1200" dirty="0">
                <a:solidFill>
                  <a:srgbClr val="555B66"/>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6 · Practice Video</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Comparing Segment Pricing to Uniform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72768"/>
            <a:ext cx="10607040" cy="2743200"/>
          </a:xfrm>
          <a:prstGeom prst="rect">
            <a:avLst/>
          </a:prstGeom>
          <a:noFill/>
        </p:spPr>
        <p:txBody>
          <a:bodyPr wrap="square" lIns="0" rIns="0" tIns="0" bIns="0">
            <a:no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a:latin typeface="Calibri"/>
              </a:rPr>
              <a:t>Optimization when selling in multiple markets:</a:t>
            </a:r>
          </a:p>
          <a:p>
            <a:pPr algn="l" lvl="1"/>
            <a:r>
              <a:rPr>
                <a:latin typeface="Calibri"/>
              </a:rPr>
              <a:t>Set MR = MC in each market separately</a:t>
            </a:r>
          </a:p>
          <a:p>
            <a:pPr algn="l"/>
            <a:r>
              <a:rPr>
                <a:latin typeface="Calibri"/>
              </a:rPr>
              <a:t>Elasticity:</a:t>
            </a:r>
          </a:p>
          <a:p>
            <a:pPr algn="l" lvl="1"/>
            <a:r>
              <a:rPr>
                <a:latin typeface="Calibri"/>
              </a:rPr>
              <a:t>Charge the higher price in the LESS elastic market</a:t>
            </a:r>
          </a:p>
          <a:p>
            <a:pPr algn="l" lvl="1"/>
            <a:r>
              <a:rPr>
                <a:latin typeface="Calibri"/>
              </a:rPr>
              <a:t>BMW: Germany is less elastic (E = −2.8 against −4.0), so the German price is higher – $70 against $60</a:t>
            </a:r>
          </a:p>
        </p:txBody>
      </p:sp>
      <p:sp>
        <p:nvSpPr>
          <p:cNvPr id="8" name="TextBox 7"/>
          <p:cNvSpPr txBox="1"/>
          <p:nvPr/>
        </p:nvSpPr>
        <p:spPr>
          <a:xfrm>
            <a:off x="868680" y="4224528"/>
            <a:ext cx="3304032" cy="292608"/>
          </a:xfrm>
          <a:prstGeom prst="rect">
            <a:avLst/>
          </a:prstGeom>
          <a:noFill/>
        </p:spPr>
        <p:txBody>
          <a:bodyPr wrap="square" lIns="0" rIns="0" tIns="0" bIns="0">
            <a:spAutoFit/>
          </a:bodyPr>
          <a:lstStyle/>
          <a:p>
            <a:pPr algn="ctr"/>
            <a:r>
              <a:rPr sz="1700" b="1" i="0" u="none">
                <a:solidFill>
                  <a:srgbClr val="0B2B4E"/>
                </a:solidFill>
                <a:latin typeface="Calibri"/>
              </a:rPr>
              <a:t>Segment pricing</a:t>
            </a:r>
          </a:p>
        </p:txBody>
      </p:sp>
      <p:sp>
        <p:nvSpPr>
          <p:cNvPr id="9" name="Rounded Rectangle 8"/>
          <p:cNvSpPr/>
          <p:nvPr/>
        </p:nvSpPr>
        <p:spPr>
          <a:xfrm>
            <a:off x="868680" y="4553712"/>
            <a:ext cx="3304032" cy="512064"/>
          </a:xfrm>
          <a:prstGeom prst="roundRect">
            <a:avLst>
              <a:gd name="adj" fmla="val 14000"/>
            </a:avLst>
          </a:prstGeom>
          <a:solidFill>
            <a:srgbClr val="FFFFFF"/>
          </a:solidFill>
          <a:ln w="9525">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0B2B4E"/>
                </a:solidFill>
                <a:latin typeface="Calibri"/>
              </a:rPr>
              <a:t>$450 m  +  $1,250 m  =  $1,700 m</a:t>
            </a:r>
          </a:p>
        </p:txBody>
      </p:sp>
      <p:sp>
        <p:nvSpPr>
          <p:cNvPr id="10" name="TextBox 9"/>
          <p:cNvSpPr txBox="1"/>
          <p:nvPr/>
        </p:nvSpPr>
        <p:spPr>
          <a:xfrm>
            <a:off x="4428744" y="4224528"/>
            <a:ext cx="3304032" cy="292608"/>
          </a:xfrm>
          <a:prstGeom prst="rect">
            <a:avLst/>
          </a:prstGeom>
          <a:noFill/>
        </p:spPr>
        <p:txBody>
          <a:bodyPr wrap="square" lIns="0" rIns="0" tIns="0" bIns="0">
            <a:spAutoFit/>
          </a:bodyPr>
          <a:lstStyle/>
          <a:p>
            <a:pPr algn="ctr"/>
            <a:r>
              <a:rPr sz="1700" b="1" i="0" u="none">
                <a:solidFill>
                  <a:srgbClr val="555B66"/>
                </a:solidFill>
                <a:latin typeface="Calibri"/>
              </a:rPr>
              <a:t>Uniform pricing</a:t>
            </a:r>
          </a:p>
        </p:txBody>
      </p:sp>
      <p:sp>
        <p:nvSpPr>
          <p:cNvPr id="11" name="Rounded Rectangle 10"/>
          <p:cNvSpPr/>
          <p:nvPr/>
        </p:nvSpPr>
        <p:spPr>
          <a:xfrm>
            <a:off x="4428744" y="4553712"/>
            <a:ext cx="3304032" cy="512064"/>
          </a:xfrm>
          <a:prstGeom prst="roundRect">
            <a:avLst>
              <a:gd name="adj" fmla="val 14000"/>
            </a:avLst>
          </a:prstGeom>
          <a:solidFill>
            <a:srgbClr val="FFFFFF"/>
          </a:solidFill>
          <a:ln w="9525">
            <a:solidFill>
              <a:srgbClr val="555B66"/>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555B66"/>
                </a:solidFill>
                <a:latin typeface="Calibri"/>
              </a:rPr>
              <a:t>$1,600 m   (one price of $65)</a:t>
            </a:r>
          </a:p>
        </p:txBody>
      </p:sp>
      <p:sp>
        <p:nvSpPr>
          <p:cNvPr id="12" name="TextBox 11"/>
          <p:cNvSpPr txBox="1"/>
          <p:nvPr/>
        </p:nvSpPr>
        <p:spPr>
          <a:xfrm>
            <a:off x="7988808" y="4224528"/>
            <a:ext cx="3304032" cy="292608"/>
          </a:xfrm>
          <a:prstGeom prst="rect">
            <a:avLst/>
          </a:prstGeom>
          <a:noFill/>
        </p:spPr>
        <p:txBody>
          <a:bodyPr wrap="square" lIns="0" rIns="0" tIns="0" bIns="0">
            <a:spAutoFit/>
          </a:bodyPr>
          <a:lstStyle/>
          <a:p>
            <a:pPr algn="ctr"/>
            <a:r>
              <a:rPr sz="1700" b="1" i="0" u="none">
                <a:solidFill>
                  <a:srgbClr val="A2162A"/>
                </a:solidFill>
                <a:latin typeface="Calibri"/>
              </a:rPr>
              <a:t>Gained by segmenting</a:t>
            </a:r>
          </a:p>
        </p:txBody>
      </p:sp>
      <p:sp>
        <p:nvSpPr>
          <p:cNvPr id="13" name="Rounded Rectangle 12"/>
          <p:cNvSpPr/>
          <p:nvPr/>
        </p:nvSpPr>
        <p:spPr>
          <a:xfrm>
            <a:off x="7988808" y="4553712"/>
            <a:ext cx="3304032" cy="512064"/>
          </a:xfrm>
          <a:prstGeom prst="roundRect">
            <a:avLst>
              <a:gd name="adj" fmla="val 14000"/>
            </a:avLst>
          </a:prstGeom>
          <a:solidFill>
            <a:srgbClr val="FFFFFF"/>
          </a:solidFill>
          <a:ln w="9525">
            <a:solidFill>
              <a:srgbClr val="A2162A"/>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A2162A"/>
                </a:solidFill>
                <a:latin typeface="Calibri"/>
              </a:rPr>
              <a:t>$100 m   (+6 %)</a:t>
            </a:r>
          </a:p>
        </p:txBody>
      </p:sp>
      <p:sp>
        <p:nvSpPr>
          <p:cNvPr id="14" name="Rounded Rectangle 13"/>
          <p:cNvSpPr/>
          <p:nvPr/>
        </p:nvSpPr>
        <p:spPr>
          <a:xfrm>
            <a:off x="868680" y="5285232"/>
            <a:ext cx="10424160" cy="621792"/>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Two markets, two prices – and more profit than a uniform price can earn</a:t>
            </a:r>
          </a:p>
        </p:txBody>
      </p:sp>
      <p:sp>
        <p:nvSpPr>
          <p:cNvPr id="15" name="Rounded Rectangle 14"/>
          <p:cNvSpPr/>
          <p:nvPr/>
        </p:nvSpPr>
        <p:spPr>
          <a:xfrm>
            <a:off x="9299448" y="5971032"/>
            <a:ext cx="2286000" cy="457200"/>
          </a:xfrm>
          <a:prstGeom prst="roundRect">
            <a:avLst>
              <a:gd name="adj" fmla="val 28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73152" rIns="73152" tIns="0" bIns="0"/>
          <a:lstStyle/>
          <a:p>
            <a:pPr algn="ctr"/>
            <a:r>
              <a:rPr sz="1600" b="1">
                <a:solidFill>
                  <a:srgbClr val="E09F3E"/>
                </a:solidFill>
                <a:latin typeface="Calibri"/>
              </a:rPr>
              <a:t>✎  </a:t>
            </a:r>
            <a:r>
              <a:rPr sz="1600" b="1">
                <a:solidFill>
                  <a:srgbClr val="0B2B4E"/>
                </a:solidFill>
                <a:latin typeface="Calibri"/>
              </a:rPr>
              <a:t>Problem Set 4</a:t>
            </a:r>
          </a:p>
        </p:txBody>
      </p:sp>
      <p:sp>
        <p:nvSpPr>
          <p:cNvPr id="16" name="Rectangle 1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6  ·  Practice Video: Optimal Pricing in Two Markets</a:t>
            </a:r>
          </a:p>
        </p:txBody>
      </p:sp>
      <p:sp>
        <p:nvSpPr>
          <p:cNvPr id="19" name="TextBox 18"/>
          <p:cNvSpPr txBox="1"/>
          <p:nvPr/>
        </p:nvSpPr>
        <p:spPr>
          <a:xfrm>
            <a:off x="11475720" y="6583680"/>
            <a:ext cx="502920" cy="292608"/>
          </a:xfrm>
          <a:prstGeom prst="rect">
            <a:avLst/>
          </a:prstGeom>
          <a:noFill/>
        </p:spPr>
        <p:txBody>
          <a:bodyPr wrap="none" lIns="0" rIns="0" tIns="0" bIns="0">
            <a:spAutoFit/>
          </a:bodyPr>
          <a:lstStyle/>
          <a:p>
            <a:pPr algn="r"/>
            <a:fld id="{972B4CC0-F718-5ECA-B75E-378D901D90F2}" type="slidenum">
              <a:rPr lang="en-US" sz="1200" dirty="0">
                <a:solidFill>
                  <a:srgbClr val="555B66"/>
                </a:solidFill>
                <a:latin typeface="Calibri"/>
              </a:rPr>
              <a:t>12</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