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B8DA400-B9DD-4F78-9289-6E35F705A8E7}" type="datetimeFigureOut">
              <a:rPr lang="en-US" smtClean="0"/>
              <a:t>7/4/2026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96DA13E-FF21-4558-8DAC-E05D9D85C3E8}" type="slidenum">
              <a:rPr lang="en-US" smtClean="0"/>
              <a:t>‹#›</a:t>
            </a:fld>
            <a:endParaRPr lang="en-US"/>
          </a:p>
        </p:txBody>
      </p:sp>
    </p:spTree>
    <p:extLst>
      <p:ext uri="{BB962C8B-B14F-4D97-AF65-F5344CB8AC3E}">
        <p14:creationId xmlns:p14="http://schemas.microsoft.com/office/powerpoint/2010/main" val="3441275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Second Degree Price Discrimination: Versioning</a:t>
            </a:r>
          </a:p>
          <a:p>
            <a:r>
              <a:t> </a:t>
            </a:r>
          </a:p>
          <a:p>
            <a:r>
              <a:t>We will go in greater depth into one form of second degree price discrimination which is versioning. Versioning is incentive compatible and accomplishes everything that price discrimination accomplishes. Consumers who buy at a high price do so willingly. The key to understand this is that the version priced at a premium has to have features that generate some value to the consumer, but the cost differential to the company is minor relative to the price differential (otherwise there is no real discrimination on price if the surplus captured is the same across segments).</a:t>
            </a:r>
          </a:p>
          <a:p>
            <a:r>
              <a:t> </a:t>
            </a:r>
          </a:p>
          <a:p>
            <a:r>
              <a:t>The perfect example is Microsoft: offers Windows Professional and Windows Home Edition. Windows Pro has more features than Home edition but they are otherwise close substitutes. The marginal cost of producing each is identical (and approximately zero) – in fact it may cost the company something to actually differentiate the products. Sometimes it costs nothing to make something better but you don’t want to do it: why doesn’t Microsoft offer the full version of Windows to all their customers since the MC of doing so is zero? Because they would then join the markets, and forego the benefits of price discrimination. You add features to the price insensitive segment so you can charge them more.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https://www.wsj.com/business/retail/costco-kirkland-signature-pants-lululemon-792becb2?mod=wknd_pos1</a:t>
            </a:r>
          </a:p>
        </p:txBody>
      </p:sp>
      <p:sp>
        <p:nvSpPr>
          <p:cNvPr id="4" name="Slide Number Placeholder 3"/>
          <p:cNvSpPr>
            <a:spLocks noGrp="1"/>
          </p:cNvSpPr>
          <p:nvPr>
            <p:ph type="sldNum" sz="quarter" idx="5"/>
          </p:nvPr>
        </p:nvSpPr>
        <p:spPr/>
        <p:txBody>
          <a:bodyPr/>
          <a:lstStyle/>
          <a:p>
            <a:fld id="{C96DA13E-FF21-4558-8DAC-E05D9D85C3E8}" type="slidenum">
              <a:rPr lang="en-US" smtClean="0"/>
              <a:t>7</a:t>
            </a:fld>
            <a:endParaRPr lang="en-US"/>
          </a:p>
        </p:txBody>
      </p:sp>
    </p:spTree>
    <p:extLst>
      <p:ext uri="{BB962C8B-B14F-4D97-AF65-F5344CB8AC3E}">
        <p14:creationId xmlns:p14="http://schemas.microsoft.com/office/powerpoint/2010/main" val="720320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Checkout stand coupons: Nobody wants to spend money unnecessarily, but it takes time to sort through the coupons. Those who have nothing else to do on a Sunday morning, i.e. those with a low opportunity cost of time, who are price sensitive, will take the time to cut the coupons. This is an ingenious scheme to charge higher price to the low elasticity customers to capture more consumer surplus.</a:t>
            </a:r>
          </a:p>
          <a:p>
            <a:endParaRPr/>
          </a:p>
          <a:p>
            <a:r>
              <a:t>Another Example: Fun Film sold at Price Costco. This is a classic example. Kodak was selling their premium Royal Gold film. Fuji and others started competing. Kodak wanted to protect the low end of their market. They could have lowered the price on Royal Gold, but then you give up capturing the surplus at the high end. So they introduced a new brand, FunFilm, offered only at discount stores like Sam’s Club, Costco, in bulk. This is where price sensitive customers go. It turns out the two films were chemically identical. The packaging and bulk sales aspect were different but the actual product was the same. This is a classic B-school case.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Xxx Draw CS and ask to compute</a:t>
            </a:r>
          </a:p>
          <a:p>
            <a:endParaRPr/>
          </a:p>
          <a:p>
            <a:r>
              <a:t>When an individual can buy several units of an item, the seller can think about a volume pricing strategy. This is the case of continuous choice as opposed to binary choice (buy/don’t buy). Diminishing marginal personal value comes into play – the value of each subsequent unit falls. </a:t>
            </a:r>
          </a:p>
          <a:p>
            <a:r>
              <a:t> </a:t>
            </a:r>
          </a:p>
          <a:p>
            <a:r>
              <a:t>We will talk about 3 kinds of volume pricing; we will see examples of each - they all amount to the same thing:</a:t>
            </a:r>
          </a:p>
          <a:p>
            <a:r>
              <a:t>— Fixed fee + access price</a:t>
            </a:r>
          </a:p>
          <a:p>
            <a:r>
              <a:t>— All or nothing pricing: bundle.</a:t>
            </a:r>
          </a:p>
          <a:p>
            <a:r>
              <a:t>— Quantity discounts: sliding scale. </a:t>
            </a:r>
          </a:p>
          <a:p>
            <a:r>
              <a:t>Examples of volume pricing:</a:t>
            </a:r>
          </a:p>
          <a:p>
            <a:r>
              <a:t>— Rockreation: fixed monthly fee, unlimited access. Also, price differences with SLC. Is it price discrimination (probably, no – may reflect cost differentials, especially rent)</a:t>
            </a:r>
          </a:p>
          <a:p>
            <a:r>
              <a:t>— Health Club: Annual fee</a:t>
            </a:r>
          </a:p>
          <a:p>
            <a:r>
              <a:t>— Car Wash: Fixed fee - unlimited washes </a:t>
            </a:r>
          </a:p>
          <a:p>
            <a:r>
              <a:t>— Netflix: Monthly fee – “unlimited” rentals</a:t>
            </a:r>
          </a:p>
          <a:p>
            <a:endParaRPr/>
          </a:p>
          <a:p>
            <a:r>
              <a:t>Analytics will help to clarify all this here. We still abstract from cost and set MC=0. The optimal price is where Q=10 because the slope of MR is twice the slope of D and we are setting MR=0. Under simple pricing, there is unexploited volume equal to the lower triangle ($100 of value) and the consumer retains a surplus of $100. The company ends up with revenues of $200. There is some opportunity to do some business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MC=0, people buy to where the value is zero. You want to capture the entire area under the demand curve. How much does the consumer pay? For a flat fee of $400, he would be just willing to purchase the bundle of 20 units. The company doubles their contribution and extracts all the surplus. </a:t>
            </a:r>
          </a:p>
          <a:p>
            <a:endParaRPr/>
          </a:p>
          <a:p>
            <a:r>
              <a:t>Equivalent pricing schemes: A sliding scale discount pricing scheme amounts to the same thing – charge lower and lower amounts for each subsequent unit sold. Here you march the consumer down the demand curve and you charge successively lower prices that allow you to capture all the surplus. The quantity discounts come from the seller’s realization that the buyer has a downward sloping demand curve.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chart represent the pricing strategy of Netflix, as an example of versioning. They have three plans, from basic to premium. The chart on the right represents the change in strategy that Netflix followed over time</a:t>
            </a:r>
          </a:p>
          <a:p>
            <a:r>
              <a:rPr dirty="0"/>
              <a:t>This is a very good video on increase in price in 2017, where they also discuss previous price increases and the backlash associated with them</a:t>
            </a:r>
          </a:p>
          <a:p>
            <a:r>
              <a:rPr dirty="0"/>
              <a:t>https://finance.yahoo.com/news/netflix-price-hikes-wont-hurt-subscriber-growth-211526185.html</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introduced class pass because the founders are women. Also they have an interesting pricing strategy. Members can buy their plans based on how many credits they want to spend per month, but also the number of credit per class varies, popular classes are worth 9 credit, less popular ones only 2. Credits also change based on time of the day.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that the pricing strategy can be also be expressed as 100 at $25, 125 at $30, 175 at 35$. Consumers will opt to purchase 175 at $35 and wallmart will still increase its producer surplus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experiment was as follows, </a:t>
            </a:r>
          </a:p>
          <a:p>
            <a:r>
              <a:t>- In one case consumers saw two options at 125 one including only print and one including print and web, and one at $59.</a:t>
            </a:r>
          </a:p>
          <a:p>
            <a:r>
              <a:t>- In the other treatment consumer were given two options: $59 and $125 for print and web. </a:t>
            </a:r>
          </a:p>
          <a:p>
            <a:r>
              <a:t>When people saw the three options 84% of them chose print and web and only 16% the cheapest option. Their attention went to the comparison between the two options at 125.</a:t>
            </a:r>
          </a:p>
          <a:p>
            <a:r>
              <a:t>In the experiment with two options only 32% of them chose the expensive option, most of the (68% chose the $59 option)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day variable from 104 to 179</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chart represent the pricing strategy of Netflix, as an example of versioning. They have three plans, from basic to premium. The chart on the right represents the change in strategy that Netflix followed over time</a:t>
            </a:r>
          </a:p>
          <a:p>
            <a:r>
              <a:t>This is a very good video on increase in price in 2017, where they also discuss previous price increases and the backlash associated with them</a:t>
            </a:r>
          </a:p>
          <a:p>
            <a:r>
              <a:t>https://finance.yahoo.com/news/netflix-price-hikes-wont-hurt-subscriber-growth-211526185.html</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6834B35-4428-4FD4-819F-FE7FC434C0F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F199A96-281B-4541-AC32-B31BBB9BC7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D29F26A-9EB7-4421-A2E7-BC4655C005C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277B05B-40EF-4C92-959F-15B312832A7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1214D41-2B51-4260-87BB-A2F99E30D4F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08398C6-E4A0-4416-B9B9-10A023ED9DE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B3E47E3-FEB7-4AB1-8B6F-8E5F99251C7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83D968B-6746-458F-B57D-896F1CD62C1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8893BAF-808F-4705-91FF-9248B9DB63E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B9A5301-1ECF-418F-9187-5F1AC7348B9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7BD31E4-8415-4C7A-9F62-E64098DFA35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hyperlink" Target="https://finance.yahoo.com/news/netflix-price-hikes-wont-hurt-subscriber-growth-211526185.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1"/>
          <p:cNvSpPr/>
          <p:nvPr/>
        </p:nvSpPr>
        <p:spPr>
          <a:xfrm>
            <a:off x="457200" y="1920240"/>
            <a:ext cx="112741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5200" b="1" u="none" strike="noStrike">
                <a:solidFill>
                  <a:srgbClr val="0B2B4E"/>
                </a:solidFill>
                <a:effectLst/>
                <a:uFillTx/>
                <a:latin typeface="Calibri"/>
              </a:rPr>
              <a:t>Complex Pricing</a:t>
            </a:r>
            <a:endParaRPr lang="en-US" sz="5200" b="0" u="none" strike="noStrike">
              <a:solidFill>
                <a:srgbClr val="000000"/>
              </a:solidFill>
              <a:effectLst/>
              <a:uFillTx/>
              <a:latin typeface="Arial"/>
            </a:endParaRPr>
          </a:p>
        </p:txBody>
      </p:sp>
      <p:sp>
        <p:nvSpPr>
          <p:cNvPr id="62" name="TextBox 2"/>
          <p:cNvSpPr/>
          <p:nvPr/>
        </p:nvSpPr>
        <p:spPr>
          <a:xfrm>
            <a:off x="457200" y="3291840"/>
            <a:ext cx="11274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3000" b="1" u="none" strike="noStrike">
                <a:solidFill>
                  <a:srgbClr val="E09F3E"/>
                </a:solidFill>
                <a:effectLst/>
                <a:uFillTx/>
                <a:latin typeface="Calibri"/>
              </a:rPr>
              <a:t>Indirect Price Discrimination</a:t>
            </a:r>
            <a:endParaRPr lang="en-US" sz="3000" b="0" u="none" strike="noStrike">
              <a:solidFill>
                <a:srgbClr val="000000"/>
              </a:solidFill>
              <a:effectLst/>
              <a:uFillTx/>
              <a:latin typeface="Arial"/>
            </a:endParaRPr>
          </a:p>
        </p:txBody>
      </p:sp>
      <p:sp>
        <p:nvSpPr>
          <p:cNvPr id="63" name="Rectangle 3"/>
          <p:cNvSpPr/>
          <p:nvPr/>
        </p:nvSpPr>
        <p:spPr>
          <a:xfrm>
            <a:off x="4270320" y="4206240"/>
            <a:ext cx="3657240" cy="54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4" name="TextBox 4"/>
          <p:cNvSpPr/>
          <p:nvPr/>
        </p:nvSpPr>
        <p:spPr>
          <a:xfrm>
            <a:off x="457200" y="4572000"/>
            <a:ext cx="112741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600" b="1" u="none" strike="noStrike">
                <a:solidFill>
                  <a:srgbClr val="555B66"/>
                </a:solidFill>
                <a:effectLst/>
                <a:uFillTx/>
                <a:latin typeface="Calibri"/>
              </a:rPr>
              <a:t>Management 405</a:t>
            </a:r>
            <a:endParaRPr lang="en-US" sz="2600" b="0" u="none" strike="noStrike">
              <a:solidFill>
                <a:srgbClr val="000000"/>
              </a:solidFill>
              <a:effectLst/>
              <a:uFillTx/>
              <a:latin typeface="Arial"/>
            </a:endParaRPr>
          </a:p>
        </p:txBody>
      </p:sp>
      <p:sp>
        <p:nvSpPr>
          <p:cNvPr id="65" name="TextBox 5"/>
          <p:cNvSpPr/>
          <p:nvPr/>
        </p:nvSpPr>
        <p:spPr>
          <a:xfrm>
            <a:off x="457200" y="5120640"/>
            <a:ext cx="1127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0" u="none" strike="noStrike">
                <a:solidFill>
                  <a:srgbClr val="555B66"/>
                </a:solidFill>
                <a:effectLst/>
                <a:uFillTx/>
                <a:latin typeface="Calibri"/>
              </a:rPr>
              <a:t>Prof. Paola Giuliano  ·  UCLA Anderson</a:t>
            </a:r>
            <a:endParaRPr lang="en-US" sz="2200" b="0" u="none" strike="noStrike">
              <a:solidFill>
                <a:srgbClr val="000000"/>
              </a:solidFill>
              <a:effectLst/>
              <a:uFillTx/>
              <a:latin typeface="Arial"/>
            </a:endParaRPr>
          </a:p>
        </p:txBody>
      </p:sp>
      <p:sp>
        <p:nvSpPr>
          <p:cNvPr id="6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7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7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7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a:t>
            </a:r>
            <a:endParaRPr lang="en-US" sz="1200" b="0" u="none" strike="noStrike">
              <a:solidFill>
                <a:srgbClr val="000000"/>
              </a:solidFill>
              <a:effectLst/>
              <a:uFillTx/>
              <a:latin typeface="Arial"/>
            </a:endParaRPr>
          </a:p>
        </p:txBody>
      </p:sp>
      <p:sp>
        <p:nvSpPr>
          <p:cNvPr id="77"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78"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79"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80" name="Oval 13"/>
          <p:cNvSpPr/>
          <p:nvPr/>
        </p:nvSpPr>
        <p:spPr>
          <a:xfrm>
            <a:off x="1234440" y="254196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81"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Direct price discrimination</a:t>
            </a:r>
            <a:endParaRPr lang="en-US" sz="2200" b="0" u="none" strike="noStrike">
              <a:solidFill>
                <a:srgbClr val="000000"/>
              </a:solidFill>
              <a:effectLst/>
              <a:uFillTx/>
              <a:latin typeface="Arial"/>
            </a:endParaRPr>
          </a:p>
        </p:txBody>
      </p:sp>
      <p:sp>
        <p:nvSpPr>
          <p:cNvPr id="82"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83" name="Rounded Rectangle 16"/>
          <p:cNvSpPr/>
          <p:nvPr/>
        </p:nvSpPr>
        <p:spPr>
          <a:xfrm>
            <a:off x="978480" y="330084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4" name="Oval 17"/>
          <p:cNvSpPr/>
          <p:nvPr/>
        </p:nvSpPr>
        <p:spPr>
          <a:xfrm>
            <a:off x="1234440" y="343800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FFFFFF"/>
              </a:solidFill>
              <a:effectLst/>
              <a:uFillTx/>
              <a:latin typeface="Arial"/>
            </a:endParaRPr>
          </a:p>
        </p:txBody>
      </p:sp>
      <p:sp>
        <p:nvSpPr>
          <p:cNvPr id="85" name="TextBox 18"/>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Indirect price discrimination</a:t>
            </a:r>
            <a:endParaRPr lang="en-US" sz="2200" b="0" u="none" strike="noStrike">
              <a:solidFill>
                <a:srgbClr val="000000"/>
              </a:solidFill>
              <a:effectLst/>
              <a:uFillTx/>
              <a:latin typeface="Arial"/>
            </a:endParaRPr>
          </a:p>
        </p:txBody>
      </p:sp>
      <p:sp>
        <p:nvSpPr>
          <p:cNvPr id="86" name="TextBox 19"/>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87" name="Oval 20"/>
          <p:cNvSpPr/>
          <p:nvPr/>
        </p:nvSpPr>
        <p:spPr>
          <a:xfrm>
            <a:off x="1234440" y="43344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000000"/>
              </a:solidFill>
              <a:effectLst/>
              <a:uFillTx/>
              <a:latin typeface="Arial"/>
            </a:endParaRPr>
          </a:p>
        </p:txBody>
      </p:sp>
      <p:sp>
        <p:nvSpPr>
          <p:cNvPr id="88"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Advanced pricing strategies</a:t>
            </a:r>
            <a:endParaRPr lang="en-US" sz="2200" b="0" u="none" strike="noStrike">
              <a:solidFill>
                <a:srgbClr val="000000"/>
              </a:solidFill>
              <a:effectLst/>
              <a:uFillTx/>
              <a:latin typeface="Arial"/>
            </a:endParaRPr>
          </a:p>
        </p:txBody>
      </p:sp>
      <p:sp>
        <p:nvSpPr>
          <p:cNvPr id="89"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90"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91"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92"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9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Second-Degree Price Discrimination — Versioning</a:t>
            </a:r>
            <a:endParaRPr lang="en-US" sz="2600" b="0" u="none" strike="noStrike">
              <a:solidFill>
                <a:srgbClr val="000000"/>
              </a:solidFill>
              <a:effectLst/>
              <a:uFillTx/>
              <a:latin typeface="Arial"/>
            </a:endParaRPr>
          </a:p>
        </p:txBody>
      </p:sp>
      <p:sp>
        <p:nvSpPr>
          <p:cNvPr id="9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0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a:t>
            </a:r>
            <a:endParaRPr lang="en-US" sz="1200" b="0" u="none" strike="noStrike">
              <a:solidFill>
                <a:srgbClr val="000000"/>
              </a:solidFill>
              <a:effectLst/>
              <a:uFillTx/>
              <a:latin typeface="Arial"/>
            </a:endParaRPr>
          </a:p>
        </p:txBody>
      </p:sp>
      <p:sp>
        <p:nvSpPr>
          <p:cNvPr id="102" name="TXBLD_111000"/>
          <p:cNvSpPr/>
          <p:nvPr/>
        </p:nvSpPr>
        <p:spPr>
          <a:xfrm>
            <a:off x="502920" y="1783080"/>
            <a:ext cx="11155320" cy="4388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Indirect price discrimination</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Charge a different price for different versions of the product</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Conditions: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Heterogeneous consumers</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Firm has market power and can prevent resale</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Firm cannot identify groups of consumers with different price sensitivities</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10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Versioning</a:t>
            </a:r>
            <a:endParaRPr lang="en-US" sz="3200" b="0" u="none" strike="noStrike">
              <a:solidFill>
                <a:srgbClr val="000000"/>
              </a:solidFill>
              <a:effectLst/>
              <a:uFillTx/>
              <a:latin typeface="Arial"/>
            </a:endParaRPr>
          </a:p>
        </p:txBody>
      </p:sp>
      <p:sp>
        <p:nvSpPr>
          <p:cNvPr id="10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1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a:t>
            </a:r>
            <a:endParaRPr lang="en-US" sz="1200" b="0" u="none" strike="noStrike">
              <a:solidFill>
                <a:srgbClr val="000000"/>
              </a:solidFill>
              <a:effectLst/>
              <a:uFillTx/>
              <a:latin typeface="Arial"/>
            </a:endParaRPr>
          </a:p>
        </p:txBody>
      </p:sp>
      <p:cxnSp>
        <p:nvCxnSpPr>
          <p:cNvPr id="112" name="Connector 10"/>
          <p:cNvCxnSpPr/>
          <p:nvPr/>
        </p:nvCxnSpPr>
        <p:spPr>
          <a:xfrm flipV="1">
            <a:off x="640080" y="1416960"/>
            <a:ext cx="720" cy="4801320"/>
          </a:xfrm>
          <a:prstGeom prst="straightConnector1">
            <a:avLst/>
          </a:prstGeom>
          <a:ln w="25400">
            <a:solidFill>
              <a:srgbClr val="0B2B4E"/>
            </a:solidFill>
            <a:round/>
            <a:tailEnd type="triangle" w="med" len="med"/>
          </a:ln>
        </p:spPr>
      </p:cxnSp>
      <p:cxnSp>
        <p:nvCxnSpPr>
          <p:cNvPr id="113" name="Connector 11"/>
          <p:cNvCxnSpPr/>
          <p:nvPr/>
        </p:nvCxnSpPr>
        <p:spPr>
          <a:xfrm>
            <a:off x="640080" y="6217920"/>
            <a:ext cx="5897880" cy="720"/>
          </a:xfrm>
          <a:prstGeom prst="straightConnector1">
            <a:avLst/>
          </a:prstGeom>
          <a:ln w="25400">
            <a:solidFill>
              <a:srgbClr val="0B2B4E"/>
            </a:solidFill>
            <a:round/>
            <a:tailEnd type="triangle" w="med" len="med"/>
          </a:ln>
        </p:spPr>
      </p:cxnSp>
      <p:sp>
        <p:nvSpPr>
          <p:cNvPr id="114" name="TextBox 12"/>
          <p:cNvSpPr/>
          <p:nvPr/>
        </p:nvSpPr>
        <p:spPr>
          <a:xfrm>
            <a:off x="365580" y="121464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dirty="0">
                <a:solidFill>
                  <a:srgbClr val="0B2B4E"/>
                </a:solidFill>
                <a:effectLst/>
                <a:uFillTx/>
                <a:latin typeface="Calibri"/>
              </a:rPr>
              <a:t>P</a:t>
            </a:r>
            <a:endParaRPr lang="en-US" sz="1800" b="0" u="none" strike="noStrike" dirty="0">
              <a:solidFill>
                <a:srgbClr val="000000"/>
              </a:solidFill>
              <a:effectLst/>
              <a:uFillTx/>
              <a:latin typeface="Arial"/>
            </a:endParaRPr>
          </a:p>
        </p:txBody>
      </p:sp>
      <p:sp>
        <p:nvSpPr>
          <p:cNvPr id="115" name="Rectangle 13"/>
          <p:cNvSpPr/>
          <p:nvPr/>
        </p:nvSpPr>
        <p:spPr>
          <a:xfrm>
            <a:off x="640080" y="2696040"/>
            <a:ext cx="668880" cy="3521520"/>
          </a:xfrm>
          <a:prstGeom prst="rect">
            <a:avLst/>
          </a:prstGeom>
          <a:solidFill>
            <a:srgbClr val="C8D6E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6" name="TextBox 14"/>
          <p:cNvSpPr/>
          <p:nvPr/>
        </p:nvSpPr>
        <p:spPr>
          <a:xfrm>
            <a:off x="91440" y="254988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P₁</a:t>
            </a:r>
            <a:endParaRPr lang="en-US" sz="1400" b="0" u="none" strike="noStrike">
              <a:solidFill>
                <a:srgbClr val="000000"/>
              </a:solidFill>
              <a:effectLst/>
              <a:uFillTx/>
              <a:latin typeface="Arial"/>
            </a:endParaRPr>
          </a:p>
        </p:txBody>
      </p:sp>
      <p:sp>
        <p:nvSpPr>
          <p:cNvPr id="117" name="TextBox 15"/>
          <p:cNvSpPr/>
          <p:nvPr/>
        </p:nvSpPr>
        <p:spPr>
          <a:xfrm>
            <a:off x="1126440" y="23122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0B2B4E"/>
                </a:solidFill>
                <a:effectLst/>
                <a:uFillTx/>
                <a:latin typeface="Calibri"/>
              </a:rPr>
              <a:t>Version 1</a:t>
            </a:r>
            <a:endParaRPr lang="en-US" sz="1300" b="0" u="none" strike="noStrike">
              <a:solidFill>
                <a:srgbClr val="000000"/>
              </a:solidFill>
              <a:effectLst/>
              <a:uFillTx/>
              <a:latin typeface="Arial"/>
            </a:endParaRPr>
          </a:p>
        </p:txBody>
      </p:sp>
      <p:sp>
        <p:nvSpPr>
          <p:cNvPr id="118" name="Rectangle 16"/>
          <p:cNvSpPr/>
          <p:nvPr/>
        </p:nvSpPr>
        <p:spPr>
          <a:xfrm>
            <a:off x="1309320" y="3292200"/>
            <a:ext cx="780480" cy="2925360"/>
          </a:xfrm>
          <a:prstGeom prst="rect">
            <a:avLst/>
          </a:prstGeom>
          <a:solidFill>
            <a:srgbClr val="E8C4C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9" name="TextBox 17"/>
          <p:cNvSpPr/>
          <p:nvPr/>
        </p:nvSpPr>
        <p:spPr>
          <a:xfrm>
            <a:off x="91440" y="314568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P₂</a:t>
            </a:r>
            <a:endParaRPr lang="en-US" sz="1400" b="0" u="none" strike="noStrike">
              <a:solidFill>
                <a:srgbClr val="000000"/>
              </a:solidFill>
              <a:effectLst/>
              <a:uFillTx/>
              <a:latin typeface="Arial"/>
            </a:endParaRPr>
          </a:p>
        </p:txBody>
      </p:sp>
      <p:sp>
        <p:nvSpPr>
          <p:cNvPr id="120" name="TextBox 18"/>
          <p:cNvSpPr/>
          <p:nvPr/>
        </p:nvSpPr>
        <p:spPr>
          <a:xfrm>
            <a:off x="1907280" y="29080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0B2B4E"/>
                </a:solidFill>
                <a:effectLst/>
                <a:uFillTx/>
                <a:latin typeface="Calibri"/>
              </a:rPr>
              <a:t>Version 2</a:t>
            </a:r>
            <a:endParaRPr lang="en-US" sz="1300" b="0" u="none" strike="noStrike">
              <a:solidFill>
                <a:srgbClr val="000000"/>
              </a:solidFill>
              <a:effectLst/>
              <a:uFillTx/>
              <a:latin typeface="Arial"/>
            </a:endParaRPr>
          </a:p>
        </p:txBody>
      </p:sp>
      <p:sp>
        <p:nvSpPr>
          <p:cNvPr id="121" name="Rectangle 19"/>
          <p:cNvSpPr/>
          <p:nvPr/>
        </p:nvSpPr>
        <p:spPr>
          <a:xfrm>
            <a:off x="2090160" y="4058280"/>
            <a:ext cx="1003680" cy="2159280"/>
          </a:xfrm>
          <a:prstGeom prst="rect">
            <a:avLst/>
          </a:prstGeom>
          <a:solidFill>
            <a:srgbClr val="2E4CC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2" name="TextBox 20"/>
          <p:cNvSpPr/>
          <p:nvPr/>
        </p:nvSpPr>
        <p:spPr>
          <a:xfrm>
            <a:off x="91440" y="39121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P₃</a:t>
            </a:r>
            <a:endParaRPr lang="en-US" sz="1400" b="0" u="none" strike="noStrike">
              <a:solidFill>
                <a:srgbClr val="000000"/>
              </a:solidFill>
              <a:effectLst/>
              <a:uFillTx/>
              <a:latin typeface="Arial"/>
            </a:endParaRPr>
          </a:p>
        </p:txBody>
      </p:sp>
      <p:sp>
        <p:nvSpPr>
          <p:cNvPr id="123" name="TextBox 21"/>
          <p:cNvSpPr/>
          <p:nvPr/>
        </p:nvSpPr>
        <p:spPr>
          <a:xfrm>
            <a:off x="2911320" y="367416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0B2B4E"/>
                </a:solidFill>
                <a:effectLst/>
                <a:uFillTx/>
                <a:latin typeface="Calibri"/>
              </a:rPr>
              <a:t>Version 3</a:t>
            </a:r>
            <a:endParaRPr lang="en-US" sz="1300" b="0" u="none" strike="noStrike">
              <a:solidFill>
                <a:srgbClr val="000000"/>
              </a:solidFill>
              <a:effectLst/>
              <a:uFillTx/>
              <a:latin typeface="Arial"/>
            </a:endParaRPr>
          </a:p>
        </p:txBody>
      </p:sp>
      <p:sp>
        <p:nvSpPr>
          <p:cNvPr id="124" name="Rectangle 22"/>
          <p:cNvSpPr/>
          <p:nvPr/>
        </p:nvSpPr>
        <p:spPr>
          <a:xfrm>
            <a:off x="3094200" y="4824360"/>
            <a:ext cx="1003680" cy="1393200"/>
          </a:xfrm>
          <a:prstGeom prst="rect">
            <a:avLst/>
          </a:pr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5" name="TextBox 23"/>
          <p:cNvSpPr/>
          <p:nvPr/>
        </p:nvSpPr>
        <p:spPr>
          <a:xfrm>
            <a:off x="91440" y="467820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P₄</a:t>
            </a:r>
            <a:endParaRPr lang="en-US" sz="1400" b="0" u="none" strike="noStrike">
              <a:solidFill>
                <a:srgbClr val="000000"/>
              </a:solidFill>
              <a:effectLst/>
              <a:uFillTx/>
              <a:latin typeface="Arial"/>
            </a:endParaRPr>
          </a:p>
        </p:txBody>
      </p:sp>
      <p:sp>
        <p:nvSpPr>
          <p:cNvPr id="126" name="TextBox 24"/>
          <p:cNvSpPr/>
          <p:nvPr/>
        </p:nvSpPr>
        <p:spPr>
          <a:xfrm>
            <a:off x="3915360" y="444024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0B2B4E"/>
                </a:solidFill>
                <a:effectLst/>
                <a:uFillTx/>
                <a:latin typeface="Calibri"/>
              </a:rPr>
              <a:t>Version 4</a:t>
            </a:r>
            <a:endParaRPr lang="en-US" sz="1300" b="0" u="none" strike="noStrike">
              <a:solidFill>
                <a:srgbClr val="000000"/>
              </a:solidFill>
              <a:effectLst/>
              <a:uFillTx/>
              <a:latin typeface="Arial"/>
            </a:endParaRPr>
          </a:p>
        </p:txBody>
      </p:sp>
      <p:sp>
        <p:nvSpPr>
          <p:cNvPr id="127" name="Rectangle 25"/>
          <p:cNvSpPr/>
          <p:nvPr/>
        </p:nvSpPr>
        <p:spPr>
          <a:xfrm>
            <a:off x="4098240" y="5590800"/>
            <a:ext cx="1003680" cy="626760"/>
          </a:xfrm>
          <a:prstGeom prst="rect">
            <a:avLst/>
          </a:prstGeom>
          <a:solidFill>
            <a:srgbClr val="17A39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26"/>
          <p:cNvSpPr/>
          <p:nvPr/>
        </p:nvSpPr>
        <p:spPr>
          <a:xfrm>
            <a:off x="91440" y="544428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P₅</a:t>
            </a:r>
            <a:endParaRPr lang="en-US" sz="1400" b="0" u="none" strike="noStrike">
              <a:solidFill>
                <a:srgbClr val="000000"/>
              </a:solidFill>
              <a:effectLst/>
              <a:uFillTx/>
              <a:latin typeface="Arial"/>
            </a:endParaRPr>
          </a:p>
        </p:txBody>
      </p:sp>
      <p:sp>
        <p:nvSpPr>
          <p:cNvPr id="129" name="TextBox 27"/>
          <p:cNvSpPr/>
          <p:nvPr/>
        </p:nvSpPr>
        <p:spPr>
          <a:xfrm>
            <a:off x="4919400" y="52066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0B2B4E"/>
                </a:solidFill>
                <a:effectLst/>
                <a:uFillTx/>
                <a:latin typeface="Calibri"/>
              </a:rPr>
              <a:t>Version 5</a:t>
            </a:r>
            <a:endParaRPr lang="en-US" sz="1300" b="0" u="none" strike="noStrike">
              <a:solidFill>
                <a:srgbClr val="000000"/>
              </a:solidFill>
              <a:effectLst/>
              <a:uFillTx/>
              <a:latin typeface="Arial"/>
            </a:endParaRPr>
          </a:p>
        </p:txBody>
      </p:sp>
      <p:sp>
        <p:nvSpPr>
          <p:cNvPr id="130" name="Freeform 28"/>
          <p:cNvSpPr/>
          <p:nvPr/>
        </p:nvSpPr>
        <p:spPr>
          <a:xfrm>
            <a:off x="640080" y="2185560"/>
            <a:ext cx="5281920" cy="4032000"/>
          </a:xfrm>
          <a:custGeom>
            <a:avLst/>
            <a:gdLst>
              <a:gd name="textAreaLeft" fmla="*/ 0 w 5281920"/>
              <a:gd name="textAreaRight" fmla="*/ 5282280 w 5281920"/>
              <a:gd name="textAreaTop" fmla="*/ 0 h 4032000"/>
              <a:gd name="textAreaBottom" fmla="*/ 4032360 h 4032000"/>
            </a:gdLst>
            <a:ahLst/>
            <a:cxnLst/>
            <a:rect l="textAreaLeft" t="textAreaTop" r="textAreaRight" b="textAreaBottom"/>
            <a:pathLst>
              <a:path w="5282214" h="4032504">
                <a:moveTo>
                  <a:pt x="0" y="0"/>
                </a:moveTo>
                <a:lnTo>
                  <a:pt x="5282214" y="4032504"/>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1" name="TextBox 29"/>
          <p:cNvSpPr/>
          <p:nvPr/>
        </p:nvSpPr>
        <p:spPr>
          <a:xfrm>
            <a:off x="6035220" y="5866920"/>
            <a:ext cx="14626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dirty="0">
                <a:solidFill>
                  <a:srgbClr val="C0201B"/>
                </a:solidFill>
                <a:effectLst/>
                <a:uFillTx/>
                <a:latin typeface="Calibri"/>
              </a:rPr>
              <a:t>demand</a:t>
            </a:r>
            <a:endParaRPr lang="en-US" sz="1300" b="0" u="none" strike="noStrike" dirty="0">
              <a:solidFill>
                <a:srgbClr val="000000"/>
              </a:solidFill>
              <a:effectLst/>
              <a:uFillTx/>
              <a:latin typeface="Arial"/>
            </a:endParaRPr>
          </a:p>
        </p:txBody>
      </p:sp>
      <p:sp>
        <p:nvSpPr>
          <p:cNvPr id="132" name="Picture 30" descr="s04_0.png"/>
          <p:cNvSpPr/>
          <p:nvPr/>
        </p:nvSpPr>
        <p:spPr>
          <a:xfrm>
            <a:off x="6949440" y="1417320"/>
            <a:ext cx="4480200" cy="252000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 name="TextBox 31"/>
          <p:cNvSpPr/>
          <p:nvPr/>
        </p:nvSpPr>
        <p:spPr>
          <a:xfrm>
            <a:off x="6766560" y="4297680"/>
            <a:ext cx="512028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1800" b="0" u="none" strike="noStrike">
                <a:solidFill>
                  <a:srgbClr val="0B2B4E"/>
                </a:solidFill>
                <a:effectLst/>
                <a:uFillTx/>
                <a:latin typeface="Calibri"/>
              </a:rPr>
              <a:t>Create different “versions” of your product</a:t>
            </a:r>
            <a:endParaRPr lang="en-US" sz="18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1800" b="0" u="none" strike="noStrike">
                <a:solidFill>
                  <a:srgbClr val="0B2B4E"/>
                </a:solidFill>
                <a:effectLst/>
                <a:uFillTx/>
                <a:latin typeface="Calibri"/>
              </a:rPr>
              <a:t>Design them so customers with different WTP “self-select” into the desired version</a:t>
            </a:r>
            <a:endParaRPr lang="en-US"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13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Versioning: Product Lines</a:t>
            </a:r>
            <a:endParaRPr lang="en-US" sz="3200" b="0" u="none" strike="noStrike">
              <a:solidFill>
                <a:srgbClr val="000000"/>
              </a:solidFill>
              <a:effectLst/>
              <a:uFillTx/>
              <a:latin typeface="Arial"/>
            </a:endParaRPr>
          </a:p>
        </p:txBody>
      </p:sp>
      <p:sp>
        <p:nvSpPr>
          <p:cNvPr id="13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4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5</a:t>
            </a:r>
            <a:endParaRPr lang="en-US" sz="1200" b="0" u="none" strike="noStrike">
              <a:solidFill>
                <a:srgbClr val="000000"/>
              </a:solidFill>
              <a:effectLst/>
              <a:uFillTx/>
              <a:latin typeface="Arial"/>
            </a:endParaRPr>
          </a:p>
        </p:txBody>
      </p:sp>
      <p:sp>
        <p:nvSpPr>
          <p:cNvPr id="143" name="TextBox 10"/>
          <p:cNvSpPr/>
          <p:nvPr/>
        </p:nvSpPr>
        <p:spPr>
          <a:xfrm>
            <a:off x="640080" y="141732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000" b="1" u="none" strike="noStrike">
                <a:solidFill>
                  <a:srgbClr val="0B2B4E"/>
                </a:solidFill>
                <a:effectLst/>
                <a:uFillTx/>
                <a:latin typeface="Calibri"/>
              </a:rPr>
              <a:t>Offer a product line and let users sort themselves</a:t>
            </a:r>
            <a:endParaRPr lang="en-US" sz="2000" b="0" u="none" strike="noStrike">
              <a:solidFill>
                <a:srgbClr val="000000"/>
              </a:solidFill>
              <a:effectLst/>
              <a:uFillTx/>
              <a:latin typeface="Arial"/>
            </a:endParaRPr>
          </a:p>
        </p:txBody>
      </p:sp>
      <p:sp>
        <p:nvSpPr>
          <p:cNvPr id="144" name="Picture 11" descr="body_5.png"/>
          <p:cNvSpPr/>
          <p:nvPr/>
        </p:nvSpPr>
        <p:spPr>
          <a:xfrm>
            <a:off x="2468880" y="2468880"/>
            <a:ext cx="6880680" cy="37486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14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Versioning: Dolls</a:t>
            </a:r>
            <a:endParaRPr lang="en-US" sz="3200" b="0" u="none" strike="noStrike">
              <a:solidFill>
                <a:srgbClr val="000000"/>
              </a:solidFill>
              <a:effectLst/>
              <a:uFillTx/>
              <a:latin typeface="Arial"/>
            </a:endParaRPr>
          </a:p>
        </p:txBody>
      </p:sp>
      <p:sp>
        <p:nvSpPr>
          <p:cNvPr id="14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5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6</a:t>
            </a:r>
            <a:endParaRPr lang="en-US" sz="1200" b="0" u="none" strike="noStrike">
              <a:solidFill>
                <a:srgbClr val="000000"/>
              </a:solidFill>
              <a:effectLst/>
              <a:uFillTx/>
              <a:latin typeface="Arial"/>
            </a:endParaRPr>
          </a:p>
        </p:txBody>
      </p:sp>
      <p:pic>
        <p:nvPicPr>
          <p:cNvPr id="154" name="Picture 10" descr="s06_0.png"/>
          <p:cNvPicPr/>
          <p:nvPr/>
        </p:nvPicPr>
        <p:blipFill>
          <a:blip r:embed="rId2"/>
          <a:stretch/>
        </p:blipFill>
        <p:spPr>
          <a:xfrm>
            <a:off x="1554480" y="1737360"/>
            <a:ext cx="9143640" cy="3374280"/>
          </a:xfrm>
          <a:prstGeom prst="rect">
            <a:avLst/>
          </a:prstGeom>
          <a:noFill/>
          <a:ln w="0">
            <a:noFill/>
          </a:ln>
        </p:spPr>
      </p:pic>
      <p:pic>
        <p:nvPicPr>
          <p:cNvPr id="155" name="CLK00" descr="s06_1.png"/>
          <p:cNvPicPr/>
          <p:nvPr/>
        </p:nvPicPr>
        <p:blipFill>
          <a:blip r:embed="rId3"/>
          <a:stretch/>
        </p:blipFill>
        <p:spPr>
          <a:xfrm>
            <a:off x="2651760" y="5074920"/>
            <a:ext cx="1096920" cy="1049760"/>
          </a:xfrm>
          <a:prstGeom prst="rect">
            <a:avLst/>
          </a:prstGeom>
          <a:noFill/>
          <a:ln w="0">
            <a:noFill/>
          </a:ln>
        </p:spPr>
      </p:pic>
      <p:pic>
        <p:nvPicPr>
          <p:cNvPr id="156" name="CLK02" descr="s06_2.png"/>
          <p:cNvPicPr/>
          <p:nvPr/>
        </p:nvPicPr>
        <p:blipFill>
          <a:blip r:embed="rId4"/>
          <a:stretch/>
        </p:blipFill>
        <p:spPr>
          <a:xfrm>
            <a:off x="5623560" y="5074920"/>
            <a:ext cx="1371240" cy="917280"/>
          </a:xfrm>
          <a:prstGeom prst="rect">
            <a:avLst/>
          </a:prstGeom>
          <a:noFill/>
          <a:ln w="0">
            <a:noFill/>
          </a:ln>
        </p:spPr>
      </p:pic>
      <p:pic>
        <p:nvPicPr>
          <p:cNvPr id="157" name="CLK01" descr="s06_3.png"/>
          <p:cNvPicPr/>
          <p:nvPr/>
        </p:nvPicPr>
        <p:blipFill>
          <a:blip r:embed="rId5"/>
          <a:stretch/>
        </p:blipFill>
        <p:spPr>
          <a:xfrm>
            <a:off x="8686800" y="5074920"/>
            <a:ext cx="1188360" cy="957240"/>
          </a:xfrm>
          <a:prstGeom prst="rect">
            <a:avLst/>
          </a:prstGeom>
          <a:noFill/>
          <a:ln w="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16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Versioning: Costco</a:t>
            </a:r>
            <a:endParaRPr lang="en-US" sz="3200" b="0" u="none" strike="noStrike">
              <a:solidFill>
                <a:srgbClr val="000000"/>
              </a:solidFill>
              <a:effectLst/>
              <a:uFillTx/>
              <a:latin typeface="Arial"/>
            </a:endParaRPr>
          </a:p>
        </p:txBody>
      </p:sp>
      <p:sp>
        <p:nvSpPr>
          <p:cNvPr id="16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6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7</a:t>
            </a:r>
            <a:endParaRPr lang="en-US" sz="1200" b="0" u="none" strike="noStrike">
              <a:solidFill>
                <a:srgbClr val="000000"/>
              </a:solidFill>
              <a:effectLst/>
              <a:uFillTx/>
              <a:latin typeface="Arial"/>
            </a:endParaRPr>
          </a:p>
        </p:txBody>
      </p:sp>
      <p:sp>
        <p:nvSpPr>
          <p:cNvPr id="167" name="TXBLD_1001"/>
          <p:cNvSpPr/>
          <p:nvPr/>
        </p:nvSpPr>
        <p:spPr>
          <a:xfrm>
            <a:off x="640080" y="1920240"/>
            <a:ext cx="5668920" cy="193899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599"/>
              </a:spcBef>
              <a:buClr>
                <a:srgbClr val="0B2B4E"/>
              </a:buClr>
              <a:buFont typeface="Calibri"/>
              <a:buChar char="▪"/>
            </a:pPr>
            <a:r>
              <a:rPr lang="en-US" sz="3200" b="1" u="none" strike="noStrike" dirty="0">
                <a:solidFill>
                  <a:srgbClr val="0B2B4E"/>
                </a:solidFill>
                <a:effectLst/>
                <a:uFillTx/>
                <a:latin typeface="Calibri"/>
              </a:rPr>
              <a:t>Business model</a:t>
            </a:r>
            <a:endParaRPr lang="en-US" sz="3200" b="0" u="none" strike="noStrike" dirty="0">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dirty="0">
                <a:solidFill>
                  <a:srgbClr val="555B66"/>
                </a:solidFill>
                <a:effectLst/>
                <a:uFillTx/>
                <a:latin typeface="Calibri"/>
              </a:rPr>
              <a:t>Make money on the memberships</a:t>
            </a:r>
            <a:endParaRPr lang="en-US" sz="2800" b="0" u="none" strike="noStrike" dirty="0">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dirty="0">
                <a:solidFill>
                  <a:srgbClr val="555B66"/>
                </a:solidFill>
                <a:effectLst/>
                <a:uFillTx/>
                <a:latin typeface="Calibri"/>
              </a:rPr>
              <a:t>Sell goods at the cheapest price possible</a:t>
            </a:r>
            <a:endParaRPr lang="en-US" sz="2800" b="0" u="none" strike="noStrike" dirty="0">
              <a:solidFill>
                <a:srgbClr val="000000"/>
              </a:solidFill>
              <a:effectLst/>
              <a:uFillTx/>
              <a:latin typeface="Arial"/>
            </a:endParaRPr>
          </a:p>
        </p:txBody>
      </p:sp>
      <p:sp>
        <p:nvSpPr>
          <p:cNvPr id="168" name="Picture 11" descr="s07_costco.png"/>
          <p:cNvSpPr/>
          <p:nvPr/>
        </p:nvSpPr>
        <p:spPr>
          <a:xfrm>
            <a:off x="8366760" y="1600200"/>
            <a:ext cx="2136960" cy="484596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17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More Examples of Versioning</a:t>
            </a:r>
            <a:endParaRPr lang="en-US" sz="3200" b="0" u="none" strike="noStrike">
              <a:solidFill>
                <a:srgbClr val="000000"/>
              </a:solidFill>
              <a:effectLst/>
              <a:uFillTx/>
              <a:latin typeface="Arial"/>
            </a:endParaRPr>
          </a:p>
        </p:txBody>
      </p:sp>
      <p:sp>
        <p:nvSpPr>
          <p:cNvPr id="17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7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8</a:t>
            </a:r>
            <a:endParaRPr lang="en-US" sz="1200" b="0" u="none" strike="noStrike">
              <a:solidFill>
                <a:srgbClr val="000000"/>
              </a:solidFill>
              <a:effectLst/>
              <a:uFillTx/>
              <a:latin typeface="Arial"/>
            </a:endParaRPr>
          </a:p>
        </p:txBody>
      </p:sp>
      <p:sp>
        <p:nvSpPr>
          <p:cNvPr id="178" name="TXBLD_11111010"/>
          <p:cNvSpPr/>
          <p:nvPr/>
        </p:nvSpPr>
        <p:spPr>
          <a:xfrm>
            <a:off x="502920" y="1463040"/>
            <a:ext cx="11155320" cy="493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Internet service: higher speed at a higher price</a:t>
            </a:r>
            <a:endParaRPr lang="en-US" sz="21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FedEx / UPS: 2nd-day vs. same-day delivery</a:t>
            </a:r>
            <a:endParaRPr lang="en-US" sz="21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iPhone and BMW product lines</a:t>
            </a:r>
            <a:endParaRPr lang="en-US" sz="21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Tinder Plus and Gold</a:t>
            </a:r>
            <a:endParaRPr lang="en-US" sz="21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1" u="none" strike="noStrike">
                <a:solidFill>
                  <a:srgbClr val="0B2B4E"/>
                </a:solidFill>
                <a:effectLst/>
                <a:uFillTx/>
                <a:latin typeface="Calibri"/>
              </a:rPr>
              <a:t>Airlines (Air Canada, Toronto–Calgary):</a:t>
            </a:r>
            <a:endParaRPr lang="en-US" sz="21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$180 “Tango”, $338 “Fun”, $554 “Latitude”, $995 “Freedom”, $1,024 “Executive Class”</a:t>
            </a:r>
            <a:endParaRPr lang="en-US" sz="17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1" u="none" strike="noStrike">
                <a:solidFill>
                  <a:srgbClr val="C0201B"/>
                </a:solidFill>
                <a:effectLst/>
                <a:uFillTx/>
                <a:latin typeface="Calibri"/>
              </a:rPr>
              <a:t>Important:</a:t>
            </a:r>
            <a:r>
              <a:rPr lang="en-US" sz="2100" b="0" u="none" strike="noStrike">
                <a:solidFill>
                  <a:srgbClr val="0B2B4E"/>
                </a:solidFill>
                <a:effectLst/>
                <a:uFillTx/>
                <a:latin typeface="Calibri"/>
              </a:rPr>
              <a:t> keep the low-quality option inferior enough to prevent premium customers being tempted</a:t>
            </a:r>
            <a:endParaRPr lang="en-US" sz="21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FedEx reportedly “delays” 2nd-day delivery on purpose</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8">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18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 of Module 6</a:t>
            </a:r>
            <a:endParaRPr lang="en-US" sz="3200" b="0" u="none" strike="noStrike">
              <a:solidFill>
                <a:srgbClr val="000000"/>
              </a:solidFill>
              <a:effectLst/>
              <a:uFillTx/>
              <a:latin typeface="Arial"/>
            </a:endParaRPr>
          </a:p>
        </p:txBody>
      </p:sp>
      <p:sp>
        <p:nvSpPr>
          <p:cNvPr id="18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8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9</a:t>
            </a:r>
            <a:endParaRPr lang="en-US" sz="1200" b="0" u="none" strike="noStrike">
              <a:solidFill>
                <a:srgbClr val="000000"/>
              </a:solidFill>
              <a:effectLst/>
              <a:uFillTx/>
              <a:latin typeface="Arial"/>
            </a:endParaRPr>
          </a:p>
        </p:txBody>
      </p:sp>
      <p:sp>
        <p:nvSpPr>
          <p:cNvPr id="188"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189"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190"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191" name="Oval 13"/>
          <p:cNvSpPr/>
          <p:nvPr/>
        </p:nvSpPr>
        <p:spPr>
          <a:xfrm>
            <a:off x="1234440" y="254196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192"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Direct price discrimination</a:t>
            </a:r>
            <a:endParaRPr lang="en-US" sz="2200" b="0" u="none" strike="noStrike">
              <a:solidFill>
                <a:srgbClr val="000000"/>
              </a:solidFill>
              <a:effectLst/>
              <a:uFillTx/>
              <a:latin typeface="Arial"/>
            </a:endParaRPr>
          </a:p>
        </p:txBody>
      </p:sp>
      <p:sp>
        <p:nvSpPr>
          <p:cNvPr id="193"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194" name="Rounded Rectangle 16"/>
          <p:cNvSpPr/>
          <p:nvPr/>
        </p:nvSpPr>
        <p:spPr>
          <a:xfrm>
            <a:off x="978480" y="330084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5" name="Oval 17"/>
          <p:cNvSpPr/>
          <p:nvPr/>
        </p:nvSpPr>
        <p:spPr>
          <a:xfrm>
            <a:off x="1234440" y="343800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FFFFFF"/>
              </a:solidFill>
              <a:effectLst/>
              <a:uFillTx/>
              <a:latin typeface="Arial"/>
            </a:endParaRPr>
          </a:p>
        </p:txBody>
      </p:sp>
      <p:sp>
        <p:nvSpPr>
          <p:cNvPr id="196" name="TextBox 18"/>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Indirect price discrimination</a:t>
            </a:r>
            <a:endParaRPr lang="en-US" sz="2200" b="0" u="none" strike="noStrike">
              <a:solidFill>
                <a:srgbClr val="000000"/>
              </a:solidFill>
              <a:effectLst/>
              <a:uFillTx/>
              <a:latin typeface="Arial"/>
            </a:endParaRPr>
          </a:p>
        </p:txBody>
      </p:sp>
      <p:sp>
        <p:nvSpPr>
          <p:cNvPr id="197" name="TextBox 19"/>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198" name="Oval 20"/>
          <p:cNvSpPr/>
          <p:nvPr/>
        </p:nvSpPr>
        <p:spPr>
          <a:xfrm>
            <a:off x="1234440" y="43344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000000"/>
              </a:solidFill>
              <a:effectLst/>
              <a:uFillTx/>
              <a:latin typeface="Arial"/>
            </a:endParaRPr>
          </a:p>
        </p:txBody>
      </p:sp>
      <p:sp>
        <p:nvSpPr>
          <p:cNvPr id="199"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Advanced pricing strategies</a:t>
            </a:r>
            <a:endParaRPr lang="en-US" sz="2200" b="0" u="none" strike="noStrike">
              <a:solidFill>
                <a:srgbClr val="000000"/>
              </a:solidFill>
              <a:effectLst/>
              <a:uFillTx/>
              <a:latin typeface="Arial"/>
            </a:endParaRPr>
          </a:p>
        </p:txBody>
      </p:sp>
      <p:sp>
        <p:nvSpPr>
          <p:cNvPr id="200"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201"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202"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203"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Indirect Price Discrimination</a:t>
            </a:r>
            <a:endParaRPr lang="en-US" sz="1600" b="0" u="none" strike="noStrike">
              <a:solidFill>
                <a:srgbClr val="000000"/>
              </a:solidFill>
              <a:effectLst/>
              <a:uFillTx/>
              <a:latin typeface="Arial"/>
            </a:endParaRPr>
          </a:p>
        </p:txBody>
      </p:sp>
      <p:sp>
        <p:nvSpPr>
          <p:cNvPr id="20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800" b="1" u="none" strike="noStrike">
                <a:solidFill>
                  <a:srgbClr val="0B2B4E"/>
                </a:solidFill>
                <a:effectLst/>
                <a:uFillTx/>
                <a:latin typeface="Calibri"/>
              </a:rPr>
              <a:t>Second-Degree Price Discrimination: Coupons</a:t>
            </a:r>
            <a:endParaRPr lang="en-US" sz="2800" b="0" u="none" strike="noStrike">
              <a:solidFill>
                <a:srgbClr val="000000"/>
              </a:solidFill>
              <a:effectLst/>
              <a:uFillTx/>
              <a:latin typeface="Arial"/>
            </a:endParaRPr>
          </a:p>
        </p:txBody>
      </p:sp>
      <p:sp>
        <p:nvSpPr>
          <p:cNvPr id="20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1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10</a:t>
            </a:r>
            <a:endParaRPr lang="en-US" sz="1200" b="0" u="none" strike="noStrike">
              <a:solidFill>
                <a:srgbClr val="000000"/>
              </a:solidFill>
              <a:effectLst/>
              <a:uFillTx/>
              <a:latin typeface="Arial"/>
            </a:endParaRPr>
          </a:p>
        </p:txBody>
      </p:sp>
      <p:pic>
        <p:nvPicPr>
          <p:cNvPr id="213" name="Picture 10" descr="s10_1.png"/>
          <p:cNvPicPr/>
          <p:nvPr/>
        </p:nvPicPr>
        <p:blipFill>
          <a:blip r:embed="rId3"/>
          <a:stretch/>
        </p:blipFill>
        <p:spPr>
          <a:xfrm>
            <a:off x="164520" y="1366560"/>
            <a:ext cx="2194200" cy="997200"/>
          </a:xfrm>
          <a:prstGeom prst="rect">
            <a:avLst/>
          </a:prstGeom>
          <a:noFill/>
          <a:ln w="0">
            <a:noFill/>
          </a:ln>
        </p:spPr>
      </p:pic>
      <p:sp>
        <p:nvSpPr>
          <p:cNvPr id="214" name="Picture 11" descr="s10_0.png"/>
          <p:cNvSpPr/>
          <p:nvPr/>
        </p:nvSpPr>
        <p:spPr>
          <a:xfrm>
            <a:off x="2436675" y="2103016"/>
            <a:ext cx="9143640" cy="408276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21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21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2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11</a:t>
            </a:r>
            <a:endParaRPr lang="en-US" sz="1200" b="0" u="none" strike="noStrike">
              <a:solidFill>
                <a:srgbClr val="000000"/>
              </a:solidFill>
              <a:effectLst/>
              <a:uFillTx/>
              <a:latin typeface="Arial"/>
            </a:endParaRPr>
          </a:p>
        </p:txBody>
      </p:sp>
      <p:sp>
        <p:nvSpPr>
          <p:cNvPr id="224"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225"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226"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227" name="Oval 13"/>
          <p:cNvSpPr/>
          <p:nvPr/>
        </p:nvSpPr>
        <p:spPr>
          <a:xfrm>
            <a:off x="1234440" y="254196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228"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Direct price discrimination</a:t>
            </a:r>
            <a:endParaRPr lang="en-US" sz="2200" b="0" u="none" strike="noStrike">
              <a:solidFill>
                <a:srgbClr val="000000"/>
              </a:solidFill>
              <a:effectLst/>
              <a:uFillTx/>
              <a:latin typeface="Arial"/>
            </a:endParaRPr>
          </a:p>
        </p:txBody>
      </p:sp>
      <p:sp>
        <p:nvSpPr>
          <p:cNvPr id="229"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230" name="Oval 16"/>
          <p:cNvSpPr/>
          <p:nvPr/>
        </p:nvSpPr>
        <p:spPr>
          <a:xfrm>
            <a:off x="1234440" y="34380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231" name="TextBox 17"/>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Indirect price discrimination</a:t>
            </a:r>
            <a:endParaRPr lang="en-US" sz="2200" b="0" u="none" strike="noStrike">
              <a:solidFill>
                <a:srgbClr val="000000"/>
              </a:solidFill>
              <a:effectLst/>
              <a:uFillTx/>
              <a:latin typeface="Arial"/>
            </a:endParaRPr>
          </a:p>
        </p:txBody>
      </p:sp>
      <p:sp>
        <p:nvSpPr>
          <p:cNvPr id="232" name="TextBox 18"/>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233" name="Rounded Rectangle 19"/>
          <p:cNvSpPr/>
          <p:nvPr/>
        </p:nvSpPr>
        <p:spPr>
          <a:xfrm>
            <a:off x="978480" y="419724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4" name="Oval 20"/>
          <p:cNvSpPr/>
          <p:nvPr/>
        </p:nvSpPr>
        <p:spPr>
          <a:xfrm>
            <a:off x="1234440" y="433440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FFFFFF"/>
              </a:solidFill>
              <a:effectLst/>
              <a:uFillTx/>
              <a:latin typeface="Arial"/>
            </a:endParaRPr>
          </a:p>
        </p:txBody>
      </p:sp>
      <p:sp>
        <p:nvSpPr>
          <p:cNvPr id="235"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Advanced pricing strategies</a:t>
            </a:r>
            <a:endParaRPr lang="en-US" sz="2200" b="0" u="none" strike="noStrike">
              <a:solidFill>
                <a:srgbClr val="000000"/>
              </a:solidFill>
              <a:effectLst/>
              <a:uFillTx/>
              <a:latin typeface="Arial"/>
            </a:endParaRPr>
          </a:p>
        </p:txBody>
      </p:sp>
      <p:sp>
        <p:nvSpPr>
          <p:cNvPr id="236"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237"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238"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239"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24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Volume Pricing</a:t>
            </a:r>
            <a:endParaRPr lang="en-US" sz="3200" b="0" u="none" strike="noStrike">
              <a:solidFill>
                <a:srgbClr val="000000"/>
              </a:solidFill>
              <a:effectLst/>
              <a:uFillTx/>
              <a:latin typeface="Arial"/>
            </a:endParaRPr>
          </a:p>
        </p:txBody>
      </p:sp>
      <p:sp>
        <p:nvSpPr>
          <p:cNvPr id="24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4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12</a:t>
            </a:r>
            <a:endParaRPr lang="en-US" sz="1200" b="0" u="none" strike="noStrike">
              <a:solidFill>
                <a:srgbClr val="000000"/>
              </a:solidFill>
              <a:effectLst/>
              <a:uFillTx/>
              <a:latin typeface="Arial"/>
            </a:endParaRPr>
          </a:p>
        </p:txBody>
      </p:sp>
      <p:sp>
        <p:nvSpPr>
          <p:cNvPr id="249" name="TXBLD_11100"/>
          <p:cNvSpPr/>
          <p:nvPr/>
        </p:nvSpPr>
        <p:spPr>
          <a:xfrm>
            <a:off x="502920" y="1828800"/>
            <a:ext cx="1115532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How to extract consumer surplus from a consumer prepared to buy multiple units</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Diminishing marginal personal value comes into play</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We will study two variants of volume pricing:</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All-or-none offers (flat fee)</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Two-part pricing strategies (fixed fee + usage fee)</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25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Example: Netflix — Simple Pricing (assume MC = 0)</a:t>
            </a:r>
            <a:endParaRPr lang="en-US" sz="2400" b="0" u="none" strike="noStrike">
              <a:solidFill>
                <a:srgbClr val="000000"/>
              </a:solidFill>
              <a:effectLst/>
              <a:uFillTx/>
              <a:latin typeface="Arial"/>
            </a:endParaRPr>
          </a:p>
        </p:txBody>
      </p:sp>
      <p:sp>
        <p:nvSpPr>
          <p:cNvPr id="25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5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13</a:t>
            </a:r>
            <a:endParaRPr lang="en-US" sz="1200" b="0" u="none" strike="noStrike">
              <a:solidFill>
                <a:srgbClr val="000000"/>
              </a:solidFill>
              <a:effectLst/>
              <a:uFillTx/>
              <a:latin typeface="Arial"/>
            </a:endParaRPr>
          </a:p>
        </p:txBody>
      </p:sp>
      <p:cxnSp>
        <p:nvCxnSpPr>
          <p:cNvPr id="259" name="Connector 10"/>
          <p:cNvCxnSpPr/>
          <p:nvPr/>
        </p:nvCxnSpPr>
        <p:spPr>
          <a:xfrm flipV="1">
            <a:off x="914400" y="1280160"/>
            <a:ext cx="720" cy="4938120"/>
          </a:xfrm>
          <a:prstGeom prst="straightConnector1">
            <a:avLst/>
          </a:prstGeom>
          <a:ln w="25400">
            <a:solidFill>
              <a:srgbClr val="0B2B4E"/>
            </a:solidFill>
            <a:round/>
            <a:tailEnd type="triangle" w="med" len="med"/>
          </a:ln>
        </p:spPr>
      </p:cxnSp>
      <p:cxnSp>
        <p:nvCxnSpPr>
          <p:cNvPr id="260" name="Connector 11"/>
          <p:cNvCxnSpPr/>
          <p:nvPr/>
        </p:nvCxnSpPr>
        <p:spPr>
          <a:xfrm>
            <a:off x="914400" y="6217920"/>
            <a:ext cx="4800960" cy="720"/>
          </a:xfrm>
          <a:prstGeom prst="straightConnector1">
            <a:avLst/>
          </a:prstGeom>
          <a:ln w="25400">
            <a:solidFill>
              <a:srgbClr val="0B2B4E"/>
            </a:solidFill>
            <a:round/>
            <a:tailEnd type="triangle" w="med" len="med"/>
          </a:ln>
        </p:spPr>
      </p:cxnSp>
      <p:sp>
        <p:nvSpPr>
          <p:cNvPr id="261" name="TextBox 12"/>
          <p:cNvSpPr/>
          <p:nvPr/>
        </p:nvSpPr>
        <p:spPr>
          <a:xfrm>
            <a:off x="645480" y="118026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262" name="TextBox 13"/>
          <p:cNvSpPr/>
          <p:nvPr/>
        </p:nvSpPr>
        <p:spPr>
          <a:xfrm>
            <a:off x="5623560" y="627264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Movies</a:t>
            </a:r>
            <a:endParaRPr lang="en-US" sz="1800" b="0" u="none" strike="noStrike">
              <a:solidFill>
                <a:srgbClr val="000000"/>
              </a:solidFill>
              <a:effectLst/>
              <a:uFillTx/>
              <a:latin typeface="Arial"/>
            </a:endParaRPr>
          </a:p>
        </p:txBody>
      </p:sp>
      <p:sp>
        <p:nvSpPr>
          <p:cNvPr id="263" name="CLK01"/>
          <p:cNvSpPr/>
          <p:nvPr/>
        </p:nvSpPr>
        <p:spPr>
          <a:xfrm>
            <a:off x="914400" y="2202480"/>
            <a:ext cx="4216680" cy="4015080"/>
          </a:xfrm>
          <a:custGeom>
            <a:avLst/>
            <a:gdLst>
              <a:gd name="textAreaLeft" fmla="*/ 0 w 4216680"/>
              <a:gd name="textAreaRight" fmla="*/ 4217040 w 4216680"/>
              <a:gd name="textAreaTop" fmla="*/ 0 h 4015080"/>
              <a:gd name="textAreaBottom" fmla="*/ 4015440 h 4015080"/>
            </a:gdLst>
            <a:ahLst/>
            <a:cxnLst/>
            <a:rect l="textAreaLeft" t="textAreaTop" r="textAreaRight" b="textAreaBottom"/>
            <a:pathLst>
              <a:path w="4216997" h="4015409">
                <a:moveTo>
                  <a:pt x="0" y="0"/>
                </a:moveTo>
                <a:lnTo>
                  <a:pt x="4216997" y="4015409"/>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4" name="CLK01"/>
          <p:cNvSpPr/>
          <p:nvPr/>
        </p:nvSpPr>
        <p:spPr>
          <a:xfrm>
            <a:off x="4867920" y="5615640"/>
            <a:ext cx="6397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C0201B"/>
                </a:solidFill>
                <a:effectLst/>
                <a:uFillTx/>
                <a:latin typeface="Calibri"/>
              </a:rPr>
              <a:t>D</a:t>
            </a:r>
            <a:endParaRPr lang="en-US" sz="1600" b="0" u="none" strike="noStrike">
              <a:solidFill>
                <a:srgbClr val="000000"/>
              </a:solidFill>
              <a:effectLst/>
              <a:uFillTx/>
              <a:latin typeface="Arial"/>
            </a:endParaRPr>
          </a:p>
        </p:txBody>
      </p:sp>
      <p:sp>
        <p:nvSpPr>
          <p:cNvPr id="265" name="CLK02"/>
          <p:cNvSpPr/>
          <p:nvPr/>
        </p:nvSpPr>
        <p:spPr>
          <a:xfrm>
            <a:off x="914400" y="2202480"/>
            <a:ext cx="2108160" cy="4015080"/>
          </a:xfrm>
          <a:custGeom>
            <a:avLst/>
            <a:gdLst>
              <a:gd name="textAreaLeft" fmla="*/ 0 w 2108160"/>
              <a:gd name="textAreaRight" fmla="*/ 2108520 w 2108160"/>
              <a:gd name="textAreaTop" fmla="*/ 0 h 4015080"/>
              <a:gd name="textAreaBottom" fmla="*/ 4015440 h 4015080"/>
            </a:gdLst>
            <a:ahLst/>
            <a:cxnLst/>
            <a:rect l="textAreaLeft" t="textAreaTop" r="textAreaRight" b="textAreaBottom"/>
            <a:pathLst>
              <a:path w="2108498" h="4015409">
                <a:moveTo>
                  <a:pt x="0" y="0"/>
                </a:moveTo>
                <a:lnTo>
                  <a:pt x="2108498" y="4015409"/>
                </a:lnTo>
              </a:path>
            </a:pathLst>
          </a:custGeom>
          <a:noFill/>
          <a:ln w="2794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6" name="CLK02"/>
          <p:cNvSpPr/>
          <p:nvPr/>
        </p:nvSpPr>
        <p:spPr>
          <a:xfrm>
            <a:off x="1626120" y="330660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400" b="1" i="1" u="none" strike="noStrike">
                <a:solidFill>
                  <a:srgbClr val="C0201B"/>
                </a:solidFill>
                <a:effectLst/>
                <a:uFillTx/>
                <a:latin typeface="Calibri"/>
              </a:rPr>
              <a:t>MR</a:t>
            </a:r>
            <a:endParaRPr lang="en-US" sz="1400" b="0" u="none" strike="noStrike">
              <a:solidFill>
                <a:srgbClr val="000000"/>
              </a:solidFill>
              <a:effectLst/>
              <a:uFillTx/>
              <a:latin typeface="Arial"/>
            </a:endParaRPr>
          </a:p>
        </p:txBody>
      </p:sp>
      <p:sp>
        <p:nvSpPr>
          <p:cNvPr id="267" name="CLK03"/>
          <p:cNvSpPr/>
          <p:nvPr/>
        </p:nvSpPr>
        <p:spPr>
          <a:xfrm>
            <a:off x="914400" y="4210200"/>
            <a:ext cx="2108160" cy="2007360"/>
          </a:xfrm>
          <a:prstGeom prst="rect">
            <a:avLst/>
          </a:pr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8" name="CLK03"/>
          <p:cNvSpPr/>
          <p:nvPr/>
        </p:nvSpPr>
        <p:spPr>
          <a:xfrm>
            <a:off x="1214640" y="4890079"/>
            <a:ext cx="1737000" cy="2462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600" b="1" u="none" strike="noStrike" dirty="0">
                <a:solidFill>
                  <a:srgbClr val="0B2B4E"/>
                </a:solidFill>
                <a:effectLst/>
                <a:uFillTx/>
                <a:latin typeface="Calibri"/>
              </a:rPr>
              <a:t>Revenues</a:t>
            </a:r>
            <a:r>
              <a:rPr lang="en-US" sz="1600" dirty="0">
                <a:solidFill>
                  <a:srgbClr val="000000"/>
                </a:solidFill>
                <a:latin typeface="Arial"/>
              </a:rPr>
              <a:t> </a:t>
            </a:r>
            <a:r>
              <a:rPr lang="en-US" sz="1600" b="1" u="none" strike="noStrike" dirty="0">
                <a:solidFill>
                  <a:srgbClr val="0B2B4E"/>
                </a:solidFill>
                <a:effectLst/>
                <a:uFillTx/>
                <a:latin typeface="Calibri"/>
              </a:rPr>
              <a:t>=$8</a:t>
            </a:r>
            <a:endParaRPr lang="en-US" sz="1600" b="0" u="none" strike="noStrike" dirty="0">
              <a:solidFill>
                <a:srgbClr val="000000"/>
              </a:solidFill>
              <a:effectLst/>
              <a:uFillTx/>
              <a:latin typeface="Arial"/>
            </a:endParaRPr>
          </a:p>
        </p:txBody>
      </p:sp>
      <p:sp>
        <p:nvSpPr>
          <p:cNvPr id="269" name="CLK01"/>
          <p:cNvSpPr/>
          <p:nvPr/>
        </p:nvSpPr>
        <p:spPr>
          <a:xfrm>
            <a:off x="365760" y="20563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$2</a:t>
            </a:r>
            <a:endParaRPr lang="en-US" sz="1400" b="0" u="none" strike="noStrike">
              <a:solidFill>
                <a:srgbClr val="000000"/>
              </a:solidFill>
              <a:effectLst/>
              <a:uFillTx/>
              <a:latin typeface="Arial"/>
            </a:endParaRPr>
          </a:p>
        </p:txBody>
      </p:sp>
      <p:sp>
        <p:nvSpPr>
          <p:cNvPr id="270" name="CLK03"/>
          <p:cNvSpPr/>
          <p:nvPr/>
        </p:nvSpPr>
        <p:spPr>
          <a:xfrm>
            <a:off x="365760" y="406404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$1</a:t>
            </a:r>
            <a:endParaRPr lang="en-US" sz="1400" b="0" u="none" strike="noStrike">
              <a:solidFill>
                <a:srgbClr val="000000"/>
              </a:solidFill>
              <a:effectLst/>
              <a:uFillTx/>
              <a:latin typeface="Arial"/>
            </a:endParaRPr>
          </a:p>
        </p:txBody>
      </p:sp>
      <p:sp>
        <p:nvSpPr>
          <p:cNvPr id="271" name="CLK03"/>
          <p:cNvSpPr/>
          <p:nvPr/>
        </p:nvSpPr>
        <p:spPr>
          <a:xfrm>
            <a:off x="256572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8</a:t>
            </a:r>
            <a:endParaRPr lang="en-US" sz="1400" b="0" u="none" strike="noStrike">
              <a:solidFill>
                <a:srgbClr val="000000"/>
              </a:solidFill>
              <a:effectLst/>
              <a:uFillTx/>
              <a:latin typeface="Arial"/>
            </a:endParaRPr>
          </a:p>
        </p:txBody>
      </p:sp>
      <p:sp>
        <p:nvSpPr>
          <p:cNvPr id="272" name="CLK01"/>
          <p:cNvSpPr/>
          <p:nvPr/>
        </p:nvSpPr>
        <p:spPr>
          <a:xfrm>
            <a:off x="467424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16</a:t>
            </a:r>
            <a:endParaRPr lang="en-US" sz="1400" b="0" u="none" strike="noStrike">
              <a:solidFill>
                <a:srgbClr val="000000"/>
              </a:solidFill>
              <a:effectLst/>
              <a:uFillTx/>
              <a:latin typeface="Arial"/>
            </a:endParaRPr>
          </a:p>
        </p:txBody>
      </p:sp>
      <p:sp>
        <p:nvSpPr>
          <p:cNvPr id="273" name="CLK01"/>
          <p:cNvSpPr/>
          <p:nvPr/>
        </p:nvSpPr>
        <p:spPr>
          <a:xfrm>
            <a:off x="1230840" y="190152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i="1" u="none" strike="noStrike">
                <a:solidFill>
                  <a:srgbClr val="C0201B"/>
                </a:solidFill>
                <a:effectLst/>
                <a:uFillTx/>
                <a:latin typeface="Calibri"/>
              </a:rPr>
              <a:t>P = 2 − Q/8</a:t>
            </a:r>
            <a:endParaRPr lang="en-US" sz="1700" b="0" u="none" strike="noStrike">
              <a:solidFill>
                <a:srgbClr val="000000"/>
              </a:solidFill>
              <a:effectLst/>
              <a:uFillTx/>
              <a:latin typeface="Arial"/>
            </a:endParaRPr>
          </a:p>
        </p:txBody>
      </p:sp>
      <p:pic>
        <p:nvPicPr>
          <p:cNvPr id="274" name="CLK00" descr="s13_0.png"/>
          <p:cNvPicPr/>
          <p:nvPr/>
        </p:nvPicPr>
        <p:blipFill>
          <a:blip r:embed="rId3"/>
          <a:stretch/>
        </p:blipFill>
        <p:spPr>
          <a:xfrm>
            <a:off x="7223760" y="3063240"/>
            <a:ext cx="3931560" cy="2717280"/>
          </a:xfrm>
          <a:prstGeom prst="rect">
            <a:avLst/>
          </a:prstGeom>
          <a:noFill/>
          <a:ln w="0">
            <a:noFill/>
          </a:ln>
          <a:effectLst>
            <a:outerShdw blurRad="39960" dist="24840" dir="5400000" rotWithShape="0">
              <a:srgbClr val="000000">
                <a:alpha val="30000"/>
              </a:srgbClr>
            </a:outerShdw>
          </a:effectLst>
        </p:spPr>
      </p:pic>
      <p:sp>
        <p:nvSpPr>
          <p:cNvPr id="275" name="CLK04"/>
          <p:cNvSpPr/>
          <p:nvPr/>
        </p:nvSpPr>
        <p:spPr>
          <a:xfrm>
            <a:off x="7315200" y="1645920"/>
            <a:ext cx="4023000" cy="914040"/>
          </a:xfrm>
          <a:prstGeom prst="rect">
            <a:avLst/>
          </a:prstGeom>
          <a:solidFill>
            <a:srgbClr val="FFFFFF"/>
          </a:solidFill>
          <a:ln w="25400">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6" name="CLK04"/>
          <p:cNvSpPr/>
          <p:nvPr/>
        </p:nvSpPr>
        <p:spPr>
          <a:xfrm>
            <a:off x="7315200" y="1645920"/>
            <a:ext cx="40230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700" b="1" u="none" strike="noStrike">
                <a:solidFill>
                  <a:srgbClr val="C0201B"/>
                </a:solidFill>
                <a:effectLst/>
                <a:uFillTx/>
                <a:latin typeface="Calibri"/>
              </a:rPr>
              <a:t>Could Netflix do better than simple price?</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27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300" b="1" u="none" strike="noStrike">
                <a:solidFill>
                  <a:srgbClr val="0B2B4E"/>
                </a:solidFill>
                <a:effectLst/>
                <a:uFillTx/>
                <a:latin typeface="Calibri"/>
              </a:rPr>
              <a:t>Example: Netflix — Volume Pricing: Flat Fee (MC = 0)</a:t>
            </a:r>
            <a:endParaRPr lang="en-US" sz="2300" b="0" u="none" strike="noStrike">
              <a:solidFill>
                <a:srgbClr val="000000"/>
              </a:solidFill>
              <a:effectLst/>
              <a:uFillTx/>
              <a:latin typeface="Arial"/>
            </a:endParaRPr>
          </a:p>
        </p:txBody>
      </p:sp>
      <p:sp>
        <p:nvSpPr>
          <p:cNvPr id="28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8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14</a:t>
            </a:r>
            <a:endParaRPr lang="en-US" sz="1200" b="0" u="none" strike="noStrike">
              <a:solidFill>
                <a:srgbClr val="000000"/>
              </a:solidFill>
              <a:effectLst/>
              <a:uFillTx/>
              <a:latin typeface="Arial"/>
            </a:endParaRPr>
          </a:p>
        </p:txBody>
      </p:sp>
      <p:cxnSp>
        <p:nvCxnSpPr>
          <p:cNvPr id="286" name="Connector 10"/>
          <p:cNvCxnSpPr/>
          <p:nvPr/>
        </p:nvCxnSpPr>
        <p:spPr>
          <a:xfrm flipV="1">
            <a:off x="777240" y="1280160"/>
            <a:ext cx="720" cy="4938120"/>
          </a:xfrm>
          <a:prstGeom prst="straightConnector1">
            <a:avLst/>
          </a:prstGeom>
          <a:ln w="25400">
            <a:solidFill>
              <a:srgbClr val="0B2B4E"/>
            </a:solidFill>
            <a:round/>
            <a:tailEnd type="triangle" w="med" len="med"/>
          </a:ln>
        </p:spPr>
      </p:cxnSp>
      <p:cxnSp>
        <p:nvCxnSpPr>
          <p:cNvPr id="287" name="Connector 11"/>
          <p:cNvCxnSpPr/>
          <p:nvPr/>
        </p:nvCxnSpPr>
        <p:spPr>
          <a:xfrm>
            <a:off x="777240" y="6217920"/>
            <a:ext cx="5074920" cy="720"/>
          </a:xfrm>
          <a:prstGeom prst="straightConnector1">
            <a:avLst/>
          </a:prstGeom>
          <a:ln w="25400">
            <a:solidFill>
              <a:srgbClr val="0B2B4E"/>
            </a:solidFill>
            <a:round/>
            <a:tailEnd type="triangle" w="med" len="med"/>
          </a:ln>
        </p:spPr>
      </p:cxnSp>
      <p:sp>
        <p:nvSpPr>
          <p:cNvPr id="288" name="TextBox 12"/>
          <p:cNvSpPr/>
          <p:nvPr/>
        </p:nvSpPr>
        <p:spPr>
          <a:xfrm>
            <a:off x="472680" y="115218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dirty="0">
                <a:solidFill>
                  <a:srgbClr val="0B2B4E"/>
                </a:solidFill>
                <a:effectLst/>
                <a:uFillTx/>
                <a:latin typeface="Calibri"/>
              </a:rPr>
              <a:t>P</a:t>
            </a:r>
            <a:endParaRPr lang="en-US" sz="1800" b="0" u="none" strike="noStrike" dirty="0">
              <a:solidFill>
                <a:srgbClr val="000000"/>
              </a:solidFill>
              <a:effectLst/>
              <a:uFillTx/>
              <a:latin typeface="Arial"/>
            </a:endParaRPr>
          </a:p>
        </p:txBody>
      </p:sp>
      <p:sp>
        <p:nvSpPr>
          <p:cNvPr id="289" name="TextBox 13"/>
          <p:cNvSpPr/>
          <p:nvPr/>
        </p:nvSpPr>
        <p:spPr>
          <a:xfrm>
            <a:off x="5760720" y="627264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Movies</a:t>
            </a:r>
            <a:endParaRPr lang="en-US" sz="1800" b="0" u="none" strike="noStrike">
              <a:solidFill>
                <a:srgbClr val="000000"/>
              </a:solidFill>
              <a:effectLst/>
              <a:uFillTx/>
              <a:latin typeface="Arial"/>
            </a:endParaRPr>
          </a:p>
        </p:txBody>
      </p:sp>
      <p:sp>
        <p:nvSpPr>
          <p:cNvPr id="290" name="CLK01"/>
          <p:cNvSpPr/>
          <p:nvPr/>
        </p:nvSpPr>
        <p:spPr>
          <a:xfrm>
            <a:off x="777240" y="2202480"/>
            <a:ext cx="4474800" cy="4015080"/>
          </a:xfrm>
          <a:custGeom>
            <a:avLst/>
            <a:gdLst>
              <a:gd name="textAreaLeft" fmla="*/ 0 w 4474800"/>
              <a:gd name="textAreaRight" fmla="*/ 4475160 w 4474800"/>
              <a:gd name="textAreaTop" fmla="*/ 0 h 4015080"/>
              <a:gd name="textAreaBottom" fmla="*/ 4015440 h 4015080"/>
            </a:gdLst>
            <a:ahLst/>
            <a:cxnLst/>
            <a:rect l="textAreaLeft" t="textAreaTop" r="textAreaRight" b="textAreaBottom"/>
            <a:pathLst>
              <a:path w="4475181" h="4015409">
                <a:moveTo>
                  <a:pt x="0" y="4015409"/>
                </a:moveTo>
                <a:lnTo>
                  <a:pt x="0" y="0"/>
                </a:lnTo>
                <a:lnTo>
                  <a:pt x="4475181" y="4015409"/>
                </a:lnTo>
                <a:close/>
              </a:path>
            </a:pathLst>
          </a:cu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1" name="CLK00"/>
          <p:cNvSpPr/>
          <p:nvPr/>
        </p:nvSpPr>
        <p:spPr>
          <a:xfrm>
            <a:off x="777240" y="2202480"/>
            <a:ext cx="4474800" cy="4015080"/>
          </a:xfrm>
          <a:custGeom>
            <a:avLst/>
            <a:gdLst>
              <a:gd name="textAreaLeft" fmla="*/ 0 w 4474800"/>
              <a:gd name="textAreaRight" fmla="*/ 4475160 w 4474800"/>
              <a:gd name="textAreaTop" fmla="*/ 0 h 4015080"/>
              <a:gd name="textAreaBottom" fmla="*/ 4015440 h 4015080"/>
            </a:gdLst>
            <a:ahLst/>
            <a:cxnLst/>
            <a:rect l="textAreaLeft" t="textAreaTop" r="textAreaRight" b="textAreaBottom"/>
            <a:pathLst>
              <a:path w="4475181" h="4015409">
                <a:moveTo>
                  <a:pt x="0" y="0"/>
                </a:moveTo>
                <a:lnTo>
                  <a:pt x="4475181" y="4015409"/>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2" name="CLK00"/>
          <p:cNvSpPr/>
          <p:nvPr/>
        </p:nvSpPr>
        <p:spPr>
          <a:xfrm>
            <a:off x="4965120" y="5559660"/>
            <a:ext cx="6397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dirty="0">
                <a:solidFill>
                  <a:srgbClr val="C0201B"/>
                </a:solidFill>
                <a:effectLst/>
                <a:uFillTx/>
                <a:latin typeface="Calibri"/>
              </a:rPr>
              <a:t>D</a:t>
            </a:r>
            <a:endParaRPr lang="en-US" sz="1600" b="0" u="none" strike="noStrike" dirty="0">
              <a:solidFill>
                <a:srgbClr val="000000"/>
              </a:solidFill>
              <a:effectLst/>
              <a:uFillTx/>
              <a:latin typeface="Arial"/>
            </a:endParaRPr>
          </a:p>
        </p:txBody>
      </p:sp>
      <p:sp>
        <p:nvSpPr>
          <p:cNvPr id="293" name="CLK00"/>
          <p:cNvSpPr/>
          <p:nvPr/>
        </p:nvSpPr>
        <p:spPr>
          <a:xfrm>
            <a:off x="1056960" y="190152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i="1" u="none" strike="noStrike">
                <a:solidFill>
                  <a:srgbClr val="C0201B"/>
                </a:solidFill>
                <a:effectLst/>
                <a:uFillTx/>
                <a:latin typeface="Calibri"/>
              </a:rPr>
              <a:t>P = 2 − Q/8</a:t>
            </a:r>
            <a:endParaRPr lang="en-US" sz="1600" b="0" u="none" strike="noStrike">
              <a:solidFill>
                <a:srgbClr val="000000"/>
              </a:solidFill>
              <a:effectLst/>
              <a:uFillTx/>
              <a:latin typeface="Arial"/>
            </a:endParaRPr>
          </a:p>
        </p:txBody>
      </p:sp>
      <p:sp>
        <p:nvSpPr>
          <p:cNvPr id="294" name="CLK01"/>
          <p:cNvSpPr/>
          <p:nvPr/>
        </p:nvSpPr>
        <p:spPr>
          <a:xfrm>
            <a:off x="1112760" y="4812480"/>
            <a:ext cx="1737000" cy="2462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600" b="1" u="none" strike="noStrike" dirty="0">
                <a:solidFill>
                  <a:srgbClr val="0B2B4E"/>
                </a:solidFill>
                <a:effectLst/>
                <a:uFillTx/>
                <a:latin typeface="Calibri"/>
              </a:rPr>
              <a:t>Revenues</a:t>
            </a:r>
            <a:r>
              <a:rPr lang="en-US" sz="1600" dirty="0">
                <a:solidFill>
                  <a:srgbClr val="000000"/>
                </a:solidFill>
                <a:latin typeface="Arial"/>
              </a:rPr>
              <a:t> </a:t>
            </a:r>
            <a:r>
              <a:rPr lang="en-US" sz="1600" b="1" u="none" strike="noStrike" dirty="0">
                <a:solidFill>
                  <a:srgbClr val="0B2B4E"/>
                </a:solidFill>
                <a:effectLst/>
                <a:uFillTx/>
                <a:latin typeface="Calibri"/>
              </a:rPr>
              <a:t>=$16</a:t>
            </a:r>
            <a:endParaRPr lang="en-US" sz="1600" b="0" u="none" strike="noStrike" dirty="0">
              <a:solidFill>
                <a:srgbClr val="000000"/>
              </a:solidFill>
              <a:effectLst/>
              <a:uFillTx/>
              <a:latin typeface="Arial"/>
            </a:endParaRPr>
          </a:p>
        </p:txBody>
      </p:sp>
      <p:sp>
        <p:nvSpPr>
          <p:cNvPr id="295" name="CLK00"/>
          <p:cNvSpPr/>
          <p:nvPr/>
        </p:nvSpPr>
        <p:spPr>
          <a:xfrm>
            <a:off x="228600" y="20563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$2</a:t>
            </a:r>
            <a:endParaRPr lang="en-US" sz="1400" b="0" u="none" strike="noStrike">
              <a:solidFill>
                <a:srgbClr val="000000"/>
              </a:solidFill>
              <a:effectLst/>
              <a:uFillTx/>
              <a:latin typeface="Arial"/>
            </a:endParaRPr>
          </a:p>
        </p:txBody>
      </p:sp>
      <p:sp>
        <p:nvSpPr>
          <p:cNvPr id="296" name="CLK00"/>
          <p:cNvSpPr/>
          <p:nvPr/>
        </p:nvSpPr>
        <p:spPr>
          <a:xfrm>
            <a:off x="479520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16</a:t>
            </a:r>
            <a:endParaRPr lang="en-US" sz="1400" b="0" u="none" strike="noStrike">
              <a:solidFill>
                <a:srgbClr val="000000"/>
              </a:solidFill>
              <a:effectLst/>
              <a:uFillTx/>
              <a:latin typeface="Arial"/>
            </a:endParaRPr>
          </a:p>
        </p:txBody>
      </p:sp>
      <p:sp>
        <p:nvSpPr>
          <p:cNvPr id="297" name="TextBox 21"/>
          <p:cNvSpPr/>
          <p:nvPr/>
        </p:nvSpPr>
        <p:spPr>
          <a:xfrm>
            <a:off x="5943600" y="1737360"/>
            <a:ext cx="594324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001"/>
              </a:spcBef>
              <a:buClr>
                <a:srgbClr val="0B2B4E"/>
              </a:buClr>
              <a:buFont typeface="Calibri"/>
              <a:buChar char="▪"/>
            </a:pPr>
            <a:r>
              <a:rPr lang="en-US" sz="1700" b="1" u="none" strike="noStrike">
                <a:solidFill>
                  <a:srgbClr val="0B2B4E"/>
                </a:solidFill>
                <a:effectLst/>
                <a:uFillTx/>
                <a:latin typeface="Calibri"/>
              </a:rPr>
              <a:t>Yellow area</a:t>
            </a:r>
            <a:r>
              <a:rPr lang="en-US" sz="1700" b="0" u="none" strike="noStrike">
                <a:solidFill>
                  <a:srgbClr val="0B2B4E"/>
                </a:solidFill>
                <a:effectLst/>
                <a:uFillTx/>
                <a:latin typeface="Calibri"/>
              </a:rPr>
              <a:t> = total value of unlimited movies = max fee Netflix can charge</a:t>
            </a:r>
            <a:endParaRPr lang="en-US" sz="1700" b="0" u="none" strike="noStrike">
              <a:solidFill>
                <a:srgbClr val="000000"/>
              </a:solidFill>
              <a:effectLst/>
              <a:uFillTx/>
              <a:latin typeface="Arial"/>
            </a:endParaRPr>
          </a:p>
          <a:p>
            <a:pPr marL="343080" indent="-343080" defTabSz="457200">
              <a:lnSpc>
                <a:spcPct val="100000"/>
              </a:lnSpc>
              <a:spcBef>
                <a:spcPts val="1001"/>
              </a:spcBef>
              <a:buClr>
                <a:srgbClr val="0B2B4E"/>
              </a:buClr>
              <a:buFont typeface="Calibri"/>
              <a:buChar char="▪"/>
            </a:pPr>
            <a:r>
              <a:rPr lang="en-US" sz="1700" b="1" u="none" strike="noStrike">
                <a:solidFill>
                  <a:srgbClr val="0B2B4E"/>
                </a:solidFill>
                <a:effectLst/>
                <a:uFillTx/>
                <a:latin typeface="Calibri"/>
              </a:rPr>
              <a:t>Area = (16 × 2)/2 = 16</a:t>
            </a:r>
            <a:endParaRPr lang="en-US" sz="1700" b="0" u="none" strike="noStrike">
              <a:solidFill>
                <a:srgbClr val="000000"/>
              </a:solidFill>
              <a:effectLst/>
              <a:uFillTx/>
              <a:latin typeface="Arial"/>
            </a:endParaRPr>
          </a:p>
          <a:p>
            <a:pPr marL="343080" indent="-343080" defTabSz="457200">
              <a:lnSpc>
                <a:spcPct val="100000"/>
              </a:lnSpc>
              <a:spcBef>
                <a:spcPts val="1001"/>
              </a:spcBef>
              <a:buClr>
                <a:srgbClr val="0B2B4E"/>
              </a:buClr>
              <a:buFont typeface="Calibri"/>
              <a:buChar char="▪"/>
            </a:pPr>
            <a:r>
              <a:rPr lang="en-US" sz="1700" b="0" u="none" strike="noStrike">
                <a:solidFill>
                  <a:srgbClr val="0B2B4E"/>
                </a:solidFill>
                <a:effectLst/>
                <a:uFillTx/>
                <a:latin typeface="Calibri"/>
              </a:rPr>
              <a:t>A $16 flat fee for unlimited access → $16 revenue</a:t>
            </a:r>
            <a:endParaRPr lang="en-US" sz="1700" b="0" u="none" strike="noStrike">
              <a:solidFill>
                <a:srgbClr val="000000"/>
              </a:solidFill>
              <a:effectLst/>
              <a:uFillTx/>
              <a:latin typeface="Arial"/>
            </a:endParaRPr>
          </a:p>
          <a:p>
            <a:pPr marL="343080" indent="-343080" defTabSz="457200">
              <a:lnSpc>
                <a:spcPct val="100000"/>
              </a:lnSpc>
              <a:spcBef>
                <a:spcPts val="1001"/>
              </a:spcBef>
              <a:buClr>
                <a:srgbClr val="0B2B4E"/>
              </a:buClr>
              <a:buFont typeface="Calibri"/>
              <a:buChar char="▪"/>
            </a:pPr>
            <a:r>
              <a:rPr lang="en-US" sz="1700" b="0" u="none" strike="noStrike">
                <a:solidFill>
                  <a:srgbClr val="0B2B4E"/>
                </a:solidFill>
                <a:effectLst/>
                <a:uFillTx/>
                <a:latin typeface="Calibri"/>
              </a:rPr>
              <a:t>The consumer watches 16 movies</a:t>
            </a:r>
            <a:endParaRPr lang="en-US" sz="1700" b="0" u="none" strike="noStrike">
              <a:solidFill>
                <a:srgbClr val="000000"/>
              </a:solidFill>
              <a:effectLst/>
              <a:uFillTx/>
              <a:latin typeface="Arial"/>
            </a:endParaRPr>
          </a:p>
          <a:p>
            <a:pPr marL="343080" indent="-343080" defTabSz="457200">
              <a:lnSpc>
                <a:spcPct val="100000"/>
              </a:lnSpc>
              <a:spcBef>
                <a:spcPts val="1001"/>
              </a:spcBef>
              <a:buClr>
                <a:srgbClr val="0B2B4E"/>
              </a:buClr>
              <a:buFont typeface="Calibri"/>
              <a:buChar char="▪"/>
            </a:pPr>
            <a:r>
              <a:rPr lang="en-US" sz="1700" b="1" u="none" strike="noStrike">
                <a:solidFill>
                  <a:srgbClr val="C0201B"/>
                </a:solidFill>
                <a:effectLst/>
                <a:uFillTx/>
                <a:latin typeface="Calibri"/>
              </a:rPr>
              <a:t>Consumer surplus = 0</a:t>
            </a:r>
            <a:endParaRPr lang="en-US" sz="1700" b="0" u="none" strike="noStrike">
              <a:solidFill>
                <a:srgbClr val="000000"/>
              </a:solidFill>
              <a:effectLst/>
              <a:uFillTx/>
              <a:latin typeface="Arial"/>
            </a:endParaRPr>
          </a:p>
          <a:p>
            <a:pPr marL="343080" indent="-343080" defTabSz="457200">
              <a:lnSpc>
                <a:spcPct val="100000"/>
              </a:lnSpc>
              <a:spcBef>
                <a:spcPts val="1001"/>
              </a:spcBef>
              <a:buClr>
                <a:srgbClr val="0B2B4E"/>
              </a:buClr>
              <a:buFont typeface="Calibri"/>
              <a:buChar char="▪"/>
            </a:pPr>
            <a:r>
              <a:rPr lang="en-US" sz="1700" b="0" u="none" strike="noStrike">
                <a:solidFill>
                  <a:srgbClr val="0B2B4E"/>
                </a:solidFill>
                <a:effectLst/>
                <a:uFillTx/>
                <a:latin typeface="Calibri"/>
              </a:rPr>
              <a:t>Only makes sense when MC = 0</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30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Netflix Pricing Strategy</a:t>
            </a:r>
            <a:endParaRPr lang="en-US" sz="3200" b="0" u="none" strike="noStrike">
              <a:solidFill>
                <a:srgbClr val="000000"/>
              </a:solidFill>
              <a:effectLst/>
              <a:uFillTx/>
              <a:latin typeface="Arial"/>
            </a:endParaRPr>
          </a:p>
        </p:txBody>
      </p:sp>
      <p:sp>
        <p:nvSpPr>
          <p:cNvPr id="30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0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15</a:t>
            </a:r>
            <a:endParaRPr lang="en-US" sz="1200" b="0" u="none" strike="noStrike">
              <a:solidFill>
                <a:srgbClr val="000000"/>
              </a:solidFill>
              <a:effectLst/>
              <a:uFillTx/>
              <a:latin typeface="Arial"/>
            </a:endParaRPr>
          </a:p>
        </p:txBody>
      </p:sp>
      <p:sp>
        <p:nvSpPr>
          <p:cNvPr id="307" name="Picture 10" descr="body_15.png"/>
          <p:cNvSpPr/>
          <p:nvPr/>
        </p:nvSpPr>
        <p:spPr>
          <a:xfrm>
            <a:off x="2267640" y="1783080"/>
            <a:ext cx="6928200" cy="42973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TextBox 11"/>
          <p:cNvSpPr/>
          <p:nvPr/>
        </p:nvSpPr>
        <p:spPr>
          <a:xfrm>
            <a:off x="2743200" y="61722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1" u="sng" strike="noStrike">
                <a:solidFill>
                  <a:srgbClr val="0000FF"/>
                </a:solidFill>
                <a:effectLst/>
                <a:uFillTx/>
                <a:latin typeface="Calibri"/>
                <a:hlinkClick r:id="rId4"/>
              </a:rPr>
              <a:t>▶  Watch: Netflix price hikes &amp; subscriber growth (Yahoo Finance)</a:t>
            </a:r>
            <a:endParaRPr lang="en-US" sz="15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31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ClassPass Pricing Strategy</a:t>
            </a:r>
            <a:endParaRPr lang="en-US" sz="3200" b="0" u="none" strike="noStrike">
              <a:solidFill>
                <a:srgbClr val="000000"/>
              </a:solidFill>
              <a:effectLst/>
              <a:uFillTx/>
              <a:latin typeface="Arial"/>
            </a:endParaRPr>
          </a:p>
        </p:txBody>
      </p:sp>
      <p:sp>
        <p:nvSpPr>
          <p:cNvPr id="31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1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16</a:t>
            </a:r>
            <a:endParaRPr lang="en-US" sz="1200" b="0" u="none" strike="noStrike">
              <a:solidFill>
                <a:srgbClr val="000000"/>
              </a:solidFill>
              <a:effectLst/>
              <a:uFillTx/>
              <a:latin typeface="Arial"/>
            </a:endParaRPr>
          </a:p>
        </p:txBody>
      </p:sp>
      <p:sp>
        <p:nvSpPr>
          <p:cNvPr id="318" name="Picture 10" descr="body_16.png"/>
          <p:cNvSpPr/>
          <p:nvPr/>
        </p:nvSpPr>
        <p:spPr>
          <a:xfrm>
            <a:off x="2249280" y="1554480"/>
            <a:ext cx="7723440" cy="47545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2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32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 of Module 6</a:t>
            </a:r>
            <a:endParaRPr lang="en-US" sz="3200" b="0" u="none" strike="noStrike">
              <a:solidFill>
                <a:srgbClr val="000000"/>
              </a:solidFill>
              <a:effectLst/>
              <a:uFillTx/>
              <a:latin typeface="Arial"/>
            </a:endParaRPr>
          </a:p>
        </p:txBody>
      </p:sp>
      <p:sp>
        <p:nvSpPr>
          <p:cNvPr id="32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2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2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2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2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2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17</a:t>
            </a:r>
            <a:endParaRPr lang="en-US" sz="1200" b="0" u="none" strike="noStrike">
              <a:solidFill>
                <a:srgbClr val="000000"/>
              </a:solidFill>
              <a:effectLst/>
              <a:uFillTx/>
              <a:latin typeface="Arial"/>
            </a:endParaRPr>
          </a:p>
        </p:txBody>
      </p:sp>
      <p:sp>
        <p:nvSpPr>
          <p:cNvPr id="328"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329"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330"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331" name="Oval 13"/>
          <p:cNvSpPr/>
          <p:nvPr/>
        </p:nvSpPr>
        <p:spPr>
          <a:xfrm>
            <a:off x="1234440" y="254196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332"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Direct price discrimination</a:t>
            </a:r>
            <a:endParaRPr lang="en-US" sz="2200" b="0" u="none" strike="noStrike">
              <a:solidFill>
                <a:srgbClr val="000000"/>
              </a:solidFill>
              <a:effectLst/>
              <a:uFillTx/>
              <a:latin typeface="Arial"/>
            </a:endParaRPr>
          </a:p>
        </p:txBody>
      </p:sp>
      <p:sp>
        <p:nvSpPr>
          <p:cNvPr id="333"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334" name="Oval 16"/>
          <p:cNvSpPr/>
          <p:nvPr/>
        </p:nvSpPr>
        <p:spPr>
          <a:xfrm>
            <a:off x="1234440" y="34380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335" name="TextBox 17"/>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Indirect price discrimination</a:t>
            </a:r>
            <a:endParaRPr lang="en-US" sz="2200" b="0" u="none" strike="noStrike">
              <a:solidFill>
                <a:srgbClr val="000000"/>
              </a:solidFill>
              <a:effectLst/>
              <a:uFillTx/>
              <a:latin typeface="Arial"/>
            </a:endParaRPr>
          </a:p>
        </p:txBody>
      </p:sp>
      <p:sp>
        <p:nvSpPr>
          <p:cNvPr id="336" name="TextBox 18"/>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337" name="Rounded Rectangle 19"/>
          <p:cNvSpPr/>
          <p:nvPr/>
        </p:nvSpPr>
        <p:spPr>
          <a:xfrm>
            <a:off x="978480" y="419724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8" name="Oval 20"/>
          <p:cNvSpPr/>
          <p:nvPr/>
        </p:nvSpPr>
        <p:spPr>
          <a:xfrm>
            <a:off x="1234440" y="433440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FFFFFF"/>
              </a:solidFill>
              <a:effectLst/>
              <a:uFillTx/>
              <a:latin typeface="Arial"/>
            </a:endParaRPr>
          </a:p>
        </p:txBody>
      </p:sp>
      <p:sp>
        <p:nvSpPr>
          <p:cNvPr id="339"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Advanced pricing strategies</a:t>
            </a:r>
            <a:endParaRPr lang="en-US" sz="2200" b="0" u="none" strike="noStrike">
              <a:solidFill>
                <a:srgbClr val="000000"/>
              </a:solidFill>
              <a:effectLst/>
              <a:uFillTx/>
              <a:latin typeface="Arial"/>
            </a:endParaRPr>
          </a:p>
        </p:txBody>
      </p:sp>
      <p:sp>
        <p:nvSpPr>
          <p:cNvPr id="340"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341"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342"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343"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34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Two-Part Tariff</a:t>
            </a:r>
            <a:endParaRPr lang="en-US" sz="3200" b="0" u="none" strike="noStrike">
              <a:solidFill>
                <a:srgbClr val="000000"/>
              </a:solidFill>
              <a:effectLst/>
              <a:uFillTx/>
              <a:latin typeface="Arial"/>
            </a:endParaRPr>
          </a:p>
        </p:txBody>
      </p:sp>
      <p:sp>
        <p:nvSpPr>
          <p:cNvPr id="34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5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18</a:t>
            </a:r>
            <a:endParaRPr lang="en-US" sz="1200" b="0" u="none" strike="noStrike">
              <a:solidFill>
                <a:srgbClr val="000000"/>
              </a:solidFill>
              <a:effectLst/>
              <a:uFillTx/>
              <a:latin typeface="Arial"/>
            </a:endParaRPr>
          </a:p>
        </p:txBody>
      </p:sp>
      <p:sp>
        <p:nvSpPr>
          <p:cNvPr id="353" name="TXBLD_10001010"/>
          <p:cNvSpPr/>
          <p:nvPr/>
        </p:nvSpPr>
        <p:spPr>
          <a:xfrm>
            <a:off x="502920" y="1463040"/>
            <a:ext cx="11155320" cy="493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Set a flat fee (</a:t>
            </a:r>
            <a:r>
              <a:rPr lang="en-US" sz="2100" b="1" i="1" u="none" strike="noStrike">
                <a:solidFill>
                  <a:srgbClr val="0B2B4E"/>
                </a:solidFill>
                <a:effectLst/>
                <a:uFillTx/>
                <a:latin typeface="Calibri"/>
              </a:rPr>
              <a:t>T</a:t>
            </a:r>
            <a:r>
              <a:rPr lang="en-US" sz="2100" b="0" u="none" strike="noStrike">
                <a:solidFill>
                  <a:srgbClr val="0B2B4E"/>
                </a:solidFill>
                <a:effectLst/>
                <a:uFillTx/>
                <a:latin typeface="Calibri"/>
              </a:rPr>
              <a:t>) and a usage fee (</a:t>
            </a:r>
            <a:r>
              <a:rPr lang="en-US" sz="2100" b="1" i="1" u="none" strike="noStrike">
                <a:solidFill>
                  <a:srgbClr val="0B2B4E"/>
                </a:solidFill>
                <a:effectLst/>
                <a:uFillTx/>
                <a:latin typeface="Calibri"/>
              </a:rPr>
              <a:t>P</a:t>
            </a:r>
            <a:r>
              <a:rPr lang="en-US" sz="2100" b="0" u="none" strike="noStrike">
                <a:solidFill>
                  <a:srgbClr val="0B2B4E"/>
                </a:solidFill>
                <a:effectLst/>
                <a:uFillTx/>
                <a:latin typeface="Calibri"/>
              </a:rPr>
              <a:t>)</a:t>
            </a:r>
            <a:endParaRPr lang="en-US" sz="21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Video game systems: console (fixed fee), games (per-unit price)</a:t>
            </a:r>
            <a:endParaRPr lang="en-US" sz="17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Zipcar: annual membership (fixed fee), hourly rental (per-unit price)</a:t>
            </a:r>
            <a:endParaRPr lang="en-US" sz="17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Amazon Prime: yearly charge (fixed fee), purchases (per-unit price)</a:t>
            </a:r>
            <a:endParaRPr lang="en-US" sz="17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Set the usage fee </a:t>
            </a:r>
            <a:r>
              <a:rPr lang="en-US" sz="2100" b="1" u="none" strike="noStrike">
                <a:solidFill>
                  <a:srgbClr val="0B2B4E"/>
                </a:solidFill>
                <a:effectLst/>
                <a:uFillTx/>
                <a:latin typeface="Calibri"/>
              </a:rPr>
              <a:t>P* = MC</a:t>
            </a:r>
            <a:endParaRPr lang="en-US" sz="21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Avoids excessive use</a:t>
            </a:r>
            <a:endParaRPr lang="en-US" sz="17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100" b="0" u="none" strike="noStrike">
                <a:solidFill>
                  <a:srgbClr val="0B2B4E"/>
                </a:solidFill>
                <a:effectLst/>
                <a:uFillTx/>
                <a:latin typeface="Calibri"/>
              </a:rPr>
              <a:t>Set the flat fee </a:t>
            </a:r>
            <a:r>
              <a:rPr lang="en-US" sz="2100" b="1" u="none" strike="noStrike">
                <a:solidFill>
                  <a:srgbClr val="0B2B4E"/>
                </a:solidFill>
                <a:effectLst/>
                <a:uFillTx/>
                <a:latin typeface="Calibri"/>
              </a:rPr>
              <a:t>T* = entire consumer surplus</a:t>
            </a:r>
            <a:r>
              <a:rPr lang="en-US" sz="2100" b="0" u="none" strike="noStrike">
                <a:solidFill>
                  <a:srgbClr val="0B2B4E"/>
                </a:solidFill>
                <a:effectLst/>
                <a:uFillTx/>
                <a:latin typeface="Calibri"/>
              </a:rPr>
              <a:t>  =  (Pmax − P*)·Q / 2</a:t>
            </a:r>
            <a:endParaRPr lang="en-US" sz="21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700" b="0" u="none" strike="noStrike">
                <a:solidFill>
                  <a:srgbClr val="555B66"/>
                </a:solidFill>
                <a:effectLst/>
                <a:uFillTx/>
                <a:latin typeface="Calibri"/>
              </a:rPr>
              <a:t>Q is where MC intersects D — plug P* into the demand equation</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35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Two-Part Tariff</a:t>
            </a:r>
            <a:endParaRPr lang="en-US" sz="3200" b="0" u="none" strike="noStrike">
              <a:solidFill>
                <a:srgbClr val="000000"/>
              </a:solidFill>
              <a:effectLst/>
              <a:uFillTx/>
              <a:latin typeface="Arial"/>
            </a:endParaRPr>
          </a:p>
        </p:txBody>
      </p:sp>
      <p:sp>
        <p:nvSpPr>
          <p:cNvPr id="35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6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19</a:t>
            </a:r>
            <a:endParaRPr lang="en-US" sz="1200" b="0" u="none" strike="noStrike">
              <a:solidFill>
                <a:srgbClr val="000000"/>
              </a:solidFill>
              <a:effectLst/>
              <a:uFillTx/>
              <a:latin typeface="Arial"/>
            </a:endParaRPr>
          </a:p>
        </p:txBody>
      </p:sp>
      <p:cxnSp>
        <p:nvCxnSpPr>
          <p:cNvPr id="363" name="Connector 10"/>
          <p:cNvCxnSpPr/>
          <p:nvPr/>
        </p:nvCxnSpPr>
        <p:spPr>
          <a:xfrm flipV="1">
            <a:off x="822960" y="1416960"/>
            <a:ext cx="720" cy="4801320"/>
          </a:xfrm>
          <a:prstGeom prst="straightConnector1">
            <a:avLst/>
          </a:prstGeom>
          <a:ln w="25400">
            <a:solidFill>
              <a:srgbClr val="0B2B4E"/>
            </a:solidFill>
            <a:round/>
            <a:tailEnd type="triangle" w="med" len="med"/>
          </a:ln>
        </p:spPr>
      </p:cxnSp>
      <p:cxnSp>
        <p:nvCxnSpPr>
          <p:cNvPr id="364" name="Connector 11"/>
          <p:cNvCxnSpPr/>
          <p:nvPr/>
        </p:nvCxnSpPr>
        <p:spPr>
          <a:xfrm>
            <a:off x="822960" y="6217920"/>
            <a:ext cx="5806800" cy="720"/>
          </a:xfrm>
          <a:prstGeom prst="straightConnector1">
            <a:avLst/>
          </a:prstGeom>
          <a:ln w="25400">
            <a:solidFill>
              <a:srgbClr val="0B2B4E"/>
            </a:solidFill>
            <a:round/>
            <a:tailEnd type="triangle" w="med" len="med"/>
          </a:ln>
        </p:spPr>
      </p:cxnSp>
      <p:sp>
        <p:nvSpPr>
          <p:cNvPr id="365" name="TextBox 12"/>
          <p:cNvSpPr/>
          <p:nvPr/>
        </p:nvSpPr>
        <p:spPr>
          <a:xfrm>
            <a:off x="548460" y="127926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dirty="0">
                <a:solidFill>
                  <a:srgbClr val="0B2B4E"/>
                </a:solidFill>
                <a:effectLst/>
                <a:uFillTx/>
                <a:latin typeface="Calibri"/>
              </a:rPr>
              <a:t>P</a:t>
            </a:r>
            <a:endParaRPr lang="en-US" sz="1800" b="0" u="none" strike="noStrike" dirty="0">
              <a:solidFill>
                <a:srgbClr val="000000"/>
              </a:solidFill>
              <a:effectLst/>
              <a:uFillTx/>
              <a:latin typeface="Arial"/>
            </a:endParaRPr>
          </a:p>
        </p:txBody>
      </p:sp>
      <p:sp>
        <p:nvSpPr>
          <p:cNvPr id="366" name="TextBox 13"/>
          <p:cNvSpPr/>
          <p:nvPr/>
        </p:nvSpPr>
        <p:spPr>
          <a:xfrm>
            <a:off x="6537960" y="627264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367" name="CLK01"/>
          <p:cNvSpPr/>
          <p:nvPr/>
        </p:nvSpPr>
        <p:spPr>
          <a:xfrm>
            <a:off x="822960" y="2185560"/>
            <a:ext cx="3291480" cy="2688120"/>
          </a:xfrm>
          <a:custGeom>
            <a:avLst/>
            <a:gdLst>
              <a:gd name="textAreaLeft" fmla="*/ 0 w 3291480"/>
              <a:gd name="textAreaRight" fmla="*/ 3291840 w 3291480"/>
              <a:gd name="textAreaTop" fmla="*/ 0 h 2688120"/>
              <a:gd name="textAreaBottom" fmla="*/ 2688480 h 2688120"/>
            </a:gdLst>
            <a:ahLst/>
            <a:cxnLst/>
            <a:rect l="textAreaLeft" t="textAreaTop" r="textAreaRight" b="textAreaBottom"/>
            <a:pathLst>
              <a:path w="3291840" h="2688336">
                <a:moveTo>
                  <a:pt x="0" y="0"/>
                </a:moveTo>
                <a:lnTo>
                  <a:pt x="0" y="2688336"/>
                </a:lnTo>
                <a:lnTo>
                  <a:pt x="3291840" y="2688336"/>
                </a:lnTo>
                <a:close/>
              </a:path>
            </a:pathLst>
          </a:cu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cxnSp>
        <p:nvCxnSpPr>
          <p:cNvPr id="368" name="CLK00"/>
          <p:cNvCxnSpPr/>
          <p:nvPr/>
        </p:nvCxnSpPr>
        <p:spPr>
          <a:xfrm>
            <a:off x="822960" y="4873680"/>
            <a:ext cx="5102640" cy="720"/>
          </a:xfrm>
          <a:prstGeom prst="straightConnector1">
            <a:avLst/>
          </a:prstGeom>
          <a:ln w="38100">
            <a:solidFill>
              <a:srgbClr val="9BB8D6"/>
            </a:solidFill>
            <a:round/>
          </a:ln>
        </p:spPr>
      </p:cxnSp>
      <p:sp>
        <p:nvSpPr>
          <p:cNvPr id="369" name="CLK00"/>
          <p:cNvSpPr/>
          <p:nvPr/>
        </p:nvSpPr>
        <p:spPr>
          <a:xfrm>
            <a:off x="822960" y="2185560"/>
            <a:ext cx="4937400" cy="4032000"/>
          </a:xfrm>
          <a:custGeom>
            <a:avLst/>
            <a:gdLst>
              <a:gd name="textAreaLeft" fmla="*/ 0 w 4937400"/>
              <a:gd name="textAreaRight" fmla="*/ 4937760 w 4937400"/>
              <a:gd name="textAreaTop" fmla="*/ 0 h 4032000"/>
              <a:gd name="textAreaBottom" fmla="*/ 4032360 h 4032000"/>
            </a:gdLst>
            <a:ahLst/>
            <a:cxnLst/>
            <a:rect l="textAreaLeft" t="textAreaTop" r="textAreaRight" b="textAreaBottom"/>
            <a:pathLst>
              <a:path w="4937760" h="4032504">
                <a:moveTo>
                  <a:pt x="0" y="0"/>
                </a:moveTo>
                <a:lnTo>
                  <a:pt x="4937760" y="4032504"/>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0" name="CLK00"/>
          <p:cNvSpPr/>
          <p:nvPr/>
        </p:nvSpPr>
        <p:spPr>
          <a:xfrm>
            <a:off x="5742180" y="5824260"/>
            <a:ext cx="6397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dirty="0">
                <a:solidFill>
                  <a:srgbClr val="C0201B"/>
                </a:solidFill>
                <a:effectLst/>
                <a:uFillTx/>
                <a:latin typeface="Calibri"/>
              </a:rPr>
              <a:t>D</a:t>
            </a:r>
            <a:endParaRPr lang="en-US" sz="1600" b="0" u="none" strike="noStrike" dirty="0">
              <a:solidFill>
                <a:srgbClr val="000000"/>
              </a:solidFill>
              <a:effectLst/>
              <a:uFillTx/>
              <a:latin typeface="Arial"/>
            </a:endParaRPr>
          </a:p>
        </p:txBody>
      </p:sp>
      <p:sp>
        <p:nvSpPr>
          <p:cNvPr id="371" name="CLK01"/>
          <p:cNvSpPr/>
          <p:nvPr/>
        </p:nvSpPr>
        <p:spPr>
          <a:xfrm>
            <a:off x="1097280" y="3708720"/>
            <a:ext cx="1096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000" b="1" i="1" u="none" strike="noStrike">
                <a:solidFill>
                  <a:srgbClr val="0B2B4E"/>
                </a:solidFill>
                <a:effectLst/>
                <a:uFillTx/>
                <a:latin typeface="Calibri"/>
              </a:rPr>
              <a:t>T*</a:t>
            </a:r>
            <a:endParaRPr lang="en-US" sz="2000" b="0" u="none" strike="noStrike">
              <a:solidFill>
                <a:srgbClr val="000000"/>
              </a:solidFill>
              <a:effectLst/>
              <a:uFillTx/>
              <a:latin typeface="Arial"/>
            </a:endParaRPr>
          </a:p>
        </p:txBody>
      </p:sp>
      <p:sp>
        <p:nvSpPr>
          <p:cNvPr id="372" name="CLK00"/>
          <p:cNvSpPr/>
          <p:nvPr/>
        </p:nvSpPr>
        <p:spPr>
          <a:xfrm>
            <a:off x="274320" y="47275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a:t>
            </a:r>
            <a:endParaRPr lang="en-US" sz="1400" b="0" u="none" strike="noStrike">
              <a:solidFill>
                <a:srgbClr val="000000"/>
              </a:solidFill>
              <a:effectLst/>
              <a:uFillTx/>
              <a:latin typeface="Arial"/>
            </a:endParaRPr>
          </a:p>
        </p:txBody>
      </p:sp>
      <p:sp>
        <p:nvSpPr>
          <p:cNvPr id="373" name="CLK00"/>
          <p:cNvSpPr/>
          <p:nvPr/>
        </p:nvSpPr>
        <p:spPr>
          <a:xfrm>
            <a:off x="5784120" y="457182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400" b="0" i="1" u="none" strike="noStrike" dirty="0">
                <a:solidFill>
                  <a:srgbClr val="0B2B4E"/>
                </a:solidFill>
                <a:effectLst/>
                <a:uFillTx/>
                <a:latin typeface="Calibri"/>
              </a:rPr>
              <a:t>MC</a:t>
            </a:r>
            <a:endParaRPr lang="en-US" sz="1400" b="0" u="none" strike="noStrike" dirty="0">
              <a:solidFill>
                <a:srgbClr val="000000"/>
              </a:solidFill>
              <a:effectLst/>
              <a:uFillTx/>
              <a:latin typeface="Arial"/>
            </a:endParaRPr>
          </a:p>
        </p:txBody>
      </p:sp>
      <p:sp>
        <p:nvSpPr>
          <p:cNvPr id="374" name="TextBox 21"/>
          <p:cNvSpPr/>
          <p:nvPr/>
        </p:nvSpPr>
        <p:spPr>
          <a:xfrm>
            <a:off x="6766560" y="2194560"/>
            <a:ext cx="512028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599"/>
              </a:spcBef>
              <a:buClr>
                <a:srgbClr val="0B2B4E"/>
              </a:buClr>
              <a:buFont typeface="Calibri"/>
              <a:buChar char="▪"/>
            </a:pPr>
            <a:r>
              <a:rPr lang="en-US" sz="1900" b="0" u="none" strike="noStrike">
                <a:solidFill>
                  <a:srgbClr val="0B2B4E"/>
                </a:solidFill>
                <a:effectLst/>
                <a:uFillTx/>
                <a:latin typeface="Calibri"/>
              </a:rPr>
              <a:t>Flat fee </a:t>
            </a:r>
            <a:r>
              <a:rPr lang="en-US" sz="1900" b="1" i="1" u="none" strike="noStrike">
                <a:solidFill>
                  <a:srgbClr val="0B2B4E"/>
                </a:solidFill>
                <a:effectLst/>
                <a:uFillTx/>
                <a:latin typeface="Calibri"/>
              </a:rPr>
              <a:t>T*</a:t>
            </a:r>
            <a:r>
              <a:rPr lang="en-US" sz="1900" b="0" u="none" strike="noStrike">
                <a:solidFill>
                  <a:srgbClr val="0B2B4E"/>
                </a:solidFill>
                <a:effectLst/>
                <a:uFillTx/>
                <a:latin typeface="Calibri"/>
              </a:rPr>
              <a:t> = the entire consumer surplus</a:t>
            </a:r>
            <a:endParaRPr lang="en-US" sz="19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1900" b="0" u="none" strike="noStrike">
                <a:solidFill>
                  <a:srgbClr val="0B2B4E"/>
                </a:solidFill>
                <a:effectLst/>
                <a:uFillTx/>
                <a:latin typeface="Calibri"/>
              </a:rPr>
              <a:t>Usage fee </a:t>
            </a:r>
            <a:r>
              <a:rPr lang="en-US" sz="1900" b="1" i="1" u="none" strike="noStrike">
                <a:solidFill>
                  <a:srgbClr val="0B2B4E"/>
                </a:solidFill>
                <a:effectLst/>
                <a:uFillTx/>
                <a:latin typeface="Calibri"/>
              </a:rPr>
              <a:t>P*</a:t>
            </a:r>
            <a:r>
              <a:rPr lang="en-US" sz="1900" b="0" u="none" strike="noStrike">
                <a:solidFill>
                  <a:srgbClr val="0B2B4E"/>
                </a:solidFill>
                <a:effectLst/>
                <a:uFillTx/>
                <a:latin typeface="Calibri"/>
              </a:rPr>
              <a:t> = the marginal cost (MC)</a:t>
            </a:r>
            <a:endParaRPr lang="en-US" sz="19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7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37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 of Module 6</a:t>
            </a:r>
            <a:endParaRPr lang="en-US" sz="3200" b="0" u="none" strike="noStrike">
              <a:solidFill>
                <a:srgbClr val="000000"/>
              </a:solidFill>
              <a:effectLst/>
              <a:uFillTx/>
              <a:latin typeface="Arial"/>
            </a:endParaRPr>
          </a:p>
        </p:txBody>
      </p:sp>
      <p:sp>
        <p:nvSpPr>
          <p:cNvPr id="37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7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8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20</a:t>
            </a:r>
            <a:endParaRPr lang="en-US" sz="1200" b="0" u="none" strike="noStrike">
              <a:solidFill>
                <a:srgbClr val="000000"/>
              </a:solidFill>
              <a:effectLst/>
              <a:uFillTx/>
              <a:latin typeface="Arial"/>
            </a:endParaRPr>
          </a:p>
        </p:txBody>
      </p:sp>
      <p:sp>
        <p:nvSpPr>
          <p:cNvPr id="384"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385"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386"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387" name="Oval 13"/>
          <p:cNvSpPr/>
          <p:nvPr/>
        </p:nvSpPr>
        <p:spPr>
          <a:xfrm>
            <a:off x="1234440" y="254196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388"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Direct price discrimination</a:t>
            </a:r>
            <a:endParaRPr lang="en-US" sz="2200" b="0" u="none" strike="noStrike">
              <a:solidFill>
                <a:srgbClr val="000000"/>
              </a:solidFill>
              <a:effectLst/>
              <a:uFillTx/>
              <a:latin typeface="Arial"/>
            </a:endParaRPr>
          </a:p>
        </p:txBody>
      </p:sp>
      <p:sp>
        <p:nvSpPr>
          <p:cNvPr id="389"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390" name="Oval 16"/>
          <p:cNvSpPr/>
          <p:nvPr/>
        </p:nvSpPr>
        <p:spPr>
          <a:xfrm>
            <a:off x="1234440" y="34380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391" name="TextBox 17"/>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Indirect price discrimination</a:t>
            </a:r>
            <a:endParaRPr lang="en-US" sz="2200" b="0" u="none" strike="noStrike">
              <a:solidFill>
                <a:srgbClr val="000000"/>
              </a:solidFill>
              <a:effectLst/>
              <a:uFillTx/>
              <a:latin typeface="Arial"/>
            </a:endParaRPr>
          </a:p>
        </p:txBody>
      </p:sp>
      <p:sp>
        <p:nvSpPr>
          <p:cNvPr id="392" name="TextBox 18"/>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393" name="Rounded Rectangle 19"/>
          <p:cNvSpPr/>
          <p:nvPr/>
        </p:nvSpPr>
        <p:spPr>
          <a:xfrm>
            <a:off x="978480" y="419724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94" name="Oval 20"/>
          <p:cNvSpPr/>
          <p:nvPr/>
        </p:nvSpPr>
        <p:spPr>
          <a:xfrm>
            <a:off x="1234440" y="433440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FFFFFF"/>
              </a:solidFill>
              <a:effectLst/>
              <a:uFillTx/>
              <a:latin typeface="Arial"/>
            </a:endParaRPr>
          </a:p>
        </p:txBody>
      </p:sp>
      <p:sp>
        <p:nvSpPr>
          <p:cNvPr id="395"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Advanced pricing strategies</a:t>
            </a:r>
            <a:endParaRPr lang="en-US" sz="2200" b="0" u="none" strike="noStrike">
              <a:solidFill>
                <a:srgbClr val="000000"/>
              </a:solidFill>
              <a:effectLst/>
              <a:uFillTx/>
              <a:latin typeface="Arial"/>
            </a:endParaRPr>
          </a:p>
        </p:txBody>
      </p:sp>
      <p:sp>
        <p:nvSpPr>
          <p:cNvPr id="396"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397"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398"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399"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Advanced Pricing</a:t>
            </a:r>
            <a:endParaRPr lang="en-US" sz="1600" b="0" u="none" strike="noStrike">
              <a:solidFill>
                <a:srgbClr val="000000"/>
              </a:solidFill>
              <a:effectLst/>
              <a:uFillTx/>
              <a:latin typeface="Arial"/>
            </a:endParaRPr>
          </a:p>
        </p:txBody>
      </p:sp>
      <p:sp>
        <p:nvSpPr>
          <p:cNvPr id="40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Block Pricing: Photo Cards at Walmart</a:t>
            </a:r>
            <a:endParaRPr lang="en-US" sz="3200" b="0" u="none" strike="noStrike">
              <a:solidFill>
                <a:srgbClr val="000000"/>
              </a:solidFill>
              <a:effectLst/>
              <a:uFillTx/>
              <a:latin typeface="Arial"/>
            </a:endParaRPr>
          </a:p>
        </p:txBody>
      </p:sp>
      <p:sp>
        <p:nvSpPr>
          <p:cNvPr id="40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0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21</a:t>
            </a:r>
            <a:endParaRPr lang="en-US" sz="1200" b="0" u="none" strike="noStrike">
              <a:solidFill>
                <a:srgbClr val="000000"/>
              </a:solidFill>
              <a:effectLst/>
              <a:uFillTx/>
              <a:latin typeface="Arial"/>
            </a:endParaRPr>
          </a:p>
        </p:txBody>
      </p:sp>
      <p:cxnSp>
        <p:nvCxnSpPr>
          <p:cNvPr id="409" name="Connector 10"/>
          <p:cNvCxnSpPr/>
          <p:nvPr/>
        </p:nvCxnSpPr>
        <p:spPr>
          <a:xfrm flipV="1">
            <a:off x="1051560" y="1234440"/>
            <a:ext cx="720" cy="4983840"/>
          </a:xfrm>
          <a:prstGeom prst="straightConnector1">
            <a:avLst/>
          </a:prstGeom>
          <a:ln w="25400">
            <a:solidFill>
              <a:srgbClr val="0B2B4E"/>
            </a:solidFill>
            <a:round/>
            <a:tailEnd type="triangle" w="med" len="med"/>
          </a:ln>
        </p:spPr>
      </p:cxnSp>
      <p:cxnSp>
        <p:nvCxnSpPr>
          <p:cNvPr id="410" name="Connector 11"/>
          <p:cNvCxnSpPr/>
          <p:nvPr/>
        </p:nvCxnSpPr>
        <p:spPr>
          <a:xfrm>
            <a:off x="1051560" y="6217920"/>
            <a:ext cx="5349600" cy="720"/>
          </a:xfrm>
          <a:prstGeom prst="straightConnector1">
            <a:avLst/>
          </a:prstGeom>
          <a:ln w="25400">
            <a:solidFill>
              <a:srgbClr val="0B2B4E"/>
            </a:solidFill>
            <a:round/>
            <a:tailEnd type="triangle" w="med" len="med"/>
          </a:ln>
        </p:spPr>
      </p:cxnSp>
      <p:sp>
        <p:nvSpPr>
          <p:cNvPr id="411" name="TextBox 12"/>
          <p:cNvSpPr/>
          <p:nvPr/>
        </p:nvSpPr>
        <p:spPr>
          <a:xfrm>
            <a:off x="109800" y="1325880"/>
            <a:ext cx="15998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200" b="0" i="1" u="none" strike="noStrike">
                <a:solidFill>
                  <a:srgbClr val="0B2B4E"/>
                </a:solidFill>
                <a:effectLst/>
                <a:uFillTx/>
                <a:latin typeface="Calibri"/>
              </a:rPr>
              <a:t>Price</a:t>
            </a:r>
            <a:endParaRPr lang="en-US" sz="1200" b="0" u="none" strike="noStrike">
              <a:solidFill>
                <a:srgbClr val="000000"/>
              </a:solidFill>
              <a:effectLst/>
              <a:uFillTx/>
              <a:latin typeface="Arial"/>
            </a:endParaRPr>
          </a:p>
          <a:p>
            <a:pPr defTabSz="457200">
              <a:lnSpc>
                <a:spcPct val="100000"/>
              </a:lnSpc>
            </a:pPr>
            <a:r>
              <a:rPr lang="en-US" sz="1200" b="0" i="1" u="none" strike="noStrike">
                <a:solidFill>
                  <a:srgbClr val="0B2B4E"/>
                </a:solidFill>
                <a:effectLst/>
                <a:uFillTx/>
                <a:latin typeface="Calibri"/>
              </a:rPr>
              <a:t>($/photo card)</a:t>
            </a:r>
            <a:endParaRPr lang="en-US" sz="1200" b="0" u="none" strike="noStrike">
              <a:solidFill>
                <a:srgbClr val="000000"/>
              </a:solidFill>
              <a:effectLst/>
              <a:uFillTx/>
              <a:latin typeface="Arial"/>
            </a:endParaRPr>
          </a:p>
        </p:txBody>
      </p:sp>
      <p:sp>
        <p:nvSpPr>
          <p:cNvPr id="412" name="TextBox 13"/>
          <p:cNvSpPr/>
          <p:nvPr/>
        </p:nvSpPr>
        <p:spPr>
          <a:xfrm>
            <a:off x="6338880" y="6251160"/>
            <a:ext cx="2011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i="1" u="none" strike="noStrike" dirty="0">
                <a:solidFill>
                  <a:srgbClr val="0B2B4E"/>
                </a:solidFill>
                <a:effectLst/>
                <a:uFillTx/>
                <a:latin typeface="Calibri"/>
              </a:rPr>
              <a:t>Q (photo cards)</a:t>
            </a:r>
            <a:endParaRPr lang="en-US" sz="1200" b="0" u="none" strike="noStrike" dirty="0">
              <a:solidFill>
                <a:srgbClr val="000000"/>
              </a:solidFill>
              <a:effectLst/>
              <a:uFillTx/>
              <a:latin typeface="Arial"/>
            </a:endParaRPr>
          </a:p>
        </p:txBody>
      </p:sp>
      <p:sp>
        <p:nvSpPr>
          <p:cNvPr id="413" name="CLK02"/>
          <p:cNvSpPr/>
          <p:nvPr/>
        </p:nvSpPr>
        <p:spPr>
          <a:xfrm>
            <a:off x="1051560" y="2020680"/>
            <a:ext cx="4919400" cy="4196880"/>
          </a:xfrm>
          <a:custGeom>
            <a:avLst/>
            <a:gdLst>
              <a:gd name="textAreaLeft" fmla="*/ 0 w 4919400"/>
              <a:gd name="textAreaRight" fmla="*/ 4919760 w 4919400"/>
              <a:gd name="textAreaTop" fmla="*/ 0 h 4196880"/>
              <a:gd name="textAreaBottom" fmla="*/ 4197240 h 4196880"/>
            </a:gdLst>
            <a:ahLst/>
            <a:cxnLst/>
            <a:rect l="textAreaLeft" t="textAreaTop" r="textAreaRight" b="textAreaBottom"/>
            <a:pathLst>
              <a:path w="4919869" h="4197096">
                <a:moveTo>
                  <a:pt x="0" y="0"/>
                </a:moveTo>
                <a:lnTo>
                  <a:pt x="4919869" y="4197096"/>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4" name="CLK02"/>
          <p:cNvSpPr/>
          <p:nvPr/>
        </p:nvSpPr>
        <p:spPr>
          <a:xfrm>
            <a:off x="5998860" y="5870400"/>
            <a:ext cx="6397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500" b="1" i="1" u="none" strike="noStrike" dirty="0">
                <a:solidFill>
                  <a:srgbClr val="C0201B"/>
                </a:solidFill>
                <a:effectLst/>
                <a:uFillTx/>
                <a:latin typeface="Calibri"/>
              </a:rPr>
              <a:t>D</a:t>
            </a:r>
            <a:endParaRPr lang="en-US" sz="1500" b="0" u="none" strike="noStrike" dirty="0">
              <a:solidFill>
                <a:srgbClr val="000000"/>
              </a:solidFill>
              <a:effectLst/>
              <a:uFillTx/>
              <a:latin typeface="Arial"/>
            </a:endParaRPr>
          </a:p>
        </p:txBody>
      </p:sp>
      <p:sp>
        <p:nvSpPr>
          <p:cNvPr id="415" name="CLK02"/>
          <p:cNvSpPr/>
          <p:nvPr/>
        </p:nvSpPr>
        <p:spPr>
          <a:xfrm>
            <a:off x="1051560" y="2020680"/>
            <a:ext cx="2459520" cy="4196880"/>
          </a:xfrm>
          <a:custGeom>
            <a:avLst/>
            <a:gdLst>
              <a:gd name="textAreaLeft" fmla="*/ 0 w 2459520"/>
              <a:gd name="textAreaRight" fmla="*/ 2459880 w 2459520"/>
              <a:gd name="textAreaTop" fmla="*/ 0 h 4196880"/>
              <a:gd name="textAreaBottom" fmla="*/ 4197240 h 4196880"/>
            </a:gdLst>
            <a:ahLst/>
            <a:cxnLst/>
            <a:rect l="textAreaLeft" t="textAreaTop" r="textAreaRight" b="textAreaBottom"/>
            <a:pathLst>
              <a:path w="2459934" h="4197096">
                <a:moveTo>
                  <a:pt x="0" y="0"/>
                </a:moveTo>
                <a:lnTo>
                  <a:pt x="2459934" y="4197096"/>
                </a:lnTo>
              </a:path>
            </a:pathLst>
          </a:custGeom>
          <a:noFill/>
          <a:ln w="27940" cap="rnd">
            <a:solidFill>
              <a:srgbClr val="1F4E9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6" name="CLK02"/>
          <p:cNvSpPr/>
          <p:nvPr/>
        </p:nvSpPr>
        <p:spPr>
          <a:xfrm>
            <a:off x="3488400" y="5818605"/>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1" i="1" u="none" strike="noStrike" dirty="0">
                <a:solidFill>
                  <a:srgbClr val="1F4E9C"/>
                </a:solidFill>
                <a:effectLst/>
                <a:uFillTx/>
                <a:latin typeface="Calibri"/>
              </a:rPr>
              <a:t>MR</a:t>
            </a:r>
            <a:endParaRPr lang="en-US" sz="1300" b="0" u="none" strike="noStrike" dirty="0">
              <a:solidFill>
                <a:srgbClr val="000000"/>
              </a:solidFill>
              <a:effectLst/>
              <a:uFillTx/>
              <a:latin typeface="Arial"/>
            </a:endParaRPr>
          </a:p>
        </p:txBody>
      </p:sp>
      <p:cxnSp>
        <p:nvCxnSpPr>
          <p:cNvPr id="417" name="CLK02"/>
          <p:cNvCxnSpPr/>
          <p:nvPr/>
        </p:nvCxnSpPr>
        <p:spPr>
          <a:xfrm>
            <a:off x="1051560" y="5751360"/>
            <a:ext cx="4635720" cy="720"/>
          </a:xfrm>
          <a:prstGeom prst="straightConnector1">
            <a:avLst/>
          </a:prstGeom>
          <a:ln w="33020">
            <a:solidFill>
              <a:srgbClr val="C99AA2"/>
            </a:solidFill>
            <a:round/>
          </a:ln>
        </p:spPr>
      </p:cxnSp>
      <p:sp>
        <p:nvSpPr>
          <p:cNvPr id="418" name="CLK02"/>
          <p:cNvSpPr/>
          <p:nvPr/>
        </p:nvSpPr>
        <p:spPr>
          <a:xfrm>
            <a:off x="5672700" y="5473695"/>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dirty="0">
                <a:solidFill>
                  <a:srgbClr val="B06A72"/>
                </a:solidFill>
                <a:effectLst/>
                <a:uFillTx/>
                <a:latin typeface="Calibri"/>
              </a:rPr>
              <a:t>MC</a:t>
            </a:r>
            <a:endParaRPr lang="en-US" sz="1300" b="0" u="none" strike="noStrike" dirty="0">
              <a:solidFill>
                <a:srgbClr val="000000"/>
              </a:solidFill>
              <a:effectLst/>
              <a:uFillTx/>
              <a:latin typeface="Arial"/>
            </a:endParaRPr>
          </a:p>
        </p:txBody>
      </p:sp>
      <p:sp>
        <p:nvSpPr>
          <p:cNvPr id="419" name="CLK02"/>
          <p:cNvSpPr/>
          <p:nvPr/>
        </p:nvSpPr>
        <p:spPr>
          <a:xfrm>
            <a:off x="502920" y="560520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$0.05</a:t>
            </a:r>
            <a:endParaRPr lang="en-US" sz="1400" b="0" u="none" strike="noStrike">
              <a:solidFill>
                <a:srgbClr val="000000"/>
              </a:solidFill>
              <a:effectLst/>
              <a:uFillTx/>
              <a:latin typeface="Arial"/>
            </a:endParaRPr>
          </a:p>
        </p:txBody>
      </p:sp>
      <p:sp>
        <p:nvSpPr>
          <p:cNvPr id="420" name="CLK05"/>
          <p:cNvSpPr/>
          <p:nvPr/>
        </p:nvSpPr>
        <p:spPr>
          <a:xfrm>
            <a:off x="1051560" y="3886200"/>
            <a:ext cx="2186280" cy="1865160"/>
          </a:xfrm>
          <a:prstGeom prst="rect">
            <a:avLst/>
          </a:prstGeom>
          <a:solidFill>
            <a:srgbClr val="9BB27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1" name="CLK04"/>
          <p:cNvSpPr/>
          <p:nvPr/>
        </p:nvSpPr>
        <p:spPr>
          <a:xfrm>
            <a:off x="502920" y="374004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$0.25</a:t>
            </a:r>
            <a:endParaRPr lang="en-US" sz="1400" b="0" u="none" strike="noStrike">
              <a:solidFill>
                <a:srgbClr val="000000"/>
              </a:solidFill>
              <a:effectLst/>
              <a:uFillTx/>
              <a:latin typeface="Arial"/>
            </a:endParaRPr>
          </a:p>
        </p:txBody>
      </p:sp>
      <p:sp>
        <p:nvSpPr>
          <p:cNvPr id="422" name="CLK04"/>
          <p:cNvSpPr/>
          <p:nvPr/>
        </p:nvSpPr>
        <p:spPr>
          <a:xfrm>
            <a:off x="2780820" y="629088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dirty="0">
                <a:solidFill>
                  <a:srgbClr val="0B2B4E"/>
                </a:solidFill>
                <a:effectLst/>
                <a:uFillTx/>
                <a:latin typeface="Calibri"/>
              </a:rPr>
              <a:t>100</a:t>
            </a:r>
            <a:endParaRPr lang="en-US" sz="1400" b="0" u="none" strike="noStrike" dirty="0">
              <a:solidFill>
                <a:srgbClr val="000000"/>
              </a:solidFill>
              <a:effectLst/>
              <a:uFillTx/>
              <a:latin typeface="Arial"/>
            </a:endParaRPr>
          </a:p>
        </p:txBody>
      </p:sp>
      <p:sp>
        <p:nvSpPr>
          <p:cNvPr id="423" name="CLK05"/>
          <p:cNvSpPr/>
          <p:nvPr/>
        </p:nvSpPr>
        <p:spPr>
          <a:xfrm>
            <a:off x="1806840" y="4654440"/>
            <a:ext cx="456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0B2B4E"/>
                </a:solidFill>
                <a:effectLst/>
                <a:uFillTx/>
                <a:latin typeface="Calibri"/>
              </a:rPr>
              <a:t>A</a:t>
            </a:r>
            <a:endParaRPr lang="en-US" sz="1500" b="0" u="none" strike="noStrike">
              <a:solidFill>
                <a:srgbClr val="000000"/>
              </a:solidFill>
              <a:effectLst/>
              <a:uFillTx/>
              <a:latin typeface="Arial"/>
            </a:endParaRPr>
          </a:p>
        </p:txBody>
      </p:sp>
      <p:sp>
        <p:nvSpPr>
          <p:cNvPr id="424" name="CLK09"/>
          <p:cNvSpPr/>
          <p:nvPr/>
        </p:nvSpPr>
        <p:spPr>
          <a:xfrm>
            <a:off x="3238200" y="4352400"/>
            <a:ext cx="546120" cy="1398600"/>
          </a:xfrm>
          <a:prstGeom prst="rect">
            <a:avLst/>
          </a:prstGeom>
          <a:solidFill>
            <a:srgbClr val="D6E0C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5" name="CLK09"/>
          <p:cNvSpPr/>
          <p:nvPr/>
        </p:nvSpPr>
        <p:spPr>
          <a:xfrm>
            <a:off x="3238200" y="3886200"/>
            <a:ext cx="546120" cy="465840"/>
          </a:xfrm>
          <a:custGeom>
            <a:avLst/>
            <a:gdLst>
              <a:gd name="textAreaLeft" fmla="*/ 0 w 546120"/>
              <a:gd name="textAreaRight" fmla="*/ 546480 w 546120"/>
              <a:gd name="textAreaTop" fmla="*/ 0 h 465840"/>
              <a:gd name="textAreaBottom" fmla="*/ 466200 h 465840"/>
            </a:gdLst>
            <a:ahLst/>
            <a:cxnLst/>
            <a:rect l="textAreaLeft" t="textAreaTop" r="textAreaRight" b="textAreaBottom"/>
            <a:pathLst>
              <a:path w="546652" h="466344">
                <a:moveTo>
                  <a:pt x="0" y="0"/>
                </a:moveTo>
                <a:lnTo>
                  <a:pt x="0" y="466344"/>
                </a:lnTo>
                <a:lnTo>
                  <a:pt x="546652" y="466344"/>
                </a:lnTo>
                <a:close/>
              </a:path>
            </a:pathLst>
          </a:custGeom>
          <a:solidFill>
            <a:srgbClr val="C4D6A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6" name="CLK07"/>
          <p:cNvSpPr/>
          <p:nvPr/>
        </p:nvSpPr>
        <p:spPr>
          <a:xfrm>
            <a:off x="502920" y="420624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$0.20</a:t>
            </a:r>
            <a:endParaRPr lang="en-US" sz="1400" b="0" u="none" strike="noStrike">
              <a:solidFill>
                <a:srgbClr val="000000"/>
              </a:solidFill>
              <a:effectLst/>
              <a:uFillTx/>
              <a:latin typeface="Arial"/>
            </a:endParaRPr>
          </a:p>
        </p:txBody>
      </p:sp>
      <p:sp>
        <p:nvSpPr>
          <p:cNvPr id="427" name="CLK07"/>
          <p:cNvSpPr/>
          <p:nvPr/>
        </p:nvSpPr>
        <p:spPr>
          <a:xfrm>
            <a:off x="332748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125</a:t>
            </a:r>
            <a:endParaRPr lang="en-US" sz="1400" b="0" u="none" strike="noStrike">
              <a:solidFill>
                <a:srgbClr val="000000"/>
              </a:solidFill>
              <a:effectLst/>
              <a:uFillTx/>
              <a:latin typeface="Arial"/>
            </a:endParaRPr>
          </a:p>
        </p:txBody>
      </p:sp>
      <p:sp>
        <p:nvSpPr>
          <p:cNvPr id="428" name="CLK09"/>
          <p:cNvSpPr/>
          <p:nvPr/>
        </p:nvSpPr>
        <p:spPr>
          <a:xfrm>
            <a:off x="3186360" y="4094280"/>
            <a:ext cx="365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B2B4E"/>
                </a:solidFill>
                <a:effectLst/>
                <a:uFillTx/>
                <a:latin typeface="Calibri"/>
              </a:rPr>
              <a:t>B</a:t>
            </a:r>
            <a:endParaRPr lang="en-US" sz="1300" b="0" u="none" strike="noStrike">
              <a:solidFill>
                <a:srgbClr val="000000"/>
              </a:solidFill>
              <a:effectLst/>
              <a:uFillTx/>
              <a:latin typeface="Arial"/>
            </a:endParaRPr>
          </a:p>
        </p:txBody>
      </p:sp>
      <p:sp>
        <p:nvSpPr>
          <p:cNvPr id="429" name="CLK09"/>
          <p:cNvSpPr/>
          <p:nvPr/>
        </p:nvSpPr>
        <p:spPr>
          <a:xfrm>
            <a:off x="3282840" y="4887360"/>
            <a:ext cx="456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0B2B4E"/>
                </a:solidFill>
                <a:effectLst/>
                <a:uFillTx/>
                <a:latin typeface="Calibri"/>
              </a:rPr>
              <a:t>C</a:t>
            </a:r>
            <a:endParaRPr lang="en-US" sz="1500" b="0" u="none" strike="noStrike">
              <a:solidFill>
                <a:srgbClr val="000000"/>
              </a:solidFill>
              <a:effectLst/>
              <a:uFillTx/>
              <a:latin typeface="Arial"/>
            </a:endParaRPr>
          </a:p>
        </p:txBody>
      </p:sp>
      <p:sp>
        <p:nvSpPr>
          <p:cNvPr id="430" name="CLK12"/>
          <p:cNvSpPr/>
          <p:nvPr/>
        </p:nvSpPr>
        <p:spPr>
          <a:xfrm>
            <a:off x="3784680" y="5285160"/>
            <a:ext cx="1092960" cy="465840"/>
          </a:xfrm>
          <a:prstGeom prst="rect">
            <a:avLst/>
          </a:prstGeom>
          <a:solidFill>
            <a:srgbClr val="D6E0C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1" name="CLK12"/>
          <p:cNvSpPr/>
          <p:nvPr/>
        </p:nvSpPr>
        <p:spPr>
          <a:xfrm>
            <a:off x="3784680" y="4352400"/>
            <a:ext cx="1092960" cy="932400"/>
          </a:xfrm>
          <a:custGeom>
            <a:avLst/>
            <a:gdLst>
              <a:gd name="textAreaLeft" fmla="*/ 0 w 1092960"/>
              <a:gd name="textAreaRight" fmla="*/ 1093320 w 1092960"/>
              <a:gd name="textAreaTop" fmla="*/ 0 h 932400"/>
              <a:gd name="textAreaBottom" fmla="*/ 932760 h 932400"/>
            </a:gdLst>
            <a:ahLst/>
            <a:cxnLst/>
            <a:rect l="textAreaLeft" t="textAreaTop" r="textAreaRight" b="textAreaBottom"/>
            <a:pathLst>
              <a:path w="1093305" h="932687">
                <a:moveTo>
                  <a:pt x="0" y="0"/>
                </a:moveTo>
                <a:lnTo>
                  <a:pt x="0" y="932687"/>
                </a:lnTo>
                <a:lnTo>
                  <a:pt x="1093305" y="932687"/>
                </a:lnTo>
                <a:close/>
              </a:path>
            </a:pathLst>
          </a:custGeom>
          <a:solidFill>
            <a:srgbClr val="E8C4C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2" name="CLK11"/>
          <p:cNvSpPr/>
          <p:nvPr/>
        </p:nvSpPr>
        <p:spPr>
          <a:xfrm>
            <a:off x="502920" y="513900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$0.10</a:t>
            </a:r>
            <a:endParaRPr lang="en-US" sz="1400" b="0" u="none" strike="noStrike">
              <a:solidFill>
                <a:srgbClr val="000000"/>
              </a:solidFill>
              <a:effectLst/>
              <a:uFillTx/>
              <a:latin typeface="Arial"/>
            </a:endParaRPr>
          </a:p>
        </p:txBody>
      </p:sp>
      <p:sp>
        <p:nvSpPr>
          <p:cNvPr id="433" name="CLK11"/>
          <p:cNvSpPr/>
          <p:nvPr/>
        </p:nvSpPr>
        <p:spPr>
          <a:xfrm>
            <a:off x="442080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175</a:t>
            </a:r>
            <a:endParaRPr lang="en-US" sz="1400" b="0" u="none" strike="noStrike">
              <a:solidFill>
                <a:srgbClr val="000000"/>
              </a:solidFill>
              <a:effectLst/>
              <a:uFillTx/>
              <a:latin typeface="Arial"/>
            </a:endParaRPr>
          </a:p>
        </p:txBody>
      </p:sp>
      <p:sp>
        <p:nvSpPr>
          <p:cNvPr id="434" name="CLK12"/>
          <p:cNvSpPr/>
          <p:nvPr/>
        </p:nvSpPr>
        <p:spPr>
          <a:xfrm>
            <a:off x="3840480" y="4822200"/>
            <a:ext cx="456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0B2B4E"/>
                </a:solidFill>
                <a:effectLst/>
                <a:uFillTx/>
                <a:latin typeface="Calibri"/>
              </a:rPr>
              <a:t>D</a:t>
            </a:r>
            <a:endParaRPr lang="en-US" sz="1500" b="0" u="none" strike="noStrike">
              <a:solidFill>
                <a:srgbClr val="000000"/>
              </a:solidFill>
              <a:effectLst/>
              <a:uFillTx/>
              <a:latin typeface="Arial"/>
            </a:endParaRPr>
          </a:p>
        </p:txBody>
      </p:sp>
      <p:sp>
        <p:nvSpPr>
          <p:cNvPr id="435" name="CLK12"/>
          <p:cNvSpPr/>
          <p:nvPr/>
        </p:nvSpPr>
        <p:spPr>
          <a:xfrm>
            <a:off x="4102920" y="5353920"/>
            <a:ext cx="456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0B2B4E"/>
                </a:solidFill>
                <a:effectLst/>
                <a:uFillTx/>
                <a:latin typeface="Calibri"/>
              </a:rPr>
              <a:t>E</a:t>
            </a:r>
            <a:endParaRPr lang="en-US" sz="1500" b="0" u="none" strike="noStrike">
              <a:solidFill>
                <a:srgbClr val="000000"/>
              </a:solidFill>
              <a:effectLst/>
              <a:uFillTx/>
              <a:latin typeface="Arial"/>
            </a:endParaRPr>
          </a:p>
        </p:txBody>
      </p:sp>
      <p:cxnSp>
        <p:nvCxnSpPr>
          <p:cNvPr id="436" name="CLK04"/>
          <p:cNvCxnSpPr/>
          <p:nvPr/>
        </p:nvCxnSpPr>
        <p:spPr>
          <a:xfrm>
            <a:off x="1051560" y="3886200"/>
            <a:ext cx="2186640" cy="720"/>
          </a:xfrm>
          <a:prstGeom prst="straightConnector1">
            <a:avLst/>
          </a:prstGeom>
          <a:ln w="12700">
            <a:solidFill>
              <a:srgbClr val="0B2B4E"/>
            </a:solidFill>
            <a:prstDash val="dash"/>
            <a:round/>
          </a:ln>
        </p:spPr>
      </p:cxnSp>
      <p:cxnSp>
        <p:nvCxnSpPr>
          <p:cNvPr id="437" name="CLK04"/>
          <p:cNvCxnSpPr/>
          <p:nvPr/>
        </p:nvCxnSpPr>
        <p:spPr>
          <a:xfrm flipV="1">
            <a:off x="3237840" y="3886200"/>
            <a:ext cx="720" cy="2332080"/>
          </a:xfrm>
          <a:prstGeom prst="straightConnector1">
            <a:avLst/>
          </a:prstGeom>
          <a:ln w="12700">
            <a:solidFill>
              <a:srgbClr val="0B2B4E"/>
            </a:solidFill>
            <a:prstDash val="dash"/>
            <a:round/>
          </a:ln>
        </p:spPr>
      </p:cxnSp>
      <p:cxnSp>
        <p:nvCxnSpPr>
          <p:cNvPr id="438" name="CLK07"/>
          <p:cNvCxnSpPr/>
          <p:nvPr/>
        </p:nvCxnSpPr>
        <p:spPr>
          <a:xfrm>
            <a:off x="1051560" y="4352400"/>
            <a:ext cx="2733480" cy="720"/>
          </a:xfrm>
          <a:prstGeom prst="straightConnector1">
            <a:avLst/>
          </a:prstGeom>
          <a:ln w="12700">
            <a:solidFill>
              <a:srgbClr val="0B2B4E"/>
            </a:solidFill>
            <a:prstDash val="dash"/>
            <a:round/>
          </a:ln>
        </p:spPr>
      </p:cxnSp>
      <p:cxnSp>
        <p:nvCxnSpPr>
          <p:cNvPr id="439" name="CLK07"/>
          <p:cNvCxnSpPr/>
          <p:nvPr/>
        </p:nvCxnSpPr>
        <p:spPr>
          <a:xfrm flipV="1">
            <a:off x="3784680" y="4352400"/>
            <a:ext cx="720" cy="1865880"/>
          </a:xfrm>
          <a:prstGeom prst="straightConnector1">
            <a:avLst/>
          </a:prstGeom>
          <a:ln w="12700">
            <a:solidFill>
              <a:srgbClr val="0B2B4E"/>
            </a:solidFill>
            <a:prstDash val="dash"/>
            <a:round/>
          </a:ln>
        </p:spPr>
      </p:cxnSp>
      <p:cxnSp>
        <p:nvCxnSpPr>
          <p:cNvPr id="440" name="CLK11"/>
          <p:cNvCxnSpPr/>
          <p:nvPr/>
        </p:nvCxnSpPr>
        <p:spPr>
          <a:xfrm>
            <a:off x="1051560" y="5285160"/>
            <a:ext cx="3826800" cy="720"/>
          </a:xfrm>
          <a:prstGeom prst="straightConnector1">
            <a:avLst/>
          </a:prstGeom>
          <a:ln w="12700">
            <a:solidFill>
              <a:srgbClr val="0B2B4E"/>
            </a:solidFill>
            <a:prstDash val="dash"/>
            <a:round/>
          </a:ln>
        </p:spPr>
      </p:cxnSp>
      <p:cxnSp>
        <p:nvCxnSpPr>
          <p:cNvPr id="441" name="CLK11"/>
          <p:cNvCxnSpPr/>
          <p:nvPr/>
        </p:nvCxnSpPr>
        <p:spPr>
          <a:xfrm flipV="1">
            <a:off x="4878000" y="5285160"/>
            <a:ext cx="720" cy="933120"/>
          </a:xfrm>
          <a:prstGeom prst="straightConnector1">
            <a:avLst/>
          </a:prstGeom>
          <a:ln w="12700">
            <a:solidFill>
              <a:srgbClr val="0B2B4E"/>
            </a:solidFill>
            <a:prstDash val="dash"/>
            <a:round/>
          </a:ln>
        </p:spPr>
      </p:cxnSp>
      <p:sp>
        <p:nvSpPr>
          <p:cNvPr id="442" name="CLK00"/>
          <p:cNvSpPr/>
          <p:nvPr/>
        </p:nvSpPr>
        <p:spPr>
          <a:xfrm>
            <a:off x="6446520" y="1417320"/>
            <a:ext cx="5668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Block pricing is the practice of reducing the price of a good when the customers buys more of it.</a:t>
            </a:r>
            <a:endParaRPr lang="en-US" sz="1600" b="0" u="none" strike="noStrike">
              <a:solidFill>
                <a:srgbClr val="000000"/>
              </a:solidFill>
              <a:effectLst/>
              <a:uFillTx/>
              <a:latin typeface="Arial"/>
            </a:endParaRPr>
          </a:p>
        </p:txBody>
      </p:sp>
      <p:sp>
        <p:nvSpPr>
          <p:cNvPr id="443" name="CLK01"/>
          <p:cNvSpPr/>
          <p:nvPr/>
        </p:nvSpPr>
        <p:spPr>
          <a:xfrm>
            <a:off x="6446520" y="2066400"/>
            <a:ext cx="5668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The company does not discriminate across customers with different demands</a:t>
            </a:r>
            <a:endParaRPr lang="en-US" sz="1600" b="0" u="none" strike="noStrike">
              <a:solidFill>
                <a:srgbClr val="000000"/>
              </a:solidFill>
              <a:effectLst/>
              <a:uFillTx/>
              <a:latin typeface="Arial"/>
            </a:endParaRPr>
          </a:p>
        </p:txBody>
      </p:sp>
      <p:sp>
        <p:nvSpPr>
          <p:cNvPr id="444" name="CLK03"/>
          <p:cNvSpPr/>
          <p:nvPr/>
        </p:nvSpPr>
        <p:spPr>
          <a:xfrm>
            <a:off x="6446520" y="271584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The simple pricing option is 100 cards at $.025</a:t>
            </a:r>
            <a:endParaRPr lang="en-US" sz="1600" b="0" u="none" strike="noStrike">
              <a:solidFill>
                <a:srgbClr val="000000"/>
              </a:solidFill>
              <a:effectLst/>
              <a:uFillTx/>
              <a:latin typeface="Arial"/>
            </a:endParaRPr>
          </a:p>
        </p:txBody>
      </p:sp>
      <p:sp>
        <p:nvSpPr>
          <p:cNvPr id="445" name="CLK05"/>
          <p:cNvSpPr/>
          <p:nvPr/>
        </p:nvSpPr>
        <p:spPr>
          <a:xfrm>
            <a:off x="6446520" y="310896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Producer surplus is A</a:t>
            </a:r>
            <a:endParaRPr lang="en-US" sz="1600" b="0" u="none" strike="noStrike">
              <a:solidFill>
                <a:srgbClr val="000000"/>
              </a:solidFill>
              <a:effectLst/>
              <a:uFillTx/>
              <a:latin typeface="Arial"/>
            </a:endParaRPr>
          </a:p>
        </p:txBody>
      </p:sp>
      <p:sp>
        <p:nvSpPr>
          <p:cNvPr id="446" name="CLK06"/>
          <p:cNvSpPr/>
          <p:nvPr/>
        </p:nvSpPr>
        <p:spPr>
          <a:xfrm>
            <a:off x="6446520" y="350208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Sell additional 25 cards at $0.20</a:t>
            </a:r>
            <a:endParaRPr lang="en-US" sz="1600" b="0" u="none" strike="noStrike">
              <a:solidFill>
                <a:srgbClr val="000000"/>
              </a:solidFill>
              <a:effectLst/>
              <a:uFillTx/>
              <a:latin typeface="Arial"/>
            </a:endParaRPr>
          </a:p>
        </p:txBody>
      </p:sp>
      <p:sp>
        <p:nvSpPr>
          <p:cNvPr id="447" name="CLK08"/>
          <p:cNvSpPr/>
          <p:nvPr/>
        </p:nvSpPr>
        <p:spPr>
          <a:xfrm>
            <a:off x="6446520" y="389520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Consumers are better off, additional CS is area B</a:t>
            </a:r>
            <a:endParaRPr lang="en-US" sz="1600" b="0" u="none" strike="noStrike">
              <a:solidFill>
                <a:srgbClr val="000000"/>
              </a:solidFill>
              <a:effectLst/>
              <a:uFillTx/>
              <a:latin typeface="Arial"/>
            </a:endParaRPr>
          </a:p>
        </p:txBody>
      </p:sp>
      <p:sp>
        <p:nvSpPr>
          <p:cNvPr id="448" name="CLK09"/>
          <p:cNvSpPr/>
          <p:nvPr/>
        </p:nvSpPr>
        <p:spPr>
          <a:xfrm>
            <a:off x="6446520" y="428868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Walmart is also better off, additional PS is C</a:t>
            </a:r>
            <a:endParaRPr lang="en-US" sz="1600" b="0" u="none" strike="noStrike">
              <a:solidFill>
                <a:srgbClr val="000000"/>
              </a:solidFill>
              <a:effectLst/>
              <a:uFillTx/>
              <a:latin typeface="Arial"/>
            </a:endParaRPr>
          </a:p>
        </p:txBody>
      </p:sp>
      <p:sp>
        <p:nvSpPr>
          <p:cNvPr id="449" name="CLK10"/>
          <p:cNvSpPr/>
          <p:nvPr/>
        </p:nvSpPr>
        <p:spPr>
          <a:xfrm>
            <a:off x="6446520" y="4681800"/>
            <a:ext cx="5668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0" u="none" strike="noStrike">
                <a:solidFill>
                  <a:srgbClr val="0B2B4E"/>
                </a:solidFill>
                <a:effectLst/>
                <a:uFillTx/>
                <a:latin typeface="Calibri"/>
              </a:rPr>
              <a:t>▪   Walmart could keep offering discounted prices</a:t>
            </a:r>
            <a:endParaRPr lang="en-US" sz="16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4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3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4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2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2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2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2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3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3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4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4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30"/>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31"/>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3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Summary</a:t>
            </a:r>
            <a:endParaRPr lang="en-US" sz="1600" b="0" u="none" strike="noStrike">
              <a:solidFill>
                <a:srgbClr val="000000"/>
              </a:solidFill>
              <a:effectLst/>
              <a:uFillTx/>
              <a:latin typeface="Arial"/>
            </a:endParaRPr>
          </a:p>
        </p:txBody>
      </p:sp>
      <p:sp>
        <p:nvSpPr>
          <p:cNvPr id="45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How to Extract Consumer Surplus — A Summary</a:t>
            </a:r>
            <a:endParaRPr lang="en-US" sz="2600" b="0" u="none" strike="noStrike">
              <a:solidFill>
                <a:srgbClr val="000000"/>
              </a:solidFill>
              <a:effectLst/>
              <a:uFillTx/>
              <a:latin typeface="Arial"/>
            </a:endParaRPr>
          </a:p>
        </p:txBody>
      </p:sp>
      <p:sp>
        <p:nvSpPr>
          <p:cNvPr id="45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5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22</a:t>
            </a:r>
            <a:endParaRPr lang="en-US" sz="1200" b="0" u="none" strike="noStrike">
              <a:solidFill>
                <a:srgbClr val="000000"/>
              </a:solidFill>
              <a:effectLst/>
              <a:uFillTx/>
              <a:latin typeface="Arial"/>
            </a:endParaRPr>
          </a:p>
        </p:txBody>
      </p:sp>
      <p:sp>
        <p:nvSpPr>
          <p:cNvPr id="459" name="CLK00"/>
          <p:cNvSpPr/>
          <p:nvPr/>
        </p:nvSpPr>
        <p:spPr>
          <a:xfrm>
            <a:off x="3931920" y="1417320"/>
            <a:ext cx="2285640" cy="658080"/>
          </a:xfrm>
          <a:prstGeom prst="roundRect">
            <a:avLst>
              <a:gd name="adj" fmla="val 16667"/>
            </a:avLst>
          </a:prstGeom>
          <a:solidFill>
            <a:srgbClr val="C0504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Does the firm have market power?</a:t>
            </a:r>
            <a:endParaRPr lang="en-US" sz="1200" b="0" u="none" strike="noStrike">
              <a:solidFill>
                <a:srgbClr val="FFFFFF"/>
              </a:solidFill>
              <a:effectLst/>
              <a:uFillTx/>
              <a:latin typeface="Arial"/>
            </a:endParaRPr>
          </a:p>
        </p:txBody>
      </p:sp>
      <p:sp>
        <p:nvSpPr>
          <p:cNvPr id="460" name="CLK02"/>
          <p:cNvSpPr/>
          <p:nvPr/>
        </p:nvSpPr>
        <p:spPr>
          <a:xfrm>
            <a:off x="3931920" y="2487240"/>
            <a:ext cx="2285640" cy="658080"/>
          </a:xfrm>
          <a:prstGeom prst="roundRect">
            <a:avLst>
              <a:gd name="adj" fmla="val 16667"/>
            </a:avLst>
          </a:prstGeom>
          <a:solidFill>
            <a:srgbClr val="C0504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Can the firm prevent resale and arbitrage?</a:t>
            </a:r>
            <a:endParaRPr lang="en-US" sz="1200" b="0" u="none" strike="noStrike">
              <a:solidFill>
                <a:srgbClr val="FFFFFF"/>
              </a:solidFill>
              <a:effectLst/>
              <a:uFillTx/>
              <a:latin typeface="Arial"/>
            </a:endParaRPr>
          </a:p>
        </p:txBody>
      </p:sp>
      <p:sp>
        <p:nvSpPr>
          <p:cNvPr id="461" name="CLK04"/>
          <p:cNvSpPr/>
          <p:nvPr/>
        </p:nvSpPr>
        <p:spPr>
          <a:xfrm>
            <a:off x="3931920" y="3557160"/>
            <a:ext cx="2285640" cy="712800"/>
          </a:xfrm>
          <a:prstGeom prst="roundRect">
            <a:avLst>
              <a:gd name="adj" fmla="val 16667"/>
            </a:avLst>
          </a:prstGeom>
          <a:solidFill>
            <a:srgbClr val="C0504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Do the firm's customers have different demand curves?</a:t>
            </a:r>
            <a:endParaRPr lang="en-US" sz="1200" b="0" u="none" strike="noStrike">
              <a:solidFill>
                <a:srgbClr val="FFFFFF"/>
              </a:solidFill>
              <a:effectLst/>
              <a:uFillTx/>
              <a:latin typeface="Arial"/>
            </a:endParaRPr>
          </a:p>
        </p:txBody>
      </p:sp>
      <p:sp>
        <p:nvSpPr>
          <p:cNvPr id="462" name="CLK06"/>
          <p:cNvSpPr/>
          <p:nvPr/>
        </p:nvSpPr>
        <p:spPr>
          <a:xfrm>
            <a:off x="3931920" y="4681800"/>
            <a:ext cx="2285640" cy="840960"/>
          </a:xfrm>
          <a:prstGeom prst="roundRect">
            <a:avLst>
              <a:gd name="adj" fmla="val 16667"/>
            </a:avLst>
          </a:prstGeom>
          <a:solidFill>
            <a:srgbClr val="C0504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Can the firm directly identify customers' demands before purchase?</a:t>
            </a:r>
            <a:endParaRPr lang="en-US" sz="1200" b="0" u="none" strike="noStrike">
              <a:solidFill>
                <a:srgbClr val="FFFFFF"/>
              </a:solidFill>
              <a:effectLst/>
              <a:uFillTx/>
              <a:latin typeface="Arial"/>
            </a:endParaRPr>
          </a:p>
        </p:txBody>
      </p:sp>
      <p:sp>
        <p:nvSpPr>
          <p:cNvPr id="463" name="CLK01"/>
          <p:cNvSpPr/>
          <p:nvPr/>
        </p:nvSpPr>
        <p:spPr>
          <a:xfrm>
            <a:off x="8778240" y="1417320"/>
            <a:ext cx="3108600" cy="658080"/>
          </a:xfrm>
          <a:prstGeom prst="roundRect">
            <a:avLst>
              <a:gd name="adj" fmla="val 16667"/>
            </a:avLst>
          </a:prstGeom>
          <a:solidFill>
            <a:srgbClr val="E8943A"/>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Perfect competition produces quantity at which MR = P = MC</a:t>
            </a:r>
            <a:endParaRPr lang="en-US" sz="1200" b="0" u="none" strike="noStrike">
              <a:solidFill>
                <a:srgbClr val="000000"/>
              </a:solidFill>
              <a:effectLst/>
              <a:uFillTx/>
              <a:latin typeface="Arial"/>
            </a:endParaRPr>
          </a:p>
        </p:txBody>
      </p:sp>
      <p:sp>
        <p:nvSpPr>
          <p:cNvPr id="464" name="CLK03"/>
          <p:cNvSpPr/>
          <p:nvPr/>
        </p:nvSpPr>
        <p:spPr>
          <a:xfrm>
            <a:off x="8778240" y="2487240"/>
            <a:ext cx="3108600" cy="658080"/>
          </a:xfrm>
          <a:prstGeom prst="roundRect">
            <a:avLst>
              <a:gd name="adj" fmla="val 16667"/>
            </a:avLst>
          </a:prstGeom>
          <a:solidFill>
            <a:srgbClr val="8CB8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0" u="none" strike="noStrike">
                <a:solidFill>
                  <a:srgbClr val="FFFFFF"/>
                </a:solidFill>
                <a:effectLst/>
                <a:uFillTx/>
                <a:latin typeface="Calibri"/>
              </a:rPr>
              <a:t>Firm produces Q* at which MR = MC, sets P* where Q* = D(P*)</a:t>
            </a:r>
            <a:endParaRPr lang="en-US" sz="1200" b="0" u="none" strike="noStrike">
              <a:solidFill>
                <a:srgbClr val="000000"/>
              </a:solidFill>
              <a:effectLst/>
              <a:uFillTx/>
              <a:latin typeface="Arial"/>
            </a:endParaRPr>
          </a:p>
        </p:txBody>
      </p:sp>
      <p:sp>
        <p:nvSpPr>
          <p:cNvPr id="465" name="CLK05"/>
          <p:cNvSpPr/>
          <p:nvPr/>
        </p:nvSpPr>
        <p:spPr>
          <a:xfrm>
            <a:off x="8778240" y="3493080"/>
            <a:ext cx="3108600" cy="840960"/>
          </a:xfrm>
          <a:prstGeom prst="roundRect">
            <a:avLst>
              <a:gd name="adj" fmla="val 16667"/>
            </a:avLst>
          </a:prstGeom>
          <a:solidFill>
            <a:srgbClr val="4F81B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1" u="none" strike="noStrike">
                <a:solidFill>
                  <a:srgbClr val="FFFFFF"/>
                </a:solidFill>
                <a:effectLst/>
                <a:uFillTx/>
                <a:latin typeface="Calibri"/>
              </a:rPr>
              <a:t>Advanced pricing strategies:  </a:t>
            </a:r>
            <a:r>
              <a:rPr lang="en-US" sz="1200" b="0" u="none" strike="noStrike">
                <a:solidFill>
                  <a:srgbClr val="FFFFFF"/>
                </a:solidFill>
                <a:effectLst/>
                <a:uFillTx/>
                <a:latin typeface="Calibri"/>
              </a:rPr>
              <a:t>volume pricing (flat-fee), two-part tariff, block-pricing</a:t>
            </a:r>
            <a:endParaRPr lang="en-US" sz="1200" b="0" u="none" strike="noStrike">
              <a:solidFill>
                <a:srgbClr val="FFFFFF"/>
              </a:solidFill>
              <a:effectLst/>
              <a:uFillTx/>
              <a:latin typeface="Arial"/>
            </a:endParaRPr>
          </a:p>
        </p:txBody>
      </p:sp>
      <p:sp>
        <p:nvSpPr>
          <p:cNvPr id="466" name="CLK07"/>
          <p:cNvSpPr/>
          <p:nvPr/>
        </p:nvSpPr>
        <p:spPr>
          <a:xfrm>
            <a:off x="8778240" y="4617720"/>
            <a:ext cx="3108600" cy="840960"/>
          </a:xfrm>
          <a:prstGeom prst="roundRect">
            <a:avLst>
              <a:gd name="adj" fmla="val 16667"/>
            </a:avLst>
          </a:prstGeom>
          <a:solidFill>
            <a:srgbClr val="4F81B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1" u="none" strike="noStrike">
                <a:solidFill>
                  <a:srgbClr val="FFFFFF"/>
                </a:solidFill>
                <a:effectLst/>
                <a:uFillTx/>
                <a:latin typeface="Calibri"/>
              </a:rPr>
              <a:t>Indirect (second-degree) price discrimination:  </a:t>
            </a:r>
            <a:r>
              <a:rPr lang="en-US" sz="1200" b="0" u="none" strike="noStrike">
                <a:solidFill>
                  <a:srgbClr val="FFFFFF"/>
                </a:solidFill>
                <a:effectLst/>
                <a:uFillTx/>
                <a:latin typeface="Calibri"/>
              </a:rPr>
              <a:t>versioning, coupons</a:t>
            </a:r>
            <a:endParaRPr lang="en-US" sz="1200" b="0" u="none" strike="noStrike">
              <a:solidFill>
                <a:srgbClr val="FFFFFF"/>
              </a:solidFill>
              <a:effectLst/>
              <a:uFillTx/>
              <a:latin typeface="Arial"/>
            </a:endParaRPr>
          </a:p>
        </p:txBody>
      </p:sp>
      <p:sp>
        <p:nvSpPr>
          <p:cNvPr id="467" name="CLK08"/>
          <p:cNvSpPr/>
          <p:nvPr/>
        </p:nvSpPr>
        <p:spPr>
          <a:xfrm>
            <a:off x="1371600" y="4754880"/>
            <a:ext cx="2102760" cy="712800"/>
          </a:xfrm>
          <a:prstGeom prst="roundRect">
            <a:avLst>
              <a:gd name="adj" fmla="val 16667"/>
            </a:avLst>
          </a:prstGeom>
          <a:solidFill>
            <a:srgbClr val="4F81B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200" b="1" u="none" strike="noStrike">
                <a:solidFill>
                  <a:srgbClr val="FFFFFF"/>
                </a:solidFill>
                <a:effectLst/>
                <a:uFillTx/>
                <a:latin typeface="Calibri"/>
              </a:rPr>
              <a:t>Direct price discrimination</a:t>
            </a:r>
            <a:endParaRPr lang="en-US" sz="1200" b="0" u="none" strike="noStrike">
              <a:solidFill>
                <a:srgbClr val="FFFFFF"/>
              </a:solidFill>
              <a:effectLst/>
              <a:uFillTx/>
              <a:latin typeface="Arial"/>
            </a:endParaRPr>
          </a:p>
        </p:txBody>
      </p:sp>
      <p:sp>
        <p:nvSpPr>
          <p:cNvPr id="468" name="CLK09"/>
          <p:cNvSpPr/>
          <p:nvPr/>
        </p:nvSpPr>
        <p:spPr>
          <a:xfrm>
            <a:off x="274320" y="5596200"/>
            <a:ext cx="2742840" cy="785880"/>
          </a:xfrm>
          <a:prstGeom prst="roundRect">
            <a:avLst>
              <a:gd name="adj" fmla="val 16667"/>
            </a:avLst>
          </a:prstGeom>
          <a:solidFill>
            <a:srgbClr val="4F81B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100" b="0" u="none" strike="noStrike">
                <a:solidFill>
                  <a:srgbClr val="FFFFFF"/>
                </a:solidFill>
                <a:effectLst/>
                <a:uFillTx/>
                <a:latin typeface="Calibri"/>
              </a:rPr>
              <a:t>Complete information on every customer → </a:t>
            </a:r>
            <a:r>
              <a:rPr lang="en-US" sz="1100" b="1" u="none" strike="noStrike">
                <a:solidFill>
                  <a:srgbClr val="FFFFFF"/>
                </a:solidFill>
                <a:effectLst/>
                <a:uFillTx/>
                <a:latin typeface="Calibri"/>
              </a:rPr>
              <a:t>Perfect (first-degree)</a:t>
            </a:r>
            <a:endParaRPr lang="en-US" sz="1100" b="0" u="none" strike="noStrike">
              <a:solidFill>
                <a:srgbClr val="FFFFFF"/>
              </a:solidFill>
              <a:effectLst/>
              <a:uFillTx/>
              <a:latin typeface="Arial"/>
            </a:endParaRPr>
          </a:p>
        </p:txBody>
      </p:sp>
      <p:sp>
        <p:nvSpPr>
          <p:cNvPr id="469" name="CLK09"/>
          <p:cNvSpPr/>
          <p:nvPr/>
        </p:nvSpPr>
        <p:spPr>
          <a:xfrm>
            <a:off x="3200400" y="5596200"/>
            <a:ext cx="2742840" cy="785880"/>
          </a:xfrm>
          <a:prstGeom prst="roundRect">
            <a:avLst>
              <a:gd name="adj" fmla="val 16667"/>
            </a:avLst>
          </a:prstGeom>
          <a:solidFill>
            <a:srgbClr val="4F81BD"/>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457200">
              <a:lnSpc>
                <a:spcPct val="100000"/>
              </a:lnSpc>
            </a:pPr>
            <a:r>
              <a:rPr lang="en-US" sz="1100" b="0" u="none" strike="noStrike">
                <a:solidFill>
                  <a:srgbClr val="FFFFFF"/>
                </a:solidFill>
                <a:effectLst/>
                <a:uFillTx/>
                <a:latin typeface="Calibri"/>
              </a:rPr>
              <a:t>Information on groups of customers → </a:t>
            </a:r>
            <a:r>
              <a:rPr lang="en-US" sz="1100" b="1" u="none" strike="noStrike">
                <a:solidFill>
                  <a:srgbClr val="FFFFFF"/>
                </a:solidFill>
                <a:effectLst/>
                <a:uFillTx/>
                <a:latin typeface="Calibri"/>
              </a:rPr>
              <a:t>Segmenting (third-degree)</a:t>
            </a:r>
            <a:endParaRPr lang="en-US" sz="1100" b="0" u="none" strike="noStrike">
              <a:solidFill>
                <a:srgbClr val="FFFFFF"/>
              </a:solidFill>
              <a:effectLst/>
              <a:uFillTx/>
              <a:latin typeface="Arial"/>
            </a:endParaRPr>
          </a:p>
        </p:txBody>
      </p:sp>
      <p:cxnSp>
        <p:nvCxnSpPr>
          <p:cNvPr id="470" name="CLK01"/>
          <p:cNvCxnSpPr/>
          <p:nvPr/>
        </p:nvCxnSpPr>
        <p:spPr>
          <a:xfrm>
            <a:off x="6217920" y="1746360"/>
            <a:ext cx="2560680" cy="720"/>
          </a:xfrm>
          <a:prstGeom prst="straightConnector1">
            <a:avLst/>
          </a:prstGeom>
          <a:ln w="20320">
            <a:solidFill>
              <a:srgbClr val="0B2B4E"/>
            </a:solidFill>
            <a:round/>
            <a:tailEnd type="triangle" w="med" len="med"/>
          </a:ln>
        </p:spPr>
      </p:cxnSp>
      <p:sp>
        <p:nvSpPr>
          <p:cNvPr id="471" name="CLK01"/>
          <p:cNvSpPr/>
          <p:nvPr/>
        </p:nvSpPr>
        <p:spPr>
          <a:xfrm>
            <a:off x="7269480" y="149040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No</a:t>
            </a:r>
            <a:endParaRPr lang="en-US" sz="1200" b="0" u="none" strike="noStrike">
              <a:solidFill>
                <a:srgbClr val="000000"/>
              </a:solidFill>
              <a:effectLst/>
              <a:uFillTx/>
              <a:latin typeface="Arial"/>
            </a:endParaRPr>
          </a:p>
        </p:txBody>
      </p:sp>
      <p:cxnSp>
        <p:nvCxnSpPr>
          <p:cNvPr id="472" name="CLK03"/>
          <p:cNvCxnSpPr/>
          <p:nvPr/>
        </p:nvCxnSpPr>
        <p:spPr>
          <a:xfrm>
            <a:off x="6217920" y="2816280"/>
            <a:ext cx="2560680" cy="720"/>
          </a:xfrm>
          <a:prstGeom prst="straightConnector1">
            <a:avLst/>
          </a:prstGeom>
          <a:ln w="20320">
            <a:solidFill>
              <a:srgbClr val="0B2B4E"/>
            </a:solidFill>
            <a:round/>
            <a:tailEnd type="triangle" w="med" len="med"/>
          </a:ln>
        </p:spPr>
      </p:cxnSp>
      <p:sp>
        <p:nvSpPr>
          <p:cNvPr id="473" name="CLK03"/>
          <p:cNvSpPr/>
          <p:nvPr/>
        </p:nvSpPr>
        <p:spPr>
          <a:xfrm>
            <a:off x="7269480" y="256032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No</a:t>
            </a:r>
            <a:endParaRPr lang="en-US" sz="1200" b="0" u="none" strike="noStrike">
              <a:solidFill>
                <a:srgbClr val="000000"/>
              </a:solidFill>
              <a:effectLst/>
              <a:uFillTx/>
              <a:latin typeface="Arial"/>
            </a:endParaRPr>
          </a:p>
        </p:txBody>
      </p:sp>
      <p:cxnSp>
        <p:nvCxnSpPr>
          <p:cNvPr id="474" name="CLK05"/>
          <p:cNvCxnSpPr/>
          <p:nvPr/>
        </p:nvCxnSpPr>
        <p:spPr>
          <a:xfrm>
            <a:off x="6217920" y="3913560"/>
            <a:ext cx="2560680" cy="720"/>
          </a:xfrm>
          <a:prstGeom prst="straightConnector1">
            <a:avLst/>
          </a:prstGeom>
          <a:ln w="20320">
            <a:solidFill>
              <a:srgbClr val="0B2B4E"/>
            </a:solidFill>
            <a:round/>
            <a:tailEnd type="triangle" w="med" len="med"/>
          </a:ln>
        </p:spPr>
      </p:cxnSp>
      <p:sp>
        <p:nvSpPr>
          <p:cNvPr id="475" name="CLK05"/>
          <p:cNvSpPr/>
          <p:nvPr/>
        </p:nvSpPr>
        <p:spPr>
          <a:xfrm>
            <a:off x="7269480" y="365760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No</a:t>
            </a:r>
            <a:endParaRPr lang="en-US" sz="1200" b="0" u="none" strike="noStrike">
              <a:solidFill>
                <a:srgbClr val="000000"/>
              </a:solidFill>
              <a:effectLst/>
              <a:uFillTx/>
              <a:latin typeface="Arial"/>
            </a:endParaRPr>
          </a:p>
        </p:txBody>
      </p:sp>
      <p:cxnSp>
        <p:nvCxnSpPr>
          <p:cNvPr id="476" name="CLK07"/>
          <p:cNvCxnSpPr/>
          <p:nvPr/>
        </p:nvCxnSpPr>
        <p:spPr>
          <a:xfrm>
            <a:off x="6217920" y="5102280"/>
            <a:ext cx="2560680" cy="720"/>
          </a:xfrm>
          <a:prstGeom prst="straightConnector1">
            <a:avLst/>
          </a:prstGeom>
          <a:ln w="20320">
            <a:solidFill>
              <a:srgbClr val="0B2B4E"/>
            </a:solidFill>
            <a:round/>
            <a:tailEnd type="triangle" w="med" len="med"/>
          </a:ln>
        </p:spPr>
      </p:cxnSp>
      <p:sp>
        <p:nvSpPr>
          <p:cNvPr id="477" name="CLK07"/>
          <p:cNvSpPr/>
          <p:nvPr/>
        </p:nvSpPr>
        <p:spPr>
          <a:xfrm>
            <a:off x="7269480" y="484632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No</a:t>
            </a:r>
            <a:endParaRPr lang="en-US" sz="1200" b="0" u="none" strike="noStrike">
              <a:solidFill>
                <a:srgbClr val="000000"/>
              </a:solidFill>
              <a:effectLst/>
              <a:uFillTx/>
              <a:latin typeface="Arial"/>
            </a:endParaRPr>
          </a:p>
        </p:txBody>
      </p:sp>
      <p:cxnSp>
        <p:nvCxnSpPr>
          <p:cNvPr id="478" name="CLK02"/>
          <p:cNvCxnSpPr/>
          <p:nvPr/>
        </p:nvCxnSpPr>
        <p:spPr>
          <a:xfrm>
            <a:off x="5074920" y="2075400"/>
            <a:ext cx="720" cy="411840"/>
          </a:xfrm>
          <a:prstGeom prst="straightConnector1">
            <a:avLst/>
          </a:prstGeom>
          <a:ln w="20320">
            <a:solidFill>
              <a:srgbClr val="0B2B4E"/>
            </a:solidFill>
            <a:round/>
            <a:tailEnd type="triangle" w="med" len="med"/>
          </a:ln>
        </p:spPr>
      </p:cxnSp>
      <p:sp>
        <p:nvSpPr>
          <p:cNvPr id="479" name="CLK02"/>
          <p:cNvSpPr/>
          <p:nvPr/>
        </p:nvSpPr>
        <p:spPr>
          <a:xfrm>
            <a:off x="4965120" y="216234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dirty="0">
                <a:solidFill>
                  <a:srgbClr val="0B2B4E"/>
                </a:solidFill>
                <a:effectLst/>
                <a:uFillTx/>
                <a:latin typeface="Calibri"/>
              </a:rPr>
              <a:t>Yes</a:t>
            </a:r>
            <a:endParaRPr lang="en-US" sz="1200" b="0" u="none" strike="noStrike" dirty="0">
              <a:solidFill>
                <a:srgbClr val="000000"/>
              </a:solidFill>
              <a:effectLst/>
              <a:uFillTx/>
              <a:latin typeface="Arial"/>
            </a:endParaRPr>
          </a:p>
        </p:txBody>
      </p:sp>
      <p:cxnSp>
        <p:nvCxnSpPr>
          <p:cNvPr id="480" name="CLK04"/>
          <p:cNvCxnSpPr/>
          <p:nvPr/>
        </p:nvCxnSpPr>
        <p:spPr>
          <a:xfrm>
            <a:off x="5074920" y="3145320"/>
            <a:ext cx="720" cy="411840"/>
          </a:xfrm>
          <a:prstGeom prst="straightConnector1">
            <a:avLst/>
          </a:prstGeom>
          <a:ln w="20320">
            <a:solidFill>
              <a:srgbClr val="0B2B4E"/>
            </a:solidFill>
            <a:round/>
            <a:tailEnd type="triangle" w="med" len="med"/>
          </a:ln>
        </p:spPr>
      </p:cxnSp>
      <p:sp>
        <p:nvSpPr>
          <p:cNvPr id="481" name="CLK04"/>
          <p:cNvSpPr/>
          <p:nvPr/>
        </p:nvSpPr>
        <p:spPr>
          <a:xfrm>
            <a:off x="4965120" y="321912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dirty="0">
                <a:solidFill>
                  <a:srgbClr val="0B2B4E"/>
                </a:solidFill>
                <a:effectLst/>
                <a:uFillTx/>
                <a:latin typeface="Calibri"/>
              </a:rPr>
              <a:t>Yes</a:t>
            </a:r>
            <a:endParaRPr lang="en-US" sz="1200" b="0" u="none" strike="noStrike" dirty="0">
              <a:solidFill>
                <a:srgbClr val="000000"/>
              </a:solidFill>
              <a:effectLst/>
              <a:uFillTx/>
              <a:latin typeface="Arial"/>
            </a:endParaRPr>
          </a:p>
        </p:txBody>
      </p:sp>
      <p:cxnSp>
        <p:nvCxnSpPr>
          <p:cNvPr id="482" name="CLK06"/>
          <p:cNvCxnSpPr/>
          <p:nvPr/>
        </p:nvCxnSpPr>
        <p:spPr>
          <a:xfrm>
            <a:off x="5074920" y="4269960"/>
            <a:ext cx="720" cy="411840"/>
          </a:xfrm>
          <a:prstGeom prst="straightConnector1">
            <a:avLst/>
          </a:prstGeom>
          <a:ln w="20320">
            <a:solidFill>
              <a:srgbClr val="0B2B4E"/>
            </a:solidFill>
            <a:round/>
            <a:tailEnd type="triangle" w="med" len="med"/>
          </a:ln>
        </p:spPr>
      </p:cxnSp>
      <p:sp>
        <p:nvSpPr>
          <p:cNvPr id="483" name="CLK06"/>
          <p:cNvSpPr/>
          <p:nvPr/>
        </p:nvSpPr>
        <p:spPr>
          <a:xfrm>
            <a:off x="4965120" y="433404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dirty="0">
                <a:solidFill>
                  <a:srgbClr val="0B2B4E"/>
                </a:solidFill>
                <a:effectLst/>
                <a:uFillTx/>
                <a:latin typeface="Calibri"/>
              </a:rPr>
              <a:t>Yes</a:t>
            </a:r>
            <a:endParaRPr lang="en-US" sz="1200" b="0" u="none" strike="noStrike" dirty="0">
              <a:solidFill>
                <a:srgbClr val="000000"/>
              </a:solidFill>
              <a:effectLst/>
              <a:uFillTx/>
              <a:latin typeface="Arial"/>
            </a:endParaRPr>
          </a:p>
        </p:txBody>
      </p:sp>
      <p:cxnSp>
        <p:nvCxnSpPr>
          <p:cNvPr id="484" name="CLK08"/>
          <p:cNvCxnSpPr/>
          <p:nvPr/>
        </p:nvCxnSpPr>
        <p:spPr>
          <a:xfrm flipH="1">
            <a:off x="3474720" y="5102280"/>
            <a:ext cx="457560" cy="720"/>
          </a:xfrm>
          <a:prstGeom prst="straightConnector1">
            <a:avLst/>
          </a:prstGeom>
          <a:ln w="20320">
            <a:solidFill>
              <a:srgbClr val="0B2B4E"/>
            </a:solidFill>
            <a:round/>
            <a:tailEnd type="triangle" w="med" len="med"/>
          </a:ln>
        </p:spPr>
      </p:cxnSp>
      <p:sp>
        <p:nvSpPr>
          <p:cNvPr id="485" name="CLK08"/>
          <p:cNvSpPr/>
          <p:nvPr/>
        </p:nvSpPr>
        <p:spPr>
          <a:xfrm>
            <a:off x="3383280" y="483732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dirty="0">
                <a:solidFill>
                  <a:srgbClr val="0B2B4E"/>
                </a:solidFill>
                <a:effectLst/>
                <a:uFillTx/>
                <a:latin typeface="Calibri"/>
              </a:rPr>
              <a:t>Yes</a:t>
            </a:r>
            <a:endParaRPr lang="en-US" sz="1200" b="0" u="none" strike="noStrike" dirty="0">
              <a:solidFill>
                <a:srgbClr val="000000"/>
              </a:solidFill>
              <a:effectLst/>
              <a:uFillTx/>
              <a:latin typeface="Arial"/>
            </a:endParaRPr>
          </a:p>
        </p:txBody>
      </p:sp>
      <p:cxnSp>
        <p:nvCxnSpPr>
          <p:cNvPr id="486" name="CLK09"/>
          <p:cNvCxnSpPr/>
          <p:nvPr/>
        </p:nvCxnSpPr>
        <p:spPr>
          <a:xfrm flipH="1">
            <a:off x="1645920" y="5468040"/>
            <a:ext cx="457560" cy="128160"/>
          </a:xfrm>
          <a:prstGeom prst="straightConnector1">
            <a:avLst/>
          </a:prstGeom>
          <a:ln w="20320">
            <a:solidFill>
              <a:srgbClr val="0B2B4E"/>
            </a:solidFill>
            <a:round/>
            <a:tailEnd type="triangle" w="med" len="med"/>
          </a:ln>
        </p:spPr>
      </p:cxnSp>
      <p:cxnSp>
        <p:nvCxnSpPr>
          <p:cNvPr id="487" name="CLK09"/>
          <p:cNvCxnSpPr/>
          <p:nvPr/>
        </p:nvCxnSpPr>
        <p:spPr>
          <a:xfrm>
            <a:off x="2651760" y="5468040"/>
            <a:ext cx="1280520" cy="128160"/>
          </a:xfrm>
          <a:prstGeom prst="straightConnector1">
            <a:avLst/>
          </a:prstGeom>
          <a:ln w="20320">
            <a:solidFill>
              <a:srgbClr val="0B2B4E"/>
            </a:solidFill>
            <a:round/>
            <a:tailEnd type="triangle" w="med" len="med"/>
          </a:ln>
        </p:spPr>
      </p:cxnSp>
      <p:sp>
        <p:nvSpPr>
          <p:cNvPr id="488" name="TextBox 39"/>
          <p:cNvSpPr/>
          <p:nvPr/>
        </p:nvSpPr>
        <p:spPr>
          <a:xfrm>
            <a:off x="7863840" y="6419160"/>
            <a:ext cx="402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000" b="0" i="1" u="none" strike="noStrike">
                <a:solidFill>
                  <a:srgbClr val="555B66"/>
                </a:solidFill>
                <a:effectLst/>
                <a:uFillTx/>
                <a:latin typeface="Calibri"/>
              </a:rPr>
              <a:t>Source: Goolsbee, Levitt, Syverson</a:t>
            </a:r>
            <a:endParaRPr lang="en-US" sz="10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8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7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6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8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6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7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6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8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8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6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8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Behavioral Pricing</a:t>
            </a:r>
            <a:endParaRPr lang="en-US" sz="1600" b="0" u="none" strike="noStrike">
              <a:solidFill>
                <a:srgbClr val="000000"/>
              </a:solidFill>
              <a:effectLst/>
              <a:uFillTx/>
              <a:latin typeface="Arial"/>
            </a:endParaRPr>
          </a:p>
        </p:txBody>
      </p:sp>
      <p:sp>
        <p:nvSpPr>
          <p:cNvPr id="49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The Economist Pricing Example</a:t>
            </a:r>
            <a:endParaRPr lang="en-US" sz="3200" b="0" u="none" strike="noStrike">
              <a:solidFill>
                <a:srgbClr val="000000"/>
              </a:solidFill>
              <a:effectLst/>
              <a:uFillTx/>
              <a:latin typeface="Arial"/>
            </a:endParaRPr>
          </a:p>
        </p:txBody>
      </p:sp>
      <p:sp>
        <p:nvSpPr>
          <p:cNvPr id="49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9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23</a:t>
            </a:r>
            <a:endParaRPr lang="en-US" sz="1200" b="0" u="none" strike="noStrike">
              <a:solidFill>
                <a:srgbClr val="000000"/>
              </a:solidFill>
              <a:effectLst/>
              <a:uFillTx/>
              <a:latin typeface="Arial"/>
            </a:endParaRPr>
          </a:p>
        </p:txBody>
      </p:sp>
      <p:sp>
        <p:nvSpPr>
          <p:cNvPr id="498" name="TextBox 10"/>
          <p:cNvSpPr/>
          <p:nvPr/>
        </p:nvSpPr>
        <p:spPr>
          <a:xfrm>
            <a:off x="640080" y="141732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000" b="1" u="none" strike="noStrike">
                <a:solidFill>
                  <a:srgbClr val="0B2B4E"/>
                </a:solidFill>
                <a:effectLst/>
                <a:uFillTx/>
                <a:latin typeface="Calibri"/>
              </a:rPr>
              <a:t>What do you think about this pricing strategy?</a:t>
            </a:r>
            <a:endParaRPr lang="en-US" sz="2000" b="0" u="none" strike="noStrike">
              <a:solidFill>
                <a:srgbClr val="000000"/>
              </a:solidFill>
              <a:effectLst/>
              <a:uFillTx/>
              <a:latin typeface="Arial"/>
            </a:endParaRPr>
          </a:p>
        </p:txBody>
      </p:sp>
      <p:sp>
        <p:nvSpPr>
          <p:cNvPr id="499" name="Picture 11" descr="s23_econ.jpeg"/>
          <p:cNvSpPr/>
          <p:nvPr/>
        </p:nvSpPr>
        <p:spPr>
          <a:xfrm>
            <a:off x="3291840" y="1965960"/>
            <a:ext cx="5760360" cy="44935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Behavioral Pricing</a:t>
            </a:r>
            <a:endParaRPr lang="en-US" sz="1600" b="0" u="none" strike="noStrike">
              <a:solidFill>
                <a:srgbClr val="000000"/>
              </a:solidFill>
              <a:effectLst/>
              <a:uFillTx/>
              <a:latin typeface="Arial"/>
            </a:endParaRPr>
          </a:p>
        </p:txBody>
      </p:sp>
      <p:sp>
        <p:nvSpPr>
          <p:cNvPr id="50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Dan Ariely’s Experiment</a:t>
            </a:r>
            <a:endParaRPr lang="en-US" sz="3200" b="0" u="none" strike="noStrike">
              <a:solidFill>
                <a:srgbClr val="000000"/>
              </a:solidFill>
              <a:effectLst/>
              <a:uFillTx/>
              <a:latin typeface="Arial"/>
            </a:endParaRPr>
          </a:p>
        </p:txBody>
      </p:sp>
      <p:sp>
        <p:nvSpPr>
          <p:cNvPr id="50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0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24</a:t>
            </a:r>
            <a:endParaRPr lang="en-US" sz="1200" b="0" u="none" strike="noStrike">
              <a:solidFill>
                <a:srgbClr val="000000"/>
              </a:solidFill>
              <a:effectLst/>
              <a:uFillTx/>
              <a:latin typeface="Arial"/>
            </a:endParaRPr>
          </a:p>
        </p:txBody>
      </p:sp>
      <p:sp>
        <p:nvSpPr>
          <p:cNvPr id="509" name="Picture 10" descr="s24_0.png"/>
          <p:cNvSpPr/>
          <p:nvPr/>
        </p:nvSpPr>
        <p:spPr>
          <a:xfrm>
            <a:off x="3108960" y="1783080"/>
            <a:ext cx="5943240" cy="329616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Rectangle 1"/>
          <p:cNvSpPr/>
          <p:nvPr/>
        </p:nvSpPr>
        <p:spPr>
          <a:xfrm>
            <a:off x="0" y="511920"/>
            <a:ext cx="12191400" cy="6025680"/>
          </a:xfrm>
          <a:prstGeom prst="rect">
            <a:avLst/>
          </a:prstGeom>
          <a:solidFill>
            <a:srgbClr val="E9F2F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pic>
        <p:nvPicPr>
          <p:cNvPr id="511" name="Picture 2" descr="disney_faded.jpg"/>
          <p:cNvPicPr/>
          <p:nvPr/>
        </p:nvPicPr>
        <p:blipFill>
          <a:blip r:embed="rId2"/>
          <a:stretch/>
        </p:blipFill>
        <p:spPr>
          <a:xfrm>
            <a:off x="0" y="2788920"/>
            <a:ext cx="12191400" cy="3684600"/>
          </a:xfrm>
          <a:prstGeom prst="rect">
            <a:avLst/>
          </a:prstGeom>
          <a:noFill/>
          <a:ln w="0">
            <a:noFill/>
          </a:ln>
        </p:spPr>
      </p:pic>
      <p:sp>
        <p:nvSpPr>
          <p:cNvPr id="512" name="Rectangle 3"/>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3" name="TextBox 4"/>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14" name="TextBox 5"/>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Pricing Strategy</a:t>
            </a:r>
            <a:endParaRPr lang="en-US" sz="3200" b="0" u="none" strike="noStrike">
              <a:solidFill>
                <a:srgbClr val="000000"/>
              </a:solidFill>
              <a:effectLst/>
              <a:uFillTx/>
              <a:latin typeface="Arial"/>
            </a:endParaRPr>
          </a:p>
        </p:txBody>
      </p:sp>
      <p:sp>
        <p:nvSpPr>
          <p:cNvPr id="515" name="Rectangle 6"/>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6" name="Rectangle 7"/>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7" name="Rectangle 8"/>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8" name="Rectangle 9"/>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9" name="TextBox 10"/>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20" name="TextBox 11"/>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25</a:t>
            </a:r>
            <a:endParaRPr lang="en-US" sz="1200" b="0" u="none" strike="noStrike">
              <a:solidFill>
                <a:srgbClr val="000000"/>
              </a:solidFill>
              <a:effectLst/>
              <a:uFillTx/>
              <a:latin typeface="Arial"/>
            </a:endParaRPr>
          </a:p>
        </p:txBody>
      </p:sp>
      <p:sp>
        <p:nvSpPr>
          <p:cNvPr id="521" name="TextBox 12"/>
          <p:cNvSpPr/>
          <p:nvPr/>
        </p:nvSpPr>
        <p:spPr>
          <a:xfrm>
            <a:off x="914400" y="2011680"/>
            <a:ext cx="103323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a:solidFill>
                  <a:srgbClr val="0B2B4E"/>
                </a:solidFill>
                <a:effectLst/>
                <a:uFillTx/>
                <a:latin typeface="Calibri"/>
              </a:rPr>
              <a:t>Explain Disneyland’s pricing strategy.</a:t>
            </a:r>
            <a:endParaRPr lang="en-US" sz="3000" b="0" u="none" strike="noStrike">
              <a:solidFill>
                <a:srgbClr val="000000"/>
              </a:solidFill>
              <a:effectLst/>
              <a:uFillTx/>
              <a:latin typeface="Arial"/>
            </a:endParaRPr>
          </a:p>
        </p:txBody>
      </p:sp>
      <p:sp>
        <p:nvSpPr>
          <p:cNvPr id="522" name="Parallelogram 13"/>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Group discussion break</a:t>
            </a:r>
            <a:endParaRPr lang="en-US" sz="15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2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2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Disneyland: 2nd-Degree Price Discrimination</a:t>
            </a:r>
            <a:endParaRPr lang="en-US" sz="2600" b="0" u="none" strike="noStrike">
              <a:solidFill>
                <a:srgbClr val="000000"/>
              </a:solidFill>
              <a:effectLst/>
              <a:uFillTx/>
              <a:latin typeface="Arial"/>
            </a:endParaRPr>
          </a:p>
        </p:txBody>
      </p:sp>
      <p:sp>
        <p:nvSpPr>
          <p:cNvPr id="52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2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2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2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3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26</a:t>
            </a:r>
            <a:endParaRPr lang="en-US" sz="1200" b="0" u="none" strike="noStrike">
              <a:solidFill>
                <a:srgbClr val="000000"/>
              </a:solidFill>
              <a:effectLst/>
              <a:uFillTx/>
              <a:latin typeface="Arial"/>
            </a:endParaRPr>
          </a:p>
        </p:txBody>
      </p:sp>
      <p:sp>
        <p:nvSpPr>
          <p:cNvPr id="532" name="Picture 10" descr="disney_pano.png"/>
          <p:cNvSpPr/>
          <p:nvPr/>
        </p:nvSpPr>
        <p:spPr>
          <a:xfrm>
            <a:off x="2011680" y="1463040"/>
            <a:ext cx="8229240" cy="248724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3" name="Picture 11" descr="s26_0.png"/>
          <p:cNvSpPr/>
          <p:nvPr/>
        </p:nvSpPr>
        <p:spPr>
          <a:xfrm>
            <a:off x="3383280" y="4114800"/>
            <a:ext cx="5486040" cy="227772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3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Disneyland: 3rd-Degree Price Discrimination</a:t>
            </a:r>
            <a:endParaRPr lang="en-US" sz="2600" b="0" u="none" strike="noStrike">
              <a:solidFill>
                <a:srgbClr val="000000"/>
              </a:solidFill>
              <a:effectLst/>
              <a:uFillTx/>
              <a:latin typeface="Arial"/>
            </a:endParaRPr>
          </a:p>
        </p:txBody>
      </p:sp>
      <p:sp>
        <p:nvSpPr>
          <p:cNvPr id="53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4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27</a:t>
            </a:r>
            <a:endParaRPr lang="en-US" sz="1200" b="0" u="none" strike="noStrike">
              <a:solidFill>
                <a:srgbClr val="000000"/>
              </a:solidFill>
              <a:effectLst/>
              <a:uFillTx/>
              <a:latin typeface="Arial"/>
            </a:endParaRPr>
          </a:p>
        </p:txBody>
      </p:sp>
      <p:sp>
        <p:nvSpPr>
          <p:cNvPr id="543" name="Picture 10" descr="s27_disney.png"/>
          <p:cNvSpPr/>
          <p:nvPr/>
        </p:nvSpPr>
        <p:spPr>
          <a:xfrm>
            <a:off x="2377440" y="1600200"/>
            <a:ext cx="7406280" cy="279000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4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Disneyland: 3rd-Degree Price Discrimination</a:t>
            </a:r>
            <a:endParaRPr lang="en-US" sz="2600" b="0" u="none" strike="noStrike">
              <a:solidFill>
                <a:srgbClr val="000000"/>
              </a:solidFill>
              <a:effectLst/>
              <a:uFillTx/>
              <a:latin typeface="Arial"/>
            </a:endParaRPr>
          </a:p>
        </p:txBody>
      </p:sp>
      <p:sp>
        <p:nvSpPr>
          <p:cNvPr id="54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5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28</a:t>
            </a:r>
            <a:endParaRPr lang="en-US" sz="1200" b="0" u="none" strike="noStrike">
              <a:solidFill>
                <a:srgbClr val="000000"/>
              </a:solidFill>
              <a:effectLst/>
              <a:uFillTx/>
              <a:latin typeface="Arial"/>
            </a:endParaRPr>
          </a:p>
        </p:txBody>
      </p:sp>
      <p:sp>
        <p:nvSpPr>
          <p:cNvPr id="553" name="Picture 10" descr="s28_disney.png"/>
          <p:cNvSpPr/>
          <p:nvPr/>
        </p:nvSpPr>
        <p:spPr>
          <a:xfrm>
            <a:off x="2377440" y="1600200"/>
            <a:ext cx="7406280" cy="434232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5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Disneyland: Two-Part Tariff</a:t>
            </a:r>
            <a:endParaRPr lang="en-US" sz="3200" b="0" u="none" strike="noStrike">
              <a:solidFill>
                <a:srgbClr val="000000"/>
              </a:solidFill>
              <a:effectLst/>
              <a:uFillTx/>
              <a:latin typeface="Arial"/>
            </a:endParaRPr>
          </a:p>
        </p:txBody>
      </p:sp>
      <p:sp>
        <p:nvSpPr>
          <p:cNvPr id="55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6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29</a:t>
            </a:r>
            <a:endParaRPr lang="en-US" sz="1200" b="0" u="none" strike="noStrike">
              <a:solidFill>
                <a:srgbClr val="000000"/>
              </a:solidFill>
              <a:effectLst/>
              <a:uFillTx/>
              <a:latin typeface="Arial"/>
            </a:endParaRPr>
          </a:p>
        </p:txBody>
      </p:sp>
      <p:sp>
        <p:nvSpPr>
          <p:cNvPr id="563" name="Picture 10" descr="s29_disney.png"/>
          <p:cNvSpPr/>
          <p:nvPr/>
        </p:nvSpPr>
        <p:spPr>
          <a:xfrm>
            <a:off x="2377440" y="1600200"/>
            <a:ext cx="7406280" cy="299916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Case: Disneyland</a:t>
            </a:r>
            <a:endParaRPr lang="en-US" sz="1600" b="0" u="none" strike="noStrike">
              <a:solidFill>
                <a:srgbClr val="000000"/>
              </a:solidFill>
              <a:effectLst/>
              <a:uFillTx/>
              <a:latin typeface="Arial"/>
            </a:endParaRPr>
          </a:p>
        </p:txBody>
      </p:sp>
      <p:sp>
        <p:nvSpPr>
          <p:cNvPr id="56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Disneyland: Volume Pricing</a:t>
            </a:r>
            <a:endParaRPr lang="en-US" sz="3200" b="0" u="none" strike="noStrike">
              <a:solidFill>
                <a:srgbClr val="000000"/>
              </a:solidFill>
              <a:effectLst/>
              <a:uFillTx/>
              <a:latin typeface="Arial"/>
            </a:endParaRPr>
          </a:p>
        </p:txBody>
      </p:sp>
      <p:sp>
        <p:nvSpPr>
          <p:cNvPr id="56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7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30</a:t>
            </a:r>
            <a:endParaRPr lang="en-US" sz="1200" b="0" u="none" strike="noStrike">
              <a:solidFill>
                <a:srgbClr val="000000"/>
              </a:solidFill>
              <a:effectLst/>
              <a:uFillTx/>
              <a:latin typeface="Arial"/>
            </a:endParaRPr>
          </a:p>
        </p:txBody>
      </p:sp>
      <p:sp>
        <p:nvSpPr>
          <p:cNvPr id="573" name="Picture 10" descr="s30_disney.png"/>
          <p:cNvSpPr/>
          <p:nvPr/>
        </p:nvSpPr>
        <p:spPr>
          <a:xfrm>
            <a:off x="2377440" y="1600200"/>
            <a:ext cx="7406280" cy="31561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TotalTime>
  <Words>2741</Words>
  <Application>Microsoft Office PowerPoint</Application>
  <PresentationFormat>Widescreen</PresentationFormat>
  <Paragraphs>364</Paragraphs>
  <Slides>30</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PAOLA GIULIANO</dc:creator>
  <dc:description>generated using python-pptx</dc:description>
  <cp:lastModifiedBy>Giuliano, Paola</cp:lastModifiedBy>
  <cp:revision>3</cp:revision>
  <dcterms:created xsi:type="dcterms:W3CDTF">2013-01-27T09:14:16Z</dcterms:created>
  <dcterms:modified xsi:type="dcterms:W3CDTF">2026-07-05T04:03:22Z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