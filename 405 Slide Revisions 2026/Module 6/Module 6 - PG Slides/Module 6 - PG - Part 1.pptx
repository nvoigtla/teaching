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xml" ContentType="application/vnd.openxmlformats-officedocument.presentationml.tags+xml"/>
  <Override PartName="/ppt/notesSlides/notesSlide13.xml" ContentType="application/vnd.openxmlformats-officedocument.presentationml.notesSlide+xml"/>
  <Override PartName="/ppt/tags/tag2.xml" ContentType="application/vnd.openxmlformats-officedocument.presentationml.tags+xml"/>
  <Override PartName="/ppt/notesSlides/notesSlide14.xml" ContentType="application/vnd.openxmlformats-officedocument.presentationml.notesSlide+xml"/>
  <Override PartName="/ppt/tags/tag3.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97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B399733D-C45E-4317-BDE1-D4F477602844}" type="datetimeFigureOut">
              <a:rPr lang="en-US" smtClean="0"/>
              <a:t>7/4/2026</a:t>
            </a:fld>
            <a:endParaRPr lang="en-US"/>
          </a:p>
        </p:txBody>
      </p:sp>
      <p:sp>
        <p:nvSpPr>
          <p:cNvPr id="4" name="Slide Image Placeholder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915F43CC-32CC-4D15-B624-022BE99D8AA6}" type="slidenum">
              <a:rPr lang="en-US" smtClean="0"/>
              <a:t>‹#›</a:t>
            </a:fld>
            <a:endParaRPr lang="en-US"/>
          </a:p>
        </p:txBody>
      </p:sp>
    </p:spTree>
    <p:extLst>
      <p:ext uri="{BB962C8B-B14F-4D97-AF65-F5344CB8AC3E}">
        <p14:creationId xmlns:p14="http://schemas.microsoft.com/office/powerpoint/2010/main" val="29377062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When an individual can buy several units of an item, the seller can think about a volume pricing strategy. This is the case of continuous choice as opposed to binary choice (buy/don’t buy). Diminishing marginal personal value comes into play – the value of each subsequent unit falls. </a:t>
            </a:r>
          </a:p>
          <a:p>
            <a:r>
              <a:t> </a:t>
            </a:r>
          </a:p>
          <a:p>
            <a:r>
              <a:t>We will talk about 3 kinds of volume pricing; we will see examples of each - they all amount to the same thing:</a:t>
            </a:r>
          </a:p>
          <a:p>
            <a:r>
              <a:t>— Fixed fee + access price</a:t>
            </a:r>
          </a:p>
          <a:p>
            <a:r>
              <a:t>— All or nothing pricing: bundle.</a:t>
            </a:r>
          </a:p>
          <a:p>
            <a:r>
              <a:t>— Quantity discounts: sliding scale. </a:t>
            </a:r>
          </a:p>
          <a:p>
            <a:r>
              <a:t>Examples of volume pricing:</a:t>
            </a:r>
          </a:p>
          <a:p>
            <a:r>
              <a:t>— Rockreation: fixed monthly fee, unlimited access. Also, price differences with SLC. Is it price discrimination (probably, no – may reflect cost differentials, especially rent)</a:t>
            </a:r>
          </a:p>
          <a:p>
            <a:r>
              <a:t>— Health Club: Annual fee</a:t>
            </a:r>
          </a:p>
          <a:p>
            <a:r>
              <a:t>— Car Wash: Fixed fee - unlimited washes </a:t>
            </a:r>
          </a:p>
          <a:p>
            <a:r>
              <a:t>— Netflix: Monthly fee – “unlimited” rentals</a:t>
            </a:r>
          </a:p>
          <a:p>
            <a:endParaRPr/>
          </a:p>
          <a:p>
            <a:r>
              <a:t>Analytics will help to clarify all this here. We still abstract from cost and set MC=0. The optimal price is where Q=10 because the slope of MR is twice the slope of D and we are setting MR=0. Under simple pricing, there is unexploited volume equal to the lower triangle ($100 of value) and the consumer retains a surplus of $100. The company ends up with revenues of $200. There is some opportunity to do some business here.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Ask in class if this is a price searcher or price taker</a:t>
            </a:r>
          </a:p>
          <a:p>
            <a:endParaRPr/>
          </a:p>
          <a:p>
            <a:r>
              <a:t>The dilemma of pricing is that if you charge a high price to capture a lot of value, you exclude many from wanting to buy the product, namely the hordes of those with valuations for the product that are lower than price. The alternative is to go with volume, but then you have to charge a low price and you give away a lot of consumer surplus, leave a lot of surplus on the table which you do not capture. There is a dilemma. Today we will see how to escape the dilemma through price discrimination.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Consumers are better off under resale: low-price consumers can resell their purchases at a profit; high-price consumers can buy product at a lower price than the firm would charge</a:t>
            </a:r>
          </a:p>
          <a:p>
            <a:r>
              <a:t>Firms are not better off, since only selling at one price, the lower price!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Consumers are better off under resale: low-price consumers can resell their purchases at a profit; high-price consumers can buy product at a lower price than the firm would charge</a:t>
            </a:r>
          </a:p>
          <a:p>
            <a:r>
              <a:t>Firms are not better off, since only selling at one price, the lower price!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an ideal world you would like to charge individual prices to mop up all the surplus – to capture all the area beneath the Demand curve in the form of corporate revenue. This type of customized pricing represents the ideal. Customized to what? To the buyers’ valuations! This is difficult to do in practice for a variety of reasons: e.g., arbitrage, legal restrictions.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that computation: BMW + last PS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cannot ship products from other resellers</a:t>
            </a:r>
          </a:p>
          <a:p>
            <a:r>
              <a:t>The sellers were ordering Dum Dums in bulk from Sam's Club and reselling them on Amazon. They were able to do this because it costs nothing to list a thousand items on Amazon, and they could find information on how to drop-ship on social media. Owens ordered a 500-pack of Dum Dums from one of the Amazon sellers and was surprised to find that they had been shipped directly from Sam's Club. A customer places an order, the company purchases the item from the supplier and the supplier sends it.</a:t>
            </a:r>
          </a:p>
          <a:p>
            <a:endParaRP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reintroduce segment pricing, a concept already introduced in week 2 when we discussed Mercedes’s optimal pricing in the US and Germany, based on different elasticities.</a:t>
            </a:r>
          </a:p>
          <a:p>
            <a:r>
              <a:t> </a:t>
            </a:r>
          </a:p>
          <a:p>
            <a:r>
              <a:t>At the car wash, senior citizens get a discount. This is price discrimination based on age. Why do firms select different prices for different segments? We talked about incentives to discriminate when different market segments exhibit different demand elasticities. You want to equate marginal revenue across segments, assuming marginal cost is equal across segments. The implication of this is that you want to charge a lower price for the more elastic segment. </a:t>
            </a:r>
          </a:p>
          <a:p>
            <a:r>
              <a:t> </a:t>
            </a:r>
          </a:p>
          <a:p>
            <a:r>
              <a:t>So why are senior citizens more price sensitive?</a:t>
            </a:r>
          </a:p>
          <a:p>
            <a:r>
              <a:t> </a:t>
            </a:r>
          </a:p>
          <a:p>
            <a:r>
              <a:t>Going to the car wash is a time consuming activity. It can take 40 minutes, sometimes more for an upscale treatment. Senior citizens can afford to drive around longer for a better deal. Opportunity cost of time. They have lower income, so they are more price sensitive The opportunity cost of time for a senior person is much lower than say for a professional. A professional is concerned about the value of time. Senior citizens don’t care so much about the time component of the cost of the car wash, so they are more sensitive to price.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would you charge lower price to students? lower incomes and more free time. As a result, they are more price-elastic and it is optimal to offer them discounts.</a:t>
            </a:r>
          </a:p>
          <a:p>
            <a:endParaRPr/>
          </a:p>
          <a:p>
            <a:r>
              <a:t>Trick: you need to “verify” that they are indeed students.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Disneyland and Taj Mahal: lower prices for Socal/Indian residents compared to tourists. Why? Tourists have lower elasticity of demand than locals that have more easily available alternatives (and in the Indian case, lower income). Generalized phenomenon in tourism – in India airlines used to charge higher fares to tourists.</a:t>
            </a:r>
          </a:p>
          <a:p>
            <a:endParaRPr/>
          </a:p>
          <a:p>
            <a:r>
              <a:t>Another Example: US drugs cheaper in Canada than in USA. There is more discretion as to price in the US because there is less collective bargaining between public entities and pharmaceutical companies for lower prices. This creates incentives for transshipping of drugs – parallel imports to take advantage of arbitrage opportunities. </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can go directly to the website and look for favourite goods. I use coffee moka bialetti:</a:t>
            </a:r>
          </a:p>
          <a:p>
            <a:r>
              <a:t>https://camelcamelcamel.com/</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next slide: the price of Lodine for humans is three times the price for animals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Poll Title: Do not modify the notes in this section to avoid tampering with the Poll Everywhere activity.</a:t>
            </a:r>
          </a:p>
          <a:p>
            <a:r>
              <a:t>More info at polleverywhere.com/support</a:t>
            </a:r>
          </a:p>
          <a:p>
            <a:endParaRPr/>
          </a:p>
          <a:p>
            <a:r>
              <a:t>Lodine, a medication for arthritis, is used for both humans and dogs. Is the willingness to pay higher for humans or dogs?</a:t>
            </a:r>
          </a:p>
          <a:p>
            <a:r>
              <a:t>https://www.polleverywhere.com/multiple_choice_polls/AEWU6PkzQvpAnRnEJzTPV?display_state=instructions&amp;activity_state=opened&amp;state=opened&amp;flow=Engagement&amp;onscreen=persist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Poll Title: Do not modify the notes in this section to avoid tampering with the Poll Everywhere activity.</a:t>
            </a:r>
          </a:p>
          <a:p>
            <a:r>
              <a:t>More info at polleverywhere.com/support</a:t>
            </a:r>
          </a:p>
          <a:p>
            <a:endParaRPr/>
          </a:p>
          <a:p>
            <a:r>
              <a:t>Lodine, a medication for arthritis, is used for both humans and dogs. Is the willingness to pay higher for humans or dogs?</a:t>
            </a:r>
          </a:p>
          <a:p>
            <a:r>
              <a:t>https://www.polleverywhere.com/multiple_choice_polls/AEWU6PkzQvpAnRnEJzTPV?display_state=chart&amp;activity_state=opened&amp;state=opened&amp;flow=Engagement&amp;onscreen=persist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Poll Title: Do not modify the notes in this section to avoid tampering with the Poll Everywhere activity.</a:t>
            </a:r>
          </a:p>
          <a:p>
            <a:r>
              <a:t>More info at polleverywhere.com/support</a:t>
            </a:r>
          </a:p>
          <a:p>
            <a:endParaRPr/>
          </a:p>
          <a:p>
            <a:r>
              <a:t>Lodine, a medication for arthritis, is used for both humans and dogs. Is the willingness to pay higher for humans or dogs?</a:t>
            </a:r>
          </a:p>
          <a:p>
            <a:r>
              <a:t>https://www.polleverywhere.com/multiple_choice_polls/AEWU6PkzQvpAnRnEJzTPV?display_state=chart&amp;activity_state=closed&amp;state=closed&amp;flow=Engagement&amp;onscreen=persist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Impediments to segment pricing.</a:t>
            </a:r>
          </a:p>
          <a:p>
            <a:r>
              <a:t>There are legal impediments: at the federal level in the US, the Robinson Patman Act of 1936 bars price discrimination that results in anticompetitive outcomes. There are also state statutes on this, so instance in California laundry services are barred from charging different prices to men and women. What defense would you use to justify such price differentials? Cost differentials.</a:t>
            </a:r>
          </a:p>
          <a:p>
            <a:r>
              <a:t> </a:t>
            </a:r>
          </a:p>
          <a:p>
            <a:r>
              <a:t>Another problem is parallel sales from low price segments to high price segments. You need to keep your segments separate. In many instances people would not bother, but you can think of cases where it would make sense to arbitrage across segments – pharmaceuticals for instance. AIDS drugs in Africa example.</a:t>
            </a:r>
          </a:p>
          <a:p>
            <a:r>
              <a:t> </a:t>
            </a:r>
          </a:p>
          <a:p>
            <a:r>
              <a:t>The main impediment is revelation of valuations: how does the firm find out what the valuations of the different segments are? The problem is that price discrimination per se is not incentive compatible: low elasticity customers have an incentive to misrepresent their demand elasticity so that it is perceived as high and they can get a lower price. For seniors at the carwash, it is hard to conceal their age. But in general it is hard to figure out who is price sensitive.</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EA5DAE2-01E6-43B9-A421-1F264F1BF885}"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7" name="PlaceHolder 2"/>
          <p:cNvSpPr>
            <a:spLocks noGrp="1"/>
          </p:cNvSpPr>
          <p:nvPr>
            <p:ph type="body"/>
          </p:nvPr>
        </p:nvSpPr>
        <p:spPr>
          <a:xfrm>
            <a:off x="457200" y="1600200"/>
            <a:ext cx="8229240" cy="4525560"/>
          </a:xfrm>
          <a:prstGeom prst="rect">
            <a:avLst/>
          </a:prstGeom>
          <a:noFill/>
          <a:ln w="0">
            <a:noFill/>
          </a:ln>
        </p:spPr>
        <p:txBody>
          <a:bodyPr vert="eaVert"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5C9A7589-AF27-453F-B699-413B5ABACE8D}"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vert="eaVert"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12" name="PlaceHolder 2"/>
          <p:cNvSpPr>
            <a:spLocks noGrp="1"/>
          </p:cNvSpPr>
          <p:nvPr>
            <p:ph type="body"/>
          </p:nvPr>
        </p:nvSpPr>
        <p:spPr>
          <a:xfrm>
            <a:off x="457200" y="274680"/>
            <a:ext cx="6019560" cy="5851080"/>
          </a:xfrm>
          <a:prstGeom prst="rect">
            <a:avLst/>
          </a:prstGeom>
          <a:noFill/>
          <a:ln w="0">
            <a:noFill/>
          </a:ln>
        </p:spPr>
        <p:txBody>
          <a:bodyPr vert="eaVert"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499F806-E669-4148-AB3A-628F94D5D6A5}"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DC0DEF3-2E41-441E-9DAC-8EBD3672C53C}"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07896E7-DEC6-41C1-90A6-47AA388766FB}"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42C4D481-1F82-4B02-8A90-83173C33B5A5}"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39B29F9-5678-47FE-B139-8A06F9CBF5B1}"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E18C4FD-CBFC-4FEC-B423-9352F99A5C90}"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18B3B96-2F59-4C20-8C17-44492B2CE060}"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Click to edit the title text format</a:t>
            </a:r>
          </a:p>
        </p:txBody>
      </p:sp>
      <p:sp>
        <p:nvSpPr>
          <p:cNvPr id="48" name="PlaceHolder 5"/>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EFD487DD-870A-45C9-B2F1-34ADCEC8C15D}"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B7EB4F6-55D2-4602-AC76-0B6A5906284C}"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9.xml"/><Relationship Id="rId1" Type="http://schemas.openxmlformats.org/officeDocument/2006/relationships/tags" Target="../tags/tag1.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9.xml"/><Relationship Id="rId1" Type="http://schemas.openxmlformats.org/officeDocument/2006/relationships/tags" Target="../tags/tag2.xml"/><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9.xml"/><Relationship Id="rId1" Type="http://schemas.openxmlformats.org/officeDocument/2006/relationships/tags" Target="../tags/tag3.xml"/><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4.png"/></Relationships>
</file>

<file path=ppt/slides/_rels/slide43.xml.rels><?xml version="1.0" encoding="UTF-8" standalone="yes"?>
<Relationships xmlns="http://schemas.openxmlformats.org/package/2006/relationships"><Relationship Id="rId3" Type="http://schemas.openxmlformats.org/officeDocument/2006/relationships/hyperlink" Target="https://www.google.com/search?q=Target+app+higher+prices+in+store" TargetMode="External"/><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TextBox 1"/>
          <p:cNvSpPr/>
          <p:nvPr/>
        </p:nvSpPr>
        <p:spPr>
          <a:xfrm>
            <a:off x="457200" y="1828800"/>
            <a:ext cx="1127412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5200" b="1" u="none" strike="noStrike">
                <a:solidFill>
                  <a:srgbClr val="0B2B4E"/>
                </a:solidFill>
                <a:effectLst/>
                <a:uFillTx/>
                <a:latin typeface="Calibri"/>
              </a:rPr>
              <a:t>Complex Pricing</a:t>
            </a:r>
            <a:endParaRPr lang="en-US" sz="5200" b="0" u="none" strike="noStrike">
              <a:solidFill>
                <a:srgbClr val="000000"/>
              </a:solidFill>
              <a:effectLst/>
              <a:uFillTx/>
              <a:latin typeface="Arial"/>
            </a:endParaRPr>
          </a:p>
        </p:txBody>
      </p:sp>
      <p:sp>
        <p:nvSpPr>
          <p:cNvPr id="62" name="TextBox 2"/>
          <p:cNvSpPr/>
          <p:nvPr/>
        </p:nvSpPr>
        <p:spPr>
          <a:xfrm>
            <a:off x="457200" y="3200400"/>
            <a:ext cx="1127412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3000" b="1" u="none" strike="noStrike">
                <a:solidFill>
                  <a:srgbClr val="E09F3E"/>
                </a:solidFill>
                <a:effectLst/>
                <a:uFillTx/>
                <a:latin typeface="Calibri"/>
              </a:rPr>
              <a:t>Direct Price Discrimination</a:t>
            </a:r>
            <a:endParaRPr lang="en-US" sz="3000" b="0" u="none" strike="noStrike">
              <a:solidFill>
                <a:srgbClr val="000000"/>
              </a:solidFill>
              <a:effectLst/>
              <a:uFillTx/>
              <a:latin typeface="Arial"/>
            </a:endParaRPr>
          </a:p>
        </p:txBody>
      </p:sp>
      <p:sp>
        <p:nvSpPr>
          <p:cNvPr id="63" name="Rectangle 3"/>
          <p:cNvSpPr/>
          <p:nvPr/>
        </p:nvSpPr>
        <p:spPr>
          <a:xfrm>
            <a:off x="4270320" y="4114800"/>
            <a:ext cx="3657240" cy="54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64" name="TextBox 4"/>
          <p:cNvSpPr/>
          <p:nvPr/>
        </p:nvSpPr>
        <p:spPr>
          <a:xfrm>
            <a:off x="457200" y="4480560"/>
            <a:ext cx="112741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2600" b="1" u="none" strike="noStrike">
                <a:solidFill>
                  <a:srgbClr val="555B66"/>
                </a:solidFill>
                <a:effectLst/>
                <a:uFillTx/>
                <a:latin typeface="Calibri"/>
              </a:rPr>
              <a:t>Management 405</a:t>
            </a:r>
            <a:endParaRPr lang="en-US" sz="2600" b="0" u="none" strike="noStrike">
              <a:solidFill>
                <a:srgbClr val="000000"/>
              </a:solidFill>
              <a:effectLst/>
              <a:uFillTx/>
              <a:latin typeface="Arial"/>
            </a:endParaRPr>
          </a:p>
        </p:txBody>
      </p:sp>
      <p:sp>
        <p:nvSpPr>
          <p:cNvPr id="65" name="TextBox 5"/>
          <p:cNvSpPr/>
          <p:nvPr/>
        </p:nvSpPr>
        <p:spPr>
          <a:xfrm>
            <a:off x="457200" y="5029200"/>
            <a:ext cx="112741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2200" b="0" u="none" strike="noStrike">
                <a:solidFill>
                  <a:srgbClr val="555B66"/>
                </a:solidFill>
                <a:effectLst/>
                <a:uFillTx/>
                <a:latin typeface="Calibri"/>
              </a:rPr>
              <a:t>Prof. Paola Giuliano  ·  UCLA Anderson</a:t>
            </a:r>
            <a:endParaRPr lang="en-US" sz="2200" b="0" u="none" strike="noStrike">
              <a:solidFill>
                <a:srgbClr val="000000"/>
              </a:solidFill>
              <a:effectLst/>
              <a:uFillTx/>
              <a:latin typeface="Arial"/>
            </a:endParaRPr>
          </a:p>
        </p:txBody>
      </p:sp>
      <p:sp>
        <p:nvSpPr>
          <p:cNvPr id="67" name="Rectangle 7"/>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68" name="Rectangle 8"/>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70"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Course</a:t>
            </a:r>
            <a:endParaRPr lang="en-US" sz="1600" b="0" u="none" strike="noStrike">
              <a:solidFill>
                <a:srgbClr val="000000"/>
              </a:solidFill>
              <a:effectLst/>
              <a:uFillTx/>
              <a:latin typeface="Arial"/>
            </a:endParaRPr>
          </a:p>
        </p:txBody>
      </p:sp>
      <p:sp>
        <p:nvSpPr>
          <p:cNvPr id="71"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Announcement</a:t>
            </a:r>
            <a:endParaRPr lang="en-US" sz="3200" b="0" u="none" strike="noStrike">
              <a:solidFill>
                <a:srgbClr val="000000"/>
              </a:solidFill>
              <a:effectLst/>
              <a:uFillTx/>
              <a:latin typeface="Arial"/>
            </a:endParaRPr>
          </a:p>
        </p:txBody>
      </p:sp>
      <p:sp>
        <p:nvSpPr>
          <p:cNvPr id="72"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73"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74"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75"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76"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77"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2</a:t>
            </a:r>
            <a:endParaRPr lang="en-US" sz="1200" b="0" u="none" strike="noStrike">
              <a:solidFill>
                <a:srgbClr val="000000"/>
              </a:solidFill>
              <a:effectLst/>
              <a:uFillTx/>
              <a:latin typeface="Arial"/>
            </a:endParaRPr>
          </a:p>
        </p:txBody>
      </p:sp>
      <p:sp>
        <p:nvSpPr>
          <p:cNvPr id="78" name="TXBLD_10"/>
          <p:cNvSpPr/>
          <p:nvPr/>
        </p:nvSpPr>
        <p:spPr>
          <a:xfrm>
            <a:off x="502920" y="2194560"/>
            <a:ext cx="11155320" cy="228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343080" indent="-343080" defTabSz="457200">
              <a:lnSpc>
                <a:spcPct val="100000"/>
              </a:lnSpc>
              <a:spcBef>
                <a:spcPts val="2001"/>
              </a:spcBef>
              <a:buClr>
                <a:srgbClr val="0B2B4E"/>
              </a:buClr>
              <a:buFont typeface="Calibri"/>
              <a:buChar char="▪"/>
            </a:pPr>
            <a:r>
              <a:rPr lang="en-US" sz="3200" b="1" u="none" strike="noStrike">
                <a:solidFill>
                  <a:srgbClr val="0B2B4E"/>
                </a:solidFill>
                <a:effectLst/>
                <a:uFillTx/>
                <a:latin typeface="Calibri"/>
              </a:rPr>
              <a:t>Problem Set 4</a:t>
            </a:r>
            <a:endParaRPr lang="en-US" sz="3200" b="0" u="none" strike="noStrike">
              <a:solidFill>
                <a:srgbClr val="000000"/>
              </a:solidFill>
              <a:effectLst/>
              <a:uFillTx/>
              <a:latin typeface="Arial"/>
            </a:endParaRPr>
          </a:p>
          <a:p>
            <a:pPr marL="685800" lvl="1" indent="-228600" defTabSz="457200">
              <a:lnSpc>
                <a:spcPct val="100000"/>
              </a:lnSpc>
              <a:spcBef>
                <a:spcPts val="601"/>
              </a:spcBef>
              <a:buClr>
                <a:srgbClr val="555B66"/>
              </a:buClr>
              <a:buFont typeface="Calibri"/>
              <a:buChar char="–"/>
            </a:pPr>
            <a:r>
              <a:rPr lang="en-US" sz="2800" b="0" u="none" strike="noStrike">
                <a:solidFill>
                  <a:srgbClr val="555B66"/>
                </a:solidFill>
                <a:effectLst/>
                <a:uFillTx/>
                <a:latin typeface="Calibri"/>
              </a:rPr>
              <a:t>Due November 21st</a:t>
            </a:r>
            <a:endParaRPr lang="en-US" sz="28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80"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Discussion</a:t>
            </a:r>
            <a:endParaRPr lang="en-US" sz="1600" b="0" u="none" strike="noStrike">
              <a:solidFill>
                <a:srgbClr val="000000"/>
              </a:solidFill>
              <a:effectLst/>
              <a:uFillTx/>
              <a:latin typeface="Arial"/>
            </a:endParaRPr>
          </a:p>
        </p:txBody>
      </p:sp>
      <p:sp>
        <p:nvSpPr>
          <p:cNvPr id="81"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In the News: Hospital Mergers</a:t>
            </a:r>
            <a:endParaRPr lang="en-US" sz="3200" b="0" u="none" strike="noStrike">
              <a:solidFill>
                <a:srgbClr val="000000"/>
              </a:solidFill>
              <a:effectLst/>
              <a:uFillTx/>
              <a:latin typeface="Arial"/>
            </a:endParaRPr>
          </a:p>
        </p:txBody>
      </p:sp>
      <p:sp>
        <p:nvSpPr>
          <p:cNvPr id="82"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83"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84"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85"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86"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87"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3</a:t>
            </a:r>
            <a:endParaRPr lang="en-US" sz="1200" b="0" u="none" strike="noStrike">
              <a:solidFill>
                <a:srgbClr val="000000"/>
              </a:solidFill>
              <a:effectLst/>
              <a:uFillTx/>
              <a:latin typeface="Arial"/>
            </a:endParaRPr>
          </a:p>
        </p:txBody>
      </p:sp>
      <p:sp>
        <p:nvSpPr>
          <p:cNvPr id="88" name="Picture 10" descr="s03_0.png"/>
          <p:cNvSpPr/>
          <p:nvPr/>
        </p:nvSpPr>
        <p:spPr>
          <a:xfrm>
            <a:off x="1188720" y="1554480"/>
            <a:ext cx="9783720" cy="2822040"/>
          </a:xfrm>
          <a:prstGeom prst="roundRect">
            <a:avLst>
              <a:gd name="adj" fmla="val 6000"/>
            </a:avLst>
          </a:prstGeom>
          <a:blipFill rotWithShape="0">
            <a:blip r:embed="rId2"/>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9" name="TextBox 11"/>
          <p:cNvSpPr/>
          <p:nvPr/>
        </p:nvSpPr>
        <p:spPr>
          <a:xfrm>
            <a:off x="502920" y="4480560"/>
            <a:ext cx="11155320" cy="1645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343080" indent="-343080" defTabSz="457200">
              <a:lnSpc>
                <a:spcPct val="100000"/>
              </a:lnSpc>
              <a:spcBef>
                <a:spcPts val="2200"/>
              </a:spcBef>
              <a:buClr>
                <a:srgbClr val="0B2B4E"/>
              </a:buClr>
              <a:buFont typeface="Calibri"/>
              <a:buChar char="▪"/>
            </a:pPr>
            <a:r>
              <a:rPr lang="en-US" sz="2400" b="0" u="none" strike="noStrike">
                <a:solidFill>
                  <a:srgbClr val="0B2B4E"/>
                </a:solidFill>
                <a:effectLst/>
                <a:uFillTx/>
                <a:latin typeface="Calibri"/>
              </a:rPr>
              <a:t>What does recent research show about prices for surgery, intensive care, and ER visits after hospital mergers?</a:t>
            </a:r>
            <a:endParaRPr lang="en-US" sz="24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91"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Discussion</a:t>
            </a:r>
            <a:endParaRPr lang="en-US" sz="1600" b="0" u="none" strike="noStrike">
              <a:solidFill>
                <a:srgbClr val="000000"/>
              </a:solidFill>
              <a:effectLst/>
              <a:uFillTx/>
              <a:latin typeface="Arial"/>
            </a:endParaRPr>
          </a:p>
        </p:txBody>
      </p:sp>
      <p:sp>
        <p:nvSpPr>
          <p:cNvPr id="92"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In the News: Restaurant Dynamic Pricing</a:t>
            </a:r>
            <a:endParaRPr lang="en-US" sz="3200" b="0" u="none" strike="noStrike">
              <a:solidFill>
                <a:srgbClr val="000000"/>
              </a:solidFill>
              <a:effectLst/>
              <a:uFillTx/>
              <a:latin typeface="Arial"/>
            </a:endParaRPr>
          </a:p>
        </p:txBody>
      </p:sp>
      <p:sp>
        <p:nvSpPr>
          <p:cNvPr id="93"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94"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95"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96"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97"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98"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4</a:t>
            </a:r>
            <a:endParaRPr lang="en-US" sz="1200" b="0" u="none" strike="noStrike">
              <a:solidFill>
                <a:srgbClr val="000000"/>
              </a:solidFill>
              <a:effectLst/>
              <a:uFillTx/>
              <a:latin typeface="Arial"/>
            </a:endParaRPr>
          </a:p>
        </p:txBody>
      </p:sp>
      <p:sp>
        <p:nvSpPr>
          <p:cNvPr id="99" name="Picture 10" descr="s04_0.png"/>
          <p:cNvSpPr/>
          <p:nvPr/>
        </p:nvSpPr>
        <p:spPr>
          <a:xfrm>
            <a:off x="1005840" y="1554480"/>
            <a:ext cx="10149480" cy="1881000"/>
          </a:xfrm>
          <a:prstGeom prst="roundRect">
            <a:avLst>
              <a:gd name="adj" fmla="val 6000"/>
            </a:avLst>
          </a:prstGeom>
          <a:blipFill rotWithShape="0">
            <a:blip r:embed="rId2"/>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0" name="TextBox 11"/>
          <p:cNvSpPr/>
          <p:nvPr/>
        </p:nvSpPr>
        <p:spPr>
          <a:xfrm>
            <a:off x="502920" y="4206240"/>
            <a:ext cx="11155320" cy="201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343080" indent="-343080" defTabSz="457200">
              <a:lnSpc>
                <a:spcPct val="100000"/>
              </a:lnSpc>
              <a:spcBef>
                <a:spcPts val="1199"/>
              </a:spcBef>
              <a:buClr>
                <a:srgbClr val="0B2B4E"/>
              </a:buClr>
              <a:buFont typeface="Calibri"/>
              <a:buChar char="▪"/>
            </a:pPr>
            <a:r>
              <a:rPr lang="en-US" sz="2200" b="0" u="none" strike="noStrike">
                <a:solidFill>
                  <a:srgbClr val="0B2B4E"/>
                </a:solidFill>
                <a:effectLst/>
                <a:uFillTx/>
                <a:latin typeface="Calibri"/>
              </a:rPr>
              <a:t>Describe this pricing strategy. Is it more profitable? Why do some chains reject it?</a:t>
            </a:r>
            <a:endParaRPr lang="en-US" sz="2200" b="0" u="none" strike="noStrike">
              <a:solidFill>
                <a:srgbClr val="000000"/>
              </a:solidFill>
              <a:effectLst/>
              <a:uFillTx/>
              <a:latin typeface="Arial"/>
            </a:endParaRPr>
          </a:p>
          <a:p>
            <a:pPr marL="343080" indent="-343080" defTabSz="457200">
              <a:lnSpc>
                <a:spcPct val="100000"/>
              </a:lnSpc>
              <a:spcBef>
                <a:spcPts val="1199"/>
              </a:spcBef>
              <a:buClr>
                <a:srgbClr val="0B2B4E"/>
              </a:buClr>
              <a:buFont typeface="Calibri"/>
              <a:buChar char="▪"/>
            </a:pPr>
            <a:r>
              <a:rPr lang="en-US" sz="2200" b="0" u="none" strike="noStrike">
                <a:solidFill>
                  <a:srgbClr val="0B2B4E"/>
                </a:solidFill>
                <a:effectLst/>
                <a:uFillTx/>
                <a:latin typeface="Calibri"/>
              </a:rPr>
              <a:t>Do customers like dynamic pricing? Is there a generational difference?</a:t>
            </a:r>
            <a:endParaRPr lang="en-US" sz="220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02"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Discussion</a:t>
            </a:r>
            <a:endParaRPr lang="en-US" sz="1600" b="0" u="none" strike="noStrike">
              <a:solidFill>
                <a:srgbClr val="000000"/>
              </a:solidFill>
              <a:effectLst/>
              <a:uFillTx/>
              <a:latin typeface="Arial"/>
            </a:endParaRPr>
          </a:p>
        </p:txBody>
      </p:sp>
      <p:sp>
        <p:nvSpPr>
          <p:cNvPr id="103"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In the News: Electronic Shelf Labels</a:t>
            </a:r>
            <a:endParaRPr lang="en-US" sz="3200" b="0" u="none" strike="noStrike">
              <a:solidFill>
                <a:srgbClr val="000000"/>
              </a:solidFill>
              <a:effectLst/>
              <a:uFillTx/>
              <a:latin typeface="Arial"/>
            </a:endParaRPr>
          </a:p>
        </p:txBody>
      </p:sp>
      <p:sp>
        <p:nvSpPr>
          <p:cNvPr id="104"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05"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06"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07"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08"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109"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5</a:t>
            </a:r>
            <a:endParaRPr lang="en-US" sz="1200" b="0" u="none" strike="noStrike">
              <a:solidFill>
                <a:srgbClr val="000000"/>
              </a:solidFill>
              <a:effectLst/>
              <a:uFillTx/>
              <a:latin typeface="Arial"/>
            </a:endParaRPr>
          </a:p>
        </p:txBody>
      </p:sp>
      <p:sp>
        <p:nvSpPr>
          <p:cNvPr id="110" name="Picture 10" descr="s05_0.png"/>
          <p:cNvSpPr/>
          <p:nvPr/>
        </p:nvSpPr>
        <p:spPr>
          <a:xfrm>
            <a:off x="1371600" y="1600200"/>
            <a:ext cx="9417960" cy="1940040"/>
          </a:xfrm>
          <a:prstGeom prst="roundRect">
            <a:avLst>
              <a:gd name="adj" fmla="val 6000"/>
            </a:avLst>
          </a:prstGeom>
          <a:blipFill rotWithShape="0">
            <a:blip r:embed="rId2"/>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1" name="TextBox 11"/>
          <p:cNvSpPr/>
          <p:nvPr/>
        </p:nvSpPr>
        <p:spPr>
          <a:xfrm>
            <a:off x="502920" y="4297680"/>
            <a:ext cx="11155320" cy="182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343080" indent="-343080" defTabSz="457200">
              <a:lnSpc>
                <a:spcPct val="100000"/>
              </a:lnSpc>
              <a:spcBef>
                <a:spcPts val="1199"/>
              </a:spcBef>
              <a:buClr>
                <a:srgbClr val="0B2B4E"/>
              </a:buClr>
              <a:buFont typeface="Calibri"/>
              <a:buChar char="▪"/>
            </a:pPr>
            <a:r>
              <a:rPr lang="en-US" sz="2200" b="0" u="none" strike="noStrike">
                <a:solidFill>
                  <a:srgbClr val="0B2B4E"/>
                </a:solidFill>
                <a:effectLst/>
                <a:uFillTx/>
                <a:latin typeface="Calibri"/>
              </a:rPr>
              <a:t>What do you think about electronic shelf labels in grocery stores?</a:t>
            </a:r>
            <a:endParaRPr lang="en-US" sz="2200" b="0" u="none" strike="noStrike">
              <a:solidFill>
                <a:srgbClr val="000000"/>
              </a:solidFill>
              <a:effectLst/>
              <a:uFillTx/>
              <a:latin typeface="Arial"/>
            </a:endParaRPr>
          </a:p>
          <a:p>
            <a:pPr marL="343080" indent="-343080" defTabSz="457200">
              <a:lnSpc>
                <a:spcPct val="100000"/>
              </a:lnSpc>
              <a:spcBef>
                <a:spcPts val="1199"/>
              </a:spcBef>
              <a:buClr>
                <a:srgbClr val="0B2B4E"/>
              </a:buClr>
              <a:buFont typeface="Calibri"/>
              <a:buChar char="▪"/>
            </a:pPr>
            <a:r>
              <a:rPr lang="en-US" sz="2200" b="0" u="none" strike="noStrike">
                <a:solidFill>
                  <a:srgbClr val="0B2B4E"/>
                </a:solidFill>
                <a:effectLst/>
                <a:uFillTx/>
                <a:latin typeface="Calibri"/>
              </a:rPr>
              <a:t>How are grocery stores using them at the moment?</a:t>
            </a:r>
            <a:endParaRPr lang="en-US" sz="220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13"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Roadmap</a:t>
            </a:r>
            <a:endParaRPr lang="en-US" sz="1600" b="0" u="none" strike="noStrike">
              <a:solidFill>
                <a:srgbClr val="000000"/>
              </a:solidFill>
              <a:effectLst/>
              <a:uFillTx/>
              <a:latin typeface="Arial"/>
            </a:endParaRPr>
          </a:p>
        </p:txBody>
      </p:sp>
      <p:sp>
        <p:nvSpPr>
          <p:cNvPr id="114"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Outline</a:t>
            </a:r>
            <a:endParaRPr lang="en-US" sz="3200" b="0" u="none" strike="noStrike">
              <a:solidFill>
                <a:srgbClr val="000000"/>
              </a:solidFill>
              <a:effectLst/>
              <a:uFillTx/>
              <a:latin typeface="Arial"/>
            </a:endParaRPr>
          </a:p>
        </p:txBody>
      </p:sp>
      <p:sp>
        <p:nvSpPr>
          <p:cNvPr id="115"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16"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17"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18"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19"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120"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6</a:t>
            </a:r>
            <a:endParaRPr lang="en-US" sz="1200" b="0" u="none" strike="noStrike">
              <a:solidFill>
                <a:srgbClr val="000000"/>
              </a:solidFill>
              <a:effectLst/>
              <a:uFillTx/>
              <a:latin typeface="Arial"/>
            </a:endParaRPr>
          </a:p>
        </p:txBody>
      </p:sp>
      <p:sp>
        <p:nvSpPr>
          <p:cNvPr id="121" name="Oval 10"/>
          <p:cNvSpPr/>
          <p:nvPr/>
        </p:nvSpPr>
        <p:spPr>
          <a:xfrm>
            <a:off x="1234440" y="1645920"/>
            <a:ext cx="511560" cy="511560"/>
          </a:xfrm>
          <a:prstGeom prst="ellipse">
            <a:avLst/>
          </a:prstGeom>
          <a:solidFill>
            <a:srgbClr val="E09F3E"/>
          </a:solidFill>
          <a:ln>
            <a:noFill/>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1</a:t>
            </a:r>
            <a:endParaRPr lang="en-US" sz="2000" b="0" u="none" strike="noStrike">
              <a:solidFill>
                <a:srgbClr val="000000"/>
              </a:solidFill>
              <a:effectLst/>
              <a:uFillTx/>
              <a:latin typeface="Arial"/>
            </a:endParaRPr>
          </a:p>
        </p:txBody>
      </p:sp>
      <p:sp>
        <p:nvSpPr>
          <p:cNvPr id="122" name="TextBox 11"/>
          <p:cNvSpPr/>
          <p:nvPr/>
        </p:nvSpPr>
        <p:spPr>
          <a:xfrm>
            <a:off x="2286000" y="156348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0B2B4E"/>
                </a:solidFill>
                <a:effectLst/>
                <a:uFillTx/>
                <a:latin typeface="Calibri"/>
              </a:rPr>
              <a:t>Simple and complex pricing</a:t>
            </a:r>
            <a:endParaRPr lang="en-US" sz="2200" b="0" u="none" strike="noStrike">
              <a:solidFill>
                <a:srgbClr val="000000"/>
              </a:solidFill>
              <a:effectLst/>
              <a:uFillTx/>
              <a:latin typeface="Arial"/>
            </a:endParaRPr>
          </a:p>
        </p:txBody>
      </p:sp>
      <p:sp>
        <p:nvSpPr>
          <p:cNvPr id="123" name="TextBox 12"/>
          <p:cNvSpPr/>
          <p:nvPr/>
        </p:nvSpPr>
        <p:spPr>
          <a:xfrm>
            <a:off x="2286000" y="196596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555B66"/>
                </a:solidFill>
                <a:effectLst/>
                <a:uFillTx/>
                <a:latin typeface="Calibri"/>
              </a:rPr>
              <a:t>The pricing dilemma and why complex pricing pays</a:t>
            </a:r>
            <a:endParaRPr lang="en-US" sz="1600" b="0" u="none" strike="noStrike">
              <a:solidFill>
                <a:srgbClr val="000000"/>
              </a:solidFill>
              <a:effectLst/>
              <a:uFillTx/>
              <a:latin typeface="Arial"/>
            </a:endParaRPr>
          </a:p>
        </p:txBody>
      </p:sp>
      <p:sp>
        <p:nvSpPr>
          <p:cNvPr id="124" name="Oval 13"/>
          <p:cNvSpPr/>
          <p:nvPr/>
        </p:nvSpPr>
        <p:spPr>
          <a:xfrm>
            <a:off x="1234440" y="2541960"/>
            <a:ext cx="511560" cy="511560"/>
          </a:xfrm>
          <a:prstGeom prst="ellipse">
            <a:avLst/>
          </a:prstGeom>
          <a:solidFill>
            <a:srgbClr val="E09F3E"/>
          </a:solidFill>
          <a:ln>
            <a:noFill/>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2</a:t>
            </a:r>
            <a:endParaRPr lang="en-US" sz="2000" b="0" u="none" strike="noStrike">
              <a:solidFill>
                <a:srgbClr val="000000"/>
              </a:solidFill>
              <a:effectLst/>
              <a:uFillTx/>
              <a:latin typeface="Arial"/>
            </a:endParaRPr>
          </a:p>
        </p:txBody>
      </p:sp>
      <p:sp>
        <p:nvSpPr>
          <p:cNvPr id="125" name="TextBox 14"/>
          <p:cNvSpPr/>
          <p:nvPr/>
        </p:nvSpPr>
        <p:spPr>
          <a:xfrm>
            <a:off x="2286000" y="245988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0B2B4E"/>
                </a:solidFill>
                <a:effectLst/>
                <a:uFillTx/>
                <a:latin typeface="Calibri"/>
              </a:rPr>
              <a:t>Direct price discrimination</a:t>
            </a:r>
            <a:endParaRPr lang="en-US" sz="2200" b="0" u="none" strike="noStrike">
              <a:solidFill>
                <a:srgbClr val="000000"/>
              </a:solidFill>
              <a:effectLst/>
              <a:uFillTx/>
              <a:latin typeface="Arial"/>
            </a:endParaRPr>
          </a:p>
        </p:txBody>
      </p:sp>
      <p:sp>
        <p:nvSpPr>
          <p:cNvPr id="126" name="TextBox 15"/>
          <p:cNvSpPr/>
          <p:nvPr/>
        </p:nvSpPr>
        <p:spPr>
          <a:xfrm>
            <a:off x="2286000" y="286200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555B66"/>
                </a:solidFill>
                <a:effectLst/>
                <a:uFillTx/>
                <a:latin typeface="Calibri"/>
              </a:rPr>
              <a:t>First-degree (perfect) and third-degree (segment) pricing</a:t>
            </a:r>
            <a:endParaRPr lang="en-US" sz="1600" b="0" u="none" strike="noStrike">
              <a:solidFill>
                <a:srgbClr val="000000"/>
              </a:solidFill>
              <a:effectLst/>
              <a:uFillTx/>
              <a:latin typeface="Arial"/>
            </a:endParaRPr>
          </a:p>
        </p:txBody>
      </p:sp>
      <p:sp>
        <p:nvSpPr>
          <p:cNvPr id="127" name="Oval 16"/>
          <p:cNvSpPr/>
          <p:nvPr/>
        </p:nvSpPr>
        <p:spPr>
          <a:xfrm>
            <a:off x="1234440" y="3438000"/>
            <a:ext cx="511560" cy="511560"/>
          </a:xfrm>
          <a:prstGeom prst="ellipse">
            <a:avLst/>
          </a:prstGeom>
          <a:solidFill>
            <a:srgbClr val="E09F3E"/>
          </a:solidFill>
          <a:ln>
            <a:noFill/>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3</a:t>
            </a:r>
            <a:endParaRPr lang="en-US" sz="2000" b="0" u="none" strike="noStrike">
              <a:solidFill>
                <a:srgbClr val="000000"/>
              </a:solidFill>
              <a:effectLst/>
              <a:uFillTx/>
              <a:latin typeface="Arial"/>
            </a:endParaRPr>
          </a:p>
        </p:txBody>
      </p:sp>
      <p:sp>
        <p:nvSpPr>
          <p:cNvPr id="128" name="TextBox 17"/>
          <p:cNvSpPr/>
          <p:nvPr/>
        </p:nvSpPr>
        <p:spPr>
          <a:xfrm>
            <a:off x="2286000" y="335592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0B2B4E"/>
                </a:solidFill>
                <a:effectLst/>
                <a:uFillTx/>
                <a:latin typeface="Calibri"/>
              </a:rPr>
              <a:t>Indirect price discrimination</a:t>
            </a:r>
            <a:endParaRPr lang="en-US" sz="2200" b="0" u="none" strike="noStrike">
              <a:solidFill>
                <a:srgbClr val="000000"/>
              </a:solidFill>
              <a:effectLst/>
              <a:uFillTx/>
              <a:latin typeface="Arial"/>
            </a:endParaRPr>
          </a:p>
        </p:txBody>
      </p:sp>
      <p:sp>
        <p:nvSpPr>
          <p:cNvPr id="129" name="TextBox 18"/>
          <p:cNvSpPr/>
          <p:nvPr/>
        </p:nvSpPr>
        <p:spPr>
          <a:xfrm>
            <a:off x="2286000" y="375804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555B66"/>
                </a:solidFill>
                <a:effectLst/>
                <a:uFillTx/>
                <a:latin typeface="Calibri"/>
              </a:rPr>
              <a:t>Versioning and coupons (second degree)</a:t>
            </a:r>
            <a:endParaRPr lang="en-US" sz="1600" b="0" u="none" strike="noStrike">
              <a:solidFill>
                <a:srgbClr val="000000"/>
              </a:solidFill>
              <a:effectLst/>
              <a:uFillTx/>
              <a:latin typeface="Arial"/>
            </a:endParaRPr>
          </a:p>
        </p:txBody>
      </p:sp>
      <p:sp>
        <p:nvSpPr>
          <p:cNvPr id="130" name="Oval 19"/>
          <p:cNvSpPr/>
          <p:nvPr/>
        </p:nvSpPr>
        <p:spPr>
          <a:xfrm>
            <a:off x="1234440" y="4334400"/>
            <a:ext cx="511560" cy="511560"/>
          </a:xfrm>
          <a:prstGeom prst="ellipse">
            <a:avLst/>
          </a:prstGeom>
          <a:solidFill>
            <a:srgbClr val="E09F3E"/>
          </a:solidFill>
          <a:ln>
            <a:noFill/>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4</a:t>
            </a:r>
            <a:endParaRPr lang="en-US" sz="2000" b="0" u="none" strike="noStrike">
              <a:solidFill>
                <a:srgbClr val="000000"/>
              </a:solidFill>
              <a:effectLst/>
              <a:uFillTx/>
              <a:latin typeface="Arial"/>
            </a:endParaRPr>
          </a:p>
        </p:txBody>
      </p:sp>
      <p:sp>
        <p:nvSpPr>
          <p:cNvPr id="131" name="TextBox 20"/>
          <p:cNvSpPr/>
          <p:nvPr/>
        </p:nvSpPr>
        <p:spPr>
          <a:xfrm>
            <a:off x="2286000" y="425196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0B2B4E"/>
                </a:solidFill>
                <a:effectLst/>
                <a:uFillTx/>
                <a:latin typeface="Calibri"/>
              </a:rPr>
              <a:t>Advanced pricing strategies</a:t>
            </a:r>
            <a:endParaRPr lang="en-US" sz="2200" b="0" u="none" strike="noStrike">
              <a:solidFill>
                <a:srgbClr val="000000"/>
              </a:solidFill>
              <a:effectLst/>
              <a:uFillTx/>
              <a:latin typeface="Arial"/>
            </a:endParaRPr>
          </a:p>
        </p:txBody>
      </p:sp>
      <p:sp>
        <p:nvSpPr>
          <p:cNvPr id="132" name="TextBox 21"/>
          <p:cNvSpPr/>
          <p:nvPr/>
        </p:nvSpPr>
        <p:spPr>
          <a:xfrm>
            <a:off x="2286000" y="465444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555B66"/>
                </a:solidFill>
                <a:effectLst/>
                <a:uFillTx/>
                <a:latin typeface="Calibri"/>
              </a:rPr>
              <a:t>Volume/flat-fee, two-part tariff, block pricing</a:t>
            </a:r>
            <a:endParaRPr lang="en-US" sz="1600" b="0" u="none" strike="noStrike">
              <a:solidFill>
                <a:srgbClr val="000000"/>
              </a:solidFill>
              <a:effectLst/>
              <a:uFillTx/>
              <a:latin typeface="Arial"/>
            </a:endParaRPr>
          </a:p>
        </p:txBody>
      </p:sp>
      <p:sp>
        <p:nvSpPr>
          <p:cNvPr id="133" name="Oval 22"/>
          <p:cNvSpPr/>
          <p:nvPr/>
        </p:nvSpPr>
        <p:spPr>
          <a:xfrm>
            <a:off x="1234440" y="5230440"/>
            <a:ext cx="511560" cy="511560"/>
          </a:xfrm>
          <a:prstGeom prst="ellipse">
            <a:avLst/>
          </a:prstGeom>
          <a:solidFill>
            <a:srgbClr val="E09F3E"/>
          </a:solidFill>
          <a:ln>
            <a:noFill/>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5</a:t>
            </a:r>
            <a:endParaRPr lang="en-US" sz="2000" b="0" u="none" strike="noStrike">
              <a:solidFill>
                <a:srgbClr val="000000"/>
              </a:solidFill>
              <a:effectLst/>
              <a:uFillTx/>
              <a:latin typeface="Arial"/>
            </a:endParaRPr>
          </a:p>
        </p:txBody>
      </p:sp>
      <p:sp>
        <p:nvSpPr>
          <p:cNvPr id="134" name="TextBox 23"/>
          <p:cNvSpPr/>
          <p:nvPr/>
        </p:nvSpPr>
        <p:spPr>
          <a:xfrm>
            <a:off x="2286000" y="514800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0B2B4E"/>
                </a:solidFill>
                <a:effectLst/>
                <a:uFillTx/>
                <a:latin typeface="Calibri"/>
              </a:rPr>
              <a:t>Auctions</a:t>
            </a:r>
            <a:endParaRPr lang="en-US" sz="2200" b="0" u="none" strike="noStrike">
              <a:solidFill>
                <a:srgbClr val="000000"/>
              </a:solidFill>
              <a:effectLst/>
              <a:uFillTx/>
              <a:latin typeface="Arial"/>
            </a:endParaRPr>
          </a:p>
        </p:txBody>
      </p:sp>
      <p:sp>
        <p:nvSpPr>
          <p:cNvPr id="135" name="TextBox 24"/>
          <p:cNvSpPr/>
          <p:nvPr/>
        </p:nvSpPr>
        <p:spPr>
          <a:xfrm>
            <a:off x="2286000" y="555048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555B66"/>
                </a:solidFill>
                <a:effectLst/>
                <a:uFillTx/>
                <a:latin typeface="Calibri"/>
              </a:rPr>
              <a:t>Competitive bidding and auction formats</a:t>
            </a:r>
            <a:endParaRPr lang="en-US" sz="1600" b="0" u="none" strike="noStrike">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37"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Simple &amp; Complex Pricing</a:t>
            </a:r>
            <a:endParaRPr lang="en-US" sz="1600" b="0" u="none" strike="noStrike">
              <a:solidFill>
                <a:srgbClr val="000000"/>
              </a:solidFill>
              <a:effectLst/>
              <a:uFillTx/>
              <a:latin typeface="Arial"/>
            </a:endParaRPr>
          </a:p>
        </p:txBody>
      </p:sp>
      <p:sp>
        <p:nvSpPr>
          <p:cNvPr id="138"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Dilemma of Simple Pricing</a:t>
            </a:r>
            <a:endParaRPr lang="en-US" sz="3200" b="0" u="none" strike="noStrike">
              <a:solidFill>
                <a:srgbClr val="000000"/>
              </a:solidFill>
              <a:effectLst/>
              <a:uFillTx/>
              <a:latin typeface="Arial"/>
            </a:endParaRPr>
          </a:p>
        </p:txBody>
      </p:sp>
      <p:sp>
        <p:nvSpPr>
          <p:cNvPr id="139"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40"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41"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42"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43"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144"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7</a:t>
            </a:r>
            <a:endParaRPr lang="en-US" sz="1200" b="0" u="none" strike="noStrike">
              <a:solidFill>
                <a:srgbClr val="000000"/>
              </a:solidFill>
              <a:effectLst/>
              <a:uFillTx/>
              <a:latin typeface="Arial"/>
            </a:endParaRPr>
          </a:p>
        </p:txBody>
      </p:sp>
      <p:sp>
        <p:nvSpPr>
          <p:cNvPr id="145" name="TXBLD_1100"/>
          <p:cNvSpPr/>
          <p:nvPr/>
        </p:nvSpPr>
        <p:spPr>
          <a:xfrm>
            <a:off x="502920" y="1828800"/>
            <a:ext cx="11155320" cy="402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343080" indent="-343080" defTabSz="457200">
              <a:lnSpc>
                <a:spcPct val="100000"/>
              </a:lnSpc>
              <a:spcBef>
                <a:spcPts val="1800"/>
              </a:spcBef>
              <a:buClr>
                <a:srgbClr val="0B2B4E"/>
              </a:buClr>
              <a:buFont typeface="Calibri"/>
              <a:buChar char="▪"/>
            </a:pPr>
            <a:r>
              <a:rPr lang="en-US" sz="3200" b="1" u="none" strike="noStrike">
                <a:solidFill>
                  <a:srgbClr val="0B2B4E"/>
                </a:solidFill>
                <a:effectLst/>
                <a:uFillTx/>
                <a:latin typeface="Calibri"/>
              </a:rPr>
              <a:t>Simple pricing: </a:t>
            </a:r>
            <a:r>
              <a:rPr lang="en-US" sz="3200" b="0" u="none" strike="noStrike">
                <a:solidFill>
                  <a:srgbClr val="0B2B4E"/>
                </a:solidFill>
                <a:effectLst/>
                <a:uFillTx/>
                <a:latin typeface="Calibri"/>
              </a:rPr>
              <a:t>same price for all consumers</a:t>
            </a:r>
            <a:endParaRPr lang="en-US" sz="3200" b="0" u="none" strike="noStrike">
              <a:solidFill>
                <a:srgbClr val="000000"/>
              </a:solidFill>
              <a:effectLst/>
              <a:uFillTx/>
              <a:latin typeface="Arial"/>
            </a:endParaRPr>
          </a:p>
          <a:p>
            <a:pPr marL="343080" indent="-343080" defTabSz="457200">
              <a:lnSpc>
                <a:spcPct val="100000"/>
              </a:lnSpc>
              <a:spcBef>
                <a:spcPts val="1800"/>
              </a:spcBef>
              <a:buClr>
                <a:srgbClr val="0B2B4E"/>
              </a:buClr>
              <a:buFont typeface="Calibri"/>
              <a:buChar char="▪"/>
            </a:pPr>
            <a:r>
              <a:rPr lang="en-US" sz="3200" b="1" u="none" strike="noStrike">
                <a:solidFill>
                  <a:srgbClr val="0B2B4E"/>
                </a:solidFill>
                <a:effectLst/>
                <a:uFillTx/>
                <a:latin typeface="Calibri"/>
              </a:rPr>
              <a:t>Limitations of simple pricing:</a:t>
            </a:r>
            <a:endParaRPr lang="en-US" sz="3200" b="0" u="none" strike="noStrike">
              <a:solidFill>
                <a:srgbClr val="000000"/>
              </a:solidFill>
              <a:effectLst/>
              <a:uFillTx/>
              <a:latin typeface="Arial"/>
            </a:endParaRPr>
          </a:p>
          <a:p>
            <a:pPr marL="685800" lvl="1" indent="-228600" defTabSz="457200">
              <a:lnSpc>
                <a:spcPct val="100000"/>
              </a:lnSpc>
              <a:spcBef>
                <a:spcPts val="601"/>
              </a:spcBef>
              <a:buClr>
                <a:srgbClr val="555B66"/>
              </a:buClr>
              <a:buFont typeface="Calibri"/>
              <a:buChar char="–"/>
            </a:pPr>
            <a:r>
              <a:rPr lang="en-US" sz="2800" b="0" u="none" strike="noStrike">
                <a:solidFill>
                  <a:srgbClr val="555B66"/>
                </a:solidFill>
                <a:effectLst/>
                <a:uFillTx/>
                <a:latin typeface="Calibri"/>
              </a:rPr>
              <a:t>If you charge a high price, you prevent low-willingness-to-pay customers from buying</a:t>
            </a:r>
            <a:endParaRPr lang="en-US" sz="2800" b="0" u="none" strike="noStrike">
              <a:solidFill>
                <a:srgbClr val="000000"/>
              </a:solidFill>
              <a:effectLst/>
              <a:uFillTx/>
              <a:latin typeface="Arial"/>
            </a:endParaRPr>
          </a:p>
          <a:p>
            <a:pPr marL="685800" lvl="1" indent="-228600" defTabSz="457200">
              <a:lnSpc>
                <a:spcPct val="100000"/>
              </a:lnSpc>
              <a:spcBef>
                <a:spcPts val="601"/>
              </a:spcBef>
              <a:buClr>
                <a:srgbClr val="555B66"/>
              </a:buClr>
              <a:buFont typeface="Calibri"/>
              <a:buChar char="–"/>
            </a:pPr>
            <a:r>
              <a:rPr lang="en-US" sz="2800" b="0" u="none" strike="noStrike">
                <a:solidFill>
                  <a:srgbClr val="555B66"/>
                </a:solidFill>
                <a:effectLst/>
                <a:uFillTx/>
                <a:latin typeface="Calibri"/>
              </a:rPr>
              <a:t>If you charge a low price, you are needlessly “generous” to high-willingness-to-pay customers</a:t>
            </a:r>
            <a:endParaRPr lang="en-US" sz="28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47"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Simple &amp; Complex Pricing</a:t>
            </a:r>
            <a:endParaRPr lang="en-US" sz="1600" b="0" u="none" strike="noStrike">
              <a:solidFill>
                <a:srgbClr val="000000"/>
              </a:solidFill>
              <a:effectLst/>
              <a:uFillTx/>
              <a:latin typeface="Arial"/>
            </a:endParaRPr>
          </a:p>
        </p:txBody>
      </p:sp>
      <p:sp>
        <p:nvSpPr>
          <p:cNvPr id="148"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Simple Pricing per Movie (assume MC = 0)</a:t>
            </a:r>
            <a:endParaRPr lang="en-US" sz="3200" b="0" u="none" strike="noStrike">
              <a:solidFill>
                <a:srgbClr val="000000"/>
              </a:solidFill>
              <a:effectLst/>
              <a:uFillTx/>
              <a:latin typeface="Arial"/>
            </a:endParaRPr>
          </a:p>
        </p:txBody>
      </p:sp>
      <p:sp>
        <p:nvSpPr>
          <p:cNvPr id="149"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50"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51"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52"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53"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154"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8</a:t>
            </a:r>
            <a:endParaRPr lang="en-US" sz="1200" b="0" u="none" strike="noStrike">
              <a:solidFill>
                <a:srgbClr val="000000"/>
              </a:solidFill>
              <a:effectLst/>
              <a:uFillTx/>
              <a:latin typeface="Arial"/>
            </a:endParaRPr>
          </a:p>
        </p:txBody>
      </p:sp>
      <p:cxnSp>
        <p:nvCxnSpPr>
          <p:cNvPr id="155" name="Connector 10"/>
          <p:cNvCxnSpPr/>
          <p:nvPr/>
        </p:nvCxnSpPr>
        <p:spPr>
          <a:xfrm flipV="1">
            <a:off x="914400" y="1280160"/>
            <a:ext cx="720" cy="4938120"/>
          </a:xfrm>
          <a:prstGeom prst="straightConnector1">
            <a:avLst/>
          </a:prstGeom>
          <a:ln w="25400">
            <a:solidFill>
              <a:srgbClr val="0B2B4E"/>
            </a:solidFill>
            <a:round/>
            <a:tailEnd type="triangle" w="med" len="med"/>
          </a:ln>
        </p:spPr>
      </p:cxnSp>
      <p:cxnSp>
        <p:nvCxnSpPr>
          <p:cNvPr id="156" name="Connector 11"/>
          <p:cNvCxnSpPr/>
          <p:nvPr/>
        </p:nvCxnSpPr>
        <p:spPr>
          <a:xfrm>
            <a:off x="914400" y="6217920"/>
            <a:ext cx="4800960" cy="720"/>
          </a:xfrm>
          <a:prstGeom prst="straightConnector1">
            <a:avLst/>
          </a:prstGeom>
          <a:ln w="25400">
            <a:solidFill>
              <a:srgbClr val="0B2B4E"/>
            </a:solidFill>
            <a:round/>
            <a:tailEnd type="triangle" w="med" len="med"/>
          </a:ln>
        </p:spPr>
      </p:cxnSp>
      <p:sp>
        <p:nvSpPr>
          <p:cNvPr id="157" name="TextBox 12"/>
          <p:cNvSpPr/>
          <p:nvPr/>
        </p:nvSpPr>
        <p:spPr>
          <a:xfrm>
            <a:off x="777240" y="896040"/>
            <a:ext cx="2377080" cy="36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b">
            <a:spAutoFit/>
          </a:bodyPr>
          <a:lstStyle/>
          <a:p>
            <a:pPr defTabSz="457200">
              <a:lnSpc>
                <a:spcPct val="100000"/>
              </a:lnSpc>
            </a:pPr>
            <a:r>
              <a:rPr lang="en-US" sz="1800" b="1" i="1" u="none" strike="noStrike">
                <a:solidFill>
                  <a:srgbClr val="0B2B4E"/>
                </a:solidFill>
                <a:effectLst/>
                <a:uFillTx/>
                <a:latin typeface="Calibri"/>
              </a:rPr>
              <a:t>P</a:t>
            </a:r>
            <a:endParaRPr lang="en-US" sz="1800" b="0" u="none" strike="noStrike">
              <a:solidFill>
                <a:srgbClr val="000000"/>
              </a:solidFill>
              <a:effectLst/>
              <a:uFillTx/>
              <a:latin typeface="Arial"/>
            </a:endParaRPr>
          </a:p>
        </p:txBody>
      </p:sp>
      <p:sp>
        <p:nvSpPr>
          <p:cNvPr id="158" name="TextBox 13"/>
          <p:cNvSpPr/>
          <p:nvPr/>
        </p:nvSpPr>
        <p:spPr>
          <a:xfrm>
            <a:off x="5623560" y="6272640"/>
            <a:ext cx="1645560" cy="36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457200">
              <a:lnSpc>
                <a:spcPct val="100000"/>
              </a:lnSpc>
            </a:pPr>
            <a:r>
              <a:rPr lang="en-US" sz="1800" b="1" i="1" u="none" strike="noStrike">
                <a:solidFill>
                  <a:srgbClr val="0B2B4E"/>
                </a:solidFill>
                <a:effectLst/>
                <a:uFillTx/>
                <a:latin typeface="Calibri"/>
              </a:rPr>
              <a:t>Movies</a:t>
            </a:r>
            <a:endParaRPr lang="en-US" sz="1800" b="0" u="none" strike="noStrike">
              <a:solidFill>
                <a:srgbClr val="000000"/>
              </a:solidFill>
              <a:effectLst/>
              <a:uFillTx/>
              <a:latin typeface="Arial"/>
            </a:endParaRPr>
          </a:p>
        </p:txBody>
      </p:sp>
      <p:sp>
        <p:nvSpPr>
          <p:cNvPr id="159" name="CLK01"/>
          <p:cNvSpPr/>
          <p:nvPr/>
        </p:nvSpPr>
        <p:spPr>
          <a:xfrm>
            <a:off x="914400" y="2202480"/>
            <a:ext cx="4216680" cy="4015080"/>
          </a:xfrm>
          <a:custGeom>
            <a:avLst/>
            <a:gdLst>
              <a:gd name="textAreaLeft" fmla="*/ 0 w 4216680"/>
              <a:gd name="textAreaRight" fmla="*/ 4217040 w 4216680"/>
              <a:gd name="textAreaTop" fmla="*/ 0 h 4015080"/>
              <a:gd name="textAreaBottom" fmla="*/ 4015440 h 4015080"/>
            </a:gdLst>
            <a:ahLst/>
            <a:cxnLst/>
            <a:rect l="textAreaLeft" t="textAreaTop" r="textAreaRight" b="textAreaBottom"/>
            <a:pathLst>
              <a:path w="4216997" h="4015409">
                <a:moveTo>
                  <a:pt x="0" y="0"/>
                </a:moveTo>
                <a:lnTo>
                  <a:pt x="4216997" y="4015409"/>
                </a:lnTo>
              </a:path>
            </a:pathLst>
          </a:custGeom>
          <a:noFill/>
          <a:ln w="38100" cap="rnd">
            <a:solidFill>
              <a:srgbClr val="C0201B"/>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60" name="CLK01"/>
          <p:cNvSpPr/>
          <p:nvPr/>
        </p:nvSpPr>
        <p:spPr>
          <a:xfrm>
            <a:off x="4867920" y="5615640"/>
            <a:ext cx="639720" cy="31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1600" b="1" i="1" u="none" strike="noStrike">
                <a:solidFill>
                  <a:srgbClr val="C0201B"/>
                </a:solidFill>
                <a:effectLst/>
                <a:uFillTx/>
                <a:latin typeface="Calibri"/>
              </a:rPr>
              <a:t>D</a:t>
            </a:r>
            <a:endParaRPr lang="en-US" sz="1600" b="0" u="none" strike="noStrike">
              <a:solidFill>
                <a:srgbClr val="000000"/>
              </a:solidFill>
              <a:effectLst/>
              <a:uFillTx/>
              <a:latin typeface="Arial"/>
            </a:endParaRPr>
          </a:p>
        </p:txBody>
      </p:sp>
      <p:sp>
        <p:nvSpPr>
          <p:cNvPr id="161" name="CLK02"/>
          <p:cNvSpPr/>
          <p:nvPr/>
        </p:nvSpPr>
        <p:spPr>
          <a:xfrm>
            <a:off x="914400" y="2202480"/>
            <a:ext cx="2108160" cy="4015080"/>
          </a:xfrm>
          <a:custGeom>
            <a:avLst/>
            <a:gdLst>
              <a:gd name="textAreaLeft" fmla="*/ 0 w 2108160"/>
              <a:gd name="textAreaRight" fmla="*/ 2108520 w 2108160"/>
              <a:gd name="textAreaTop" fmla="*/ 0 h 4015080"/>
              <a:gd name="textAreaBottom" fmla="*/ 4015440 h 4015080"/>
            </a:gdLst>
            <a:ahLst/>
            <a:cxnLst/>
            <a:rect l="textAreaLeft" t="textAreaTop" r="textAreaRight" b="textAreaBottom"/>
            <a:pathLst>
              <a:path w="2108498" h="4015409">
                <a:moveTo>
                  <a:pt x="0" y="0"/>
                </a:moveTo>
                <a:lnTo>
                  <a:pt x="2108498" y="4015409"/>
                </a:lnTo>
              </a:path>
            </a:pathLst>
          </a:custGeom>
          <a:noFill/>
          <a:ln w="27940" cap="rnd">
            <a:solidFill>
              <a:srgbClr val="C0201B"/>
            </a:solidFill>
            <a:prstDash val="sysDot"/>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62" name="CLK02"/>
          <p:cNvSpPr/>
          <p:nvPr/>
        </p:nvSpPr>
        <p:spPr>
          <a:xfrm>
            <a:off x="1626120" y="3306600"/>
            <a:ext cx="914040" cy="31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1400" b="1" i="1" u="none" strike="noStrike">
                <a:solidFill>
                  <a:srgbClr val="C0201B"/>
                </a:solidFill>
                <a:effectLst/>
                <a:uFillTx/>
                <a:latin typeface="Calibri"/>
              </a:rPr>
              <a:t>MR</a:t>
            </a:r>
            <a:endParaRPr lang="en-US" sz="1400" b="0" u="none" strike="noStrike">
              <a:solidFill>
                <a:srgbClr val="000000"/>
              </a:solidFill>
              <a:effectLst/>
              <a:uFillTx/>
              <a:latin typeface="Arial"/>
            </a:endParaRPr>
          </a:p>
        </p:txBody>
      </p:sp>
      <p:sp>
        <p:nvSpPr>
          <p:cNvPr id="163" name="CLK03"/>
          <p:cNvSpPr/>
          <p:nvPr/>
        </p:nvSpPr>
        <p:spPr>
          <a:xfrm>
            <a:off x="914400" y="4210200"/>
            <a:ext cx="2108160" cy="2007360"/>
          </a:xfrm>
          <a:prstGeom prst="rect">
            <a:avLst/>
          </a:prstGeom>
          <a:solidFill>
            <a:srgbClr val="FFF200"/>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64" name="CLK03"/>
          <p:cNvSpPr/>
          <p:nvPr/>
        </p:nvSpPr>
        <p:spPr>
          <a:xfrm>
            <a:off x="1019880" y="4511520"/>
            <a:ext cx="17370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r>
              <a:rPr lang="en-US" sz="1600" b="1" u="none" strike="noStrike">
                <a:solidFill>
                  <a:srgbClr val="0B2B4E"/>
                </a:solidFill>
                <a:effectLst/>
                <a:uFillTx/>
                <a:latin typeface="Calibri"/>
              </a:rPr>
              <a:t>Revenues</a:t>
            </a:r>
            <a:endParaRPr lang="en-US" sz="1600" b="0" u="none" strike="noStrike">
              <a:solidFill>
                <a:srgbClr val="000000"/>
              </a:solidFill>
              <a:effectLst/>
              <a:uFillTx/>
              <a:latin typeface="Arial"/>
            </a:endParaRPr>
          </a:p>
          <a:p>
            <a:pPr algn="ctr" defTabSz="457200">
              <a:lnSpc>
                <a:spcPct val="100000"/>
              </a:lnSpc>
            </a:pPr>
            <a:r>
              <a:rPr lang="en-US" sz="1600" b="1" u="none" strike="noStrike">
                <a:solidFill>
                  <a:srgbClr val="0B2B4E"/>
                </a:solidFill>
                <a:effectLst/>
                <a:uFillTx/>
                <a:latin typeface="Calibri"/>
              </a:rPr>
              <a:t>=$8</a:t>
            </a:r>
            <a:endParaRPr lang="en-US" sz="1600" b="0" u="none" strike="noStrike">
              <a:solidFill>
                <a:srgbClr val="000000"/>
              </a:solidFill>
              <a:effectLst/>
              <a:uFillTx/>
              <a:latin typeface="Arial"/>
            </a:endParaRPr>
          </a:p>
        </p:txBody>
      </p:sp>
      <p:sp>
        <p:nvSpPr>
          <p:cNvPr id="165" name="CLK01"/>
          <p:cNvSpPr/>
          <p:nvPr/>
        </p:nvSpPr>
        <p:spPr>
          <a:xfrm>
            <a:off x="365760" y="2056320"/>
            <a:ext cx="548280" cy="2923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chorCtr="1">
            <a:spAutoFit/>
          </a:bodyPr>
          <a:lstStyle/>
          <a:p>
            <a:pPr algn="r" defTabSz="457200">
              <a:lnSpc>
                <a:spcPct val="100000"/>
              </a:lnSpc>
            </a:pPr>
            <a:r>
              <a:rPr lang="en-US" sz="1400" b="0" u="none" strike="noStrike">
                <a:solidFill>
                  <a:srgbClr val="0B2B4E"/>
                </a:solidFill>
                <a:effectLst/>
                <a:uFillTx/>
                <a:latin typeface="Calibri"/>
              </a:rPr>
              <a:t>$2</a:t>
            </a:r>
            <a:endParaRPr lang="en-US" sz="1400" b="0" u="none" strike="noStrike">
              <a:solidFill>
                <a:srgbClr val="000000"/>
              </a:solidFill>
              <a:effectLst/>
              <a:uFillTx/>
              <a:latin typeface="Arial"/>
            </a:endParaRPr>
          </a:p>
        </p:txBody>
      </p:sp>
      <p:sp>
        <p:nvSpPr>
          <p:cNvPr id="166" name="CLK03"/>
          <p:cNvSpPr/>
          <p:nvPr/>
        </p:nvSpPr>
        <p:spPr>
          <a:xfrm>
            <a:off x="365760" y="4064040"/>
            <a:ext cx="548280" cy="2923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chorCtr="1">
            <a:spAutoFit/>
          </a:bodyPr>
          <a:lstStyle/>
          <a:p>
            <a:pPr algn="r" defTabSz="457200">
              <a:lnSpc>
                <a:spcPct val="100000"/>
              </a:lnSpc>
            </a:pPr>
            <a:r>
              <a:rPr lang="en-US" sz="1400" b="0" u="none" strike="noStrike">
                <a:solidFill>
                  <a:srgbClr val="0B2B4E"/>
                </a:solidFill>
                <a:effectLst/>
                <a:uFillTx/>
                <a:latin typeface="Calibri"/>
              </a:rPr>
              <a:t>$1</a:t>
            </a:r>
            <a:endParaRPr lang="en-US" sz="1400" b="0" u="none" strike="noStrike">
              <a:solidFill>
                <a:srgbClr val="000000"/>
              </a:solidFill>
              <a:effectLst/>
              <a:uFillTx/>
              <a:latin typeface="Arial"/>
            </a:endParaRPr>
          </a:p>
        </p:txBody>
      </p:sp>
      <p:sp>
        <p:nvSpPr>
          <p:cNvPr id="167" name="CLK03"/>
          <p:cNvSpPr/>
          <p:nvPr/>
        </p:nvSpPr>
        <p:spPr>
          <a:xfrm>
            <a:off x="2565720" y="6272640"/>
            <a:ext cx="914040" cy="2739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algn="ctr" defTabSz="457200">
              <a:lnSpc>
                <a:spcPct val="100000"/>
              </a:lnSpc>
            </a:pPr>
            <a:r>
              <a:rPr lang="en-US" sz="1400" b="0" u="none" strike="noStrike">
                <a:solidFill>
                  <a:srgbClr val="0B2B4E"/>
                </a:solidFill>
                <a:effectLst/>
                <a:uFillTx/>
                <a:latin typeface="Calibri"/>
              </a:rPr>
              <a:t>8</a:t>
            </a:r>
            <a:endParaRPr lang="en-US" sz="1400" b="0" u="none" strike="noStrike">
              <a:solidFill>
                <a:srgbClr val="000000"/>
              </a:solidFill>
              <a:effectLst/>
              <a:uFillTx/>
              <a:latin typeface="Arial"/>
            </a:endParaRPr>
          </a:p>
        </p:txBody>
      </p:sp>
      <p:sp>
        <p:nvSpPr>
          <p:cNvPr id="168" name="CLK01"/>
          <p:cNvSpPr/>
          <p:nvPr/>
        </p:nvSpPr>
        <p:spPr>
          <a:xfrm>
            <a:off x="4674240" y="6272640"/>
            <a:ext cx="914040" cy="2739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algn="ctr" defTabSz="457200">
              <a:lnSpc>
                <a:spcPct val="100000"/>
              </a:lnSpc>
            </a:pPr>
            <a:r>
              <a:rPr lang="en-US" sz="1400" b="0" u="none" strike="noStrike">
                <a:solidFill>
                  <a:srgbClr val="0B2B4E"/>
                </a:solidFill>
                <a:effectLst/>
                <a:uFillTx/>
                <a:latin typeface="Calibri"/>
              </a:rPr>
              <a:t>16</a:t>
            </a:r>
            <a:endParaRPr lang="en-US" sz="1400" b="0" u="none" strike="noStrike">
              <a:solidFill>
                <a:srgbClr val="000000"/>
              </a:solidFill>
              <a:effectLst/>
              <a:uFillTx/>
              <a:latin typeface="Arial"/>
            </a:endParaRPr>
          </a:p>
        </p:txBody>
      </p:sp>
      <p:sp>
        <p:nvSpPr>
          <p:cNvPr id="169" name="CLK01"/>
          <p:cNvSpPr/>
          <p:nvPr/>
        </p:nvSpPr>
        <p:spPr>
          <a:xfrm>
            <a:off x="1230840" y="1901520"/>
            <a:ext cx="21942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700" b="1" i="1" u="none" strike="noStrike">
                <a:solidFill>
                  <a:srgbClr val="C0201B"/>
                </a:solidFill>
                <a:effectLst/>
                <a:uFillTx/>
                <a:latin typeface="Calibri"/>
              </a:rPr>
              <a:t>P = 2 − Q/8</a:t>
            </a:r>
            <a:endParaRPr lang="en-US" sz="1700" b="0" u="none" strike="noStrike">
              <a:solidFill>
                <a:srgbClr val="000000"/>
              </a:solidFill>
              <a:effectLst/>
              <a:uFillTx/>
              <a:latin typeface="Arial"/>
            </a:endParaRPr>
          </a:p>
        </p:txBody>
      </p:sp>
      <p:pic>
        <p:nvPicPr>
          <p:cNvPr id="170" name="CLK00" descr="s08_0.png"/>
          <p:cNvPicPr/>
          <p:nvPr/>
        </p:nvPicPr>
        <p:blipFill>
          <a:blip r:embed="rId3"/>
          <a:stretch/>
        </p:blipFill>
        <p:spPr>
          <a:xfrm>
            <a:off x="7223760" y="3063240"/>
            <a:ext cx="3931560" cy="2717280"/>
          </a:xfrm>
          <a:prstGeom prst="rect">
            <a:avLst/>
          </a:prstGeom>
          <a:noFill/>
          <a:ln w="0">
            <a:noFill/>
          </a:ln>
          <a:effectLst>
            <a:outerShdw blurRad="39960" dist="24840" dir="5400000" rotWithShape="0">
              <a:srgbClr val="000000">
                <a:alpha val="30000"/>
              </a:srgbClr>
            </a:outerShdw>
          </a:effectLst>
        </p:spPr>
      </p:pic>
      <p:sp>
        <p:nvSpPr>
          <p:cNvPr id="171" name="CLK04"/>
          <p:cNvSpPr/>
          <p:nvPr/>
        </p:nvSpPr>
        <p:spPr>
          <a:xfrm>
            <a:off x="7315200" y="1645920"/>
            <a:ext cx="4023000" cy="914040"/>
          </a:xfrm>
          <a:prstGeom prst="rect">
            <a:avLst/>
          </a:prstGeom>
          <a:solidFill>
            <a:srgbClr val="FFFFFF"/>
          </a:solidFill>
          <a:ln w="25400">
            <a:solidFill>
              <a:srgbClr val="C0201B"/>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72" name="CLK04"/>
          <p:cNvSpPr/>
          <p:nvPr/>
        </p:nvSpPr>
        <p:spPr>
          <a:xfrm>
            <a:off x="7315200" y="1645920"/>
            <a:ext cx="402300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700" b="1" u="none" strike="noStrike">
                <a:solidFill>
                  <a:srgbClr val="C0201B"/>
                </a:solidFill>
                <a:effectLst/>
                <a:uFillTx/>
                <a:latin typeface="Calibri"/>
              </a:rPr>
              <a:t>Could Netflix do better than simple pricing?</a:t>
            </a:r>
            <a:endParaRPr lang="en-US" sz="17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6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74"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Simple &amp; Complex Pricing</a:t>
            </a:r>
            <a:endParaRPr lang="en-US" sz="1600" b="0" u="none" strike="noStrike">
              <a:solidFill>
                <a:srgbClr val="000000"/>
              </a:solidFill>
              <a:effectLst/>
              <a:uFillTx/>
              <a:latin typeface="Arial"/>
            </a:endParaRPr>
          </a:p>
        </p:txBody>
      </p:sp>
      <p:sp>
        <p:nvSpPr>
          <p:cNvPr id="175"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Simple Pricing: Geometric Representation</a:t>
            </a:r>
            <a:endParaRPr lang="en-US" sz="3200" b="0" u="none" strike="noStrike">
              <a:solidFill>
                <a:srgbClr val="000000"/>
              </a:solidFill>
              <a:effectLst/>
              <a:uFillTx/>
              <a:latin typeface="Arial"/>
            </a:endParaRPr>
          </a:p>
        </p:txBody>
      </p:sp>
      <p:sp>
        <p:nvSpPr>
          <p:cNvPr id="176"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77"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78"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79"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80"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181"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9</a:t>
            </a:r>
            <a:endParaRPr lang="en-US" sz="1200" b="0" u="none" strike="noStrike">
              <a:solidFill>
                <a:srgbClr val="000000"/>
              </a:solidFill>
              <a:effectLst/>
              <a:uFillTx/>
              <a:latin typeface="Arial"/>
            </a:endParaRPr>
          </a:p>
        </p:txBody>
      </p:sp>
      <p:cxnSp>
        <p:nvCxnSpPr>
          <p:cNvPr id="182" name="Connector 10"/>
          <p:cNvCxnSpPr/>
          <p:nvPr/>
        </p:nvCxnSpPr>
        <p:spPr>
          <a:xfrm flipV="1">
            <a:off x="777240" y="1143000"/>
            <a:ext cx="720" cy="5075280"/>
          </a:xfrm>
          <a:prstGeom prst="straightConnector1">
            <a:avLst/>
          </a:prstGeom>
          <a:ln w="25400">
            <a:solidFill>
              <a:srgbClr val="0B2B4E"/>
            </a:solidFill>
            <a:round/>
            <a:tailEnd type="triangle" w="med" len="med"/>
          </a:ln>
        </p:spPr>
      </p:cxnSp>
      <p:cxnSp>
        <p:nvCxnSpPr>
          <p:cNvPr id="183" name="Connector 11"/>
          <p:cNvCxnSpPr/>
          <p:nvPr/>
        </p:nvCxnSpPr>
        <p:spPr>
          <a:xfrm>
            <a:off x="777240" y="6217920"/>
            <a:ext cx="5258160" cy="720"/>
          </a:xfrm>
          <a:prstGeom prst="straightConnector1">
            <a:avLst/>
          </a:prstGeom>
          <a:ln w="25400">
            <a:solidFill>
              <a:srgbClr val="0B2B4E"/>
            </a:solidFill>
            <a:round/>
            <a:tailEnd type="triangle" w="med" len="med"/>
          </a:ln>
        </p:spPr>
      </p:cxnSp>
      <p:sp>
        <p:nvSpPr>
          <p:cNvPr id="184" name="TextBox 12"/>
          <p:cNvSpPr/>
          <p:nvPr/>
        </p:nvSpPr>
        <p:spPr>
          <a:xfrm>
            <a:off x="640080" y="758880"/>
            <a:ext cx="2377080" cy="36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b">
            <a:spAutoFit/>
          </a:bodyPr>
          <a:lstStyle/>
          <a:p>
            <a:pPr defTabSz="457200">
              <a:lnSpc>
                <a:spcPct val="100000"/>
              </a:lnSpc>
            </a:pPr>
            <a:r>
              <a:rPr lang="en-US" sz="1800" b="1" i="1" u="none" strike="noStrike">
                <a:solidFill>
                  <a:srgbClr val="0B2B4E"/>
                </a:solidFill>
                <a:effectLst/>
                <a:uFillTx/>
                <a:latin typeface="Calibri"/>
              </a:rPr>
              <a:t>P</a:t>
            </a:r>
            <a:endParaRPr lang="en-US" sz="1800" b="0" u="none" strike="noStrike">
              <a:solidFill>
                <a:srgbClr val="000000"/>
              </a:solidFill>
              <a:effectLst/>
              <a:uFillTx/>
              <a:latin typeface="Arial"/>
            </a:endParaRPr>
          </a:p>
        </p:txBody>
      </p:sp>
      <p:sp>
        <p:nvSpPr>
          <p:cNvPr id="185" name="TextBox 13"/>
          <p:cNvSpPr/>
          <p:nvPr/>
        </p:nvSpPr>
        <p:spPr>
          <a:xfrm>
            <a:off x="5943600" y="6272640"/>
            <a:ext cx="1645560" cy="36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457200">
              <a:lnSpc>
                <a:spcPct val="100000"/>
              </a:lnSpc>
            </a:pPr>
            <a:r>
              <a:rPr lang="en-US" sz="1800" b="1" i="1" u="none" strike="noStrike">
                <a:solidFill>
                  <a:srgbClr val="0B2B4E"/>
                </a:solidFill>
                <a:effectLst/>
                <a:uFillTx/>
                <a:latin typeface="Calibri"/>
              </a:rPr>
              <a:t>Q</a:t>
            </a:r>
            <a:endParaRPr lang="en-US" sz="1800" b="0" u="none" strike="noStrike">
              <a:solidFill>
                <a:srgbClr val="000000"/>
              </a:solidFill>
              <a:effectLst/>
              <a:uFillTx/>
              <a:latin typeface="Arial"/>
            </a:endParaRPr>
          </a:p>
        </p:txBody>
      </p:sp>
      <p:sp>
        <p:nvSpPr>
          <p:cNvPr id="186" name="CLK04"/>
          <p:cNvSpPr/>
          <p:nvPr/>
        </p:nvSpPr>
        <p:spPr>
          <a:xfrm>
            <a:off x="777240" y="2083320"/>
            <a:ext cx="2323440" cy="2067120"/>
          </a:xfrm>
          <a:custGeom>
            <a:avLst/>
            <a:gdLst>
              <a:gd name="textAreaLeft" fmla="*/ 0 w 2323440"/>
              <a:gd name="textAreaRight" fmla="*/ 2323800 w 2323440"/>
              <a:gd name="textAreaTop" fmla="*/ 0 h 2067120"/>
              <a:gd name="textAreaBottom" fmla="*/ 2067480 h 2067120"/>
            </a:gdLst>
            <a:ahLst/>
            <a:cxnLst/>
            <a:rect l="textAreaLeft" t="textAreaTop" r="textAreaRight" b="textAreaBottom"/>
            <a:pathLst>
              <a:path w="2323651" h="2067339">
                <a:moveTo>
                  <a:pt x="0" y="0"/>
                </a:moveTo>
                <a:lnTo>
                  <a:pt x="0" y="2067339"/>
                </a:lnTo>
                <a:lnTo>
                  <a:pt x="2323651" y="2067339"/>
                </a:lnTo>
                <a:close/>
              </a:path>
            </a:pathLst>
          </a:custGeom>
          <a:solidFill>
            <a:srgbClr val="9BBB59">
              <a:alpha val="85000"/>
            </a:srgbClr>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87" name="CLK02"/>
          <p:cNvSpPr/>
          <p:nvPr/>
        </p:nvSpPr>
        <p:spPr>
          <a:xfrm>
            <a:off x="777240" y="4150440"/>
            <a:ext cx="2323440" cy="2067120"/>
          </a:xfrm>
          <a:prstGeom prst="rect">
            <a:avLst/>
          </a:prstGeom>
          <a:solidFill>
            <a:srgbClr val="FFF200"/>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88" name="CLK04"/>
          <p:cNvSpPr/>
          <p:nvPr/>
        </p:nvSpPr>
        <p:spPr>
          <a:xfrm>
            <a:off x="3101040" y="4150440"/>
            <a:ext cx="2323440" cy="2067120"/>
          </a:xfrm>
          <a:custGeom>
            <a:avLst/>
            <a:gdLst>
              <a:gd name="textAreaLeft" fmla="*/ 0 w 2323440"/>
              <a:gd name="textAreaRight" fmla="*/ 2323800 w 2323440"/>
              <a:gd name="textAreaTop" fmla="*/ 0 h 2067120"/>
              <a:gd name="textAreaBottom" fmla="*/ 2067480 h 2067120"/>
            </a:gdLst>
            <a:ahLst/>
            <a:cxnLst/>
            <a:rect l="textAreaLeft" t="textAreaTop" r="textAreaRight" b="textAreaBottom"/>
            <a:pathLst>
              <a:path w="2323652" h="2067340">
                <a:moveTo>
                  <a:pt x="0" y="0"/>
                </a:moveTo>
                <a:lnTo>
                  <a:pt x="0" y="2067340"/>
                </a:lnTo>
                <a:lnTo>
                  <a:pt x="2323652" y="2067340"/>
                </a:lnTo>
                <a:close/>
              </a:path>
            </a:pathLst>
          </a:custGeom>
          <a:solidFill>
            <a:srgbClr val="E06666">
              <a:alpha val="85000"/>
            </a:srgbClr>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89" name="CLK00"/>
          <p:cNvSpPr/>
          <p:nvPr/>
        </p:nvSpPr>
        <p:spPr>
          <a:xfrm>
            <a:off x="777240" y="2083320"/>
            <a:ext cx="4646880" cy="4134240"/>
          </a:xfrm>
          <a:custGeom>
            <a:avLst/>
            <a:gdLst>
              <a:gd name="textAreaLeft" fmla="*/ 0 w 4646880"/>
              <a:gd name="textAreaRight" fmla="*/ 4647240 w 4646880"/>
              <a:gd name="textAreaTop" fmla="*/ 0 h 4134240"/>
              <a:gd name="textAreaBottom" fmla="*/ 4134600 h 4134240"/>
            </a:gdLst>
            <a:ahLst/>
            <a:cxnLst/>
            <a:rect l="textAreaLeft" t="textAreaTop" r="textAreaRight" b="textAreaBottom"/>
            <a:pathLst>
              <a:path w="4647303" h="4134679">
                <a:moveTo>
                  <a:pt x="0" y="0"/>
                </a:moveTo>
                <a:lnTo>
                  <a:pt x="4647303" y="4134679"/>
                </a:lnTo>
              </a:path>
            </a:pathLst>
          </a:custGeom>
          <a:noFill/>
          <a:ln w="38100" cap="rnd">
            <a:solidFill>
              <a:srgbClr val="C0201B"/>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90" name="CLK00"/>
          <p:cNvSpPr/>
          <p:nvPr/>
        </p:nvSpPr>
        <p:spPr>
          <a:xfrm>
            <a:off x="951480" y="1669680"/>
            <a:ext cx="20113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00" b="1" i="1" u="none" strike="noStrike">
                <a:solidFill>
                  <a:srgbClr val="C0201B"/>
                </a:solidFill>
                <a:effectLst/>
                <a:uFillTx/>
                <a:latin typeface="Calibri"/>
              </a:rPr>
              <a:t>P = 2 − Q/8</a:t>
            </a:r>
            <a:endParaRPr lang="en-US" sz="1400" b="0" u="none" strike="noStrike">
              <a:solidFill>
                <a:srgbClr val="000000"/>
              </a:solidFill>
              <a:effectLst/>
              <a:uFillTx/>
              <a:latin typeface="Arial"/>
            </a:endParaRPr>
          </a:p>
        </p:txBody>
      </p:sp>
      <p:sp>
        <p:nvSpPr>
          <p:cNvPr id="191" name="CLK04"/>
          <p:cNvSpPr/>
          <p:nvPr/>
        </p:nvSpPr>
        <p:spPr>
          <a:xfrm>
            <a:off x="1554480" y="1481400"/>
            <a:ext cx="21027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0" i="1" u="none" strike="noStrike">
                <a:solidFill>
                  <a:srgbClr val="0B2B4E"/>
                </a:solidFill>
                <a:effectLst/>
                <a:uFillTx/>
                <a:latin typeface="Calibri"/>
              </a:rPr>
              <a:t>Consumer Surplus</a:t>
            </a:r>
            <a:endParaRPr lang="en-US" sz="1300" b="0" u="none" strike="noStrike">
              <a:solidFill>
                <a:srgbClr val="000000"/>
              </a:solidFill>
              <a:effectLst/>
              <a:uFillTx/>
              <a:latin typeface="Arial"/>
            </a:endParaRPr>
          </a:p>
        </p:txBody>
      </p:sp>
      <p:cxnSp>
        <p:nvCxnSpPr>
          <p:cNvPr id="192" name="CLK04"/>
          <p:cNvCxnSpPr/>
          <p:nvPr/>
        </p:nvCxnSpPr>
        <p:spPr>
          <a:xfrm flipH="1">
            <a:off x="1645920" y="1846800"/>
            <a:ext cx="503280" cy="1399680"/>
          </a:xfrm>
          <a:prstGeom prst="straightConnector1">
            <a:avLst/>
          </a:prstGeom>
          <a:ln w="16510">
            <a:solidFill>
              <a:srgbClr val="1A1A1A"/>
            </a:solidFill>
            <a:round/>
            <a:tailEnd type="triangle" w="med" len="med"/>
          </a:ln>
        </p:spPr>
      </p:cxnSp>
      <p:sp>
        <p:nvSpPr>
          <p:cNvPr id="193" name="CLK02"/>
          <p:cNvSpPr/>
          <p:nvPr/>
        </p:nvSpPr>
        <p:spPr>
          <a:xfrm>
            <a:off x="2468880" y="2212920"/>
            <a:ext cx="15541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0" i="1" u="none" strike="noStrike">
                <a:solidFill>
                  <a:srgbClr val="0B2B4E"/>
                </a:solidFill>
                <a:effectLst/>
                <a:uFillTx/>
                <a:latin typeface="Calibri"/>
              </a:rPr>
              <a:t>Revenues</a:t>
            </a:r>
            <a:endParaRPr lang="en-US" sz="1300" b="0" u="none" strike="noStrike">
              <a:solidFill>
                <a:srgbClr val="000000"/>
              </a:solidFill>
              <a:effectLst/>
              <a:uFillTx/>
              <a:latin typeface="Arial"/>
            </a:endParaRPr>
          </a:p>
        </p:txBody>
      </p:sp>
      <p:cxnSp>
        <p:nvCxnSpPr>
          <p:cNvPr id="194" name="CLK02"/>
          <p:cNvCxnSpPr/>
          <p:nvPr/>
        </p:nvCxnSpPr>
        <p:spPr>
          <a:xfrm flipH="1">
            <a:off x="2057400" y="2560320"/>
            <a:ext cx="777600" cy="2286360"/>
          </a:xfrm>
          <a:prstGeom prst="straightConnector1">
            <a:avLst/>
          </a:prstGeom>
          <a:ln w="16510">
            <a:solidFill>
              <a:srgbClr val="1A1A1A"/>
            </a:solidFill>
            <a:round/>
            <a:tailEnd type="triangle" w="med" len="med"/>
          </a:ln>
        </p:spPr>
      </p:cxnSp>
      <p:sp>
        <p:nvSpPr>
          <p:cNvPr id="195" name="CLK04"/>
          <p:cNvSpPr/>
          <p:nvPr/>
        </p:nvSpPr>
        <p:spPr>
          <a:xfrm>
            <a:off x="3566160" y="2724840"/>
            <a:ext cx="21942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0" i="1" u="none" strike="noStrike">
                <a:solidFill>
                  <a:srgbClr val="0B2B4E"/>
                </a:solidFill>
                <a:effectLst/>
                <a:uFillTx/>
                <a:latin typeface="Calibri"/>
              </a:rPr>
              <a:t>Unexploited Markets</a:t>
            </a:r>
            <a:endParaRPr lang="en-US" sz="1300" b="0" u="none" strike="noStrike">
              <a:solidFill>
                <a:srgbClr val="000000"/>
              </a:solidFill>
              <a:effectLst/>
              <a:uFillTx/>
              <a:latin typeface="Arial"/>
            </a:endParaRPr>
          </a:p>
        </p:txBody>
      </p:sp>
      <p:cxnSp>
        <p:nvCxnSpPr>
          <p:cNvPr id="196" name="CLK04"/>
          <p:cNvCxnSpPr/>
          <p:nvPr/>
        </p:nvCxnSpPr>
        <p:spPr>
          <a:xfrm flipH="1">
            <a:off x="3886200" y="3090600"/>
            <a:ext cx="320400" cy="2167560"/>
          </a:xfrm>
          <a:prstGeom prst="straightConnector1">
            <a:avLst/>
          </a:prstGeom>
          <a:ln w="16510">
            <a:solidFill>
              <a:srgbClr val="1A1A1A"/>
            </a:solidFill>
            <a:round/>
            <a:tailEnd type="triangle" w="med" len="med"/>
          </a:ln>
        </p:spPr>
      </p:cxnSp>
      <p:sp>
        <p:nvSpPr>
          <p:cNvPr id="197" name="CLK00"/>
          <p:cNvSpPr/>
          <p:nvPr/>
        </p:nvSpPr>
        <p:spPr>
          <a:xfrm>
            <a:off x="2084400" y="6364080"/>
            <a:ext cx="32914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0" i="1" u="none" strike="noStrike">
                <a:solidFill>
                  <a:srgbClr val="C0201B"/>
                </a:solidFill>
                <a:effectLst/>
                <a:uFillTx/>
                <a:latin typeface="Calibri"/>
              </a:rPr>
              <a:t>Demand = Marginal Personal Value</a:t>
            </a:r>
            <a:endParaRPr lang="en-US" sz="1300" b="0" u="none" strike="noStrike">
              <a:solidFill>
                <a:srgbClr val="000000"/>
              </a:solidFill>
              <a:effectLst/>
              <a:uFillTx/>
              <a:latin typeface="Arial"/>
            </a:endParaRPr>
          </a:p>
        </p:txBody>
      </p:sp>
      <p:sp>
        <p:nvSpPr>
          <p:cNvPr id="198" name="CLK00"/>
          <p:cNvSpPr/>
          <p:nvPr/>
        </p:nvSpPr>
        <p:spPr>
          <a:xfrm>
            <a:off x="228600" y="1936800"/>
            <a:ext cx="548280" cy="2923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chorCtr="1">
            <a:spAutoFit/>
          </a:bodyPr>
          <a:lstStyle/>
          <a:p>
            <a:pPr algn="r" defTabSz="457200">
              <a:lnSpc>
                <a:spcPct val="100000"/>
              </a:lnSpc>
            </a:pPr>
            <a:r>
              <a:rPr lang="en-US" sz="1400" b="0" u="none" strike="noStrike">
                <a:solidFill>
                  <a:srgbClr val="0B2B4E"/>
                </a:solidFill>
                <a:effectLst/>
                <a:uFillTx/>
                <a:latin typeface="Calibri"/>
              </a:rPr>
              <a:t>$2</a:t>
            </a:r>
            <a:endParaRPr lang="en-US" sz="1400" b="0" u="none" strike="noStrike">
              <a:solidFill>
                <a:srgbClr val="000000"/>
              </a:solidFill>
              <a:effectLst/>
              <a:uFillTx/>
              <a:latin typeface="Arial"/>
            </a:endParaRPr>
          </a:p>
        </p:txBody>
      </p:sp>
      <p:sp>
        <p:nvSpPr>
          <p:cNvPr id="199" name="CLK04"/>
          <p:cNvSpPr/>
          <p:nvPr/>
        </p:nvSpPr>
        <p:spPr>
          <a:xfrm>
            <a:off x="2643840" y="6272640"/>
            <a:ext cx="914040" cy="2739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algn="ctr" defTabSz="457200">
              <a:lnSpc>
                <a:spcPct val="100000"/>
              </a:lnSpc>
            </a:pPr>
            <a:r>
              <a:rPr lang="en-US" sz="1400" b="0" u="none" strike="noStrike">
                <a:solidFill>
                  <a:srgbClr val="0B2B4E"/>
                </a:solidFill>
                <a:effectLst/>
                <a:uFillTx/>
                <a:latin typeface="Calibri"/>
              </a:rPr>
              <a:t>8</a:t>
            </a:r>
            <a:endParaRPr lang="en-US" sz="1400" b="0" u="none" strike="noStrike">
              <a:solidFill>
                <a:srgbClr val="000000"/>
              </a:solidFill>
              <a:effectLst/>
              <a:uFillTx/>
              <a:latin typeface="Arial"/>
            </a:endParaRPr>
          </a:p>
        </p:txBody>
      </p:sp>
      <p:sp>
        <p:nvSpPr>
          <p:cNvPr id="200" name="CLK00"/>
          <p:cNvSpPr/>
          <p:nvPr/>
        </p:nvSpPr>
        <p:spPr>
          <a:xfrm>
            <a:off x="4967280" y="6272640"/>
            <a:ext cx="914040" cy="2739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algn="ctr" defTabSz="457200">
              <a:lnSpc>
                <a:spcPct val="100000"/>
              </a:lnSpc>
            </a:pPr>
            <a:r>
              <a:rPr lang="en-US" sz="1400" b="0" u="none" strike="noStrike">
                <a:solidFill>
                  <a:srgbClr val="0B2B4E"/>
                </a:solidFill>
                <a:effectLst/>
                <a:uFillTx/>
                <a:latin typeface="Calibri"/>
              </a:rPr>
              <a:t>16</a:t>
            </a:r>
            <a:endParaRPr lang="en-US" sz="1400" b="0" u="none" strike="noStrike">
              <a:solidFill>
                <a:srgbClr val="000000"/>
              </a:solidFill>
              <a:effectLst/>
              <a:uFillTx/>
              <a:latin typeface="Arial"/>
            </a:endParaRPr>
          </a:p>
        </p:txBody>
      </p:sp>
      <p:pic>
        <p:nvPicPr>
          <p:cNvPr id="201" name="CLK00" descr="s08_0.png"/>
          <p:cNvPicPr/>
          <p:nvPr/>
        </p:nvPicPr>
        <p:blipFill>
          <a:blip r:embed="rId3"/>
          <a:stretch/>
        </p:blipFill>
        <p:spPr>
          <a:xfrm>
            <a:off x="4069080" y="3794760"/>
            <a:ext cx="1416960" cy="979200"/>
          </a:xfrm>
          <a:prstGeom prst="rect">
            <a:avLst/>
          </a:prstGeom>
          <a:noFill/>
          <a:ln w="0">
            <a:noFill/>
          </a:ln>
          <a:effectLst>
            <a:outerShdw blurRad="39960" dist="24840" dir="5400000" rotWithShape="0">
              <a:srgbClr val="000000">
                <a:alpha val="30000"/>
              </a:srgbClr>
            </a:outerShdw>
          </a:effectLst>
        </p:spPr>
      </p:pic>
      <p:sp>
        <p:nvSpPr>
          <p:cNvPr id="202" name="CLK01"/>
          <p:cNvSpPr/>
          <p:nvPr/>
        </p:nvSpPr>
        <p:spPr>
          <a:xfrm>
            <a:off x="6400800" y="1828800"/>
            <a:ext cx="5394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200" b="0" u="none" strike="noStrike">
                <a:solidFill>
                  <a:srgbClr val="0B2B4E"/>
                </a:solidFill>
                <a:effectLst/>
                <a:uFillTx/>
                <a:latin typeface="Calibri"/>
              </a:rPr>
              <a:t>▪  Simplifying assumption: </a:t>
            </a:r>
            <a:r>
              <a:rPr lang="en-US" sz="2200" b="1" u="none" strike="noStrike">
                <a:solidFill>
                  <a:srgbClr val="0B2B4E"/>
                </a:solidFill>
                <a:effectLst/>
                <a:uFillTx/>
                <a:latin typeface="Calibri"/>
              </a:rPr>
              <a:t>MC = 0</a:t>
            </a:r>
            <a:endParaRPr lang="en-US" sz="2200" b="0" u="none" strike="noStrike">
              <a:solidFill>
                <a:srgbClr val="000000"/>
              </a:solidFill>
              <a:effectLst/>
              <a:uFillTx/>
              <a:latin typeface="Arial"/>
            </a:endParaRPr>
          </a:p>
        </p:txBody>
      </p:sp>
      <p:sp>
        <p:nvSpPr>
          <p:cNvPr id="203" name="CLK03"/>
          <p:cNvSpPr/>
          <p:nvPr/>
        </p:nvSpPr>
        <p:spPr>
          <a:xfrm>
            <a:off x="6400800" y="2788920"/>
            <a:ext cx="539460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200" b="0" u="none" strike="noStrike">
                <a:solidFill>
                  <a:srgbClr val="0B2B4E"/>
                </a:solidFill>
                <a:effectLst/>
                <a:uFillTx/>
                <a:latin typeface="Calibri"/>
              </a:rPr>
              <a:t>▪  </a:t>
            </a:r>
            <a:r>
              <a:rPr lang="en-US" sz="2200" b="1" u="none" strike="noStrike">
                <a:solidFill>
                  <a:srgbClr val="0B2B4E"/>
                </a:solidFill>
                <a:effectLst/>
                <a:uFillTx/>
                <a:latin typeface="Calibri"/>
              </a:rPr>
              <a:t>“Wasted profits”:</a:t>
            </a:r>
            <a:r>
              <a:rPr lang="en-US" sz="2200" b="0" u="none" strike="noStrike">
                <a:solidFill>
                  <a:srgbClr val="0B2B4E"/>
                </a:solidFill>
                <a:effectLst/>
                <a:uFillTx/>
                <a:latin typeface="Calibri"/>
              </a:rPr>
              <a:t> consumer surplus + unexploited markets</a:t>
            </a:r>
            <a:endParaRPr lang="en-US" sz="2200" b="0" u="none" strike="noStrike">
              <a:solidFill>
                <a:srgbClr val="000000"/>
              </a:solidFill>
              <a:effectLst/>
              <a:uFillTx/>
              <a:latin typeface="Arial"/>
            </a:endParaRPr>
          </a:p>
        </p:txBody>
      </p:sp>
      <p:sp>
        <p:nvSpPr>
          <p:cNvPr id="204" name="CLK05"/>
          <p:cNvSpPr/>
          <p:nvPr/>
        </p:nvSpPr>
        <p:spPr>
          <a:xfrm>
            <a:off x="6400800" y="4343400"/>
            <a:ext cx="5394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200" b="0" u="none" strike="noStrike">
                <a:solidFill>
                  <a:srgbClr val="0B2B4E"/>
                </a:solidFill>
                <a:effectLst/>
                <a:uFillTx/>
                <a:latin typeface="Calibri"/>
              </a:rPr>
              <a:t>▪  May do better using complex pricing</a:t>
            </a:r>
            <a:endParaRPr lang="en-US" sz="22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0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8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8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9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9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9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9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06"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Simple &amp; Complex Pricing</a:t>
            </a:r>
            <a:endParaRPr lang="en-US" sz="1600" b="0" u="none" strike="noStrike">
              <a:solidFill>
                <a:srgbClr val="000000"/>
              </a:solidFill>
              <a:effectLst/>
              <a:uFillTx/>
              <a:latin typeface="Arial"/>
            </a:endParaRPr>
          </a:p>
        </p:txBody>
      </p:sp>
      <p:sp>
        <p:nvSpPr>
          <p:cNvPr id="207"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Complex (Non-Uniform) Pricing</a:t>
            </a:r>
            <a:endParaRPr lang="en-US" sz="3200" b="0" u="none" strike="noStrike">
              <a:solidFill>
                <a:srgbClr val="000000"/>
              </a:solidFill>
              <a:effectLst/>
              <a:uFillTx/>
              <a:latin typeface="Arial"/>
            </a:endParaRPr>
          </a:p>
        </p:txBody>
      </p:sp>
      <p:sp>
        <p:nvSpPr>
          <p:cNvPr id="208"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09"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10"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11"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12"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213"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10</a:t>
            </a:r>
            <a:endParaRPr lang="en-US" sz="1200" b="0" u="none" strike="noStrike">
              <a:solidFill>
                <a:srgbClr val="000000"/>
              </a:solidFill>
              <a:effectLst/>
              <a:uFillTx/>
              <a:latin typeface="Arial"/>
            </a:endParaRPr>
          </a:p>
        </p:txBody>
      </p:sp>
      <p:sp>
        <p:nvSpPr>
          <p:cNvPr id="214" name="TXBLD_1100101"/>
          <p:cNvSpPr/>
          <p:nvPr/>
        </p:nvSpPr>
        <p:spPr>
          <a:xfrm>
            <a:off x="502920" y="1554480"/>
            <a:ext cx="11155320" cy="4754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343080" indent="-343080" defTabSz="457200">
              <a:lnSpc>
                <a:spcPct val="100000"/>
              </a:lnSpc>
              <a:spcBef>
                <a:spcPts val="1199"/>
              </a:spcBef>
              <a:buClr>
                <a:srgbClr val="0B2B4E"/>
              </a:buClr>
              <a:buFont typeface="Calibri"/>
              <a:buChar char="▪"/>
            </a:pPr>
            <a:r>
              <a:rPr lang="en-US" sz="2400" b="1" u="none" strike="noStrike">
                <a:solidFill>
                  <a:srgbClr val="0B2B4E"/>
                </a:solidFill>
                <a:effectLst/>
                <a:uFillTx/>
                <a:latin typeface="Calibri"/>
              </a:rPr>
              <a:t>Requirements for complex pricing:</a:t>
            </a:r>
            <a:endParaRPr lang="en-US" sz="2400" b="0" u="none" strike="noStrike">
              <a:solidFill>
                <a:srgbClr val="000000"/>
              </a:solidFill>
              <a:effectLst/>
              <a:uFillTx/>
              <a:latin typeface="Arial"/>
            </a:endParaRPr>
          </a:p>
          <a:p>
            <a:pPr marL="685800" lvl="1" indent="-228600" defTabSz="457200">
              <a:lnSpc>
                <a:spcPct val="100000"/>
              </a:lnSpc>
              <a:spcBef>
                <a:spcPts val="499"/>
              </a:spcBef>
              <a:buClr>
                <a:srgbClr val="555B66"/>
              </a:buClr>
              <a:buFont typeface="Calibri"/>
              <a:buChar char="–"/>
            </a:pPr>
            <a:r>
              <a:rPr lang="en-US" sz="1900" b="1" u="none" strike="noStrike">
                <a:solidFill>
                  <a:srgbClr val="555B66"/>
                </a:solidFill>
                <a:effectLst/>
                <a:uFillTx/>
                <a:latin typeface="Calibri"/>
              </a:rPr>
              <a:t>Market power</a:t>
            </a:r>
            <a:endParaRPr lang="en-US" sz="1900" b="0" u="none" strike="noStrike">
              <a:solidFill>
                <a:srgbClr val="000000"/>
              </a:solidFill>
              <a:effectLst/>
              <a:uFillTx/>
              <a:latin typeface="Arial"/>
            </a:endParaRPr>
          </a:p>
          <a:p>
            <a:pPr marL="685800" lvl="1" indent="-228600" defTabSz="457200">
              <a:lnSpc>
                <a:spcPct val="100000"/>
              </a:lnSpc>
              <a:spcBef>
                <a:spcPts val="499"/>
              </a:spcBef>
              <a:buClr>
                <a:srgbClr val="555B66"/>
              </a:buClr>
              <a:buFont typeface="Calibri"/>
              <a:buChar char="–"/>
            </a:pPr>
            <a:r>
              <a:rPr lang="en-US" sz="1900" b="0" u="none" strike="noStrike">
                <a:solidFill>
                  <a:srgbClr val="555B66"/>
                </a:solidFill>
                <a:effectLst/>
                <a:uFillTx/>
                <a:latin typeface="Calibri"/>
              </a:rPr>
              <a:t>Perfect competition → price taker, cannot set a pricing strategy</a:t>
            </a:r>
            <a:endParaRPr lang="en-US" sz="1900" b="0" u="none" strike="noStrike">
              <a:solidFill>
                <a:srgbClr val="000000"/>
              </a:solidFill>
              <a:effectLst/>
              <a:uFillTx/>
              <a:latin typeface="Arial"/>
            </a:endParaRPr>
          </a:p>
          <a:p>
            <a:pPr marL="685800" lvl="1" indent="-228600" defTabSz="457200">
              <a:lnSpc>
                <a:spcPct val="100000"/>
              </a:lnSpc>
              <a:spcBef>
                <a:spcPts val="499"/>
              </a:spcBef>
              <a:buClr>
                <a:srgbClr val="555B66"/>
              </a:buClr>
              <a:buFont typeface="Calibri"/>
              <a:buChar char="–"/>
            </a:pPr>
            <a:r>
              <a:rPr lang="en-US" sz="1900" b="0" u="none" strike="noStrike">
                <a:solidFill>
                  <a:srgbClr val="555B66"/>
                </a:solidFill>
                <a:effectLst/>
                <a:uFillTx/>
                <a:latin typeface="Calibri"/>
              </a:rPr>
              <a:t>Market power → price searchers have pricing power</a:t>
            </a:r>
            <a:endParaRPr lang="en-US" sz="1900" b="0" u="none" strike="noStrike">
              <a:solidFill>
                <a:srgbClr val="000000"/>
              </a:solidFill>
              <a:effectLst/>
              <a:uFillTx/>
              <a:latin typeface="Arial"/>
            </a:endParaRPr>
          </a:p>
          <a:p>
            <a:pPr marL="685800" lvl="1" indent="-228600" defTabSz="457200">
              <a:lnSpc>
                <a:spcPct val="100000"/>
              </a:lnSpc>
              <a:spcBef>
                <a:spcPts val="499"/>
              </a:spcBef>
              <a:buClr>
                <a:srgbClr val="555B66"/>
              </a:buClr>
              <a:buFont typeface="Calibri"/>
              <a:buChar char="–"/>
            </a:pPr>
            <a:r>
              <a:rPr lang="en-US" sz="1900" b="1" u="none" strike="noStrike">
                <a:solidFill>
                  <a:srgbClr val="555B66"/>
                </a:solidFill>
                <a:effectLst/>
                <a:uFillTx/>
                <a:latin typeface="Calibri"/>
              </a:rPr>
              <a:t>Capacity to prevent resale and arbitrage</a:t>
            </a:r>
            <a:endParaRPr lang="en-US" sz="1900" b="0" u="none" strike="noStrike">
              <a:solidFill>
                <a:srgbClr val="000000"/>
              </a:solidFill>
              <a:effectLst/>
              <a:uFillTx/>
              <a:latin typeface="Arial"/>
            </a:endParaRPr>
          </a:p>
          <a:p>
            <a:pPr marL="685800" lvl="1" indent="-228600" defTabSz="457200">
              <a:lnSpc>
                <a:spcPct val="100000"/>
              </a:lnSpc>
              <a:spcBef>
                <a:spcPts val="499"/>
              </a:spcBef>
              <a:buClr>
                <a:srgbClr val="555B66"/>
              </a:buClr>
              <a:buFont typeface="Calibri"/>
              <a:buChar char="–"/>
            </a:pPr>
            <a:r>
              <a:rPr lang="en-US" sz="1900" b="0" u="none" strike="noStrike">
                <a:solidFill>
                  <a:srgbClr val="555B66"/>
                </a:solidFill>
                <a:effectLst/>
                <a:uFillTx/>
                <a:latin typeface="Calibri"/>
              </a:rPr>
              <a:t>Lets sellers charge different prices for different volumes/packages/customers</a:t>
            </a:r>
            <a:endParaRPr lang="en-US" sz="1900" b="0" u="none" strike="noStrike">
              <a:solidFill>
                <a:srgbClr val="000000"/>
              </a:solidFill>
              <a:effectLst/>
              <a:uFillTx/>
              <a:latin typeface="Arial"/>
            </a:endParaRPr>
          </a:p>
          <a:p>
            <a:pPr marL="343080" indent="-343080" defTabSz="457200">
              <a:lnSpc>
                <a:spcPct val="100000"/>
              </a:lnSpc>
              <a:spcBef>
                <a:spcPts val="1199"/>
              </a:spcBef>
              <a:buClr>
                <a:srgbClr val="0B2B4E"/>
              </a:buClr>
              <a:buFont typeface="Calibri"/>
              <a:buChar char="▪"/>
            </a:pPr>
            <a:r>
              <a:rPr lang="en-US" sz="2400" b="0" u="none" strike="noStrike">
                <a:solidFill>
                  <a:srgbClr val="0B2B4E"/>
                </a:solidFill>
                <a:effectLst/>
                <a:uFillTx/>
                <a:latin typeface="Calibri"/>
              </a:rPr>
              <a:t>Complex pricing is usually more profitable than simple pricing</a:t>
            </a:r>
            <a:endParaRPr lang="en-US" sz="24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4">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4">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1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16"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Simple &amp; Complex Pricing</a:t>
            </a:r>
            <a:endParaRPr lang="en-US" sz="1600" b="0" u="none" strike="noStrike">
              <a:solidFill>
                <a:srgbClr val="000000"/>
              </a:solidFill>
              <a:effectLst/>
              <a:uFillTx/>
              <a:latin typeface="Arial"/>
            </a:endParaRPr>
          </a:p>
        </p:txBody>
      </p:sp>
      <p:sp>
        <p:nvSpPr>
          <p:cNvPr id="217"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Three Degrees of Price Discrimination</a:t>
            </a:r>
            <a:endParaRPr lang="en-US" sz="3200" b="0" u="none" strike="noStrike">
              <a:solidFill>
                <a:srgbClr val="000000"/>
              </a:solidFill>
              <a:effectLst/>
              <a:uFillTx/>
              <a:latin typeface="Arial"/>
            </a:endParaRPr>
          </a:p>
        </p:txBody>
      </p:sp>
      <p:sp>
        <p:nvSpPr>
          <p:cNvPr id="218"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19"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20"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21"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22"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223"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11</a:t>
            </a:r>
            <a:endParaRPr lang="en-US" sz="1200" b="0" u="none" strike="noStrike">
              <a:solidFill>
                <a:srgbClr val="000000"/>
              </a:solidFill>
              <a:effectLst/>
              <a:uFillTx/>
              <a:latin typeface="Arial"/>
            </a:endParaRPr>
          </a:p>
        </p:txBody>
      </p:sp>
      <p:sp>
        <p:nvSpPr>
          <p:cNvPr id="224" name="TXBLD_111"/>
          <p:cNvSpPr/>
          <p:nvPr/>
        </p:nvSpPr>
        <p:spPr>
          <a:xfrm>
            <a:off x="502920" y="1737360"/>
            <a:ext cx="11155320" cy="4571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343080" indent="-343080" defTabSz="457200">
              <a:lnSpc>
                <a:spcPct val="100000"/>
              </a:lnSpc>
              <a:spcBef>
                <a:spcPts val="2001"/>
              </a:spcBef>
              <a:buClr>
                <a:srgbClr val="0B2B4E"/>
              </a:buClr>
              <a:buFont typeface="Calibri"/>
              <a:buChar char="▪"/>
            </a:pPr>
            <a:r>
              <a:rPr lang="en-US" sz="2200" b="1" u="none" strike="noStrike">
                <a:solidFill>
                  <a:srgbClr val="0070C0"/>
                </a:solidFill>
                <a:effectLst/>
                <a:uFillTx/>
                <a:latin typeface="Calibri"/>
              </a:rPr>
              <a:t>First degree: </a:t>
            </a:r>
            <a:r>
              <a:rPr lang="en-US" sz="2200" b="0" u="none" strike="noStrike">
                <a:solidFill>
                  <a:srgbClr val="0B2B4E"/>
                </a:solidFill>
                <a:effectLst/>
                <a:uFillTx/>
                <a:latin typeface="Calibri"/>
              </a:rPr>
              <a:t>“dream world” — firm knows each consumer’s willingness to pay</a:t>
            </a:r>
            <a:endParaRPr lang="en-US" sz="2200" b="0" u="none" strike="noStrike">
              <a:solidFill>
                <a:srgbClr val="000000"/>
              </a:solidFill>
              <a:effectLst/>
              <a:uFillTx/>
              <a:latin typeface="Arial"/>
            </a:endParaRPr>
          </a:p>
          <a:p>
            <a:pPr marL="343080" indent="-343080" defTabSz="457200">
              <a:lnSpc>
                <a:spcPct val="100000"/>
              </a:lnSpc>
              <a:spcBef>
                <a:spcPts val="2001"/>
              </a:spcBef>
              <a:buClr>
                <a:srgbClr val="0B2B4E"/>
              </a:buClr>
              <a:buFont typeface="Calibri"/>
              <a:buChar char="▪"/>
            </a:pPr>
            <a:r>
              <a:rPr lang="en-US" sz="2200" b="1" u="none" strike="noStrike">
                <a:solidFill>
                  <a:srgbClr val="0070C0"/>
                </a:solidFill>
                <a:effectLst/>
                <a:uFillTx/>
                <a:latin typeface="Calibri"/>
              </a:rPr>
              <a:t>Third degree: </a:t>
            </a:r>
            <a:r>
              <a:rPr lang="en-US" sz="2200" b="0" u="none" strike="noStrike">
                <a:solidFill>
                  <a:srgbClr val="0B2B4E"/>
                </a:solidFill>
                <a:effectLst/>
                <a:uFillTx/>
                <a:latin typeface="Calibri"/>
              </a:rPr>
              <a:t>firm identifies groups with different price sensitivities before purchase (students, seniors, tourists)</a:t>
            </a:r>
            <a:endParaRPr lang="en-US" sz="2200" b="0" u="none" strike="noStrike">
              <a:solidFill>
                <a:srgbClr val="000000"/>
              </a:solidFill>
              <a:effectLst/>
              <a:uFillTx/>
              <a:latin typeface="Arial"/>
            </a:endParaRPr>
          </a:p>
          <a:p>
            <a:pPr marL="343080" indent="-343080" defTabSz="457200">
              <a:lnSpc>
                <a:spcPct val="100000"/>
              </a:lnSpc>
              <a:spcBef>
                <a:spcPts val="2001"/>
              </a:spcBef>
              <a:buClr>
                <a:srgbClr val="0B2B4E"/>
              </a:buClr>
              <a:buFont typeface="Calibri"/>
              <a:buChar char="▪"/>
            </a:pPr>
            <a:r>
              <a:rPr lang="en-US" sz="2200" b="1" u="none" strike="noStrike">
                <a:solidFill>
                  <a:srgbClr val="0070C0"/>
                </a:solidFill>
                <a:effectLst/>
                <a:uFillTx/>
                <a:latin typeface="Calibri"/>
              </a:rPr>
              <a:t>Second degree: </a:t>
            </a:r>
            <a:r>
              <a:rPr lang="en-US" sz="2200" b="0" u="none" strike="noStrike">
                <a:solidFill>
                  <a:srgbClr val="0B2B4E"/>
                </a:solidFill>
                <a:effectLst/>
                <a:uFillTx/>
                <a:latin typeface="Calibri"/>
              </a:rPr>
              <a:t>firm cannot identify types; uses purchase options to infer willingness to pay (versioning, quantity discounts, coupons)</a:t>
            </a:r>
            <a:endParaRPr lang="en-US" sz="22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26"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Roadmap</a:t>
            </a:r>
            <a:endParaRPr lang="en-US" sz="1600" b="0" u="none" strike="noStrike">
              <a:solidFill>
                <a:srgbClr val="000000"/>
              </a:solidFill>
              <a:effectLst/>
              <a:uFillTx/>
              <a:latin typeface="Arial"/>
            </a:endParaRPr>
          </a:p>
        </p:txBody>
      </p:sp>
      <p:sp>
        <p:nvSpPr>
          <p:cNvPr id="227"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Outline of Module 6</a:t>
            </a:r>
            <a:endParaRPr lang="en-US" sz="3200" b="0" u="none" strike="noStrike">
              <a:solidFill>
                <a:srgbClr val="000000"/>
              </a:solidFill>
              <a:effectLst/>
              <a:uFillTx/>
              <a:latin typeface="Arial"/>
            </a:endParaRPr>
          </a:p>
        </p:txBody>
      </p:sp>
      <p:sp>
        <p:nvSpPr>
          <p:cNvPr id="228"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29"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30"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31"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32"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233"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12</a:t>
            </a:r>
            <a:endParaRPr lang="en-US" sz="1200" b="0" u="none" strike="noStrike">
              <a:solidFill>
                <a:srgbClr val="000000"/>
              </a:solidFill>
              <a:effectLst/>
              <a:uFillTx/>
              <a:latin typeface="Arial"/>
            </a:endParaRPr>
          </a:p>
        </p:txBody>
      </p:sp>
      <p:sp>
        <p:nvSpPr>
          <p:cNvPr id="234" name="Oval 10"/>
          <p:cNvSpPr/>
          <p:nvPr/>
        </p:nvSpPr>
        <p:spPr>
          <a:xfrm>
            <a:off x="1234440" y="1645920"/>
            <a:ext cx="511560" cy="51156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1</a:t>
            </a:r>
            <a:endParaRPr lang="en-US" sz="2000" b="0" u="none" strike="noStrike">
              <a:solidFill>
                <a:srgbClr val="000000"/>
              </a:solidFill>
              <a:effectLst/>
              <a:uFillTx/>
              <a:latin typeface="Arial"/>
            </a:endParaRPr>
          </a:p>
        </p:txBody>
      </p:sp>
      <p:sp>
        <p:nvSpPr>
          <p:cNvPr id="235" name="TextBox 11"/>
          <p:cNvSpPr/>
          <p:nvPr/>
        </p:nvSpPr>
        <p:spPr>
          <a:xfrm>
            <a:off x="2286000" y="156348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A6ADB5"/>
                </a:solidFill>
                <a:effectLst/>
                <a:uFillTx/>
                <a:latin typeface="Calibri"/>
              </a:rPr>
              <a:t>Simple and complex pricing</a:t>
            </a:r>
            <a:endParaRPr lang="en-US" sz="2200" b="0" u="none" strike="noStrike">
              <a:solidFill>
                <a:srgbClr val="000000"/>
              </a:solidFill>
              <a:effectLst/>
              <a:uFillTx/>
              <a:latin typeface="Arial"/>
            </a:endParaRPr>
          </a:p>
        </p:txBody>
      </p:sp>
      <p:sp>
        <p:nvSpPr>
          <p:cNvPr id="236" name="TextBox 12"/>
          <p:cNvSpPr/>
          <p:nvPr/>
        </p:nvSpPr>
        <p:spPr>
          <a:xfrm>
            <a:off x="2286000" y="196596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C3C8CE"/>
                </a:solidFill>
                <a:effectLst/>
                <a:uFillTx/>
                <a:latin typeface="Calibri"/>
              </a:rPr>
              <a:t>The pricing dilemma and why complex pricing pays</a:t>
            </a:r>
            <a:endParaRPr lang="en-US" sz="1600" b="0" u="none" strike="noStrike">
              <a:solidFill>
                <a:srgbClr val="000000"/>
              </a:solidFill>
              <a:effectLst/>
              <a:uFillTx/>
              <a:latin typeface="Arial"/>
            </a:endParaRPr>
          </a:p>
        </p:txBody>
      </p:sp>
      <p:sp>
        <p:nvSpPr>
          <p:cNvPr id="237" name="Rounded Rectangle 13"/>
          <p:cNvSpPr/>
          <p:nvPr/>
        </p:nvSpPr>
        <p:spPr>
          <a:xfrm>
            <a:off x="978480" y="2404800"/>
            <a:ext cx="10423800" cy="785880"/>
          </a:xfrm>
          <a:prstGeom prst="roundRect">
            <a:avLst>
              <a:gd name="adj" fmla="val 16667"/>
            </a:avLst>
          </a:prstGeom>
          <a:solidFill>
            <a:srgbClr val="FDF6E6"/>
          </a:solidFill>
          <a:ln w="15875">
            <a:solidFill>
              <a:srgbClr val="E09F3E"/>
            </a:solidFill>
            <a:round/>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38" name="Oval 14"/>
          <p:cNvSpPr/>
          <p:nvPr/>
        </p:nvSpPr>
        <p:spPr>
          <a:xfrm>
            <a:off x="1234440" y="2541960"/>
            <a:ext cx="511560" cy="511560"/>
          </a:xfrm>
          <a:prstGeom prst="ellipse">
            <a:avLst/>
          </a:prstGeom>
          <a:solidFill>
            <a:srgbClr val="0B2B4E"/>
          </a:solidFill>
          <a:ln>
            <a:noFill/>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2</a:t>
            </a:r>
            <a:endParaRPr lang="en-US" sz="2000" b="0" u="none" strike="noStrike">
              <a:solidFill>
                <a:srgbClr val="FFFFFF"/>
              </a:solidFill>
              <a:effectLst/>
              <a:uFillTx/>
              <a:latin typeface="Arial"/>
            </a:endParaRPr>
          </a:p>
        </p:txBody>
      </p:sp>
      <p:sp>
        <p:nvSpPr>
          <p:cNvPr id="239" name="TextBox 15"/>
          <p:cNvSpPr/>
          <p:nvPr/>
        </p:nvSpPr>
        <p:spPr>
          <a:xfrm>
            <a:off x="2286000" y="245988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0B2B4E"/>
                </a:solidFill>
                <a:effectLst/>
                <a:uFillTx/>
                <a:latin typeface="Calibri"/>
              </a:rPr>
              <a:t>Direct price discrimination</a:t>
            </a:r>
            <a:endParaRPr lang="en-US" sz="2200" b="0" u="none" strike="noStrike">
              <a:solidFill>
                <a:srgbClr val="000000"/>
              </a:solidFill>
              <a:effectLst/>
              <a:uFillTx/>
              <a:latin typeface="Arial"/>
            </a:endParaRPr>
          </a:p>
        </p:txBody>
      </p:sp>
      <p:sp>
        <p:nvSpPr>
          <p:cNvPr id="240" name="TextBox 16"/>
          <p:cNvSpPr/>
          <p:nvPr/>
        </p:nvSpPr>
        <p:spPr>
          <a:xfrm>
            <a:off x="2286000" y="286200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0B2B4E"/>
                </a:solidFill>
                <a:effectLst/>
                <a:uFillTx/>
                <a:latin typeface="Calibri"/>
              </a:rPr>
              <a:t>First-degree (perfect) and third-degree (segment) pricing</a:t>
            </a:r>
            <a:endParaRPr lang="en-US" sz="1600" b="0" u="none" strike="noStrike">
              <a:solidFill>
                <a:srgbClr val="000000"/>
              </a:solidFill>
              <a:effectLst/>
              <a:uFillTx/>
              <a:latin typeface="Arial"/>
            </a:endParaRPr>
          </a:p>
        </p:txBody>
      </p:sp>
      <p:sp>
        <p:nvSpPr>
          <p:cNvPr id="241" name="Oval 17"/>
          <p:cNvSpPr/>
          <p:nvPr/>
        </p:nvSpPr>
        <p:spPr>
          <a:xfrm>
            <a:off x="1234440" y="3438000"/>
            <a:ext cx="511560" cy="51156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3</a:t>
            </a:r>
            <a:endParaRPr lang="en-US" sz="2000" b="0" u="none" strike="noStrike">
              <a:solidFill>
                <a:srgbClr val="000000"/>
              </a:solidFill>
              <a:effectLst/>
              <a:uFillTx/>
              <a:latin typeface="Arial"/>
            </a:endParaRPr>
          </a:p>
        </p:txBody>
      </p:sp>
      <p:sp>
        <p:nvSpPr>
          <p:cNvPr id="242" name="TextBox 18"/>
          <p:cNvSpPr/>
          <p:nvPr/>
        </p:nvSpPr>
        <p:spPr>
          <a:xfrm>
            <a:off x="2286000" y="335592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A6ADB5"/>
                </a:solidFill>
                <a:effectLst/>
                <a:uFillTx/>
                <a:latin typeface="Calibri"/>
              </a:rPr>
              <a:t>Indirect price discrimination</a:t>
            </a:r>
            <a:endParaRPr lang="en-US" sz="2200" b="0" u="none" strike="noStrike">
              <a:solidFill>
                <a:srgbClr val="000000"/>
              </a:solidFill>
              <a:effectLst/>
              <a:uFillTx/>
              <a:latin typeface="Arial"/>
            </a:endParaRPr>
          </a:p>
        </p:txBody>
      </p:sp>
      <p:sp>
        <p:nvSpPr>
          <p:cNvPr id="243" name="TextBox 19"/>
          <p:cNvSpPr/>
          <p:nvPr/>
        </p:nvSpPr>
        <p:spPr>
          <a:xfrm>
            <a:off x="2286000" y="375804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C3C8CE"/>
                </a:solidFill>
                <a:effectLst/>
                <a:uFillTx/>
                <a:latin typeface="Calibri"/>
              </a:rPr>
              <a:t>Versioning and coupons (second degree)</a:t>
            </a:r>
            <a:endParaRPr lang="en-US" sz="1600" b="0" u="none" strike="noStrike">
              <a:solidFill>
                <a:srgbClr val="000000"/>
              </a:solidFill>
              <a:effectLst/>
              <a:uFillTx/>
              <a:latin typeface="Arial"/>
            </a:endParaRPr>
          </a:p>
        </p:txBody>
      </p:sp>
      <p:sp>
        <p:nvSpPr>
          <p:cNvPr id="244" name="Oval 20"/>
          <p:cNvSpPr/>
          <p:nvPr/>
        </p:nvSpPr>
        <p:spPr>
          <a:xfrm>
            <a:off x="1234440" y="4334400"/>
            <a:ext cx="511560" cy="51156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4</a:t>
            </a:r>
            <a:endParaRPr lang="en-US" sz="2000" b="0" u="none" strike="noStrike">
              <a:solidFill>
                <a:srgbClr val="000000"/>
              </a:solidFill>
              <a:effectLst/>
              <a:uFillTx/>
              <a:latin typeface="Arial"/>
            </a:endParaRPr>
          </a:p>
        </p:txBody>
      </p:sp>
      <p:sp>
        <p:nvSpPr>
          <p:cNvPr id="245" name="TextBox 21"/>
          <p:cNvSpPr/>
          <p:nvPr/>
        </p:nvSpPr>
        <p:spPr>
          <a:xfrm>
            <a:off x="2286000" y="425196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A6ADB5"/>
                </a:solidFill>
                <a:effectLst/>
                <a:uFillTx/>
                <a:latin typeface="Calibri"/>
              </a:rPr>
              <a:t>Advanced pricing strategies</a:t>
            </a:r>
            <a:endParaRPr lang="en-US" sz="2200" b="0" u="none" strike="noStrike">
              <a:solidFill>
                <a:srgbClr val="000000"/>
              </a:solidFill>
              <a:effectLst/>
              <a:uFillTx/>
              <a:latin typeface="Arial"/>
            </a:endParaRPr>
          </a:p>
        </p:txBody>
      </p:sp>
      <p:sp>
        <p:nvSpPr>
          <p:cNvPr id="246" name="TextBox 22"/>
          <p:cNvSpPr/>
          <p:nvPr/>
        </p:nvSpPr>
        <p:spPr>
          <a:xfrm>
            <a:off x="2286000" y="465444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C3C8CE"/>
                </a:solidFill>
                <a:effectLst/>
                <a:uFillTx/>
                <a:latin typeface="Calibri"/>
              </a:rPr>
              <a:t>Volume/flat-fee, two-part tariff, block pricing</a:t>
            </a:r>
            <a:endParaRPr lang="en-US" sz="1600" b="0" u="none" strike="noStrike">
              <a:solidFill>
                <a:srgbClr val="000000"/>
              </a:solidFill>
              <a:effectLst/>
              <a:uFillTx/>
              <a:latin typeface="Arial"/>
            </a:endParaRPr>
          </a:p>
        </p:txBody>
      </p:sp>
      <p:sp>
        <p:nvSpPr>
          <p:cNvPr id="247" name="Oval 23"/>
          <p:cNvSpPr/>
          <p:nvPr/>
        </p:nvSpPr>
        <p:spPr>
          <a:xfrm>
            <a:off x="1234440" y="5230440"/>
            <a:ext cx="511560" cy="51156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5</a:t>
            </a:r>
            <a:endParaRPr lang="en-US" sz="2000" b="0" u="none" strike="noStrike">
              <a:solidFill>
                <a:srgbClr val="000000"/>
              </a:solidFill>
              <a:effectLst/>
              <a:uFillTx/>
              <a:latin typeface="Arial"/>
            </a:endParaRPr>
          </a:p>
        </p:txBody>
      </p:sp>
      <p:sp>
        <p:nvSpPr>
          <p:cNvPr id="248" name="TextBox 24"/>
          <p:cNvSpPr/>
          <p:nvPr/>
        </p:nvSpPr>
        <p:spPr>
          <a:xfrm>
            <a:off x="2286000" y="514800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A6ADB5"/>
                </a:solidFill>
                <a:effectLst/>
                <a:uFillTx/>
                <a:latin typeface="Calibri"/>
              </a:rPr>
              <a:t>Auctions</a:t>
            </a:r>
            <a:endParaRPr lang="en-US" sz="2200" b="0" u="none" strike="noStrike">
              <a:solidFill>
                <a:srgbClr val="000000"/>
              </a:solidFill>
              <a:effectLst/>
              <a:uFillTx/>
              <a:latin typeface="Arial"/>
            </a:endParaRPr>
          </a:p>
        </p:txBody>
      </p:sp>
      <p:sp>
        <p:nvSpPr>
          <p:cNvPr id="249" name="TextBox 25"/>
          <p:cNvSpPr/>
          <p:nvPr/>
        </p:nvSpPr>
        <p:spPr>
          <a:xfrm>
            <a:off x="2286000" y="555048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C3C8CE"/>
                </a:solidFill>
                <a:effectLst/>
                <a:uFillTx/>
                <a:latin typeface="Calibri"/>
              </a:rPr>
              <a:t>Competitive bidding and auction formats</a:t>
            </a:r>
            <a:endParaRPr lang="en-US" sz="1600" b="0" u="none" strike="noStrike">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51"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Direct Price Discrimination</a:t>
            </a:r>
            <a:endParaRPr lang="en-US" sz="1600" b="0" u="none" strike="noStrike">
              <a:solidFill>
                <a:srgbClr val="000000"/>
              </a:solidFill>
              <a:effectLst/>
              <a:uFillTx/>
              <a:latin typeface="Arial"/>
            </a:endParaRPr>
          </a:p>
        </p:txBody>
      </p:sp>
      <p:sp>
        <p:nvSpPr>
          <p:cNvPr id="252"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First-Degree Price Discrimination</a:t>
            </a:r>
            <a:endParaRPr lang="en-US" sz="3200" b="0" u="none" strike="noStrike">
              <a:solidFill>
                <a:srgbClr val="000000"/>
              </a:solidFill>
              <a:effectLst/>
              <a:uFillTx/>
              <a:latin typeface="Arial"/>
            </a:endParaRPr>
          </a:p>
        </p:txBody>
      </p:sp>
      <p:sp>
        <p:nvSpPr>
          <p:cNvPr id="253"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54"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55"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56"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57"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258"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13</a:t>
            </a:r>
            <a:endParaRPr lang="en-US" sz="1200" b="0" u="none" strike="noStrike">
              <a:solidFill>
                <a:srgbClr val="000000"/>
              </a:solidFill>
              <a:effectLst/>
              <a:uFillTx/>
              <a:latin typeface="Arial"/>
            </a:endParaRPr>
          </a:p>
        </p:txBody>
      </p:sp>
      <p:sp>
        <p:nvSpPr>
          <p:cNvPr id="259" name="TXBLD_111000"/>
          <p:cNvSpPr/>
          <p:nvPr/>
        </p:nvSpPr>
        <p:spPr>
          <a:xfrm>
            <a:off x="502920" y="1737360"/>
            <a:ext cx="11155320" cy="4571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343080" indent="-343080" defTabSz="457200">
              <a:lnSpc>
                <a:spcPct val="100000"/>
              </a:lnSpc>
              <a:spcBef>
                <a:spcPts val="1400"/>
              </a:spcBef>
              <a:buClr>
                <a:srgbClr val="0B2B4E"/>
              </a:buClr>
              <a:buFont typeface="Calibri"/>
              <a:buChar char="▪"/>
            </a:pPr>
            <a:r>
              <a:rPr lang="en-US" sz="3200" b="0" u="none" strike="noStrike">
                <a:solidFill>
                  <a:srgbClr val="0B2B4E"/>
                </a:solidFill>
                <a:effectLst/>
                <a:uFillTx/>
                <a:latin typeface="Calibri"/>
              </a:rPr>
              <a:t>Charge each customer a different price</a:t>
            </a:r>
            <a:endParaRPr lang="en-US" sz="3200" b="0" u="none" strike="noStrike">
              <a:solidFill>
                <a:srgbClr val="000000"/>
              </a:solidFill>
              <a:effectLst/>
              <a:uFillTx/>
              <a:latin typeface="Arial"/>
            </a:endParaRPr>
          </a:p>
          <a:p>
            <a:pPr marL="343080" indent="-343080" defTabSz="457200">
              <a:lnSpc>
                <a:spcPct val="100000"/>
              </a:lnSpc>
              <a:spcBef>
                <a:spcPts val="1400"/>
              </a:spcBef>
              <a:buClr>
                <a:srgbClr val="0B2B4E"/>
              </a:buClr>
              <a:buFont typeface="Calibri"/>
              <a:buChar char="▪"/>
            </a:pPr>
            <a:r>
              <a:rPr lang="en-US" sz="3200" b="0" u="none" strike="noStrike">
                <a:solidFill>
                  <a:srgbClr val="0B2B4E"/>
                </a:solidFill>
                <a:effectLst/>
                <a:uFillTx/>
                <a:latin typeface="Calibri"/>
              </a:rPr>
              <a:t>Also known as perfect price discrimination</a:t>
            </a:r>
            <a:endParaRPr lang="en-US" sz="3200" b="0" u="none" strike="noStrike">
              <a:solidFill>
                <a:srgbClr val="000000"/>
              </a:solidFill>
              <a:effectLst/>
              <a:uFillTx/>
              <a:latin typeface="Arial"/>
            </a:endParaRPr>
          </a:p>
          <a:p>
            <a:pPr marL="343080" indent="-343080" defTabSz="457200">
              <a:lnSpc>
                <a:spcPct val="100000"/>
              </a:lnSpc>
              <a:spcBef>
                <a:spcPts val="1400"/>
              </a:spcBef>
              <a:buClr>
                <a:srgbClr val="0B2B4E"/>
              </a:buClr>
              <a:buFont typeface="Calibri"/>
              <a:buChar char="▪"/>
            </a:pPr>
            <a:r>
              <a:rPr lang="en-US" sz="3200" b="1" u="none" strike="noStrike">
                <a:solidFill>
                  <a:srgbClr val="0B2B4E"/>
                </a:solidFill>
                <a:effectLst/>
                <a:uFillTx/>
                <a:latin typeface="Calibri"/>
              </a:rPr>
              <a:t>Conditions:</a:t>
            </a:r>
            <a:endParaRPr lang="en-US" sz="3200" b="0" u="none" strike="noStrike">
              <a:solidFill>
                <a:srgbClr val="000000"/>
              </a:solidFill>
              <a:effectLst/>
              <a:uFillTx/>
              <a:latin typeface="Arial"/>
            </a:endParaRPr>
          </a:p>
          <a:p>
            <a:pPr marL="685800" lvl="1" indent="-228600" defTabSz="457200">
              <a:lnSpc>
                <a:spcPct val="100000"/>
              </a:lnSpc>
              <a:spcBef>
                <a:spcPts val="601"/>
              </a:spcBef>
              <a:buClr>
                <a:srgbClr val="555B66"/>
              </a:buClr>
              <a:buFont typeface="Calibri"/>
              <a:buChar char="–"/>
            </a:pPr>
            <a:r>
              <a:rPr lang="en-US" sz="2800" b="0" u="none" strike="noStrike">
                <a:solidFill>
                  <a:srgbClr val="555B66"/>
                </a:solidFill>
                <a:effectLst/>
                <a:uFillTx/>
                <a:latin typeface="Calibri"/>
              </a:rPr>
              <a:t>Heterogeneous consumers: each with a different valuation</a:t>
            </a:r>
            <a:endParaRPr lang="en-US" sz="2800" b="0" u="none" strike="noStrike">
              <a:solidFill>
                <a:srgbClr val="000000"/>
              </a:solidFill>
              <a:effectLst/>
              <a:uFillTx/>
              <a:latin typeface="Arial"/>
            </a:endParaRPr>
          </a:p>
          <a:p>
            <a:pPr marL="685800" lvl="1" indent="-228600" defTabSz="457200">
              <a:lnSpc>
                <a:spcPct val="100000"/>
              </a:lnSpc>
              <a:spcBef>
                <a:spcPts val="601"/>
              </a:spcBef>
              <a:buClr>
                <a:srgbClr val="555B66"/>
              </a:buClr>
              <a:buFont typeface="Calibri"/>
              <a:buChar char="–"/>
            </a:pPr>
            <a:r>
              <a:rPr lang="en-US" sz="2800" b="0" u="none" strike="noStrike">
                <a:solidFill>
                  <a:srgbClr val="555B66"/>
                </a:solidFill>
                <a:effectLst/>
                <a:uFillTx/>
                <a:latin typeface="Calibri"/>
              </a:rPr>
              <a:t>Firm has market power and can prevent resale</a:t>
            </a:r>
            <a:endParaRPr lang="en-US" sz="2800" b="0" u="none" strike="noStrike">
              <a:solidFill>
                <a:srgbClr val="000000"/>
              </a:solidFill>
              <a:effectLst/>
              <a:uFillTx/>
              <a:latin typeface="Arial"/>
            </a:endParaRPr>
          </a:p>
          <a:p>
            <a:pPr marL="685800" lvl="1" indent="-228600" defTabSz="457200">
              <a:lnSpc>
                <a:spcPct val="100000"/>
              </a:lnSpc>
              <a:spcBef>
                <a:spcPts val="601"/>
              </a:spcBef>
              <a:buClr>
                <a:srgbClr val="555B66"/>
              </a:buClr>
              <a:buFont typeface="Calibri"/>
              <a:buChar char="–"/>
            </a:pPr>
            <a:r>
              <a:rPr lang="en-US" sz="2800" b="0" u="none" strike="noStrike">
                <a:solidFill>
                  <a:srgbClr val="555B66"/>
                </a:solidFill>
                <a:effectLst/>
                <a:uFillTx/>
                <a:latin typeface="Calibri"/>
              </a:rPr>
              <a:t>Firm knows each consumer’s willingness to pay</a:t>
            </a:r>
            <a:endParaRPr lang="en-US" sz="28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9">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59">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59">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61"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Direct Price Discrimination</a:t>
            </a:r>
            <a:endParaRPr lang="en-US" sz="1600" b="0" u="none" strike="noStrike">
              <a:solidFill>
                <a:srgbClr val="000000"/>
              </a:solidFill>
              <a:effectLst/>
              <a:uFillTx/>
              <a:latin typeface="Arial"/>
            </a:endParaRPr>
          </a:p>
        </p:txBody>
      </p:sp>
      <p:sp>
        <p:nvSpPr>
          <p:cNvPr id="262"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First-Degree Price Discrimination</a:t>
            </a:r>
            <a:endParaRPr lang="en-US" sz="3200" b="0" u="none" strike="noStrike">
              <a:solidFill>
                <a:srgbClr val="000000"/>
              </a:solidFill>
              <a:effectLst/>
              <a:uFillTx/>
              <a:latin typeface="Arial"/>
            </a:endParaRPr>
          </a:p>
        </p:txBody>
      </p:sp>
      <p:sp>
        <p:nvSpPr>
          <p:cNvPr id="263"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64"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65"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66"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67"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268"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14</a:t>
            </a:r>
            <a:endParaRPr lang="en-US" sz="1200" b="0" u="none" strike="noStrike">
              <a:solidFill>
                <a:srgbClr val="000000"/>
              </a:solidFill>
              <a:effectLst/>
              <a:uFillTx/>
              <a:latin typeface="Arial"/>
            </a:endParaRPr>
          </a:p>
        </p:txBody>
      </p:sp>
      <p:cxnSp>
        <p:nvCxnSpPr>
          <p:cNvPr id="269" name="Connector 10"/>
          <p:cNvCxnSpPr/>
          <p:nvPr/>
        </p:nvCxnSpPr>
        <p:spPr>
          <a:xfrm flipV="1">
            <a:off x="640080" y="1280160"/>
            <a:ext cx="720" cy="4938120"/>
          </a:xfrm>
          <a:prstGeom prst="straightConnector1">
            <a:avLst/>
          </a:prstGeom>
          <a:ln w="25400">
            <a:solidFill>
              <a:srgbClr val="0B2B4E"/>
            </a:solidFill>
            <a:round/>
            <a:tailEnd type="triangle" w="med" len="med"/>
          </a:ln>
        </p:spPr>
      </p:cxnSp>
      <p:cxnSp>
        <p:nvCxnSpPr>
          <p:cNvPr id="270" name="Connector 11"/>
          <p:cNvCxnSpPr/>
          <p:nvPr/>
        </p:nvCxnSpPr>
        <p:spPr>
          <a:xfrm>
            <a:off x="640080" y="6217920"/>
            <a:ext cx="4892400" cy="720"/>
          </a:xfrm>
          <a:prstGeom prst="straightConnector1">
            <a:avLst/>
          </a:prstGeom>
          <a:ln w="25400">
            <a:solidFill>
              <a:srgbClr val="0B2B4E"/>
            </a:solidFill>
            <a:round/>
            <a:tailEnd type="triangle" w="med" len="med"/>
          </a:ln>
        </p:spPr>
      </p:cxnSp>
      <p:sp>
        <p:nvSpPr>
          <p:cNvPr id="271" name="CLK01"/>
          <p:cNvSpPr/>
          <p:nvPr/>
        </p:nvSpPr>
        <p:spPr>
          <a:xfrm>
            <a:off x="640080" y="1600200"/>
            <a:ext cx="4571640" cy="4617360"/>
          </a:xfrm>
          <a:custGeom>
            <a:avLst/>
            <a:gdLst>
              <a:gd name="textAreaLeft" fmla="*/ 0 w 4571640"/>
              <a:gd name="textAreaRight" fmla="*/ 4572000 w 4571640"/>
              <a:gd name="textAreaTop" fmla="*/ 0 h 4617360"/>
              <a:gd name="textAreaBottom" fmla="*/ 4617720 h 4617360"/>
            </a:gdLst>
            <a:ahLst/>
            <a:cxnLst/>
            <a:rect l="textAreaLeft" t="textAreaTop" r="textAreaRight" b="textAreaBottom"/>
            <a:pathLst>
              <a:path w="4572000" h="4617720">
                <a:moveTo>
                  <a:pt x="0" y="4617720"/>
                </a:moveTo>
                <a:lnTo>
                  <a:pt x="0" y="0"/>
                </a:lnTo>
                <a:lnTo>
                  <a:pt x="4572000" y="4617720"/>
                </a:lnTo>
                <a:close/>
              </a:path>
            </a:pathLst>
          </a:custGeom>
          <a:solidFill>
            <a:srgbClr val="4F81BD">
              <a:alpha val="88000"/>
            </a:srgbClr>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72" name="CLK01"/>
          <p:cNvSpPr/>
          <p:nvPr/>
        </p:nvSpPr>
        <p:spPr>
          <a:xfrm>
            <a:off x="640080" y="1600200"/>
            <a:ext cx="4571640" cy="4617360"/>
          </a:xfrm>
          <a:custGeom>
            <a:avLst/>
            <a:gdLst>
              <a:gd name="textAreaLeft" fmla="*/ 0 w 4571640"/>
              <a:gd name="textAreaRight" fmla="*/ 4572000 w 4571640"/>
              <a:gd name="textAreaTop" fmla="*/ 0 h 4617360"/>
              <a:gd name="textAreaBottom" fmla="*/ 4617720 h 4617360"/>
            </a:gdLst>
            <a:ahLst/>
            <a:cxnLst/>
            <a:rect l="textAreaLeft" t="textAreaTop" r="textAreaRight" b="textAreaBottom"/>
            <a:pathLst>
              <a:path w="4572000" h="4617720">
                <a:moveTo>
                  <a:pt x="0" y="0"/>
                </a:moveTo>
                <a:lnTo>
                  <a:pt x="4572000" y="4617720"/>
                </a:lnTo>
              </a:path>
            </a:pathLst>
          </a:custGeom>
          <a:noFill/>
          <a:ln w="38100" cap="rnd">
            <a:solidFill>
              <a:srgbClr val="C0201B"/>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73" name="CLK01"/>
          <p:cNvSpPr/>
          <p:nvPr/>
        </p:nvSpPr>
        <p:spPr>
          <a:xfrm>
            <a:off x="3657600" y="5109840"/>
            <a:ext cx="2377080" cy="31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1300" b="0" i="1" u="none" strike="noStrike">
                <a:solidFill>
                  <a:srgbClr val="C0201B"/>
                </a:solidFill>
                <a:effectLst/>
                <a:uFillTx/>
                <a:latin typeface="Calibri"/>
              </a:rPr>
              <a:t>Demand = MPV</a:t>
            </a:r>
            <a:endParaRPr lang="en-US" sz="1300" b="0" u="none" strike="noStrike">
              <a:solidFill>
                <a:srgbClr val="000000"/>
              </a:solidFill>
              <a:effectLst/>
              <a:uFillTx/>
              <a:latin typeface="Arial"/>
            </a:endParaRPr>
          </a:p>
        </p:txBody>
      </p:sp>
      <p:sp>
        <p:nvSpPr>
          <p:cNvPr id="274" name="CLK02"/>
          <p:cNvSpPr/>
          <p:nvPr/>
        </p:nvSpPr>
        <p:spPr>
          <a:xfrm>
            <a:off x="822960" y="4555440"/>
            <a:ext cx="265140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400" b="1" u="none" strike="noStrike">
                <a:solidFill>
                  <a:srgbClr val="FFFFFF"/>
                </a:solidFill>
                <a:effectLst/>
                <a:uFillTx/>
                <a:latin typeface="Calibri"/>
              </a:rPr>
              <a:t>Revenues and producer surplus (assume MC = 0)</a:t>
            </a:r>
            <a:endParaRPr lang="en-US" sz="1400" b="0" u="none" strike="noStrike">
              <a:solidFill>
                <a:srgbClr val="000000"/>
              </a:solidFill>
              <a:effectLst/>
              <a:uFillTx/>
              <a:latin typeface="Arial"/>
            </a:endParaRPr>
          </a:p>
        </p:txBody>
      </p:sp>
      <p:sp>
        <p:nvSpPr>
          <p:cNvPr id="275" name="CLK00" descr="s14_0.png"/>
          <p:cNvSpPr/>
          <p:nvPr/>
        </p:nvSpPr>
        <p:spPr>
          <a:xfrm>
            <a:off x="2286000" y="1051560"/>
            <a:ext cx="2377080" cy="1425960"/>
          </a:xfrm>
          <a:prstGeom prst="roundRect">
            <a:avLst>
              <a:gd name="adj" fmla="val 6000"/>
            </a:avLst>
          </a:prstGeom>
          <a:blipFill rotWithShape="0">
            <a:blip r:embed="rId3"/>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6" name="TextBox 17"/>
          <p:cNvSpPr/>
          <p:nvPr/>
        </p:nvSpPr>
        <p:spPr>
          <a:xfrm>
            <a:off x="6400800" y="1737360"/>
            <a:ext cx="5394600" cy="4571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343080" indent="-343080" defTabSz="457200">
              <a:lnSpc>
                <a:spcPct val="100000"/>
              </a:lnSpc>
              <a:spcBef>
                <a:spcPts val="1800"/>
              </a:spcBef>
              <a:buClr>
                <a:srgbClr val="0B2B4E"/>
              </a:buClr>
              <a:buFont typeface="Calibri"/>
              <a:buChar char="▪"/>
            </a:pPr>
            <a:r>
              <a:rPr lang="en-US" sz="2200" b="0" u="none" strike="noStrike">
                <a:solidFill>
                  <a:srgbClr val="0B2B4E"/>
                </a:solidFill>
                <a:effectLst/>
                <a:uFillTx/>
                <a:latin typeface="Calibri"/>
              </a:rPr>
              <a:t>Assume </a:t>
            </a:r>
            <a:r>
              <a:rPr lang="en-US" sz="2200" b="1" u="none" strike="noStrike">
                <a:solidFill>
                  <a:srgbClr val="0B2B4E"/>
                </a:solidFill>
                <a:effectLst/>
                <a:uFillTx/>
                <a:latin typeface="Calibri"/>
              </a:rPr>
              <a:t>MC = 0</a:t>
            </a:r>
            <a:endParaRPr lang="en-US" sz="2200" b="0" u="none" strike="noStrike">
              <a:solidFill>
                <a:srgbClr val="000000"/>
              </a:solidFill>
              <a:effectLst/>
              <a:uFillTx/>
              <a:latin typeface="Arial"/>
            </a:endParaRPr>
          </a:p>
          <a:p>
            <a:pPr marL="343080" indent="-343080" defTabSz="457200">
              <a:lnSpc>
                <a:spcPct val="100000"/>
              </a:lnSpc>
              <a:spcBef>
                <a:spcPts val="1800"/>
              </a:spcBef>
              <a:buClr>
                <a:srgbClr val="0B2B4E"/>
              </a:buClr>
              <a:buFont typeface="Calibri"/>
              <a:buChar char="▪"/>
            </a:pPr>
            <a:r>
              <a:rPr lang="en-US" sz="2200" b="0" u="none" strike="noStrike">
                <a:solidFill>
                  <a:srgbClr val="0B2B4E"/>
                </a:solidFill>
                <a:effectLst/>
                <a:uFillTx/>
                <a:latin typeface="Calibri"/>
              </a:rPr>
              <a:t>Charge </a:t>
            </a:r>
            <a:r>
              <a:rPr lang="en-US" sz="2200" b="1" u="none" strike="noStrike">
                <a:solidFill>
                  <a:srgbClr val="C0201B"/>
                </a:solidFill>
                <a:effectLst/>
                <a:uFillTx/>
                <a:latin typeface="Calibri"/>
              </a:rPr>
              <a:t>each customer</a:t>
            </a:r>
            <a:r>
              <a:rPr lang="en-US" sz="2200" b="0" u="none" strike="noStrike">
                <a:solidFill>
                  <a:srgbClr val="0B2B4E"/>
                </a:solidFill>
                <a:effectLst/>
                <a:uFillTx/>
                <a:latin typeface="Calibri"/>
              </a:rPr>
              <a:t> a different price</a:t>
            </a:r>
            <a:endParaRPr lang="en-US" sz="2200" b="0" u="none" strike="noStrike">
              <a:solidFill>
                <a:srgbClr val="000000"/>
              </a:solidFill>
              <a:effectLst/>
              <a:uFillTx/>
              <a:latin typeface="Arial"/>
            </a:endParaRPr>
          </a:p>
          <a:p>
            <a:pPr marL="343080" indent="-343080" defTabSz="457200">
              <a:lnSpc>
                <a:spcPct val="100000"/>
              </a:lnSpc>
              <a:spcBef>
                <a:spcPts val="1800"/>
              </a:spcBef>
              <a:buClr>
                <a:srgbClr val="0B2B4E"/>
              </a:buClr>
              <a:buFont typeface="Calibri"/>
              <a:buChar char="▪"/>
            </a:pPr>
            <a:r>
              <a:rPr lang="en-US" sz="2200" b="0" u="none" strike="noStrike">
                <a:solidFill>
                  <a:srgbClr val="0B2B4E"/>
                </a:solidFill>
                <a:effectLst/>
                <a:uFillTx/>
                <a:latin typeface="Calibri"/>
              </a:rPr>
              <a:t>The Holy Grail of complex pricing</a:t>
            </a:r>
            <a:endParaRPr lang="en-US" sz="2200" b="0" u="none" strike="noStrike">
              <a:solidFill>
                <a:srgbClr val="000000"/>
              </a:solidFill>
              <a:effectLst/>
              <a:uFillTx/>
              <a:latin typeface="Arial"/>
            </a:endParaRPr>
          </a:p>
          <a:p>
            <a:pPr marL="343080" indent="-343080" defTabSz="457200">
              <a:lnSpc>
                <a:spcPct val="100000"/>
              </a:lnSpc>
              <a:spcBef>
                <a:spcPts val="1800"/>
              </a:spcBef>
              <a:buClr>
                <a:srgbClr val="0B2B4E"/>
              </a:buClr>
              <a:buFont typeface="Calibri"/>
              <a:buChar char="▪"/>
            </a:pPr>
            <a:r>
              <a:rPr lang="en-US" sz="2200" b="1" u="none" strike="noStrike">
                <a:solidFill>
                  <a:srgbClr val="0B2B4E"/>
                </a:solidFill>
                <a:effectLst/>
                <a:uFillTx/>
                <a:latin typeface="Calibri"/>
              </a:rPr>
              <a:t>Zero consumer surplus:</a:t>
            </a:r>
            <a:r>
              <a:rPr lang="en-US" sz="2200" b="0" u="none" strike="noStrike">
                <a:solidFill>
                  <a:srgbClr val="0B2B4E"/>
                </a:solidFill>
                <a:effectLst/>
                <a:uFillTx/>
                <a:latin typeface="Calibri"/>
              </a:rPr>
              <a:t> everything is extracted!</a:t>
            </a:r>
            <a:endParaRPr lang="en-US" sz="22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78"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Direct Price Discrimination</a:t>
            </a:r>
            <a:endParaRPr lang="en-US" sz="1600" b="0" u="none" strike="noStrike">
              <a:solidFill>
                <a:srgbClr val="000000"/>
              </a:solidFill>
              <a:effectLst/>
              <a:uFillTx/>
              <a:latin typeface="Arial"/>
            </a:endParaRPr>
          </a:p>
        </p:txBody>
      </p:sp>
      <p:sp>
        <p:nvSpPr>
          <p:cNvPr id="279"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Personalized Pricing in the Wild</a:t>
            </a:r>
            <a:endParaRPr lang="en-US" sz="3200" b="0" u="none" strike="noStrike">
              <a:solidFill>
                <a:srgbClr val="000000"/>
              </a:solidFill>
              <a:effectLst/>
              <a:uFillTx/>
              <a:latin typeface="Arial"/>
            </a:endParaRPr>
          </a:p>
        </p:txBody>
      </p:sp>
      <p:sp>
        <p:nvSpPr>
          <p:cNvPr id="280"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81"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82"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83"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84"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285"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15</a:t>
            </a:r>
            <a:endParaRPr lang="en-US" sz="1200" b="0" u="none" strike="noStrike">
              <a:solidFill>
                <a:srgbClr val="000000"/>
              </a:solidFill>
              <a:effectLst/>
              <a:uFillTx/>
              <a:latin typeface="Arial"/>
            </a:endParaRPr>
          </a:p>
        </p:txBody>
      </p:sp>
      <p:sp>
        <p:nvSpPr>
          <p:cNvPr id="286" name="Picture 10" descr="s15_0.png"/>
          <p:cNvSpPr/>
          <p:nvPr/>
        </p:nvSpPr>
        <p:spPr>
          <a:xfrm>
            <a:off x="1188720" y="1554480"/>
            <a:ext cx="9783720" cy="1657440"/>
          </a:xfrm>
          <a:prstGeom prst="roundRect">
            <a:avLst>
              <a:gd name="adj" fmla="val 6000"/>
            </a:avLst>
          </a:prstGeom>
          <a:blipFill rotWithShape="0">
            <a:blip r:embed="rId2"/>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7" name="Picture 11" descr="s15_1.png"/>
          <p:cNvSpPr/>
          <p:nvPr/>
        </p:nvSpPr>
        <p:spPr>
          <a:xfrm>
            <a:off x="3657600" y="3200400"/>
            <a:ext cx="4845960" cy="3227040"/>
          </a:xfrm>
          <a:prstGeom prst="roundRect">
            <a:avLst>
              <a:gd name="adj" fmla="val 6000"/>
            </a:avLst>
          </a:prstGeom>
          <a:blipFill rotWithShape="0">
            <a:blip r:embed="rId3"/>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89"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Direct Price Discrimination</a:t>
            </a:r>
            <a:endParaRPr lang="en-US" sz="1600" b="0" u="none" strike="noStrike">
              <a:solidFill>
                <a:srgbClr val="000000"/>
              </a:solidFill>
              <a:effectLst/>
              <a:uFillTx/>
              <a:latin typeface="Arial"/>
            </a:endParaRPr>
          </a:p>
        </p:txBody>
      </p:sp>
      <p:sp>
        <p:nvSpPr>
          <p:cNvPr id="290"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Uber and First-Degree Price Discrimination</a:t>
            </a:r>
            <a:endParaRPr lang="en-US" sz="3200" b="0" u="none" strike="noStrike">
              <a:solidFill>
                <a:srgbClr val="000000"/>
              </a:solidFill>
              <a:effectLst/>
              <a:uFillTx/>
              <a:latin typeface="Arial"/>
            </a:endParaRPr>
          </a:p>
        </p:txBody>
      </p:sp>
      <p:sp>
        <p:nvSpPr>
          <p:cNvPr id="291"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92"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93"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94"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95"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296"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16</a:t>
            </a:r>
            <a:endParaRPr lang="en-US" sz="1200" b="0" u="none" strike="noStrike">
              <a:solidFill>
                <a:srgbClr val="000000"/>
              </a:solidFill>
              <a:effectLst/>
              <a:uFillTx/>
              <a:latin typeface="Arial"/>
            </a:endParaRPr>
          </a:p>
        </p:txBody>
      </p:sp>
      <p:sp>
        <p:nvSpPr>
          <p:cNvPr id="297" name="TextBox 10"/>
          <p:cNvSpPr/>
          <p:nvPr/>
        </p:nvSpPr>
        <p:spPr>
          <a:xfrm>
            <a:off x="640080" y="2011680"/>
            <a:ext cx="6034680" cy="4754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343080" indent="-343080" defTabSz="457200">
              <a:lnSpc>
                <a:spcPct val="100000"/>
              </a:lnSpc>
              <a:spcBef>
                <a:spcPts val="1800"/>
              </a:spcBef>
              <a:buClr>
                <a:srgbClr val="0B2B4E"/>
              </a:buClr>
              <a:buFont typeface="Calibri"/>
              <a:buChar char="▪"/>
            </a:pPr>
            <a:r>
              <a:rPr lang="en-US" sz="2400" b="0" u="none" strike="noStrike">
                <a:solidFill>
                  <a:srgbClr val="0B2B4E"/>
                </a:solidFill>
                <a:effectLst/>
                <a:uFillTx/>
                <a:latin typeface="Calibri"/>
              </a:rPr>
              <a:t>Do you think Uber does first-degree price discrimination?</a:t>
            </a:r>
            <a:endParaRPr lang="en-US" sz="2400" b="0" u="none" strike="noStrike">
              <a:solidFill>
                <a:srgbClr val="000000"/>
              </a:solidFill>
              <a:effectLst/>
              <a:uFillTx/>
              <a:latin typeface="Arial"/>
            </a:endParaRPr>
          </a:p>
          <a:p>
            <a:pPr marL="343080" indent="-343080" defTabSz="457200">
              <a:lnSpc>
                <a:spcPct val="100000"/>
              </a:lnSpc>
              <a:spcBef>
                <a:spcPts val="1800"/>
              </a:spcBef>
              <a:buClr>
                <a:srgbClr val="0B2B4E"/>
              </a:buClr>
              <a:buFont typeface="Calibri"/>
              <a:buChar char="▪"/>
            </a:pPr>
            <a:r>
              <a:rPr lang="en-US" sz="2400" b="0" u="none" strike="noStrike">
                <a:solidFill>
                  <a:srgbClr val="0B2B4E"/>
                </a:solidFill>
                <a:effectLst/>
                <a:uFillTx/>
                <a:latin typeface="Calibri"/>
              </a:rPr>
              <a:t>Can this generate consumer backlash?</a:t>
            </a:r>
            <a:endParaRPr lang="en-US" sz="2400" b="0" u="none" strike="noStrike">
              <a:solidFill>
                <a:srgbClr val="000000"/>
              </a:solidFill>
              <a:effectLst/>
              <a:uFillTx/>
              <a:latin typeface="Arial"/>
            </a:endParaRPr>
          </a:p>
          <a:p>
            <a:pPr marL="343080" indent="-343080" defTabSz="457200">
              <a:lnSpc>
                <a:spcPct val="100000"/>
              </a:lnSpc>
              <a:spcBef>
                <a:spcPts val="1800"/>
              </a:spcBef>
              <a:buClr>
                <a:srgbClr val="0B2B4E"/>
              </a:buClr>
              <a:buFont typeface="Calibri"/>
              <a:buChar char="▪"/>
            </a:pPr>
            <a:r>
              <a:rPr lang="en-US" sz="2400" b="0" i="1" u="none" strike="noStrike">
                <a:solidFill>
                  <a:srgbClr val="0B2B4E"/>
                </a:solidFill>
                <a:effectLst/>
                <a:uFillTx/>
                <a:latin typeface="Calibri"/>
              </a:rPr>
              <a:t>Let’s check…</a:t>
            </a:r>
            <a:endParaRPr lang="en-US" sz="2400" b="0" u="none" strike="noStrike">
              <a:solidFill>
                <a:srgbClr val="000000"/>
              </a:solidFill>
              <a:effectLst/>
              <a:uFillTx/>
              <a:latin typeface="Arial"/>
            </a:endParaRPr>
          </a:p>
        </p:txBody>
      </p:sp>
      <p:sp>
        <p:nvSpPr>
          <p:cNvPr id="298" name="Picture 11" descr="s16_0.png"/>
          <p:cNvSpPr/>
          <p:nvPr/>
        </p:nvSpPr>
        <p:spPr>
          <a:xfrm>
            <a:off x="7040880" y="1554480"/>
            <a:ext cx="4663080" cy="4299120"/>
          </a:xfrm>
          <a:prstGeom prst="roundRect">
            <a:avLst>
              <a:gd name="adj" fmla="val 6000"/>
            </a:avLst>
          </a:prstGeom>
          <a:blipFill rotWithShape="0">
            <a:blip r:embed="rId2"/>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00"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Direct Price Discrimination</a:t>
            </a:r>
            <a:endParaRPr lang="en-US" sz="1600" b="0" u="none" strike="noStrike">
              <a:solidFill>
                <a:srgbClr val="000000"/>
              </a:solidFill>
              <a:effectLst/>
              <a:uFillTx/>
              <a:latin typeface="Arial"/>
            </a:endParaRPr>
          </a:p>
        </p:txBody>
      </p:sp>
      <p:sp>
        <p:nvSpPr>
          <p:cNvPr id="301"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Uber: Charging What You’re Willing to Pay?</a:t>
            </a:r>
            <a:endParaRPr lang="en-US" sz="3200" b="0" u="none" strike="noStrike">
              <a:solidFill>
                <a:srgbClr val="000000"/>
              </a:solidFill>
              <a:effectLst/>
              <a:uFillTx/>
              <a:latin typeface="Arial"/>
            </a:endParaRPr>
          </a:p>
        </p:txBody>
      </p:sp>
      <p:sp>
        <p:nvSpPr>
          <p:cNvPr id="302"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03"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04"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05"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06"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307"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17</a:t>
            </a:r>
            <a:endParaRPr lang="en-US" sz="1200" b="0" u="none" strike="noStrike">
              <a:solidFill>
                <a:srgbClr val="000000"/>
              </a:solidFill>
              <a:effectLst/>
              <a:uFillTx/>
              <a:latin typeface="Arial"/>
            </a:endParaRPr>
          </a:p>
        </p:txBody>
      </p:sp>
      <p:sp>
        <p:nvSpPr>
          <p:cNvPr id="308" name="TextBox 10"/>
          <p:cNvSpPr/>
          <p:nvPr/>
        </p:nvSpPr>
        <p:spPr>
          <a:xfrm>
            <a:off x="640080" y="1828800"/>
            <a:ext cx="6034680" cy="4754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343080" indent="-343080" defTabSz="457200">
              <a:lnSpc>
                <a:spcPct val="100000"/>
              </a:lnSpc>
              <a:spcBef>
                <a:spcPts val="1400"/>
              </a:spcBef>
              <a:buClr>
                <a:srgbClr val="0B2B4E"/>
              </a:buClr>
              <a:buFont typeface="Calibri"/>
              <a:buChar char="▪"/>
            </a:pPr>
            <a:r>
              <a:rPr lang="en-US" sz="2200" b="1" u="none" strike="noStrike">
                <a:solidFill>
                  <a:srgbClr val="0B2B4E"/>
                </a:solidFill>
                <a:effectLst/>
                <a:uFillTx/>
                <a:latin typeface="Calibri"/>
              </a:rPr>
              <a:t>I need 10 volunteers</a:t>
            </a:r>
            <a:r>
              <a:rPr lang="en-US" sz="2200" b="0" u="none" strike="noStrike">
                <a:solidFill>
                  <a:srgbClr val="0B2B4E"/>
                </a:solidFill>
                <a:effectLst/>
                <a:uFillTx/>
                <a:latin typeface="Calibri"/>
              </a:rPr>
              <a:t> (5 for Uber, 5 for Lyft)</a:t>
            </a:r>
            <a:endParaRPr lang="en-US" sz="2200" b="0" u="none" strike="noStrike">
              <a:solidFill>
                <a:srgbClr val="000000"/>
              </a:solidFill>
              <a:effectLst/>
              <a:uFillTx/>
              <a:latin typeface="Arial"/>
            </a:endParaRPr>
          </a:p>
          <a:p>
            <a:pPr marL="343080" indent="-343080" defTabSz="457200">
              <a:lnSpc>
                <a:spcPct val="100000"/>
              </a:lnSpc>
              <a:spcBef>
                <a:spcPts val="1400"/>
              </a:spcBef>
              <a:buClr>
                <a:srgbClr val="0B2B4E"/>
              </a:buClr>
              <a:buFont typeface="Calibri"/>
              <a:buChar char="▪"/>
            </a:pPr>
            <a:r>
              <a:rPr lang="en-US" sz="2200" b="0" u="none" strike="noStrike">
                <a:solidFill>
                  <a:srgbClr val="0B2B4E"/>
                </a:solidFill>
                <a:effectLst/>
                <a:uFillTx/>
                <a:latin typeface="Calibri"/>
              </a:rPr>
              <a:t>Open your Uber/Lyft app</a:t>
            </a:r>
            <a:endParaRPr lang="en-US" sz="2200" b="0" u="none" strike="noStrike">
              <a:solidFill>
                <a:srgbClr val="000000"/>
              </a:solidFill>
              <a:effectLst/>
              <a:uFillTx/>
              <a:latin typeface="Arial"/>
            </a:endParaRPr>
          </a:p>
          <a:p>
            <a:pPr marL="343080" indent="-343080" defTabSz="457200">
              <a:lnSpc>
                <a:spcPct val="100000"/>
              </a:lnSpc>
              <a:spcBef>
                <a:spcPts val="1400"/>
              </a:spcBef>
              <a:buClr>
                <a:srgbClr val="0B2B4E"/>
              </a:buClr>
              <a:buFont typeface="Calibri"/>
              <a:buChar char="▪"/>
            </a:pPr>
            <a:r>
              <a:rPr lang="en-US" sz="2200" b="1" u="none" strike="noStrike">
                <a:solidFill>
                  <a:srgbClr val="0B2B4E"/>
                </a:solidFill>
                <a:effectLst/>
                <a:uFillTx/>
                <a:latin typeface="Calibri"/>
              </a:rPr>
              <a:t>Enter “LAX”</a:t>
            </a:r>
            <a:r>
              <a:rPr lang="en-US" sz="2200" b="0" u="none" strike="noStrike">
                <a:solidFill>
                  <a:srgbClr val="0B2B4E"/>
                </a:solidFill>
                <a:effectLst/>
                <a:uFillTx/>
                <a:latin typeface="Calibri"/>
              </a:rPr>
              <a:t> in the destination address</a:t>
            </a:r>
            <a:endParaRPr lang="en-US" sz="2200" b="0" u="none" strike="noStrike">
              <a:solidFill>
                <a:srgbClr val="000000"/>
              </a:solidFill>
              <a:effectLst/>
              <a:uFillTx/>
              <a:latin typeface="Arial"/>
            </a:endParaRPr>
          </a:p>
          <a:p>
            <a:pPr marL="343080" indent="-343080" defTabSz="457200">
              <a:lnSpc>
                <a:spcPct val="100000"/>
              </a:lnSpc>
              <a:spcBef>
                <a:spcPts val="1400"/>
              </a:spcBef>
              <a:buClr>
                <a:srgbClr val="0B2B4E"/>
              </a:buClr>
              <a:buFont typeface="Calibri"/>
              <a:buChar char="▪"/>
            </a:pPr>
            <a:r>
              <a:rPr lang="en-US" sz="2200" b="1" u="none" strike="noStrike">
                <a:solidFill>
                  <a:srgbClr val="C0201B"/>
                </a:solidFill>
                <a:effectLst/>
                <a:uFillTx/>
                <a:latin typeface="Calibri"/>
              </a:rPr>
              <a:t>Do NOT hit request</a:t>
            </a:r>
            <a:endParaRPr lang="en-US" sz="2200" b="0" u="none" strike="noStrike">
              <a:solidFill>
                <a:srgbClr val="000000"/>
              </a:solidFill>
              <a:effectLst/>
              <a:uFillTx/>
              <a:latin typeface="Arial"/>
            </a:endParaRPr>
          </a:p>
          <a:p>
            <a:pPr marL="343080" indent="-343080" defTabSz="457200">
              <a:lnSpc>
                <a:spcPct val="100000"/>
              </a:lnSpc>
              <a:spcBef>
                <a:spcPts val="1400"/>
              </a:spcBef>
              <a:buClr>
                <a:srgbClr val="0B2B4E"/>
              </a:buClr>
              <a:buFont typeface="Calibri"/>
              <a:buChar char="▪"/>
            </a:pPr>
            <a:r>
              <a:rPr lang="en-US" sz="2200" b="0" u="none" strike="noStrike">
                <a:solidFill>
                  <a:srgbClr val="0B2B4E"/>
                </a:solidFill>
                <a:effectLst/>
                <a:uFillTx/>
                <a:latin typeface="Calibri"/>
              </a:rPr>
              <a:t>Just tell me the UberX/Lyft price</a:t>
            </a:r>
            <a:endParaRPr lang="en-US" sz="2200" b="0" u="none" strike="noStrike">
              <a:solidFill>
                <a:srgbClr val="000000"/>
              </a:solidFill>
              <a:effectLst/>
              <a:uFillTx/>
              <a:latin typeface="Arial"/>
            </a:endParaRPr>
          </a:p>
        </p:txBody>
      </p:sp>
      <p:sp>
        <p:nvSpPr>
          <p:cNvPr id="309" name="Picture 11" descr="s17_0.png"/>
          <p:cNvSpPr/>
          <p:nvPr/>
        </p:nvSpPr>
        <p:spPr>
          <a:xfrm>
            <a:off x="7589520" y="1188720"/>
            <a:ext cx="3840840" cy="5486040"/>
          </a:xfrm>
          <a:prstGeom prst="roundRect">
            <a:avLst>
              <a:gd name="adj" fmla="val 6000"/>
            </a:avLst>
          </a:prstGeom>
          <a:blipFill rotWithShape="0">
            <a:blip r:embed="rId2"/>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0" name="Parallelogram 12"/>
          <p:cNvSpPr/>
          <p:nvPr/>
        </p:nvSpPr>
        <p:spPr>
          <a:xfrm>
            <a:off x="9082800" y="5943600"/>
            <a:ext cx="2742840" cy="548280"/>
          </a:xfrm>
          <a:prstGeom prst="parallelogram">
            <a:avLst>
              <a:gd name="adj" fmla="val 25000"/>
            </a:avLst>
          </a:prstGeom>
          <a:solidFill>
            <a:srgbClr val="E0A21E"/>
          </a:solidFill>
          <a:ln>
            <a:noFill/>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r>
              <a:rPr lang="en-US" sz="1500" b="1" u="none" strike="noStrike">
                <a:solidFill>
                  <a:srgbClr val="0B2B4E"/>
                </a:solidFill>
                <a:effectLst/>
                <a:uFillTx/>
                <a:latin typeface="Calibri"/>
              </a:rPr>
              <a:t>Group exercise break</a:t>
            </a:r>
            <a:endParaRPr lang="en-US" sz="1500" b="0" u="none" strike="noStrike">
              <a:solidFill>
                <a:srgbClr val="000000"/>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12"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Roadmap</a:t>
            </a:r>
            <a:endParaRPr lang="en-US" sz="1600" b="0" u="none" strike="noStrike">
              <a:solidFill>
                <a:srgbClr val="000000"/>
              </a:solidFill>
              <a:effectLst/>
              <a:uFillTx/>
              <a:latin typeface="Arial"/>
            </a:endParaRPr>
          </a:p>
        </p:txBody>
      </p:sp>
      <p:sp>
        <p:nvSpPr>
          <p:cNvPr id="313"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Outline of Module 6</a:t>
            </a:r>
            <a:endParaRPr lang="en-US" sz="3200" b="0" u="none" strike="noStrike">
              <a:solidFill>
                <a:srgbClr val="000000"/>
              </a:solidFill>
              <a:effectLst/>
              <a:uFillTx/>
              <a:latin typeface="Arial"/>
            </a:endParaRPr>
          </a:p>
        </p:txBody>
      </p:sp>
      <p:sp>
        <p:nvSpPr>
          <p:cNvPr id="314"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15"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16"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17"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18"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319"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18</a:t>
            </a:r>
            <a:endParaRPr lang="en-US" sz="1200" b="0" u="none" strike="noStrike">
              <a:solidFill>
                <a:srgbClr val="000000"/>
              </a:solidFill>
              <a:effectLst/>
              <a:uFillTx/>
              <a:latin typeface="Arial"/>
            </a:endParaRPr>
          </a:p>
        </p:txBody>
      </p:sp>
      <p:sp>
        <p:nvSpPr>
          <p:cNvPr id="320" name="Oval 10"/>
          <p:cNvSpPr/>
          <p:nvPr/>
        </p:nvSpPr>
        <p:spPr>
          <a:xfrm>
            <a:off x="1234440" y="1645920"/>
            <a:ext cx="511560" cy="51156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1</a:t>
            </a:r>
            <a:endParaRPr lang="en-US" sz="2000" b="0" u="none" strike="noStrike">
              <a:solidFill>
                <a:srgbClr val="000000"/>
              </a:solidFill>
              <a:effectLst/>
              <a:uFillTx/>
              <a:latin typeface="Arial"/>
            </a:endParaRPr>
          </a:p>
        </p:txBody>
      </p:sp>
      <p:sp>
        <p:nvSpPr>
          <p:cNvPr id="321" name="TextBox 11"/>
          <p:cNvSpPr/>
          <p:nvPr/>
        </p:nvSpPr>
        <p:spPr>
          <a:xfrm>
            <a:off x="2286000" y="156348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A6ADB5"/>
                </a:solidFill>
                <a:effectLst/>
                <a:uFillTx/>
                <a:latin typeface="Calibri"/>
              </a:rPr>
              <a:t>Simple and complex pricing</a:t>
            </a:r>
            <a:endParaRPr lang="en-US" sz="2200" b="0" u="none" strike="noStrike">
              <a:solidFill>
                <a:srgbClr val="000000"/>
              </a:solidFill>
              <a:effectLst/>
              <a:uFillTx/>
              <a:latin typeface="Arial"/>
            </a:endParaRPr>
          </a:p>
        </p:txBody>
      </p:sp>
      <p:sp>
        <p:nvSpPr>
          <p:cNvPr id="322" name="TextBox 12"/>
          <p:cNvSpPr/>
          <p:nvPr/>
        </p:nvSpPr>
        <p:spPr>
          <a:xfrm>
            <a:off x="2286000" y="196596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C3C8CE"/>
                </a:solidFill>
                <a:effectLst/>
                <a:uFillTx/>
                <a:latin typeface="Calibri"/>
              </a:rPr>
              <a:t>The pricing dilemma and why complex pricing pays</a:t>
            </a:r>
            <a:endParaRPr lang="en-US" sz="1600" b="0" u="none" strike="noStrike">
              <a:solidFill>
                <a:srgbClr val="000000"/>
              </a:solidFill>
              <a:effectLst/>
              <a:uFillTx/>
              <a:latin typeface="Arial"/>
            </a:endParaRPr>
          </a:p>
        </p:txBody>
      </p:sp>
      <p:sp>
        <p:nvSpPr>
          <p:cNvPr id="323" name="Rounded Rectangle 13"/>
          <p:cNvSpPr/>
          <p:nvPr/>
        </p:nvSpPr>
        <p:spPr>
          <a:xfrm>
            <a:off x="978480" y="2404800"/>
            <a:ext cx="10423800" cy="785880"/>
          </a:xfrm>
          <a:prstGeom prst="roundRect">
            <a:avLst>
              <a:gd name="adj" fmla="val 16667"/>
            </a:avLst>
          </a:prstGeom>
          <a:solidFill>
            <a:srgbClr val="FDF6E6"/>
          </a:solidFill>
          <a:ln w="15875">
            <a:solidFill>
              <a:srgbClr val="E09F3E"/>
            </a:solidFill>
            <a:round/>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24" name="Oval 14"/>
          <p:cNvSpPr/>
          <p:nvPr/>
        </p:nvSpPr>
        <p:spPr>
          <a:xfrm>
            <a:off x="1234440" y="2541960"/>
            <a:ext cx="511560" cy="511560"/>
          </a:xfrm>
          <a:prstGeom prst="ellipse">
            <a:avLst/>
          </a:prstGeom>
          <a:solidFill>
            <a:srgbClr val="0B2B4E"/>
          </a:solidFill>
          <a:ln>
            <a:noFill/>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2</a:t>
            </a:r>
            <a:endParaRPr lang="en-US" sz="2000" b="0" u="none" strike="noStrike">
              <a:solidFill>
                <a:srgbClr val="FFFFFF"/>
              </a:solidFill>
              <a:effectLst/>
              <a:uFillTx/>
              <a:latin typeface="Arial"/>
            </a:endParaRPr>
          </a:p>
        </p:txBody>
      </p:sp>
      <p:sp>
        <p:nvSpPr>
          <p:cNvPr id="325" name="TextBox 15"/>
          <p:cNvSpPr/>
          <p:nvPr/>
        </p:nvSpPr>
        <p:spPr>
          <a:xfrm>
            <a:off x="2286000" y="245988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0B2B4E"/>
                </a:solidFill>
                <a:effectLst/>
                <a:uFillTx/>
                <a:latin typeface="Calibri"/>
              </a:rPr>
              <a:t>Direct price discrimination</a:t>
            </a:r>
            <a:endParaRPr lang="en-US" sz="2200" b="0" u="none" strike="noStrike">
              <a:solidFill>
                <a:srgbClr val="000000"/>
              </a:solidFill>
              <a:effectLst/>
              <a:uFillTx/>
              <a:latin typeface="Arial"/>
            </a:endParaRPr>
          </a:p>
        </p:txBody>
      </p:sp>
      <p:sp>
        <p:nvSpPr>
          <p:cNvPr id="326" name="TextBox 16"/>
          <p:cNvSpPr/>
          <p:nvPr/>
        </p:nvSpPr>
        <p:spPr>
          <a:xfrm>
            <a:off x="2286000" y="286200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0B2B4E"/>
                </a:solidFill>
                <a:effectLst/>
                <a:uFillTx/>
                <a:latin typeface="Calibri"/>
              </a:rPr>
              <a:t>First-degree (perfect) and third-degree (segment) pricing</a:t>
            </a:r>
            <a:endParaRPr lang="en-US" sz="1600" b="0" u="none" strike="noStrike">
              <a:solidFill>
                <a:srgbClr val="000000"/>
              </a:solidFill>
              <a:effectLst/>
              <a:uFillTx/>
              <a:latin typeface="Arial"/>
            </a:endParaRPr>
          </a:p>
        </p:txBody>
      </p:sp>
      <p:sp>
        <p:nvSpPr>
          <p:cNvPr id="327" name="Oval 17"/>
          <p:cNvSpPr/>
          <p:nvPr/>
        </p:nvSpPr>
        <p:spPr>
          <a:xfrm>
            <a:off x="1234440" y="3438000"/>
            <a:ext cx="511560" cy="51156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3</a:t>
            </a:r>
            <a:endParaRPr lang="en-US" sz="2000" b="0" u="none" strike="noStrike">
              <a:solidFill>
                <a:srgbClr val="000000"/>
              </a:solidFill>
              <a:effectLst/>
              <a:uFillTx/>
              <a:latin typeface="Arial"/>
            </a:endParaRPr>
          </a:p>
        </p:txBody>
      </p:sp>
      <p:sp>
        <p:nvSpPr>
          <p:cNvPr id="328" name="TextBox 18"/>
          <p:cNvSpPr/>
          <p:nvPr/>
        </p:nvSpPr>
        <p:spPr>
          <a:xfrm>
            <a:off x="2286000" y="335592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A6ADB5"/>
                </a:solidFill>
                <a:effectLst/>
                <a:uFillTx/>
                <a:latin typeface="Calibri"/>
              </a:rPr>
              <a:t>Indirect price discrimination</a:t>
            </a:r>
            <a:endParaRPr lang="en-US" sz="2200" b="0" u="none" strike="noStrike">
              <a:solidFill>
                <a:srgbClr val="000000"/>
              </a:solidFill>
              <a:effectLst/>
              <a:uFillTx/>
              <a:latin typeface="Arial"/>
            </a:endParaRPr>
          </a:p>
        </p:txBody>
      </p:sp>
      <p:sp>
        <p:nvSpPr>
          <p:cNvPr id="329" name="TextBox 19"/>
          <p:cNvSpPr/>
          <p:nvPr/>
        </p:nvSpPr>
        <p:spPr>
          <a:xfrm>
            <a:off x="2286000" y="375804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C3C8CE"/>
                </a:solidFill>
                <a:effectLst/>
                <a:uFillTx/>
                <a:latin typeface="Calibri"/>
              </a:rPr>
              <a:t>Versioning and coupons (second degree)</a:t>
            </a:r>
            <a:endParaRPr lang="en-US" sz="1600" b="0" u="none" strike="noStrike">
              <a:solidFill>
                <a:srgbClr val="000000"/>
              </a:solidFill>
              <a:effectLst/>
              <a:uFillTx/>
              <a:latin typeface="Arial"/>
            </a:endParaRPr>
          </a:p>
        </p:txBody>
      </p:sp>
      <p:sp>
        <p:nvSpPr>
          <p:cNvPr id="330" name="Oval 20"/>
          <p:cNvSpPr/>
          <p:nvPr/>
        </p:nvSpPr>
        <p:spPr>
          <a:xfrm>
            <a:off x="1234440" y="4334400"/>
            <a:ext cx="511560" cy="51156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4</a:t>
            </a:r>
            <a:endParaRPr lang="en-US" sz="2000" b="0" u="none" strike="noStrike">
              <a:solidFill>
                <a:srgbClr val="000000"/>
              </a:solidFill>
              <a:effectLst/>
              <a:uFillTx/>
              <a:latin typeface="Arial"/>
            </a:endParaRPr>
          </a:p>
        </p:txBody>
      </p:sp>
      <p:sp>
        <p:nvSpPr>
          <p:cNvPr id="331" name="TextBox 21"/>
          <p:cNvSpPr/>
          <p:nvPr/>
        </p:nvSpPr>
        <p:spPr>
          <a:xfrm>
            <a:off x="2286000" y="425196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A6ADB5"/>
                </a:solidFill>
                <a:effectLst/>
                <a:uFillTx/>
                <a:latin typeface="Calibri"/>
              </a:rPr>
              <a:t>Advanced pricing strategies</a:t>
            </a:r>
            <a:endParaRPr lang="en-US" sz="2200" b="0" u="none" strike="noStrike">
              <a:solidFill>
                <a:srgbClr val="000000"/>
              </a:solidFill>
              <a:effectLst/>
              <a:uFillTx/>
              <a:latin typeface="Arial"/>
            </a:endParaRPr>
          </a:p>
        </p:txBody>
      </p:sp>
      <p:sp>
        <p:nvSpPr>
          <p:cNvPr id="332" name="TextBox 22"/>
          <p:cNvSpPr/>
          <p:nvPr/>
        </p:nvSpPr>
        <p:spPr>
          <a:xfrm>
            <a:off x="2286000" y="465444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C3C8CE"/>
                </a:solidFill>
                <a:effectLst/>
                <a:uFillTx/>
                <a:latin typeface="Calibri"/>
              </a:rPr>
              <a:t>Volume/flat-fee, two-part tariff, block pricing</a:t>
            </a:r>
            <a:endParaRPr lang="en-US" sz="1600" b="0" u="none" strike="noStrike">
              <a:solidFill>
                <a:srgbClr val="000000"/>
              </a:solidFill>
              <a:effectLst/>
              <a:uFillTx/>
              <a:latin typeface="Arial"/>
            </a:endParaRPr>
          </a:p>
        </p:txBody>
      </p:sp>
      <p:sp>
        <p:nvSpPr>
          <p:cNvPr id="333" name="Oval 23"/>
          <p:cNvSpPr/>
          <p:nvPr/>
        </p:nvSpPr>
        <p:spPr>
          <a:xfrm>
            <a:off x="1234440" y="5230440"/>
            <a:ext cx="511560" cy="51156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000" b="1" u="none" strike="noStrike">
                <a:solidFill>
                  <a:srgbClr val="FFFFFF"/>
                </a:solidFill>
                <a:effectLst/>
                <a:uFillTx/>
                <a:latin typeface="Calibri"/>
              </a:rPr>
              <a:t>5</a:t>
            </a:r>
            <a:endParaRPr lang="en-US" sz="2000" b="0" u="none" strike="noStrike">
              <a:solidFill>
                <a:srgbClr val="000000"/>
              </a:solidFill>
              <a:effectLst/>
              <a:uFillTx/>
              <a:latin typeface="Arial"/>
            </a:endParaRPr>
          </a:p>
        </p:txBody>
      </p:sp>
      <p:sp>
        <p:nvSpPr>
          <p:cNvPr id="334" name="TextBox 24"/>
          <p:cNvSpPr/>
          <p:nvPr/>
        </p:nvSpPr>
        <p:spPr>
          <a:xfrm>
            <a:off x="2286000" y="514800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200" b="1" u="none" strike="noStrike">
                <a:solidFill>
                  <a:srgbClr val="A6ADB5"/>
                </a:solidFill>
                <a:effectLst/>
                <a:uFillTx/>
                <a:latin typeface="Calibri"/>
              </a:rPr>
              <a:t>Auctions</a:t>
            </a:r>
            <a:endParaRPr lang="en-US" sz="2200" b="0" u="none" strike="noStrike">
              <a:solidFill>
                <a:srgbClr val="000000"/>
              </a:solidFill>
              <a:effectLst/>
              <a:uFillTx/>
              <a:latin typeface="Arial"/>
            </a:endParaRPr>
          </a:p>
        </p:txBody>
      </p:sp>
      <p:sp>
        <p:nvSpPr>
          <p:cNvPr id="335" name="TextBox 25"/>
          <p:cNvSpPr/>
          <p:nvPr/>
        </p:nvSpPr>
        <p:spPr>
          <a:xfrm>
            <a:off x="2286000" y="5550480"/>
            <a:ext cx="9509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0" u="none" strike="noStrike">
                <a:solidFill>
                  <a:srgbClr val="C3C8CE"/>
                </a:solidFill>
                <a:effectLst/>
                <a:uFillTx/>
                <a:latin typeface="Calibri"/>
              </a:rPr>
              <a:t>Competitive bidding and auction formats</a:t>
            </a:r>
            <a:endParaRPr lang="en-US" sz="1600" b="0" u="none" strike="noStrike">
              <a:solidFill>
                <a:srgbClr val="000000"/>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37"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Segment Pricing</a:t>
            </a:r>
            <a:endParaRPr lang="en-US" sz="1600" b="0" u="none" strike="noStrike">
              <a:solidFill>
                <a:srgbClr val="000000"/>
              </a:solidFill>
              <a:effectLst/>
              <a:uFillTx/>
              <a:latin typeface="Arial"/>
            </a:endParaRPr>
          </a:p>
        </p:txBody>
      </p:sp>
      <p:sp>
        <p:nvSpPr>
          <p:cNvPr id="338"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600" b="1" u="none" strike="noStrike">
                <a:solidFill>
                  <a:srgbClr val="0B2B4E"/>
                </a:solidFill>
                <a:effectLst/>
                <a:uFillTx/>
                <a:latin typeface="Calibri"/>
              </a:rPr>
              <a:t>Third-Degree Price Discrimination — Segment (Group) Pricing</a:t>
            </a:r>
            <a:endParaRPr lang="en-US" sz="2600" b="0" u="none" strike="noStrike">
              <a:solidFill>
                <a:srgbClr val="000000"/>
              </a:solidFill>
              <a:effectLst/>
              <a:uFillTx/>
              <a:latin typeface="Arial"/>
            </a:endParaRPr>
          </a:p>
        </p:txBody>
      </p:sp>
      <p:sp>
        <p:nvSpPr>
          <p:cNvPr id="339"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40"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41"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42"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43"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344"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19</a:t>
            </a:r>
            <a:endParaRPr lang="en-US" sz="1200" b="0" u="none" strike="noStrike">
              <a:solidFill>
                <a:srgbClr val="000000"/>
              </a:solidFill>
              <a:effectLst/>
              <a:uFillTx/>
              <a:latin typeface="Arial"/>
            </a:endParaRPr>
          </a:p>
        </p:txBody>
      </p:sp>
      <p:sp>
        <p:nvSpPr>
          <p:cNvPr id="345" name="TXBLD_11000"/>
          <p:cNvSpPr/>
          <p:nvPr/>
        </p:nvSpPr>
        <p:spPr>
          <a:xfrm>
            <a:off x="640080" y="1828800"/>
            <a:ext cx="6126120" cy="4571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343080" indent="-343080" defTabSz="457200">
              <a:lnSpc>
                <a:spcPct val="100000"/>
              </a:lnSpc>
              <a:spcBef>
                <a:spcPts val="1199"/>
              </a:spcBef>
              <a:buClr>
                <a:srgbClr val="0B2B4E"/>
              </a:buClr>
              <a:buFont typeface="Calibri"/>
              <a:buChar char="▪"/>
            </a:pPr>
            <a:r>
              <a:rPr lang="en-US" sz="2000" b="0" u="none" strike="noStrike">
                <a:solidFill>
                  <a:srgbClr val="0B2B4E"/>
                </a:solidFill>
                <a:effectLst/>
                <a:uFillTx/>
                <a:latin typeface="Calibri"/>
              </a:rPr>
              <a:t>Divide customers into groups with different price sensitivities, and charge each group a different price</a:t>
            </a:r>
            <a:endParaRPr lang="en-US" sz="2000" b="0" u="none" strike="noStrike">
              <a:solidFill>
                <a:srgbClr val="000000"/>
              </a:solidFill>
              <a:effectLst/>
              <a:uFillTx/>
              <a:latin typeface="Arial"/>
            </a:endParaRPr>
          </a:p>
          <a:p>
            <a:pPr marL="343080" indent="-343080" defTabSz="457200">
              <a:lnSpc>
                <a:spcPct val="100000"/>
              </a:lnSpc>
              <a:spcBef>
                <a:spcPts val="1199"/>
              </a:spcBef>
              <a:buClr>
                <a:srgbClr val="0B2B4E"/>
              </a:buClr>
              <a:buFont typeface="Calibri"/>
              <a:buChar char="▪"/>
            </a:pPr>
            <a:r>
              <a:rPr lang="en-US" sz="2000" b="1" u="none" strike="noStrike">
                <a:solidFill>
                  <a:srgbClr val="0B2B4E"/>
                </a:solidFill>
                <a:effectLst/>
                <a:uFillTx/>
                <a:latin typeface="Calibri"/>
              </a:rPr>
              <a:t>Conditions:</a:t>
            </a:r>
            <a:endParaRPr lang="en-US" sz="2000" b="0" u="none" strike="noStrike">
              <a:solidFill>
                <a:srgbClr val="000000"/>
              </a:solidFill>
              <a:effectLst/>
              <a:uFillTx/>
              <a:latin typeface="Arial"/>
            </a:endParaRPr>
          </a:p>
          <a:p>
            <a:pPr marL="685800" lvl="1" indent="-228600" defTabSz="457200">
              <a:lnSpc>
                <a:spcPct val="100000"/>
              </a:lnSpc>
              <a:spcBef>
                <a:spcPts val="601"/>
              </a:spcBef>
              <a:buClr>
                <a:srgbClr val="555B66"/>
              </a:buClr>
              <a:buFont typeface="Calibri"/>
              <a:buChar char="–"/>
            </a:pPr>
            <a:r>
              <a:rPr lang="en-US" sz="1700" b="0" u="none" strike="noStrike">
                <a:solidFill>
                  <a:srgbClr val="555B66"/>
                </a:solidFill>
                <a:effectLst/>
                <a:uFillTx/>
                <a:latin typeface="Calibri"/>
              </a:rPr>
              <a:t>Heterogeneous consumers</a:t>
            </a:r>
            <a:endParaRPr lang="en-US" sz="1700" b="0" u="none" strike="noStrike">
              <a:solidFill>
                <a:srgbClr val="000000"/>
              </a:solidFill>
              <a:effectLst/>
              <a:uFillTx/>
              <a:latin typeface="Arial"/>
            </a:endParaRPr>
          </a:p>
          <a:p>
            <a:pPr marL="685800" lvl="1" indent="-228600" defTabSz="457200">
              <a:lnSpc>
                <a:spcPct val="100000"/>
              </a:lnSpc>
              <a:spcBef>
                <a:spcPts val="601"/>
              </a:spcBef>
              <a:buClr>
                <a:srgbClr val="555B66"/>
              </a:buClr>
              <a:buFont typeface="Calibri"/>
              <a:buChar char="–"/>
            </a:pPr>
            <a:r>
              <a:rPr lang="en-US" sz="1700" b="0" u="none" strike="noStrike">
                <a:solidFill>
                  <a:srgbClr val="555B66"/>
                </a:solidFill>
                <a:effectLst/>
                <a:uFillTx/>
                <a:latin typeface="Calibri"/>
              </a:rPr>
              <a:t>Firm has market power and can prevent resale</a:t>
            </a:r>
            <a:endParaRPr lang="en-US" sz="1700" b="0" u="none" strike="noStrike">
              <a:solidFill>
                <a:srgbClr val="000000"/>
              </a:solidFill>
              <a:effectLst/>
              <a:uFillTx/>
              <a:latin typeface="Arial"/>
            </a:endParaRPr>
          </a:p>
          <a:p>
            <a:pPr marL="685800" lvl="1" indent="-228600" defTabSz="457200">
              <a:lnSpc>
                <a:spcPct val="100000"/>
              </a:lnSpc>
              <a:spcBef>
                <a:spcPts val="601"/>
              </a:spcBef>
              <a:buClr>
                <a:srgbClr val="555B66"/>
              </a:buClr>
              <a:buFont typeface="Calibri"/>
              <a:buChar char="–"/>
            </a:pPr>
            <a:r>
              <a:rPr lang="en-US" sz="1700" b="0" u="none" strike="noStrike">
                <a:solidFill>
                  <a:srgbClr val="555B66"/>
                </a:solidFill>
                <a:effectLst/>
                <a:uFillTx/>
                <a:latin typeface="Calibri"/>
              </a:rPr>
              <a:t>Firm can identify groups with different price sensitivities, but not each individual’s demand</a:t>
            </a:r>
            <a:endParaRPr lang="en-US" sz="1700" b="0" u="none" strike="noStrike">
              <a:solidFill>
                <a:srgbClr val="000000"/>
              </a:solidFill>
              <a:effectLst/>
              <a:uFillTx/>
              <a:latin typeface="Arial"/>
            </a:endParaRPr>
          </a:p>
        </p:txBody>
      </p:sp>
      <p:sp>
        <p:nvSpPr>
          <p:cNvPr id="346" name="Picture 11" descr="s19_0.png"/>
          <p:cNvSpPr/>
          <p:nvPr/>
        </p:nvSpPr>
        <p:spPr>
          <a:xfrm>
            <a:off x="7223760" y="2103120"/>
            <a:ext cx="4571640" cy="3177000"/>
          </a:xfrm>
          <a:prstGeom prst="roundRect">
            <a:avLst>
              <a:gd name="adj" fmla="val 6000"/>
            </a:avLst>
          </a:prstGeom>
          <a:blipFill rotWithShape="0">
            <a:blip r:embed="rId3"/>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4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4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4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48"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Segment Pricing</a:t>
            </a:r>
            <a:endParaRPr lang="en-US" sz="1600" b="0" u="none" strike="noStrike">
              <a:solidFill>
                <a:srgbClr val="000000"/>
              </a:solidFill>
              <a:effectLst/>
              <a:uFillTx/>
              <a:latin typeface="Arial"/>
            </a:endParaRPr>
          </a:p>
        </p:txBody>
      </p:sp>
      <p:sp>
        <p:nvSpPr>
          <p:cNvPr id="349"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Key Assumption: Resale Is Prohibited</a:t>
            </a:r>
            <a:endParaRPr lang="en-US" sz="3200" b="0" u="none" strike="noStrike">
              <a:solidFill>
                <a:srgbClr val="000000"/>
              </a:solidFill>
              <a:effectLst/>
              <a:uFillTx/>
              <a:latin typeface="Arial"/>
            </a:endParaRPr>
          </a:p>
        </p:txBody>
      </p:sp>
      <p:sp>
        <p:nvSpPr>
          <p:cNvPr id="350"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51"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52"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53"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54"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355"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20</a:t>
            </a:r>
            <a:endParaRPr lang="en-US" sz="1200" b="0" u="none" strike="noStrike">
              <a:solidFill>
                <a:srgbClr val="000000"/>
              </a:solidFill>
              <a:effectLst/>
              <a:uFillTx/>
              <a:latin typeface="Arial"/>
            </a:endParaRPr>
          </a:p>
        </p:txBody>
      </p:sp>
      <p:sp>
        <p:nvSpPr>
          <p:cNvPr id="356" name="Picture 10" descr="s20_crop.png"/>
          <p:cNvSpPr/>
          <p:nvPr/>
        </p:nvSpPr>
        <p:spPr>
          <a:xfrm>
            <a:off x="2148840" y="1554480"/>
            <a:ext cx="7863480" cy="4943520"/>
          </a:xfrm>
          <a:prstGeom prst="roundRect">
            <a:avLst>
              <a:gd name="adj" fmla="val 6000"/>
            </a:avLst>
          </a:prstGeom>
          <a:blipFill rotWithShape="0">
            <a:blip r:embed="rId3"/>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58"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Segment Pricing</a:t>
            </a:r>
            <a:endParaRPr lang="en-US" sz="1600" b="0" u="none" strike="noStrike">
              <a:solidFill>
                <a:srgbClr val="000000"/>
              </a:solidFill>
              <a:effectLst/>
              <a:uFillTx/>
              <a:latin typeface="Arial"/>
            </a:endParaRPr>
          </a:p>
        </p:txBody>
      </p:sp>
      <p:sp>
        <p:nvSpPr>
          <p:cNvPr id="359"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Third-Degree Price Discrimination</a:t>
            </a:r>
            <a:endParaRPr lang="en-US" sz="3200" b="0" u="none" strike="noStrike">
              <a:solidFill>
                <a:srgbClr val="000000"/>
              </a:solidFill>
              <a:effectLst/>
              <a:uFillTx/>
              <a:latin typeface="Arial"/>
            </a:endParaRPr>
          </a:p>
        </p:txBody>
      </p:sp>
      <p:sp>
        <p:nvSpPr>
          <p:cNvPr id="360"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61"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62"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63"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64"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365"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21</a:t>
            </a:r>
            <a:endParaRPr lang="en-US" sz="1200" b="0" u="none" strike="noStrike">
              <a:solidFill>
                <a:srgbClr val="000000"/>
              </a:solidFill>
              <a:effectLst/>
              <a:uFillTx/>
              <a:latin typeface="Arial"/>
            </a:endParaRPr>
          </a:p>
        </p:txBody>
      </p:sp>
      <p:cxnSp>
        <p:nvCxnSpPr>
          <p:cNvPr id="366" name="Connector 10"/>
          <p:cNvCxnSpPr/>
          <p:nvPr/>
        </p:nvCxnSpPr>
        <p:spPr>
          <a:xfrm flipV="1">
            <a:off x="822960" y="1508760"/>
            <a:ext cx="720" cy="4618080"/>
          </a:xfrm>
          <a:prstGeom prst="straightConnector1">
            <a:avLst/>
          </a:prstGeom>
          <a:ln w="25400">
            <a:solidFill>
              <a:srgbClr val="0B2B4E"/>
            </a:solidFill>
            <a:round/>
            <a:tailEnd type="triangle" w="med" len="med"/>
          </a:ln>
        </p:spPr>
      </p:cxnSp>
      <p:cxnSp>
        <p:nvCxnSpPr>
          <p:cNvPr id="367" name="Connector 11"/>
          <p:cNvCxnSpPr/>
          <p:nvPr/>
        </p:nvCxnSpPr>
        <p:spPr>
          <a:xfrm>
            <a:off x="822960" y="6126480"/>
            <a:ext cx="4618080" cy="720"/>
          </a:xfrm>
          <a:prstGeom prst="straightConnector1">
            <a:avLst/>
          </a:prstGeom>
          <a:ln w="25400">
            <a:solidFill>
              <a:srgbClr val="0B2B4E"/>
            </a:solidFill>
            <a:round/>
            <a:tailEnd type="triangle" w="med" len="med"/>
          </a:ln>
        </p:spPr>
      </p:cxnSp>
      <p:sp>
        <p:nvSpPr>
          <p:cNvPr id="368" name="TextBox 12"/>
          <p:cNvSpPr/>
          <p:nvPr/>
        </p:nvSpPr>
        <p:spPr>
          <a:xfrm>
            <a:off x="685800" y="1124640"/>
            <a:ext cx="2377080" cy="36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b">
            <a:spAutoFit/>
          </a:bodyPr>
          <a:lstStyle/>
          <a:p>
            <a:pPr defTabSz="457200">
              <a:lnSpc>
                <a:spcPct val="100000"/>
              </a:lnSpc>
            </a:pPr>
            <a:r>
              <a:rPr lang="en-US" sz="1800" b="1" i="1" u="none" strike="noStrike">
                <a:solidFill>
                  <a:srgbClr val="0B2B4E"/>
                </a:solidFill>
                <a:effectLst/>
                <a:uFillTx/>
                <a:latin typeface="Calibri"/>
              </a:rPr>
              <a:t>Price</a:t>
            </a:r>
            <a:endParaRPr lang="en-US" sz="1800" b="0" u="none" strike="noStrike">
              <a:solidFill>
                <a:srgbClr val="000000"/>
              </a:solidFill>
              <a:effectLst/>
              <a:uFillTx/>
              <a:latin typeface="Arial"/>
            </a:endParaRPr>
          </a:p>
        </p:txBody>
      </p:sp>
      <p:sp>
        <p:nvSpPr>
          <p:cNvPr id="369" name="CLK01"/>
          <p:cNvSpPr/>
          <p:nvPr/>
        </p:nvSpPr>
        <p:spPr>
          <a:xfrm>
            <a:off x="822960" y="3261240"/>
            <a:ext cx="1023840" cy="2864880"/>
          </a:xfrm>
          <a:prstGeom prst="rect">
            <a:avLst/>
          </a:prstGeom>
          <a:solidFill>
            <a:srgbClr val="B8CCE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70" name="CLK02"/>
          <p:cNvSpPr/>
          <p:nvPr/>
        </p:nvSpPr>
        <p:spPr>
          <a:xfrm>
            <a:off x="1847160" y="4694040"/>
            <a:ext cx="1532520" cy="1432080"/>
          </a:xfrm>
          <a:prstGeom prst="rect">
            <a:avLst/>
          </a:prstGeom>
          <a:solidFill>
            <a:srgbClr val="E5B9B5"/>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71" name="CLK00"/>
          <p:cNvSpPr/>
          <p:nvPr/>
        </p:nvSpPr>
        <p:spPr>
          <a:xfrm>
            <a:off x="822960" y="2306160"/>
            <a:ext cx="4082400" cy="3819960"/>
          </a:xfrm>
          <a:custGeom>
            <a:avLst/>
            <a:gdLst>
              <a:gd name="textAreaLeft" fmla="*/ 0 w 4082400"/>
              <a:gd name="textAreaRight" fmla="*/ 4082760 w 4082400"/>
              <a:gd name="textAreaTop" fmla="*/ 0 h 3819960"/>
              <a:gd name="textAreaBottom" fmla="*/ 3820320 h 3819960"/>
            </a:gdLst>
            <a:ahLst/>
            <a:cxnLst/>
            <a:rect l="textAreaLeft" t="textAreaTop" r="textAreaRight" b="textAreaBottom"/>
            <a:pathLst>
              <a:path w="4082796" h="3820160">
                <a:moveTo>
                  <a:pt x="0" y="0"/>
                </a:moveTo>
                <a:lnTo>
                  <a:pt x="4082796" y="3820160"/>
                </a:lnTo>
              </a:path>
            </a:pathLst>
          </a:custGeom>
          <a:noFill/>
          <a:ln w="38100" cap="rnd">
            <a:solidFill>
              <a:srgbClr val="C0201B"/>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72" name="CLK00"/>
          <p:cNvSpPr/>
          <p:nvPr/>
        </p:nvSpPr>
        <p:spPr>
          <a:xfrm>
            <a:off x="4547520" y="5983200"/>
            <a:ext cx="1462680" cy="31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1300" b="0" i="1" u="none" strike="noStrike">
                <a:solidFill>
                  <a:srgbClr val="C0201B"/>
                </a:solidFill>
                <a:effectLst/>
                <a:uFillTx/>
                <a:latin typeface="Calibri"/>
              </a:rPr>
              <a:t>Demand</a:t>
            </a:r>
            <a:endParaRPr lang="en-US" sz="1300" b="0" u="none" strike="noStrike">
              <a:solidFill>
                <a:srgbClr val="000000"/>
              </a:solidFill>
              <a:effectLst/>
              <a:uFillTx/>
              <a:latin typeface="Arial"/>
            </a:endParaRPr>
          </a:p>
        </p:txBody>
      </p:sp>
      <p:sp>
        <p:nvSpPr>
          <p:cNvPr id="373" name="CLK01"/>
          <p:cNvSpPr/>
          <p:nvPr/>
        </p:nvSpPr>
        <p:spPr>
          <a:xfrm>
            <a:off x="274320" y="3115080"/>
            <a:ext cx="548280" cy="2923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chorCtr="1">
            <a:spAutoFit/>
          </a:bodyPr>
          <a:lstStyle/>
          <a:p>
            <a:pPr algn="r" defTabSz="457200">
              <a:lnSpc>
                <a:spcPct val="100000"/>
              </a:lnSpc>
            </a:pPr>
            <a:r>
              <a:rPr lang="en-US" sz="1400" b="0" u="none" strike="noStrike">
                <a:solidFill>
                  <a:srgbClr val="0B2B4E"/>
                </a:solidFill>
                <a:effectLst/>
                <a:uFillTx/>
                <a:latin typeface="Calibri"/>
              </a:rPr>
              <a:t>P₁</a:t>
            </a:r>
            <a:endParaRPr lang="en-US" sz="1400" b="0" u="none" strike="noStrike">
              <a:solidFill>
                <a:srgbClr val="000000"/>
              </a:solidFill>
              <a:effectLst/>
              <a:uFillTx/>
              <a:latin typeface="Arial"/>
            </a:endParaRPr>
          </a:p>
        </p:txBody>
      </p:sp>
      <p:sp>
        <p:nvSpPr>
          <p:cNvPr id="374" name="CLK02"/>
          <p:cNvSpPr/>
          <p:nvPr/>
        </p:nvSpPr>
        <p:spPr>
          <a:xfrm>
            <a:off x="274320" y="4547520"/>
            <a:ext cx="548280" cy="2923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chorCtr="1">
            <a:spAutoFit/>
          </a:bodyPr>
          <a:lstStyle/>
          <a:p>
            <a:pPr algn="r" defTabSz="457200">
              <a:lnSpc>
                <a:spcPct val="100000"/>
              </a:lnSpc>
            </a:pPr>
            <a:r>
              <a:rPr lang="en-US" sz="1400" b="0" u="none" strike="noStrike">
                <a:solidFill>
                  <a:srgbClr val="0B2B4E"/>
                </a:solidFill>
                <a:effectLst/>
                <a:uFillTx/>
                <a:latin typeface="Calibri"/>
              </a:rPr>
              <a:t>P₂</a:t>
            </a:r>
            <a:endParaRPr lang="en-US" sz="1400" b="0" u="none" strike="noStrike">
              <a:solidFill>
                <a:srgbClr val="000000"/>
              </a:solidFill>
              <a:effectLst/>
              <a:uFillTx/>
              <a:latin typeface="Arial"/>
            </a:endParaRPr>
          </a:p>
        </p:txBody>
      </p:sp>
      <p:sp>
        <p:nvSpPr>
          <p:cNvPr id="375" name="CLK01"/>
          <p:cNvSpPr/>
          <p:nvPr/>
        </p:nvSpPr>
        <p:spPr>
          <a:xfrm>
            <a:off x="1861560" y="2927160"/>
            <a:ext cx="21942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0" i="1" u="none" strike="noStrike">
                <a:solidFill>
                  <a:srgbClr val="0B2B4E"/>
                </a:solidFill>
                <a:effectLst/>
                <a:uFillTx/>
                <a:latin typeface="Calibri"/>
              </a:rPr>
              <a:t>Regular movie-goers</a:t>
            </a:r>
            <a:endParaRPr lang="en-US" sz="1300" b="0" u="none" strike="noStrike">
              <a:solidFill>
                <a:srgbClr val="000000"/>
              </a:solidFill>
              <a:effectLst/>
              <a:uFillTx/>
              <a:latin typeface="Arial"/>
            </a:endParaRPr>
          </a:p>
        </p:txBody>
      </p:sp>
      <p:sp>
        <p:nvSpPr>
          <p:cNvPr id="376" name="CLK02"/>
          <p:cNvSpPr/>
          <p:nvPr/>
        </p:nvSpPr>
        <p:spPr>
          <a:xfrm>
            <a:off x="2470320" y="4407480"/>
            <a:ext cx="14626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0" i="1" u="none" strike="noStrike">
                <a:solidFill>
                  <a:srgbClr val="0B2B4E"/>
                </a:solidFill>
                <a:effectLst/>
                <a:uFillTx/>
                <a:latin typeface="Calibri"/>
              </a:rPr>
              <a:t>Seniors</a:t>
            </a:r>
            <a:endParaRPr lang="en-US" sz="1300" b="0" u="none" strike="noStrike">
              <a:solidFill>
                <a:srgbClr val="000000"/>
              </a:solidFill>
              <a:effectLst/>
              <a:uFillTx/>
              <a:latin typeface="Arial"/>
            </a:endParaRPr>
          </a:p>
        </p:txBody>
      </p:sp>
      <p:sp>
        <p:nvSpPr>
          <p:cNvPr id="377" name="TextBox 21"/>
          <p:cNvSpPr/>
          <p:nvPr/>
        </p:nvSpPr>
        <p:spPr>
          <a:xfrm>
            <a:off x="5852160" y="2103120"/>
            <a:ext cx="5943240" cy="420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343080" indent="-343080" defTabSz="457200">
              <a:lnSpc>
                <a:spcPct val="100000"/>
              </a:lnSpc>
              <a:spcBef>
                <a:spcPts val="1800"/>
              </a:spcBef>
              <a:buClr>
                <a:srgbClr val="0B2B4E"/>
              </a:buClr>
              <a:buFont typeface="Calibri"/>
              <a:buChar char="▪"/>
            </a:pPr>
            <a:r>
              <a:rPr lang="en-US" sz="2100" b="0" u="none" strike="noStrike">
                <a:solidFill>
                  <a:srgbClr val="0B2B4E"/>
                </a:solidFill>
                <a:effectLst/>
                <a:uFillTx/>
                <a:latin typeface="Calibri"/>
              </a:rPr>
              <a:t>Divide customers into groups with different price sensitivities</a:t>
            </a:r>
            <a:endParaRPr lang="en-US" sz="2100" b="0" u="none" strike="noStrike">
              <a:solidFill>
                <a:srgbClr val="000000"/>
              </a:solidFill>
              <a:effectLst/>
              <a:uFillTx/>
              <a:latin typeface="Arial"/>
            </a:endParaRPr>
          </a:p>
          <a:p>
            <a:pPr marL="343080" indent="-343080" defTabSz="457200">
              <a:lnSpc>
                <a:spcPct val="100000"/>
              </a:lnSpc>
              <a:spcBef>
                <a:spcPts val="1800"/>
              </a:spcBef>
              <a:buClr>
                <a:srgbClr val="0B2B4E"/>
              </a:buClr>
              <a:buFont typeface="Calibri"/>
              <a:buChar char="▪"/>
            </a:pPr>
            <a:r>
              <a:rPr lang="en-US" sz="2100" b="0" u="none" strike="noStrike">
                <a:solidFill>
                  <a:srgbClr val="0B2B4E"/>
                </a:solidFill>
                <a:effectLst/>
                <a:uFillTx/>
                <a:latin typeface="Calibri"/>
              </a:rPr>
              <a:t>Charge </a:t>
            </a:r>
            <a:r>
              <a:rPr lang="en-US" sz="2100" b="1" u="none" strike="noStrike">
                <a:solidFill>
                  <a:srgbClr val="C0201B"/>
                </a:solidFill>
                <a:effectLst/>
                <a:uFillTx/>
                <a:latin typeface="Calibri"/>
              </a:rPr>
              <a:t>each group</a:t>
            </a:r>
            <a:r>
              <a:rPr lang="en-US" sz="2100" b="0" u="none" strike="noStrike">
                <a:solidFill>
                  <a:srgbClr val="0B2B4E"/>
                </a:solidFill>
                <a:effectLst/>
                <a:uFillTx/>
                <a:latin typeface="Calibri"/>
              </a:rPr>
              <a:t> different prices (lower prices to more elastic groups)</a:t>
            </a:r>
            <a:endParaRPr lang="en-US" sz="2100" b="0" u="none" strike="noStrike">
              <a:solidFill>
                <a:srgbClr val="000000"/>
              </a:solidFill>
              <a:effectLst/>
              <a:uFillTx/>
              <a:latin typeface="Arial"/>
            </a:endParaRPr>
          </a:p>
          <a:p>
            <a:pPr marL="343080" indent="-343080" defTabSz="457200">
              <a:lnSpc>
                <a:spcPct val="100000"/>
              </a:lnSpc>
              <a:spcBef>
                <a:spcPts val="1800"/>
              </a:spcBef>
              <a:buClr>
                <a:srgbClr val="0B2B4E"/>
              </a:buClr>
              <a:buFont typeface="Calibri"/>
              <a:buChar char="▪"/>
            </a:pPr>
            <a:r>
              <a:rPr lang="en-US" sz="2100" b="1" u="none" strike="noStrike">
                <a:solidFill>
                  <a:srgbClr val="0B2B4E"/>
                </a:solidFill>
                <a:effectLst/>
                <a:uFillTx/>
                <a:latin typeface="Calibri"/>
              </a:rPr>
              <a:t>AKA segment pricing</a:t>
            </a:r>
            <a:endParaRPr lang="en-US" sz="21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6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7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7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7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79"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Segment Pricing</a:t>
            </a:r>
            <a:endParaRPr lang="en-US" sz="1600" b="0" u="none" strike="noStrike">
              <a:solidFill>
                <a:srgbClr val="000000"/>
              </a:solidFill>
              <a:effectLst/>
              <a:uFillTx/>
              <a:latin typeface="Arial"/>
            </a:endParaRPr>
          </a:p>
        </p:txBody>
      </p:sp>
      <p:sp>
        <p:nvSpPr>
          <p:cNvPr id="380"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Segment Pricing: Student Discounts</a:t>
            </a:r>
            <a:endParaRPr lang="en-US" sz="3200" b="0" u="none" strike="noStrike">
              <a:solidFill>
                <a:srgbClr val="000000"/>
              </a:solidFill>
              <a:effectLst/>
              <a:uFillTx/>
              <a:latin typeface="Arial"/>
            </a:endParaRPr>
          </a:p>
        </p:txBody>
      </p:sp>
      <p:sp>
        <p:nvSpPr>
          <p:cNvPr id="381"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82"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83"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84"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85"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386"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22</a:t>
            </a:r>
            <a:endParaRPr lang="en-US" sz="1200" b="0" u="none" strike="noStrike">
              <a:solidFill>
                <a:srgbClr val="000000"/>
              </a:solidFill>
              <a:effectLst/>
              <a:uFillTx/>
              <a:latin typeface="Arial"/>
            </a:endParaRPr>
          </a:p>
        </p:txBody>
      </p:sp>
      <p:sp>
        <p:nvSpPr>
          <p:cNvPr id="387" name="Picture 10" descr="s22_0.png"/>
          <p:cNvSpPr/>
          <p:nvPr/>
        </p:nvSpPr>
        <p:spPr>
          <a:xfrm>
            <a:off x="3840480" y="1417320"/>
            <a:ext cx="3975840" cy="4937400"/>
          </a:xfrm>
          <a:prstGeom prst="roundRect">
            <a:avLst>
              <a:gd name="adj" fmla="val 6000"/>
            </a:avLst>
          </a:prstGeom>
          <a:blipFill rotWithShape="0">
            <a:blip r:embed="rId3"/>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89"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Segment Pricing</a:t>
            </a:r>
            <a:endParaRPr lang="en-US" sz="1600" b="0" u="none" strike="noStrike">
              <a:solidFill>
                <a:srgbClr val="000000"/>
              </a:solidFill>
              <a:effectLst/>
              <a:uFillTx/>
              <a:latin typeface="Arial"/>
            </a:endParaRPr>
          </a:p>
        </p:txBody>
      </p:sp>
      <p:sp>
        <p:nvSpPr>
          <p:cNvPr id="390"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Segment Pricing: Discounts for Locals</a:t>
            </a:r>
            <a:endParaRPr lang="en-US" sz="3200" b="0" u="none" strike="noStrike">
              <a:solidFill>
                <a:srgbClr val="000000"/>
              </a:solidFill>
              <a:effectLst/>
              <a:uFillTx/>
              <a:latin typeface="Arial"/>
            </a:endParaRPr>
          </a:p>
        </p:txBody>
      </p:sp>
      <p:sp>
        <p:nvSpPr>
          <p:cNvPr id="391"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92"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93"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94"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395"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396"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23</a:t>
            </a:r>
            <a:endParaRPr lang="en-US" sz="1200" b="0" u="none" strike="noStrike">
              <a:solidFill>
                <a:srgbClr val="000000"/>
              </a:solidFill>
              <a:effectLst/>
              <a:uFillTx/>
              <a:latin typeface="Arial"/>
            </a:endParaRPr>
          </a:p>
        </p:txBody>
      </p:sp>
      <p:sp>
        <p:nvSpPr>
          <p:cNvPr id="397" name="Picture 10" descr="s23_2.png"/>
          <p:cNvSpPr/>
          <p:nvPr/>
        </p:nvSpPr>
        <p:spPr>
          <a:xfrm>
            <a:off x="640080" y="1554480"/>
            <a:ext cx="4571640" cy="1732680"/>
          </a:xfrm>
          <a:prstGeom prst="roundRect">
            <a:avLst>
              <a:gd name="adj" fmla="val 6000"/>
            </a:avLst>
          </a:prstGeom>
          <a:blipFill rotWithShape="0">
            <a:blip r:embed="rId3"/>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8" name="Picture 11" descr="s23_2.png"/>
          <p:cNvSpPr/>
          <p:nvPr/>
        </p:nvSpPr>
        <p:spPr>
          <a:xfrm>
            <a:off x="640080" y="4206240"/>
            <a:ext cx="4571640" cy="1732680"/>
          </a:xfrm>
          <a:prstGeom prst="roundRect">
            <a:avLst>
              <a:gd name="adj" fmla="val 6000"/>
            </a:avLst>
          </a:prstGeom>
          <a:blipFill rotWithShape="0">
            <a:blip r:embed="rId3"/>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9" name="Picture 12" descr="s23_0.png"/>
          <p:cNvSpPr/>
          <p:nvPr/>
        </p:nvSpPr>
        <p:spPr>
          <a:xfrm>
            <a:off x="6492240" y="1554480"/>
            <a:ext cx="3565800" cy="4754520"/>
          </a:xfrm>
          <a:prstGeom prst="roundRect">
            <a:avLst>
              <a:gd name="adj" fmla="val 6000"/>
            </a:avLst>
          </a:prstGeom>
          <a:blipFill rotWithShape="0">
            <a:blip r:embed="rId4"/>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01"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Segment Pricing</a:t>
            </a:r>
            <a:endParaRPr lang="en-US" sz="1600" b="0" u="none" strike="noStrike">
              <a:solidFill>
                <a:srgbClr val="000000"/>
              </a:solidFill>
              <a:effectLst/>
              <a:uFillTx/>
              <a:latin typeface="Arial"/>
            </a:endParaRPr>
          </a:p>
        </p:txBody>
      </p:sp>
      <p:sp>
        <p:nvSpPr>
          <p:cNvPr id="402"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Segment Pricing: Discounts for Locals</a:t>
            </a:r>
            <a:endParaRPr lang="en-US" sz="3200" b="0" u="none" strike="noStrike">
              <a:solidFill>
                <a:srgbClr val="000000"/>
              </a:solidFill>
              <a:effectLst/>
              <a:uFillTx/>
              <a:latin typeface="Arial"/>
            </a:endParaRPr>
          </a:p>
        </p:txBody>
      </p:sp>
      <p:sp>
        <p:nvSpPr>
          <p:cNvPr id="403"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04"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05"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06"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07"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408"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24</a:t>
            </a:r>
            <a:endParaRPr lang="en-US" sz="1200" b="0" u="none" strike="noStrike">
              <a:solidFill>
                <a:srgbClr val="000000"/>
              </a:solidFill>
              <a:effectLst/>
              <a:uFillTx/>
              <a:latin typeface="Arial"/>
            </a:endParaRPr>
          </a:p>
        </p:txBody>
      </p:sp>
      <p:sp>
        <p:nvSpPr>
          <p:cNvPr id="409" name="Picture 10" descr="s24_disc.png"/>
          <p:cNvSpPr/>
          <p:nvPr/>
        </p:nvSpPr>
        <p:spPr>
          <a:xfrm>
            <a:off x="3291840" y="1417320"/>
            <a:ext cx="4597920" cy="5028840"/>
          </a:xfrm>
          <a:prstGeom prst="roundRect">
            <a:avLst>
              <a:gd name="adj" fmla="val 6000"/>
            </a:avLst>
          </a:prstGeom>
          <a:blipFill rotWithShape="0">
            <a:blip r:embed="rId2"/>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11"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Segment Pricing</a:t>
            </a:r>
            <a:endParaRPr lang="en-US" sz="1600" b="0" u="none" strike="noStrike">
              <a:solidFill>
                <a:srgbClr val="000000"/>
              </a:solidFill>
              <a:effectLst/>
              <a:uFillTx/>
              <a:latin typeface="Arial"/>
            </a:endParaRPr>
          </a:p>
        </p:txBody>
      </p:sp>
      <p:sp>
        <p:nvSpPr>
          <p:cNvPr id="412"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Segment Pricing: Discounts for Locals</a:t>
            </a:r>
            <a:endParaRPr lang="en-US" sz="3200" b="0" u="none" strike="noStrike">
              <a:solidFill>
                <a:srgbClr val="000000"/>
              </a:solidFill>
              <a:effectLst/>
              <a:uFillTx/>
              <a:latin typeface="Arial"/>
            </a:endParaRPr>
          </a:p>
        </p:txBody>
      </p:sp>
      <p:sp>
        <p:nvSpPr>
          <p:cNvPr id="413"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14"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15"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16"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17"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418"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25</a:t>
            </a:r>
            <a:endParaRPr lang="en-US" sz="1200" b="0" u="none" strike="noStrike">
              <a:solidFill>
                <a:srgbClr val="000000"/>
              </a:solidFill>
              <a:effectLst/>
              <a:uFillTx/>
              <a:latin typeface="Arial"/>
            </a:endParaRPr>
          </a:p>
        </p:txBody>
      </p:sp>
      <p:sp>
        <p:nvSpPr>
          <p:cNvPr id="419" name="Picture 10" descr="s25_0.jpg"/>
          <p:cNvSpPr/>
          <p:nvPr/>
        </p:nvSpPr>
        <p:spPr>
          <a:xfrm>
            <a:off x="4206240" y="822960"/>
            <a:ext cx="4608360" cy="5760360"/>
          </a:xfrm>
          <a:prstGeom prst="roundRect">
            <a:avLst>
              <a:gd name="adj" fmla="val 6000"/>
            </a:avLst>
          </a:prstGeom>
          <a:blipFill rotWithShape="0">
            <a:blip r:embed="rId2"/>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21"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Segment Pricing</a:t>
            </a:r>
            <a:endParaRPr lang="en-US" sz="1600" b="0" u="none" strike="noStrike">
              <a:solidFill>
                <a:srgbClr val="000000"/>
              </a:solidFill>
              <a:effectLst/>
              <a:uFillTx/>
              <a:latin typeface="Arial"/>
            </a:endParaRPr>
          </a:p>
        </p:txBody>
      </p:sp>
      <p:sp>
        <p:nvSpPr>
          <p:cNvPr id="422"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Segment Pricing: Timing</a:t>
            </a:r>
            <a:endParaRPr lang="en-US" sz="3200" b="0" u="none" strike="noStrike">
              <a:solidFill>
                <a:srgbClr val="000000"/>
              </a:solidFill>
              <a:effectLst/>
              <a:uFillTx/>
              <a:latin typeface="Arial"/>
            </a:endParaRPr>
          </a:p>
        </p:txBody>
      </p:sp>
      <p:sp>
        <p:nvSpPr>
          <p:cNvPr id="423"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24"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25"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26"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27"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428"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26</a:t>
            </a:r>
            <a:endParaRPr lang="en-US" sz="1200" b="0" u="none" strike="noStrike">
              <a:solidFill>
                <a:srgbClr val="000000"/>
              </a:solidFill>
              <a:effectLst/>
              <a:uFillTx/>
              <a:latin typeface="Arial"/>
            </a:endParaRPr>
          </a:p>
        </p:txBody>
      </p:sp>
      <p:sp>
        <p:nvSpPr>
          <p:cNvPr id="429" name="Picture 10" descr="s26_1.png"/>
          <p:cNvSpPr/>
          <p:nvPr/>
        </p:nvSpPr>
        <p:spPr>
          <a:xfrm>
            <a:off x="3291840" y="1554480"/>
            <a:ext cx="5668920" cy="1527480"/>
          </a:xfrm>
          <a:prstGeom prst="roundRect">
            <a:avLst>
              <a:gd name="adj" fmla="val 6000"/>
            </a:avLst>
          </a:prstGeom>
          <a:blipFill rotWithShape="0">
            <a:blip r:embed="rId3"/>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30" name="Picture 11" descr="s26_0.png"/>
          <p:cNvSpPr/>
          <p:nvPr/>
        </p:nvSpPr>
        <p:spPr>
          <a:xfrm>
            <a:off x="3200400" y="3063240"/>
            <a:ext cx="5851800" cy="4348800"/>
          </a:xfrm>
          <a:prstGeom prst="roundRect">
            <a:avLst>
              <a:gd name="adj" fmla="val 6000"/>
            </a:avLst>
          </a:prstGeom>
          <a:blipFill rotWithShape="0">
            <a:blip r:embed="rId4"/>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32"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Segment Pricing</a:t>
            </a:r>
            <a:endParaRPr lang="en-US" sz="1600" b="0" u="none" strike="noStrike">
              <a:solidFill>
                <a:srgbClr val="000000"/>
              </a:solidFill>
              <a:effectLst/>
              <a:uFillTx/>
              <a:latin typeface="Arial"/>
            </a:endParaRPr>
          </a:p>
        </p:txBody>
      </p:sp>
      <p:sp>
        <p:nvSpPr>
          <p:cNvPr id="433"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Ways to Segment Consumers</a:t>
            </a:r>
            <a:endParaRPr lang="en-US" sz="3200" b="0" u="none" strike="noStrike">
              <a:solidFill>
                <a:srgbClr val="000000"/>
              </a:solidFill>
              <a:effectLst/>
              <a:uFillTx/>
              <a:latin typeface="Arial"/>
            </a:endParaRPr>
          </a:p>
        </p:txBody>
      </p:sp>
      <p:sp>
        <p:nvSpPr>
          <p:cNvPr id="434"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35"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36"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37"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38"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439"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27</a:t>
            </a:r>
            <a:endParaRPr lang="en-US" sz="1200" b="0" u="none" strike="noStrike">
              <a:solidFill>
                <a:srgbClr val="000000"/>
              </a:solidFill>
              <a:effectLst/>
              <a:uFillTx/>
              <a:latin typeface="Arial"/>
            </a:endParaRPr>
          </a:p>
        </p:txBody>
      </p:sp>
      <p:sp>
        <p:nvSpPr>
          <p:cNvPr id="440" name="TXBLD_10101010"/>
          <p:cNvSpPr/>
          <p:nvPr/>
        </p:nvSpPr>
        <p:spPr>
          <a:xfrm>
            <a:off x="502920" y="1554480"/>
            <a:ext cx="11155320" cy="4845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343080" indent="-343080" defTabSz="457200">
              <a:lnSpc>
                <a:spcPct val="100000"/>
              </a:lnSpc>
              <a:spcBef>
                <a:spcPts val="799"/>
              </a:spcBef>
              <a:buClr>
                <a:srgbClr val="0B2B4E"/>
              </a:buClr>
              <a:buFont typeface="Calibri"/>
              <a:buChar char="▪"/>
            </a:pPr>
            <a:r>
              <a:rPr lang="en-US" sz="2200" b="1" u="none" strike="noStrike">
                <a:solidFill>
                  <a:srgbClr val="0B2B4E"/>
                </a:solidFill>
                <a:effectLst/>
                <a:uFillTx/>
                <a:latin typeface="Calibri"/>
              </a:rPr>
              <a:t>By customer characteristics</a:t>
            </a:r>
            <a:endParaRPr lang="en-US" sz="2200" b="0" u="none" strike="noStrike">
              <a:solidFill>
                <a:srgbClr val="000000"/>
              </a:solidFill>
              <a:effectLst/>
              <a:uFillTx/>
              <a:latin typeface="Arial"/>
            </a:endParaRPr>
          </a:p>
          <a:p>
            <a:pPr marL="685800" lvl="1" indent="-228600" defTabSz="457200">
              <a:lnSpc>
                <a:spcPct val="100000"/>
              </a:lnSpc>
              <a:spcBef>
                <a:spcPts val="400"/>
              </a:spcBef>
              <a:buClr>
                <a:srgbClr val="555B66"/>
              </a:buClr>
              <a:buFont typeface="Calibri"/>
              <a:buChar char="–"/>
            </a:pPr>
            <a:r>
              <a:rPr lang="en-US" sz="1800" b="0" u="none" strike="noStrike">
                <a:solidFill>
                  <a:srgbClr val="555B66"/>
                </a:solidFill>
                <a:effectLst/>
                <a:uFillTx/>
                <a:latin typeface="Calibri"/>
              </a:rPr>
              <a:t>Age, gender — even species (doctors and veterinarians sometimes use the same medicines)</a:t>
            </a:r>
            <a:endParaRPr lang="en-US" sz="1800" b="0" u="none" strike="noStrike">
              <a:solidFill>
                <a:srgbClr val="000000"/>
              </a:solidFill>
              <a:effectLst/>
              <a:uFillTx/>
              <a:latin typeface="Arial"/>
            </a:endParaRPr>
          </a:p>
          <a:p>
            <a:pPr marL="343080" indent="-343080" defTabSz="457200">
              <a:lnSpc>
                <a:spcPct val="100000"/>
              </a:lnSpc>
              <a:spcBef>
                <a:spcPts val="799"/>
              </a:spcBef>
              <a:buClr>
                <a:srgbClr val="0B2B4E"/>
              </a:buClr>
              <a:buFont typeface="Calibri"/>
              <a:buChar char="▪"/>
            </a:pPr>
            <a:r>
              <a:rPr lang="en-US" sz="2200" b="1" u="none" strike="noStrike">
                <a:solidFill>
                  <a:srgbClr val="0B2B4E"/>
                </a:solidFill>
                <a:effectLst/>
                <a:uFillTx/>
                <a:latin typeface="Calibri"/>
              </a:rPr>
              <a:t>By past purchase behavior</a:t>
            </a:r>
            <a:endParaRPr lang="en-US" sz="2200" b="0" u="none" strike="noStrike">
              <a:solidFill>
                <a:srgbClr val="000000"/>
              </a:solidFill>
              <a:effectLst/>
              <a:uFillTx/>
              <a:latin typeface="Arial"/>
            </a:endParaRPr>
          </a:p>
          <a:p>
            <a:pPr marL="685800" lvl="1" indent="-228600" defTabSz="457200">
              <a:lnSpc>
                <a:spcPct val="100000"/>
              </a:lnSpc>
              <a:spcBef>
                <a:spcPts val="400"/>
              </a:spcBef>
              <a:buClr>
                <a:srgbClr val="555B66"/>
              </a:buClr>
              <a:buFont typeface="Calibri"/>
              <a:buChar char="–"/>
            </a:pPr>
            <a:r>
              <a:rPr lang="en-US" sz="1800" b="0" u="none" strike="noStrike">
                <a:solidFill>
                  <a:srgbClr val="555B66"/>
                </a:solidFill>
                <a:effectLst/>
                <a:uFillTx/>
                <a:latin typeface="Calibri"/>
              </a:rPr>
              <a:t>Discounts for new customers (gyms); discounts for current customers (software upgrades)</a:t>
            </a:r>
            <a:endParaRPr lang="en-US" sz="1800" b="0" u="none" strike="noStrike">
              <a:solidFill>
                <a:srgbClr val="000000"/>
              </a:solidFill>
              <a:effectLst/>
              <a:uFillTx/>
              <a:latin typeface="Arial"/>
            </a:endParaRPr>
          </a:p>
          <a:p>
            <a:pPr marL="343080" indent="-343080" defTabSz="457200">
              <a:lnSpc>
                <a:spcPct val="100000"/>
              </a:lnSpc>
              <a:spcBef>
                <a:spcPts val="799"/>
              </a:spcBef>
              <a:buClr>
                <a:srgbClr val="0B2B4E"/>
              </a:buClr>
              <a:buFont typeface="Calibri"/>
              <a:buChar char="▪"/>
            </a:pPr>
            <a:r>
              <a:rPr lang="en-US" sz="2200" b="1" u="none" strike="noStrike">
                <a:solidFill>
                  <a:srgbClr val="0B2B4E"/>
                </a:solidFill>
                <a:effectLst/>
                <a:uFillTx/>
                <a:latin typeface="Calibri"/>
              </a:rPr>
              <a:t>By location</a:t>
            </a:r>
            <a:endParaRPr lang="en-US" sz="2200" b="0" u="none" strike="noStrike">
              <a:solidFill>
                <a:srgbClr val="000000"/>
              </a:solidFill>
              <a:effectLst/>
              <a:uFillTx/>
              <a:latin typeface="Arial"/>
            </a:endParaRPr>
          </a:p>
          <a:p>
            <a:pPr marL="685800" lvl="1" indent="-228600" defTabSz="457200">
              <a:lnSpc>
                <a:spcPct val="100000"/>
              </a:lnSpc>
              <a:spcBef>
                <a:spcPts val="400"/>
              </a:spcBef>
              <a:buClr>
                <a:srgbClr val="555B66"/>
              </a:buClr>
              <a:buFont typeface="Calibri"/>
              <a:buChar char="–"/>
            </a:pPr>
            <a:r>
              <a:rPr lang="en-US" sz="1800" b="0" u="none" strike="noStrike">
                <a:solidFill>
                  <a:srgbClr val="555B66"/>
                </a:solidFill>
                <a:effectLst/>
                <a:uFillTx/>
                <a:latin typeface="Calibri"/>
              </a:rPr>
              <a:t>Pharmaceuticals in the U.S. vs. emerging economies</a:t>
            </a:r>
            <a:endParaRPr lang="en-US" sz="1800" b="0" u="none" strike="noStrike">
              <a:solidFill>
                <a:srgbClr val="000000"/>
              </a:solidFill>
              <a:effectLst/>
              <a:uFillTx/>
              <a:latin typeface="Arial"/>
            </a:endParaRPr>
          </a:p>
          <a:p>
            <a:pPr marL="343080" indent="-343080" defTabSz="457200">
              <a:lnSpc>
                <a:spcPct val="100000"/>
              </a:lnSpc>
              <a:spcBef>
                <a:spcPts val="799"/>
              </a:spcBef>
              <a:buClr>
                <a:srgbClr val="0B2B4E"/>
              </a:buClr>
              <a:buFont typeface="Calibri"/>
              <a:buChar char="▪"/>
            </a:pPr>
            <a:r>
              <a:rPr lang="en-US" sz="2200" b="1" u="none" strike="noStrike">
                <a:solidFill>
                  <a:srgbClr val="0B2B4E"/>
                </a:solidFill>
                <a:effectLst/>
                <a:uFillTx/>
                <a:latin typeface="Calibri"/>
              </a:rPr>
              <a:t>Intertemporal</a:t>
            </a:r>
            <a:endParaRPr lang="en-US" sz="2200" b="0" u="none" strike="noStrike">
              <a:solidFill>
                <a:srgbClr val="000000"/>
              </a:solidFill>
              <a:effectLst/>
              <a:uFillTx/>
              <a:latin typeface="Arial"/>
            </a:endParaRPr>
          </a:p>
          <a:p>
            <a:pPr marL="685800" lvl="1" indent="-228600" defTabSz="457200">
              <a:lnSpc>
                <a:spcPct val="100000"/>
              </a:lnSpc>
              <a:spcBef>
                <a:spcPts val="400"/>
              </a:spcBef>
              <a:buClr>
                <a:srgbClr val="555B66"/>
              </a:buClr>
              <a:buFont typeface="Calibri"/>
              <a:buChar char="–"/>
            </a:pPr>
            <a:r>
              <a:rPr lang="en-US" sz="1800" b="0" u="none" strike="noStrike">
                <a:solidFill>
                  <a:srgbClr val="555B66"/>
                </a:solidFill>
                <a:effectLst/>
                <a:uFillTx/>
                <a:latin typeface="Calibri"/>
              </a:rPr>
              <a:t>Early adopters vs. mass market; search-history pricing; Black Friday</a:t>
            </a:r>
            <a:endParaRPr lang="en-US" sz="18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0">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40">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4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40">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40">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40">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4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1" name="Picture 1" descr="s28_0.png"/>
          <p:cNvPicPr/>
          <p:nvPr>
            <p:custDataLst>
              <p:tags r:id="rId1"/>
            </p:custDataLst>
          </p:nvPr>
        </p:nvPicPr>
        <p:blipFill>
          <a:blip r:embed="rId4"/>
          <a:stretch/>
        </p:blipFill>
        <p:spPr>
          <a:xfrm>
            <a:off x="1801440" y="255960"/>
            <a:ext cx="8595000" cy="6354720"/>
          </a:xfrm>
          <a:prstGeom prst="rect">
            <a:avLst/>
          </a:prstGeom>
          <a:noFill/>
          <a:ln w="0">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2" name="Picture 1" descr="s29_0.png"/>
          <p:cNvPicPr/>
          <p:nvPr>
            <p:custDataLst>
              <p:tags r:id="rId1"/>
            </p:custDataLst>
          </p:nvPr>
        </p:nvPicPr>
        <p:blipFill>
          <a:blip r:embed="rId4"/>
          <a:stretch/>
        </p:blipFill>
        <p:spPr>
          <a:xfrm>
            <a:off x="1801440" y="255960"/>
            <a:ext cx="8595000" cy="6354720"/>
          </a:xfrm>
          <a:prstGeom prst="rect">
            <a:avLst/>
          </a:prstGeom>
          <a:noFill/>
          <a:ln w="0">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3" name="Picture 1" descr="s30_0.png"/>
          <p:cNvPicPr/>
          <p:nvPr>
            <p:custDataLst>
              <p:tags r:id="rId1"/>
            </p:custDataLst>
          </p:nvPr>
        </p:nvPicPr>
        <p:blipFill>
          <a:blip r:embed="rId4"/>
          <a:stretch/>
        </p:blipFill>
        <p:spPr>
          <a:xfrm>
            <a:off x="1801440" y="255960"/>
            <a:ext cx="8595000" cy="6354720"/>
          </a:xfrm>
          <a:prstGeom prst="rect">
            <a:avLst/>
          </a:prstGeom>
          <a:noFill/>
          <a:ln w="0">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45"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Segment Pricing</a:t>
            </a:r>
            <a:endParaRPr lang="en-US" sz="1600" b="0" u="none" strike="noStrike">
              <a:solidFill>
                <a:srgbClr val="000000"/>
              </a:solidFill>
              <a:effectLst/>
              <a:uFillTx/>
              <a:latin typeface="Arial"/>
            </a:endParaRPr>
          </a:p>
        </p:txBody>
      </p:sp>
      <p:sp>
        <p:nvSpPr>
          <p:cNvPr id="446"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Price Segmentation and Elasticity</a:t>
            </a:r>
            <a:endParaRPr lang="en-US" sz="3200" b="0" u="none" strike="noStrike">
              <a:solidFill>
                <a:srgbClr val="000000"/>
              </a:solidFill>
              <a:effectLst/>
              <a:uFillTx/>
              <a:latin typeface="Arial"/>
            </a:endParaRPr>
          </a:p>
        </p:txBody>
      </p:sp>
      <p:sp>
        <p:nvSpPr>
          <p:cNvPr id="447"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48"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49"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50"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51"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452"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31</a:t>
            </a:r>
            <a:endParaRPr lang="en-US" sz="1200" b="0" u="none" strike="noStrike">
              <a:solidFill>
                <a:srgbClr val="000000"/>
              </a:solidFill>
              <a:effectLst/>
              <a:uFillTx/>
              <a:latin typeface="Arial"/>
            </a:endParaRPr>
          </a:p>
        </p:txBody>
      </p:sp>
      <p:sp>
        <p:nvSpPr>
          <p:cNvPr id="453" name="CLK00"/>
          <p:cNvSpPr/>
          <p:nvPr/>
        </p:nvSpPr>
        <p:spPr>
          <a:xfrm>
            <a:off x="640080" y="1783080"/>
            <a:ext cx="108810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300" b="0" u="none" strike="noStrike">
                <a:solidFill>
                  <a:srgbClr val="0B2B4E"/>
                </a:solidFill>
                <a:effectLst/>
                <a:uFillTx/>
                <a:latin typeface="Calibri"/>
              </a:rPr>
              <a:t>•  Assume marginal cost is </a:t>
            </a:r>
            <a:r>
              <a:rPr lang="en-US" sz="2300" b="0" u="none" strike="noStrike">
                <a:solidFill>
                  <a:srgbClr val="C0201B"/>
                </a:solidFill>
                <a:effectLst/>
                <a:uFillTx/>
                <a:latin typeface="Calibri"/>
              </a:rPr>
              <a:t>equal</a:t>
            </a:r>
            <a:r>
              <a:rPr lang="en-US" sz="2300" b="0" u="none" strike="noStrike">
                <a:solidFill>
                  <a:srgbClr val="0B2B4E"/>
                </a:solidFill>
                <a:effectLst/>
                <a:uFillTx/>
                <a:latin typeface="Calibri"/>
              </a:rPr>
              <a:t> across the two market segments</a:t>
            </a:r>
            <a:endParaRPr lang="en-US" sz="2300" b="0" u="none" strike="noStrike">
              <a:solidFill>
                <a:srgbClr val="000000"/>
              </a:solidFill>
              <a:effectLst/>
              <a:uFillTx/>
              <a:latin typeface="Arial"/>
            </a:endParaRPr>
          </a:p>
        </p:txBody>
      </p:sp>
      <p:sp>
        <p:nvSpPr>
          <p:cNvPr id="454" name="CLK01"/>
          <p:cNvSpPr/>
          <p:nvPr/>
        </p:nvSpPr>
        <p:spPr>
          <a:xfrm>
            <a:off x="640080" y="2468880"/>
            <a:ext cx="35658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300" b="0" u="none" strike="noStrike">
                <a:solidFill>
                  <a:srgbClr val="0B2B4E"/>
                </a:solidFill>
                <a:effectLst/>
                <a:uFillTx/>
                <a:latin typeface="Calibri"/>
              </a:rPr>
              <a:t>•  Profit maximization:</a:t>
            </a:r>
            <a:endParaRPr lang="en-US" sz="2300" b="0" u="none" strike="noStrike">
              <a:solidFill>
                <a:srgbClr val="000000"/>
              </a:solidFill>
              <a:effectLst/>
              <a:uFillTx/>
              <a:latin typeface="Arial"/>
            </a:endParaRPr>
          </a:p>
        </p:txBody>
      </p:sp>
      <p:sp>
        <p:nvSpPr>
          <p:cNvPr id="455" name="CLK01"/>
          <p:cNvSpPr/>
          <p:nvPr/>
        </p:nvSpPr>
        <p:spPr>
          <a:xfrm>
            <a:off x="4160520" y="2468880"/>
            <a:ext cx="5943240" cy="4568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2300" b="0" u="none" strike="noStrike">
                <a:solidFill>
                  <a:srgbClr val="C0201B"/>
                </a:solidFill>
                <a:effectLst/>
                <a:uFillTx/>
                <a:latin typeface="Cambria Math"/>
              </a:rPr>
              <a:t>MR</a:t>
            </a:r>
            <a:r>
              <a:rPr lang="en-US" sz="1600" b="0" u="none" strike="noStrike" baseline="-25000">
                <a:solidFill>
                  <a:srgbClr val="C0201B"/>
                </a:solidFill>
                <a:effectLst/>
                <a:uFillTx/>
                <a:latin typeface="Cambria Math"/>
              </a:rPr>
              <a:t>a</a:t>
            </a:r>
            <a:r>
              <a:rPr lang="en-US" sz="2300" b="0" u="none" strike="noStrike">
                <a:solidFill>
                  <a:srgbClr val="C0201B"/>
                </a:solidFill>
                <a:effectLst/>
                <a:uFillTx/>
                <a:latin typeface="Cambria Math"/>
              </a:rPr>
              <a:t> = MR</a:t>
            </a:r>
            <a:r>
              <a:rPr lang="en-US" sz="1600" b="0" u="none" strike="noStrike" baseline="-25000">
                <a:solidFill>
                  <a:srgbClr val="C0201B"/>
                </a:solidFill>
                <a:effectLst/>
                <a:uFillTx/>
                <a:latin typeface="Cambria Math"/>
              </a:rPr>
              <a:t>b</a:t>
            </a:r>
            <a:r>
              <a:rPr lang="en-US" sz="2300" b="0" u="none" strike="noStrike">
                <a:solidFill>
                  <a:srgbClr val="C0201B"/>
                </a:solidFill>
                <a:effectLst/>
                <a:uFillTx/>
                <a:latin typeface="Cambria Math"/>
              </a:rPr>
              <a:t>  (= MC)</a:t>
            </a:r>
            <a:endParaRPr lang="en-US" sz="2300" b="0" u="none" strike="noStrike">
              <a:solidFill>
                <a:srgbClr val="000000"/>
              </a:solidFill>
              <a:effectLst/>
              <a:uFillTx/>
              <a:latin typeface="Arial"/>
            </a:endParaRPr>
          </a:p>
        </p:txBody>
      </p:sp>
      <p:sp>
        <p:nvSpPr>
          <p:cNvPr id="456" name="CLK02"/>
          <p:cNvSpPr/>
          <p:nvPr/>
        </p:nvSpPr>
        <p:spPr>
          <a:xfrm>
            <a:off x="640080" y="3154680"/>
            <a:ext cx="10881000" cy="4568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2300" b="0" u="none" strike="noStrike">
                <a:solidFill>
                  <a:srgbClr val="0B2B4E"/>
                </a:solidFill>
                <a:effectLst/>
                <a:uFillTx/>
                <a:latin typeface="Cambria Math"/>
              </a:rPr>
              <a:t>•  If  MR</a:t>
            </a:r>
            <a:r>
              <a:rPr lang="en-US" sz="1600" b="0" u="none" strike="noStrike" baseline="-25000">
                <a:solidFill>
                  <a:srgbClr val="0B2B4E"/>
                </a:solidFill>
                <a:effectLst/>
                <a:uFillTx/>
                <a:latin typeface="Cambria Math"/>
              </a:rPr>
              <a:t>a</a:t>
            </a:r>
            <a:r>
              <a:rPr lang="en-US" sz="2300" b="0" u="none" strike="noStrike">
                <a:solidFill>
                  <a:srgbClr val="0B2B4E"/>
                </a:solidFill>
                <a:effectLst/>
                <a:uFillTx/>
                <a:latin typeface="Cambria Math"/>
              </a:rPr>
              <a:t> ≠ MR</a:t>
            </a:r>
            <a:r>
              <a:rPr lang="en-US" sz="1600" b="0" u="none" strike="noStrike" baseline="-25000">
                <a:solidFill>
                  <a:srgbClr val="0B2B4E"/>
                </a:solidFill>
                <a:effectLst/>
                <a:uFillTx/>
                <a:latin typeface="Cambria Math"/>
              </a:rPr>
              <a:t>b</a:t>
            </a:r>
            <a:r>
              <a:rPr lang="en-US" sz="2300" b="0" u="none" strike="noStrike">
                <a:solidFill>
                  <a:srgbClr val="0B2B4E"/>
                </a:solidFill>
                <a:effectLst/>
                <a:uFillTx/>
                <a:latin typeface="Cambria Math"/>
              </a:rPr>
              <a:t> , uniform pricing (P</a:t>
            </a:r>
            <a:r>
              <a:rPr lang="en-US" sz="1600" b="0" u="none" strike="noStrike" baseline="-25000">
                <a:solidFill>
                  <a:srgbClr val="0B2B4E"/>
                </a:solidFill>
                <a:effectLst/>
                <a:uFillTx/>
                <a:latin typeface="Cambria Math"/>
              </a:rPr>
              <a:t>a</a:t>
            </a:r>
            <a:r>
              <a:rPr lang="en-US" sz="2300" b="0" u="none" strike="noStrike">
                <a:solidFill>
                  <a:srgbClr val="0B2B4E"/>
                </a:solidFill>
                <a:effectLst/>
                <a:uFillTx/>
                <a:latin typeface="Cambria Math"/>
              </a:rPr>
              <a:t> = P</a:t>
            </a:r>
            <a:r>
              <a:rPr lang="en-US" sz="1600" b="0" u="none" strike="noStrike" baseline="-25000">
                <a:solidFill>
                  <a:srgbClr val="0B2B4E"/>
                </a:solidFill>
                <a:effectLst/>
                <a:uFillTx/>
                <a:latin typeface="Cambria Math"/>
              </a:rPr>
              <a:t>b</a:t>
            </a:r>
            <a:r>
              <a:rPr lang="en-US" sz="2300" b="0" u="none" strike="noStrike">
                <a:solidFill>
                  <a:srgbClr val="0B2B4E"/>
                </a:solidFill>
                <a:effectLst/>
                <a:uFillTx/>
                <a:latin typeface="Cambria Math"/>
              </a:rPr>
              <a:t>) won’t be optimal</a:t>
            </a:r>
            <a:endParaRPr lang="en-US" sz="2300" b="0" u="none" strike="noStrike">
              <a:solidFill>
                <a:srgbClr val="000000"/>
              </a:solidFill>
              <a:effectLst/>
              <a:uFillTx/>
              <a:latin typeface="Arial"/>
            </a:endParaRPr>
          </a:p>
        </p:txBody>
      </p:sp>
      <p:sp>
        <p:nvSpPr>
          <p:cNvPr id="457" name="CLK03"/>
          <p:cNvSpPr/>
          <p:nvPr/>
        </p:nvSpPr>
        <p:spPr>
          <a:xfrm>
            <a:off x="914400" y="4892040"/>
            <a:ext cx="10332360" cy="1051200"/>
          </a:xfrm>
          <a:prstGeom prst="rect">
            <a:avLst/>
          </a:prstGeom>
          <a:solidFill>
            <a:srgbClr val="FFFFFF"/>
          </a:solidFill>
          <a:ln w="31750">
            <a:solidFill>
              <a:srgbClr val="C0201B"/>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58" name="CLK03"/>
          <p:cNvSpPr/>
          <p:nvPr/>
        </p:nvSpPr>
        <p:spPr>
          <a:xfrm>
            <a:off x="914400" y="4892040"/>
            <a:ext cx="10332360" cy="1051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2500" b="1" u="none" strike="noStrike">
                <a:solidFill>
                  <a:srgbClr val="0B2B4E"/>
                </a:solidFill>
                <a:effectLst/>
                <a:uFillTx/>
                <a:latin typeface="Calibri"/>
              </a:rPr>
              <a:t>RULE:  charge higher prices in </a:t>
            </a:r>
            <a:r>
              <a:rPr lang="en-US" sz="2500" b="1" i="1" u="none" strike="noStrike">
                <a:solidFill>
                  <a:srgbClr val="0B2B4E"/>
                </a:solidFill>
                <a:effectLst/>
                <a:uFillTx/>
                <a:latin typeface="Calibri"/>
              </a:rPr>
              <a:t>less</a:t>
            </a:r>
            <a:r>
              <a:rPr lang="en-US" sz="2500" b="1" u="none" strike="noStrike">
                <a:solidFill>
                  <a:srgbClr val="0B2B4E"/>
                </a:solidFill>
                <a:effectLst/>
                <a:uFillTx/>
                <a:latin typeface="Calibri"/>
              </a:rPr>
              <a:t> elastic market</a:t>
            </a:r>
            <a:endParaRPr lang="en-US" sz="25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5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5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5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9" name="Picture 1" descr="bmw_faded.jpg"/>
          <p:cNvPicPr/>
          <p:nvPr/>
        </p:nvPicPr>
        <p:blipFill>
          <a:blip r:embed="rId2"/>
          <a:stretch/>
        </p:blipFill>
        <p:spPr>
          <a:xfrm>
            <a:off x="0" y="0"/>
            <a:ext cx="12191400" cy="6857640"/>
          </a:xfrm>
          <a:prstGeom prst="rect">
            <a:avLst/>
          </a:prstGeom>
          <a:noFill/>
          <a:ln w="0">
            <a:noFill/>
          </a:ln>
        </p:spPr>
      </p:pic>
      <p:sp>
        <p:nvSpPr>
          <p:cNvPr id="460" name="Rectangle 2"/>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61" name="TextBox 3"/>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Segment Pricing</a:t>
            </a:r>
            <a:endParaRPr lang="en-US" sz="1600" b="0" u="none" strike="noStrike">
              <a:solidFill>
                <a:srgbClr val="000000"/>
              </a:solidFill>
              <a:effectLst/>
              <a:uFillTx/>
              <a:latin typeface="Arial"/>
            </a:endParaRPr>
          </a:p>
        </p:txBody>
      </p:sp>
      <p:sp>
        <p:nvSpPr>
          <p:cNvPr id="462" name="TextBox 4"/>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BMW and Segmentation</a:t>
            </a:r>
            <a:endParaRPr lang="en-US" sz="3200" b="0" u="none" strike="noStrike">
              <a:solidFill>
                <a:srgbClr val="000000"/>
              </a:solidFill>
              <a:effectLst/>
              <a:uFillTx/>
              <a:latin typeface="Arial"/>
            </a:endParaRPr>
          </a:p>
        </p:txBody>
      </p:sp>
      <p:sp>
        <p:nvSpPr>
          <p:cNvPr id="463" name="Rectangle 5"/>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64" name="Rectangle 6"/>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65" name="Rectangle 7"/>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66" name="Rectangle 8"/>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67" name="TextBox 9"/>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468" name="TextBox 10"/>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32</a:t>
            </a:r>
            <a:endParaRPr lang="en-US" sz="1200" b="0" u="none" strike="noStrike">
              <a:solidFill>
                <a:srgbClr val="000000"/>
              </a:solidFill>
              <a:effectLst/>
              <a:uFillTx/>
              <a:latin typeface="Arial"/>
            </a:endParaRPr>
          </a:p>
        </p:txBody>
      </p:sp>
      <p:sp>
        <p:nvSpPr>
          <p:cNvPr id="469" name="TextBox 11"/>
          <p:cNvSpPr/>
          <p:nvPr/>
        </p:nvSpPr>
        <p:spPr>
          <a:xfrm>
            <a:off x="822960" y="1828800"/>
            <a:ext cx="10515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200" b="0" u="none" strike="noStrike">
                <a:solidFill>
                  <a:srgbClr val="0B2B4E"/>
                </a:solidFill>
                <a:effectLst/>
                <a:uFillTx/>
                <a:latin typeface="Calibri"/>
              </a:rPr>
              <a:t>•  </a:t>
            </a:r>
            <a:r>
              <a:rPr lang="en-US" sz="2200" b="0" i="1" u="none" strike="noStrike">
                <a:solidFill>
                  <a:srgbClr val="0B2B4E"/>
                </a:solidFill>
                <a:effectLst/>
                <a:uFillTx/>
                <a:latin typeface="Calibri"/>
              </a:rPr>
              <a:t>Q</a:t>
            </a:r>
            <a:r>
              <a:rPr lang="en-US" sz="2200" b="0" u="none" strike="noStrike">
                <a:solidFill>
                  <a:srgbClr val="0B2B4E"/>
                </a:solidFill>
                <a:effectLst/>
                <a:uFillTx/>
                <a:latin typeface="Calibri"/>
              </a:rPr>
              <a:t> : number of cars (in 1,000)</a:t>
            </a:r>
            <a:endParaRPr lang="en-US" sz="2200" b="0" u="none" strike="noStrike">
              <a:solidFill>
                <a:srgbClr val="000000"/>
              </a:solidFill>
              <a:effectLst/>
              <a:uFillTx/>
              <a:latin typeface="Arial"/>
            </a:endParaRPr>
          </a:p>
        </p:txBody>
      </p:sp>
      <p:sp>
        <p:nvSpPr>
          <p:cNvPr id="470" name="TextBox 12"/>
          <p:cNvSpPr/>
          <p:nvPr/>
        </p:nvSpPr>
        <p:spPr>
          <a:xfrm>
            <a:off x="822960" y="2395800"/>
            <a:ext cx="64004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200" b="0" u="none" strike="noStrike">
                <a:solidFill>
                  <a:srgbClr val="0B2B4E"/>
                </a:solidFill>
                <a:effectLst/>
                <a:uFillTx/>
                <a:latin typeface="Calibri"/>
              </a:rPr>
              <a:t>•  (Inverse) demand in the US:</a:t>
            </a:r>
            <a:endParaRPr lang="en-US" sz="2200" b="0" u="none" strike="noStrike">
              <a:solidFill>
                <a:srgbClr val="000000"/>
              </a:solidFill>
              <a:effectLst/>
              <a:uFillTx/>
              <a:latin typeface="Arial"/>
            </a:endParaRPr>
          </a:p>
        </p:txBody>
      </p:sp>
      <p:sp>
        <p:nvSpPr>
          <p:cNvPr id="471" name="TextBox 13"/>
          <p:cNvSpPr/>
          <p:nvPr/>
        </p:nvSpPr>
        <p:spPr>
          <a:xfrm>
            <a:off x="4480560" y="2907720"/>
            <a:ext cx="4571640" cy="4568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457200">
              <a:lnSpc>
                <a:spcPct val="100000"/>
              </a:lnSpc>
            </a:pPr>
            <a:r>
              <a:rPr lang="en-US" sz="2400" b="0" i="1" u="none" strike="noStrike">
                <a:solidFill>
                  <a:srgbClr val="0B2B4E"/>
                </a:solidFill>
                <a:effectLst/>
                <a:uFillTx/>
                <a:latin typeface="Cambria Math"/>
              </a:rPr>
              <a:t>P = 160 − 4Q</a:t>
            </a:r>
            <a:endParaRPr lang="en-US" sz="2400" b="0" u="none" strike="noStrike">
              <a:solidFill>
                <a:srgbClr val="000000"/>
              </a:solidFill>
              <a:effectLst/>
              <a:uFillTx/>
              <a:latin typeface="Arial"/>
            </a:endParaRPr>
          </a:p>
        </p:txBody>
      </p:sp>
      <p:sp>
        <p:nvSpPr>
          <p:cNvPr id="472" name="TextBox 14"/>
          <p:cNvSpPr/>
          <p:nvPr/>
        </p:nvSpPr>
        <p:spPr>
          <a:xfrm>
            <a:off x="822960" y="3474720"/>
            <a:ext cx="64004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200" b="0" u="none" strike="noStrike">
                <a:solidFill>
                  <a:srgbClr val="0B2B4E"/>
                </a:solidFill>
                <a:effectLst/>
                <a:uFillTx/>
                <a:latin typeface="Calibri"/>
              </a:rPr>
              <a:t>•  (Inverse) demand in Germany:</a:t>
            </a:r>
            <a:endParaRPr lang="en-US" sz="2200" b="0" u="none" strike="noStrike">
              <a:solidFill>
                <a:srgbClr val="000000"/>
              </a:solidFill>
              <a:effectLst/>
              <a:uFillTx/>
              <a:latin typeface="Arial"/>
            </a:endParaRPr>
          </a:p>
        </p:txBody>
      </p:sp>
      <p:sp>
        <p:nvSpPr>
          <p:cNvPr id="473" name="TextBox 15"/>
          <p:cNvSpPr/>
          <p:nvPr/>
        </p:nvSpPr>
        <p:spPr>
          <a:xfrm>
            <a:off x="4480560" y="3986640"/>
            <a:ext cx="4571640" cy="4568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457200">
              <a:lnSpc>
                <a:spcPct val="100000"/>
              </a:lnSpc>
            </a:pPr>
            <a:r>
              <a:rPr lang="en-US" sz="2400" b="0" i="1" u="none" strike="noStrike">
                <a:solidFill>
                  <a:srgbClr val="0B2B4E"/>
                </a:solidFill>
                <a:effectLst/>
                <a:uFillTx/>
                <a:latin typeface="Cambria Math"/>
              </a:rPr>
              <a:t>P = 140 − 5Q</a:t>
            </a:r>
            <a:endParaRPr lang="en-US" sz="2400" b="0" u="none" strike="noStrike">
              <a:solidFill>
                <a:srgbClr val="000000"/>
              </a:solidFill>
              <a:effectLst/>
              <a:uFillTx/>
              <a:latin typeface="Arial"/>
            </a:endParaRPr>
          </a:p>
        </p:txBody>
      </p:sp>
      <p:sp>
        <p:nvSpPr>
          <p:cNvPr id="474" name="TextBox 16"/>
          <p:cNvSpPr/>
          <p:nvPr/>
        </p:nvSpPr>
        <p:spPr>
          <a:xfrm>
            <a:off x="822960" y="4553640"/>
            <a:ext cx="100580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200" b="0" u="none" strike="noStrike">
                <a:solidFill>
                  <a:srgbClr val="0B2B4E"/>
                </a:solidFill>
                <a:effectLst/>
                <a:uFillTx/>
                <a:latin typeface="Calibri"/>
              </a:rPr>
              <a:t>•  </a:t>
            </a:r>
            <a:r>
              <a:rPr lang="en-US" sz="2200" b="1" i="1" u="none" strike="noStrike">
                <a:solidFill>
                  <a:srgbClr val="0B2B4E"/>
                </a:solidFill>
                <a:effectLst/>
                <a:uFillTx/>
                <a:latin typeface="Calibri"/>
              </a:rPr>
              <a:t>MC = 40</a:t>
            </a:r>
            <a:r>
              <a:rPr lang="en-US" sz="2200" b="0" u="none" strike="noStrike">
                <a:solidFill>
                  <a:srgbClr val="0B2B4E"/>
                </a:solidFill>
                <a:effectLst/>
                <a:uFillTx/>
                <a:latin typeface="Calibri"/>
              </a:rPr>
              <a:t> in both markets   </a:t>
            </a:r>
            <a:r>
              <a:rPr lang="en-US" sz="1500" b="0" u="none" strike="noStrike">
                <a:solidFill>
                  <a:srgbClr val="0B2B4E"/>
                </a:solidFill>
                <a:effectLst/>
                <a:uFillTx/>
                <a:latin typeface="Calibri"/>
              </a:rPr>
              <a:t>[in $1,000]</a:t>
            </a:r>
            <a:endParaRPr lang="en-US" sz="1500" b="0" u="none" strike="noStrike">
              <a:solidFill>
                <a:srgbClr val="000000"/>
              </a:solidFill>
              <a:effectLst/>
              <a:uFillTx/>
              <a:latin typeface="Arial"/>
            </a:endParaRPr>
          </a:p>
        </p:txBody>
      </p:sp>
      <p:sp>
        <p:nvSpPr>
          <p:cNvPr id="475" name="TextBox 17"/>
          <p:cNvSpPr/>
          <p:nvPr/>
        </p:nvSpPr>
        <p:spPr>
          <a:xfrm>
            <a:off x="822960" y="5212080"/>
            <a:ext cx="1051524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200" b="0" u="none" strike="noStrike">
                <a:solidFill>
                  <a:srgbClr val="0B2B4E"/>
                </a:solidFill>
                <a:effectLst/>
                <a:uFillTx/>
                <a:latin typeface="Calibri"/>
              </a:rPr>
              <a:t>•  What is the profit-maximizing price in the US and in Germany?</a:t>
            </a:r>
            <a:endParaRPr lang="en-US" sz="2200" b="0" u="none" strike="noStrike">
              <a:solidFill>
                <a:srgbClr val="000000"/>
              </a:solidFill>
              <a:effectLst/>
              <a:uFillTx/>
              <a:latin typeface="Arial"/>
            </a:endParaRPr>
          </a:p>
        </p:txBody>
      </p:sp>
      <p:sp>
        <p:nvSpPr>
          <p:cNvPr id="476" name="Parallelogram 18"/>
          <p:cNvSpPr/>
          <p:nvPr/>
        </p:nvSpPr>
        <p:spPr>
          <a:xfrm>
            <a:off x="9082800" y="5943600"/>
            <a:ext cx="2742840" cy="548280"/>
          </a:xfrm>
          <a:prstGeom prst="parallelogram">
            <a:avLst>
              <a:gd name="adj" fmla="val 25000"/>
            </a:avLst>
          </a:prstGeom>
          <a:solidFill>
            <a:srgbClr val="E0A21E"/>
          </a:solidFill>
          <a:ln>
            <a:noFill/>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r>
              <a:rPr lang="en-US" sz="1500" b="1" u="none" strike="noStrike">
                <a:solidFill>
                  <a:srgbClr val="0B2B4E"/>
                </a:solidFill>
                <a:effectLst/>
                <a:uFillTx/>
                <a:latin typeface="Calibri"/>
              </a:rPr>
              <a:t>Group Exercise</a:t>
            </a:r>
            <a:endParaRPr lang="en-US" sz="1500" b="0" u="none" strike="noStrike">
              <a:solidFill>
                <a:srgbClr val="000000"/>
              </a:solidFill>
              <a:effectLst/>
              <a:uFillTx/>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78"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Segment Pricing</a:t>
            </a:r>
            <a:endParaRPr lang="en-US" sz="1600" b="0" u="none" strike="noStrike">
              <a:solidFill>
                <a:srgbClr val="000000"/>
              </a:solidFill>
              <a:effectLst/>
              <a:uFillTx/>
              <a:latin typeface="Arial"/>
            </a:endParaRPr>
          </a:p>
        </p:txBody>
      </p:sp>
      <p:sp>
        <p:nvSpPr>
          <p:cNvPr id="479"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Profit-Maximization in the U.S. Market</a:t>
            </a:r>
            <a:endParaRPr lang="en-US" sz="3200" b="0" u="none" strike="noStrike">
              <a:solidFill>
                <a:srgbClr val="000000"/>
              </a:solidFill>
              <a:effectLst/>
              <a:uFillTx/>
              <a:latin typeface="Arial"/>
            </a:endParaRPr>
          </a:p>
        </p:txBody>
      </p:sp>
      <p:sp>
        <p:nvSpPr>
          <p:cNvPr id="480"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81"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82"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83"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84"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485"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33</a:t>
            </a:r>
            <a:endParaRPr lang="en-US" sz="1200" b="0" u="none" strike="noStrike">
              <a:solidFill>
                <a:srgbClr val="000000"/>
              </a:solidFill>
              <a:effectLst/>
              <a:uFillTx/>
              <a:latin typeface="Arial"/>
            </a:endParaRPr>
          </a:p>
        </p:txBody>
      </p:sp>
      <p:sp>
        <p:nvSpPr>
          <p:cNvPr id="486" name="TextBox 10"/>
          <p:cNvSpPr/>
          <p:nvPr/>
        </p:nvSpPr>
        <p:spPr>
          <a:xfrm>
            <a:off x="640080" y="1417320"/>
            <a:ext cx="73148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200" b="1" u="none" strike="noStrike">
                <a:solidFill>
                  <a:srgbClr val="0B2B4E"/>
                </a:solidFill>
                <a:effectLst/>
                <a:uFillTx/>
                <a:latin typeface="Calibri"/>
              </a:rPr>
              <a:t>Compute MR:</a:t>
            </a:r>
            <a:endParaRPr lang="en-US" sz="2200" b="0" u="none" strike="noStrike">
              <a:solidFill>
                <a:srgbClr val="000000"/>
              </a:solidFill>
              <a:effectLst/>
              <a:uFillTx/>
              <a:latin typeface="Arial"/>
            </a:endParaRPr>
          </a:p>
        </p:txBody>
      </p:sp>
      <p:sp>
        <p:nvSpPr>
          <p:cNvPr id="487" name="CLK00"/>
          <p:cNvSpPr/>
          <p:nvPr/>
        </p:nvSpPr>
        <p:spPr>
          <a:xfrm>
            <a:off x="1280160" y="1874520"/>
            <a:ext cx="10058040" cy="4111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2100" b="0" u="none" strike="noStrike">
                <a:solidFill>
                  <a:srgbClr val="0B2B4E"/>
                </a:solidFill>
                <a:effectLst/>
                <a:uFillTx/>
                <a:latin typeface="Cambria Math"/>
              </a:rPr>
              <a:t>P</a:t>
            </a:r>
            <a:r>
              <a:rPr lang="en-US" sz="1300" b="0" u="none" strike="noStrike" baseline="-25000">
                <a:solidFill>
                  <a:srgbClr val="0B2B4E"/>
                </a:solidFill>
                <a:effectLst/>
                <a:uFillTx/>
                <a:latin typeface="Cambria Math"/>
              </a:rPr>
              <a:t>US</a:t>
            </a:r>
            <a:r>
              <a:rPr lang="en-US" sz="2100" b="0" u="none" strike="noStrike">
                <a:solidFill>
                  <a:srgbClr val="0B2B4E"/>
                </a:solidFill>
                <a:effectLst/>
                <a:uFillTx/>
                <a:latin typeface="Cambria Math"/>
              </a:rPr>
              <a:t> = 160 − 4Q</a:t>
            </a:r>
            <a:r>
              <a:rPr lang="en-US" sz="1300" b="0" u="none" strike="noStrike" baseline="-25000">
                <a:solidFill>
                  <a:srgbClr val="0B2B4E"/>
                </a:solidFill>
                <a:effectLst/>
                <a:uFillTx/>
                <a:latin typeface="Cambria Math"/>
              </a:rPr>
              <a:t>US</a:t>
            </a:r>
            <a:endParaRPr lang="en-US" sz="1300" b="0" u="none" strike="noStrike">
              <a:solidFill>
                <a:srgbClr val="000000"/>
              </a:solidFill>
              <a:effectLst/>
              <a:uFillTx/>
              <a:latin typeface="Arial"/>
            </a:endParaRPr>
          </a:p>
        </p:txBody>
      </p:sp>
      <p:sp>
        <p:nvSpPr>
          <p:cNvPr id="488" name="CLK00"/>
          <p:cNvSpPr/>
          <p:nvPr/>
        </p:nvSpPr>
        <p:spPr>
          <a:xfrm>
            <a:off x="1280160" y="2331720"/>
            <a:ext cx="10058040" cy="4111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2100" b="0" u="none" strike="noStrike">
                <a:solidFill>
                  <a:srgbClr val="0B2B4E"/>
                </a:solidFill>
                <a:effectLst/>
                <a:uFillTx/>
                <a:latin typeface="Cambria Math"/>
              </a:rPr>
              <a:t>TR</a:t>
            </a:r>
            <a:r>
              <a:rPr lang="en-US" sz="1300" b="0" u="none" strike="noStrike" baseline="-25000">
                <a:solidFill>
                  <a:srgbClr val="0B2B4E"/>
                </a:solidFill>
                <a:effectLst/>
                <a:uFillTx/>
                <a:latin typeface="Cambria Math"/>
              </a:rPr>
              <a:t>US</a:t>
            </a:r>
            <a:r>
              <a:rPr lang="en-US" sz="2100" b="0" u="none" strike="noStrike">
                <a:solidFill>
                  <a:srgbClr val="0B2B4E"/>
                </a:solidFill>
                <a:effectLst/>
                <a:uFillTx/>
                <a:latin typeface="Cambria Math"/>
              </a:rPr>
              <a:t> = P</a:t>
            </a:r>
            <a:r>
              <a:rPr lang="en-US" sz="1300" b="0" u="none" strike="noStrike" baseline="-25000">
                <a:solidFill>
                  <a:srgbClr val="0B2B4E"/>
                </a:solidFill>
                <a:effectLst/>
                <a:uFillTx/>
                <a:latin typeface="Cambria Math"/>
              </a:rPr>
              <a:t>US</a:t>
            </a:r>
            <a:r>
              <a:rPr lang="en-US" sz="2100" b="0" u="none" strike="noStrike">
                <a:solidFill>
                  <a:srgbClr val="0B2B4E"/>
                </a:solidFill>
                <a:effectLst/>
                <a:uFillTx/>
                <a:latin typeface="Cambria Math"/>
              </a:rPr>
              <a:t>·Q</a:t>
            </a:r>
            <a:r>
              <a:rPr lang="en-US" sz="1300" b="0" u="none" strike="noStrike" baseline="-25000">
                <a:solidFill>
                  <a:srgbClr val="0B2B4E"/>
                </a:solidFill>
                <a:effectLst/>
                <a:uFillTx/>
                <a:latin typeface="Cambria Math"/>
              </a:rPr>
              <a:t>US</a:t>
            </a:r>
            <a:r>
              <a:rPr lang="en-US" sz="2100" b="0" u="none" strike="noStrike">
                <a:solidFill>
                  <a:srgbClr val="0B2B4E"/>
                </a:solidFill>
                <a:effectLst/>
                <a:uFillTx/>
                <a:latin typeface="Cambria Math"/>
              </a:rPr>
              <a:t> = 160·Q</a:t>
            </a:r>
            <a:r>
              <a:rPr lang="en-US" sz="1300" b="0" u="none" strike="noStrike" baseline="-25000">
                <a:solidFill>
                  <a:srgbClr val="0B2B4E"/>
                </a:solidFill>
                <a:effectLst/>
                <a:uFillTx/>
                <a:latin typeface="Cambria Math"/>
              </a:rPr>
              <a:t>US</a:t>
            </a:r>
            <a:r>
              <a:rPr lang="en-US" sz="2100" b="0" u="none" strike="noStrike">
                <a:solidFill>
                  <a:srgbClr val="0B2B4E"/>
                </a:solidFill>
                <a:effectLst/>
                <a:uFillTx/>
                <a:latin typeface="Cambria Math"/>
              </a:rPr>
              <a:t> − 4Q</a:t>
            </a:r>
            <a:r>
              <a:rPr lang="en-US" sz="1300" b="0" u="none" strike="noStrike" baseline="-25000">
                <a:solidFill>
                  <a:srgbClr val="0B2B4E"/>
                </a:solidFill>
                <a:effectLst/>
                <a:uFillTx/>
                <a:latin typeface="Cambria Math"/>
              </a:rPr>
              <a:t>US</a:t>
            </a:r>
            <a:r>
              <a:rPr lang="en-US" sz="1300" b="0" u="none" strike="noStrike" baseline="30000">
                <a:solidFill>
                  <a:srgbClr val="0B2B4E"/>
                </a:solidFill>
                <a:effectLst/>
                <a:uFillTx/>
                <a:latin typeface="Cambria Math"/>
              </a:rPr>
              <a:t>²</a:t>
            </a:r>
            <a:endParaRPr lang="en-US" sz="1300" b="0" u="none" strike="noStrike">
              <a:solidFill>
                <a:srgbClr val="000000"/>
              </a:solidFill>
              <a:effectLst/>
              <a:uFillTx/>
              <a:latin typeface="Arial"/>
            </a:endParaRPr>
          </a:p>
        </p:txBody>
      </p:sp>
      <p:sp>
        <p:nvSpPr>
          <p:cNvPr id="489" name="CLK00"/>
          <p:cNvSpPr/>
          <p:nvPr/>
        </p:nvSpPr>
        <p:spPr>
          <a:xfrm>
            <a:off x="1280160" y="2788920"/>
            <a:ext cx="10058040" cy="4111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2100" b="0" u="none" strike="noStrike">
                <a:solidFill>
                  <a:srgbClr val="0B2B4E"/>
                </a:solidFill>
                <a:effectLst/>
                <a:uFillTx/>
                <a:latin typeface="Cambria Math"/>
              </a:rPr>
              <a:t>MR</a:t>
            </a:r>
            <a:r>
              <a:rPr lang="en-US" sz="1300" b="0" u="none" strike="noStrike" baseline="-25000">
                <a:solidFill>
                  <a:srgbClr val="0B2B4E"/>
                </a:solidFill>
                <a:effectLst/>
                <a:uFillTx/>
                <a:latin typeface="Cambria Math"/>
              </a:rPr>
              <a:t>US</a:t>
            </a:r>
            <a:r>
              <a:rPr lang="en-US" sz="2100" b="0" u="none" strike="noStrike">
                <a:solidFill>
                  <a:srgbClr val="0B2B4E"/>
                </a:solidFill>
                <a:effectLst/>
                <a:uFillTx/>
                <a:latin typeface="Cambria Math"/>
              </a:rPr>
              <a:t> = dTR</a:t>
            </a:r>
            <a:r>
              <a:rPr lang="en-US" sz="1300" b="0" u="none" strike="noStrike" baseline="-25000">
                <a:solidFill>
                  <a:srgbClr val="0B2B4E"/>
                </a:solidFill>
                <a:effectLst/>
                <a:uFillTx/>
                <a:latin typeface="Cambria Math"/>
              </a:rPr>
              <a:t>US</a:t>
            </a:r>
            <a:r>
              <a:rPr lang="en-US" sz="2100" b="0" u="none" strike="noStrike">
                <a:solidFill>
                  <a:srgbClr val="0B2B4E"/>
                </a:solidFill>
                <a:effectLst/>
                <a:uFillTx/>
                <a:latin typeface="Cambria Math"/>
              </a:rPr>
              <a:t>/dQ</a:t>
            </a:r>
            <a:r>
              <a:rPr lang="en-US" sz="1300" b="0" u="none" strike="noStrike" baseline="-25000">
                <a:solidFill>
                  <a:srgbClr val="0B2B4E"/>
                </a:solidFill>
                <a:effectLst/>
                <a:uFillTx/>
                <a:latin typeface="Cambria Math"/>
              </a:rPr>
              <a:t>US</a:t>
            </a:r>
            <a:r>
              <a:rPr lang="en-US" sz="2100" b="0" u="none" strike="noStrike">
                <a:solidFill>
                  <a:srgbClr val="0B2B4E"/>
                </a:solidFill>
                <a:effectLst/>
                <a:uFillTx/>
                <a:latin typeface="Cambria Math"/>
              </a:rPr>
              <a:t> = 160 − 8Q</a:t>
            </a:r>
            <a:r>
              <a:rPr lang="en-US" sz="1300" b="0" u="none" strike="noStrike" baseline="-25000">
                <a:solidFill>
                  <a:srgbClr val="0B2B4E"/>
                </a:solidFill>
                <a:effectLst/>
                <a:uFillTx/>
                <a:latin typeface="Cambria Math"/>
              </a:rPr>
              <a:t>US</a:t>
            </a:r>
            <a:endParaRPr lang="en-US" sz="1300" b="0" u="none" strike="noStrike">
              <a:solidFill>
                <a:srgbClr val="000000"/>
              </a:solidFill>
              <a:effectLst/>
              <a:uFillTx/>
              <a:latin typeface="Arial"/>
            </a:endParaRPr>
          </a:p>
        </p:txBody>
      </p:sp>
      <p:sp>
        <p:nvSpPr>
          <p:cNvPr id="490" name="TextBox 14"/>
          <p:cNvSpPr/>
          <p:nvPr/>
        </p:nvSpPr>
        <p:spPr>
          <a:xfrm>
            <a:off x="640080" y="3474720"/>
            <a:ext cx="10058040" cy="4111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2200" b="0" u="none" strike="noStrike">
                <a:solidFill>
                  <a:srgbClr val="0B2B4E"/>
                </a:solidFill>
                <a:effectLst/>
                <a:uFillTx/>
                <a:latin typeface="Cambria Math"/>
              </a:rPr>
              <a:t>Set  MR</a:t>
            </a:r>
            <a:r>
              <a:rPr lang="en-US" sz="1300" b="0" u="none" strike="noStrike" baseline="-25000">
                <a:solidFill>
                  <a:srgbClr val="0B2B4E"/>
                </a:solidFill>
                <a:effectLst/>
                <a:uFillTx/>
                <a:latin typeface="Cambria Math"/>
              </a:rPr>
              <a:t>US</a:t>
            </a:r>
            <a:r>
              <a:rPr lang="en-US" sz="2200" b="0" u="none" strike="noStrike">
                <a:solidFill>
                  <a:srgbClr val="0B2B4E"/>
                </a:solidFill>
                <a:effectLst/>
                <a:uFillTx/>
                <a:latin typeface="Cambria Math"/>
              </a:rPr>
              <a:t> = MC</a:t>
            </a:r>
            <a:r>
              <a:rPr lang="en-US" sz="1600" b="0" u="none" strike="noStrike">
                <a:solidFill>
                  <a:srgbClr val="0B2B4E"/>
                </a:solidFill>
                <a:effectLst/>
                <a:uFillTx/>
                <a:latin typeface="Cambria Math"/>
              </a:rPr>
              <a:t>   (recall: MC = 40)</a:t>
            </a:r>
            <a:endParaRPr lang="en-US" sz="1600" b="0" u="none" strike="noStrike">
              <a:solidFill>
                <a:srgbClr val="000000"/>
              </a:solidFill>
              <a:effectLst/>
              <a:uFillTx/>
              <a:latin typeface="Arial"/>
            </a:endParaRPr>
          </a:p>
        </p:txBody>
      </p:sp>
      <p:sp>
        <p:nvSpPr>
          <p:cNvPr id="491" name="CLK01"/>
          <p:cNvSpPr/>
          <p:nvPr/>
        </p:nvSpPr>
        <p:spPr>
          <a:xfrm>
            <a:off x="1280160" y="3977640"/>
            <a:ext cx="10058040" cy="4111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2100" b="0" u="none" strike="noStrike">
                <a:solidFill>
                  <a:srgbClr val="0B2B4E"/>
                </a:solidFill>
                <a:effectLst/>
                <a:uFillTx/>
                <a:latin typeface="Cambria Math"/>
              </a:rPr>
              <a:t>160 − 8Q</a:t>
            </a:r>
            <a:r>
              <a:rPr lang="en-US" sz="1300" b="0" u="none" strike="noStrike" baseline="-25000">
                <a:solidFill>
                  <a:srgbClr val="0B2B4E"/>
                </a:solidFill>
                <a:effectLst/>
                <a:uFillTx/>
                <a:latin typeface="Cambria Math"/>
              </a:rPr>
              <a:t>US</a:t>
            </a:r>
            <a:r>
              <a:rPr lang="en-US" sz="2100" b="0" u="none" strike="noStrike">
                <a:solidFill>
                  <a:srgbClr val="0B2B4E"/>
                </a:solidFill>
                <a:effectLst/>
                <a:uFillTx/>
                <a:latin typeface="Cambria Math"/>
              </a:rPr>
              <a:t> = 40</a:t>
            </a:r>
            <a:endParaRPr lang="en-US" sz="2100" b="0" u="none" strike="noStrike">
              <a:solidFill>
                <a:srgbClr val="000000"/>
              </a:solidFill>
              <a:effectLst/>
              <a:uFillTx/>
              <a:latin typeface="Arial"/>
            </a:endParaRPr>
          </a:p>
        </p:txBody>
      </p:sp>
      <p:sp>
        <p:nvSpPr>
          <p:cNvPr id="492" name="CLK01"/>
          <p:cNvSpPr/>
          <p:nvPr/>
        </p:nvSpPr>
        <p:spPr>
          <a:xfrm>
            <a:off x="1280160" y="4434840"/>
            <a:ext cx="10058040" cy="4111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2100" b="0" u="none" strike="noStrike">
                <a:solidFill>
                  <a:srgbClr val="C0201B"/>
                </a:solidFill>
                <a:effectLst/>
                <a:uFillTx/>
                <a:latin typeface="Cambria Math"/>
              </a:rPr>
              <a:t>Q</a:t>
            </a:r>
            <a:r>
              <a:rPr lang="en-US" sz="1300" b="0" u="none" strike="noStrike" baseline="-25000">
                <a:solidFill>
                  <a:srgbClr val="C0201B"/>
                </a:solidFill>
                <a:effectLst/>
                <a:uFillTx/>
                <a:latin typeface="Cambria Math"/>
              </a:rPr>
              <a:t>US</a:t>
            </a:r>
            <a:r>
              <a:rPr lang="en-US" sz="2100" b="0" u="none" strike="noStrike">
                <a:solidFill>
                  <a:srgbClr val="C0201B"/>
                </a:solidFill>
                <a:effectLst/>
                <a:uFillTx/>
                <a:latin typeface="Cambria Math"/>
              </a:rPr>
              <a:t>* = 15</a:t>
            </a:r>
            <a:endParaRPr lang="en-US" sz="2100" b="0" u="none" strike="noStrike">
              <a:solidFill>
                <a:srgbClr val="000000"/>
              </a:solidFill>
              <a:effectLst/>
              <a:uFillTx/>
              <a:latin typeface="Arial"/>
            </a:endParaRPr>
          </a:p>
        </p:txBody>
      </p:sp>
      <p:sp>
        <p:nvSpPr>
          <p:cNvPr id="493" name="CLK01"/>
          <p:cNvSpPr/>
          <p:nvPr/>
        </p:nvSpPr>
        <p:spPr>
          <a:xfrm>
            <a:off x="1280160" y="4892040"/>
            <a:ext cx="10058040" cy="4111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2100" b="0" u="none" strike="noStrike">
                <a:solidFill>
                  <a:srgbClr val="C0201B"/>
                </a:solidFill>
                <a:effectLst/>
                <a:uFillTx/>
                <a:latin typeface="Cambria Math"/>
              </a:rPr>
              <a:t>P</a:t>
            </a:r>
            <a:r>
              <a:rPr lang="en-US" sz="1300" b="0" u="none" strike="noStrike" baseline="-25000">
                <a:solidFill>
                  <a:srgbClr val="C0201B"/>
                </a:solidFill>
                <a:effectLst/>
                <a:uFillTx/>
                <a:latin typeface="Cambria Math"/>
              </a:rPr>
              <a:t>US</a:t>
            </a:r>
            <a:r>
              <a:rPr lang="en-US" sz="2100" b="0" u="none" strike="noStrike">
                <a:solidFill>
                  <a:srgbClr val="C0201B"/>
                </a:solidFill>
                <a:effectLst/>
                <a:uFillTx/>
                <a:latin typeface="Cambria Math"/>
              </a:rPr>
              <a:t>* = 160 − 4·Q</a:t>
            </a:r>
            <a:r>
              <a:rPr lang="en-US" sz="1300" b="0" u="none" strike="noStrike" baseline="-25000">
                <a:solidFill>
                  <a:srgbClr val="C0201B"/>
                </a:solidFill>
                <a:effectLst/>
                <a:uFillTx/>
                <a:latin typeface="Cambria Math"/>
              </a:rPr>
              <a:t>US</a:t>
            </a:r>
            <a:r>
              <a:rPr lang="en-US" sz="2100" b="0" u="none" strike="noStrike">
                <a:solidFill>
                  <a:srgbClr val="C0201B"/>
                </a:solidFill>
                <a:effectLst/>
                <a:uFillTx/>
                <a:latin typeface="Cambria Math"/>
              </a:rPr>
              <a:t>*   ⇒   P</a:t>
            </a:r>
            <a:r>
              <a:rPr lang="en-US" sz="1300" b="0" u="none" strike="noStrike" baseline="-25000">
                <a:solidFill>
                  <a:srgbClr val="C0201B"/>
                </a:solidFill>
                <a:effectLst/>
                <a:uFillTx/>
                <a:latin typeface="Cambria Math"/>
              </a:rPr>
              <a:t>US</a:t>
            </a:r>
            <a:r>
              <a:rPr lang="en-US" sz="2100" b="0" u="none" strike="noStrike">
                <a:solidFill>
                  <a:srgbClr val="C0201B"/>
                </a:solidFill>
                <a:effectLst/>
                <a:uFillTx/>
                <a:latin typeface="Cambria Math"/>
              </a:rPr>
              <a:t>* = 100</a:t>
            </a:r>
            <a:endParaRPr lang="en-US" sz="21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8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8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9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95"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Segment Pricing</a:t>
            </a:r>
            <a:endParaRPr lang="en-US" sz="1600" b="0" u="none" strike="noStrike">
              <a:solidFill>
                <a:srgbClr val="000000"/>
              </a:solidFill>
              <a:effectLst/>
              <a:uFillTx/>
              <a:latin typeface="Arial"/>
            </a:endParaRPr>
          </a:p>
        </p:txBody>
      </p:sp>
      <p:sp>
        <p:nvSpPr>
          <p:cNvPr id="496"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Profit-Maximization in Germany</a:t>
            </a:r>
            <a:endParaRPr lang="en-US" sz="3200" b="0" u="none" strike="noStrike">
              <a:solidFill>
                <a:srgbClr val="000000"/>
              </a:solidFill>
              <a:effectLst/>
              <a:uFillTx/>
              <a:latin typeface="Arial"/>
            </a:endParaRPr>
          </a:p>
        </p:txBody>
      </p:sp>
      <p:sp>
        <p:nvSpPr>
          <p:cNvPr id="497"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98"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499"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00"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01"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502"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34</a:t>
            </a:r>
            <a:endParaRPr lang="en-US" sz="1200" b="0" u="none" strike="noStrike">
              <a:solidFill>
                <a:srgbClr val="000000"/>
              </a:solidFill>
              <a:effectLst/>
              <a:uFillTx/>
              <a:latin typeface="Arial"/>
            </a:endParaRPr>
          </a:p>
        </p:txBody>
      </p:sp>
      <p:sp>
        <p:nvSpPr>
          <p:cNvPr id="503" name="TextBox 10"/>
          <p:cNvSpPr/>
          <p:nvPr/>
        </p:nvSpPr>
        <p:spPr>
          <a:xfrm>
            <a:off x="640080" y="1417320"/>
            <a:ext cx="73148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200" b="1" u="none" strike="noStrike">
                <a:solidFill>
                  <a:srgbClr val="0B2B4E"/>
                </a:solidFill>
                <a:effectLst/>
                <a:uFillTx/>
                <a:latin typeface="Calibri"/>
              </a:rPr>
              <a:t>Compute MR:</a:t>
            </a:r>
            <a:endParaRPr lang="en-US" sz="2200" b="0" u="none" strike="noStrike">
              <a:solidFill>
                <a:srgbClr val="000000"/>
              </a:solidFill>
              <a:effectLst/>
              <a:uFillTx/>
              <a:latin typeface="Arial"/>
            </a:endParaRPr>
          </a:p>
        </p:txBody>
      </p:sp>
      <p:sp>
        <p:nvSpPr>
          <p:cNvPr id="504" name="CLK00"/>
          <p:cNvSpPr/>
          <p:nvPr/>
        </p:nvSpPr>
        <p:spPr>
          <a:xfrm>
            <a:off x="1280160" y="1874520"/>
            <a:ext cx="10058040" cy="4111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2100" b="0" u="none" strike="noStrike">
                <a:solidFill>
                  <a:srgbClr val="0B2B4E"/>
                </a:solidFill>
                <a:effectLst/>
                <a:uFillTx/>
                <a:latin typeface="Cambria Math"/>
              </a:rPr>
              <a:t>P</a:t>
            </a:r>
            <a:r>
              <a:rPr lang="en-US" sz="1300" b="0" u="none" strike="noStrike" baseline="-25000">
                <a:solidFill>
                  <a:srgbClr val="0B2B4E"/>
                </a:solidFill>
                <a:effectLst/>
                <a:uFillTx/>
                <a:latin typeface="Cambria Math"/>
              </a:rPr>
              <a:t>G</a:t>
            </a:r>
            <a:r>
              <a:rPr lang="en-US" sz="2100" b="0" u="none" strike="noStrike">
                <a:solidFill>
                  <a:srgbClr val="0B2B4E"/>
                </a:solidFill>
                <a:effectLst/>
                <a:uFillTx/>
                <a:latin typeface="Cambria Math"/>
              </a:rPr>
              <a:t> = 140 − 5Q</a:t>
            </a:r>
            <a:r>
              <a:rPr lang="en-US" sz="1300" b="0" u="none" strike="noStrike" baseline="-25000">
                <a:solidFill>
                  <a:srgbClr val="0B2B4E"/>
                </a:solidFill>
                <a:effectLst/>
                <a:uFillTx/>
                <a:latin typeface="Cambria Math"/>
              </a:rPr>
              <a:t>G</a:t>
            </a:r>
            <a:endParaRPr lang="en-US" sz="1300" b="0" u="none" strike="noStrike">
              <a:solidFill>
                <a:srgbClr val="000000"/>
              </a:solidFill>
              <a:effectLst/>
              <a:uFillTx/>
              <a:latin typeface="Arial"/>
            </a:endParaRPr>
          </a:p>
        </p:txBody>
      </p:sp>
      <p:sp>
        <p:nvSpPr>
          <p:cNvPr id="505" name="CLK00"/>
          <p:cNvSpPr/>
          <p:nvPr/>
        </p:nvSpPr>
        <p:spPr>
          <a:xfrm>
            <a:off x="1280160" y="2331720"/>
            <a:ext cx="10058040" cy="4111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2100" b="0" u="none" strike="noStrike">
                <a:solidFill>
                  <a:srgbClr val="0B2B4E"/>
                </a:solidFill>
                <a:effectLst/>
                <a:uFillTx/>
                <a:latin typeface="Cambria Math"/>
              </a:rPr>
              <a:t>TR</a:t>
            </a:r>
            <a:r>
              <a:rPr lang="en-US" sz="1300" b="0" u="none" strike="noStrike" baseline="-25000">
                <a:solidFill>
                  <a:srgbClr val="0B2B4E"/>
                </a:solidFill>
                <a:effectLst/>
                <a:uFillTx/>
                <a:latin typeface="Cambria Math"/>
              </a:rPr>
              <a:t>G</a:t>
            </a:r>
            <a:r>
              <a:rPr lang="en-US" sz="2100" b="0" u="none" strike="noStrike">
                <a:solidFill>
                  <a:srgbClr val="0B2B4E"/>
                </a:solidFill>
                <a:effectLst/>
                <a:uFillTx/>
                <a:latin typeface="Cambria Math"/>
              </a:rPr>
              <a:t> = P</a:t>
            </a:r>
            <a:r>
              <a:rPr lang="en-US" sz="1300" b="0" u="none" strike="noStrike" baseline="-25000">
                <a:solidFill>
                  <a:srgbClr val="0B2B4E"/>
                </a:solidFill>
                <a:effectLst/>
                <a:uFillTx/>
                <a:latin typeface="Cambria Math"/>
              </a:rPr>
              <a:t>G</a:t>
            </a:r>
            <a:r>
              <a:rPr lang="en-US" sz="2100" b="0" u="none" strike="noStrike">
                <a:solidFill>
                  <a:srgbClr val="0B2B4E"/>
                </a:solidFill>
                <a:effectLst/>
                <a:uFillTx/>
                <a:latin typeface="Cambria Math"/>
              </a:rPr>
              <a:t>·Q</a:t>
            </a:r>
            <a:r>
              <a:rPr lang="en-US" sz="1300" b="0" u="none" strike="noStrike" baseline="-25000">
                <a:solidFill>
                  <a:srgbClr val="0B2B4E"/>
                </a:solidFill>
                <a:effectLst/>
                <a:uFillTx/>
                <a:latin typeface="Cambria Math"/>
              </a:rPr>
              <a:t>G</a:t>
            </a:r>
            <a:r>
              <a:rPr lang="en-US" sz="2100" b="0" u="none" strike="noStrike">
                <a:solidFill>
                  <a:srgbClr val="0B2B4E"/>
                </a:solidFill>
                <a:effectLst/>
                <a:uFillTx/>
                <a:latin typeface="Cambria Math"/>
              </a:rPr>
              <a:t> = 140·Q</a:t>
            </a:r>
            <a:r>
              <a:rPr lang="en-US" sz="1300" b="0" u="none" strike="noStrike" baseline="-25000">
                <a:solidFill>
                  <a:srgbClr val="0B2B4E"/>
                </a:solidFill>
                <a:effectLst/>
                <a:uFillTx/>
                <a:latin typeface="Cambria Math"/>
              </a:rPr>
              <a:t>G</a:t>
            </a:r>
            <a:r>
              <a:rPr lang="en-US" sz="2100" b="0" u="none" strike="noStrike">
                <a:solidFill>
                  <a:srgbClr val="0B2B4E"/>
                </a:solidFill>
                <a:effectLst/>
                <a:uFillTx/>
                <a:latin typeface="Cambria Math"/>
              </a:rPr>
              <a:t> − 5Q</a:t>
            </a:r>
            <a:r>
              <a:rPr lang="en-US" sz="1300" b="0" u="none" strike="noStrike" baseline="-25000">
                <a:solidFill>
                  <a:srgbClr val="0B2B4E"/>
                </a:solidFill>
                <a:effectLst/>
                <a:uFillTx/>
                <a:latin typeface="Cambria Math"/>
              </a:rPr>
              <a:t>G</a:t>
            </a:r>
            <a:r>
              <a:rPr lang="en-US" sz="1300" b="0" u="none" strike="noStrike" baseline="30000">
                <a:solidFill>
                  <a:srgbClr val="0B2B4E"/>
                </a:solidFill>
                <a:effectLst/>
                <a:uFillTx/>
                <a:latin typeface="Cambria Math"/>
              </a:rPr>
              <a:t>²</a:t>
            </a:r>
            <a:endParaRPr lang="en-US" sz="1300" b="0" u="none" strike="noStrike">
              <a:solidFill>
                <a:srgbClr val="000000"/>
              </a:solidFill>
              <a:effectLst/>
              <a:uFillTx/>
              <a:latin typeface="Arial"/>
            </a:endParaRPr>
          </a:p>
        </p:txBody>
      </p:sp>
      <p:sp>
        <p:nvSpPr>
          <p:cNvPr id="506" name="CLK00"/>
          <p:cNvSpPr/>
          <p:nvPr/>
        </p:nvSpPr>
        <p:spPr>
          <a:xfrm>
            <a:off x="1280160" y="2788920"/>
            <a:ext cx="10058040" cy="4111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2100" b="0" u="none" strike="noStrike">
                <a:solidFill>
                  <a:srgbClr val="0B2B4E"/>
                </a:solidFill>
                <a:effectLst/>
                <a:uFillTx/>
                <a:latin typeface="Cambria Math"/>
              </a:rPr>
              <a:t>MR</a:t>
            </a:r>
            <a:r>
              <a:rPr lang="en-US" sz="1300" b="0" u="none" strike="noStrike" baseline="-25000">
                <a:solidFill>
                  <a:srgbClr val="0B2B4E"/>
                </a:solidFill>
                <a:effectLst/>
                <a:uFillTx/>
                <a:latin typeface="Cambria Math"/>
              </a:rPr>
              <a:t>G</a:t>
            </a:r>
            <a:r>
              <a:rPr lang="en-US" sz="2100" b="0" u="none" strike="noStrike">
                <a:solidFill>
                  <a:srgbClr val="0B2B4E"/>
                </a:solidFill>
                <a:effectLst/>
                <a:uFillTx/>
                <a:latin typeface="Cambria Math"/>
              </a:rPr>
              <a:t> = 140 − 10·Q</a:t>
            </a:r>
            <a:r>
              <a:rPr lang="en-US" sz="1300" b="0" u="none" strike="noStrike" baseline="-25000">
                <a:solidFill>
                  <a:srgbClr val="0B2B4E"/>
                </a:solidFill>
                <a:effectLst/>
                <a:uFillTx/>
                <a:latin typeface="Cambria Math"/>
              </a:rPr>
              <a:t>G</a:t>
            </a:r>
            <a:endParaRPr lang="en-US" sz="1300" b="0" u="none" strike="noStrike">
              <a:solidFill>
                <a:srgbClr val="000000"/>
              </a:solidFill>
              <a:effectLst/>
              <a:uFillTx/>
              <a:latin typeface="Arial"/>
            </a:endParaRPr>
          </a:p>
        </p:txBody>
      </p:sp>
      <p:sp>
        <p:nvSpPr>
          <p:cNvPr id="507" name="TextBox 14"/>
          <p:cNvSpPr/>
          <p:nvPr/>
        </p:nvSpPr>
        <p:spPr>
          <a:xfrm>
            <a:off x="640080" y="3474720"/>
            <a:ext cx="10058040" cy="4111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2200" b="0" u="none" strike="noStrike">
                <a:solidFill>
                  <a:srgbClr val="0B2B4E"/>
                </a:solidFill>
                <a:effectLst/>
                <a:uFillTx/>
                <a:latin typeface="Cambria Math"/>
              </a:rPr>
              <a:t>Set  MR</a:t>
            </a:r>
            <a:r>
              <a:rPr lang="en-US" sz="1300" b="0" u="none" strike="noStrike" baseline="-25000">
                <a:solidFill>
                  <a:srgbClr val="0B2B4E"/>
                </a:solidFill>
                <a:effectLst/>
                <a:uFillTx/>
                <a:latin typeface="Cambria Math"/>
              </a:rPr>
              <a:t>G</a:t>
            </a:r>
            <a:r>
              <a:rPr lang="en-US" sz="2200" b="0" u="none" strike="noStrike">
                <a:solidFill>
                  <a:srgbClr val="0B2B4E"/>
                </a:solidFill>
                <a:effectLst/>
                <a:uFillTx/>
                <a:latin typeface="Cambria Math"/>
              </a:rPr>
              <a:t> = MC</a:t>
            </a:r>
            <a:r>
              <a:rPr lang="en-US" sz="1600" b="0" u="none" strike="noStrike">
                <a:solidFill>
                  <a:srgbClr val="0B2B4E"/>
                </a:solidFill>
                <a:effectLst/>
                <a:uFillTx/>
                <a:latin typeface="Cambria Math"/>
              </a:rPr>
              <a:t>   (recall: MC = 40)</a:t>
            </a:r>
            <a:endParaRPr lang="en-US" sz="1600" b="0" u="none" strike="noStrike">
              <a:solidFill>
                <a:srgbClr val="000000"/>
              </a:solidFill>
              <a:effectLst/>
              <a:uFillTx/>
              <a:latin typeface="Arial"/>
            </a:endParaRPr>
          </a:p>
        </p:txBody>
      </p:sp>
      <p:sp>
        <p:nvSpPr>
          <p:cNvPr id="508" name="CLK01"/>
          <p:cNvSpPr/>
          <p:nvPr/>
        </p:nvSpPr>
        <p:spPr>
          <a:xfrm>
            <a:off x="1280160" y="3977640"/>
            <a:ext cx="10058040" cy="4111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2100" b="0" u="none" strike="noStrike">
                <a:solidFill>
                  <a:srgbClr val="0B2B4E"/>
                </a:solidFill>
                <a:effectLst/>
                <a:uFillTx/>
                <a:latin typeface="Cambria Math"/>
              </a:rPr>
              <a:t>140 − 10Q</a:t>
            </a:r>
            <a:r>
              <a:rPr lang="en-US" sz="1300" b="0" u="none" strike="noStrike" baseline="-25000">
                <a:solidFill>
                  <a:srgbClr val="0B2B4E"/>
                </a:solidFill>
                <a:effectLst/>
                <a:uFillTx/>
                <a:latin typeface="Cambria Math"/>
              </a:rPr>
              <a:t>G</a:t>
            </a:r>
            <a:r>
              <a:rPr lang="en-US" sz="2100" b="0" u="none" strike="noStrike">
                <a:solidFill>
                  <a:srgbClr val="0B2B4E"/>
                </a:solidFill>
                <a:effectLst/>
                <a:uFillTx/>
                <a:latin typeface="Cambria Math"/>
              </a:rPr>
              <a:t> = 40</a:t>
            </a:r>
            <a:endParaRPr lang="en-US" sz="2100" b="0" u="none" strike="noStrike">
              <a:solidFill>
                <a:srgbClr val="000000"/>
              </a:solidFill>
              <a:effectLst/>
              <a:uFillTx/>
              <a:latin typeface="Arial"/>
            </a:endParaRPr>
          </a:p>
        </p:txBody>
      </p:sp>
      <p:sp>
        <p:nvSpPr>
          <p:cNvPr id="509" name="CLK01"/>
          <p:cNvSpPr/>
          <p:nvPr/>
        </p:nvSpPr>
        <p:spPr>
          <a:xfrm>
            <a:off x="1280160" y="4434840"/>
            <a:ext cx="10058040" cy="4111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2100" b="0" u="none" strike="noStrike">
                <a:solidFill>
                  <a:srgbClr val="C0201B"/>
                </a:solidFill>
                <a:effectLst/>
                <a:uFillTx/>
                <a:latin typeface="Cambria Math"/>
              </a:rPr>
              <a:t>Q</a:t>
            </a:r>
            <a:r>
              <a:rPr lang="en-US" sz="1300" b="0" u="none" strike="noStrike" baseline="-25000">
                <a:solidFill>
                  <a:srgbClr val="C0201B"/>
                </a:solidFill>
                <a:effectLst/>
                <a:uFillTx/>
                <a:latin typeface="Cambria Math"/>
              </a:rPr>
              <a:t>G</a:t>
            </a:r>
            <a:r>
              <a:rPr lang="en-US" sz="2100" b="0" u="none" strike="noStrike">
                <a:solidFill>
                  <a:srgbClr val="C0201B"/>
                </a:solidFill>
                <a:effectLst/>
                <a:uFillTx/>
                <a:latin typeface="Cambria Math"/>
              </a:rPr>
              <a:t>* = 10</a:t>
            </a:r>
            <a:endParaRPr lang="en-US" sz="2100" b="0" u="none" strike="noStrike">
              <a:solidFill>
                <a:srgbClr val="000000"/>
              </a:solidFill>
              <a:effectLst/>
              <a:uFillTx/>
              <a:latin typeface="Arial"/>
            </a:endParaRPr>
          </a:p>
        </p:txBody>
      </p:sp>
      <p:sp>
        <p:nvSpPr>
          <p:cNvPr id="510" name="CLK01"/>
          <p:cNvSpPr/>
          <p:nvPr/>
        </p:nvSpPr>
        <p:spPr>
          <a:xfrm>
            <a:off x="1280160" y="4892040"/>
            <a:ext cx="10058040" cy="4111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2100" b="0" u="none" strike="noStrike">
                <a:solidFill>
                  <a:srgbClr val="C0201B"/>
                </a:solidFill>
                <a:effectLst/>
                <a:uFillTx/>
                <a:latin typeface="Cambria Math"/>
              </a:rPr>
              <a:t>P</a:t>
            </a:r>
            <a:r>
              <a:rPr lang="en-US" sz="1300" b="0" u="none" strike="noStrike" baseline="-25000">
                <a:solidFill>
                  <a:srgbClr val="C0201B"/>
                </a:solidFill>
                <a:effectLst/>
                <a:uFillTx/>
                <a:latin typeface="Cambria Math"/>
              </a:rPr>
              <a:t>G</a:t>
            </a:r>
            <a:r>
              <a:rPr lang="en-US" sz="2100" b="0" u="none" strike="noStrike">
                <a:solidFill>
                  <a:srgbClr val="C0201B"/>
                </a:solidFill>
                <a:effectLst/>
                <a:uFillTx/>
                <a:latin typeface="Cambria Math"/>
              </a:rPr>
              <a:t>* = 140 − 5·Q</a:t>
            </a:r>
            <a:r>
              <a:rPr lang="en-US" sz="1300" b="0" u="none" strike="noStrike" baseline="-25000">
                <a:solidFill>
                  <a:srgbClr val="C0201B"/>
                </a:solidFill>
                <a:effectLst/>
                <a:uFillTx/>
                <a:latin typeface="Cambria Math"/>
              </a:rPr>
              <a:t>G</a:t>
            </a:r>
            <a:r>
              <a:rPr lang="en-US" sz="2100" b="0" u="none" strike="noStrike">
                <a:solidFill>
                  <a:srgbClr val="C0201B"/>
                </a:solidFill>
                <a:effectLst/>
                <a:uFillTx/>
                <a:latin typeface="Cambria Math"/>
              </a:rPr>
              <a:t>*   ⇒   P</a:t>
            </a:r>
            <a:r>
              <a:rPr lang="en-US" sz="1300" b="0" u="none" strike="noStrike" baseline="-25000">
                <a:solidFill>
                  <a:srgbClr val="C0201B"/>
                </a:solidFill>
                <a:effectLst/>
                <a:uFillTx/>
                <a:latin typeface="Cambria Math"/>
              </a:rPr>
              <a:t>G</a:t>
            </a:r>
            <a:r>
              <a:rPr lang="en-US" sz="2100" b="0" u="none" strike="noStrike">
                <a:solidFill>
                  <a:srgbClr val="C0201B"/>
                </a:solidFill>
                <a:effectLst/>
                <a:uFillTx/>
                <a:latin typeface="Cambria Math"/>
              </a:rPr>
              <a:t>* = 90</a:t>
            </a:r>
            <a:endParaRPr lang="en-US" sz="21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0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0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0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1" name="Picture 1" descr="bmw_faded.jpg"/>
          <p:cNvPicPr/>
          <p:nvPr/>
        </p:nvPicPr>
        <p:blipFill>
          <a:blip r:embed="rId2"/>
          <a:stretch/>
        </p:blipFill>
        <p:spPr>
          <a:xfrm>
            <a:off x="0" y="0"/>
            <a:ext cx="12191400" cy="6857640"/>
          </a:xfrm>
          <a:prstGeom prst="rect">
            <a:avLst/>
          </a:prstGeom>
          <a:noFill/>
          <a:ln w="0">
            <a:noFill/>
          </a:ln>
        </p:spPr>
      </p:pic>
      <p:sp>
        <p:nvSpPr>
          <p:cNvPr id="512" name="Rectangle 2"/>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13" name="TextBox 3"/>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Segment Pricing</a:t>
            </a:r>
            <a:endParaRPr lang="en-US" sz="1600" b="0" u="none" strike="noStrike">
              <a:solidFill>
                <a:srgbClr val="000000"/>
              </a:solidFill>
              <a:effectLst/>
              <a:uFillTx/>
              <a:latin typeface="Arial"/>
            </a:endParaRPr>
          </a:p>
        </p:txBody>
      </p:sp>
      <p:sp>
        <p:nvSpPr>
          <p:cNvPr id="514" name="TextBox 4"/>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BMW and Segmentation</a:t>
            </a:r>
            <a:endParaRPr lang="en-US" sz="3200" b="0" u="none" strike="noStrike">
              <a:solidFill>
                <a:srgbClr val="000000"/>
              </a:solidFill>
              <a:effectLst/>
              <a:uFillTx/>
              <a:latin typeface="Arial"/>
            </a:endParaRPr>
          </a:p>
        </p:txBody>
      </p:sp>
      <p:sp>
        <p:nvSpPr>
          <p:cNvPr id="515" name="Rectangle 5"/>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16" name="Rectangle 6"/>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17" name="Rectangle 7"/>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18" name="Rectangle 8"/>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19" name="TextBox 9"/>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520" name="TextBox 10"/>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35</a:t>
            </a:r>
            <a:endParaRPr lang="en-US" sz="1200" b="0" u="none" strike="noStrike">
              <a:solidFill>
                <a:srgbClr val="000000"/>
              </a:solidFill>
              <a:effectLst/>
              <a:uFillTx/>
              <a:latin typeface="Arial"/>
            </a:endParaRPr>
          </a:p>
        </p:txBody>
      </p:sp>
      <p:sp>
        <p:nvSpPr>
          <p:cNvPr id="521" name="TextBox 11"/>
          <p:cNvSpPr/>
          <p:nvPr/>
        </p:nvSpPr>
        <p:spPr>
          <a:xfrm>
            <a:off x="822960" y="1691640"/>
            <a:ext cx="5486040" cy="4111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2100" b="0" u="none" strike="noStrike">
                <a:solidFill>
                  <a:srgbClr val="0B2B4E"/>
                </a:solidFill>
                <a:effectLst/>
                <a:uFillTx/>
                <a:latin typeface="Cambria Math"/>
              </a:rPr>
              <a:t>•  MC = 40</a:t>
            </a:r>
            <a:endParaRPr lang="en-US" sz="2100" b="0" u="none" strike="noStrike">
              <a:solidFill>
                <a:srgbClr val="000000"/>
              </a:solidFill>
              <a:effectLst/>
              <a:uFillTx/>
              <a:latin typeface="Arial"/>
            </a:endParaRPr>
          </a:p>
        </p:txBody>
      </p:sp>
      <p:sp>
        <p:nvSpPr>
          <p:cNvPr id="522" name="TextBox 12"/>
          <p:cNvSpPr/>
          <p:nvPr/>
        </p:nvSpPr>
        <p:spPr>
          <a:xfrm>
            <a:off x="822960" y="2194560"/>
            <a:ext cx="54860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100" b="0" u="none" strike="noStrike">
                <a:solidFill>
                  <a:srgbClr val="0B2B4E"/>
                </a:solidFill>
                <a:effectLst/>
                <a:uFillTx/>
                <a:latin typeface="Calibri"/>
              </a:rPr>
              <a:t>•  US Market</a:t>
            </a:r>
            <a:endParaRPr lang="en-US" sz="2100" b="0" u="none" strike="noStrike">
              <a:solidFill>
                <a:srgbClr val="000000"/>
              </a:solidFill>
              <a:effectLst/>
              <a:uFillTx/>
              <a:latin typeface="Arial"/>
            </a:endParaRPr>
          </a:p>
        </p:txBody>
      </p:sp>
      <p:sp>
        <p:nvSpPr>
          <p:cNvPr id="523" name="TextBox 13"/>
          <p:cNvSpPr/>
          <p:nvPr/>
        </p:nvSpPr>
        <p:spPr>
          <a:xfrm>
            <a:off x="1554480" y="2651760"/>
            <a:ext cx="8229240" cy="4111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2000" b="0" u="none" strike="noStrike">
                <a:solidFill>
                  <a:srgbClr val="0B2B4E"/>
                </a:solidFill>
                <a:effectLst/>
                <a:uFillTx/>
                <a:latin typeface="Cambria Math"/>
              </a:rPr>
              <a:t>P</a:t>
            </a:r>
            <a:r>
              <a:rPr lang="en-US" sz="1300" b="0" u="none" strike="noStrike" baseline="-25000">
                <a:solidFill>
                  <a:srgbClr val="0B2B4E"/>
                </a:solidFill>
                <a:effectLst/>
                <a:uFillTx/>
                <a:latin typeface="Cambria Math"/>
              </a:rPr>
              <a:t>US</a:t>
            </a:r>
            <a:r>
              <a:rPr lang="en-US" sz="2000" b="0" u="none" strike="noStrike">
                <a:solidFill>
                  <a:srgbClr val="0B2B4E"/>
                </a:solidFill>
                <a:effectLst/>
                <a:uFillTx/>
                <a:latin typeface="Cambria Math"/>
              </a:rPr>
              <a:t> = 160 − 4Q</a:t>
            </a:r>
            <a:r>
              <a:rPr lang="en-US" sz="1300" b="0" u="none" strike="noStrike" baseline="-25000">
                <a:solidFill>
                  <a:srgbClr val="0B2B4E"/>
                </a:solidFill>
                <a:effectLst/>
                <a:uFillTx/>
                <a:latin typeface="Cambria Math"/>
              </a:rPr>
              <a:t>US</a:t>
            </a:r>
            <a:endParaRPr lang="en-US" sz="1300" b="0" u="none" strike="noStrike">
              <a:solidFill>
                <a:srgbClr val="000000"/>
              </a:solidFill>
              <a:effectLst/>
              <a:uFillTx/>
              <a:latin typeface="Arial"/>
            </a:endParaRPr>
          </a:p>
        </p:txBody>
      </p:sp>
      <p:sp>
        <p:nvSpPr>
          <p:cNvPr id="524" name="TextBox 14"/>
          <p:cNvSpPr/>
          <p:nvPr/>
        </p:nvSpPr>
        <p:spPr>
          <a:xfrm>
            <a:off x="1554480" y="3063240"/>
            <a:ext cx="8229240" cy="4111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2000" b="0" u="none" strike="noStrike">
                <a:solidFill>
                  <a:srgbClr val="0B2B4E"/>
                </a:solidFill>
                <a:effectLst/>
                <a:uFillTx/>
                <a:latin typeface="Cambria Math"/>
              </a:rPr>
              <a:t>Q</a:t>
            </a:r>
            <a:r>
              <a:rPr lang="en-US" sz="1300" b="0" u="none" strike="noStrike" baseline="-25000">
                <a:solidFill>
                  <a:srgbClr val="0B2B4E"/>
                </a:solidFill>
                <a:effectLst/>
                <a:uFillTx/>
                <a:latin typeface="Cambria Math"/>
              </a:rPr>
              <a:t>US</a:t>
            </a:r>
            <a:r>
              <a:rPr lang="en-US" sz="2000" b="0" u="none" strike="noStrike">
                <a:solidFill>
                  <a:srgbClr val="0B2B4E"/>
                </a:solidFill>
                <a:effectLst/>
                <a:uFillTx/>
                <a:latin typeface="Cambria Math"/>
              </a:rPr>
              <a:t>* = 15 ,  P</a:t>
            </a:r>
            <a:r>
              <a:rPr lang="en-US" sz="1300" b="0" u="none" strike="noStrike" baseline="-25000">
                <a:solidFill>
                  <a:srgbClr val="0B2B4E"/>
                </a:solidFill>
                <a:effectLst/>
                <a:uFillTx/>
                <a:latin typeface="Cambria Math"/>
              </a:rPr>
              <a:t>US</a:t>
            </a:r>
            <a:r>
              <a:rPr lang="en-US" sz="2000" b="0" u="none" strike="noStrike">
                <a:solidFill>
                  <a:srgbClr val="0B2B4E"/>
                </a:solidFill>
                <a:effectLst/>
                <a:uFillTx/>
                <a:latin typeface="Cambria Math"/>
              </a:rPr>
              <a:t>* = 100</a:t>
            </a:r>
            <a:endParaRPr lang="en-US" sz="2000" b="0" u="none" strike="noStrike">
              <a:solidFill>
                <a:srgbClr val="000000"/>
              </a:solidFill>
              <a:effectLst/>
              <a:uFillTx/>
              <a:latin typeface="Arial"/>
            </a:endParaRPr>
          </a:p>
        </p:txBody>
      </p:sp>
      <p:sp>
        <p:nvSpPr>
          <p:cNvPr id="525" name="TextBox 15"/>
          <p:cNvSpPr/>
          <p:nvPr/>
        </p:nvSpPr>
        <p:spPr>
          <a:xfrm>
            <a:off x="822960" y="3566160"/>
            <a:ext cx="54860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100" b="0" u="none" strike="noStrike">
                <a:solidFill>
                  <a:srgbClr val="0B2B4E"/>
                </a:solidFill>
                <a:effectLst/>
                <a:uFillTx/>
                <a:latin typeface="Calibri"/>
              </a:rPr>
              <a:t>•  German Market</a:t>
            </a:r>
            <a:endParaRPr lang="en-US" sz="2100" b="0" u="none" strike="noStrike">
              <a:solidFill>
                <a:srgbClr val="000000"/>
              </a:solidFill>
              <a:effectLst/>
              <a:uFillTx/>
              <a:latin typeface="Arial"/>
            </a:endParaRPr>
          </a:p>
        </p:txBody>
      </p:sp>
      <p:sp>
        <p:nvSpPr>
          <p:cNvPr id="526" name="TextBox 16"/>
          <p:cNvSpPr/>
          <p:nvPr/>
        </p:nvSpPr>
        <p:spPr>
          <a:xfrm>
            <a:off x="1554480" y="4023360"/>
            <a:ext cx="8229240" cy="4111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2000" b="0" u="none" strike="noStrike">
                <a:solidFill>
                  <a:srgbClr val="0B2B4E"/>
                </a:solidFill>
                <a:effectLst/>
                <a:uFillTx/>
                <a:latin typeface="Cambria Math"/>
              </a:rPr>
              <a:t>P</a:t>
            </a:r>
            <a:r>
              <a:rPr lang="en-US" sz="1300" b="0" u="none" strike="noStrike" baseline="-25000">
                <a:solidFill>
                  <a:srgbClr val="0B2B4E"/>
                </a:solidFill>
                <a:effectLst/>
                <a:uFillTx/>
                <a:latin typeface="Cambria Math"/>
              </a:rPr>
              <a:t>G</a:t>
            </a:r>
            <a:r>
              <a:rPr lang="en-US" sz="2000" b="0" u="none" strike="noStrike">
                <a:solidFill>
                  <a:srgbClr val="0B2B4E"/>
                </a:solidFill>
                <a:effectLst/>
                <a:uFillTx/>
                <a:latin typeface="Cambria Math"/>
              </a:rPr>
              <a:t> = 140 − 5Q</a:t>
            </a:r>
            <a:r>
              <a:rPr lang="en-US" sz="1300" b="0" u="none" strike="noStrike" baseline="-25000">
                <a:solidFill>
                  <a:srgbClr val="0B2B4E"/>
                </a:solidFill>
                <a:effectLst/>
                <a:uFillTx/>
                <a:latin typeface="Cambria Math"/>
              </a:rPr>
              <a:t>G</a:t>
            </a:r>
            <a:endParaRPr lang="en-US" sz="1300" b="0" u="none" strike="noStrike">
              <a:solidFill>
                <a:srgbClr val="000000"/>
              </a:solidFill>
              <a:effectLst/>
              <a:uFillTx/>
              <a:latin typeface="Arial"/>
            </a:endParaRPr>
          </a:p>
        </p:txBody>
      </p:sp>
      <p:sp>
        <p:nvSpPr>
          <p:cNvPr id="527" name="TextBox 17"/>
          <p:cNvSpPr/>
          <p:nvPr/>
        </p:nvSpPr>
        <p:spPr>
          <a:xfrm>
            <a:off x="1554480" y="4434840"/>
            <a:ext cx="8229240" cy="4111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2000" b="0" u="none" strike="noStrike">
                <a:solidFill>
                  <a:srgbClr val="0B2B4E"/>
                </a:solidFill>
                <a:effectLst/>
                <a:uFillTx/>
                <a:latin typeface="Cambria Math"/>
              </a:rPr>
              <a:t>Q</a:t>
            </a:r>
            <a:r>
              <a:rPr lang="en-US" sz="1300" b="0" u="none" strike="noStrike" baseline="-25000">
                <a:solidFill>
                  <a:srgbClr val="0B2B4E"/>
                </a:solidFill>
                <a:effectLst/>
                <a:uFillTx/>
                <a:latin typeface="Cambria Math"/>
              </a:rPr>
              <a:t>G</a:t>
            </a:r>
            <a:r>
              <a:rPr lang="en-US" sz="2000" b="0" u="none" strike="noStrike">
                <a:solidFill>
                  <a:srgbClr val="0B2B4E"/>
                </a:solidFill>
                <a:effectLst/>
                <a:uFillTx/>
                <a:latin typeface="Cambria Math"/>
              </a:rPr>
              <a:t>* = 10 ,  P</a:t>
            </a:r>
            <a:r>
              <a:rPr lang="en-US" sz="1300" b="0" u="none" strike="noStrike" baseline="-25000">
                <a:solidFill>
                  <a:srgbClr val="0B2B4E"/>
                </a:solidFill>
                <a:effectLst/>
                <a:uFillTx/>
                <a:latin typeface="Cambria Math"/>
              </a:rPr>
              <a:t>G</a:t>
            </a:r>
            <a:r>
              <a:rPr lang="en-US" sz="2000" b="0" u="none" strike="noStrike">
                <a:solidFill>
                  <a:srgbClr val="0B2B4E"/>
                </a:solidFill>
                <a:effectLst/>
                <a:uFillTx/>
                <a:latin typeface="Cambria Math"/>
              </a:rPr>
              <a:t>* = 90</a:t>
            </a:r>
            <a:endParaRPr lang="en-US" sz="2000" b="0" u="none" strike="noStrike">
              <a:solidFill>
                <a:srgbClr val="000000"/>
              </a:solidFill>
              <a:effectLst/>
              <a:uFillTx/>
              <a:latin typeface="Arial"/>
            </a:endParaRPr>
          </a:p>
        </p:txBody>
      </p:sp>
      <p:sp>
        <p:nvSpPr>
          <p:cNvPr id="528" name="TextBox 18"/>
          <p:cNvSpPr/>
          <p:nvPr/>
        </p:nvSpPr>
        <p:spPr>
          <a:xfrm>
            <a:off x="822960" y="4937760"/>
            <a:ext cx="106066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000" b="0" u="none" strike="noStrike">
                <a:solidFill>
                  <a:srgbClr val="0B2B4E"/>
                </a:solidFill>
                <a:effectLst/>
                <a:uFillTx/>
                <a:latin typeface="Calibri"/>
              </a:rPr>
              <a:t>•  What is the demand elasticity at the profit-maximizing price, and the Lerner Index, in the two countries?</a:t>
            </a:r>
            <a:endParaRPr lang="en-US" sz="2000" b="0" u="none" strike="noStrike">
              <a:solidFill>
                <a:srgbClr val="000000"/>
              </a:solidFill>
              <a:effectLst/>
              <a:uFillTx/>
              <a:latin typeface="Arial"/>
            </a:endParaRPr>
          </a:p>
        </p:txBody>
      </p:sp>
      <p:sp>
        <p:nvSpPr>
          <p:cNvPr id="529" name="Parallelogram 19"/>
          <p:cNvSpPr/>
          <p:nvPr/>
        </p:nvSpPr>
        <p:spPr>
          <a:xfrm>
            <a:off x="9082800" y="5943600"/>
            <a:ext cx="2742840" cy="548280"/>
          </a:xfrm>
          <a:prstGeom prst="parallelogram">
            <a:avLst>
              <a:gd name="adj" fmla="val 25000"/>
            </a:avLst>
          </a:prstGeom>
          <a:solidFill>
            <a:srgbClr val="E0A21E"/>
          </a:solidFill>
          <a:ln>
            <a:noFill/>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r>
              <a:rPr lang="en-US" sz="1500" b="1" u="none" strike="noStrike">
                <a:solidFill>
                  <a:srgbClr val="0B2B4E"/>
                </a:solidFill>
                <a:effectLst/>
                <a:uFillTx/>
                <a:latin typeface="Calibri"/>
              </a:rPr>
              <a:t>Group Exercise</a:t>
            </a:r>
            <a:endParaRPr lang="en-US" sz="1500" b="0" u="none" strike="noStrike">
              <a:solidFill>
                <a:srgbClr val="000000"/>
              </a:solidFill>
              <a:effectLst/>
              <a:uFillTx/>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31"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Segment Pricing</a:t>
            </a:r>
            <a:endParaRPr lang="en-US" sz="1600" b="0" u="none" strike="noStrike">
              <a:solidFill>
                <a:srgbClr val="000000"/>
              </a:solidFill>
              <a:effectLst/>
              <a:uFillTx/>
              <a:latin typeface="Arial"/>
            </a:endParaRPr>
          </a:p>
        </p:txBody>
      </p:sp>
      <p:sp>
        <p:nvSpPr>
          <p:cNvPr id="532"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Demand Elasticity and Mark-up: USA</a:t>
            </a:r>
            <a:endParaRPr lang="en-US" sz="3200" b="0" u="none" strike="noStrike">
              <a:solidFill>
                <a:srgbClr val="000000"/>
              </a:solidFill>
              <a:effectLst/>
              <a:uFillTx/>
              <a:latin typeface="Arial"/>
            </a:endParaRPr>
          </a:p>
        </p:txBody>
      </p:sp>
      <p:sp>
        <p:nvSpPr>
          <p:cNvPr id="533"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34"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35"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36"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37"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538"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36</a:t>
            </a:r>
            <a:endParaRPr lang="en-US" sz="1200" b="0" u="none" strike="noStrike">
              <a:solidFill>
                <a:srgbClr val="000000"/>
              </a:solidFill>
              <a:effectLst/>
              <a:uFillTx/>
              <a:latin typeface="Arial"/>
            </a:endParaRPr>
          </a:p>
        </p:txBody>
      </p:sp>
      <p:sp>
        <p:nvSpPr>
          <p:cNvPr id="539" name="TextBox 10"/>
          <p:cNvSpPr/>
          <p:nvPr/>
        </p:nvSpPr>
        <p:spPr>
          <a:xfrm>
            <a:off x="640080" y="1371600"/>
            <a:ext cx="73148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200" b="1" u="none" strike="noStrike">
                <a:solidFill>
                  <a:srgbClr val="0B2B4E"/>
                </a:solidFill>
                <a:effectLst/>
                <a:uFillTx/>
                <a:latin typeface="Calibri"/>
              </a:rPr>
              <a:t>Elasticity:</a:t>
            </a:r>
            <a:endParaRPr lang="en-US" sz="2200" b="0" u="none" strike="noStrike">
              <a:solidFill>
                <a:srgbClr val="000000"/>
              </a:solidFill>
              <a:effectLst/>
              <a:uFillTx/>
              <a:latin typeface="Arial"/>
            </a:endParaRPr>
          </a:p>
        </p:txBody>
      </p:sp>
      <p:sp>
        <p:nvSpPr>
          <p:cNvPr id="540" name="CLK00"/>
          <p:cNvSpPr/>
          <p:nvPr/>
        </p:nvSpPr>
        <p:spPr>
          <a:xfrm>
            <a:off x="1280160" y="1828800"/>
            <a:ext cx="10515240" cy="4111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2000" b="0" u="none" strike="noStrike">
                <a:solidFill>
                  <a:srgbClr val="0B2B4E"/>
                </a:solidFill>
                <a:effectLst/>
                <a:uFillTx/>
                <a:latin typeface="Cambria Math"/>
              </a:rPr>
              <a:t>P</a:t>
            </a:r>
            <a:r>
              <a:rPr lang="en-US" sz="1300" b="0" u="none" strike="noStrike" baseline="-25000">
                <a:solidFill>
                  <a:srgbClr val="0B2B4E"/>
                </a:solidFill>
                <a:effectLst/>
                <a:uFillTx/>
                <a:latin typeface="Cambria Math"/>
              </a:rPr>
              <a:t>US</a:t>
            </a:r>
            <a:r>
              <a:rPr lang="en-US" sz="2000" b="0" u="none" strike="noStrike">
                <a:solidFill>
                  <a:srgbClr val="0B2B4E"/>
                </a:solidFill>
                <a:effectLst/>
                <a:uFillTx/>
                <a:latin typeface="Cambria Math"/>
              </a:rPr>
              <a:t> = 160 − 4Q</a:t>
            </a:r>
            <a:r>
              <a:rPr lang="en-US" sz="1300" b="0" u="none" strike="noStrike" baseline="-25000">
                <a:solidFill>
                  <a:srgbClr val="0B2B4E"/>
                </a:solidFill>
                <a:effectLst/>
                <a:uFillTx/>
                <a:latin typeface="Cambria Math"/>
              </a:rPr>
              <a:t>US</a:t>
            </a:r>
            <a:r>
              <a:rPr lang="en-US" sz="2000" b="0" u="none" strike="noStrike">
                <a:solidFill>
                  <a:srgbClr val="0B2B4E"/>
                </a:solidFill>
                <a:effectLst/>
                <a:uFillTx/>
                <a:latin typeface="Cambria Math"/>
              </a:rPr>
              <a:t>   ⇒   Q</a:t>
            </a:r>
            <a:r>
              <a:rPr lang="en-US" sz="1300" b="0" u="none" strike="noStrike" baseline="-25000">
                <a:solidFill>
                  <a:srgbClr val="0B2B4E"/>
                </a:solidFill>
                <a:effectLst/>
                <a:uFillTx/>
                <a:latin typeface="Cambria Math"/>
              </a:rPr>
              <a:t>US</a:t>
            </a:r>
            <a:r>
              <a:rPr lang="en-US" sz="2000" b="0" u="none" strike="noStrike">
                <a:solidFill>
                  <a:srgbClr val="0B2B4E"/>
                </a:solidFill>
                <a:effectLst/>
                <a:uFillTx/>
                <a:latin typeface="Cambria Math"/>
              </a:rPr>
              <a:t> = 40 − 0.25P</a:t>
            </a:r>
            <a:r>
              <a:rPr lang="en-US" sz="1300" b="0" u="none" strike="noStrike" baseline="-25000">
                <a:solidFill>
                  <a:srgbClr val="0B2B4E"/>
                </a:solidFill>
                <a:effectLst/>
                <a:uFillTx/>
                <a:latin typeface="Cambria Math"/>
              </a:rPr>
              <a:t>US</a:t>
            </a:r>
            <a:endParaRPr lang="en-US" sz="1300" b="0" u="none" strike="noStrike">
              <a:solidFill>
                <a:srgbClr val="000000"/>
              </a:solidFill>
              <a:effectLst/>
              <a:uFillTx/>
              <a:latin typeface="Arial"/>
            </a:endParaRPr>
          </a:p>
        </p:txBody>
      </p:sp>
      <p:sp>
        <p:nvSpPr>
          <p:cNvPr id="541" name="CLK00"/>
          <p:cNvSpPr/>
          <p:nvPr/>
        </p:nvSpPr>
        <p:spPr>
          <a:xfrm>
            <a:off x="1280160" y="2286000"/>
            <a:ext cx="10515240" cy="4111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2000" b="0" u="none" strike="noStrike">
                <a:solidFill>
                  <a:srgbClr val="0B2B4E"/>
                </a:solidFill>
                <a:effectLst/>
                <a:uFillTx/>
                <a:latin typeface="Cambria Math"/>
              </a:rPr>
              <a:t>dQ</a:t>
            </a:r>
            <a:r>
              <a:rPr lang="en-US" sz="1300" b="0" u="none" strike="noStrike" baseline="-25000">
                <a:solidFill>
                  <a:srgbClr val="0B2B4E"/>
                </a:solidFill>
                <a:effectLst/>
                <a:uFillTx/>
                <a:latin typeface="Cambria Math"/>
              </a:rPr>
              <a:t>US</a:t>
            </a:r>
            <a:r>
              <a:rPr lang="en-US" sz="2000" b="0" u="none" strike="noStrike">
                <a:solidFill>
                  <a:srgbClr val="0B2B4E"/>
                </a:solidFill>
                <a:effectLst/>
                <a:uFillTx/>
                <a:latin typeface="Cambria Math"/>
              </a:rPr>
              <a:t>/dP</a:t>
            </a:r>
            <a:r>
              <a:rPr lang="en-US" sz="1300" b="0" u="none" strike="noStrike" baseline="-25000">
                <a:solidFill>
                  <a:srgbClr val="0B2B4E"/>
                </a:solidFill>
                <a:effectLst/>
                <a:uFillTx/>
                <a:latin typeface="Cambria Math"/>
              </a:rPr>
              <a:t>US</a:t>
            </a:r>
            <a:r>
              <a:rPr lang="en-US" sz="2000" b="0" u="none" strike="noStrike">
                <a:solidFill>
                  <a:srgbClr val="0B2B4E"/>
                </a:solidFill>
                <a:effectLst/>
                <a:uFillTx/>
                <a:latin typeface="Cambria Math"/>
              </a:rPr>
              <a:t> = −0.25   (slope of the demand curve)</a:t>
            </a:r>
            <a:endParaRPr lang="en-US" sz="2000" b="0" u="none" strike="noStrike">
              <a:solidFill>
                <a:srgbClr val="000000"/>
              </a:solidFill>
              <a:effectLst/>
              <a:uFillTx/>
              <a:latin typeface="Arial"/>
            </a:endParaRPr>
          </a:p>
        </p:txBody>
      </p:sp>
      <p:sp>
        <p:nvSpPr>
          <p:cNvPr id="542" name="CLK00"/>
          <p:cNvSpPr/>
          <p:nvPr/>
        </p:nvSpPr>
        <p:spPr>
          <a:xfrm>
            <a:off x="1280160" y="2788920"/>
            <a:ext cx="10515240" cy="4568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2000" b="0" u="none" strike="noStrike">
                <a:solidFill>
                  <a:srgbClr val="C0201B"/>
                </a:solidFill>
                <a:effectLst/>
                <a:uFillTx/>
                <a:latin typeface="Cambria Math"/>
              </a:rPr>
              <a:t>E</a:t>
            </a:r>
            <a:r>
              <a:rPr lang="en-US" sz="1300" b="0" u="none" strike="noStrike" baseline="-25000">
                <a:solidFill>
                  <a:srgbClr val="C0201B"/>
                </a:solidFill>
                <a:effectLst/>
                <a:uFillTx/>
                <a:latin typeface="Cambria Math"/>
              </a:rPr>
              <a:t>US</a:t>
            </a:r>
            <a:r>
              <a:rPr lang="en-US" sz="2000" b="0" u="none" strike="noStrike">
                <a:solidFill>
                  <a:srgbClr val="C0201B"/>
                </a:solidFill>
                <a:effectLst/>
                <a:uFillTx/>
                <a:latin typeface="Cambria Math"/>
              </a:rPr>
              <a:t>  = (dQ</a:t>
            </a:r>
            <a:r>
              <a:rPr lang="en-US" sz="1300" b="0" u="none" strike="noStrike" baseline="-25000">
                <a:solidFill>
                  <a:srgbClr val="C0201B"/>
                </a:solidFill>
                <a:effectLst/>
                <a:uFillTx/>
                <a:latin typeface="Cambria Math"/>
              </a:rPr>
              <a:t>US</a:t>
            </a:r>
            <a:r>
              <a:rPr lang="en-US" sz="2000" b="0" u="none" strike="noStrike">
                <a:solidFill>
                  <a:srgbClr val="C0201B"/>
                </a:solidFill>
                <a:effectLst/>
                <a:uFillTx/>
                <a:latin typeface="Cambria Math"/>
              </a:rPr>
              <a:t>/dP</a:t>
            </a:r>
            <a:r>
              <a:rPr lang="en-US" sz="1300" b="0" u="none" strike="noStrike" baseline="-25000">
                <a:solidFill>
                  <a:srgbClr val="C0201B"/>
                </a:solidFill>
                <a:effectLst/>
                <a:uFillTx/>
                <a:latin typeface="Cambria Math"/>
              </a:rPr>
              <a:t>US</a:t>
            </a:r>
            <a:r>
              <a:rPr lang="en-US" sz="2000" b="0" u="none" strike="noStrike">
                <a:solidFill>
                  <a:srgbClr val="C0201B"/>
                </a:solidFill>
                <a:effectLst/>
                <a:uFillTx/>
                <a:latin typeface="Cambria Math"/>
              </a:rPr>
              <a:t>)·(P</a:t>
            </a:r>
            <a:r>
              <a:rPr lang="en-US" sz="1300" b="0" u="none" strike="noStrike" baseline="-25000">
                <a:solidFill>
                  <a:srgbClr val="C0201B"/>
                </a:solidFill>
                <a:effectLst/>
                <a:uFillTx/>
                <a:latin typeface="Cambria Math"/>
              </a:rPr>
              <a:t>US</a:t>
            </a:r>
            <a:r>
              <a:rPr lang="en-US" sz="2000" b="0" u="none" strike="noStrike">
                <a:solidFill>
                  <a:srgbClr val="C0201B"/>
                </a:solidFill>
                <a:effectLst/>
                <a:uFillTx/>
                <a:latin typeface="Cambria Math"/>
              </a:rPr>
              <a:t>/Q</a:t>
            </a:r>
            <a:r>
              <a:rPr lang="en-US" sz="1300" b="0" u="none" strike="noStrike" baseline="-25000">
                <a:solidFill>
                  <a:srgbClr val="C0201B"/>
                </a:solidFill>
                <a:effectLst/>
                <a:uFillTx/>
                <a:latin typeface="Cambria Math"/>
              </a:rPr>
              <a:t>US</a:t>
            </a:r>
            <a:r>
              <a:rPr lang="en-US" sz="2000" b="0" u="none" strike="noStrike">
                <a:solidFill>
                  <a:srgbClr val="C0201B"/>
                </a:solidFill>
                <a:effectLst/>
                <a:uFillTx/>
                <a:latin typeface="Cambria Math"/>
              </a:rPr>
              <a:t>) = −0.25·(100/15) = −1.67</a:t>
            </a:r>
            <a:endParaRPr lang="en-US" sz="2000" b="0" u="none" strike="noStrike">
              <a:solidFill>
                <a:srgbClr val="000000"/>
              </a:solidFill>
              <a:effectLst/>
              <a:uFillTx/>
              <a:latin typeface="Arial"/>
            </a:endParaRPr>
          </a:p>
        </p:txBody>
      </p:sp>
      <p:sp>
        <p:nvSpPr>
          <p:cNvPr id="543" name="TextBox 14"/>
          <p:cNvSpPr/>
          <p:nvPr/>
        </p:nvSpPr>
        <p:spPr>
          <a:xfrm>
            <a:off x="640080" y="3429000"/>
            <a:ext cx="91436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200" b="1" u="none" strike="noStrike">
                <a:solidFill>
                  <a:srgbClr val="0B2B4E"/>
                </a:solidFill>
                <a:effectLst/>
                <a:uFillTx/>
                <a:latin typeface="Calibri"/>
              </a:rPr>
              <a:t>Lerner Index (mark-up):</a:t>
            </a:r>
            <a:endParaRPr lang="en-US" sz="2200" b="0" u="none" strike="noStrike">
              <a:solidFill>
                <a:srgbClr val="000000"/>
              </a:solidFill>
              <a:effectLst/>
              <a:uFillTx/>
              <a:latin typeface="Arial"/>
            </a:endParaRPr>
          </a:p>
        </p:txBody>
      </p:sp>
      <p:sp>
        <p:nvSpPr>
          <p:cNvPr id="544" name="CLK01"/>
          <p:cNvSpPr/>
          <p:nvPr/>
        </p:nvSpPr>
        <p:spPr>
          <a:xfrm>
            <a:off x="1280160" y="3931920"/>
            <a:ext cx="10515240" cy="4568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2000" b="0" u="none" strike="noStrike">
                <a:solidFill>
                  <a:srgbClr val="0B2B4E"/>
                </a:solidFill>
                <a:effectLst/>
                <a:uFillTx/>
                <a:latin typeface="Cambria Math"/>
              </a:rPr>
              <a:t>(P − MC)/P = (100 − 40)/100 = 0.6</a:t>
            </a:r>
            <a:endParaRPr lang="en-US" sz="2000" b="0" u="none" strike="noStrike">
              <a:solidFill>
                <a:srgbClr val="000000"/>
              </a:solidFill>
              <a:effectLst/>
              <a:uFillTx/>
              <a:latin typeface="Arial"/>
            </a:endParaRPr>
          </a:p>
        </p:txBody>
      </p:sp>
      <p:sp>
        <p:nvSpPr>
          <p:cNvPr id="545" name="CLK01"/>
          <p:cNvSpPr/>
          <p:nvPr/>
        </p:nvSpPr>
        <p:spPr>
          <a:xfrm>
            <a:off x="1280160" y="4480560"/>
            <a:ext cx="10515240" cy="4568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2000" b="0" u="none" strike="noStrike">
                <a:solidFill>
                  <a:srgbClr val="0B2B4E"/>
                </a:solidFill>
                <a:effectLst/>
                <a:uFillTx/>
                <a:latin typeface="Cambria Math"/>
              </a:rPr>
              <a:t>Recall (Module 5):  (P − MC)/P = 1 / |E</a:t>
            </a:r>
            <a:r>
              <a:rPr lang="en-US" sz="1300" b="0" u="none" strike="noStrike" baseline="-25000">
                <a:solidFill>
                  <a:srgbClr val="0B2B4E"/>
                </a:solidFill>
                <a:effectLst/>
                <a:uFillTx/>
                <a:latin typeface="Cambria Math"/>
              </a:rPr>
              <a:t>D</a:t>
            </a:r>
            <a:r>
              <a:rPr lang="en-US" sz="2000" b="0" u="none" strike="noStrike">
                <a:solidFill>
                  <a:srgbClr val="0B2B4E"/>
                </a:solidFill>
                <a:effectLst/>
                <a:uFillTx/>
                <a:latin typeface="Cambria Math"/>
              </a:rPr>
              <a:t>|</a:t>
            </a:r>
            <a:endParaRPr lang="en-US" sz="20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4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47"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Segment Pricing</a:t>
            </a:r>
            <a:endParaRPr lang="en-US" sz="1600" b="0" u="none" strike="noStrike">
              <a:solidFill>
                <a:srgbClr val="000000"/>
              </a:solidFill>
              <a:effectLst/>
              <a:uFillTx/>
              <a:latin typeface="Arial"/>
            </a:endParaRPr>
          </a:p>
        </p:txBody>
      </p:sp>
      <p:sp>
        <p:nvSpPr>
          <p:cNvPr id="548"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Demand Elasticity and Mark-up: Germany</a:t>
            </a:r>
            <a:endParaRPr lang="en-US" sz="3200" b="0" u="none" strike="noStrike">
              <a:solidFill>
                <a:srgbClr val="000000"/>
              </a:solidFill>
              <a:effectLst/>
              <a:uFillTx/>
              <a:latin typeface="Arial"/>
            </a:endParaRPr>
          </a:p>
        </p:txBody>
      </p:sp>
      <p:sp>
        <p:nvSpPr>
          <p:cNvPr id="549"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50"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51"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52"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53"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554"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37</a:t>
            </a:r>
            <a:endParaRPr lang="en-US" sz="1200" b="0" u="none" strike="noStrike">
              <a:solidFill>
                <a:srgbClr val="000000"/>
              </a:solidFill>
              <a:effectLst/>
              <a:uFillTx/>
              <a:latin typeface="Arial"/>
            </a:endParaRPr>
          </a:p>
        </p:txBody>
      </p:sp>
      <p:sp>
        <p:nvSpPr>
          <p:cNvPr id="555" name="TextBox 10"/>
          <p:cNvSpPr/>
          <p:nvPr/>
        </p:nvSpPr>
        <p:spPr>
          <a:xfrm>
            <a:off x="640080" y="1371600"/>
            <a:ext cx="73148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200" b="1" u="none" strike="noStrike">
                <a:solidFill>
                  <a:srgbClr val="0B2B4E"/>
                </a:solidFill>
                <a:effectLst/>
                <a:uFillTx/>
                <a:latin typeface="Calibri"/>
              </a:rPr>
              <a:t>Elasticity:</a:t>
            </a:r>
            <a:endParaRPr lang="en-US" sz="2200" b="0" u="none" strike="noStrike">
              <a:solidFill>
                <a:srgbClr val="000000"/>
              </a:solidFill>
              <a:effectLst/>
              <a:uFillTx/>
              <a:latin typeface="Arial"/>
            </a:endParaRPr>
          </a:p>
        </p:txBody>
      </p:sp>
      <p:sp>
        <p:nvSpPr>
          <p:cNvPr id="556" name="CLK00"/>
          <p:cNvSpPr/>
          <p:nvPr/>
        </p:nvSpPr>
        <p:spPr>
          <a:xfrm>
            <a:off x="1280160" y="1828800"/>
            <a:ext cx="10515240" cy="4111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2000" b="0" u="none" strike="noStrike">
                <a:solidFill>
                  <a:srgbClr val="0B2B4E"/>
                </a:solidFill>
                <a:effectLst/>
                <a:uFillTx/>
                <a:latin typeface="Cambria Math"/>
              </a:rPr>
              <a:t>P</a:t>
            </a:r>
            <a:r>
              <a:rPr lang="en-US" sz="1300" b="0" u="none" strike="noStrike" baseline="-25000">
                <a:solidFill>
                  <a:srgbClr val="0B2B4E"/>
                </a:solidFill>
                <a:effectLst/>
                <a:uFillTx/>
                <a:latin typeface="Cambria Math"/>
              </a:rPr>
              <a:t>G</a:t>
            </a:r>
            <a:r>
              <a:rPr lang="en-US" sz="2000" b="0" u="none" strike="noStrike">
                <a:solidFill>
                  <a:srgbClr val="0B2B4E"/>
                </a:solidFill>
                <a:effectLst/>
                <a:uFillTx/>
                <a:latin typeface="Cambria Math"/>
              </a:rPr>
              <a:t> = 140 − 5Q</a:t>
            </a:r>
            <a:r>
              <a:rPr lang="en-US" sz="1300" b="0" u="none" strike="noStrike" baseline="-25000">
                <a:solidFill>
                  <a:srgbClr val="0B2B4E"/>
                </a:solidFill>
                <a:effectLst/>
                <a:uFillTx/>
                <a:latin typeface="Cambria Math"/>
              </a:rPr>
              <a:t>G</a:t>
            </a:r>
            <a:r>
              <a:rPr lang="en-US" sz="2000" b="0" u="none" strike="noStrike">
                <a:solidFill>
                  <a:srgbClr val="0B2B4E"/>
                </a:solidFill>
                <a:effectLst/>
                <a:uFillTx/>
                <a:latin typeface="Cambria Math"/>
              </a:rPr>
              <a:t>   ⇒   Q</a:t>
            </a:r>
            <a:r>
              <a:rPr lang="en-US" sz="1300" b="0" u="none" strike="noStrike" baseline="-25000">
                <a:solidFill>
                  <a:srgbClr val="0B2B4E"/>
                </a:solidFill>
                <a:effectLst/>
                <a:uFillTx/>
                <a:latin typeface="Cambria Math"/>
              </a:rPr>
              <a:t>G</a:t>
            </a:r>
            <a:r>
              <a:rPr lang="en-US" sz="2000" b="0" u="none" strike="noStrike">
                <a:solidFill>
                  <a:srgbClr val="0B2B4E"/>
                </a:solidFill>
                <a:effectLst/>
                <a:uFillTx/>
                <a:latin typeface="Cambria Math"/>
              </a:rPr>
              <a:t> = 28 − 0.2P</a:t>
            </a:r>
            <a:r>
              <a:rPr lang="en-US" sz="1300" b="0" u="none" strike="noStrike" baseline="-25000">
                <a:solidFill>
                  <a:srgbClr val="0B2B4E"/>
                </a:solidFill>
                <a:effectLst/>
                <a:uFillTx/>
                <a:latin typeface="Cambria Math"/>
              </a:rPr>
              <a:t>G</a:t>
            </a:r>
            <a:endParaRPr lang="en-US" sz="1300" b="0" u="none" strike="noStrike">
              <a:solidFill>
                <a:srgbClr val="000000"/>
              </a:solidFill>
              <a:effectLst/>
              <a:uFillTx/>
              <a:latin typeface="Arial"/>
            </a:endParaRPr>
          </a:p>
        </p:txBody>
      </p:sp>
      <p:sp>
        <p:nvSpPr>
          <p:cNvPr id="557" name="CLK00"/>
          <p:cNvSpPr/>
          <p:nvPr/>
        </p:nvSpPr>
        <p:spPr>
          <a:xfrm>
            <a:off x="1280160" y="2286000"/>
            <a:ext cx="10515240" cy="4111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2000" b="0" u="none" strike="noStrike">
                <a:solidFill>
                  <a:srgbClr val="0B2B4E"/>
                </a:solidFill>
                <a:effectLst/>
                <a:uFillTx/>
                <a:latin typeface="Cambria Math"/>
              </a:rPr>
              <a:t>dQ</a:t>
            </a:r>
            <a:r>
              <a:rPr lang="en-US" sz="1300" b="0" u="none" strike="noStrike" baseline="-25000">
                <a:solidFill>
                  <a:srgbClr val="0B2B4E"/>
                </a:solidFill>
                <a:effectLst/>
                <a:uFillTx/>
                <a:latin typeface="Cambria Math"/>
              </a:rPr>
              <a:t>G</a:t>
            </a:r>
            <a:r>
              <a:rPr lang="en-US" sz="2000" b="0" u="none" strike="noStrike">
                <a:solidFill>
                  <a:srgbClr val="0B2B4E"/>
                </a:solidFill>
                <a:effectLst/>
                <a:uFillTx/>
                <a:latin typeface="Cambria Math"/>
              </a:rPr>
              <a:t>/dP</a:t>
            </a:r>
            <a:r>
              <a:rPr lang="en-US" sz="1300" b="0" u="none" strike="noStrike" baseline="-25000">
                <a:solidFill>
                  <a:srgbClr val="0B2B4E"/>
                </a:solidFill>
                <a:effectLst/>
                <a:uFillTx/>
                <a:latin typeface="Cambria Math"/>
              </a:rPr>
              <a:t>G</a:t>
            </a:r>
            <a:r>
              <a:rPr lang="en-US" sz="2000" b="0" u="none" strike="noStrike">
                <a:solidFill>
                  <a:srgbClr val="0B2B4E"/>
                </a:solidFill>
                <a:effectLst/>
                <a:uFillTx/>
                <a:latin typeface="Cambria Math"/>
              </a:rPr>
              <a:t> = −0.2   (slope of the demand curve)</a:t>
            </a:r>
            <a:endParaRPr lang="en-US" sz="2000" b="0" u="none" strike="noStrike">
              <a:solidFill>
                <a:srgbClr val="000000"/>
              </a:solidFill>
              <a:effectLst/>
              <a:uFillTx/>
              <a:latin typeface="Arial"/>
            </a:endParaRPr>
          </a:p>
        </p:txBody>
      </p:sp>
      <p:sp>
        <p:nvSpPr>
          <p:cNvPr id="558" name="CLK00"/>
          <p:cNvSpPr/>
          <p:nvPr/>
        </p:nvSpPr>
        <p:spPr>
          <a:xfrm>
            <a:off x="1280160" y="2788920"/>
            <a:ext cx="10515240" cy="4568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2000" b="0" u="none" strike="noStrike">
                <a:solidFill>
                  <a:srgbClr val="C0201B"/>
                </a:solidFill>
                <a:effectLst/>
                <a:uFillTx/>
                <a:latin typeface="Cambria Math"/>
              </a:rPr>
              <a:t>E</a:t>
            </a:r>
            <a:r>
              <a:rPr lang="en-US" sz="1300" b="0" u="none" strike="noStrike" baseline="-25000">
                <a:solidFill>
                  <a:srgbClr val="C0201B"/>
                </a:solidFill>
                <a:effectLst/>
                <a:uFillTx/>
                <a:latin typeface="Cambria Math"/>
              </a:rPr>
              <a:t>G</a:t>
            </a:r>
            <a:r>
              <a:rPr lang="en-US" sz="2000" b="0" u="none" strike="noStrike">
                <a:solidFill>
                  <a:srgbClr val="C0201B"/>
                </a:solidFill>
                <a:effectLst/>
                <a:uFillTx/>
                <a:latin typeface="Cambria Math"/>
              </a:rPr>
              <a:t>  = (dQ</a:t>
            </a:r>
            <a:r>
              <a:rPr lang="en-US" sz="1300" b="0" u="none" strike="noStrike" baseline="-25000">
                <a:solidFill>
                  <a:srgbClr val="C0201B"/>
                </a:solidFill>
                <a:effectLst/>
                <a:uFillTx/>
                <a:latin typeface="Cambria Math"/>
              </a:rPr>
              <a:t>G</a:t>
            </a:r>
            <a:r>
              <a:rPr lang="en-US" sz="2000" b="0" u="none" strike="noStrike">
                <a:solidFill>
                  <a:srgbClr val="C0201B"/>
                </a:solidFill>
                <a:effectLst/>
                <a:uFillTx/>
                <a:latin typeface="Cambria Math"/>
              </a:rPr>
              <a:t>/dP</a:t>
            </a:r>
            <a:r>
              <a:rPr lang="en-US" sz="1300" b="0" u="none" strike="noStrike" baseline="-25000">
                <a:solidFill>
                  <a:srgbClr val="C0201B"/>
                </a:solidFill>
                <a:effectLst/>
                <a:uFillTx/>
                <a:latin typeface="Cambria Math"/>
              </a:rPr>
              <a:t>G</a:t>
            </a:r>
            <a:r>
              <a:rPr lang="en-US" sz="2000" b="0" u="none" strike="noStrike">
                <a:solidFill>
                  <a:srgbClr val="C0201B"/>
                </a:solidFill>
                <a:effectLst/>
                <a:uFillTx/>
                <a:latin typeface="Cambria Math"/>
              </a:rPr>
              <a:t>)·(P</a:t>
            </a:r>
            <a:r>
              <a:rPr lang="en-US" sz="1300" b="0" u="none" strike="noStrike" baseline="-25000">
                <a:solidFill>
                  <a:srgbClr val="C0201B"/>
                </a:solidFill>
                <a:effectLst/>
                <a:uFillTx/>
                <a:latin typeface="Cambria Math"/>
              </a:rPr>
              <a:t>G</a:t>
            </a:r>
            <a:r>
              <a:rPr lang="en-US" sz="2000" b="0" u="none" strike="noStrike">
                <a:solidFill>
                  <a:srgbClr val="C0201B"/>
                </a:solidFill>
                <a:effectLst/>
                <a:uFillTx/>
                <a:latin typeface="Cambria Math"/>
              </a:rPr>
              <a:t>/Q</a:t>
            </a:r>
            <a:r>
              <a:rPr lang="en-US" sz="1300" b="0" u="none" strike="noStrike" baseline="-25000">
                <a:solidFill>
                  <a:srgbClr val="C0201B"/>
                </a:solidFill>
                <a:effectLst/>
                <a:uFillTx/>
                <a:latin typeface="Cambria Math"/>
              </a:rPr>
              <a:t>G</a:t>
            </a:r>
            <a:r>
              <a:rPr lang="en-US" sz="2000" b="0" u="none" strike="noStrike">
                <a:solidFill>
                  <a:srgbClr val="C0201B"/>
                </a:solidFill>
                <a:effectLst/>
                <a:uFillTx/>
                <a:latin typeface="Cambria Math"/>
              </a:rPr>
              <a:t>) = −0.2·(90/10) = −1.80</a:t>
            </a:r>
            <a:endParaRPr lang="en-US" sz="2000" b="0" u="none" strike="noStrike">
              <a:solidFill>
                <a:srgbClr val="000000"/>
              </a:solidFill>
              <a:effectLst/>
              <a:uFillTx/>
              <a:latin typeface="Arial"/>
            </a:endParaRPr>
          </a:p>
        </p:txBody>
      </p:sp>
      <p:sp>
        <p:nvSpPr>
          <p:cNvPr id="559" name="TextBox 14"/>
          <p:cNvSpPr/>
          <p:nvPr/>
        </p:nvSpPr>
        <p:spPr>
          <a:xfrm>
            <a:off x="640080" y="3429000"/>
            <a:ext cx="91436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200" b="1" u="none" strike="noStrike">
                <a:solidFill>
                  <a:srgbClr val="0B2B4E"/>
                </a:solidFill>
                <a:effectLst/>
                <a:uFillTx/>
                <a:latin typeface="Calibri"/>
              </a:rPr>
              <a:t>Lerner Index (mark-up):</a:t>
            </a:r>
            <a:endParaRPr lang="en-US" sz="2200" b="0" u="none" strike="noStrike">
              <a:solidFill>
                <a:srgbClr val="000000"/>
              </a:solidFill>
              <a:effectLst/>
              <a:uFillTx/>
              <a:latin typeface="Arial"/>
            </a:endParaRPr>
          </a:p>
        </p:txBody>
      </p:sp>
      <p:sp>
        <p:nvSpPr>
          <p:cNvPr id="560" name="CLK01"/>
          <p:cNvSpPr/>
          <p:nvPr/>
        </p:nvSpPr>
        <p:spPr>
          <a:xfrm>
            <a:off x="1280160" y="3931920"/>
            <a:ext cx="10515240" cy="4568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2000" b="0" u="none" strike="noStrike">
                <a:solidFill>
                  <a:srgbClr val="0B2B4E"/>
                </a:solidFill>
                <a:effectLst/>
                <a:uFillTx/>
                <a:latin typeface="Cambria Math"/>
              </a:rPr>
              <a:t>(P − MC)/P = (90 − 40)/90 = 0.56</a:t>
            </a:r>
            <a:endParaRPr lang="en-US" sz="2000" b="0" u="none" strike="noStrike">
              <a:solidFill>
                <a:srgbClr val="000000"/>
              </a:solidFill>
              <a:effectLst/>
              <a:uFillTx/>
              <a:latin typeface="Arial"/>
            </a:endParaRPr>
          </a:p>
        </p:txBody>
      </p:sp>
      <p:sp>
        <p:nvSpPr>
          <p:cNvPr id="561" name="CLK01"/>
          <p:cNvSpPr/>
          <p:nvPr/>
        </p:nvSpPr>
        <p:spPr>
          <a:xfrm>
            <a:off x="1280160" y="4480560"/>
            <a:ext cx="10515240" cy="4568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2000" b="0" u="none" strike="noStrike">
                <a:solidFill>
                  <a:srgbClr val="0B2B4E"/>
                </a:solidFill>
                <a:effectLst/>
                <a:uFillTx/>
                <a:latin typeface="Cambria Math"/>
              </a:rPr>
              <a:t>Lerner Index:  (P − MC)/P = 1 / |E</a:t>
            </a:r>
            <a:r>
              <a:rPr lang="en-US" sz="1300" b="0" u="none" strike="noStrike" baseline="-25000">
                <a:solidFill>
                  <a:srgbClr val="0B2B4E"/>
                </a:solidFill>
                <a:effectLst/>
                <a:uFillTx/>
                <a:latin typeface="Cambria Math"/>
              </a:rPr>
              <a:t>D</a:t>
            </a:r>
            <a:r>
              <a:rPr lang="en-US" sz="2000" b="0" u="none" strike="noStrike">
                <a:solidFill>
                  <a:srgbClr val="0B2B4E"/>
                </a:solidFill>
                <a:effectLst/>
                <a:uFillTx/>
                <a:latin typeface="Cambria Math"/>
              </a:rPr>
              <a:t>|</a:t>
            </a:r>
            <a:endParaRPr lang="en-US" sz="20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5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6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63"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Segment Pricing</a:t>
            </a:r>
            <a:endParaRPr lang="en-US" sz="1600" b="0" u="none" strike="noStrike">
              <a:solidFill>
                <a:srgbClr val="000000"/>
              </a:solidFill>
              <a:effectLst/>
              <a:uFillTx/>
              <a:latin typeface="Arial"/>
            </a:endParaRPr>
          </a:p>
        </p:txBody>
      </p:sp>
      <p:sp>
        <p:nvSpPr>
          <p:cNvPr id="564"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Segment Pricing: Take-Away</a:t>
            </a:r>
            <a:endParaRPr lang="en-US" sz="3200" b="0" u="none" strike="noStrike">
              <a:solidFill>
                <a:srgbClr val="000000"/>
              </a:solidFill>
              <a:effectLst/>
              <a:uFillTx/>
              <a:latin typeface="Arial"/>
            </a:endParaRPr>
          </a:p>
        </p:txBody>
      </p:sp>
      <p:sp>
        <p:nvSpPr>
          <p:cNvPr id="565"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66"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67"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68"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69"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570"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38</a:t>
            </a:r>
            <a:endParaRPr lang="en-US" sz="1200" b="0" u="none" strike="noStrike">
              <a:solidFill>
                <a:srgbClr val="000000"/>
              </a:solidFill>
              <a:effectLst/>
              <a:uFillTx/>
              <a:latin typeface="Arial"/>
            </a:endParaRPr>
          </a:p>
        </p:txBody>
      </p:sp>
      <p:sp>
        <p:nvSpPr>
          <p:cNvPr id="571" name="TXBLD_1010"/>
          <p:cNvSpPr/>
          <p:nvPr/>
        </p:nvSpPr>
        <p:spPr>
          <a:xfrm>
            <a:off x="502920" y="1737360"/>
            <a:ext cx="11155320" cy="3291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343080" indent="-343080" defTabSz="457200">
              <a:lnSpc>
                <a:spcPct val="100000"/>
              </a:lnSpc>
              <a:spcBef>
                <a:spcPts val="1599"/>
              </a:spcBef>
              <a:buClr>
                <a:srgbClr val="0B2B4E"/>
              </a:buClr>
              <a:buFont typeface="Calibri"/>
              <a:buChar char="▪"/>
            </a:pPr>
            <a:r>
              <a:rPr lang="en-US" sz="3200" b="1" u="none" strike="noStrike">
                <a:solidFill>
                  <a:srgbClr val="0B2B4E"/>
                </a:solidFill>
                <a:effectLst/>
                <a:uFillTx/>
                <a:latin typeface="Calibri"/>
              </a:rPr>
              <a:t>Optimization when selling in multiple markets:</a:t>
            </a:r>
            <a:endParaRPr lang="en-US" sz="3200" b="0" u="none" strike="noStrike">
              <a:solidFill>
                <a:srgbClr val="000000"/>
              </a:solidFill>
              <a:effectLst/>
              <a:uFillTx/>
              <a:latin typeface="Arial"/>
            </a:endParaRPr>
          </a:p>
          <a:p>
            <a:pPr marL="685800" lvl="1" indent="-228600" defTabSz="457200">
              <a:lnSpc>
                <a:spcPct val="100000"/>
              </a:lnSpc>
              <a:spcBef>
                <a:spcPts val="601"/>
              </a:spcBef>
              <a:buClr>
                <a:srgbClr val="555B66"/>
              </a:buClr>
              <a:buFont typeface="Calibri"/>
              <a:buChar char="–"/>
            </a:pPr>
            <a:r>
              <a:rPr lang="en-US" sz="2800" b="0" u="none" strike="noStrike">
                <a:solidFill>
                  <a:srgbClr val="555B66"/>
                </a:solidFill>
                <a:effectLst/>
                <a:uFillTx/>
                <a:latin typeface="Calibri"/>
              </a:rPr>
              <a:t>Set </a:t>
            </a:r>
            <a:r>
              <a:rPr lang="en-US" sz="2800" b="1" u="none" strike="noStrike">
                <a:solidFill>
                  <a:srgbClr val="555B66"/>
                </a:solidFill>
                <a:effectLst/>
                <a:uFillTx/>
                <a:latin typeface="Calibri"/>
              </a:rPr>
              <a:t>MR = MC</a:t>
            </a:r>
            <a:r>
              <a:rPr lang="en-US" sz="2800" b="0" u="none" strike="noStrike">
                <a:solidFill>
                  <a:srgbClr val="555B66"/>
                </a:solidFill>
                <a:effectLst/>
                <a:uFillTx/>
                <a:latin typeface="Calibri"/>
              </a:rPr>
              <a:t> in </a:t>
            </a:r>
            <a:r>
              <a:rPr lang="en-US" sz="2800" b="0" i="1" u="none" strike="noStrike">
                <a:solidFill>
                  <a:srgbClr val="555B66"/>
                </a:solidFill>
                <a:effectLst/>
                <a:uFillTx/>
                <a:latin typeface="Calibri"/>
              </a:rPr>
              <a:t>each</a:t>
            </a:r>
            <a:r>
              <a:rPr lang="en-US" sz="2800" b="0" u="none" strike="noStrike">
                <a:solidFill>
                  <a:srgbClr val="555B66"/>
                </a:solidFill>
                <a:effectLst/>
                <a:uFillTx/>
                <a:latin typeface="Calibri"/>
              </a:rPr>
              <a:t> market separately</a:t>
            </a:r>
            <a:endParaRPr lang="en-US" sz="2800" b="0" u="none" strike="noStrike">
              <a:solidFill>
                <a:srgbClr val="000000"/>
              </a:solidFill>
              <a:effectLst/>
              <a:uFillTx/>
              <a:latin typeface="Arial"/>
            </a:endParaRPr>
          </a:p>
          <a:p>
            <a:pPr marL="343080" indent="-343080" defTabSz="457200">
              <a:lnSpc>
                <a:spcPct val="100000"/>
              </a:lnSpc>
              <a:spcBef>
                <a:spcPts val="1599"/>
              </a:spcBef>
              <a:buClr>
                <a:srgbClr val="0B2B4E"/>
              </a:buClr>
              <a:buFont typeface="Calibri"/>
              <a:buChar char="▪"/>
            </a:pPr>
            <a:r>
              <a:rPr lang="en-US" sz="3200" b="1" u="none" strike="noStrike">
                <a:solidFill>
                  <a:srgbClr val="0B2B4E"/>
                </a:solidFill>
                <a:effectLst/>
                <a:uFillTx/>
                <a:latin typeface="Calibri"/>
              </a:rPr>
              <a:t>Elasticity:</a:t>
            </a:r>
            <a:endParaRPr lang="en-US" sz="3200" b="0" u="none" strike="noStrike">
              <a:solidFill>
                <a:srgbClr val="000000"/>
              </a:solidFill>
              <a:effectLst/>
              <a:uFillTx/>
              <a:latin typeface="Arial"/>
            </a:endParaRPr>
          </a:p>
          <a:p>
            <a:pPr marL="685800" lvl="1" indent="-228600" defTabSz="457200">
              <a:lnSpc>
                <a:spcPct val="100000"/>
              </a:lnSpc>
              <a:spcBef>
                <a:spcPts val="601"/>
              </a:spcBef>
              <a:buClr>
                <a:srgbClr val="555B66"/>
              </a:buClr>
              <a:buFont typeface="Calibri"/>
              <a:buChar char="–"/>
            </a:pPr>
            <a:r>
              <a:rPr lang="en-US" sz="2800" b="0" u="none" strike="noStrike">
                <a:solidFill>
                  <a:srgbClr val="555B66"/>
                </a:solidFill>
                <a:effectLst/>
                <a:uFillTx/>
                <a:latin typeface="Calibri"/>
              </a:rPr>
              <a:t>Charge a higher price in the less elastic market (BMW example: higher price in the US)</a:t>
            </a:r>
            <a:endParaRPr lang="en-US" sz="2800" b="0" u="none" strike="noStrike">
              <a:solidFill>
                <a:srgbClr val="000000"/>
              </a:solidFill>
              <a:effectLst/>
              <a:uFillTx/>
              <a:latin typeface="Arial"/>
            </a:endParaRPr>
          </a:p>
        </p:txBody>
      </p:sp>
      <p:sp>
        <p:nvSpPr>
          <p:cNvPr id="572" name="CLK00"/>
          <p:cNvSpPr/>
          <p:nvPr/>
        </p:nvSpPr>
        <p:spPr>
          <a:xfrm>
            <a:off x="4358520" y="5989320"/>
            <a:ext cx="3474360" cy="456840"/>
          </a:xfrm>
          <a:prstGeom prst="roundRect">
            <a:avLst>
              <a:gd name="adj" fmla="val 16667"/>
            </a:avLst>
          </a:prstGeom>
          <a:solidFill>
            <a:srgbClr val="FFFFFF"/>
          </a:solidFill>
          <a:ln w="19050">
            <a:solidFill>
              <a:srgbClr val="E09F3E"/>
            </a:solidFill>
            <a:round/>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r>
              <a:rPr lang="en-US" sz="1500" b="1" i="1" u="none" strike="noStrike">
                <a:solidFill>
                  <a:srgbClr val="0B2B4E"/>
                </a:solidFill>
                <a:effectLst/>
                <a:uFillTx/>
                <a:latin typeface="Calibri"/>
              </a:rPr>
              <a:t>Problem Set 4  ·  #4</a:t>
            </a:r>
            <a:endParaRPr lang="en-US" sz="15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7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71">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7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74"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Segment Pricing</a:t>
            </a:r>
            <a:endParaRPr lang="en-US" sz="1600" b="0" u="none" strike="noStrike">
              <a:solidFill>
                <a:srgbClr val="000000"/>
              </a:solidFill>
              <a:effectLst/>
              <a:uFillTx/>
              <a:latin typeface="Arial"/>
            </a:endParaRPr>
          </a:p>
        </p:txBody>
      </p:sp>
      <p:sp>
        <p:nvSpPr>
          <p:cNvPr id="575"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Challenges with Segment Pricing for BMW</a:t>
            </a:r>
            <a:endParaRPr lang="en-US" sz="3200" b="0" u="none" strike="noStrike">
              <a:solidFill>
                <a:srgbClr val="000000"/>
              </a:solidFill>
              <a:effectLst/>
              <a:uFillTx/>
              <a:latin typeface="Arial"/>
            </a:endParaRPr>
          </a:p>
        </p:txBody>
      </p:sp>
      <p:sp>
        <p:nvSpPr>
          <p:cNvPr id="576"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77"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78"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79"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80"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581"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39</a:t>
            </a:r>
            <a:endParaRPr lang="en-US" sz="1200" b="0" u="none" strike="noStrike">
              <a:solidFill>
                <a:srgbClr val="000000"/>
              </a:solidFill>
              <a:effectLst/>
              <a:uFillTx/>
              <a:latin typeface="Arial"/>
            </a:endParaRPr>
          </a:p>
        </p:txBody>
      </p:sp>
      <p:sp>
        <p:nvSpPr>
          <p:cNvPr id="582" name="TXBLD_1101"/>
          <p:cNvSpPr/>
          <p:nvPr/>
        </p:nvSpPr>
        <p:spPr>
          <a:xfrm>
            <a:off x="502920" y="1828800"/>
            <a:ext cx="11155320" cy="420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343080" indent="-343080" defTabSz="457200">
              <a:lnSpc>
                <a:spcPct val="100000"/>
              </a:lnSpc>
              <a:spcBef>
                <a:spcPts val="1400"/>
              </a:spcBef>
              <a:buClr>
                <a:srgbClr val="0B2B4E"/>
              </a:buClr>
              <a:buFont typeface="Calibri"/>
              <a:buChar char="▪"/>
            </a:pPr>
            <a:r>
              <a:rPr lang="en-US" sz="3200" b="0" u="none" strike="noStrike">
                <a:solidFill>
                  <a:srgbClr val="0B2B4E"/>
                </a:solidFill>
                <a:effectLst/>
                <a:uFillTx/>
                <a:latin typeface="Calibri"/>
              </a:rPr>
              <a:t>Suppose BMW sets very different prices in different countries — any problems?</a:t>
            </a:r>
            <a:endParaRPr lang="en-US" sz="3200" b="0" u="none" strike="noStrike">
              <a:solidFill>
                <a:srgbClr val="000000"/>
              </a:solidFill>
              <a:effectLst/>
              <a:uFillTx/>
              <a:latin typeface="Arial"/>
            </a:endParaRPr>
          </a:p>
          <a:p>
            <a:pPr marL="343080" indent="-343080" defTabSz="457200">
              <a:lnSpc>
                <a:spcPct val="100000"/>
              </a:lnSpc>
              <a:spcBef>
                <a:spcPts val="1400"/>
              </a:spcBef>
              <a:buClr>
                <a:srgbClr val="0B2B4E"/>
              </a:buClr>
              <a:buFont typeface="Calibri"/>
              <a:buChar char="▪"/>
            </a:pPr>
            <a:r>
              <a:rPr lang="en-US" sz="3200" b="1" u="none" strike="noStrike">
                <a:solidFill>
                  <a:srgbClr val="0B2B4E"/>
                </a:solidFill>
                <a:effectLst/>
                <a:uFillTx/>
                <a:latin typeface="Calibri"/>
              </a:rPr>
              <a:t>Arbitrage:</a:t>
            </a:r>
            <a:r>
              <a:rPr lang="en-US" sz="3200" b="0" u="none" strike="noStrike">
                <a:solidFill>
                  <a:srgbClr val="0B2B4E"/>
                </a:solidFill>
                <a:effectLst/>
                <a:uFillTx/>
                <a:latin typeface="Calibri"/>
              </a:rPr>
              <a:t> re-importation to the U.S.</a:t>
            </a:r>
            <a:endParaRPr lang="en-US" sz="3200" b="0" u="none" strike="noStrike">
              <a:solidFill>
                <a:srgbClr val="000000"/>
              </a:solidFill>
              <a:effectLst/>
              <a:uFillTx/>
              <a:latin typeface="Arial"/>
            </a:endParaRPr>
          </a:p>
          <a:p>
            <a:pPr marL="685800" lvl="1" indent="-228600" defTabSz="457200">
              <a:lnSpc>
                <a:spcPct val="100000"/>
              </a:lnSpc>
              <a:spcBef>
                <a:spcPts val="601"/>
              </a:spcBef>
              <a:buClr>
                <a:srgbClr val="555B66"/>
              </a:buClr>
              <a:buFont typeface="Calibri"/>
              <a:buChar char="–"/>
            </a:pPr>
            <a:r>
              <a:rPr lang="en-US" sz="2800" b="0" u="none" strike="noStrike">
                <a:solidFill>
                  <a:srgbClr val="555B66"/>
                </a:solidFill>
                <a:effectLst/>
                <a:uFillTx/>
                <a:latin typeface="Calibri"/>
              </a:rPr>
              <a:t>Hard here (miles vs. km; taxation), but easier elsewhere (e.g., textbooks from India)</a:t>
            </a:r>
            <a:endParaRPr lang="en-US" sz="2800" b="0" u="none" strike="noStrike">
              <a:solidFill>
                <a:srgbClr val="000000"/>
              </a:solidFill>
              <a:effectLst/>
              <a:uFillTx/>
              <a:latin typeface="Arial"/>
            </a:endParaRPr>
          </a:p>
          <a:p>
            <a:pPr marL="343080" indent="-343080" defTabSz="457200">
              <a:lnSpc>
                <a:spcPct val="100000"/>
              </a:lnSpc>
              <a:spcBef>
                <a:spcPts val="1400"/>
              </a:spcBef>
              <a:buClr>
                <a:srgbClr val="0B2B4E"/>
              </a:buClr>
              <a:buFont typeface="Calibri"/>
              <a:buChar char="▪"/>
            </a:pPr>
            <a:r>
              <a:rPr lang="en-US" sz="3200" b="1" u="none" strike="noStrike">
                <a:solidFill>
                  <a:srgbClr val="0B2B4E"/>
                </a:solidFill>
                <a:effectLst/>
                <a:uFillTx/>
                <a:latin typeface="Calibri"/>
              </a:rPr>
              <a:t>Consumer backlash</a:t>
            </a:r>
            <a:endParaRPr lang="en-US" sz="32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8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8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84"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Segment Pricing</a:t>
            </a:r>
            <a:endParaRPr lang="en-US" sz="1600" b="0" u="none" strike="noStrike">
              <a:solidFill>
                <a:srgbClr val="000000"/>
              </a:solidFill>
              <a:effectLst/>
              <a:uFillTx/>
              <a:latin typeface="Arial"/>
            </a:endParaRPr>
          </a:p>
        </p:txBody>
      </p:sp>
      <p:sp>
        <p:nvSpPr>
          <p:cNvPr id="585"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BMW Price Segmentation: A Graphical Answer</a:t>
            </a:r>
            <a:endParaRPr lang="en-US" sz="3200" b="0" u="none" strike="noStrike">
              <a:solidFill>
                <a:srgbClr val="000000"/>
              </a:solidFill>
              <a:effectLst/>
              <a:uFillTx/>
              <a:latin typeface="Arial"/>
            </a:endParaRPr>
          </a:p>
        </p:txBody>
      </p:sp>
      <p:sp>
        <p:nvSpPr>
          <p:cNvPr id="586"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87"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88"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89"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90"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591"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40</a:t>
            </a:r>
            <a:endParaRPr lang="en-US" sz="1200" b="0" u="none" strike="noStrike">
              <a:solidFill>
                <a:srgbClr val="000000"/>
              </a:solidFill>
              <a:effectLst/>
              <a:uFillTx/>
              <a:latin typeface="Arial"/>
            </a:endParaRPr>
          </a:p>
        </p:txBody>
      </p:sp>
      <p:sp>
        <p:nvSpPr>
          <p:cNvPr id="592" name="TextBox 10"/>
          <p:cNvSpPr/>
          <p:nvPr/>
        </p:nvSpPr>
        <p:spPr>
          <a:xfrm>
            <a:off x="365760" y="1298520"/>
            <a:ext cx="114296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2000" b="1" u="none" strike="noStrike">
                <a:solidFill>
                  <a:srgbClr val="C0201B"/>
                </a:solidFill>
                <a:effectLst/>
                <a:uFillTx/>
                <a:latin typeface="Calibri"/>
              </a:rPr>
              <a:t>Segment Pricing Profits (B + C)  &gt;  Uniform Pricing Profits (A)</a:t>
            </a:r>
            <a:endParaRPr lang="en-US" sz="2000" b="0" u="none" strike="noStrike">
              <a:solidFill>
                <a:srgbClr val="000000"/>
              </a:solidFill>
              <a:effectLst/>
              <a:uFillTx/>
              <a:latin typeface="Arial"/>
            </a:endParaRPr>
          </a:p>
        </p:txBody>
      </p:sp>
      <p:sp>
        <p:nvSpPr>
          <p:cNvPr id="593" name="Rectangle 11"/>
          <p:cNvSpPr/>
          <p:nvPr/>
        </p:nvSpPr>
        <p:spPr>
          <a:xfrm>
            <a:off x="274320" y="1874520"/>
            <a:ext cx="6446160" cy="3657240"/>
          </a:xfrm>
          <a:prstGeom prst="rect">
            <a:avLst/>
          </a:prstGeom>
          <a:noFill/>
          <a:ln w="25400">
            <a:solidFill>
              <a:srgbClr val="0B2B4E"/>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94" name="CLK08"/>
          <p:cNvSpPr/>
          <p:nvPr/>
        </p:nvSpPr>
        <p:spPr>
          <a:xfrm>
            <a:off x="6812280" y="1874520"/>
            <a:ext cx="4571640" cy="3657240"/>
          </a:xfrm>
          <a:prstGeom prst="rect">
            <a:avLst/>
          </a:prstGeom>
          <a:noFill/>
          <a:ln w="25400">
            <a:solidFill>
              <a:srgbClr val="0B2B4E"/>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595" name="TextBox 13"/>
          <p:cNvSpPr/>
          <p:nvPr/>
        </p:nvSpPr>
        <p:spPr>
          <a:xfrm>
            <a:off x="274320" y="2048400"/>
            <a:ext cx="64461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500" b="1" u="none" strike="noStrike">
                <a:solidFill>
                  <a:srgbClr val="0B2B4E"/>
                </a:solidFill>
                <a:effectLst/>
                <a:uFillTx/>
                <a:latin typeface="Calibri"/>
              </a:rPr>
              <a:t>Segment Pricing</a:t>
            </a:r>
            <a:endParaRPr lang="en-US" sz="1500" b="0" u="none" strike="noStrike">
              <a:solidFill>
                <a:srgbClr val="000000"/>
              </a:solidFill>
              <a:effectLst/>
              <a:uFillTx/>
              <a:latin typeface="Arial"/>
            </a:endParaRPr>
          </a:p>
        </p:txBody>
      </p:sp>
      <p:sp>
        <p:nvSpPr>
          <p:cNvPr id="596" name="CLK08"/>
          <p:cNvSpPr/>
          <p:nvPr/>
        </p:nvSpPr>
        <p:spPr>
          <a:xfrm>
            <a:off x="6812280" y="2048400"/>
            <a:ext cx="4571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500" b="1" u="none" strike="noStrike">
                <a:solidFill>
                  <a:srgbClr val="0B2B4E"/>
                </a:solidFill>
                <a:effectLst/>
                <a:uFillTx/>
                <a:latin typeface="Calibri"/>
              </a:rPr>
              <a:t>Uniform Pricing</a:t>
            </a:r>
            <a:endParaRPr lang="en-US" sz="1500" b="0" u="none" strike="noStrike">
              <a:solidFill>
                <a:srgbClr val="000000"/>
              </a:solidFill>
              <a:effectLst/>
              <a:uFillTx/>
              <a:latin typeface="Arial"/>
            </a:endParaRPr>
          </a:p>
        </p:txBody>
      </p:sp>
      <p:cxnSp>
        <p:nvCxnSpPr>
          <p:cNvPr id="597" name="Connector 15"/>
          <p:cNvCxnSpPr/>
          <p:nvPr/>
        </p:nvCxnSpPr>
        <p:spPr>
          <a:xfrm flipV="1">
            <a:off x="594360" y="2496240"/>
            <a:ext cx="720" cy="2441880"/>
          </a:xfrm>
          <a:prstGeom prst="straightConnector1">
            <a:avLst/>
          </a:prstGeom>
          <a:ln w="25400">
            <a:solidFill>
              <a:srgbClr val="0B2B4E"/>
            </a:solidFill>
            <a:round/>
            <a:tailEnd type="triangle" w="med" len="med"/>
          </a:ln>
        </p:spPr>
      </p:cxnSp>
      <p:cxnSp>
        <p:nvCxnSpPr>
          <p:cNvPr id="598" name="Connector 16"/>
          <p:cNvCxnSpPr/>
          <p:nvPr/>
        </p:nvCxnSpPr>
        <p:spPr>
          <a:xfrm>
            <a:off x="594360" y="4937760"/>
            <a:ext cx="2761560" cy="720"/>
          </a:xfrm>
          <a:prstGeom prst="straightConnector1">
            <a:avLst/>
          </a:prstGeom>
          <a:ln w="25400">
            <a:solidFill>
              <a:srgbClr val="0B2B4E"/>
            </a:solidFill>
            <a:round/>
            <a:tailEnd type="triangle" w="med" len="med"/>
          </a:ln>
        </p:spPr>
      </p:cxnSp>
      <p:sp>
        <p:nvSpPr>
          <p:cNvPr id="599" name="TextBox 17"/>
          <p:cNvSpPr/>
          <p:nvPr/>
        </p:nvSpPr>
        <p:spPr>
          <a:xfrm>
            <a:off x="457200" y="2112120"/>
            <a:ext cx="2377080" cy="36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b">
            <a:spAutoFit/>
          </a:bodyPr>
          <a:lstStyle/>
          <a:p>
            <a:pPr defTabSz="457200">
              <a:lnSpc>
                <a:spcPct val="100000"/>
              </a:lnSpc>
            </a:pPr>
            <a:r>
              <a:rPr lang="en-US" sz="1800" b="1" i="1" u="none" strike="noStrike">
                <a:solidFill>
                  <a:srgbClr val="0B2B4E"/>
                </a:solidFill>
                <a:effectLst/>
                <a:uFillTx/>
                <a:latin typeface="Calibri"/>
              </a:rPr>
              <a:t>P</a:t>
            </a:r>
            <a:endParaRPr lang="en-US" sz="1800" b="0" u="none" strike="noStrike">
              <a:solidFill>
                <a:srgbClr val="000000"/>
              </a:solidFill>
              <a:effectLst/>
              <a:uFillTx/>
              <a:latin typeface="Arial"/>
            </a:endParaRPr>
          </a:p>
        </p:txBody>
      </p:sp>
      <p:sp>
        <p:nvSpPr>
          <p:cNvPr id="600" name="TextBox 18"/>
          <p:cNvSpPr/>
          <p:nvPr/>
        </p:nvSpPr>
        <p:spPr>
          <a:xfrm>
            <a:off x="3264480" y="4992480"/>
            <a:ext cx="1645560" cy="36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457200">
              <a:lnSpc>
                <a:spcPct val="100000"/>
              </a:lnSpc>
            </a:pPr>
            <a:r>
              <a:rPr lang="en-US" sz="1800" b="1" i="1" u="none" strike="noStrike">
                <a:solidFill>
                  <a:srgbClr val="0B2B4E"/>
                </a:solidFill>
                <a:effectLst/>
                <a:uFillTx/>
                <a:latin typeface="Calibri"/>
              </a:rPr>
              <a:t>Q</a:t>
            </a:r>
            <a:endParaRPr lang="en-US" sz="1800" b="0" u="none" strike="noStrike">
              <a:solidFill>
                <a:srgbClr val="000000"/>
              </a:solidFill>
              <a:effectLst/>
              <a:uFillTx/>
              <a:latin typeface="Arial"/>
            </a:endParaRPr>
          </a:p>
        </p:txBody>
      </p:sp>
      <p:sp>
        <p:nvSpPr>
          <p:cNvPr id="601" name="CLK00"/>
          <p:cNvSpPr/>
          <p:nvPr/>
        </p:nvSpPr>
        <p:spPr>
          <a:xfrm>
            <a:off x="594360" y="2839320"/>
            <a:ext cx="1193040" cy="2098080"/>
          </a:xfrm>
          <a:custGeom>
            <a:avLst/>
            <a:gdLst>
              <a:gd name="textAreaLeft" fmla="*/ 0 w 1193040"/>
              <a:gd name="textAreaRight" fmla="*/ 1193400 w 1193040"/>
              <a:gd name="textAreaTop" fmla="*/ 0 h 2098080"/>
              <a:gd name="textAreaBottom" fmla="*/ 2098440 h 2098080"/>
            </a:gdLst>
            <a:ahLst/>
            <a:cxnLst/>
            <a:rect l="textAreaLeft" t="textAreaTop" r="textAreaRight" b="textAreaBottom"/>
            <a:pathLst>
              <a:path w="1193292" h="2098548">
                <a:moveTo>
                  <a:pt x="0" y="0"/>
                </a:moveTo>
                <a:lnTo>
                  <a:pt x="1193292" y="2098548"/>
                </a:lnTo>
              </a:path>
            </a:pathLst>
          </a:custGeom>
          <a:noFill/>
          <a:ln w="33020" cap="rnd">
            <a:solidFill>
              <a:srgbClr val="1F4E9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602" name="CLK01"/>
          <p:cNvSpPr/>
          <p:nvPr/>
        </p:nvSpPr>
        <p:spPr>
          <a:xfrm>
            <a:off x="594360" y="2839320"/>
            <a:ext cx="596160" cy="2098080"/>
          </a:xfrm>
          <a:custGeom>
            <a:avLst/>
            <a:gdLst>
              <a:gd name="textAreaLeft" fmla="*/ 0 w 596160"/>
              <a:gd name="textAreaRight" fmla="*/ 596520 w 596160"/>
              <a:gd name="textAreaTop" fmla="*/ 0 h 2098080"/>
              <a:gd name="textAreaBottom" fmla="*/ 2098440 h 2098080"/>
            </a:gdLst>
            <a:ahLst/>
            <a:cxnLst/>
            <a:rect l="textAreaLeft" t="textAreaTop" r="textAreaRight" b="textAreaBottom"/>
            <a:pathLst>
              <a:path w="596646" h="2098548">
                <a:moveTo>
                  <a:pt x="0" y="0"/>
                </a:moveTo>
                <a:lnTo>
                  <a:pt x="596646" y="2098548"/>
                </a:lnTo>
              </a:path>
            </a:pathLst>
          </a:custGeom>
          <a:noFill/>
          <a:ln w="21590" cap="rnd">
            <a:solidFill>
              <a:srgbClr val="1F4E9C"/>
            </a:solidFill>
            <a:prstDash val="sysDot"/>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cxnSp>
        <p:nvCxnSpPr>
          <p:cNvPr id="603" name="CLK02"/>
          <p:cNvCxnSpPr/>
          <p:nvPr/>
        </p:nvCxnSpPr>
        <p:spPr>
          <a:xfrm>
            <a:off x="594360" y="4471200"/>
            <a:ext cx="1299600" cy="720"/>
          </a:xfrm>
          <a:prstGeom prst="straightConnector1">
            <a:avLst/>
          </a:prstGeom>
          <a:ln w="22860">
            <a:solidFill>
              <a:srgbClr val="7B1E1E"/>
            </a:solidFill>
            <a:round/>
          </a:ln>
        </p:spPr>
      </p:cxnSp>
      <p:sp>
        <p:nvSpPr>
          <p:cNvPr id="604" name="CLK02"/>
          <p:cNvSpPr/>
          <p:nvPr/>
        </p:nvSpPr>
        <p:spPr>
          <a:xfrm>
            <a:off x="1549080" y="4270320"/>
            <a:ext cx="914040" cy="2739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1100" b="0" i="1" u="none" strike="noStrike">
                <a:solidFill>
                  <a:srgbClr val="7B1E1E"/>
                </a:solidFill>
                <a:effectLst/>
                <a:uFillTx/>
                <a:latin typeface="Cambria Math"/>
              </a:rPr>
              <a:t>MC</a:t>
            </a:r>
            <a:endParaRPr lang="en-US" sz="1100" b="0" u="none" strike="noStrike">
              <a:solidFill>
                <a:srgbClr val="000000"/>
              </a:solidFill>
              <a:effectLst/>
              <a:uFillTx/>
              <a:latin typeface="Arial"/>
            </a:endParaRPr>
          </a:p>
        </p:txBody>
      </p:sp>
      <p:sp>
        <p:nvSpPr>
          <p:cNvPr id="605" name="CLK03"/>
          <p:cNvSpPr/>
          <p:nvPr/>
        </p:nvSpPr>
        <p:spPr>
          <a:xfrm>
            <a:off x="594360" y="3655440"/>
            <a:ext cx="463680" cy="815760"/>
          </a:xfrm>
          <a:prstGeom prst="rect">
            <a:avLst/>
          </a:prstGeom>
          <a:solidFill>
            <a:srgbClr val="B8CCE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606" name="CLK03"/>
          <p:cNvSpPr/>
          <p:nvPr/>
        </p:nvSpPr>
        <p:spPr>
          <a:xfrm>
            <a:off x="957960" y="3554640"/>
            <a:ext cx="200880" cy="200880"/>
          </a:xfrm>
          <a:prstGeom prst="ellipse">
            <a:avLst/>
          </a:prstGeom>
          <a:solidFill>
            <a:srgbClr val="FFD400"/>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607" name="CLK03"/>
          <p:cNvSpPr/>
          <p:nvPr/>
        </p:nvSpPr>
        <p:spPr>
          <a:xfrm>
            <a:off x="957960" y="4370760"/>
            <a:ext cx="200880" cy="200880"/>
          </a:xfrm>
          <a:prstGeom prst="ellipse">
            <a:avLst/>
          </a:prstGeom>
          <a:solidFill>
            <a:srgbClr val="FFD400"/>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608" name="CLK00"/>
          <p:cNvSpPr/>
          <p:nvPr/>
        </p:nvSpPr>
        <p:spPr>
          <a:xfrm>
            <a:off x="1495800" y="4663080"/>
            <a:ext cx="1188360" cy="31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1300" b="0" i="1" u="none" strike="noStrike">
                <a:solidFill>
                  <a:srgbClr val="1F4E9C"/>
                </a:solidFill>
                <a:effectLst/>
                <a:uFillTx/>
                <a:latin typeface="Cambria Math"/>
              </a:rPr>
              <a:t>D</a:t>
            </a:r>
            <a:r>
              <a:rPr lang="en-US" sz="900" b="0" u="none" strike="noStrike" baseline="-25000">
                <a:solidFill>
                  <a:srgbClr val="1F4E9C"/>
                </a:solidFill>
                <a:effectLst/>
                <a:uFillTx/>
                <a:latin typeface="Cambria Math"/>
              </a:rPr>
              <a:t>US</a:t>
            </a:r>
            <a:endParaRPr lang="en-US" sz="900" b="0" u="none" strike="noStrike">
              <a:solidFill>
                <a:srgbClr val="000000"/>
              </a:solidFill>
              <a:effectLst/>
              <a:uFillTx/>
              <a:latin typeface="Arial"/>
            </a:endParaRPr>
          </a:p>
        </p:txBody>
      </p:sp>
      <p:sp>
        <p:nvSpPr>
          <p:cNvPr id="609" name="CLK01"/>
          <p:cNvSpPr/>
          <p:nvPr/>
        </p:nvSpPr>
        <p:spPr>
          <a:xfrm>
            <a:off x="780120" y="4956120"/>
            <a:ext cx="1371240" cy="31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1300" b="0" i="1" u="none" strike="noStrike">
                <a:solidFill>
                  <a:srgbClr val="1F4E9C"/>
                </a:solidFill>
                <a:effectLst/>
                <a:uFillTx/>
                <a:latin typeface="Cambria Math"/>
              </a:rPr>
              <a:t>MR</a:t>
            </a:r>
            <a:r>
              <a:rPr lang="en-US" sz="900" b="0" u="none" strike="noStrike" baseline="-25000">
                <a:solidFill>
                  <a:srgbClr val="1F4E9C"/>
                </a:solidFill>
                <a:effectLst/>
                <a:uFillTx/>
                <a:latin typeface="Cambria Math"/>
              </a:rPr>
              <a:t>US</a:t>
            </a:r>
            <a:endParaRPr lang="en-US" sz="900" b="0" u="none" strike="noStrike">
              <a:solidFill>
                <a:srgbClr val="000000"/>
              </a:solidFill>
              <a:effectLst/>
              <a:uFillTx/>
              <a:latin typeface="Arial"/>
            </a:endParaRPr>
          </a:p>
        </p:txBody>
      </p:sp>
      <p:sp>
        <p:nvSpPr>
          <p:cNvPr id="610" name="CLK03"/>
          <p:cNvSpPr/>
          <p:nvPr/>
        </p:nvSpPr>
        <p:spPr>
          <a:xfrm>
            <a:off x="687240" y="3935160"/>
            <a:ext cx="6397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200" b="1" u="none" strike="noStrike">
                <a:solidFill>
                  <a:srgbClr val="0B2B4E"/>
                </a:solidFill>
                <a:effectLst/>
                <a:uFillTx/>
                <a:latin typeface="Calibri"/>
              </a:rPr>
              <a:t>B</a:t>
            </a:r>
            <a:endParaRPr lang="en-US" sz="2200" b="0" u="none" strike="noStrike">
              <a:solidFill>
                <a:srgbClr val="000000"/>
              </a:solidFill>
              <a:effectLst/>
              <a:uFillTx/>
              <a:latin typeface="Arial"/>
            </a:endParaRPr>
          </a:p>
        </p:txBody>
      </p:sp>
      <p:sp>
        <p:nvSpPr>
          <p:cNvPr id="611" name="TextBox 29"/>
          <p:cNvSpPr/>
          <p:nvPr/>
        </p:nvSpPr>
        <p:spPr>
          <a:xfrm>
            <a:off x="1071720" y="2675880"/>
            <a:ext cx="15541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200" b="1" u="none" strike="noStrike">
                <a:solidFill>
                  <a:srgbClr val="0B2B4E"/>
                </a:solidFill>
                <a:effectLst/>
                <a:uFillTx/>
                <a:latin typeface="Calibri"/>
              </a:rPr>
              <a:t>US Market</a:t>
            </a:r>
            <a:endParaRPr lang="en-US" sz="1200" b="0" u="none" strike="noStrike">
              <a:solidFill>
                <a:srgbClr val="000000"/>
              </a:solidFill>
              <a:effectLst/>
              <a:uFillTx/>
              <a:latin typeface="Arial"/>
            </a:endParaRPr>
          </a:p>
        </p:txBody>
      </p:sp>
      <p:cxnSp>
        <p:nvCxnSpPr>
          <p:cNvPr id="612" name="Connector 30"/>
          <p:cNvCxnSpPr/>
          <p:nvPr/>
        </p:nvCxnSpPr>
        <p:spPr>
          <a:xfrm flipV="1">
            <a:off x="3611880" y="2496240"/>
            <a:ext cx="720" cy="2441880"/>
          </a:xfrm>
          <a:prstGeom prst="straightConnector1">
            <a:avLst/>
          </a:prstGeom>
          <a:ln w="25400">
            <a:solidFill>
              <a:srgbClr val="0B2B4E"/>
            </a:solidFill>
            <a:round/>
            <a:tailEnd type="triangle" w="med" len="med"/>
          </a:ln>
        </p:spPr>
      </p:cxnSp>
      <p:cxnSp>
        <p:nvCxnSpPr>
          <p:cNvPr id="613" name="Connector 31"/>
          <p:cNvCxnSpPr/>
          <p:nvPr/>
        </p:nvCxnSpPr>
        <p:spPr>
          <a:xfrm>
            <a:off x="3611880" y="4937760"/>
            <a:ext cx="2761560" cy="720"/>
          </a:xfrm>
          <a:prstGeom prst="straightConnector1">
            <a:avLst/>
          </a:prstGeom>
          <a:ln w="25400">
            <a:solidFill>
              <a:srgbClr val="0B2B4E"/>
            </a:solidFill>
            <a:round/>
            <a:tailEnd type="triangle" w="med" len="med"/>
          </a:ln>
        </p:spPr>
      </p:cxnSp>
      <p:sp>
        <p:nvSpPr>
          <p:cNvPr id="614" name="TextBox 32"/>
          <p:cNvSpPr/>
          <p:nvPr/>
        </p:nvSpPr>
        <p:spPr>
          <a:xfrm>
            <a:off x="6282000" y="4992480"/>
            <a:ext cx="1645560" cy="36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457200">
              <a:lnSpc>
                <a:spcPct val="100000"/>
              </a:lnSpc>
            </a:pPr>
            <a:r>
              <a:rPr lang="en-US" sz="1800" b="1" i="1" u="none" strike="noStrike">
                <a:solidFill>
                  <a:srgbClr val="0B2B4E"/>
                </a:solidFill>
                <a:effectLst/>
                <a:uFillTx/>
                <a:latin typeface="Calibri"/>
              </a:rPr>
              <a:t>Q</a:t>
            </a:r>
            <a:endParaRPr lang="en-US" sz="1800" b="0" u="none" strike="noStrike">
              <a:solidFill>
                <a:srgbClr val="000000"/>
              </a:solidFill>
              <a:effectLst/>
              <a:uFillTx/>
              <a:latin typeface="Arial"/>
            </a:endParaRPr>
          </a:p>
        </p:txBody>
      </p:sp>
      <p:sp>
        <p:nvSpPr>
          <p:cNvPr id="615" name="CLK04"/>
          <p:cNvSpPr/>
          <p:nvPr/>
        </p:nvSpPr>
        <p:spPr>
          <a:xfrm>
            <a:off x="3611880" y="3538800"/>
            <a:ext cx="2386080" cy="1398600"/>
          </a:xfrm>
          <a:custGeom>
            <a:avLst/>
            <a:gdLst>
              <a:gd name="textAreaLeft" fmla="*/ 0 w 2386080"/>
              <a:gd name="textAreaRight" fmla="*/ 2386440 w 2386080"/>
              <a:gd name="textAreaTop" fmla="*/ 0 h 1398600"/>
              <a:gd name="textAreaBottom" fmla="*/ 1398960 h 1398600"/>
            </a:gdLst>
            <a:ahLst/>
            <a:cxnLst/>
            <a:rect l="textAreaLeft" t="textAreaTop" r="textAreaRight" b="textAreaBottom"/>
            <a:pathLst>
              <a:path w="2386584" h="1399032">
                <a:moveTo>
                  <a:pt x="0" y="0"/>
                </a:moveTo>
                <a:lnTo>
                  <a:pt x="2386584" y="1399032"/>
                </a:lnTo>
              </a:path>
            </a:pathLst>
          </a:custGeom>
          <a:noFill/>
          <a:ln w="33020" cap="rnd">
            <a:solidFill>
              <a:srgbClr val="C0201B"/>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616" name="CLK05"/>
          <p:cNvSpPr/>
          <p:nvPr/>
        </p:nvSpPr>
        <p:spPr>
          <a:xfrm>
            <a:off x="3611880" y="3538800"/>
            <a:ext cx="1193040" cy="1398600"/>
          </a:xfrm>
          <a:custGeom>
            <a:avLst/>
            <a:gdLst>
              <a:gd name="textAreaLeft" fmla="*/ 0 w 1193040"/>
              <a:gd name="textAreaRight" fmla="*/ 1193400 w 1193040"/>
              <a:gd name="textAreaTop" fmla="*/ 0 h 1398600"/>
              <a:gd name="textAreaBottom" fmla="*/ 1398960 h 1398600"/>
            </a:gdLst>
            <a:ahLst/>
            <a:cxnLst/>
            <a:rect l="textAreaLeft" t="textAreaTop" r="textAreaRight" b="textAreaBottom"/>
            <a:pathLst>
              <a:path w="1193292" h="1399032">
                <a:moveTo>
                  <a:pt x="0" y="0"/>
                </a:moveTo>
                <a:lnTo>
                  <a:pt x="1193292" y="1399032"/>
                </a:lnTo>
              </a:path>
            </a:pathLst>
          </a:custGeom>
          <a:noFill/>
          <a:ln w="21590" cap="rnd">
            <a:solidFill>
              <a:srgbClr val="C0201B"/>
            </a:solidFill>
            <a:prstDash val="sysDot"/>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cxnSp>
        <p:nvCxnSpPr>
          <p:cNvPr id="617" name="CLK06"/>
          <p:cNvCxnSpPr/>
          <p:nvPr/>
        </p:nvCxnSpPr>
        <p:spPr>
          <a:xfrm>
            <a:off x="3611880" y="4471200"/>
            <a:ext cx="2493000" cy="720"/>
          </a:xfrm>
          <a:prstGeom prst="straightConnector1">
            <a:avLst/>
          </a:prstGeom>
          <a:ln w="22860">
            <a:solidFill>
              <a:srgbClr val="7B1E1E"/>
            </a:solidFill>
            <a:round/>
          </a:ln>
        </p:spPr>
      </p:cxnSp>
      <p:sp>
        <p:nvSpPr>
          <p:cNvPr id="618" name="CLK06"/>
          <p:cNvSpPr/>
          <p:nvPr/>
        </p:nvSpPr>
        <p:spPr>
          <a:xfrm>
            <a:off x="5547600" y="4270320"/>
            <a:ext cx="914040" cy="2739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1100" b="0" i="1" u="none" strike="noStrike">
                <a:solidFill>
                  <a:srgbClr val="7B1E1E"/>
                </a:solidFill>
                <a:effectLst/>
                <a:uFillTx/>
                <a:latin typeface="Cambria Math"/>
              </a:rPr>
              <a:t>MC</a:t>
            </a:r>
            <a:endParaRPr lang="en-US" sz="1100" b="0" u="none" strike="noStrike">
              <a:solidFill>
                <a:srgbClr val="000000"/>
              </a:solidFill>
              <a:effectLst/>
              <a:uFillTx/>
              <a:latin typeface="Arial"/>
            </a:endParaRPr>
          </a:p>
        </p:txBody>
      </p:sp>
      <p:sp>
        <p:nvSpPr>
          <p:cNvPr id="619" name="CLK07"/>
          <p:cNvSpPr/>
          <p:nvPr/>
        </p:nvSpPr>
        <p:spPr>
          <a:xfrm>
            <a:off x="3611880" y="4005000"/>
            <a:ext cx="795240" cy="465840"/>
          </a:xfrm>
          <a:prstGeom prst="rect">
            <a:avLst/>
          </a:prstGeom>
          <a:solidFill>
            <a:srgbClr val="E5B9B5"/>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620" name="CLK07"/>
          <p:cNvSpPr/>
          <p:nvPr/>
        </p:nvSpPr>
        <p:spPr>
          <a:xfrm>
            <a:off x="4306680" y="3904560"/>
            <a:ext cx="200880" cy="200880"/>
          </a:xfrm>
          <a:prstGeom prst="ellipse">
            <a:avLst/>
          </a:prstGeom>
          <a:solidFill>
            <a:srgbClr val="FFD400"/>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621" name="CLK07"/>
          <p:cNvSpPr/>
          <p:nvPr/>
        </p:nvSpPr>
        <p:spPr>
          <a:xfrm>
            <a:off x="4306680" y="4370760"/>
            <a:ext cx="200880" cy="200880"/>
          </a:xfrm>
          <a:prstGeom prst="ellipse">
            <a:avLst/>
          </a:prstGeom>
          <a:solidFill>
            <a:srgbClr val="FFD400"/>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622" name="CLK04"/>
          <p:cNvSpPr/>
          <p:nvPr/>
        </p:nvSpPr>
        <p:spPr>
          <a:xfrm>
            <a:off x="5441760" y="4663080"/>
            <a:ext cx="1188360" cy="31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1300" b="0" i="1" u="none" strike="noStrike">
                <a:solidFill>
                  <a:srgbClr val="C0201B"/>
                </a:solidFill>
                <a:effectLst/>
                <a:uFillTx/>
                <a:latin typeface="Cambria Math"/>
              </a:rPr>
              <a:t>D</a:t>
            </a:r>
            <a:r>
              <a:rPr lang="en-US" sz="900" b="0" u="none" strike="noStrike" baseline="-25000">
                <a:solidFill>
                  <a:srgbClr val="C0201B"/>
                </a:solidFill>
                <a:effectLst/>
                <a:uFillTx/>
                <a:latin typeface="Cambria Math"/>
              </a:rPr>
              <a:t>G</a:t>
            </a:r>
            <a:endParaRPr lang="en-US" sz="900" b="0" u="none" strike="noStrike">
              <a:solidFill>
                <a:srgbClr val="000000"/>
              </a:solidFill>
              <a:effectLst/>
              <a:uFillTx/>
              <a:latin typeface="Arial"/>
            </a:endParaRPr>
          </a:p>
        </p:txBody>
      </p:sp>
      <p:sp>
        <p:nvSpPr>
          <p:cNvPr id="623" name="CLK05"/>
          <p:cNvSpPr/>
          <p:nvPr/>
        </p:nvSpPr>
        <p:spPr>
          <a:xfrm>
            <a:off x="4566600" y="4956120"/>
            <a:ext cx="1371240" cy="31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1300" b="0" i="1" u="none" strike="noStrike">
                <a:solidFill>
                  <a:srgbClr val="C0201B"/>
                </a:solidFill>
                <a:effectLst/>
                <a:uFillTx/>
                <a:latin typeface="Cambria Math"/>
              </a:rPr>
              <a:t>MR</a:t>
            </a:r>
            <a:r>
              <a:rPr lang="en-US" sz="900" b="0" u="none" strike="noStrike" baseline="-25000">
                <a:solidFill>
                  <a:srgbClr val="C0201B"/>
                </a:solidFill>
                <a:effectLst/>
                <a:uFillTx/>
                <a:latin typeface="Cambria Math"/>
              </a:rPr>
              <a:t>G</a:t>
            </a:r>
            <a:endParaRPr lang="en-US" sz="900" b="0" u="none" strike="noStrike">
              <a:solidFill>
                <a:srgbClr val="000000"/>
              </a:solidFill>
              <a:effectLst/>
              <a:uFillTx/>
              <a:latin typeface="Arial"/>
            </a:endParaRPr>
          </a:p>
        </p:txBody>
      </p:sp>
      <p:sp>
        <p:nvSpPr>
          <p:cNvPr id="624" name="CLK07"/>
          <p:cNvSpPr/>
          <p:nvPr/>
        </p:nvSpPr>
        <p:spPr>
          <a:xfrm>
            <a:off x="3877200" y="4168440"/>
            <a:ext cx="6397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200" b="1" u="none" strike="noStrike">
                <a:solidFill>
                  <a:srgbClr val="0B2B4E"/>
                </a:solidFill>
                <a:effectLst/>
                <a:uFillTx/>
                <a:latin typeface="Calibri"/>
              </a:rPr>
              <a:t>C</a:t>
            </a:r>
            <a:endParaRPr lang="en-US" sz="2200" b="0" u="none" strike="noStrike">
              <a:solidFill>
                <a:srgbClr val="000000"/>
              </a:solidFill>
              <a:effectLst/>
              <a:uFillTx/>
              <a:latin typeface="Arial"/>
            </a:endParaRPr>
          </a:p>
        </p:txBody>
      </p:sp>
      <p:sp>
        <p:nvSpPr>
          <p:cNvPr id="625" name="TextBox 43"/>
          <p:cNvSpPr/>
          <p:nvPr/>
        </p:nvSpPr>
        <p:spPr>
          <a:xfrm>
            <a:off x="4115880" y="2675880"/>
            <a:ext cx="18284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200" b="1" u="none" strike="noStrike">
                <a:solidFill>
                  <a:srgbClr val="0B2B4E"/>
                </a:solidFill>
                <a:effectLst/>
                <a:uFillTx/>
                <a:latin typeface="Calibri"/>
              </a:rPr>
              <a:t>German Market</a:t>
            </a:r>
            <a:endParaRPr lang="en-US" sz="1200" b="0" u="none" strike="noStrike">
              <a:solidFill>
                <a:srgbClr val="000000"/>
              </a:solidFill>
              <a:effectLst/>
              <a:uFillTx/>
              <a:latin typeface="Arial"/>
            </a:endParaRPr>
          </a:p>
        </p:txBody>
      </p:sp>
      <p:cxnSp>
        <p:nvCxnSpPr>
          <p:cNvPr id="626" name="CLK08"/>
          <p:cNvCxnSpPr/>
          <p:nvPr/>
        </p:nvCxnSpPr>
        <p:spPr>
          <a:xfrm flipV="1">
            <a:off x="7132320" y="2377440"/>
            <a:ext cx="720" cy="2560680"/>
          </a:xfrm>
          <a:prstGeom prst="straightConnector1">
            <a:avLst/>
          </a:prstGeom>
          <a:ln w="25400">
            <a:solidFill>
              <a:srgbClr val="0B2B4E"/>
            </a:solidFill>
            <a:round/>
            <a:tailEnd type="triangle" w="med" len="med"/>
          </a:ln>
        </p:spPr>
      </p:cxnSp>
      <p:cxnSp>
        <p:nvCxnSpPr>
          <p:cNvPr id="627" name="CLK08"/>
          <p:cNvCxnSpPr/>
          <p:nvPr/>
        </p:nvCxnSpPr>
        <p:spPr>
          <a:xfrm>
            <a:off x="7132320" y="4937760"/>
            <a:ext cx="3822480" cy="720"/>
          </a:xfrm>
          <a:prstGeom prst="straightConnector1">
            <a:avLst/>
          </a:prstGeom>
          <a:ln w="25400">
            <a:solidFill>
              <a:srgbClr val="0B2B4E"/>
            </a:solidFill>
            <a:round/>
            <a:tailEnd type="triangle" w="med" len="med"/>
          </a:ln>
        </p:spPr>
      </p:cxnSp>
      <p:sp>
        <p:nvSpPr>
          <p:cNvPr id="628" name="CLK08"/>
          <p:cNvSpPr/>
          <p:nvPr/>
        </p:nvSpPr>
        <p:spPr>
          <a:xfrm>
            <a:off x="6995160" y="2112120"/>
            <a:ext cx="2377080" cy="36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b">
            <a:spAutoFit/>
          </a:bodyPr>
          <a:lstStyle/>
          <a:p>
            <a:pPr defTabSz="457200">
              <a:lnSpc>
                <a:spcPct val="100000"/>
              </a:lnSpc>
            </a:pPr>
            <a:r>
              <a:rPr lang="en-US" sz="1800" b="1" i="1" u="none" strike="noStrike">
                <a:solidFill>
                  <a:srgbClr val="0B2B4E"/>
                </a:solidFill>
                <a:effectLst/>
                <a:uFillTx/>
                <a:latin typeface="Calibri"/>
              </a:rPr>
              <a:t>P</a:t>
            </a:r>
            <a:endParaRPr lang="en-US" sz="1800" b="0" u="none" strike="noStrike">
              <a:solidFill>
                <a:srgbClr val="000000"/>
              </a:solidFill>
              <a:effectLst/>
              <a:uFillTx/>
              <a:latin typeface="Arial"/>
            </a:endParaRPr>
          </a:p>
        </p:txBody>
      </p:sp>
      <p:sp>
        <p:nvSpPr>
          <p:cNvPr id="629" name="CLK08"/>
          <p:cNvSpPr/>
          <p:nvPr/>
        </p:nvSpPr>
        <p:spPr>
          <a:xfrm>
            <a:off x="10863000" y="4992480"/>
            <a:ext cx="1645560" cy="36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457200">
              <a:lnSpc>
                <a:spcPct val="100000"/>
              </a:lnSpc>
            </a:pPr>
            <a:r>
              <a:rPr lang="en-US" sz="1800" b="1" i="1" u="none" strike="noStrike">
                <a:solidFill>
                  <a:srgbClr val="0B2B4E"/>
                </a:solidFill>
                <a:effectLst/>
                <a:uFillTx/>
                <a:latin typeface="Calibri"/>
              </a:rPr>
              <a:t>Q</a:t>
            </a:r>
            <a:endParaRPr lang="en-US" sz="1800" b="0" u="none" strike="noStrike">
              <a:solidFill>
                <a:srgbClr val="000000"/>
              </a:solidFill>
              <a:effectLst/>
              <a:uFillTx/>
              <a:latin typeface="Arial"/>
            </a:endParaRPr>
          </a:p>
        </p:txBody>
      </p:sp>
      <p:sp>
        <p:nvSpPr>
          <p:cNvPr id="630" name="CLK10"/>
          <p:cNvSpPr/>
          <p:nvPr/>
        </p:nvSpPr>
        <p:spPr>
          <a:xfrm>
            <a:off x="7132320" y="2839320"/>
            <a:ext cx="397440" cy="699120"/>
          </a:xfrm>
          <a:custGeom>
            <a:avLst/>
            <a:gdLst>
              <a:gd name="textAreaLeft" fmla="*/ 0 w 397440"/>
              <a:gd name="textAreaRight" fmla="*/ 397800 w 397440"/>
              <a:gd name="textAreaTop" fmla="*/ 0 h 699120"/>
              <a:gd name="textAreaBottom" fmla="*/ 699480 h 699120"/>
            </a:gdLst>
            <a:ahLst/>
            <a:cxnLst/>
            <a:rect l="textAreaLeft" t="textAreaTop" r="textAreaRight" b="textAreaBottom"/>
            <a:pathLst>
              <a:path w="397763" h="699516">
                <a:moveTo>
                  <a:pt x="0" y="0"/>
                </a:moveTo>
                <a:lnTo>
                  <a:pt x="397763" y="699516"/>
                </a:lnTo>
              </a:path>
            </a:pathLst>
          </a:custGeom>
          <a:noFill/>
          <a:ln w="38100" cap="rnd">
            <a:solidFill>
              <a:srgbClr val="7030A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631" name="CLK11"/>
          <p:cNvSpPr/>
          <p:nvPr/>
        </p:nvSpPr>
        <p:spPr>
          <a:xfrm>
            <a:off x="7530120" y="3538800"/>
            <a:ext cx="3181680" cy="1398600"/>
          </a:xfrm>
          <a:custGeom>
            <a:avLst/>
            <a:gdLst>
              <a:gd name="textAreaLeft" fmla="*/ 0 w 3181680"/>
              <a:gd name="textAreaRight" fmla="*/ 3182040 w 3181680"/>
              <a:gd name="textAreaTop" fmla="*/ 0 h 1398600"/>
              <a:gd name="textAreaBottom" fmla="*/ 1398960 h 1398600"/>
            </a:gdLst>
            <a:ahLst/>
            <a:cxnLst/>
            <a:rect l="textAreaLeft" t="textAreaTop" r="textAreaRight" b="textAreaBottom"/>
            <a:pathLst>
              <a:path w="3182113" h="1399032">
                <a:moveTo>
                  <a:pt x="0" y="0"/>
                </a:moveTo>
                <a:lnTo>
                  <a:pt x="3182113" y="1399032"/>
                </a:lnTo>
              </a:path>
            </a:pathLst>
          </a:custGeom>
          <a:noFill/>
          <a:ln w="38100" cap="rnd">
            <a:solidFill>
              <a:srgbClr val="7030A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632" name="CLK12"/>
          <p:cNvSpPr/>
          <p:nvPr/>
        </p:nvSpPr>
        <p:spPr>
          <a:xfrm>
            <a:off x="7132320" y="2839320"/>
            <a:ext cx="397440" cy="1398600"/>
          </a:xfrm>
          <a:custGeom>
            <a:avLst/>
            <a:gdLst>
              <a:gd name="textAreaLeft" fmla="*/ 0 w 397440"/>
              <a:gd name="textAreaRight" fmla="*/ 397800 w 397440"/>
              <a:gd name="textAreaTop" fmla="*/ 0 h 1398600"/>
              <a:gd name="textAreaBottom" fmla="*/ 1398960 h 1398600"/>
            </a:gdLst>
            <a:ahLst/>
            <a:cxnLst/>
            <a:rect l="textAreaLeft" t="textAreaTop" r="textAreaRight" b="textAreaBottom"/>
            <a:pathLst>
              <a:path w="397763" h="1399032">
                <a:moveTo>
                  <a:pt x="0" y="0"/>
                </a:moveTo>
                <a:lnTo>
                  <a:pt x="397763" y="1399032"/>
                </a:lnTo>
              </a:path>
            </a:pathLst>
          </a:custGeom>
          <a:noFill/>
          <a:ln w="20320" cap="rnd">
            <a:solidFill>
              <a:srgbClr val="7030A0"/>
            </a:solidFill>
            <a:prstDash val="sysDot"/>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633" name="CLK13"/>
          <p:cNvSpPr/>
          <p:nvPr/>
        </p:nvSpPr>
        <p:spPr>
          <a:xfrm>
            <a:off x="7530120" y="3713760"/>
            <a:ext cx="1391760" cy="1223640"/>
          </a:xfrm>
          <a:custGeom>
            <a:avLst/>
            <a:gdLst>
              <a:gd name="textAreaLeft" fmla="*/ 0 w 1391760"/>
              <a:gd name="textAreaRight" fmla="*/ 1392120 w 1391760"/>
              <a:gd name="textAreaTop" fmla="*/ 0 h 1223640"/>
              <a:gd name="textAreaBottom" fmla="*/ 1224000 h 1223640"/>
            </a:gdLst>
            <a:ahLst/>
            <a:cxnLst/>
            <a:rect l="textAreaLeft" t="textAreaTop" r="textAreaRight" b="textAreaBottom"/>
            <a:pathLst>
              <a:path w="1392175" h="1224153">
                <a:moveTo>
                  <a:pt x="0" y="0"/>
                </a:moveTo>
                <a:lnTo>
                  <a:pt x="1392175" y="1224153"/>
                </a:lnTo>
              </a:path>
            </a:pathLst>
          </a:custGeom>
          <a:noFill/>
          <a:ln w="20320" cap="rnd">
            <a:solidFill>
              <a:srgbClr val="7030A0"/>
            </a:solidFill>
            <a:prstDash val="sysDot"/>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634" name="CLK13"/>
          <p:cNvSpPr/>
          <p:nvPr/>
        </p:nvSpPr>
        <p:spPr>
          <a:xfrm>
            <a:off x="7530120" y="3713760"/>
            <a:ext cx="360" cy="524160"/>
          </a:xfrm>
          <a:custGeom>
            <a:avLst/>
            <a:gdLst>
              <a:gd name="textAreaLeft" fmla="*/ 0 w 360"/>
              <a:gd name="textAreaRight" fmla="*/ 720 w 360"/>
              <a:gd name="textAreaTop" fmla="*/ 0 h 524160"/>
              <a:gd name="textAreaBottom" fmla="*/ 524520 h 524160"/>
            </a:gdLst>
            <a:ahLst/>
            <a:cxnLst/>
            <a:rect l="textAreaLeft" t="textAreaTop" r="textAreaRight" b="textAreaBottom"/>
            <a:pathLst>
              <a:path h="524637">
                <a:moveTo>
                  <a:pt x="0" y="524637"/>
                </a:moveTo>
                <a:lnTo>
                  <a:pt x="0" y="0"/>
                </a:lnTo>
              </a:path>
            </a:pathLst>
          </a:custGeom>
          <a:noFill/>
          <a:ln w="13970" cap="rnd">
            <a:solidFill>
              <a:srgbClr val="7030A0"/>
            </a:solidFill>
            <a:prstDash val="sysDot"/>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cxnSp>
        <p:nvCxnSpPr>
          <p:cNvPr id="635" name="CLK14"/>
          <p:cNvCxnSpPr/>
          <p:nvPr/>
        </p:nvCxnSpPr>
        <p:spPr>
          <a:xfrm>
            <a:off x="7132320" y="4471200"/>
            <a:ext cx="3580200" cy="720"/>
          </a:xfrm>
          <a:prstGeom prst="straightConnector1">
            <a:avLst/>
          </a:prstGeom>
          <a:ln w="22860">
            <a:solidFill>
              <a:srgbClr val="7B1E1E"/>
            </a:solidFill>
            <a:round/>
          </a:ln>
        </p:spPr>
      </p:cxnSp>
      <p:sp>
        <p:nvSpPr>
          <p:cNvPr id="636" name="CLK15"/>
          <p:cNvSpPr/>
          <p:nvPr/>
        </p:nvSpPr>
        <p:spPr>
          <a:xfrm>
            <a:off x="7132320" y="3917520"/>
            <a:ext cx="1259280" cy="553320"/>
          </a:xfrm>
          <a:prstGeom prst="rect">
            <a:avLst/>
          </a:prstGeom>
          <a:solidFill>
            <a:srgbClr val="D9C4E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637" name="CLK15"/>
          <p:cNvSpPr/>
          <p:nvPr/>
        </p:nvSpPr>
        <p:spPr>
          <a:xfrm>
            <a:off x="8300520" y="3826080"/>
            <a:ext cx="182520" cy="182520"/>
          </a:xfrm>
          <a:prstGeom prst="ellipse">
            <a:avLst/>
          </a:prstGeom>
          <a:solidFill>
            <a:srgbClr val="FFD400"/>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638" name="CLK15"/>
          <p:cNvSpPr/>
          <p:nvPr/>
        </p:nvSpPr>
        <p:spPr>
          <a:xfrm>
            <a:off x="8300520" y="4380120"/>
            <a:ext cx="182520" cy="182520"/>
          </a:xfrm>
          <a:prstGeom prst="ellipse">
            <a:avLst/>
          </a:prstGeom>
          <a:solidFill>
            <a:srgbClr val="FFD400"/>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639" name="CLK11"/>
          <p:cNvSpPr/>
          <p:nvPr/>
        </p:nvSpPr>
        <p:spPr>
          <a:xfrm>
            <a:off x="10208520" y="4465080"/>
            <a:ext cx="1188360" cy="31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1300" b="0" i="1" u="none" strike="noStrike">
                <a:solidFill>
                  <a:srgbClr val="7030A0"/>
                </a:solidFill>
                <a:effectLst/>
                <a:uFillTx/>
                <a:latin typeface="Cambria Math"/>
              </a:rPr>
              <a:t>D</a:t>
            </a:r>
            <a:r>
              <a:rPr lang="en-US" sz="900" b="0" u="none" strike="noStrike" baseline="-25000">
                <a:solidFill>
                  <a:srgbClr val="7030A0"/>
                </a:solidFill>
                <a:effectLst/>
                <a:uFillTx/>
                <a:latin typeface="Cambria Math"/>
              </a:rPr>
              <a:t>T</a:t>
            </a:r>
            <a:endParaRPr lang="en-US" sz="900" b="0" u="none" strike="noStrike">
              <a:solidFill>
                <a:srgbClr val="000000"/>
              </a:solidFill>
              <a:effectLst/>
              <a:uFillTx/>
              <a:latin typeface="Arial"/>
            </a:endParaRPr>
          </a:p>
        </p:txBody>
      </p:sp>
      <p:sp>
        <p:nvSpPr>
          <p:cNvPr id="640" name="CLK13"/>
          <p:cNvSpPr/>
          <p:nvPr/>
        </p:nvSpPr>
        <p:spPr>
          <a:xfrm>
            <a:off x="8617320" y="4956120"/>
            <a:ext cx="1371240" cy="31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1300" b="0" i="1" u="none" strike="noStrike">
                <a:solidFill>
                  <a:srgbClr val="7030A0"/>
                </a:solidFill>
                <a:effectLst/>
                <a:uFillTx/>
                <a:latin typeface="Cambria Math"/>
              </a:rPr>
              <a:t>MR</a:t>
            </a:r>
            <a:r>
              <a:rPr lang="en-US" sz="900" b="0" u="none" strike="noStrike" baseline="-25000">
                <a:solidFill>
                  <a:srgbClr val="7030A0"/>
                </a:solidFill>
                <a:effectLst/>
                <a:uFillTx/>
                <a:latin typeface="Cambria Math"/>
              </a:rPr>
              <a:t>T</a:t>
            </a:r>
            <a:endParaRPr lang="en-US" sz="900" b="0" u="none" strike="noStrike">
              <a:solidFill>
                <a:srgbClr val="000000"/>
              </a:solidFill>
              <a:effectLst/>
              <a:uFillTx/>
              <a:latin typeface="Arial"/>
            </a:endParaRPr>
          </a:p>
        </p:txBody>
      </p:sp>
      <p:sp>
        <p:nvSpPr>
          <p:cNvPr id="641" name="CLK14"/>
          <p:cNvSpPr/>
          <p:nvPr/>
        </p:nvSpPr>
        <p:spPr>
          <a:xfrm>
            <a:off x="10553040" y="4541400"/>
            <a:ext cx="1188360" cy="31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1300" b="0" i="1" u="none" strike="noStrike">
                <a:solidFill>
                  <a:srgbClr val="7B1E1E"/>
                </a:solidFill>
                <a:effectLst/>
                <a:uFillTx/>
                <a:latin typeface="Cambria Math"/>
              </a:rPr>
              <a:t>MC</a:t>
            </a:r>
            <a:endParaRPr lang="en-US" sz="1300" b="0" u="none" strike="noStrike">
              <a:solidFill>
                <a:srgbClr val="000000"/>
              </a:solidFill>
              <a:effectLst/>
              <a:uFillTx/>
              <a:latin typeface="Arial"/>
            </a:endParaRPr>
          </a:p>
        </p:txBody>
      </p:sp>
      <p:sp>
        <p:nvSpPr>
          <p:cNvPr id="642" name="CLK15"/>
          <p:cNvSpPr/>
          <p:nvPr/>
        </p:nvSpPr>
        <p:spPr>
          <a:xfrm>
            <a:off x="7556760" y="4098240"/>
            <a:ext cx="6397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200" b="1" u="none" strike="noStrike">
                <a:solidFill>
                  <a:srgbClr val="0B2B4E"/>
                </a:solidFill>
                <a:effectLst/>
                <a:uFillTx/>
                <a:latin typeface="Calibri"/>
              </a:rPr>
              <a:t>A</a:t>
            </a:r>
            <a:endParaRPr lang="en-US" sz="2200" b="0" u="none" strike="noStrike">
              <a:solidFill>
                <a:srgbClr val="000000"/>
              </a:solidFill>
              <a:effectLst/>
              <a:uFillTx/>
              <a:latin typeface="Arial"/>
            </a:endParaRPr>
          </a:p>
        </p:txBody>
      </p:sp>
      <p:sp>
        <p:nvSpPr>
          <p:cNvPr id="643" name="CLK08"/>
          <p:cNvSpPr/>
          <p:nvPr/>
        </p:nvSpPr>
        <p:spPr>
          <a:xfrm>
            <a:off x="8325720" y="2652840"/>
            <a:ext cx="2742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r>
              <a:rPr lang="en-US" sz="1200" b="1" u="none" strike="noStrike">
                <a:solidFill>
                  <a:srgbClr val="0B2B4E"/>
                </a:solidFill>
                <a:effectLst/>
                <a:uFillTx/>
                <a:latin typeface="Calibri"/>
              </a:rPr>
              <a:t>Joint Market</a:t>
            </a:r>
            <a:endParaRPr lang="en-US" sz="1200" b="0" u="none" strike="noStrike">
              <a:solidFill>
                <a:srgbClr val="000000"/>
              </a:solidFill>
              <a:effectLst/>
              <a:uFillTx/>
              <a:latin typeface="Arial"/>
            </a:endParaRPr>
          </a:p>
          <a:p>
            <a:pPr algn="ctr" defTabSz="457200">
              <a:lnSpc>
                <a:spcPct val="100000"/>
              </a:lnSpc>
            </a:pPr>
            <a:r>
              <a:rPr lang="en-US" sz="1200" b="1" u="none" strike="noStrike">
                <a:solidFill>
                  <a:srgbClr val="0B2B4E"/>
                </a:solidFill>
                <a:effectLst/>
                <a:uFillTx/>
                <a:latin typeface="Calibri"/>
              </a:rPr>
              <a:t>(Germany + US)</a:t>
            </a:r>
            <a:endParaRPr lang="en-US" sz="1200" b="0" u="none" strike="noStrike">
              <a:solidFill>
                <a:srgbClr val="000000"/>
              </a:solidFill>
              <a:effectLst/>
              <a:uFillTx/>
              <a:latin typeface="Arial"/>
            </a:endParaRPr>
          </a:p>
        </p:txBody>
      </p:sp>
      <p:cxnSp>
        <p:nvCxnSpPr>
          <p:cNvPr id="644" name="CLK09"/>
          <p:cNvCxnSpPr/>
          <p:nvPr/>
        </p:nvCxnSpPr>
        <p:spPr>
          <a:xfrm>
            <a:off x="594360" y="2838960"/>
            <a:ext cx="6538320" cy="720"/>
          </a:xfrm>
          <a:prstGeom prst="straightConnector1">
            <a:avLst/>
          </a:prstGeom>
          <a:ln w="13970">
            <a:solidFill>
              <a:srgbClr val="8A8F98"/>
            </a:solidFill>
            <a:prstDash val="dash"/>
            <a:round/>
          </a:ln>
        </p:spPr>
      </p:cxnSp>
      <p:cxnSp>
        <p:nvCxnSpPr>
          <p:cNvPr id="645" name="CLK09"/>
          <p:cNvCxnSpPr/>
          <p:nvPr/>
        </p:nvCxnSpPr>
        <p:spPr>
          <a:xfrm>
            <a:off x="3611880" y="3538440"/>
            <a:ext cx="3918240" cy="720"/>
          </a:xfrm>
          <a:prstGeom prst="straightConnector1">
            <a:avLst/>
          </a:prstGeom>
          <a:ln w="13970">
            <a:solidFill>
              <a:srgbClr val="8A8F98"/>
            </a:solidFill>
            <a:prstDash val="dash"/>
            <a:round/>
          </a:ln>
        </p:spPr>
      </p:cxnSp>
      <p:pic>
        <p:nvPicPr>
          <p:cNvPr id="646" name="Picture 64" descr="s40_bmw.png"/>
          <p:cNvPicPr/>
          <p:nvPr/>
        </p:nvPicPr>
        <p:blipFill>
          <a:blip r:embed="rId2"/>
          <a:stretch/>
        </p:blipFill>
        <p:spPr>
          <a:xfrm>
            <a:off x="182880" y="5669280"/>
            <a:ext cx="2468520" cy="1381320"/>
          </a:xfrm>
          <a:prstGeom prst="rect">
            <a:avLst/>
          </a:prstGeom>
          <a:noFill/>
          <a:ln w="0">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0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0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0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0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0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0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0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0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1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2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1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2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1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1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61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2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62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2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9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9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26"/>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627"/>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628"/>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29"/>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64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644"/>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645"/>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630"/>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631"/>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63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632"/>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633"/>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634"/>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640"/>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635"/>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641"/>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636"/>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637"/>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638"/>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6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7"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648"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Segment Pricing</a:t>
            </a:r>
            <a:endParaRPr lang="en-US" sz="1600" b="0" u="none" strike="noStrike">
              <a:solidFill>
                <a:srgbClr val="000000"/>
              </a:solidFill>
              <a:effectLst/>
              <a:uFillTx/>
              <a:latin typeface="Arial"/>
            </a:endParaRPr>
          </a:p>
        </p:txBody>
      </p:sp>
      <p:sp>
        <p:nvSpPr>
          <p:cNvPr id="649"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Impediments to Segment Pricing: Orbitz</a:t>
            </a:r>
            <a:endParaRPr lang="en-US" sz="3200" b="0" u="none" strike="noStrike">
              <a:solidFill>
                <a:srgbClr val="000000"/>
              </a:solidFill>
              <a:effectLst/>
              <a:uFillTx/>
              <a:latin typeface="Arial"/>
            </a:endParaRPr>
          </a:p>
        </p:txBody>
      </p:sp>
      <p:sp>
        <p:nvSpPr>
          <p:cNvPr id="650"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651"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652"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653"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654"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655"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41</a:t>
            </a:r>
            <a:endParaRPr lang="en-US" sz="1200" b="0" u="none" strike="noStrike">
              <a:solidFill>
                <a:srgbClr val="000000"/>
              </a:solidFill>
              <a:effectLst/>
              <a:uFillTx/>
              <a:latin typeface="Arial"/>
            </a:endParaRPr>
          </a:p>
        </p:txBody>
      </p:sp>
      <p:sp>
        <p:nvSpPr>
          <p:cNvPr id="656" name="Picture 10" descr="s41_0.png"/>
          <p:cNvSpPr/>
          <p:nvPr/>
        </p:nvSpPr>
        <p:spPr>
          <a:xfrm>
            <a:off x="2194560" y="1600200"/>
            <a:ext cx="7772040" cy="5144400"/>
          </a:xfrm>
          <a:prstGeom prst="roundRect">
            <a:avLst>
              <a:gd name="adj" fmla="val 6000"/>
            </a:avLst>
          </a:prstGeom>
          <a:blipFill rotWithShape="0">
            <a:blip r:embed="rId2"/>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7"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658"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Segment Pricing</a:t>
            </a:r>
            <a:endParaRPr lang="en-US" sz="1600" b="0" u="none" strike="noStrike">
              <a:solidFill>
                <a:srgbClr val="000000"/>
              </a:solidFill>
              <a:effectLst/>
              <a:uFillTx/>
              <a:latin typeface="Arial"/>
            </a:endParaRPr>
          </a:p>
        </p:txBody>
      </p:sp>
      <p:sp>
        <p:nvSpPr>
          <p:cNvPr id="659"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Impediments to Segment Pricing: Consumer Anger</a:t>
            </a:r>
            <a:endParaRPr lang="en-US" sz="3200" b="0" u="none" strike="noStrike">
              <a:solidFill>
                <a:srgbClr val="000000"/>
              </a:solidFill>
              <a:effectLst/>
              <a:uFillTx/>
              <a:latin typeface="Arial"/>
            </a:endParaRPr>
          </a:p>
        </p:txBody>
      </p:sp>
      <p:sp>
        <p:nvSpPr>
          <p:cNvPr id="660"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661"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662"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663"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664"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665"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42</a:t>
            </a:r>
            <a:endParaRPr lang="en-US" sz="1200" b="0" u="none" strike="noStrike">
              <a:solidFill>
                <a:srgbClr val="000000"/>
              </a:solidFill>
              <a:effectLst/>
              <a:uFillTx/>
              <a:latin typeface="Arial"/>
            </a:endParaRPr>
          </a:p>
        </p:txBody>
      </p:sp>
      <p:pic>
        <p:nvPicPr>
          <p:cNvPr id="666" name="Picture 10" descr="orbitz_poster.png"/>
          <p:cNvPicPr/>
          <p:nvPr/>
        </p:nvPicPr>
        <p:blipFill>
          <a:blip r:embed="rId4"/>
          <a:stretch/>
        </p:blipFill>
        <p:spPr>
          <a:xfrm>
            <a:off x="2898720" y="1691640"/>
            <a:ext cx="6400440" cy="3602520"/>
          </a:xfrm>
          <a:prstGeom prst="rect">
            <a:avLst/>
          </a:prstGeom>
          <a:noFill/>
          <a:ln w="0">
            <a:noFill/>
          </a:ln>
          <a:effectLst>
            <a:outerShdw blurRad="39960" dist="24840" dir="5400000" rotWithShape="0">
              <a:srgbClr val="000000">
                <a:alpha val="30000"/>
              </a:srgbClr>
            </a:outerShdw>
          </a:effectLst>
        </p:spPr>
      </p:pic>
      <p:pic>
        <p:nvPicPr>
          <p:cNvPr id="667" name="orbitz.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898648" y="1691640"/>
            <a:ext cx="6400800" cy="3602736"/>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667"/>
                </p:tgtEl>
              </p:cMediaNode>
            </p:video>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7"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668"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Complex Pricing · Segment Pricing</a:t>
            </a:r>
            <a:endParaRPr lang="en-US" sz="1600" b="0" u="none" strike="noStrike">
              <a:solidFill>
                <a:srgbClr val="000000"/>
              </a:solidFill>
              <a:effectLst/>
              <a:uFillTx/>
              <a:latin typeface="Arial"/>
            </a:endParaRPr>
          </a:p>
        </p:txBody>
      </p:sp>
      <p:sp>
        <p:nvSpPr>
          <p:cNvPr id="669"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Challenges with Segment Pricing</a:t>
            </a:r>
            <a:endParaRPr lang="en-US" sz="3200" b="0" u="none" strike="noStrike">
              <a:solidFill>
                <a:srgbClr val="000000"/>
              </a:solidFill>
              <a:effectLst/>
              <a:uFillTx/>
              <a:latin typeface="Arial"/>
            </a:endParaRPr>
          </a:p>
        </p:txBody>
      </p:sp>
      <p:sp>
        <p:nvSpPr>
          <p:cNvPr id="670"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671"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672"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673"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674"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Complex Pricing</a:t>
            </a:r>
            <a:endParaRPr lang="en-US" sz="1200" b="0" u="none" strike="noStrike">
              <a:solidFill>
                <a:srgbClr val="000000"/>
              </a:solidFill>
              <a:effectLst/>
              <a:uFillTx/>
              <a:latin typeface="Arial"/>
            </a:endParaRPr>
          </a:p>
        </p:txBody>
      </p:sp>
      <p:sp>
        <p:nvSpPr>
          <p:cNvPr id="675"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43</a:t>
            </a:r>
            <a:endParaRPr lang="en-US" sz="1200" b="0" u="none" strike="noStrike">
              <a:solidFill>
                <a:srgbClr val="000000"/>
              </a:solidFill>
              <a:effectLst/>
              <a:uFillTx/>
              <a:latin typeface="Arial"/>
            </a:endParaRPr>
          </a:p>
        </p:txBody>
      </p:sp>
      <p:sp>
        <p:nvSpPr>
          <p:cNvPr id="676" name="TXBLD_101110"/>
          <p:cNvSpPr/>
          <p:nvPr/>
        </p:nvSpPr>
        <p:spPr>
          <a:xfrm>
            <a:off x="502920" y="1645920"/>
            <a:ext cx="11155320" cy="4571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343080" indent="-343080" defTabSz="457200">
              <a:lnSpc>
                <a:spcPct val="100000"/>
              </a:lnSpc>
              <a:spcBef>
                <a:spcPts val="1199"/>
              </a:spcBef>
              <a:buClr>
                <a:srgbClr val="0B2B4E"/>
              </a:buClr>
              <a:buFont typeface="Calibri"/>
              <a:buChar char="▪"/>
            </a:pPr>
            <a:r>
              <a:rPr lang="en-US" sz="3200" b="1" u="none" strike="noStrike">
                <a:solidFill>
                  <a:srgbClr val="0B2B4E"/>
                </a:solidFill>
                <a:effectLst/>
                <a:uFillTx/>
                <a:latin typeface="Calibri"/>
              </a:rPr>
              <a:t>Segments must be kept </a:t>
            </a:r>
            <a:r>
              <a:rPr lang="en-US" sz="3200" b="1" u="none" strike="noStrike">
                <a:solidFill>
                  <a:srgbClr val="C0201B"/>
                </a:solidFill>
                <a:effectLst/>
                <a:uFillTx/>
                <a:latin typeface="Calibri"/>
              </a:rPr>
              <a:t>separate</a:t>
            </a:r>
            <a:endParaRPr lang="en-US" sz="3200" b="0" u="none" strike="noStrike">
              <a:solidFill>
                <a:srgbClr val="000000"/>
              </a:solidFill>
              <a:effectLst/>
              <a:uFillTx/>
              <a:latin typeface="Arial"/>
            </a:endParaRPr>
          </a:p>
          <a:p>
            <a:pPr marL="685800" lvl="1" indent="-228600" defTabSz="457200">
              <a:lnSpc>
                <a:spcPct val="100000"/>
              </a:lnSpc>
              <a:spcBef>
                <a:spcPts val="601"/>
              </a:spcBef>
              <a:buClr>
                <a:srgbClr val="555B66"/>
              </a:buClr>
              <a:buFont typeface="Calibri"/>
              <a:buChar char="–"/>
            </a:pPr>
            <a:r>
              <a:rPr lang="en-US" sz="2800" b="0" u="none" strike="noStrike">
                <a:solidFill>
                  <a:srgbClr val="555B66"/>
                </a:solidFill>
                <a:effectLst/>
                <a:uFillTx/>
                <a:latin typeface="Calibri"/>
              </a:rPr>
              <a:t>Concerns regarding re-importation and arbitrage</a:t>
            </a:r>
            <a:endParaRPr lang="en-US" sz="2800" b="0" u="none" strike="noStrike">
              <a:solidFill>
                <a:srgbClr val="000000"/>
              </a:solidFill>
              <a:effectLst/>
              <a:uFillTx/>
              <a:latin typeface="Arial"/>
            </a:endParaRPr>
          </a:p>
          <a:p>
            <a:pPr marL="343080" indent="-343080" defTabSz="457200">
              <a:lnSpc>
                <a:spcPct val="100000"/>
              </a:lnSpc>
              <a:spcBef>
                <a:spcPts val="1199"/>
              </a:spcBef>
              <a:buClr>
                <a:srgbClr val="0B2B4E"/>
              </a:buClr>
              <a:buFont typeface="Calibri"/>
              <a:buChar char="▪"/>
            </a:pPr>
            <a:r>
              <a:rPr lang="en-US" sz="3200" b="1" u="none" strike="noStrike">
                <a:solidFill>
                  <a:srgbClr val="0B2B4E"/>
                </a:solidFill>
                <a:effectLst/>
                <a:uFillTx/>
                <a:latin typeface="Calibri"/>
              </a:rPr>
              <a:t>Potential for backlash</a:t>
            </a:r>
            <a:r>
              <a:rPr lang="en-US" sz="3200" b="0" u="none" strike="noStrike">
                <a:solidFill>
                  <a:srgbClr val="0B2B4E"/>
                </a:solidFill>
                <a:effectLst/>
                <a:uFillTx/>
                <a:latin typeface="Calibri"/>
              </a:rPr>
              <a:t> (consumer anger) — e.g., </a:t>
            </a:r>
            <a:r>
              <a:rPr lang="en-US" sz="2600" b="0" u="sng" strike="noStrike">
                <a:solidFill>
                  <a:srgbClr val="0000FF"/>
                </a:solidFill>
                <a:effectLst/>
                <a:uFillTx/>
                <a:latin typeface="Calibri"/>
                <a:hlinkClick r:id="rId3"/>
              </a:rPr>
              <a:t>Target app</a:t>
            </a:r>
            <a:endParaRPr lang="en-US" sz="2600" b="0" u="none" strike="noStrike">
              <a:solidFill>
                <a:srgbClr val="000000"/>
              </a:solidFill>
              <a:effectLst/>
              <a:uFillTx/>
              <a:latin typeface="Arial"/>
            </a:endParaRPr>
          </a:p>
          <a:p>
            <a:pPr marL="343080" indent="-343080" defTabSz="457200">
              <a:lnSpc>
                <a:spcPct val="100000"/>
              </a:lnSpc>
              <a:spcBef>
                <a:spcPts val="1199"/>
              </a:spcBef>
              <a:buClr>
                <a:srgbClr val="0B2B4E"/>
              </a:buClr>
              <a:buFont typeface="Calibri"/>
              <a:buChar char="▪"/>
            </a:pPr>
            <a:r>
              <a:rPr lang="en-US" sz="3200" b="1" u="none" strike="noStrike">
                <a:solidFill>
                  <a:srgbClr val="0B2B4E"/>
                </a:solidFill>
                <a:effectLst/>
                <a:uFillTx/>
                <a:latin typeface="Calibri"/>
              </a:rPr>
              <a:t>Legal impediment</a:t>
            </a:r>
            <a:r>
              <a:rPr lang="en-US" sz="3200" b="0" u="none" strike="noStrike">
                <a:solidFill>
                  <a:srgbClr val="0B2B4E"/>
                </a:solidFill>
                <a:effectLst/>
                <a:uFillTx/>
                <a:latin typeface="Calibri"/>
              </a:rPr>
              <a:t> (Robinson-Patman Act, 1936)</a:t>
            </a:r>
            <a:endParaRPr lang="en-US" sz="3200" b="0" u="none" strike="noStrike">
              <a:solidFill>
                <a:srgbClr val="000000"/>
              </a:solidFill>
              <a:effectLst/>
              <a:uFillTx/>
              <a:latin typeface="Arial"/>
            </a:endParaRPr>
          </a:p>
          <a:p>
            <a:pPr marL="343080" indent="-343080" defTabSz="457200">
              <a:lnSpc>
                <a:spcPct val="100000"/>
              </a:lnSpc>
              <a:spcBef>
                <a:spcPts val="1199"/>
              </a:spcBef>
              <a:buClr>
                <a:srgbClr val="0B2B4E"/>
              </a:buClr>
              <a:buFont typeface="Calibri"/>
              <a:buChar char="▪"/>
            </a:pPr>
            <a:r>
              <a:rPr lang="en-US" sz="3200" b="1" u="none" strike="noStrike">
                <a:solidFill>
                  <a:srgbClr val="0B2B4E"/>
                </a:solidFill>
                <a:effectLst/>
                <a:uFillTx/>
                <a:latin typeface="Calibri"/>
              </a:rPr>
              <a:t>Methods to circumvent these problems:</a:t>
            </a:r>
            <a:endParaRPr lang="en-US" sz="3200" b="0" u="none" strike="noStrike">
              <a:solidFill>
                <a:srgbClr val="000000"/>
              </a:solidFill>
              <a:effectLst/>
              <a:uFillTx/>
              <a:latin typeface="Arial"/>
            </a:endParaRPr>
          </a:p>
          <a:p>
            <a:pPr marL="685800" lvl="1" indent="-228600" defTabSz="457200">
              <a:lnSpc>
                <a:spcPct val="100000"/>
              </a:lnSpc>
              <a:spcBef>
                <a:spcPts val="601"/>
              </a:spcBef>
              <a:buClr>
                <a:srgbClr val="555B66"/>
              </a:buClr>
              <a:buFont typeface="Calibri"/>
              <a:buChar char="–"/>
            </a:pPr>
            <a:r>
              <a:rPr lang="en-US" sz="2800" b="1" u="none" strike="noStrike">
                <a:solidFill>
                  <a:srgbClr val="0070C0"/>
                </a:solidFill>
                <a:effectLst/>
                <a:uFillTx/>
                <a:latin typeface="Calibri"/>
              </a:rPr>
              <a:t>Versioning</a:t>
            </a:r>
            <a:r>
              <a:rPr lang="en-US" sz="2800" b="0" u="none" strike="noStrike">
                <a:solidFill>
                  <a:srgbClr val="555B66"/>
                </a:solidFill>
                <a:effectLst/>
                <a:uFillTx/>
                <a:latin typeface="Calibri"/>
              </a:rPr>
              <a:t> (2nd-degree price discrimination)</a:t>
            </a:r>
            <a:endParaRPr lang="en-US" sz="28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7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7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7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76">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7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__PE_POLL_EMBED_ID" val="fd3af4a0-78ce-4297-9012-ad538ef50de7"/>
</p:tagLst>
</file>

<file path=ppt/tags/tag2.xml><?xml version="1.0" encoding="utf-8"?>
<p:tagLst xmlns:a="http://schemas.openxmlformats.org/drawingml/2006/main" xmlns:r="http://schemas.openxmlformats.org/officeDocument/2006/relationships" xmlns:p="http://schemas.openxmlformats.org/presentationml/2006/main">
  <p:tag name="__PE_POLL_EMBED_ID" val="e0ce2e2d-d129-4a8f-ae49-06a2af6daae4"/>
</p:tagLst>
</file>

<file path=ppt/tags/tag3.xml><?xml version="1.0" encoding="utf-8"?>
<p:tagLst xmlns:a="http://schemas.openxmlformats.org/drawingml/2006/main" xmlns:r="http://schemas.openxmlformats.org/officeDocument/2006/relationships" xmlns:p="http://schemas.openxmlformats.org/presentationml/2006/main">
  <p:tag name="__PE_POLL_EMBED_ID" val="04cbe6bc-a1a7-4b8d-a894-4020f4e6533c"/>
</p:tagLst>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TotalTime>
  <Words>3627</Words>
  <Application>Microsoft Office PowerPoint</Application>
  <PresentationFormat>Widescreen</PresentationFormat>
  <Paragraphs>450</Paragraphs>
  <Slides>43</Slides>
  <Notes>16</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Aptos</vt:lpstr>
      <vt:lpstr>Arial</vt:lpstr>
      <vt:lpstr>Calibri</vt:lpstr>
      <vt:lpstr>Cambria Math</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PAOLA GIULIANO</dc:creator>
  <dc:description>generated using python-pptx</dc:description>
  <cp:lastModifiedBy>Giuliano, Paola</cp:lastModifiedBy>
  <cp:revision>3</cp:revision>
  <dcterms:created xsi:type="dcterms:W3CDTF">2013-01-27T09:14:16Z</dcterms:created>
  <dcterms:modified xsi:type="dcterms:W3CDTF">2026-07-05T00:49:24Z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