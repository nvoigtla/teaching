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9.xml" ContentType="application/vnd.openxmlformats-officedocument.presentationml.tags+xml"/>
  <Override PartName="/ppt/notesSlides/notesSlide22.xml" ContentType="application/vnd.openxmlformats-officedocument.presentationml.notesSlide+xml"/>
  <Override PartName="/ppt/tags/tag1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1.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2.xml" ContentType="application/vnd.openxmlformats-officedocument.presentationml.tags+xml"/>
  <Override PartName="/ppt/notesSlides/notesSlide29.xml" ContentType="application/vnd.openxmlformats-officedocument.presentationml.notesSlide+xml"/>
  <Override PartName="/ppt/tags/tag13.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4.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5.xml" ContentType="application/vnd.openxmlformats-officedocument.presentationml.tags+xml"/>
  <Override PartName="/ppt/notesSlides/notesSlide50.xml" ContentType="application/vnd.openxmlformats-officedocument.presentationml.notesSlide+xml"/>
  <Override PartName="/ppt/tags/tag16.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59"/>
  </p:notesMasterIdLst>
  <p:handoutMasterIdLst>
    <p:handoutMasterId r:id="rId60"/>
  </p:handoutMasterIdLst>
  <p:sldIdLst>
    <p:sldId id="257" r:id="rId7"/>
    <p:sldId id="975" r:id="rId8"/>
    <p:sldId id="799" r:id="rId9"/>
    <p:sldId id="976" r:id="rId10"/>
    <p:sldId id="769" r:id="rId11"/>
    <p:sldId id="376" r:id="rId12"/>
    <p:sldId id="706" r:id="rId13"/>
    <p:sldId id="944" r:id="rId14"/>
    <p:sldId id="921" r:id="rId15"/>
    <p:sldId id="922" r:id="rId16"/>
    <p:sldId id="925" r:id="rId17"/>
    <p:sldId id="777" r:id="rId18"/>
    <p:sldId id="466" r:id="rId19"/>
    <p:sldId id="931" r:id="rId20"/>
    <p:sldId id="961" r:id="rId21"/>
    <p:sldId id="960" r:id="rId22"/>
    <p:sldId id="962" r:id="rId23"/>
    <p:sldId id="936" r:id="rId24"/>
    <p:sldId id="977" r:id="rId25"/>
    <p:sldId id="938" r:id="rId26"/>
    <p:sldId id="939" r:id="rId27"/>
    <p:sldId id="940" r:id="rId28"/>
    <p:sldId id="599" r:id="rId29"/>
    <p:sldId id="963" r:id="rId30"/>
    <p:sldId id="964" r:id="rId31"/>
    <p:sldId id="750" r:id="rId32"/>
    <p:sldId id="971" r:id="rId33"/>
    <p:sldId id="945" r:id="rId34"/>
    <p:sldId id="951" r:id="rId35"/>
    <p:sldId id="419" r:id="rId36"/>
    <p:sldId id="387" r:id="rId37"/>
    <p:sldId id="804" r:id="rId38"/>
    <p:sldId id="958" r:id="rId39"/>
    <p:sldId id="948" r:id="rId40"/>
    <p:sldId id="973" r:id="rId41"/>
    <p:sldId id="952" r:id="rId42"/>
    <p:sldId id="966" r:id="rId43"/>
    <p:sldId id="969" r:id="rId44"/>
    <p:sldId id="965" r:id="rId45"/>
    <p:sldId id="967" r:id="rId46"/>
    <p:sldId id="968" r:id="rId47"/>
    <p:sldId id="955" r:id="rId48"/>
    <p:sldId id="970" r:id="rId49"/>
    <p:sldId id="957" r:id="rId50"/>
    <p:sldId id="950" r:id="rId51"/>
    <p:sldId id="495" r:id="rId52"/>
    <p:sldId id="494" r:id="rId53"/>
    <p:sldId id="806" r:id="rId54"/>
    <p:sldId id="807" r:id="rId55"/>
    <p:sldId id="759" r:id="rId56"/>
    <p:sldId id="959" r:id="rId57"/>
    <p:sldId id="828" r:id="rId58"/>
  </p:sldIdLst>
  <p:sldSz cx="9144000" cy="6858000" type="screen4x3"/>
  <p:notesSz cx="7315200" cy="9601200"/>
  <p:custDataLst>
    <p:tags r:id="rId6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7058" autoAdjust="0"/>
  </p:normalViewPr>
  <p:slideViewPr>
    <p:cSldViewPr snapToGrid="0" snapToObjects="1">
      <p:cViewPr varScale="1">
        <p:scale>
          <a:sx n="89" d="100"/>
          <a:sy n="89" d="100"/>
        </p:scale>
        <p:origin x="2112" y="9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tags" Target="tags/tag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handoutMaster" Target="handoutMasters/handoutMaster1.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3/4/2022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3/4/2022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9973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94794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6997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6997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1116117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7</a:t>
            </a:fld>
            <a:endParaRPr lang="en-US"/>
          </a:p>
        </p:txBody>
      </p:sp>
    </p:spTree>
    <p:extLst>
      <p:ext uri="{BB962C8B-B14F-4D97-AF65-F5344CB8AC3E}">
        <p14:creationId xmlns:p14="http://schemas.microsoft.com/office/powerpoint/2010/main" val="991034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Checkout stand coupons</a:t>
            </a:r>
            <a:r>
              <a:rPr lang="en-US" sz="1200" kern="1200" dirty="0">
                <a:solidFill>
                  <a:schemeClr val="tx1"/>
                </a:solidFill>
                <a:effectLst/>
                <a:latin typeface="+mn-lt"/>
                <a:ea typeface="+mn-ea"/>
                <a:cs typeface="+mn-cs"/>
              </a:rPr>
              <a:t>: Nobody wants to spend money unnecessarily, but it takes time to sort through the coupons. Those who have nothing else to do on a Sunday morning, i.e. those with a low opportunity cost of time, who are price sensitive, will take the time to cut the coupons. This is an ingenious scheme to charge higher price to the low elasticity customers to capture more consumer surplus.</a:t>
            </a:r>
            <a:endParaRPr lang="en-US" sz="1100" kern="1200" dirty="0">
              <a:solidFill>
                <a:schemeClr val="tx1"/>
              </a:solidFill>
              <a:effectLst/>
              <a:latin typeface="+mn-lt"/>
              <a:ea typeface="+mn-ea"/>
              <a:cs typeface="+mn-cs"/>
            </a:endParaRPr>
          </a:p>
          <a:p>
            <a:endParaRPr lang="en-US" sz="1200" u="sng"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7991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Ask in class if this is a price searcher or price taker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dilemma of pricing is that if you charge a </a:t>
            </a:r>
            <a:r>
              <a:rPr lang="en-US" sz="1200" b="1" kern="1200" dirty="0">
                <a:solidFill>
                  <a:schemeClr val="tx1"/>
                </a:solidFill>
                <a:effectLst/>
                <a:latin typeface="+mn-lt"/>
                <a:ea typeface="+mn-ea"/>
                <a:cs typeface="+mn-cs"/>
              </a:rPr>
              <a:t>high price</a:t>
            </a:r>
            <a:r>
              <a:rPr lang="en-US" sz="1200" kern="1200" dirty="0">
                <a:solidFill>
                  <a:schemeClr val="tx1"/>
                </a:solidFill>
                <a:effectLst/>
                <a:latin typeface="+mn-lt"/>
                <a:ea typeface="+mn-ea"/>
                <a:cs typeface="+mn-cs"/>
              </a:rPr>
              <a:t> to capture a lot of value, you exclude many from wanting to buy the product, namely the hordes of those with valuations for the product that are lower than price. The alternative is to go with </a:t>
            </a:r>
            <a:r>
              <a:rPr lang="en-US" sz="1200" b="1" kern="1200" dirty="0">
                <a:solidFill>
                  <a:schemeClr val="tx1"/>
                </a:solidFill>
                <a:effectLst/>
                <a:latin typeface="+mn-lt"/>
                <a:ea typeface="+mn-ea"/>
                <a:cs typeface="+mn-cs"/>
              </a:rPr>
              <a:t>volume</a:t>
            </a:r>
            <a:r>
              <a:rPr lang="en-US" sz="1200" kern="1200" dirty="0">
                <a:solidFill>
                  <a:schemeClr val="tx1"/>
                </a:solidFill>
                <a:effectLst/>
                <a:latin typeface="+mn-lt"/>
                <a:ea typeface="+mn-ea"/>
                <a:cs typeface="+mn-cs"/>
              </a:rPr>
              <a:t>, but then you have to charge a low price and you give away a lot of consumer surplus, leave a lot of surplus on the table which you do not capture. There is a dilemma. Today we will see how to escape the dilemma through </a:t>
            </a:r>
            <a:r>
              <a:rPr lang="en-US" sz="1200" b="1" kern="1200" dirty="0">
                <a:solidFill>
                  <a:schemeClr val="tx1"/>
                </a:solidFill>
                <a:effectLst/>
                <a:latin typeface="+mn-lt"/>
                <a:ea typeface="+mn-ea"/>
                <a:cs typeface="+mn-cs"/>
              </a:rPr>
              <a:t>price discrimination</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91734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7250" lvl="1" indent="-457200" defTabSz="914400">
              <a:lnSpc>
                <a:spcPct val="90000"/>
              </a:lnSpc>
            </a:pPr>
            <a:r>
              <a:rPr lang="en-US" sz="2200" dirty="0"/>
              <a:t>Consumers are better off under resale: low-price consumers can resell their purchases at a profit; high-price consumers can buy product at a lower price than the firm would charge</a:t>
            </a:r>
          </a:p>
          <a:p>
            <a:pPr marL="857250" lvl="1" indent="-457200" defTabSz="914400">
              <a:lnSpc>
                <a:spcPct val="90000"/>
              </a:lnSpc>
            </a:pPr>
            <a:r>
              <a:rPr lang="en-US" sz="2200" dirty="0"/>
              <a:t>Firms are not better off, since only selling at one price, the lower price!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90097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36AC2A-E969-3C46-9ED8-B46D40C5E669}" type="slidenum">
              <a:rPr lang="en-US" smtClean="0"/>
              <a:t>11</a:t>
            </a:fld>
            <a:endParaRPr lang="en-US"/>
          </a:p>
        </p:txBody>
      </p:sp>
    </p:spTree>
    <p:extLst>
      <p:ext uri="{BB962C8B-B14F-4D97-AF65-F5344CB8AC3E}">
        <p14:creationId xmlns:p14="http://schemas.microsoft.com/office/powerpoint/2010/main" val="3386386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12</a:t>
            </a:fld>
            <a:endParaRPr lang="en-US"/>
          </a:p>
        </p:txBody>
      </p:sp>
    </p:spTree>
    <p:extLst>
      <p:ext uri="{BB962C8B-B14F-4D97-AF65-F5344CB8AC3E}">
        <p14:creationId xmlns:p14="http://schemas.microsoft.com/office/powerpoint/2010/main" val="838073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4023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865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15</a:t>
            </a:fld>
            <a:endParaRPr lang="en-US"/>
          </a:p>
        </p:txBody>
      </p:sp>
    </p:spTree>
    <p:extLst>
      <p:ext uri="{BB962C8B-B14F-4D97-AF65-F5344CB8AC3E}">
        <p14:creationId xmlns:p14="http://schemas.microsoft.com/office/powerpoint/2010/main" val="3288355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Lodine, a medication for arthritis, is used for both humans and dogs. Which segment 'pays' a higher price?
https://www.polleverywhere.com/multiple_choice_polls/4BC5CeS5GrXrPVaYNwliJ?state=opened&amp;flow=Default&amp;onscreen=persist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16</a:t>
            </a:fld>
            <a:endParaRPr lang="en-US"/>
          </a:p>
        </p:txBody>
      </p:sp>
      <p:sp>
        <p:nvSpPr>
          <p:cNvPr id="5" name="TextBox 4">
            <a:extLst>
              <a:ext uri="{FF2B5EF4-FFF2-40B4-BE49-F238E27FC236}">
                <a16:creationId xmlns:a16="http://schemas.microsoft.com/office/drawing/2014/main" id="{4D915004-F0C7-449F-96E1-1D0F5F0D3BA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27919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17</a:t>
            </a:fld>
            <a:endParaRPr lang="en-US"/>
          </a:p>
        </p:txBody>
      </p:sp>
    </p:spTree>
    <p:extLst>
      <p:ext uri="{BB962C8B-B14F-4D97-AF65-F5344CB8AC3E}">
        <p14:creationId xmlns:p14="http://schemas.microsoft.com/office/powerpoint/2010/main" val="3051360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Grp="1" noChangeArrowheads="1"/>
          </p:cNvSpPr>
          <p:nvPr>
            <p:ph type="sldNum" sz="quarter" idx="5"/>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E380E3-6D8F-49B4-9899-6E5D0F74521F}"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45410"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145411"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a:p>
        </p:txBody>
      </p:sp>
    </p:spTree>
    <p:extLst>
      <p:ext uri="{BB962C8B-B14F-4D97-AF65-F5344CB8AC3E}">
        <p14:creationId xmlns:p14="http://schemas.microsoft.com/office/powerpoint/2010/main" val="2411553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19</a:t>
            </a:fld>
            <a:endParaRPr lang="en-US"/>
          </a:p>
        </p:txBody>
      </p:sp>
    </p:spTree>
    <p:extLst>
      <p:ext uri="{BB962C8B-B14F-4D97-AF65-F5344CB8AC3E}">
        <p14:creationId xmlns:p14="http://schemas.microsoft.com/office/powerpoint/2010/main" val="2242409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20</a:t>
            </a:fld>
            <a:endParaRPr lang="en-US"/>
          </a:p>
        </p:txBody>
      </p:sp>
    </p:spTree>
    <p:extLst>
      <p:ext uri="{BB962C8B-B14F-4D97-AF65-F5344CB8AC3E}">
        <p14:creationId xmlns:p14="http://schemas.microsoft.com/office/powerpoint/2010/main" val="684172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83801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300" dirty="0"/>
          </a:p>
        </p:txBody>
      </p:sp>
      <p:sp>
        <p:nvSpPr>
          <p:cNvPr id="4" name="Slide Number Placeholder 3"/>
          <p:cNvSpPr>
            <a:spLocks noGrp="1"/>
          </p:cNvSpPr>
          <p:nvPr>
            <p:ph type="sldNum" sz="quarter" idx="10"/>
          </p:nvPr>
        </p:nvSpPr>
        <p:spPr/>
        <p:txBody>
          <a:bodyPr/>
          <a:lstStyle/>
          <a:p>
            <a:pPr marL="0" marR="0" lvl="0" indent="0" algn="r" defTabSz="483306"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83306" rtl="0" eaLnBrk="1" fontAlgn="auto" latinLnBrk="0" hangingPunct="1">
                <a:lnSpc>
                  <a:spcPct val="100000"/>
                </a:lnSpc>
                <a:spcBef>
                  <a:spcPts val="0"/>
                </a:spcBef>
                <a:spcAft>
                  <a:spcPts val="0"/>
                </a:spcAft>
                <a:buClrTx/>
                <a:buSzTx/>
                <a:buFontTx/>
                <a:buNone/>
                <a:tabLst/>
                <a:defRPr/>
              </a:pPr>
              <a:t>22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3925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DD8D9A5-4327-440E-B129-923F089C97E0}" type="slidenum">
              <a:rPr lang="en-US"/>
              <a:pPr/>
              <a:t>23</a:t>
            </a:fld>
            <a:endParaRPr lang="en-US"/>
          </a:p>
        </p:txBody>
      </p:sp>
      <p:sp>
        <p:nvSpPr>
          <p:cNvPr id="221186" name="Rectangle 2"/>
          <p:cNvSpPr>
            <a:spLocks noGrp="1" noRot="1" noChangeAspect="1" noChangeArrowheads="1" noTextEdit="1"/>
          </p:cNvSpPr>
          <p:nvPr>
            <p:ph type="sldImg"/>
          </p:nvPr>
        </p:nvSpPr>
        <p:spPr bwMode="auto">
          <a:xfrm>
            <a:off x="1104900" y="565150"/>
            <a:ext cx="5105400" cy="3829050"/>
          </a:xfrm>
          <a:prstGeom prst="rect">
            <a:avLst/>
          </a:prstGeom>
          <a:solidFill>
            <a:srgbClr val="FFFFFF"/>
          </a:solidFill>
          <a:ln>
            <a:solidFill>
              <a:srgbClr val="000000"/>
            </a:solidFill>
            <a:miter lim="800000"/>
            <a:headEnd/>
            <a:tailEnd/>
          </a:ln>
        </p:spPr>
      </p:sp>
      <p:sp>
        <p:nvSpPr>
          <p:cNvPr id="221187" name="Rectangle 3"/>
          <p:cNvSpPr>
            <a:spLocks noGrp="1" noChangeArrowheads="1"/>
          </p:cNvSpPr>
          <p:nvPr>
            <p:ph type="body" idx="1"/>
          </p:nvPr>
        </p:nvSpPr>
        <p:spPr bwMode="auto">
          <a:xfrm>
            <a:off x="988907" y="4813039"/>
            <a:ext cx="5364480" cy="4320457"/>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814938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24</a:t>
            </a:fld>
            <a:endParaRPr lang="en-US"/>
          </a:p>
        </p:txBody>
      </p:sp>
    </p:spTree>
    <p:extLst>
      <p:ext uri="{BB962C8B-B14F-4D97-AF65-F5344CB8AC3E}">
        <p14:creationId xmlns:p14="http://schemas.microsoft.com/office/powerpoint/2010/main" val="2644465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How should United respond to Southwest starting to offer flights on one of its routes?
https://www.polleverywhere.com/multiple_choice_polls/kTjbo3Qwc1lQNUuHpIZ8D?state=opened&amp;flow=Default&amp;onscreen=persist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25</a:t>
            </a:fld>
            <a:endParaRPr lang="en-US"/>
          </a:p>
        </p:txBody>
      </p:sp>
      <p:sp>
        <p:nvSpPr>
          <p:cNvPr id="5" name="TextBox 4">
            <a:extLst>
              <a:ext uri="{FF2B5EF4-FFF2-40B4-BE49-F238E27FC236}">
                <a16:creationId xmlns:a16="http://schemas.microsoft.com/office/drawing/2014/main" id="{2A929C83-7AE8-45B1-8912-7D2780849009}"/>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68085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Another Example</a:t>
            </a:r>
            <a:r>
              <a:rPr lang="en-US" sz="1200" kern="1200" dirty="0">
                <a:solidFill>
                  <a:schemeClr val="tx1"/>
                </a:solidFill>
                <a:effectLst/>
                <a:latin typeface="+mn-lt"/>
                <a:ea typeface="+mn-ea"/>
                <a:cs typeface="+mn-cs"/>
              </a:rPr>
              <a:t>: Fun Film sold at Price Costco. This is a classic example. Kodak was selling their premium Royal Gold film. Fuji and others started competing. Kodak wanted to protect the low end of their market. They could have lowered the price on Royal Gold, but then you give up capturing the surplus at the high end. So they introduced a new brand, </a:t>
            </a:r>
            <a:r>
              <a:rPr lang="en-US" sz="1200" kern="1200" dirty="0" err="1">
                <a:solidFill>
                  <a:schemeClr val="tx1"/>
                </a:solidFill>
                <a:effectLst/>
                <a:latin typeface="+mn-lt"/>
                <a:ea typeface="+mn-ea"/>
                <a:cs typeface="+mn-cs"/>
              </a:rPr>
              <a:t>FunFilm</a:t>
            </a:r>
            <a:r>
              <a:rPr lang="en-US" sz="1200" kern="1200" dirty="0">
                <a:solidFill>
                  <a:schemeClr val="tx1"/>
                </a:solidFill>
                <a:effectLst/>
                <a:latin typeface="+mn-lt"/>
                <a:ea typeface="+mn-ea"/>
                <a:cs typeface="+mn-cs"/>
              </a:rPr>
              <a:t>, offered only at discount stores like Sam’s Club, Costco, in bulk. This is where price sensitive customers go. It turns out the two films were chemically identical. The packaging and bulk sales aspect were different but the actual product was the same. This is a classic B-school case.</a:t>
            </a:r>
            <a:endParaRPr lang="en-US" dirty="0"/>
          </a:p>
          <a:p>
            <a:pPr lv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971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Coupon costs $9, but the restaurant gets only $4.50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Problems with haggling: </a:t>
            </a:r>
            <a:r>
              <a:rPr lang="en-US" sz="1200" u="none" kern="1200" dirty="0">
                <a:solidFill>
                  <a:schemeClr val="tx1"/>
                </a:solidFill>
                <a:effectLst/>
                <a:latin typeface="+mn-lt"/>
                <a:ea typeface="+mn-ea"/>
                <a:cs typeface="+mn-cs"/>
              </a:rPr>
              <a:t>-- Not incentive compatible…everybody tries to lie about their WTP</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mn-lt"/>
                <a:ea typeface="+mn-ea"/>
                <a:cs typeface="+mn-cs"/>
              </a:rPr>
              <a:t>			    -- Takes very long to negotiate. So did not work in large department stores in late 19C</a:t>
            </a:r>
            <a:endParaRPr lang="en-US" sz="1100" kern="1200" dirty="0">
              <a:solidFill>
                <a:schemeClr val="tx1"/>
              </a:solidFill>
              <a:effectLst/>
              <a:latin typeface="+mn-lt"/>
              <a:ea typeface="+mn-ea"/>
              <a:cs typeface="+mn-cs"/>
            </a:endParaRPr>
          </a:p>
          <a:p>
            <a:endParaRPr lang="en-US" sz="1200" u="sng"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97963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28</a:t>
            </a:fld>
            <a:endParaRPr lang="en-US"/>
          </a:p>
        </p:txBody>
      </p:sp>
    </p:spTree>
    <p:extLst>
      <p:ext uri="{BB962C8B-B14F-4D97-AF65-F5344CB8AC3E}">
        <p14:creationId xmlns:p14="http://schemas.microsoft.com/office/powerpoint/2010/main" val="7855308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5C80C1-D073-41E8-82D0-F37C217C6DB8}" type="slidenum">
              <a:rPr lang="en-US"/>
              <a:pPr/>
              <a:t>29</a:t>
            </a:fld>
            <a:endParaRPr lang="en-US"/>
          </a:p>
        </p:txBody>
      </p:sp>
      <p:sp>
        <p:nvSpPr>
          <p:cNvPr id="239618"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239619"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dirty="0"/>
          </a:p>
        </p:txBody>
      </p:sp>
    </p:spTree>
    <p:extLst>
      <p:ext uri="{BB962C8B-B14F-4D97-AF65-F5344CB8AC3E}">
        <p14:creationId xmlns:p14="http://schemas.microsoft.com/office/powerpoint/2010/main" val="30314705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5C80C1-D073-41E8-82D0-F37C217C6DB8}" type="slidenum">
              <a:rPr lang="en-US"/>
              <a:pPr/>
              <a:t>30</a:t>
            </a:fld>
            <a:endParaRPr lang="en-US"/>
          </a:p>
        </p:txBody>
      </p:sp>
      <p:sp>
        <p:nvSpPr>
          <p:cNvPr id="239618"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239619"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dirty="0"/>
          </a:p>
        </p:txBody>
      </p:sp>
    </p:spTree>
    <p:extLst>
      <p:ext uri="{BB962C8B-B14F-4D97-AF65-F5344CB8AC3E}">
        <p14:creationId xmlns:p14="http://schemas.microsoft.com/office/powerpoint/2010/main" val="9119296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With MC=0, people buy to where the value is zero. You want to capture the entire area under the demand curve. How much does the consumer pay? For a flat fee of $400, he would be just willing to purchase the bundle of 20 units. The company doubles their contribution and extracts all the surplus. </a:t>
            </a:r>
          </a:p>
          <a:p>
            <a:endParaRPr lang="en-US" sz="120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Equivalent pricing schemes: A </a:t>
            </a:r>
            <a:r>
              <a:rPr lang="en-US" sz="1200" b="1" kern="1200" dirty="0">
                <a:solidFill>
                  <a:schemeClr val="tx1"/>
                </a:solidFill>
                <a:effectLst/>
                <a:latin typeface="+mn-lt"/>
                <a:ea typeface="+mn-ea"/>
                <a:cs typeface="+mn-cs"/>
              </a:rPr>
              <a:t>sliding scale discount pricing scheme</a:t>
            </a:r>
            <a:r>
              <a:rPr lang="en-US" sz="1200" kern="1200" dirty="0">
                <a:solidFill>
                  <a:schemeClr val="tx1"/>
                </a:solidFill>
                <a:effectLst/>
                <a:latin typeface="+mn-lt"/>
                <a:ea typeface="+mn-ea"/>
                <a:cs typeface="+mn-cs"/>
              </a:rPr>
              <a:t> amounts to the same thing – charge lower and lower amounts for each subsequent unit sold. Here you march the consumer down the demand curve and you charge successively lower prices that allow you to capture all the surplus. The quantity discounts come from the seller’s realization that the buyer has a downward sloping demand curve.</a:t>
            </a:r>
          </a:p>
        </p:txBody>
      </p:sp>
      <p:sp>
        <p:nvSpPr>
          <p:cNvPr id="4" name="Slide Number Placeholder 3"/>
          <p:cNvSpPr>
            <a:spLocks noGrp="1"/>
          </p:cNvSpPr>
          <p:nvPr>
            <p:ph type="sldNum" sz="quarter" idx="10"/>
          </p:nvPr>
        </p:nvSpPr>
        <p:spPr/>
        <p:txBody>
          <a:bodyPr/>
          <a:lstStyle/>
          <a:p>
            <a:fld id="{8D36AC2A-E969-3C46-9ED8-B46D40C5E669}" type="slidenum">
              <a:rPr lang="en-US" smtClean="0"/>
              <a:t>31</a:t>
            </a:fld>
            <a:endParaRPr lang="en-US"/>
          </a:p>
        </p:txBody>
      </p:sp>
    </p:spTree>
    <p:extLst>
      <p:ext uri="{BB962C8B-B14F-4D97-AF65-F5344CB8AC3E}">
        <p14:creationId xmlns:p14="http://schemas.microsoft.com/office/powerpoint/2010/main" val="33051255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represent the pricing strategy of Netflix, as an example of versioning. They have three plans, from basic to premium. The chart on the right represents the change in strategy that Netflix followed over time</a:t>
            </a:r>
          </a:p>
          <a:p>
            <a:r>
              <a:rPr lang="en-US" dirty="0"/>
              <a:t>This is a very good video on increase in price in 2017, where they also discuss previous price increases and the backlash associated with them</a:t>
            </a:r>
          </a:p>
          <a:p>
            <a:r>
              <a:rPr lang="en-US" dirty="0"/>
              <a:t>https://finance.yahoo.com/news/netflix-price-hikes-wont-hurt-subscriber-growth-211526185.html</a:t>
            </a:r>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32</a:t>
            </a:fld>
            <a:endParaRPr lang="en-US"/>
          </a:p>
        </p:txBody>
      </p:sp>
    </p:spTree>
    <p:extLst>
      <p:ext uri="{BB962C8B-B14F-4D97-AF65-F5344CB8AC3E}">
        <p14:creationId xmlns:p14="http://schemas.microsoft.com/office/powerpoint/2010/main" val="4355010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33</a:t>
            </a:fld>
            <a:endParaRPr lang="en-US"/>
          </a:p>
        </p:txBody>
      </p:sp>
    </p:spTree>
    <p:extLst>
      <p:ext uri="{BB962C8B-B14F-4D97-AF65-F5344CB8AC3E}">
        <p14:creationId xmlns:p14="http://schemas.microsoft.com/office/powerpoint/2010/main" val="1517391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34</a:t>
            </a:fld>
            <a:endParaRPr lang="en-US"/>
          </a:p>
        </p:txBody>
      </p:sp>
    </p:spTree>
    <p:extLst>
      <p:ext uri="{BB962C8B-B14F-4D97-AF65-F5344CB8AC3E}">
        <p14:creationId xmlns:p14="http://schemas.microsoft.com/office/powerpoint/2010/main" val="31313257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35</a:t>
            </a:fld>
            <a:endParaRPr lang="en-US"/>
          </a:p>
        </p:txBody>
      </p:sp>
    </p:spTree>
    <p:extLst>
      <p:ext uri="{BB962C8B-B14F-4D97-AF65-F5344CB8AC3E}">
        <p14:creationId xmlns:p14="http://schemas.microsoft.com/office/powerpoint/2010/main" val="3131325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D36AC2A-E969-3C46-9ED8-B46D40C5E669}" type="slidenum">
              <a:rPr lang="en-US" smtClean="0"/>
              <a:t>36</a:t>
            </a:fld>
            <a:endParaRPr lang="en-US"/>
          </a:p>
        </p:txBody>
      </p:sp>
    </p:spTree>
    <p:extLst>
      <p:ext uri="{BB962C8B-B14F-4D97-AF65-F5344CB8AC3E}">
        <p14:creationId xmlns:p14="http://schemas.microsoft.com/office/powerpoint/2010/main" val="2998375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37</a:t>
            </a:fld>
            <a:endParaRPr lang="en-US"/>
          </a:p>
        </p:txBody>
      </p:sp>
    </p:spTree>
    <p:extLst>
      <p:ext uri="{BB962C8B-B14F-4D97-AF65-F5344CB8AC3E}">
        <p14:creationId xmlns:p14="http://schemas.microsoft.com/office/powerpoint/2010/main" val="30651181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pricing strategy for the Zoo?
https://www.polleverywhere.com/multiple_choice_polls/hmpajEICOBWnni2rKMoIs?state=opened&amp;flow=Default&amp;onscreen=persist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38</a:t>
            </a:fld>
            <a:endParaRPr lang="en-US"/>
          </a:p>
        </p:txBody>
      </p:sp>
      <p:sp>
        <p:nvSpPr>
          <p:cNvPr id="5" name="TextBox 4">
            <a:extLst>
              <a:ext uri="{FF2B5EF4-FFF2-40B4-BE49-F238E27FC236}">
                <a16:creationId xmlns:a16="http://schemas.microsoft.com/office/drawing/2014/main" id="{E00E8EAA-D0C6-419F-9720-C6E6FE687E73}"/>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448703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79963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2275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45531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42</a:t>
            </a:fld>
            <a:endParaRPr lang="en-US"/>
          </a:p>
        </p:txBody>
      </p:sp>
    </p:spTree>
    <p:extLst>
      <p:ext uri="{BB962C8B-B14F-4D97-AF65-F5344CB8AC3E}">
        <p14:creationId xmlns:p14="http://schemas.microsoft.com/office/powerpoint/2010/main" val="20140935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88050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99927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45</a:t>
            </a:fld>
            <a:endParaRPr lang="en-US"/>
          </a:p>
        </p:txBody>
      </p:sp>
    </p:spTree>
    <p:extLst>
      <p:ext uri="{BB962C8B-B14F-4D97-AF65-F5344CB8AC3E}">
        <p14:creationId xmlns:p14="http://schemas.microsoft.com/office/powerpoint/2010/main" val="20140935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Attempts to extract consumer surplus</a:t>
            </a:r>
          </a:p>
        </p:txBody>
      </p:sp>
      <p:sp>
        <p:nvSpPr>
          <p:cNvPr id="4" name="Slide Number Placeholder 3"/>
          <p:cNvSpPr>
            <a:spLocks noGrp="1"/>
          </p:cNvSpPr>
          <p:nvPr>
            <p:ph type="sldNum" sz="quarter" idx="5"/>
          </p:nvPr>
        </p:nvSpPr>
        <p:spPr/>
        <p:txBody>
          <a:bodyPr/>
          <a:lstStyle/>
          <a:p>
            <a:fld id="{8D36AC2A-E969-3C46-9ED8-B46D40C5E669}" type="slidenum">
              <a:rPr lang="en-US" smtClean="0"/>
              <a:t>46</a:t>
            </a:fld>
            <a:endParaRPr lang="en-US"/>
          </a:p>
        </p:txBody>
      </p:sp>
    </p:spTree>
    <p:extLst>
      <p:ext uri="{BB962C8B-B14F-4D97-AF65-F5344CB8AC3E}">
        <p14:creationId xmlns:p14="http://schemas.microsoft.com/office/powerpoint/2010/main" val="38634593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Combination of block pricing and versioning</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2820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was as follows, </a:t>
            </a:r>
          </a:p>
          <a:p>
            <a:r>
              <a:rPr lang="en-US" dirty="0"/>
              <a:t>- In one case consumers saw two options at 125 one including only print and one including print and web, and one at $59.</a:t>
            </a:r>
          </a:p>
          <a:p>
            <a:r>
              <a:rPr lang="en-US" dirty="0"/>
              <a:t>- In the other treatment consumer were given two options: $59 and $125 for print and web. </a:t>
            </a:r>
          </a:p>
          <a:p>
            <a:r>
              <a:rPr lang="en-US" dirty="0"/>
              <a:t>When people saw the three options 84% of them chose print and web and only 16% the cheapest option. Their attention went to the comparison between the two options at 125.</a:t>
            </a:r>
          </a:p>
          <a:p>
            <a:r>
              <a:rPr lang="en-US" dirty="0"/>
              <a:t>In the experiment with two options only 32% of them chose the expensive option, most of the (68% chose the $59 option)</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t>Explanation: https://cxl.com/blog/pricing-experiments-you-might-not-know-but-can-learn-from/ </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48</a:t>
            </a:fld>
            <a:endParaRPr lang="en-US"/>
          </a:p>
        </p:txBody>
      </p:sp>
    </p:spTree>
    <p:extLst>
      <p:ext uri="{BB962C8B-B14F-4D97-AF65-F5344CB8AC3E}">
        <p14:creationId xmlns:p14="http://schemas.microsoft.com/office/powerpoint/2010/main" val="7801486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https://cxl.com/blog/pricing-experiments-you-might-not-know-but-can-learn-from/ </a:t>
            </a:r>
          </a:p>
        </p:txBody>
      </p:sp>
      <p:sp>
        <p:nvSpPr>
          <p:cNvPr id="4" name="Slide Number Placeholder 3"/>
          <p:cNvSpPr>
            <a:spLocks noGrp="1"/>
          </p:cNvSpPr>
          <p:nvPr>
            <p:ph type="sldNum" sz="quarter" idx="5"/>
          </p:nvPr>
        </p:nvSpPr>
        <p:spPr/>
        <p:txBody>
          <a:bodyPr/>
          <a:lstStyle/>
          <a:p>
            <a:fld id="{8D36AC2A-E969-3C46-9ED8-B46D40C5E669}" type="slidenum">
              <a:rPr lang="en-US" smtClean="0"/>
              <a:t>49</a:t>
            </a:fld>
            <a:endParaRPr lang="en-US"/>
          </a:p>
        </p:txBody>
      </p:sp>
    </p:spTree>
    <p:extLst>
      <p:ext uri="{BB962C8B-B14F-4D97-AF65-F5344CB8AC3E}">
        <p14:creationId xmlns:p14="http://schemas.microsoft.com/office/powerpoint/2010/main" val="430973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96672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373754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4304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3/4/2022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3/4/2022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3/4/2022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3/4/2022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3/4/2022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3/4/2022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3/4/2022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3/4/2022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3/4/2022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3/4/2022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3/4/2022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3/4/2022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3/4/2022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3/4/2022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3/4/2022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3/4/2022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3/4/2022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3/4/2022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3/4/2022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3/4/2022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3/4/2022</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3/4/2022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3/4/2022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3/4/2022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hyperlink" Target="https://achieve.macmillanlearning.com/courses/cjg58a/mycourse"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0.xml"/><Relationship Id="rId1" Type="http://schemas.openxmlformats.org/officeDocument/2006/relationships/tags" Target="../tags/tag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8.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tags" Target="../tags/tag9.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26.png"/><Relationship Id="rId2" Type="http://schemas.openxmlformats.org/officeDocument/2006/relationships/slideLayout" Target="../slideLayouts/slideLayout15.xml"/><Relationship Id="rId1" Type="http://schemas.openxmlformats.org/officeDocument/2006/relationships/tags" Target="../tags/tag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0.xml"/><Relationship Id="rId1" Type="http://schemas.openxmlformats.org/officeDocument/2006/relationships/tags" Target="../tags/tag11.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hyperlink" Target="https://finance.yahoo.com/news/airlines-introduce-economy-minus-class-210058085.html" TargetMode="External"/><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slide" Target="slide52.xml"/><Relationship Id="rId5" Type="http://schemas.openxmlformats.org/officeDocument/2006/relationships/slide" Target="slide17.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5.xml"/><Relationship Id="rId1" Type="http://schemas.openxmlformats.org/officeDocument/2006/relationships/tags" Target="../tags/tag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5.xml"/><Relationship Id="rId1" Type="http://schemas.openxmlformats.org/officeDocument/2006/relationships/tags" Target="../tags/tag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5.xml"/><Relationship Id="rId5" Type="http://schemas.openxmlformats.org/officeDocument/2006/relationships/image" Target="../media/image31.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33.emf"/></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37.jp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0.xml"/><Relationship Id="rId1" Type="http://schemas.openxmlformats.org/officeDocument/2006/relationships/tags" Target="../tags/tag14.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hyperlink" Target="https://www.themadoptimist.com/" TargetMode="External"/><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hyperlink" Target="https://www.renttherunway.com/memberships" TargetMode="External"/><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5.xml"/><Relationship Id="rId1" Type="http://schemas.openxmlformats.org/officeDocument/2006/relationships/tags" Target="../tags/tag1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5.xml"/><Relationship Id="rId1" Type="http://schemas.openxmlformats.org/officeDocument/2006/relationships/tags" Target="../tags/tag16.xml"/></Relationships>
</file>

<file path=ppt/slides/_rels/slide5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4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fontScale="90000"/>
          </a:bodyPr>
          <a:lstStyle/>
          <a:p>
            <a:r>
              <a:rPr lang="en-US" dirty="0"/>
              <a:t>Complex Pricing – Recap and </a:t>
            </a:r>
            <a:r>
              <a:rPr lang="en-US" dirty="0" err="1"/>
              <a:t>APplications</a:t>
            </a: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2" y="1480457"/>
            <a:ext cx="8118312" cy="5233492"/>
          </a:xfrm>
        </p:spPr>
        <p:txBody>
          <a:bodyPr>
            <a:noAutofit/>
          </a:bodyPr>
          <a:lstStyle/>
          <a:p>
            <a:r>
              <a:rPr lang="en-US" sz="2400" dirty="0"/>
              <a:t>Practice Final Exam on </a:t>
            </a:r>
            <a:r>
              <a:rPr lang="en-US" sz="2400" dirty="0" err="1"/>
              <a:t>BruinLearn</a:t>
            </a:r>
            <a:endParaRPr lang="en-US" sz="2400" dirty="0"/>
          </a:p>
          <a:p>
            <a:pPr lvl="1"/>
            <a:r>
              <a:rPr lang="en-US" sz="2200" dirty="0"/>
              <a:t>Similar to actual final</a:t>
            </a:r>
          </a:p>
          <a:p>
            <a:r>
              <a:rPr lang="en-US" sz="2400" dirty="0"/>
              <a:t>Final exam: You will have 5 hours</a:t>
            </a:r>
          </a:p>
          <a:p>
            <a:pPr lvl="1"/>
            <a:r>
              <a:rPr lang="en-US" sz="2200" dirty="0"/>
              <a:t>Any time between March 19, 12:01am and March 20, 11:59pm (submission time)</a:t>
            </a:r>
          </a:p>
          <a:p>
            <a:r>
              <a:rPr lang="en-US" sz="2400" dirty="0"/>
              <a:t>We’ll have 2 windows with guaranteed TA availability on Zoom</a:t>
            </a:r>
          </a:p>
          <a:p>
            <a:pPr lvl="1"/>
            <a:r>
              <a:rPr lang="en-US" sz="2200" dirty="0"/>
              <a:t>Saturday, March 19: 9am-2pm</a:t>
            </a:r>
          </a:p>
          <a:p>
            <a:pPr lvl="1"/>
            <a:r>
              <a:rPr lang="en-US" sz="2200" dirty="0"/>
              <a:t>Sunday, March 20: 9am-2pm</a:t>
            </a:r>
          </a:p>
          <a:p>
            <a:pPr lvl="1"/>
            <a:r>
              <a:rPr lang="en-US" sz="2200" dirty="0"/>
              <a:t>Zoom link will be shared before the final exam</a:t>
            </a:r>
          </a:p>
          <a:p>
            <a:pPr lvl="1"/>
            <a:endParaRPr lang="en-US" sz="2200" dirty="0"/>
          </a:p>
          <a:p>
            <a:r>
              <a:rPr lang="en-US" sz="2400" dirty="0"/>
              <a:t>Remember: Many practice problems on </a:t>
            </a:r>
            <a:r>
              <a:rPr lang="en-US" sz="2400" dirty="0">
                <a:hlinkClick r:id="rId4"/>
              </a:rPr>
              <a:t>Achieve</a:t>
            </a:r>
            <a:r>
              <a:rPr lang="en-US" sz="2400" dirty="0"/>
              <a:t>!</a:t>
            </a:r>
          </a:p>
          <a:p>
            <a:endParaRPr lang="en-US" sz="2400" dirty="0"/>
          </a:p>
        </p:txBody>
      </p:sp>
      <p:sp>
        <p:nvSpPr>
          <p:cNvPr id="5" name="Title 4"/>
          <p:cNvSpPr>
            <a:spLocks noGrp="1"/>
          </p:cNvSpPr>
          <p:nvPr>
            <p:ph type="title"/>
          </p:nvPr>
        </p:nvSpPr>
        <p:spPr>
          <a:xfrm>
            <a:off x="457200" y="20639"/>
            <a:ext cx="8229600" cy="1143000"/>
          </a:xfrm>
        </p:spPr>
        <p:txBody>
          <a:bodyPr>
            <a:normAutofit/>
          </a:bodyPr>
          <a:lstStyle/>
          <a:p>
            <a:r>
              <a:rPr lang="en-US" sz="3000" dirty="0"/>
              <a:t>Exam-Specific announcements</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3133252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0639"/>
            <a:ext cx="8229600" cy="1143000"/>
          </a:xfrm>
        </p:spPr>
        <p:txBody>
          <a:bodyPr>
            <a:normAutofit/>
          </a:bodyPr>
          <a:lstStyle/>
          <a:p>
            <a:r>
              <a:rPr lang="en-US" sz="3000" dirty="0"/>
              <a:t>Final exam: Structure</a:t>
            </a:r>
          </a:p>
        </p:txBody>
      </p:sp>
      <p:sp>
        <p:nvSpPr>
          <p:cNvPr id="3" name="Content Placeholder 2"/>
          <p:cNvSpPr>
            <a:spLocks noGrp="1"/>
          </p:cNvSpPr>
          <p:nvPr>
            <p:ph idx="1"/>
          </p:nvPr>
        </p:nvSpPr>
        <p:spPr>
          <a:xfrm>
            <a:off x="366542" y="1597794"/>
            <a:ext cx="8757138" cy="4729981"/>
          </a:xfrm>
        </p:spPr>
        <p:txBody>
          <a:bodyPr>
            <a:noAutofit/>
          </a:bodyPr>
          <a:lstStyle/>
          <a:p>
            <a:r>
              <a:rPr lang="fr-FR" sz="2400" dirty="0"/>
              <a:t>40% </a:t>
            </a:r>
            <a:r>
              <a:rPr lang="fr-FR" sz="2400" dirty="0" err="1"/>
              <a:t>MCQs</a:t>
            </a:r>
            <a:r>
              <a:rPr lang="fr-FR" sz="2400" dirty="0"/>
              <a:t> (20 questions, 2 points </a:t>
            </a:r>
            <a:r>
              <a:rPr lang="fr-FR" sz="2400" dirty="0" err="1"/>
              <a:t>each</a:t>
            </a:r>
            <a:r>
              <a:rPr lang="fr-FR" sz="2400" dirty="0"/>
              <a:t>)</a:t>
            </a:r>
          </a:p>
          <a:p>
            <a:pPr lvl="1"/>
            <a:r>
              <a:rPr lang="fr-FR" sz="2200" dirty="0" err="1"/>
              <a:t>Directly</a:t>
            </a:r>
            <a:r>
              <a:rPr lang="fr-FR" sz="2200" dirty="0"/>
              <a:t> on </a:t>
            </a:r>
            <a:r>
              <a:rPr lang="fr-FR" sz="2200" dirty="0" err="1"/>
              <a:t>Bruinlearn</a:t>
            </a:r>
            <a:r>
              <a:rPr lang="fr-FR" sz="2200" dirty="0"/>
              <a:t>, </a:t>
            </a:r>
            <a:r>
              <a:rPr lang="fr-FR" sz="2200" dirty="0" err="1"/>
              <a:t>only</a:t>
            </a:r>
            <a:r>
              <a:rPr lang="fr-FR" sz="2200" dirty="0"/>
              <a:t> one </a:t>
            </a:r>
            <a:r>
              <a:rPr lang="fr-FR" sz="2200" dirty="0" err="1"/>
              <a:t>answer</a:t>
            </a:r>
            <a:r>
              <a:rPr lang="fr-FR" sz="2200" dirty="0"/>
              <a:t> correct</a:t>
            </a:r>
          </a:p>
          <a:p>
            <a:pPr lvl="1"/>
            <a:r>
              <a:rPr lang="fr-FR" sz="2200" dirty="0"/>
              <a:t>No partial </a:t>
            </a:r>
            <a:r>
              <a:rPr lang="fr-FR" sz="2200" dirty="0" err="1"/>
              <a:t>credit</a:t>
            </a:r>
            <a:endParaRPr lang="fr-FR" sz="2200" dirty="0"/>
          </a:p>
          <a:p>
            <a:r>
              <a:rPr lang="fr-FR" sz="2400" dirty="0"/>
              <a:t>60% </a:t>
            </a:r>
            <a:r>
              <a:rPr lang="fr-FR" sz="2400" dirty="0" err="1"/>
              <a:t>Problem</a:t>
            </a:r>
            <a:r>
              <a:rPr lang="fr-FR" sz="2400" dirty="0"/>
              <a:t> </a:t>
            </a:r>
            <a:r>
              <a:rPr lang="fr-FR" sz="2400" dirty="0" err="1"/>
              <a:t>Solving</a:t>
            </a:r>
            <a:r>
              <a:rPr lang="fr-FR" sz="2400" dirty="0"/>
              <a:t> (3 </a:t>
            </a:r>
            <a:r>
              <a:rPr lang="fr-FR" sz="2400" dirty="0" err="1"/>
              <a:t>problems</a:t>
            </a:r>
            <a:r>
              <a:rPr lang="fr-FR" sz="2400" dirty="0"/>
              <a:t>)</a:t>
            </a:r>
          </a:p>
          <a:p>
            <a:pPr lvl="1"/>
            <a:r>
              <a:rPr lang="fr-FR" sz="2200" dirty="0" err="1"/>
              <a:t>Upload</a:t>
            </a:r>
            <a:r>
              <a:rPr lang="fr-FR" sz="2200" dirty="0"/>
              <a:t> a </a:t>
            </a:r>
            <a:r>
              <a:rPr lang="fr-FR" sz="2200" dirty="0" err="1"/>
              <a:t>pdf</a:t>
            </a:r>
            <a:r>
              <a:rPr lang="fr-FR" sz="2200" dirty="0"/>
              <a:t> </a:t>
            </a:r>
            <a:r>
              <a:rPr lang="fr-FR" sz="2200" dirty="0" err="1"/>
              <a:t>with</a:t>
            </a:r>
            <a:r>
              <a:rPr lang="fr-FR" sz="2200" dirty="0"/>
              <a:t> </a:t>
            </a:r>
            <a:r>
              <a:rPr lang="fr-FR" sz="2200" dirty="0" err="1"/>
              <a:t>your</a:t>
            </a:r>
            <a:r>
              <a:rPr lang="fr-FR" sz="2200" dirty="0"/>
              <a:t> </a:t>
            </a:r>
            <a:r>
              <a:rPr lang="fr-FR" sz="2200" dirty="0" err="1"/>
              <a:t>answers</a:t>
            </a:r>
            <a:r>
              <a:rPr lang="fr-FR" sz="2200" dirty="0"/>
              <a:t> and </a:t>
            </a:r>
            <a:r>
              <a:rPr lang="fr-FR" sz="2200" dirty="0" err="1"/>
              <a:t>steps</a:t>
            </a:r>
            <a:endParaRPr lang="fr-FR" sz="1800" dirty="0"/>
          </a:p>
          <a:p>
            <a:pPr lvl="1"/>
            <a:r>
              <a:rPr lang="fr-FR" sz="2200" dirty="0"/>
              <a:t>Show </a:t>
            </a:r>
            <a:r>
              <a:rPr lang="fr-FR" sz="2200" dirty="0" err="1"/>
              <a:t>your</a:t>
            </a:r>
            <a:r>
              <a:rPr lang="fr-FR" sz="2200" dirty="0"/>
              <a:t> </a:t>
            </a:r>
            <a:r>
              <a:rPr lang="fr-FR" sz="2200" dirty="0" err="1"/>
              <a:t>work</a:t>
            </a:r>
            <a:r>
              <a:rPr lang="fr-FR" sz="2200" dirty="0"/>
              <a:t> for full </a:t>
            </a:r>
            <a:r>
              <a:rPr lang="fr-FR" sz="2200" dirty="0" err="1"/>
              <a:t>credit</a:t>
            </a:r>
            <a:r>
              <a:rPr lang="fr-FR" sz="2200" dirty="0"/>
              <a:t>!</a:t>
            </a:r>
          </a:p>
          <a:p>
            <a:pPr lvl="1"/>
            <a:r>
              <a:rPr lang="fr-FR" sz="2200" dirty="0"/>
              <a:t>Show </a:t>
            </a:r>
            <a:r>
              <a:rPr lang="fr-FR" sz="2200" dirty="0" err="1"/>
              <a:t>you</a:t>
            </a:r>
            <a:r>
              <a:rPr lang="fr-FR" sz="2200" dirty="0"/>
              <a:t> </a:t>
            </a:r>
            <a:r>
              <a:rPr lang="fr-FR" sz="2200" dirty="0" err="1"/>
              <a:t>work</a:t>
            </a:r>
            <a:r>
              <a:rPr lang="fr-FR" sz="2200" dirty="0"/>
              <a:t> for partial </a:t>
            </a:r>
            <a:r>
              <a:rPr lang="fr-FR" sz="2200" dirty="0" err="1"/>
              <a:t>credit</a:t>
            </a:r>
            <a:r>
              <a:rPr lang="fr-FR" sz="2200" dirty="0"/>
              <a:t>! </a:t>
            </a:r>
          </a:p>
          <a:p>
            <a:pPr lvl="2"/>
            <a:r>
              <a:rPr lang="fr-FR" sz="2000" dirty="0"/>
              <a:t>Even if you </a:t>
            </a:r>
            <a:r>
              <a:rPr lang="fr-FR" sz="2000" dirty="0" err="1"/>
              <a:t>get</a:t>
            </a:r>
            <a:r>
              <a:rPr lang="fr-FR" sz="2000" dirty="0"/>
              <a:t> </a:t>
            </a:r>
            <a:r>
              <a:rPr lang="fr-FR" sz="2000" dirty="0" err="1"/>
              <a:t>stuck</a:t>
            </a:r>
            <a:r>
              <a:rPr lang="fr-FR" sz="2000" dirty="0"/>
              <a:t> or run out of time, show </a:t>
            </a:r>
            <a:r>
              <a:rPr lang="fr-FR" sz="2000" dirty="0" err="1"/>
              <a:t>that</a:t>
            </a:r>
            <a:r>
              <a:rPr lang="fr-FR" sz="2000" dirty="0"/>
              <a:t> you know the </a:t>
            </a:r>
            <a:r>
              <a:rPr lang="fr-FR" sz="2000" dirty="0" err="1"/>
              <a:t>steps</a:t>
            </a:r>
            <a:r>
              <a:rPr lang="fr-FR" sz="2000" dirty="0"/>
              <a:t> / intuition / formulas</a:t>
            </a:r>
          </a:p>
          <a:p>
            <a:r>
              <a:rPr lang="fr-FR" sz="2400" dirty="0"/>
              <a:t>All </a:t>
            </a:r>
            <a:r>
              <a:rPr lang="fr-FR" sz="2400" dirty="0" err="1"/>
              <a:t>material</a:t>
            </a:r>
            <a:r>
              <a:rPr lang="fr-FR" sz="2400" dirty="0"/>
              <a:t> relevant, more </a:t>
            </a:r>
            <a:r>
              <a:rPr lang="fr-FR" sz="2400" dirty="0" err="1"/>
              <a:t>weight</a:t>
            </a:r>
            <a:r>
              <a:rPr lang="fr-FR" sz="2400" dirty="0"/>
              <a:t> on post-</a:t>
            </a:r>
            <a:r>
              <a:rPr lang="fr-FR" sz="2400" dirty="0" err="1"/>
              <a:t>midterm</a:t>
            </a:r>
            <a:r>
              <a:rPr lang="fr-FR" sz="2400" dirty="0"/>
              <a:t> topics</a:t>
            </a:r>
            <a:endParaRPr lang="en-US" sz="2400" dirty="0"/>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293275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0639"/>
            <a:ext cx="8229600" cy="1143000"/>
          </a:xfrm>
        </p:spPr>
        <p:txBody>
          <a:bodyPr>
            <a:normAutofit/>
          </a:bodyPr>
          <a:lstStyle/>
          <a:p>
            <a:r>
              <a:rPr lang="en-US" sz="3000" dirty="0"/>
              <a:t>Further Exam-Related announcements</a:t>
            </a:r>
          </a:p>
        </p:txBody>
      </p:sp>
      <p:sp>
        <p:nvSpPr>
          <p:cNvPr id="3" name="Content Placeholder 2"/>
          <p:cNvSpPr>
            <a:spLocks noGrp="1"/>
          </p:cNvSpPr>
          <p:nvPr>
            <p:ph idx="1"/>
          </p:nvPr>
        </p:nvSpPr>
        <p:spPr>
          <a:xfrm>
            <a:off x="386862" y="1463040"/>
            <a:ext cx="8118312" cy="5027295"/>
          </a:xfrm>
        </p:spPr>
        <p:txBody>
          <a:bodyPr>
            <a:noAutofit/>
          </a:bodyPr>
          <a:lstStyle/>
          <a:p>
            <a:pPr lvl="1"/>
            <a:endParaRPr lang="fr-FR" sz="200" dirty="0"/>
          </a:p>
          <a:p>
            <a:r>
              <a:rPr lang="fr-FR" dirty="0" err="1"/>
              <a:t>Review</a:t>
            </a:r>
            <a:r>
              <a:rPr lang="fr-FR" dirty="0"/>
              <a:t> sessions</a:t>
            </a:r>
          </a:p>
          <a:p>
            <a:pPr lvl="1"/>
            <a:r>
              <a:rPr lang="fr-FR" sz="2400" dirty="0"/>
              <a:t>Tuesday, 3/8 at 3pm </a:t>
            </a:r>
            <a:r>
              <a:rPr lang="fr-FR" sz="2400" dirty="0" err="1"/>
              <a:t>with</a:t>
            </a:r>
            <a:r>
              <a:rPr lang="fr-FR" sz="2400" dirty="0"/>
              <a:t> Nico</a:t>
            </a:r>
          </a:p>
          <a:p>
            <a:pPr lvl="2"/>
            <a:r>
              <a:rPr lang="fr-FR" sz="2000" dirty="0" err="1"/>
              <a:t>Send</a:t>
            </a:r>
            <a:r>
              <a:rPr lang="fr-FR" sz="2000" dirty="0"/>
              <a:t> me topics </a:t>
            </a:r>
            <a:r>
              <a:rPr lang="fr-FR" sz="2000" dirty="0" err="1"/>
              <a:t>you’d</a:t>
            </a:r>
            <a:r>
              <a:rPr lang="fr-FR" sz="2000" dirty="0"/>
              <a:t> like to cover! </a:t>
            </a:r>
          </a:p>
          <a:p>
            <a:pPr lvl="2"/>
            <a:r>
              <a:rPr lang="fr-FR" sz="2000" dirty="0" err="1"/>
              <a:t>Additional</a:t>
            </a:r>
            <a:r>
              <a:rPr lang="fr-FR" sz="2000" dirty="0"/>
              <a:t> office </a:t>
            </a:r>
            <a:r>
              <a:rPr lang="fr-FR" sz="2000" dirty="0" err="1"/>
              <a:t>hours</a:t>
            </a:r>
            <a:r>
              <a:rPr lang="fr-FR" sz="2000" dirty="0"/>
              <a:t> on </a:t>
            </a:r>
            <a:r>
              <a:rPr lang="fr-FR" sz="2000" dirty="0" err="1"/>
              <a:t>demand</a:t>
            </a:r>
            <a:endParaRPr lang="fr-FR" sz="2000" dirty="0"/>
          </a:p>
          <a:p>
            <a:pPr lvl="1"/>
            <a:r>
              <a:rPr lang="fr-FR" sz="2400" dirty="0"/>
              <a:t>«Last minute» </a:t>
            </a:r>
            <a:r>
              <a:rPr lang="fr-FR" sz="2400" dirty="0" err="1"/>
              <a:t>review</a:t>
            </a:r>
            <a:r>
              <a:rPr lang="fr-FR" sz="2400" dirty="0"/>
              <a:t> </a:t>
            </a:r>
            <a:r>
              <a:rPr lang="fr-FR" sz="2400" dirty="0" err="1"/>
              <a:t>with</a:t>
            </a:r>
            <a:r>
              <a:rPr lang="fr-FR" sz="2400" dirty="0"/>
              <a:t> Nico on 3/17 </a:t>
            </a:r>
            <a:r>
              <a:rPr lang="fr-FR" sz="2400"/>
              <a:t>at 8pm</a:t>
            </a:r>
            <a:endParaRPr lang="fr-FR" sz="2400" dirty="0"/>
          </a:p>
          <a:p>
            <a:pPr lvl="1"/>
            <a:r>
              <a:rPr lang="fr-FR" sz="2400" dirty="0"/>
              <a:t>TA </a:t>
            </a:r>
            <a:r>
              <a:rPr lang="fr-FR" sz="2400" dirty="0" err="1"/>
              <a:t>Review</a:t>
            </a:r>
            <a:r>
              <a:rPr lang="fr-FR" sz="2400" dirty="0"/>
              <a:t> Sessions: </a:t>
            </a:r>
            <a:r>
              <a:rPr lang="fr-FR" sz="2400" dirty="0" err="1"/>
              <a:t>See</a:t>
            </a:r>
            <a:r>
              <a:rPr lang="fr-FR" sz="2400" dirty="0"/>
              <a:t> Email </a:t>
            </a:r>
            <a:r>
              <a:rPr lang="fr-FR" sz="2400" dirty="0" err="1"/>
              <a:t>announcements</a:t>
            </a:r>
            <a:r>
              <a:rPr lang="fr-FR" sz="2400" dirty="0"/>
              <a:t> </a:t>
            </a:r>
            <a:endParaRPr lang="fr-FR" sz="2000" dirty="0"/>
          </a:p>
          <a:p>
            <a:pPr lvl="1"/>
            <a:endParaRPr lang="fr-FR" sz="500" dirty="0"/>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30625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1" y="1480457"/>
            <a:ext cx="8470033" cy="5233492"/>
          </a:xfrm>
        </p:spPr>
        <p:txBody>
          <a:bodyPr>
            <a:noAutofit/>
          </a:bodyPr>
          <a:lstStyle/>
          <a:p>
            <a:pPr>
              <a:spcBef>
                <a:spcPts val="1200"/>
              </a:spcBef>
            </a:pPr>
            <a:r>
              <a:rPr lang="en-US" dirty="0"/>
              <a:t>Module 6: (Brief) Recap and Applications</a:t>
            </a:r>
          </a:p>
          <a:p>
            <a:pPr>
              <a:spcBef>
                <a:spcPts val="1200"/>
              </a:spcBef>
            </a:pPr>
            <a:r>
              <a:rPr lang="en-US" dirty="0"/>
              <a:t>Module 7, Part I: Recap and applications: Oligopoly</a:t>
            </a:r>
          </a:p>
          <a:p>
            <a:pPr>
              <a:spcBef>
                <a:spcPts val="1200"/>
              </a:spcBef>
            </a:pPr>
            <a:r>
              <a:rPr lang="en-US" dirty="0"/>
              <a:t>Module 7, Part II: Game Theory</a:t>
            </a:r>
          </a:p>
          <a:p>
            <a:pPr>
              <a:spcBef>
                <a:spcPts val="1200"/>
              </a:spcBef>
            </a:pPr>
            <a:r>
              <a:rPr lang="en-US" dirty="0"/>
              <a:t>Module 8: Other Topics in Economics</a:t>
            </a:r>
          </a:p>
          <a:p>
            <a:pPr>
              <a:spcBef>
                <a:spcPts val="1200"/>
              </a:spcBef>
            </a:pPr>
            <a:r>
              <a:rPr lang="en-US" dirty="0"/>
              <a:t>Course Evaluations</a:t>
            </a:r>
          </a:p>
          <a:p>
            <a:pPr>
              <a:spcBef>
                <a:spcPts val="1200"/>
              </a:spcBef>
            </a:pPr>
            <a:r>
              <a:rPr lang="en-US" dirty="0"/>
              <a:t>Review of Class Topics</a:t>
            </a:r>
          </a:p>
          <a:p>
            <a:endParaRPr lang="en-US" sz="2400" dirty="0"/>
          </a:p>
          <a:p>
            <a:endParaRPr lang="en-US" sz="2400" dirty="0"/>
          </a:p>
        </p:txBody>
      </p:sp>
      <p:sp>
        <p:nvSpPr>
          <p:cNvPr id="5" name="Title 4"/>
          <p:cNvSpPr>
            <a:spLocks noGrp="1"/>
          </p:cNvSpPr>
          <p:nvPr>
            <p:ph type="title"/>
          </p:nvPr>
        </p:nvSpPr>
        <p:spPr>
          <a:xfrm>
            <a:off x="457200" y="20639"/>
            <a:ext cx="8229600" cy="1143000"/>
          </a:xfrm>
        </p:spPr>
        <p:txBody>
          <a:bodyPr>
            <a:normAutofit/>
          </a:bodyPr>
          <a:lstStyle/>
          <a:p>
            <a:r>
              <a:rPr lang="en-US" sz="3000" dirty="0"/>
              <a:t>Plan for Today</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3489031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cs typeface="Times New Roman" pitchFamily="18" charset="0"/>
              </a:rPr>
              <a:t>agenda for the class</a:t>
            </a:r>
            <a:endParaRPr lang="en-US" dirty="0"/>
          </a:p>
        </p:txBody>
      </p:sp>
      <p:sp>
        <p:nvSpPr>
          <p:cNvPr id="6" name="Rectangle 3"/>
          <p:cNvSpPr>
            <a:spLocks noChangeArrowheads="1"/>
          </p:cNvSpPr>
          <p:nvPr/>
        </p:nvSpPr>
        <p:spPr bwMode="auto">
          <a:xfrm>
            <a:off x="1240270" y="1870610"/>
            <a:ext cx="6561139" cy="457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1. The Economic Way of Thinking</a:t>
            </a:r>
            <a:endParaRPr kumimoji="0" lang="en-US" sz="1800" b="1" i="0" u="none" strike="noStrike" kern="1200" cap="none" spc="0" normalizeH="0" baseline="0" noProof="0" dirty="0">
              <a:ln>
                <a:noFill/>
              </a:ln>
              <a:solidFill>
                <a:prstClr val="black"/>
              </a:solidFill>
              <a:effectLst/>
              <a:uLnTx/>
              <a:uFillTx/>
              <a:latin typeface="Whitney-Book" pitchFamily="50" charset="0"/>
              <a:cs typeface="Times New Roman" pitchFamily="18" charset="0"/>
            </a:endParaRPr>
          </a:p>
        </p:txBody>
      </p:sp>
      <p:grpSp>
        <p:nvGrpSpPr>
          <p:cNvPr id="7" name="Group 6"/>
          <p:cNvGrpSpPr/>
          <p:nvPr/>
        </p:nvGrpSpPr>
        <p:grpSpPr>
          <a:xfrm>
            <a:off x="2275681" y="3603612"/>
            <a:ext cx="4592638" cy="1250239"/>
            <a:chOff x="2618581" y="4773364"/>
            <a:chExt cx="4592638" cy="1250239"/>
          </a:xfrm>
        </p:grpSpPr>
        <p:sp>
          <p:nvSpPr>
            <p:cNvPr id="8" name="Rectangle 6"/>
            <p:cNvSpPr>
              <a:spLocks noChangeArrowheads="1"/>
            </p:cNvSpPr>
            <p:nvPr/>
          </p:nvSpPr>
          <p:spPr bwMode="auto">
            <a:xfrm>
              <a:off x="2618581" y="5566403"/>
              <a:ext cx="4592638" cy="45720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4. Markets, Pricing and Strategy</a:t>
              </a:r>
            </a:p>
          </p:txBody>
        </p:sp>
        <p:sp>
          <p:nvSpPr>
            <p:cNvPr id="9" name="Line 7"/>
            <p:cNvSpPr>
              <a:spLocks noChangeShapeType="1"/>
            </p:cNvSpPr>
            <p:nvPr/>
          </p:nvSpPr>
          <p:spPr bwMode="auto">
            <a:xfrm>
              <a:off x="3290021" y="4773364"/>
              <a:ext cx="1089222" cy="780338"/>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8"/>
            <p:cNvSpPr>
              <a:spLocks noChangeShapeType="1"/>
            </p:cNvSpPr>
            <p:nvPr/>
          </p:nvSpPr>
          <p:spPr bwMode="auto">
            <a:xfrm flipH="1">
              <a:off x="5105398" y="4800600"/>
              <a:ext cx="1089223" cy="76199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0"/>
          <p:cNvGrpSpPr/>
          <p:nvPr/>
        </p:nvGrpSpPr>
        <p:grpSpPr>
          <a:xfrm>
            <a:off x="327941" y="2340672"/>
            <a:ext cx="3844057" cy="1262940"/>
            <a:chOff x="325439" y="2640690"/>
            <a:chExt cx="4475161" cy="1470283"/>
          </a:xfrm>
        </p:grpSpPr>
        <p:sp>
          <p:nvSpPr>
            <p:cNvPr id="12" name="Rectangle 4"/>
            <p:cNvSpPr>
              <a:spLocks noChangeArrowheads="1"/>
            </p:cNvSpPr>
            <p:nvPr/>
          </p:nvSpPr>
          <p:spPr bwMode="auto">
            <a:xfrm>
              <a:off x="325439" y="3578712"/>
              <a:ext cx="4475161" cy="53226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2. </a:t>
              </a:r>
              <a:r>
                <a:rPr kumimoji="0" lang="en-US" sz="1800" i="0" u="none" strike="noStrike" kern="1200" normalizeH="0" baseline="0" noProof="0" dirty="0">
                  <a:uLnTx/>
                  <a:uFillTx/>
                  <a:latin typeface="Whitney-Book" pitchFamily="50" charset="0"/>
                  <a:cs typeface="Times New Roman" pitchFamily="18" charset="0"/>
                </a:rPr>
                <a:t>Value and Demand</a:t>
              </a: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fr-FR" sz="1800" b="1" i="0" u="none" strike="noStrike" kern="1200" cap="none" spc="0" normalizeH="0" baseline="0" noProof="0" dirty="0">
                <a:ln>
                  <a:noFill/>
                </a:ln>
                <a:effectLst/>
                <a:uLnTx/>
                <a:uFillTx/>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lang="fr-FR" b="1" dirty="0">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en-US" sz="1800" b="1" i="0" u="none" strike="noStrike" kern="1200" cap="none" spc="0" normalizeH="0" baseline="0" noProof="0" dirty="0">
                <a:ln>
                  <a:noFill/>
                </a:ln>
                <a:effectLst/>
                <a:uLnTx/>
                <a:uFillTx/>
                <a:latin typeface="Whitney-Book" pitchFamily="50" charset="0"/>
                <a:cs typeface="Times New Roman" pitchFamily="18" charset="0"/>
              </a:endParaRPr>
            </a:p>
          </p:txBody>
        </p:sp>
        <p:sp>
          <p:nvSpPr>
            <p:cNvPr id="13" name="Line 7"/>
            <p:cNvSpPr>
              <a:spLocks noChangeShapeType="1"/>
            </p:cNvSpPr>
            <p:nvPr/>
          </p:nvSpPr>
          <p:spPr bwMode="auto">
            <a:xfrm flipH="1">
              <a:off x="3428997" y="2640690"/>
              <a:ext cx="1268048" cy="93594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3"/>
          <p:cNvGrpSpPr/>
          <p:nvPr/>
        </p:nvGrpSpPr>
        <p:grpSpPr>
          <a:xfrm>
            <a:off x="4848761" y="2340670"/>
            <a:ext cx="4021018" cy="1262940"/>
            <a:chOff x="4827952" y="2638613"/>
            <a:chExt cx="4681174" cy="1470287"/>
          </a:xfrm>
        </p:grpSpPr>
        <p:sp>
          <p:nvSpPr>
            <p:cNvPr id="15" name="Rectangle 9"/>
            <p:cNvSpPr>
              <a:spLocks noChangeArrowheads="1"/>
            </p:cNvSpPr>
            <p:nvPr/>
          </p:nvSpPr>
          <p:spPr bwMode="auto">
            <a:xfrm>
              <a:off x="4957763" y="3576638"/>
              <a:ext cx="4551363" cy="53226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3</a:t>
              </a:r>
              <a:r>
                <a:rPr lang="en-US" dirty="0">
                  <a:latin typeface="Whitney-Book" pitchFamily="50" charset="0"/>
                  <a:cs typeface="Times New Roman" pitchFamily="18" charset="0"/>
                </a:rPr>
                <a:t>.</a:t>
              </a:r>
              <a:r>
                <a:rPr kumimoji="0" lang="en-US" sz="1800" b="0" i="0" u="none" strike="noStrike" kern="1200" cap="none" spc="0" normalizeH="0" baseline="0" noProof="0" dirty="0">
                  <a:ln>
                    <a:noFill/>
                  </a:ln>
                  <a:effectLst/>
                  <a:uLnTx/>
                  <a:uFillTx/>
                  <a:latin typeface="Whitney-Book" pitchFamily="50" charset="0"/>
                  <a:cs typeface="Times New Roman" pitchFamily="18" charset="0"/>
                </a:rPr>
                <a:t> Supply and Cost</a:t>
              </a:r>
            </a:p>
          </p:txBody>
        </p:sp>
        <p:sp>
          <p:nvSpPr>
            <p:cNvPr id="16" name="Line 7"/>
            <p:cNvSpPr>
              <a:spLocks noChangeShapeType="1"/>
            </p:cNvSpPr>
            <p:nvPr/>
          </p:nvSpPr>
          <p:spPr bwMode="auto">
            <a:xfrm>
              <a:off x="4827952" y="2638613"/>
              <a:ext cx="1268048" cy="938025"/>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8" name="Right Arrow 16">
            <a:extLst>
              <a:ext uri="{FF2B5EF4-FFF2-40B4-BE49-F238E27FC236}">
                <a16:creationId xmlns:a16="http://schemas.microsoft.com/office/drawing/2014/main" id="{E2DFD23A-2E86-410D-B200-A0A82876E08C}"/>
              </a:ext>
            </a:extLst>
          </p:cNvPr>
          <p:cNvSpPr/>
          <p:nvPr/>
        </p:nvSpPr>
        <p:spPr bwMode="auto">
          <a:xfrm rot="13648161">
            <a:off x="6260016" y="4987619"/>
            <a:ext cx="1216609" cy="530221"/>
          </a:xfrm>
          <a:prstGeom prst="rightArrow">
            <a:avLst>
              <a:gd name="adj1" fmla="val 50000"/>
              <a:gd name="adj2" fmla="val 8711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Tree>
    <p:extLst>
      <p:ext uri="{BB962C8B-B14F-4D97-AF65-F5344CB8AC3E}">
        <p14:creationId xmlns:p14="http://schemas.microsoft.com/office/powerpoint/2010/main" val="2645254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p>
        </p:txBody>
      </p:sp>
      <p:sp>
        <p:nvSpPr>
          <p:cNvPr id="3" name="Content Placeholder 2"/>
          <p:cNvSpPr>
            <a:spLocks noGrp="1"/>
          </p:cNvSpPr>
          <p:nvPr>
            <p:ph idx="1"/>
          </p:nvPr>
        </p:nvSpPr>
        <p:spPr>
          <a:xfrm>
            <a:off x="457200" y="1094874"/>
            <a:ext cx="8229600" cy="5212407"/>
          </a:xfrm>
        </p:spPr>
        <p:txBody>
          <a:bodyPr>
            <a:normAutofit fontScale="77500" lnSpcReduction="20000"/>
          </a:bodyPr>
          <a:lstStyle/>
          <a:p>
            <a:pPr marL="0" indent="0">
              <a:lnSpc>
                <a:spcPct val="120000"/>
              </a:lnSpc>
              <a:buNone/>
            </a:pPr>
            <a:r>
              <a:rPr lang="fr-FR" sz="2810" b="1" dirty="0"/>
              <a:t>In the </a:t>
            </a:r>
            <a:r>
              <a:rPr lang="fr-FR" sz="2810" b="1" dirty="0" err="1"/>
              <a:t>Videos</a:t>
            </a:r>
            <a:r>
              <a:rPr lang="fr-FR" sz="2810" b="1" dirty="0"/>
              <a:t>:</a:t>
            </a:r>
          </a:p>
          <a:p>
            <a:pPr>
              <a:lnSpc>
                <a:spcPct val="120000"/>
              </a:lnSpc>
            </a:pPr>
            <a:r>
              <a:rPr lang="fr-FR" sz="2810" dirty="0"/>
              <a:t>Simple vs. </a:t>
            </a:r>
            <a:r>
              <a:rPr lang="fr-FR" sz="2810" dirty="0" err="1"/>
              <a:t>complex</a:t>
            </a:r>
            <a:r>
              <a:rPr lang="fr-FR" sz="2810" dirty="0"/>
              <a:t> </a:t>
            </a:r>
            <a:r>
              <a:rPr lang="fr-FR" sz="2810" dirty="0" err="1"/>
              <a:t>pricing</a:t>
            </a:r>
            <a:endParaRPr lang="fr-FR" sz="2810" dirty="0"/>
          </a:p>
          <a:p>
            <a:pPr>
              <a:lnSpc>
                <a:spcPct val="120000"/>
              </a:lnSpc>
            </a:pPr>
            <a:r>
              <a:rPr lang="fr-FR" sz="2810" dirty="0"/>
              <a:t>Direct </a:t>
            </a:r>
            <a:r>
              <a:rPr lang="fr-FR" sz="2810" dirty="0" err="1"/>
              <a:t>price</a:t>
            </a:r>
            <a:r>
              <a:rPr lang="fr-FR" sz="2810" dirty="0"/>
              <a:t> discrimination</a:t>
            </a:r>
          </a:p>
          <a:p>
            <a:pPr lvl="1">
              <a:lnSpc>
                <a:spcPct val="120000"/>
              </a:lnSpc>
              <a:spcBef>
                <a:spcPts val="0"/>
              </a:spcBef>
            </a:pPr>
            <a:r>
              <a:rPr lang="fr-FR" dirty="0" err="1">
                <a:latin typeface="Whitney-Book" pitchFamily="50" charset="0"/>
                <a:cs typeface="Whitney-Book" pitchFamily="50" charset="0"/>
              </a:rPr>
              <a:t>Perfect</a:t>
            </a:r>
            <a:r>
              <a:rPr lang="fr-FR" dirty="0">
                <a:latin typeface="Whitney-Book" pitchFamily="50" charset="0"/>
                <a:cs typeface="Whitney-Book" pitchFamily="50" charset="0"/>
              </a:rPr>
              <a:t> </a:t>
            </a:r>
            <a:r>
              <a:rPr lang="fr-FR" dirty="0" err="1">
                <a:latin typeface="Whitney-Book" pitchFamily="50" charset="0"/>
                <a:cs typeface="Whitney-Book" pitchFamily="50" charset="0"/>
              </a:rPr>
              <a:t>price</a:t>
            </a:r>
            <a:r>
              <a:rPr lang="fr-FR" dirty="0">
                <a:latin typeface="Whitney-Book" pitchFamily="50" charset="0"/>
                <a:cs typeface="Whitney-Book" pitchFamily="50" charset="0"/>
              </a:rPr>
              <a:t> discrimination (first </a:t>
            </a:r>
            <a:r>
              <a:rPr lang="fr-FR" dirty="0" err="1">
                <a:latin typeface="Whitney-Book" pitchFamily="50" charset="0"/>
                <a:cs typeface="Whitney-Book" pitchFamily="50" charset="0"/>
              </a:rPr>
              <a:t>degree</a:t>
            </a:r>
            <a:r>
              <a:rPr lang="fr-FR" dirty="0">
                <a:latin typeface="Whitney-Book" pitchFamily="50" charset="0"/>
                <a:cs typeface="Whitney-Book" pitchFamily="50" charset="0"/>
              </a:rPr>
              <a:t>)</a:t>
            </a:r>
          </a:p>
          <a:p>
            <a:pPr lvl="1">
              <a:lnSpc>
                <a:spcPct val="120000"/>
              </a:lnSpc>
              <a:spcBef>
                <a:spcPts val="0"/>
              </a:spcBef>
            </a:pPr>
            <a:r>
              <a:rPr lang="fr-FR" dirty="0">
                <a:latin typeface="Whitney-Book" pitchFamily="50" charset="0"/>
                <a:cs typeface="Whitney-Book" pitchFamily="50" charset="0"/>
              </a:rPr>
              <a:t>Segment </a:t>
            </a:r>
            <a:r>
              <a:rPr lang="fr-FR" dirty="0" err="1">
                <a:latin typeface="Whitney-Book" pitchFamily="50" charset="0"/>
                <a:cs typeface="Whitney-Book" pitchFamily="50" charset="0"/>
              </a:rPr>
              <a:t>pricing</a:t>
            </a:r>
            <a:r>
              <a:rPr lang="fr-FR" dirty="0">
                <a:latin typeface="Whitney-Book" pitchFamily="50" charset="0"/>
                <a:cs typeface="Whitney-Book" pitchFamily="50" charset="0"/>
              </a:rPr>
              <a:t> (</a:t>
            </a:r>
            <a:r>
              <a:rPr lang="fr-FR" dirty="0" err="1">
                <a:latin typeface="Whitney-Book" pitchFamily="50" charset="0"/>
                <a:cs typeface="Whitney-Book" pitchFamily="50" charset="0"/>
              </a:rPr>
              <a:t>third</a:t>
            </a:r>
            <a:r>
              <a:rPr lang="fr-FR" dirty="0">
                <a:latin typeface="Whitney-Book" pitchFamily="50" charset="0"/>
                <a:cs typeface="Whitney-Book" pitchFamily="50" charset="0"/>
              </a:rPr>
              <a:t> </a:t>
            </a:r>
            <a:r>
              <a:rPr lang="fr-FR" dirty="0" err="1">
                <a:latin typeface="Whitney-Book" pitchFamily="50" charset="0"/>
                <a:cs typeface="Whitney-Book" pitchFamily="50" charset="0"/>
              </a:rPr>
              <a:t>degree</a:t>
            </a:r>
            <a:r>
              <a:rPr lang="fr-FR" dirty="0">
                <a:latin typeface="Whitney-Book" pitchFamily="50" charset="0"/>
                <a:cs typeface="Whitney-Book" pitchFamily="50" charset="0"/>
              </a:rPr>
              <a:t>)</a:t>
            </a:r>
          </a:p>
          <a:p>
            <a:pPr>
              <a:lnSpc>
                <a:spcPct val="120000"/>
              </a:lnSpc>
            </a:pPr>
            <a:r>
              <a:rPr lang="fr-FR" sz="2810" dirty="0"/>
              <a:t>Indirect </a:t>
            </a:r>
            <a:r>
              <a:rPr lang="fr-FR" sz="2810" dirty="0" err="1"/>
              <a:t>price</a:t>
            </a:r>
            <a:r>
              <a:rPr lang="fr-FR" sz="2810" dirty="0"/>
              <a:t> discrimination (second </a:t>
            </a:r>
            <a:r>
              <a:rPr lang="fr-FR" sz="2810" dirty="0" err="1"/>
              <a:t>degree</a:t>
            </a:r>
            <a:r>
              <a:rPr lang="fr-FR" sz="2810" dirty="0"/>
              <a:t>)</a:t>
            </a:r>
          </a:p>
          <a:p>
            <a:pPr lvl="1">
              <a:lnSpc>
                <a:spcPct val="120000"/>
              </a:lnSpc>
              <a:spcBef>
                <a:spcPts val="0"/>
              </a:spcBef>
            </a:pPr>
            <a:r>
              <a:rPr lang="fr-FR" dirty="0">
                <a:latin typeface="Whitney-Book" pitchFamily="50" charset="0"/>
                <a:cs typeface="Whitney-Book" pitchFamily="50" charset="0"/>
              </a:rPr>
              <a:t>Versioning</a:t>
            </a:r>
          </a:p>
          <a:p>
            <a:pPr lvl="1">
              <a:lnSpc>
                <a:spcPct val="120000"/>
              </a:lnSpc>
              <a:spcBef>
                <a:spcPts val="0"/>
              </a:spcBef>
            </a:pPr>
            <a:r>
              <a:rPr lang="fr-FR" dirty="0"/>
              <a:t>Coupons</a:t>
            </a:r>
          </a:p>
          <a:p>
            <a:pPr marL="0" indent="0">
              <a:lnSpc>
                <a:spcPct val="120000"/>
              </a:lnSpc>
              <a:spcBef>
                <a:spcPts val="0"/>
              </a:spcBef>
              <a:buNone/>
            </a:pPr>
            <a:endParaRPr lang="fr-FR" dirty="0"/>
          </a:p>
          <a:p>
            <a:pPr marL="0" indent="0">
              <a:lnSpc>
                <a:spcPct val="120000"/>
              </a:lnSpc>
              <a:spcBef>
                <a:spcPts val="0"/>
              </a:spcBef>
              <a:buNone/>
            </a:pPr>
            <a:r>
              <a:rPr lang="fr-FR" b="1" dirty="0"/>
              <a:t>In class </a:t>
            </a:r>
            <a:r>
              <a:rPr lang="fr-FR" b="1" dirty="0" err="1"/>
              <a:t>today</a:t>
            </a:r>
            <a:r>
              <a:rPr lang="fr-FR" b="1" dirty="0"/>
              <a:t>:</a:t>
            </a:r>
          </a:p>
          <a:p>
            <a:pPr>
              <a:lnSpc>
                <a:spcPct val="120000"/>
              </a:lnSpc>
            </a:pPr>
            <a:r>
              <a:rPr lang="fr-FR" sz="2810" dirty="0"/>
              <a:t>Advanced </a:t>
            </a:r>
            <a:r>
              <a:rPr lang="fr-FR" sz="2810" dirty="0" err="1"/>
              <a:t>pricing</a:t>
            </a:r>
            <a:r>
              <a:rPr lang="fr-FR" sz="2810" dirty="0"/>
              <a:t> </a:t>
            </a:r>
            <a:r>
              <a:rPr lang="fr-FR" sz="2810" dirty="0" err="1"/>
              <a:t>strategies</a:t>
            </a:r>
            <a:endParaRPr lang="fr-FR" sz="2810" dirty="0"/>
          </a:p>
          <a:p>
            <a:pPr lvl="1">
              <a:lnSpc>
                <a:spcPct val="120000"/>
              </a:lnSpc>
              <a:spcBef>
                <a:spcPts val="0"/>
              </a:spcBef>
            </a:pPr>
            <a:r>
              <a:rPr lang="fr-FR" dirty="0">
                <a:latin typeface="Whitney-Book" pitchFamily="50" charset="0"/>
                <a:cs typeface="Whitney-Book" pitchFamily="50" charset="0"/>
              </a:rPr>
              <a:t>Flat </a:t>
            </a:r>
            <a:r>
              <a:rPr lang="fr-FR" dirty="0" err="1">
                <a:latin typeface="Whitney-Book" pitchFamily="50" charset="0"/>
                <a:cs typeface="Whitney-Book" pitchFamily="50" charset="0"/>
              </a:rPr>
              <a:t>fee</a:t>
            </a:r>
            <a:r>
              <a:rPr lang="fr-FR" dirty="0">
                <a:latin typeface="Whitney-Book" pitchFamily="50" charset="0"/>
                <a:cs typeface="Whitney-Book" pitchFamily="50" charset="0"/>
              </a:rPr>
              <a:t> </a:t>
            </a:r>
            <a:r>
              <a:rPr lang="fr-FR" dirty="0" err="1">
                <a:latin typeface="Whitney-Book" pitchFamily="50" charset="0"/>
                <a:cs typeface="Whitney-Book" pitchFamily="50" charset="0"/>
              </a:rPr>
              <a:t>pricing</a:t>
            </a:r>
            <a:endParaRPr lang="fr-FR" dirty="0">
              <a:latin typeface="Whitney-Book" pitchFamily="50" charset="0"/>
              <a:cs typeface="Whitney-Book" pitchFamily="50" charset="0"/>
            </a:endParaRPr>
          </a:p>
          <a:p>
            <a:pPr lvl="1">
              <a:lnSpc>
                <a:spcPct val="120000"/>
              </a:lnSpc>
              <a:spcBef>
                <a:spcPts val="0"/>
              </a:spcBef>
            </a:pPr>
            <a:r>
              <a:rPr lang="fr-FR" dirty="0" err="1">
                <a:latin typeface="Whitney-Book" pitchFamily="50" charset="0"/>
                <a:cs typeface="Whitney-Book" pitchFamily="50" charset="0"/>
              </a:rPr>
              <a:t>Two</a:t>
            </a:r>
            <a:r>
              <a:rPr lang="fr-FR" dirty="0">
                <a:latin typeface="Whitney-Book" pitchFamily="50" charset="0"/>
                <a:cs typeface="Whitney-Book" pitchFamily="50" charset="0"/>
              </a:rPr>
              <a:t>-part </a:t>
            </a:r>
            <a:r>
              <a:rPr lang="fr-FR" dirty="0" err="1">
                <a:latin typeface="Whitney-Book" pitchFamily="50" charset="0"/>
                <a:cs typeface="Whitney-Book" pitchFamily="50" charset="0"/>
              </a:rPr>
              <a:t>tariff</a:t>
            </a:r>
            <a:endParaRPr lang="fr-FR" dirty="0">
              <a:latin typeface="Whitney-Book" pitchFamily="50" charset="0"/>
              <a:cs typeface="Whitney-Book" pitchFamily="50" charset="0"/>
            </a:endParaRPr>
          </a:p>
          <a:p>
            <a:pPr lvl="1">
              <a:lnSpc>
                <a:spcPct val="120000"/>
              </a:lnSpc>
              <a:spcBef>
                <a:spcPts val="0"/>
              </a:spcBef>
            </a:pPr>
            <a:r>
              <a:rPr lang="fr-FR" dirty="0">
                <a:latin typeface="Whitney-Book" pitchFamily="50" charset="0"/>
                <a:cs typeface="Whitney-Book" pitchFamily="50" charset="0"/>
              </a:rPr>
              <a:t>Block </a:t>
            </a:r>
            <a:r>
              <a:rPr lang="fr-FR" dirty="0" err="1">
                <a:latin typeface="Whitney-Book" pitchFamily="50" charset="0"/>
                <a:cs typeface="Whitney-Book" pitchFamily="50" charset="0"/>
              </a:rPr>
              <a:t>pricing</a:t>
            </a:r>
            <a:endParaRPr lang="fr-FR" dirty="0">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2838277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Dilemma</a:t>
            </a:r>
            <a:r>
              <a:rPr lang="fr-FR" dirty="0"/>
              <a:t> of simple </a:t>
            </a:r>
            <a:r>
              <a:rPr lang="fr-FR" dirty="0" err="1"/>
              <a:t>pricing</a:t>
            </a:r>
            <a:r>
              <a:rPr lang="fr-FR" dirty="0"/>
              <a:t> </a:t>
            </a:r>
            <a:r>
              <a:rPr lang="fr-FR" dirty="0" err="1"/>
              <a:t>Explained</a:t>
            </a:r>
            <a:r>
              <a:rPr lang="fr-FR" dirty="0"/>
              <a:t> by the Podcast</a:t>
            </a:r>
            <a:endParaRPr lang="en-US" dirty="0"/>
          </a:p>
        </p:txBody>
      </p:sp>
      <p:sp>
        <p:nvSpPr>
          <p:cNvPr id="7" name="Rectangle 3">
            <a:extLst>
              <a:ext uri="{FF2B5EF4-FFF2-40B4-BE49-F238E27FC236}">
                <a16:creationId xmlns:a16="http://schemas.microsoft.com/office/drawing/2014/main" id="{730F4166-6DF7-4FEC-BFAB-83F042557A9B}"/>
              </a:ext>
            </a:extLst>
          </p:cNvPr>
          <p:cNvSpPr txBox="1">
            <a:spLocks noChangeArrowheads="1"/>
          </p:cNvSpPr>
          <p:nvPr/>
        </p:nvSpPr>
        <p:spPr>
          <a:xfrm>
            <a:off x="396025" y="1828800"/>
            <a:ext cx="8405075" cy="487013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200" dirty="0"/>
              <a:t>MC of a burger is $4.50</a:t>
            </a:r>
          </a:p>
          <a:p>
            <a:r>
              <a:rPr lang="en-US" sz="3200" dirty="0"/>
              <a:t>NYC restaurant sells it for $18</a:t>
            </a:r>
          </a:p>
          <a:p>
            <a:pPr lvl="1"/>
            <a:r>
              <a:rPr lang="en-US" sz="3000" dirty="0"/>
              <a:t>Lose customers with MPV=$15, $11, </a:t>
            </a:r>
            <a:r>
              <a:rPr lang="en-US" sz="3000" dirty="0" err="1"/>
              <a:t>etc</a:t>
            </a:r>
            <a:endParaRPr lang="en-US" sz="3000" dirty="0"/>
          </a:p>
          <a:p>
            <a:r>
              <a:rPr lang="en-US" sz="3200" dirty="0"/>
              <a:t>What if you charge $10? </a:t>
            </a:r>
            <a:endParaRPr lang="en-US" sz="3200" dirty="0">
              <a:sym typeface="Wingdings" panose="05000000000000000000" pitchFamily="2" charset="2"/>
            </a:endParaRPr>
          </a:p>
          <a:p>
            <a:pPr lvl="1"/>
            <a:r>
              <a:rPr lang="en-US" sz="3000" dirty="0">
                <a:sym typeface="Wingdings" panose="05000000000000000000" pitchFamily="2" charset="2"/>
              </a:rPr>
              <a:t>Give it for too little to those with MPV&gt;$18</a:t>
            </a:r>
            <a:endParaRPr lang="en-US" sz="3000" dirty="0"/>
          </a:p>
          <a:p>
            <a:pPr lvl="1"/>
            <a:endParaRPr lang="en-US" sz="3200" dirty="0"/>
          </a:p>
          <a:p>
            <a:pPr>
              <a:buFont typeface="Lucida Grande"/>
              <a:buNone/>
            </a:pPr>
            <a:endParaRPr lang="en-US" sz="3600" dirty="0"/>
          </a:p>
        </p:txBody>
      </p:sp>
      <p:pic>
        <p:nvPicPr>
          <p:cNvPr id="3" name="Picture 2">
            <a:extLst>
              <a:ext uri="{FF2B5EF4-FFF2-40B4-BE49-F238E27FC236}">
                <a16:creationId xmlns:a16="http://schemas.microsoft.com/office/drawing/2014/main" id="{0F9450DA-0B15-4ECB-A437-4FCE6665A204}"/>
              </a:ext>
            </a:extLst>
          </p:cNvPr>
          <p:cNvPicPr>
            <a:picLocks noChangeAspect="1"/>
          </p:cNvPicPr>
          <p:nvPr/>
        </p:nvPicPr>
        <p:blipFill>
          <a:blip r:embed="rId3"/>
          <a:stretch>
            <a:fillRect/>
          </a:stretch>
        </p:blipFill>
        <p:spPr>
          <a:xfrm>
            <a:off x="457200" y="5344886"/>
            <a:ext cx="8507012" cy="1286054"/>
          </a:xfrm>
          <a:prstGeom prst="rect">
            <a:avLst/>
          </a:prstGeom>
        </p:spPr>
      </p:pic>
    </p:spTree>
    <p:extLst>
      <p:ext uri="{BB962C8B-B14F-4D97-AF65-F5344CB8AC3E}">
        <p14:creationId xmlns:p14="http://schemas.microsoft.com/office/powerpoint/2010/main" val="3977772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87196" y="138735"/>
            <a:ext cx="8229600" cy="1143000"/>
          </a:xfrm>
        </p:spPr>
        <p:txBody>
          <a:bodyPr/>
          <a:lstStyle/>
          <a:p>
            <a:r>
              <a:rPr lang="fr-FR" dirty="0" err="1"/>
              <a:t>Dilemma</a:t>
            </a:r>
            <a:r>
              <a:rPr lang="fr-FR" dirty="0"/>
              <a:t> of simple </a:t>
            </a:r>
            <a:r>
              <a:rPr lang="fr-FR" dirty="0" err="1"/>
              <a:t>pricing</a:t>
            </a:r>
            <a:endParaRPr lang="en-US" dirty="0"/>
          </a:p>
        </p:txBody>
      </p:sp>
      <p:sp>
        <p:nvSpPr>
          <p:cNvPr id="6" name="Content Placeholder 5"/>
          <p:cNvSpPr>
            <a:spLocks noGrp="1"/>
          </p:cNvSpPr>
          <p:nvPr>
            <p:ph idx="1"/>
          </p:nvPr>
        </p:nvSpPr>
        <p:spPr>
          <a:xfrm>
            <a:off x="5628640" y="1342711"/>
            <a:ext cx="3058160" cy="4525963"/>
          </a:xfrm>
        </p:spPr>
        <p:txBody>
          <a:bodyPr>
            <a:normAutofit/>
          </a:bodyPr>
          <a:lstStyle/>
          <a:p>
            <a:pPr defTabSz="914400"/>
            <a:r>
              <a:rPr lang="en-US" sz="2400" dirty="0"/>
              <a:t>Simplifying assumption: MC=0</a:t>
            </a:r>
          </a:p>
          <a:p>
            <a:pPr defTabSz="914400">
              <a:lnSpc>
                <a:spcPct val="90000"/>
              </a:lnSpc>
            </a:pPr>
            <a:endParaRPr lang="en-US" sz="2400" dirty="0"/>
          </a:p>
          <a:p>
            <a:pPr defTabSz="914400">
              <a:lnSpc>
                <a:spcPct val="90000"/>
              </a:lnSpc>
            </a:pPr>
            <a:r>
              <a:rPr lang="en-US" sz="2400" dirty="0"/>
              <a:t>“Wasted profits”: consumer surplus + unexploited markets</a:t>
            </a:r>
          </a:p>
          <a:p>
            <a:pPr defTabSz="914400">
              <a:lnSpc>
                <a:spcPct val="90000"/>
              </a:lnSpc>
            </a:pPr>
            <a:endParaRPr lang="en-US" sz="2400" dirty="0"/>
          </a:p>
          <a:p>
            <a:pPr defTabSz="914400">
              <a:lnSpc>
                <a:spcPct val="90000"/>
              </a:lnSpc>
            </a:pPr>
            <a:r>
              <a:rPr lang="en-US" sz="2400" dirty="0"/>
              <a:t>Can do better using complex pricing</a:t>
            </a:r>
          </a:p>
        </p:txBody>
      </p:sp>
      <p:sp>
        <p:nvSpPr>
          <p:cNvPr id="20" name="Line 34"/>
          <p:cNvSpPr>
            <a:spLocks noChangeShapeType="1"/>
          </p:cNvSpPr>
          <p:nvPr/>
        </p:nvSpPr>
        <p:spPr bwMode="auto">
          <a:xfrm flipH="1">
            <a:off x="1137932" y="1857557"/>
            <a:ext cx="1077748"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1" name="Line 35"/>
          <p:cNvSpPr>
            <a:spLocks noChangeShapeType="1"/>
          </p:cNvSpPr>
          <p:nvPr/>
        </p:nvSpPr>
        <p:spPr bwMode="auto">
          <a:xfrm flipH="1">
            <a:off x="2267498" y="3455262"/>
            <a:ext cx="1077748"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2" name="Rectangle 36"/>
          <p:cNvSpPr>
            <a:spLocks noChangeArrowheads="1"/>
          </p:cNvSpPr>
          <p:nvPr/>
        </p:nvSpPr>
        <p:spPr bwMode="auto">
          <a:xfrm>
            <a:off x="2126504" y="1574661"/>
            <a:ext cx="1891543"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Consumer Surplus</a:t>
            </a:r>
          </a:p>
        </p:txBody>
      </p:sp>
      <p:sp>
        <p:nvSpPr>
          <p:cNvPr id="23" name="Rectangle 37"/>
          <p:cNvSpPr>
            <a:spLocks noChangeArrowheads="1"/>
          </p:cNvSpPr>
          <p:nvPr/>
        </p:nvSpPr>
        <p:spPr bwMode="auto">
          <a:xfrm>
            <a:off x="2970128" y="3054273"/>
            <a:ext cx="2123851"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Unexploited Markets</a:t>
            </a:r>
          </a:p>
        </p:txBody>
      </p:sp>
      <p:sp>
        <p:nvSpPr>
          <p:cNvPr id="24" name="Line 38"/>
          <p:cNvSpPr>
            <a:spLocks noChangeShapeType="1"/>
          </p:cNvSpPr>
          <p:nvPr/>
        </p:nvSpPr>
        <p:spPr bwMode="auto">
          <a:xfrm flipH="1">
            <a:off x="1607611" y="2561735"/>
            <a:ext cx="1075119"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5" name="Rectangle 39"/>
          <p:cNvSpPr>
            <a:spLocks noChangeArrowheads="1"/>
          </p:cNvSpPr>
          <p:nvPr/>
        </p:nvSpPr>
        <p:spPr bwMode="auto">
          <a:xfrm>
            <a:off x="2646666" y="2365464"/>
            <a:ext cx="1066895"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Revenues</a:t>
            </a:r>
          </a:p>
        </p:txBody>
      </p:sp>
      <p:grpSp>
        <p:nvGrpSpPr>
          <p:cNvPr id="26" name="Group 25"/>
          <p:cNvGrpSpPr/>
          <p:nvPr/>
        </p:nvGrpSpPr>
        <p:grpSpPr>
          <a:xfrm>
            <a:off x="515911" y="1009953"/>
            <a:ext cx="5112729" cy="5398044"/>
            <a:chOff x="762000" y="1219200"/>
            <a:chExt cx="5112729" cy="5398044"/>
          </a:xfrm>
        </p:grpSpPr>
        <p:sp>
          <p:nvSpPr>
            <p:cNvPr id="27" name="Line 31"/>
            <p:cNvSpPr>
              <a:spLocks noChangeShapeType="1"/>
            </p:cNvSpPr>
            <p:nvPr/>
          </p:nvSpPr>
          <p:spPr bwMode="auto">
            <a:xfrm>
              <a:off x="762000" y="1219200"/>
              <a:ext cx="0" cy="5398044"/>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8" name="Line 32"/>
            <p:cNvSpPr>
              <a:spLocks noChangeShapeType="1"/>
            </p:cNvSpPr>
            <p:nvPr/>
          </p:nvSpPr>
          <p:spPr bwMode="auto">
            <a:xfrm>
              <a:off x="762000" y="6617244"/>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grpSp>
      <p:sp>
        <p:nvSpPr>
          <p:cNvPr id="30" name="Rectangle 36"/>
          <p:cNvSpPr>
            <a:spLocks noChangeArrowheads="1"/>
          </p:cNvSpPr>
          <p:nvPr/>
        </p:nvSpPr>
        <p:spPr bwMode="auto">
          <a:xfrm>
            <a:off x="134911" y="933753"/>
            <a:ext cx="304571"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31" name="Rectangle 36"/>
          <p:cNvSpPr>
            <a:spLocks noChangeArrowheads="1"/>
          </p:cNvSpPr>
          <p:nvPr/>
        </p:nvSpPr>
        <p:spPr bwMode="auto">
          <a:xfrm>
            <a:off x="5293763" y="6417247"/>
            <a:ext cx="341440"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Q</a:t>
            </a: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pSp>
        <p:nvGrpSpPr>
          <p:cNvPr id="11" name="Group 10">
            <a:extLst>
              <a:ext uri="{FF2B5EF4-FFF2-40B4-BE49-F238E27FC236}">
                <a16:creationId xmlns:a16="http://schemas.microsoft.com/office/drawing/2014/main" id="{A143A374-8AE4-44F7-BD43-9EEC428F67C3}"/>
              </a:ext>
            </a:extLst>
          </p:cNvPr>
          <p:cNvGrpSpPr/>
          <p:nvPr/>
        </p:nvGrpSpPr>
        <p:grpSpPr>
          <a:xfrm>
            <a:off x="113728" y="4754779"/>
            <a:ext cx="1505222" cy="1653218"/>
            <a:chOff x="113728" y="4754779"/>
            <a:chExt cx="1505222" cy="1653218"/>
          </a:xfrm>
        </p:grpSpPr>
        <p:sp>
          <p:nvSpPr>
            <p:cNvPr id="32" name="Rectangle 36"/>
            <p:cNvSpPr>
              <a:spLocks noChangeArrowheads="1"/>
            </p:cNvSpPr>
            <p:nvPr/>
          </p:nvSpPr>
          <p:spPr bwMode="auto">
            <a:xfrm>
              <a:off x="113728" y="4754779"/>
              <a:ext cx="186013"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cxnSp>
          <p:nvCxnSpPr>
            <p:cNvPr id="4" name="Straight Connector 3">
              <a:extLst>
                <a:ext uri="{FF2B5EF4-FFF2-40B4-BE49-F238E27FC236}">
                  <a16:creationId xmlns:a16="http://schemas.microsoft.com/office/drawing/2014/main" id="{4D3519D9-18A1-4EB7-B36F-544BFB0BE877}"/>
                </a:ext>
              </a:extLst>
            </p:cNvPr>
            <p:cNvCxnSpPr/>
            <p:nvPr/>
          </p:nvCxnSpPr>
          <p:spPr>
            <a:xfrm>
              <a:off x="515911" y="4877051"/>
              <a:ext cx="110303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FBAB9550-4E16-4366-9123-70849F7EC9CF}"/>
                </a:ext>
              </a:extLst>
            </p:cNvPr>
            <p:cNvCxnSpPr>
              <a:cxnSpLocks/>
            </p:cNvCxnSpPr>
            <p:nvPr/>
          </p:nvCxnSpPr>
          <p:spPr>
            <a:xfrm>
              <a:off x="1618950" y="4877051"/>
              <a:ext cx="0" cy="153094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10" name="Straight Connector 9">
            <a:extLst>
              <a:ext uri="{FF2B5EF4-FFF2-40B4-BE49-F238E27FC236}">
                <a16:creationId xmlns:a16="http://schemas.microsoft.com/office/drawing/2014/main" id="{61F14F51-80E1-4710-80B2-6A09FF6BCB74}"/>
              </a:ext>
            </a:extLst>
          </p:cNvPr>
          <p:cNvCxnSpPr>
            <a:cxnSpLocks/>
          </p:cNvCxnSpPr>
          <p:nvPr/>
        </p:nvCxnSpPr>
        <p:spPr>
          <a:xfrm>
            <a:off x="515911" y="3159506"/>
            <a:ext cx="2140930" cy="3260647"/>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35" name="Rectangle 25">
            <a:extLst>
              <a:ext uri="{FF2B5EF4-FFF2-40B4-BE49-F238E27FC236}">
                <a16:creationId xmlns:a16="http://schemas.microsoft.com/office/drawing/2014/main" id="{F9E3D4CA-EF31-4A52-85EA-90D73B621243}"/>
              </a:ext>
            </a:extLst>
          </p:cNvPr>
          <p:cNvSpPr>
            <a:spLocks noChangeArrowheads="1"/>
          </p:cNvSpPr>
          <p:nvPr/>
        </p:nvSpPr>
        <p:spPr bwMode="auto">
          <a:xfrm>
            <a:off x="531630" y="4915051"/>
            <a:ext cx="1061430" cy="1480791"/>
          </a:xfrm>
          <a:prstGeom prst="rect">
            <a:avLst/>
          </a:prstGeom>
          <a:solidFill>
            <a:srgbClr val="FFFF00"/>
          </a:solidFill>
          <a:ln w="9525">
            <a:solidFill>
              <a:schemeClr val="tx1"/>
            </a:solidFill>
            <a:miter lim="800000"/>
            <a:headEnd/>
            <a:tailEnd/>
          </a:ln>
          <a:effectLst/>
        </p:spPr>
        <p:txBody>
          <a:bodyPr wrap="none" lIns="104025" tIns="52013" rIns="104025" bIns="52013" anchor="ctr"/>
          <a:lstStyle/>
          <a:p>
            <a:pPr marL="0" marR="0" lvl="0" indent="0" algn="ctr" defTabSz="97472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13" name="Right Triangle 12">
            <a:extLst>
              <a:ext uri="{FF2B5EF4-FFF2-40B4-BE49-F238E27FC236}">
                <a16:creationId xmlns:a16="http://schemas.microsoft.com/office/drawing/2014/main" id="{FF4791A4-DF4F-41F3-8D6D-085282CA1304}"/>
              </a:ext>
            </a:extLst>
          </p:cNvPr>
          <p:cNvSpPr/>
          <p:nvPr/>
        </p:nvSpPr>
        <p:spPr>
          <a:xfrm>
            <a:off x="531629" y="3219846"/>
            <a:ext cx="1047464" cy="1582471"/>
          </a:xfrm>
          <a:prstGeom prst="rtTriangle">
            <a:avLst/>
          </a:prstGeom>
        </p:spPr>
        <p:style>
          <a:lnRef idx="1">
            <a:schemeClr val="accent3"/>
          </a:lnRef>
          <a:fillRef idx="3">
            <a:schemeClr val="accent3"/>
          </a:fillRef>
          <a:effectRef idx="2">
            <a:schemeClr val="accent3"/>
          </a:effectRef>
          <a:fontRef idx="minor">
            <a:schemeClr val="lt1"/>
          </a:fontRef>
        </p:style>
        <p:txBody>
          <a:bodyPr rtlCol="0" anchor="ctr"/>
          <a:lstStyle/>
          <a:p>
            <a:pPr lvl="0" algn="ctr">
              <a:defRPr/>
            </a:pPr>
            <a:endParaRPr lang="en-US" dirty="0">
              <a:solidFill>
                <a:prstClr val="black"/>
              </a:solidFill>
              <a:latin typeface="Whitney Book" pitchFamily="50" charset="0"/>
              <a:cs typeface="Whitney Book" pitchFamily="50" charset="0"/>
            </a:endParaRPr>
          </a:p>
        </p:txBody>
      </p:sp>
      <p:sp>
        <p:nvSpPr>
          <p:cNvPr id="14" name="Right Triangle 13">
            <a:extLst>
              <a:ext uri="{FF2B5EF4-FFF2-40B4-BE49-F238E27FC236}">
                <a16:creationId xmlns:a16="http://schemas.microsoft.com/office/drawing/2014/main" id="{F5C8F9D1-D465-4BF0-9F3B-A782EB092CD4}"/>
              </a:ext>
            </a:extLst>
          </p:cNvPr>
          <p:cNvSpPr/>
          <p:nvPr/>
        </p:nvSpPr>
        <p:spPr>
          <a:xfrm>
            <a:off x="1634668" y="4877051"/>
            <a:ext cx="970308" cy="1523749"/>
          </a:xfrm>
          <a:prstGeom prst="rtTriangle">
            <a:avLst/>
          </a:prstGeom>
        </p:spPr>
        <p:style>
          <a:lnRef idx="1">
            <a:schemeClr val="accent2"/>
          </a:lnRef>
          <a:fillRef idx="3">
            <a:schemeClr val="accent2"/>
          </a:fillRef>
          <a:effectRef idx="2">
            <a:schemeClr val="accent2"/>
          </a:effectRef>
          <a:fontRef idx="minor">
            <a:schemeClr val="lt1"/>
          </a:fontRef>
        </p:style>
        <p:txBody>
          <a:bodyPr rtlCol="0" anchor="ctr"/>
          <a:lstStyle/>
          <a:p>
            <a:pPr lvl="0" algn="ctr">
              <a:defRPr/>
            </a:pPr>
            <a:endParaRPr lang="en-US" dirty="0">
              <a:solidFill>
                <a:prstClr val="black"/>
              </a:solidFill>
              <a:latin typeface="Whitney Book" pitchFamily="50" charset="0"/>
              <a:cs typeface="Whitney Book" pitchFamily="50" charset="0"/>
            </a:endParaRPr>
          </a:p>
        </p:txBody>
      </p:sp>
      <p:grpSp>
        <p:nvGrpSpPr>
          <p:cNvPr id="29" name="Group 28">
            <a:extLst>
              <a:ext uri="{FF2B5EF4-FFF2-40B4-BE49-F238E27FC236}">
                <a16:creationId xmlns:a16="http://schemas.microsoft.com/office/drawing/2014/main" id="{70077F83-D00E-4707-BB1D-9FA0FCF6A926}"/>
              </a:ext>
            </a:extLst>
          </p:cNvPr>
          <p:cNvGrpSpPr/>
          <p:nvPr/>
        </p:nvGrpSpPr>
        <p:grpSpPr>
          <a:xfrm>
            <a:off x="515911" y="6008223"/>
            <a:ext cx="5606886" cy="375481"/>
            <a:chOff x="936310" y="5899273"/>
            <a:chExt cx="5606886" cy="375481"/>
          </a:xfrm>
        </p:grpSpPr>
        <p:cxnSp>
          <p:nvCxnSpPr>
            <p:cNvPr id="37" name="Straight Connector 36">
              <a:extLst>
                <a:ext uri="{FF2B5EF4-FFF2-40B4-BE49-F238E27FC236}">
                  <a16:creationId xmlns:a16="http://schemas.microsoft.com/office/drawing/2014/main" id="{4CD102D3-3DDA-4D87-8EA7-CB4248F280BF}"/>
                </a:ext>
              </a:extLst>
            </p:cNvPr>
            <p:cNvCxnSpPr/>
            <p:nvPr/>
          </p:nvCxnSpPr>
          <p:spPr>
            <a:xfrm flipH="1">
              <a:off x="936310" y="6261047"/>
              <a:ext cx="5120245"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40" name="Text Box 11">
              <a:extLst>
                <a:ext uri="{FF2B5EF4-FFF2-40B4-BE49-F238E27FC236}">
                  <a16:creationId xmlns:a16="http://schemas.microsoft.com/office/drawing/2014/main" id="{36F1E783-6785-4BBB-8B04-5C5E7B77FD13}"/>
                </a:ext>
              </a:extLst>
            </p:cNvPr>
            <p:cNvSpPr txBox="1">
              <a:spLocks noChangeArrowheads="1"/>
            </p:cNvSpPr>
            <p:nvPr/>
          </p:nvSpPr>
          <p:spPr bwMode="auto">
            <a:xfrm>
              <a:off x="5741509" y="5899273"/>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0070C0"/>
                  </a:solidFill>
                  <a:effectLst/>
                  <a:uLnTx/>
                  <a:uFillTx/>
                  <a:latin typeface="Whitney Book" pitchFamily="50" charset="0"/>
                  <a:ea typeface="+mn-ea"/>
                  <a:cs typeface="Whitney Book" pitchFamily="50" charset="0"/>
                </a:rPr>
                <a:t>MC=0</a:t>
              </a:r>
            </a:p>
          </p:txBody>
        </p:sp>
      </p:grpSp>
      <p:sp>
        <p:nvSpPr>
          <p:cNvPr id="41" name="Text Box 5">
            <a:extLst>
              <a:ext uri="{FF2B5EF4-FFF2-40B4-BE49-F238E27FC236}">
                <a16:creationId xmlns:a16="http://schemas.microsoft.com/office/drawing/2014/main" id="{661A980B-518A-45B2-B356-DA10050105B1}"/>
              </a:ext>
            </a:extLst>
          </p:cNvPr>
          <p:cNvSpPr txBox="1">
            <a:spLocks noChangeArrowheads="1"/>
          </p:cNvSpPr>
          <p:nvPr/>
        </p:nvSpPr>
        <p:spPr bwMode="auto">
          <a:xfrm>
            <a:off x="144958" y="4651944"/>
            <a:ext cx="638175"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P*</a:t>
            </a:r>
          </a:p>
        </p:txBody>
      </p:sp>
    </p:spTree>
    <p:extLst>
      <p:ext uri="{BB962C8B-B14F-4D97-AF65-F5344CB8AC3E}">
        <p14:creationId xmlns:p14="http://schemas.microsoft.com/office/powerpoint/2010/main" val="2737791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24" grpId="0" animBg="1"/>
      <p:bldP spid="25" grpId="0"/>
      <p:bldP spid="30" grpId="0"/>
      <p:bldP spid="31" grpId="0"/>
      <p:bldP spid="35" grpId="0" animBg="1"/>
      <p:bldP spid="13" grpId="0" animBg="1"/>
      <p:bldP spid="14" grpId="0" animBg="1"/>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65043" y="127215"/>
            <a:ext cx="8719931" cy="1143000"/>
          </a:xfrm>
        </p:spPr>
        <p:txBody>
          <a:bodyPr/>
          <a:lstStyle/>
          <a:p>
            <a:r>
              <a:rPr lang="en-US" dirty="0"/>
              <a:t>Complex (non-uniform) pricing </a:t>
            </a:r>
          </a:p>
        </p:txBody>
      </p:sp>
      <p:sp>
        <p:nvSpPr>
          <p:cNvPr id="6" name="Content Placeholder 5"/>
          <p:cNvSpPr>
            <a:spLocks noGrp="1"/>
          </p:cNvSpPr>
          <p:nvPr>
            <p:ph idx="1"/>
          </p:nvPr>
        </p:nvSpPr>
        <p:spPr>
          <a:xfrm>
            <a:off x="566309" y="1366977"/>
            <a:ext cx="8007848" cy="4636258"/>
          </a:xfrm>
        </p:spPr>
        <p:txBody>
          <a:bodyPr>
            <a:normAutofit/>
          </a:bodyPr>
          <a:lstStyle/>
          <a:p>
            <a:pPr marL="0" indent="0">
              <a:lnSpc>
                <a:spcPct val="90000"/>
              </a:lnSpc>
              <a:spcBef>
                <a:spcPts val="563"/>
              </a:spcBef>
              <a:spcAft>
                <a:spcPts val="563"/>
              </a:spcAft>
              <a:buNone/>
            </a:pPr>
            <a:r>
              <a:rPr lang="en-US" sz="2400" dirty="0"/>
              <a:t>Requirements for complex pricing:</a:t>
            </a:r>
          </a:p>
          <a:p>
            <a:pPr marL="457200" indent="-457200">
              <a:lnSpc>
                <a:spcPct val="90000"/>
              </a:lnSpc>
              <a:spcBef>
                <a:spcPts val="563"/>
              </a:spcBef>
              <a:spcAft>
                <a:spcPts val="563"/>
              </a:spcAft>
              <a:buFont typeface="+mj-lt"/>
              <a:buAutoNum type="arabicPeriod"/>
            </a:pPr>
            <a:r>
              <a:rPr lang="en-US" sz="2400" dirty="0"/>
              <a:t>Market power</a:t>
            </a:r>
          </a:p>
          <a:p>
            <a:pPr lvl="1">
              <a:lnSpc>
                <a:spcPct val="90000"/>
              </a:lnSpc>
              <a:spcBef>
                <a:spcPts val="563"/>
              </a:spcBef>
              <a:spcAft>
                <a:spcPts val="563"/>
              </a:spcAft>
            </a:pPr>
            <a:r>
              <a:rPr lang="en-US" sz="2200" dirty="0"/>
              <a:t>Downward-sloping demand (i.e., price searcher)</a:t>
            </a:r>
          </a:p>
          <a:p>
            <a:pPr lvl="2">
              <a:lnSpc>
                <a:spcPct val="90000"/>
              </a:lnSpc>
              <a:spcBef>
                <a:spcPts val="563"/>
              </a:spcBef>
              <a:spcAft>
                <a:spcPts val="563"/>
              </a:spcAft>
            </a:pPr>
            <a:r>
              <a:rPr lang="en-US" sz="1800" dirty="0"/>
              <a:t>So far, we studied simple pricing of price searchers</a:t>
            </a:r>
          </a:p>
          <a:p>
            <a:pPr marL="457200" indent="-457200">
              <a:lnSpc>
                <a:spcPct val="90000"/>
              </a:lnSpc>
              <a:spcBef>
                <a:spcPts val="563"/>
              </a:spcBef>
              <a:spcAft>
                <a:spcPts val="563"/>
              </a:spcAft>
              <a:buFont typeface="+mj-lt"/>
              <a:buAutoNum type="arabicPeriod"/>
            </a:pPr>
            <a:r>
              <a:rPr lang="en-US" sz="2400" dirty="0"/>
              <a:t>Capacity to prevent resale and arbitrage</a:t>
            </a:r>
          </a:p>
          <a:p>
            <a:pPr marL="857250" lvl="1" indent="-457200">
              <a:lnSpc>
                <a:spcPct val="90000"/>
              </a:lnSpc>
              <a:spcBef>
                <a:spcPts val="563"/>
              </a:spcBef>
              <a:spcAft>
                <a:spcPts val="563"/>
              </a:spcAft>
            </a:pPr>
            <a:r>
              <a:rPr lang="en-US" sz="2200" dirty="0"/>
              <a:t>Enables sellers to charge different prices for different volumes/packages, or to different customers</a:t>
            </a:r>
          </a:p>
          <a:p>
            <a:pPr>
              <a:lnSpc>
                <a:spcPct val="90000"/>
              </a:lnSpc>
              <a:spcBef>
                <a:spcPts val="563"/>
              </a:spcBef>
              <a:spcAft>
                <a:spcPts val="563"/>
              </a:spcAft>
            </a:pPr>
            <a:r>
              <a:rPr lang="en-US" sz="2400" dirty="0"/>
              <a:t>Complex pricing is usually more profitable than simple pricing.</a:t>
            </a:r>
          </a:p>
        </p:txBody>
      </p:sp>
      <p:sp>
        <p:nvSpPr>
          <p:cNvPr id="2" name="Slide Number Placeholder 1">
            <a:extLst>
              <a:ext uri="{FF2B5EF4-FFF2-40B4-BE49-F238E27FC236}">
                <a16:creationId xmlns:a16="http://schemas.microsoft.com/office/drawing/2014/main" id="{1D22DB0C-3F77-534A-95A5-1E3A0B539E0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3887051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5B08-8C1F-4D80-93E1-86DF9828E192}"/>
              </a:ext>
            </a:extLst>
          </p:cNvPr>
          <p:cNvSpPr>
            <a:spLocks noGrp="1"/>
          </p:cNvSpPr>
          <p:nvPr>
            <p:ph type="title"/>
          </p:nvPr>
        </p:nvSpPr>
        <p:spPr/>
        <p:txBody>
          <a:bodyPr/>
          <a:lstStyle/>
          <a:p>
            <a:r>
              <a:rPr lang="fr-FR" dirty="0"/>
              <a:t>First </a:t>
            </a:r>
            <a:r>
              <a:rPr lang="fr-FR" dirty="0" err="1"/>
              <a:t>degree</a:t>
            </a:r>
            <a:r>
              <a:rPr lang="fr-FR" dirty="0"/>
              <a:t> </a:t>
            </a:r>
            <a:r>
              <a:rPr lang="fr-FR" dirty="0" err="1"/>
              <a:t>price</a:t>
            </a:r>
            <a:r>
              <a:rPr lang="fr-FR" dirty="0"/>
              <a:t> discrimination</a:t>
            </a:r>
            <a:endParaRPr lang="en-US" dirty="0"/>
          </a:p>
        </p:txBody>
      </p:sp>
      <p:sp>
        <p:nvSpPr>
          <p:cNvPr id="3" name="Content Placeholder 2">
            <a:extLst>
              <a:ext uri="{FF2B5EF4-FFF2-40B4-BE49-F238E27FC236}">
                <a16:creationId xmlns:a16="http://schemas.microsoft.com/office/drawing/2014/main" id="{C4184160-A30F-4D2F-9517-7739EEBED42E}"/>
              </a:ext>
            </a:extLst>
          </p:cNvPr>
          <p:cNvSpPr>
            <a:spLocks noGrp="1"/>
          </p:cNvSpPr>
          <p:nvPr>
            <p:ph idx="1"/>
          </p:nvPr>
        </p:nvSpPr>
        <p:spPr>
          <a:xfrm>
            <a:off x="457200" y="1419985"/>
            <a:ext cx="8229600" cy="4862481"/>
          </a:xfrm>
        </p:spPr>
        <p:txBody>
          <a:bodyPr>
            <a:normAutofit/>
          </a:bodyPr>
          <a:lstStyle/>
          <a:p>
            <a:r>
              <a:rPr lang="fr-FR" dirty="0"/>
              <a:t>Charge </a:t>
            </a:r>
            <a:r>
              <a:rPr lang="fr-FR" dirty="0" err="1"/>
              <a:t>each</a:t>
            </a:r>
            <a:r>
              <a:rPr lang="fr-FR" dirty="0"/>
              <a:t> </a:t>
            </a:r>
            <a:r>
              <a:rPr lang="fr-FR" dirty="0" err="1"/>
              <a:t>customer</a:t>
            </a:r>
            <a:r>
              <a:rPr lang="fr-FR" dirty="0"/>
              <a:t> a </a:t>
            </a:r>
            <a:r>
              <a:rPr lang="fr-FR" dirty="0" err="1"/>
              <a:t>different</a:t>
            </a:r>
            <a:r>
              <a:rPr lang="fr-FR" dirty="0"/>
              <a:t> </a:t>
            </a:r>
            <a:r>
              <a:rPr lang="fr-FR" dirty="0" err="1"/>
              <a:t>price</a:t>
            </a:r>
            <a:endParaRPr lang="en-US" dirty="0"/>
          </a:p>
          <a:p>
            <a:r>
              <a:rPr lang="en-US" dirty="0"/>
              <a:t>Also known as </a:t>
            </a:r>
            <a:r>
              <a:rPr lang="en-US" u="sng" dirty="0"/>
              <a:t>perfect</a:t>
            </a:r>
            <a:r>
              <a:rPr lang="en-US" dirty="0"/>
              <a:t> price discrimination</a:t>
            </a:r>
          </a:p>
          <a:p>
            <a:endParaRPr lang="en-US" sz="1400" dirty="0"/>
          </a:p>
          <a:p>
            <a:endParaRPr lang="en-US" dirty="0"/>
          </a:p>
          <a:p>
            <a:r>
              <a:rPr lang="en-US" dirty="0"/>
              <a:t>Is this is a hypothetical scenario?</a:t>
            </a:r>
          </a:p>
          <a:p>
            <a:endParaRPr lang="en-US" dirty="0"/>
          </a:p>
        </p:txBody>
      </p:sp>
    </p:spTree>
    <p:extLst>
      <p:ext uri="{BB962C8B-B14F-4D97-AF65-F5344CB8AC3E}">
        <p14:creationId xmlns:p14="http://schemas.microsoft.com/office/powerpoint/2010/main" val="1126382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0BC2-D735-4F40-BF14-A1D42A8629BB}"/>
              </a:ext>
            </a:extLst>
          </p:cNvPr>
          <p:cNvSpPr>
            <a:spLocks noGrp="1"/>
          </p:cNvSpPr>
          <p:nvPr>
            <p:ph type="title"/>
          </p:nvPr>
        </p:nvSpPr>
        <p:spPr>
          <a:xfrm>
            <a:off x="457200" y="127215"/>
            <a:ext cx="8229600" cy="1143000"/>
          </a:xfrm>
        </p:spPr>
        <p:txBody>
          <a:bodyPr anchor="ctr">
            <a:normAutofit/>
          </a:bodyPr>
          <a:lstStyle/>
          <a:p>
            <a:r>
              <a:rPr lang="en-US" dirty="0"/>
              <a:t>The Dystopian Future of Price Discrimination</a:t>
            </a:r>
          </a:p>
        </p:txBody>
      </p:sp>
      <p:sp>
        <p:nvSpPr>
          <p:cNvPr id="3" name="Content Placeholder 2">
            <a:extLst>
              <a:ext uri="{FF2B5EF4-FFF2-40B4-BE49-F238E27FC236}">
                <a16:creationId xmlns:a16="http://schemas.microsoft.com/office/drawing/2014/main" id="{16ACAAF7-34BD-49D6-92A9-5CD2DF7E05E5}"/>
              </a:ext>
            </a:extLst>
          </p:cNvPr>
          <p:cNvSpPr>
            <a:spLocks noGrp="1"/>
          </p:cNvSpPr>
          <p:nvPr>
            <p:ph sz="half" idx="1"/>
          </p:nvPr>
        </p:nvSpPr>
        <p:spPr>
          <a:xfrm>
            <a:off x="457200" y="1600201"/>
            <a:ext cx="4038600" cy="4525963"/>
          </a:xfrm>
        </p:spPr>
        <p:txBody>
          <a:bodyPr>
            <a:normAutofit/>
          </a:bodyPr>
          <a:lstStyle/>
          <a:p>
            <a:pPr>
              <a:lnSpc>
                <a:spcPct val="90000"/>
              </a:lnSpc>
            </a:pPr>
            <a:r>
              <a:rPr lang="fr-FR" sz="2400" dirty="0" err="1"/>
              <a:t>Why</a:t>
            </a:r>
            <a:r>
              <a:rPr lang="fr-FR" sz="2400" dirty="0"/>
              <a:t> are </a:t>
            </a:r>
            <a:r>
              <a:rPr lang="fr-FR" sz="2400" dirty="0" err="1"/>
              <a:t>companies</a:t>
            </a:r>
            <a:r>
              <a:rPr lang="fr-FR" sz="2400" dirty="0"/>
              <a:t> </a:t>
            </a:r>
            <a:r>
              <a:rPr lang="fr-FR" sz="2400" dirty="0" err="1"/>
              <a:t>increasingly</a:t>
            </a:r>
            <a:r>
              <a:rPr lang="fr-FR" sz="2400" dirty="0"/>
              <a:t> able to use first-</a:t>
            </a:r>
            <a:r>
              <a:rPr lang="fr-FR" sz="2400" dirty="0" err="1"/>
              <a:t>degree</a:t>
            </a:r>
            <a:r>
              <a:rPr lang="fr-FR" sz="2400" dirty="0"/>
              <a:t> </a:t>
            </a:r>
            <a:r>
              <a:rPr lang="fr-FR" sz="2400" dirty="0" err="1"/>
              <a:t>price</a:t>
            </a:r>
            <a:r>
              <a:rPr lang="fr-FR" sz="2400" dirty="0"/>
              <a:t> discrimination (</a:t>
            </a:r>
            <a:r>
              <a:rPr lang="fr-FR" sz="2400" dirty="0" err="1"/>
              <a:t>personally</a:t>
            </a:r>
            <a:r>
              <a:rPr lang="fr-FR" sz="2400" dirty="0"/>
              <a:t> </a:t>
            </a:r>
            <a:r>
              <a:rPr lang="fr-FR" sz="2400" dirty="0" err="1"/>
              <a:t>tailored</a:t>
            </a:r>
            <a:r>
              <a:rPr lang="fr-FR" sz="2400" dirty="0"/>
              <a:t> </a:t>
            </a:r>
            <a:r>
              <a:rPr lang="fr-FR" sz="2400" dirty="0" err="1"/>
              <a:t>prices</a:t>
            </a:r>
            <a:r>
              <a:rPr lang="fr-FR" sz="2400" dirty="0"/>
              <a:t>)? </a:t>
            </a:r>
            <a:r>
              <a:rPr lang="fr-FR" sz="2400" dirty="0" err="1"/>
              <a:t>Any</a:t>
            </a:r>
            <a:r>
              <a:rPr lang="fr-FR" sz="2400" dirty="0"/>
              <a:t> </a:t>
            </a:r>
            <a:r>
              <a:rPr lang="fr-FR" sz="2400" dirty="0" err="1"/>
              <a:t>examples</a:t>
            </a:r>
            <a:r>
              <a:rPr lang="fr-FR" sz="2400" dirty="0"/>
              <a:t>?</a:t>
            </a:r>
          </a:p>
          <a:p>
            <a:pPr>
              <a:lnSpc>
                <a:spcPct val="90000"/>
              </a:lnSpc>
            </a:pPr>
            <a:endParaRPr lang="fr-FR" sz="2400" dirty="0"/>
          </a:p>
          <a:p>
            <a:pPr>
              <a:lnSpc>
                <a:spcPct val="90000"/>
              </a:lnSpc>
            </a:pPr>
            <a:r>
              <a:rPr lang="fr-FR" sz="2400" dirty="0"/>
              <a:t>Is the trend </a:t>
            </a:r>
            <a:r>
              <a:rPr lang="fr-FR" sz="2400" dirty="0" err="1"/>
              <a:t>towards</a:t>
            </a:r>
            <a:r>
              <a:rPr lang="fr-FR" sz="2400" dirty="0"/>
              <a:t> more </a:t>
            </a:r>
            <a:r>
              <a:rPr lang="fr-FR" sz="2400" dirty="0" err="1"/>
              <a:t>price</a:t>
            </a:r>
            <a:r>
              <a:rPr lang="fr-FR" sz="2400" dirty="0"/>
              <a:t> discrimination good or </a:t>
            </a:r>
            <a:r>
              <a:rPr lang="fr-FR" sz="2400" dirty="0" err="1"/>
              <a:t>bad</a:t>
            </a:r>
            <a:r>
              <a:rPr lang="fr-FR" sz="2400" dirty="0"/>
              <a:t> for </a:t>
            </a:r>
            <a:r>
              <a:rPr lang="fr-FR" sz="2400" dirty="0" err="1"/>
              <a:t>consumers</a:t>
            </a:r>
            <a:r>
              <a:rPr lang="fr-FR" sz="2400" dirty="0"/>
              <a:t>? </a:t>
            </a:r>
            <a:endParaRPr lang="en-US" sz="2400" dirty="0"/>
          </a:p>
        </p:txBody>
      </p:sp>
      <p:grpSp>
        <p:nvGrpSpPr>
          <p:cNvPr id="6" name="Group 5">
            <a:extLst>
              <a:ext uri="{FF2B5EF4-FFF2-40B4-BE49-F238E27FC236}">
                <a16:creationId xmlns:a16="http://schemas.microsoft.com/office/drawing/2014/main" id="{4BD0C456-9BCD-4A6D-9AA9-B1AB414EACE1}"/>
              </a:ext>
            </a:extLst>
          </p:cNvPr>
          <p:cNvGrpSpPr/>
          <p:nvPr/>
        </p:nvGrpSpPr>
        <p:grpSpPr>
          <a:xfrm>
            <a:off x="1393372" y="2520348"/>
            <a:ext cx="7543799" cy="4099979"/>
            <a:chOff x="1393372" y="2520348"/>
            <a:chExt cx="7543799" cy="4099979"/>
          </a:xfrm>
        </p:grpSpPr>
        <p:pic>
          <p:nvPicPr>
            <p:cNvPr id="5" name="Picture 4" descr="A picture containing text&#10;&#10;Description automatically generated">
              <a:extLst>
                <a:ext uri="{FF2B5EF4-FFF2-40B4-BE49-F238E27FC236}">
                  <a16:creationId xmlns:a16="http://schemas.microsoft.com/office/drawing/2014/main" id="{FA8FC4CC-06BE-4FFC-BD51-695F7FC41048}"/>
                </a:ext>
              </a:extLst>
            </p:cNvPr>
            <p:cNvPicPr>
              <a:picLocks noChangeAspect="1"/>
            </p:cNvPicPr>
            <p:nvPr/>
          </p:nvPicPr>
          <p:blipFill>
            <a:blip r:embed="rId3"/>
            <a:stretch>
              <a:fillRect/>
            </a:stretch>
          </p:blipFill>
          <p:spPr>
            <a:xfrm>
              <a:off x="4648200" y="2520348"/>
              <a:ext cx="4038600" cy="2685669"/>
            </a:xfrm>
            <a:prstGeom prst="rect">
              <a:avLst/>
            </a:prstGeom>
            <a:noFill/>
          </p:spPr>
        </p:pic>
        <p:pic>
          <p:nvPicPr>
            <p:cNvPr id="4" name="Picture 3">
              <a:extLst>
                <a:ext uri="{FF2B5EF4-FFF2-40B4-BE49-F238E27FC236}">
                  <a16:creationId xmlns:a16="http://schemas.microsoft.com/office/drawing/2014/main" id="{0F42E3C4-67B3-4579-8D7D-D64F1CFC64AA}"/>
                </a:ext>
              </a:extLst>
            </p:cNvPr>
            <p:cNvPicPr>
              <a:picLocks noChangeAspect="1"/>
            </p:cNvPicPr>
            <p:nvPr/>
          </p:nvPicPr>
          <p:blipFill>
            <a:blip r:embed="rId4"/>
            <a:stretch>
              <a:fillRect/>
            </a:stretch>
          </p:blipFill>
          <p:spPr>
            <a:xfrm>
              <a:off x="1393372" y="5342072"/>
              <a:ext cx="7543799" cy="1278255"/>
            </a:xfrm>
            <a:prstGeom prst="rect">
              <a:avLst/>
            </a:prstGeom>
          </p:spPr>
        </p:pic>
      </p:grpSp>
    </p:spTree>
    <p:extLst>
      <p:ext uri="{BB962C8B-B14F-4D97-AF65-F5344CB8AC3E}">
        <p14:creationId xmlns:p14="http://schemas.microsoft.com/office/powerpoint/2010/main" val="1358209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95739" y="246647"/>
            <a:ext cx="8229600" cy="1143000"/>
          </a:xfrm>
        </p:spPr>
        <p:txBody>
          <a:bodyPr>
            <a:noAutofit/>
          </a:bodyPr>
          <a:lstStyle/>
          <a:p>
            <a:r>
              <a:rPr lang="en-US" sz="2800" dirty="0"/>
              <a:t>Uber Starts Charging What</a:t>
            </a:r>
            <a:br>
              <a:rPr lang="en-US" sz="2800" dirty="0"/>
            </a:br>
            <a:r>
              <a:rPr lang="en-US" sz="2800" dirty="0"/>
              <a:t>You’re Willing to Pay?</a:t>
            </a:r>
            <a:endParaRPr lang="en-US" sz="2800" b="1" dirty="0"/>
          </a:p>
        </p:txBody>
      </p:sp>
      <p:sp>
        <p:nvSpPr>
          <p:cNvPr id="4" name="Content Placeholder 3"/>
          <p:cNvSpPr>
            <a:spLocks noGrp="1"/>
          </p:cNvSpPr>
          <p:nvPr>
            <p:ph idx="1"/>
          </p:nvPr>
        </p:nvSpPr>
        <p:spPr>
          <a:xfrm>
            <a:off x="457199" y="1637286"/>
            <a:ext cx="4672739" cy="4525963"/>
          </a:xfrm>
        </p:spPr>
        <p:txBody>
          <a:bodyPr/>
          <a:lstStyle/>
          <a:p>
            <a:pPr>
              <a:buClr>
                <a:srgbClr val="1B8BD5"/>
              </a:buClr>
            </a:pPr>
            <a:r>
              <a:rPr lang="en-US" sz="2400" kern="1100" spc="50" dirty="0">
                <a:latin typeface="Whitney-Book"/>
              </a:rPr>
              <a:t>I need  10 volunteers (5 for Uber, 5 for Lyft).</a:t>
            </a:r>
          </a:p>
          <a:p>
            <a:pPr>
              <a:buClr>
                <a:srgbClr val="1B8BD5"/>
              </a:buClr>
            </a:pPr>
            <a:r>
              <a:rPr lang="en-US" sz="2400" kern="1100" spc="50" dirty="0">
                <a:latin typeface="Whitney-Book"/>
              </a:rPr>
              <a:t>Open your Uber/Lyft app.</a:t>
            </a:r>
          </a:p>
          <a:p>
            <a:pPr>
              <a:buClr>
                <a:srgbClr val="1B8BD5"/>
              </a:buClr>
            </a:pPr>
            <a:r>
              <a:rPr lang="en-US" sz="2400" kern="1100" spc="50" dirty="0">
                <a:latin typeface="Whitney-Book"/>
              </a:rPr>
              <a:t>Enter “LAX” in the destination address.</a:t>
            </a:r>
          </a:p>
          <a:p>
            <a:pPr>
              <a:buClr>
                <a:srgbClr val="1B8BD5"/>
              </a:buClr>
            </a:pPr>
            <a:r>
              <a:rPr lang="en-US" sz="2400" kern="1100" spc="50" dirty="0">
                <a:latin typeface="Whitney-Book"/>
              </a:rPr>
              <a:t>Do NOT hit request.</a:t>
            </a:r>
          </a:p>
          <a:p>
            <a:pPr>
              <a:buClr>
                <a:srgbClr val="1B8BD5"/>
              </a:buClr>
            </a:pPr>
            <a:r>
              <a:rPr lang="en-US" sz="2400" kern="1100" spc="50" dirty="0">
                <a:latin typeface="Whitney-Book"/>
              </a:rPr>
              <a:t>Just tell me the </a:t>
            </a:r>
            <a:r>
              <a:rPr lang="en-US" sz="2400" kern="1100" spc="50" dirty="0" err="1">
                <a:latin typeface="Whitney-Book"/>
              </a:rPr>
              <a:t>UberX</a:t>
            </a:r>
            <a:r>
              <a:rPr lang="en-US" sz="2400" kern="1100" spc="50" dirty="0">
                <a:latin typeface="Whitney-Book"/>
              </a:rPr>
              <a:t>/Lyft price.</a:t>
            </a:r>
          </a:p>
          <a:p>
            <a:endParaRPr lang="en-US" dirty="0">
              <a:latin typeface="Whitney-Book" pitchFamily="50" charset="0"/>
            </a:endParaRPr>
          </a:p>
          <a:p>
            <a:endParaRPr lang="en-US" dirty="0">
              <a:latin typeface="Whitney-Book" pitchFamily="50" charset="0"/>
            </a:endParaRPr>
          </a:p>
        </p:txBody>
      </p:sp>
      <p:grpSp>
        <p:nvGrpSpPr>
          <p:cNvPr id="12" name="Group 11">
            <a:extLst>
              <a:ext uri="{FF2B5EF4-FFF2-40B4-BE49-F238E27FC236}">
                <a16:creationId xmlns:a16="http://schemas.microsoft.com/office/drawing/2014/main" id="{2DE7CEFB-79E4-4F36-9978-6E091F45DCE1}"/>
              </a:ext>
            </a:extLst>
          </p:cNvPr>
          <p:cNvGrpSpPr/>
          <p:nvPr/>
        </p:nvGrpSpPr>
        <p:grpSpPr>
          <a:xfrm>
            <a:off x="5857866" y="1351936"/>
            <a:ext cx="2873674" cy="4934932"/>
            <a:chOff x="5857866" y="1351936"/>
            <a:chExt cx="2873674" cy="4934932"/>
          </a:xfrm>
        </p:grpSpPr>
        <p:pic>
          <p:nvPicPr>
            <p:cNvPr id="11" name="Picture 10">
              <a:extLst>
                <a:ext uri="{FF2B5EF4-FFF2-40B4-BE49-F238E27FC236}">
                  <a16:creationId xmlns:a16="http://schemas.microsoft.com/office/drawing/2014/main" id="{8CFE9D97-441F-4791-97B2-9E6596AF225E}"/>
                </a:ext>
              </a:extLst>
            </p:cNvPr>
            <p:cNvPicPr>
              <a:picLocks noChangeAspect="1"/>
            </p:cNvPicPr>
            <p:nvPr/>
          </p:nvPicPr>
          <p:blipFill>
            <a:blip r:embed="rId3"/>
            <a:stretch>
              <a:fillRect/>
            </a:stretch>
          </p:blipFill>
          <p:spPr>
            <a:xfrm>
              <a:off x="5857866" y="1351936"/>
              <a:ext cx="2873674" cy="4934932"/>
            </a:xfrm>
            <a:prstGeom prst="rect">
              <a:avLst/>
            </a:prstGeom>
          </p:spPr>
        </p:pic>
        <p:sp>
          <p:nvSpPr>
            <p:cNvPr id="5" name="TextBox 4">
              <a:extLst>
                <a:ext uri="{FF2B5EF4-FFF2-40B4-BE49-F238E27FC236}">
                  <a16:creationId xmlns:a16="http://schemas.microsoft.com/office/drawing/2014/main" id="{FB901B01-0391-4BDD-BCB0-868DAFBA169F}"/>
                </a:ext>
              </a:extLst>
            </p:cNvPr>
            <p:cNvSpPr txBox="1"/>
            <p:nvPr/>
          </p:nvSpPr>
          <p:spPr>
            <a:xfrm>
              <a:off x="8097628" y="4590851"/>
              <a:ext cx="452486" cy="369332"/>
            </a:xfrm>
            <a:prstGeom prst="rect">
              <a:avLst/>
            </a:prstGeom>
            <a:solidFill>
              <a:schemeClr val="bg1"/>
            </a:solidFill>
          </p:spPr>
          <p:txBody>
            <a:bodyPr wrap="square" rtlCol="0">
              <a:spAutoFit/>
            </a:bodyPr>
            <a:lstStyle/>
            <a:p>
              <a:pPr algn="ctr"/>
              <a:r>
                <a:rPr lang="en-US" dirty="0"/>
                <a:t>?</a:t>
              </a:r>
            </a:p>
          </p:txBody>
        </p:sp>
        <p:sp>
          <p:nvSpPr>
            <p:cNvPr id="9" name="TextBox 8">
              <a:extLst>
                <a:ext uri="{FF2B5EF4-FFF2-40B4-BE49-F238E27FC236}">
                  <a16:creationId xmlns:a16="http://schemas.microsoft.com/office/drawing/2014/main" id="{33675D44-04F3-4ED0-9959-B2D8820EF771}"/>
                </a:ext>
              </a:extLst>
            </p:cNvPr>
            <p:cNvSpPr txBox="1"/>
            <p:nvPr/>
          </p:nvSpPr>
          <p:spPr>
            <a:xfrm>
              <a:off x="8097628" y="5204226"/>
              <a:ext cx="452486" cy="923330"/>
            </a:xfrm>
            <a:prstGeom prst="rect">
              <a:avLst/>
            </a:prstGeom>
            <a:solidFill>
              <a:schemeClr val="bg1"/>
            </a:solidFill>
          </p:spPr>
          <p:txBody>
            <a:bodyPr wrap="square" rtlCol="0">
              <a:spAutoFit/>
            </a:bodyPr>
            <a:lstStyle/>
            <a:p>
              <a:pPr algn="ctr"/>
              <a:endParaRPr lang="en-US" dirty="0"/>
            </a:p>
            <a:p>
              <a:pPr algn="ctr"/>
              <a:endParaRPr lang="en-US" dirty="0"/>
            </a:p>
            <a:p>
              <a:pPr algn="ctr"/>
              <a:endParaRPr lang="en-US" dirty="0"/>
            </a:p>
          </p:txBody>
        </p:sp>
      </p:grpSp>
      <p:sp>
        <p:nvSpPr>
          <p:cNvPr id="7" name="Oval 6">
            <a:extLst>
              <a:ext uri="{FF2B5EF4-FFF2-40B4-BE49-F238E27FC236}">
                <a16:creationId xmlns:a16="http://schemas.microsoft.com/office/drawing/2014/main" id="{302A56B2-5383-4C3E-9D29-E45C868636C7}"/>
              </a:ext>
            </a:extLst>
          </p:cNvPr>
          <p:cNvSpPr/>
          <p:nvPr/>
        </p:nvSpPr>
        <p:spPr>
          <a:xfrm>
            <a:off x="6001590" y="4435838"/>
            <a:ext cx="2774767" cy="754778"/>
          </a:xfrm>
          <a:prstGeom prst="ellipse">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081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219225" y="168278"/>
            <a:ext cx="8686800" cy="1143000"/>
          </a:xfrm>
        </p:spPr>
        <p:txBody>
          <a:bodyPr>
            <a:normAutofit/>
          </a:bodyPr>
          <a:lstStyle/>
          <a:p>
            <a:r>
              <a:rPr lang="en-US" dirty="0"/>
              <a:t>Third degree price discrimination:</a:t>
            </a:r>
            <a:br>
              <a:rPr lang="en-US" dirty="0"/>
            </a:br>
            <a:r>
              <a:rPr lang="en-US" dirty="0"/>
              <a:t>segment pricing (group pricing)</a:t>
            </a:r>
            <a:endParaRPr lang="en-US" dirty="0">
              <a:latin typeface="Whitney-Medium" pitchFamily="50" charset="0"/>
              <a:cs typeface="Whitney-Medium" pitchFamily="50" charset="0"/>
            </a:endParaRPr>
          </a:p>
        </p:txBody>
      </p:sp>
      <p:sp>
        <p:nvSpPr>
          <p:cNvPr id="183299" name="Rectangle 3"/>
          <p:cNvSpPr>
            <a:spLocks noGrp="1" noChangeArrowheads="1"/>
          </p:cNvSpPr>
          <p:nvPr>
            <p:ph idx="1"/>
          </p:nvPr>
        </p:nvSpPr>
        <p:spPr>
          <a:xfrm>
            <a:off x="4572000" y="2114550"/>
            <a:ext cx="4782955" cy="5114081"/>
          </a:xfrm>
        </p:spPr>
        <p:txBody>
          <a:bodyPr>
            <a:normAutofit/>
          </a:bodyPr>
          <a:lstStyle/>
          <a:p>
            <a:pPr lvl="1">
              <a:spcBef>
                <a:spcPts val="0"/>
              </a:spcBef>
              <a:spcAft>
                <a:spcPts val="563"/>
              </a:spcAft>
            </a:pPr>
            <a:endParaRPr lang="en-US" sz="1300" dirty="0">
              <a:latin typeface="Whitney-Book" pitchFamily="50" charset="0"/>
              <a:cs typeface="Whitney-Book" pitchFamily="50" charset="0"/>
            </a:endParaRPr>
          </a:p>
          <a:p>
            <a:pPr lvl="1">
              <a:lnSpc>
                <a:spcPts val="3000"/>
              </a:lnSpc>
              <a:spcBef>
                <a:spcPts val="0"/>
              </a:spcBef>
              <a:spcAft>
                <a:spcPts val="563"/>
              </a:spcAft>
            </a:pPr>
            <a:r>
              <a:rPr lang="en-US" sz="2400" dirty="0">
                <a:latin typeface="Whitney-Book" pitchFamily="50" charset="0"/>
                <a:cs typeface="Whitney-Book" pitchFamily="50" charset="0"/>
              </a:rPr>
              <a:t>Divide customers into different groups with different price sensitivities  </a:t>
            </a:r>
          </a:p>
          <a:p>
            <a:pPr lvl="1">
              <a:lnSpc>
                <a:spcPts val="3000"/>
              </a:lnSpc>
              <a:spcBef>
                <a:spcPts val="0"/>
              </a:spcBef>
              <a:spcAft>
                <a:spcPts val="563"/>
              </a:spcAft>
            </a:pPr>
            <a:r>
              <a:rPr lang="en-US" sz="2400" dirty="0">
                <a:latin typeface="Whitney-Book" pitchFamily="50" charset="0"/>
                <a:cs typeface="Whitney-Book" pitchFamily="50" charset="0"/>
              </a:rPr>
              <a:t>Charge </a:t>
            </a:r>
            <a:r>
              <a:rPr lang="en-US" sz="2400" dirty="0">
                <a:solidFill>
                  <a:srgbClr val="C00000"/>
                </a:solidFill>
                <a:latin typeface="Whitney-Book" pitchFamily="50" charset="0"/>
                <a:cs typeface="Whitney-Book" pitchFamily="50" charset="0"/>
              </a:rPr>
              <a:t>each group </a:t>
            </a:r>
            <a:r>
              <a:rPr lang="en-US" sz="2400" dirty="0">
                <a:latin typeface="Whitney-Book" pitchFamily="50" charset="0"/>
                <a:cs typeface="Whitney-Book" pitchFamily="50" charset="0"/>
              </a:rPr>
              <a:t>different prices (lower prices to more elastic groups)</a:t>
            </a:r>
            <a:endParaRPr lang="en-US" sz="1600" dirty="0">
              <a:latin typeface="Whitney-Book" pitchFamily="50" charset="0"/>
              <a:cs typeface="Whitney-Book" pitchFamily="50" charset="0"/>
            </a:endParaRPr>
          </a:p>
        </p:txBody>
      </p:sp>
      <p:sp>
        <p:nvSpPr>
          <p:cNvPr id="11" name="Line 3"/>
          <p:cNvSpPr>
            <a:spLocks noChangeShapeType="1"/>
          </p:cNvSpPr>
          <p:nvPr/>
        </p:nvSpPr>
        <p:spPr bwMode="auto">
          <a:xfrm>
            <a:off x="961656" y="1995786"/>
            <a:ext cx="0" cy="4342805"/>
          </a:xfrm>
          <a:prstGeom prst="line">
            <a:avLst/>
          </a:prstGeom>
          <a:noFill/>
          <a:ln w="38100">
            <a:solidFill>
              <a:schemeClr val="tx1"/>
            </a:solidFill>
            <a:round/>
            <a:headEnd type="triangle" w="med" len="med"/>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Line 4"/>
          <p:cNvSpPr>
            <a:spLocks noChangeShapeType="1"/>
          </p:cNvSpPr>
          <p:nvPr/>
        </p:nvSpPr>
        <p:spPr bwMode="auto">
          <a:xfrm flipV="1">
            <a:off x="961656" y="6304300"/>
            <a:ext cx="4352618" cy="20895"/>
          </a:xfrm>
          <a:prstGeom prst="line">
            <a:avLst/>
          </a:prstGeom>
          <a:noFill/>
          <a:ln w="38100">
            <a:solidFill>
              <a:schemeClr val="tx1"/>
            </a:solidFill>
            <a:round/>
            <a:headEnd type="none" w="sm" len="sm"/>
            <a:tailEnd type="triangl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3" name="Group 2">
            <a:extLst>
              <a:ext uri="{FF2B5EF4-FFF2-40B4-BE49-F238E27FC236}">
                <a16:creationId xmlns:a16="http://schemas.microsoft.com/office/drawing/2014/main" id="{C77759D2-5338-4308-A7FE-204E9504A52F}"/>
              </a:ext>
            </a:extLst>
          </p:cNvPr>
          <p:cNvGrpSpPr/>
          <p:nvPr/>
        </p:nvGrpSpPr>
        <p:grpSpPr>
          <a:xfrm>
            <a:off x="550892" y="4253509"/>
            <a:ext cx="1741291" cy="2065735"/>
            <a:chOff x="550892" y="4253509"/>
            <a:chExt cx="1741291" cy="2065735"/>
          </a:xfrm>
        </p:grpSpPr>
        <p:sp>
          <p:nvSpPr>
            <p:cNvPr id="15" name="Rectangle 7"/>
            <p:cNvSpPr>
              <a:spLocks noChangeArrowheads="1"/>
            </p:cNvSpPr>
            <p:nvPr/>
          </p:nvSpPr>
          <p:spPr bwMode="auto">
            <a:xfrm>
              <a:off x="967611" y="4427638"/>
              <a:ext cx="1300759" cy="1891606"/>
            </a:xfrm>
            <a:prstGeom prst="rect">
              <a:avLst/>
            </a:prstGeom>
            <a:solidFill>
              <a:schemeClr val="accent1">
                <a:lumMod val="25000"/>
                <a:lumOff val="75000"/>
              </a:schemeClr>
            </a:solidFill>
            <a:ln w="12700">
              <a:solidFill>
                <a:schemeClr val="tx1"/>
              </a:solidFill>
              <a:miter lim="800000"/>
              <a:headEnd/>
              <a:tailEnd/>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endParaRPr>
            </a:p>
          </p:txBody>
        </p:sp>
        <p:sp>
          <p:nvSpPr>
            <p:cNvPr id="16" name="Rectangle 8"/>
            <p:cNvSpPr>
              <a:spLocks noChangeArrowheads="1"/>
            </p:cNvSpPr>
            <p:nvPr/>
          </p:nvSpPr>
          <p:spPr bwMode="auto">
            <a:xfrm>
              <a:off x="550892" y="4253509"/>
              <a:ext cx="340817" cy="346770"/>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1</a:t>
              </a:r>
            </a:p>
          </p:txBody>
        </p:sp>
        <p:sp>
          <p:nvSpPr>
            <p:cNvPr id="14" name="Rectangle 6"/>
            <p:cNvSpPr>
              <a:spLocks noChangeArrowheads="1"/>
            </p:cNvSpPr>
            <p:nvPr/>
          </p:nvSpPr>
          <p:spPr bwMode="auto">
            <a:xfrm>
              <a:off x="1000353" y="4814591"/>
              <a:ext cx="1291830" cy="607219"/>
            </a:xfrm>
            <a:prstGeom prst="rect">
              <a:avLst/>
            </a:prstGeom>
            <a:noFill/>
            <a:ln w="9525">
              <a:noFill/>
              <a:miter lim="800000"/>
              <a:headEnd/>
              <a:tailEnd/>
            </a:ln>
            <a:effectLst/>
          </p:spPr>
          <p:txBody>
            <a:bodyPr wrap="none" lIns="86320" tIns="43161" rIns="86320" bIns="4316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Regular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movie-goers</a:t>
              </a:r>
            </a:p>
          </p:txBody>
        </p:sp>
      </p:grpSp>
      <p:sp>
        <p:nvSpPr>
          <p:cNvPr id="30" name="Rectangle 25"/>
          <p:cNvSpPr>
            <a:spLocks noChangeArrowheads="1"/>
          </p:cNvSpPr>
          <p:nvPr/>
        </p:nvSpPr>
        <p:spPr bwMode="auto">
          <a:xfrm>
            <a:off x="4054168" y="5773403"/>
            <a:ext cx="95739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rPr>
              <a:t>Demand</a:t>
            </a:r>
          </a:p>
        </p:txBody>
      </p:sp>
      <p:sp>
        <p:nvSpPr>
          <p:cNvPr id="31" name="Rectangle 26"/>
          <p:cNvSpPr>
            <a:spLocks noChangeArrowheads="1"/>
          </p:cNvSpPr>
          <p:nvPr/>
        </p:nvSpPr>
        <p:spPr bwMode="auto">
          <a:xfrm>
            <a:off x="513683" y="1571625"/>
            <a:ext cx="62948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a:t>
            </a:r>
          </a:p>
        </p:txBody>
      </p:sp>
      <p:sp>
        <p:nvSpPr>
          <p:cNvPr id="36" name="Rectangle 19"/>
          <p:cNvSpPr>
            <a:spLocks noChangeArrowheads="1"/>
          </p:cNvSpPr>
          <p:nvPr/>
        </p:nvSpPr>
        <p:spPr bwMode="auto">
          <a:xfrm>
            <a:off x="3002295" y="3409141"/>
            <a:ext cx="174129" cy="723035"/>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 name="Straight Connector 3">
            <a:extLst>
              <a:ext uri="{FF2B5EF4-FFF2-40B4-BE49-F238E27FC236}">
                <a16:creationId xmlns:a16="http://schemas.microsoft.com/office/drawing/2014/main" id="{479BD357-34E3-442D-A737-237294AFBDCE}"/>
              </a:ext>
            </a:extLst>
          </p:cNvPr>
          <p:cNvCxnSpPr>
            <a:cxnSpLocks/>
          </p:cNvCxnSpPr>
          <p:nvPr/>
        </p:nvCxnSpPr>
        <p:spPr>
          <a:xfrm>
            <a:off x="1000125" y="3249249"/>
            <a:ext cx="3260376" cy="3004709"/>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965C783A-1A2C-4E46-BCDB-887A3230AB2B}"/>
              </a:ext>
            </a:extLst>
          </p:cNvPr>
          <p:cNvGrpSpPr/>
          <p:nvPr/>
        </p:nvGrpSpPr>
        <p:grpSpPr>
          <a:xfrm>
            <a:off x="534303" y="5590416"/>
            <a:ext cx="3046511" cy="713884"/>
            <a:chOff x="534303" y="5590416"/>
            <a:chExt cx="3046511" cy="713884"/>
          </a:xfrm>
        </p:grpSpPr>
        <p:grpSp>
          <p:nvGrpSpPr>
            <p:cNvPr id="18" name="Group 9"/>
            <p:cNvGrpSpPr>
              <a:grpSpLocks/>
            </p:cNvGrpSpPr>
            <p:nvPr/>
          </p:nvGrpSpPr>
          <p:grpSpPr bwMode="auto">
            <a:xfrm>
              <a:off x="534303" y="5590416"/>
              <a:ext cx="3046511" cy="713884"/>
              <a:chOff x="479" y="3586"/>
              <a:chExt cx="2047" cy="383"/>
            </a:xfrm>
          </p:grpSpPr>
          <p:sp>
            <p:nvSpPr>
              <p:cNvPr id="19" name="Rectangle 10"/>
              <p:cNvSpPr>
                <a:spLocks noChangeArrowheads="1"/>
              </p:cNvSpPr>
              <p:nvPr/>
            </p:nvSpPr>
            <p:spPr bwMode="auto">
              <a:xfrm>
                <a:off x="1647" y="3604"/>
                <a:ext cx="879" cy="365"/>
              </a:xfrm>
              <a:prstGeom prst="rect">
                <a:avLst/>
              </a:prstGeom>
              <a:solidFill>
                <a:schemeClr val="accent2">
                  <a:lumMod val="40000"/>
                  <a:lumOff val="60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1" name="Rectangle 12"/>
              <p:cNvSpPr>
                <a:spLocks noChangeArrowheads="1"/>
              </p:cNvSpPr>
              <p:nvPr/>
            </p:nvSpPr>
            <p:spPr bwMode="auto">
              <a:xfrm>
                <a:off x="479" y="3586"/>
                <a:ext cx="246" cy="186"/>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2</a:t>
                </a:r>
              </a:p>
            </p:txBody>
          </p:sp>
        </p:grpSp>
        <p:sp>
          <p:nvSpPr>
            <p:cNvPr id="38" name="Rectangle 6">
              <a:extLst>
                <a:ext uri="{FF2B5EF4-FFF2-40B4-BE49-F238E27FC236}">
                  <a16:creationId xmlns:a16="http://schemas.microsoft.com/office/drawing/2014/main" id="{D67621CF-AB23-4146-8124-EF9530CBC87B}"/>
                </a:ext>
              </a:extLst>
            </p:cNvPr>
            <p:cNvSpPr>
              <a:spLocks noChangeArrowheads="1"/>
            </p:cNvSpPr>
            <p:nvPr/>
          </p:nvSpPr>
          <p:spPr bwMode="auto">
            <a:xfrm>
              <a:off x="2544979" y="5843417"/>
              <a:ext cx="836046" cy="346916"/>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Seniors</a:t>
              </a:r>
            </a:p>
          </p:txBody>
        </p:sp>
      </p:grpSp>
    </p:spTree>
    <p:custDataLst>
      <p:tags r:id="rId1"/>
    </p:custDataLst>
    <p:extLst>
      <p:ext uri="{BB962C8B-B14F-4D97-AF65-F5344CB8AC3E}">
        <p14:creationId xmlns:p14="http://schemas.microsoft.com/office/powerpoint/2010/main" val="38017769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Consumer Segments in Medication</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4"/>
            <a:ext cx="8229600" cy="1897743"/>
          </a:xfrm>
        </p:spPr>
        <p:txBody>
          <a:bodyPr>
            <a:normAutofit/>
          </a:bodyPr>
          <a:lstStyle/>
          <a:p>
            <a:r>
              <a:rPr lang="en-US" sz="3100" dirty="0" err="1"/>
              <a:t>Lodine</a:t>
            </a:r>
            <a:r>
              <a:rPr lang="en-US" sz="3100" dirty="0"/>
              <a:t>, a medication for arthritis, is used for both humans and dogs. </a:t>
            </a:r>
          </a:p>
          <a:p>
            <a:r>
              <a:rPr lang="en-US" sz="3100" dirty="0"/>
              <a:t>Which segment 'pays' a higher price?</a:t>
            </a:r>
          </a:p>
        </p:txBody>
      </p:sp>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pic>
        <p:nvPicPr>
          <p:cNvPr id="5" name="Picture 4">
            <a:extLst>
              <a:ext uri="{FF2B5EF4-FFF2-40B4-BE49-F238E27FC236}">
                <a16:creationId xmlns:a16="http://schemas.microsoft.com/office/drawing/2014/main" id="{5F0AA482-87DE-46B8-B803-8EFF7560372A}"/>
              </a:ext>
            </a:extLst>
          </p:cNvPr>
          <p:cNvPicPr>
            <a:picLocks noChangeAspect="1"/>
          </p:cNvPicPr>
          <p:nvPr/>
        </p:nvPicPr>
        <p:blipFill>
          <a:blip r:embed="rId3"/>
          <a:stretch>
            <a:fillRect/>
          </a:stretch>
        </p:blipFill>
        <p:spPr>
          <a:xfrm>
            <a:off x="1534886" y="3697939"/>
            <a:ext cx="2394857" cy="2751538"/>
          </a:xfrm>
          <a:prstGeom prst="rect">
            <a:avLst/>
          </a:prstGeom>
        </p:spPr>
      </p:pic>
    </p:spTree>
    <p:extLst>
      <p:ext uri="{BB962C8B-B14F-4D97-AF65-F5344CB8AC3E}">
        <p14:creationId xmlns:p14="http://schemas.microsoft.com/office/powerpoint/2010/main" val="291337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578279-AA28-4C67-B014-2D77393F3456}"/>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372219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Solution</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341886" y="1270215"/>
            <a:ext cx="8229600" cy="1897743"/>
          </a:xfrm>
        </p:spPr>
        <p:txBody>
          <a:bodyPr>
            <a:normAutofit/>
          </a:bodyPr>
          <a:lstStyle/>
          <a:p>
            <a:r>
              <a:rPr lang="en-US" sz="3100" dirty="0"/>
              <a:t>Higher price for humans!</a:t>
            </a:r>
          </a:p>
        </p:txBody>
      </p:sp>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pic>
        <p:nvPicPr>
          <p:cNvPr id="5" name="Picture 4">
            <a:extLst>
              <a:ext uri="{FF2B5EF4-FFF2-40B4-BE49-F238E27FC236}">
                <a16:creationId xmlns:a16="http://schemas.microsoft.com/office/drawing/2014/main" id="{830196FF-4576-458C-BAA8-66216A816D82}"/>
              </a:ext>
            </a:extLst>
          </p:cNvPr>
          <p:cNvPicPr>
            <a:picLocks noChangeAspect="1"/>
          </p:cNvPicPr>
          <p:nvPr/>
        </p:nvPicPr>
        <p:blipFill>
          <a:blip r:embed="rId3"/>
          <a:stretch>
            <a:fillRect/>
          </a:stretch>
        </p:blipFill>
        <p:spPr>
          <a:xfrm>
            <a:off x="572514" y="2219086"/>
            <a:ext cx="5373567" cy="3978420"/>
          </a:xfrm>
          <a:prstGeom prst="rect">
            <a:avLst/>
          </a:prstGeom>
        </p:spPr>
      </p:pic>
    </p:spTree>
    <p:extLst>
      <p:ext uri="{BB962C8B-B14F-4D97-AF65-F5344CB8AC3E}">
        <p14:creationId xmlns:p14="http://schemas.microsoft.com/office/powerpoint/2010/main" val="361510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357188" y="357188"/>
            <a:ext cx="8343305" cy="1114719"/>
          </a:xfrm>
          <a:noFill/>
          <a:ln/>
        </p:spPr>
        <p:txBody>
          <a:bodyPr vert="horz" lIns="92273" tIns="46136" rIns="92273" bIns="46136" rtlCol="0" anchor="ctr">
            <a:normAutofit fontScale="90000"/>
          </a:bodyPr>
          <a:lstStyle/>
          <a:p>
            <a:r>
              <a:rPr lang="en-US" sz="4125" dirty="0"/>
              <a:t>Important: Segment Pricing Analytically</a:t>
            </a:r>
            <a:br>
              <a:rPr lang="en-US" sz="3375" dirty="0"/>
            </a:br>
            <a:endParaRPr lang="en-US" sz="4500" dirty="0"/>
          </a:p>
        </p:txBody>
      </p:sp>
      <p:sp>
        <p:nvSpPr>
          <p:cNvPr id="144387" name="Rectangle 3"/>
          <p:cNvSpPr>
            <a:spLocks noGrp="1" noChangeArrowheads="1"/>
          </p:cNvSpPr>
          <p:nvPr>
            <p:ph type="body" idx="1"/>
          </p:nvPr>
        </p:nvSpPr>
        <p:spPr>
          <a:xfrm>
            <a:off x="686098" y="1482327"/>
            <a:ext cx="7857538" cy="5001740"/>
          </a:xfrm>
          <a:noFill/>
          <a:ln/>
        </p:spPr>
        <p:txBody>
          <a:bodyPr vert="horz" lIns="92273" tIns="46136" rIns="92273" bIns="46136" rtlCol="0">
            <a:normAutofit/>
          </a:bodyPr>
          <a:lstStyle/>
          <a:p>
            <a:pPr>
              <a:lnSpc>
                <a:spcPct val="120000"/>
              </a:lnSpc>
            </a:pPr>
            <a:r>
              <a:rPr lang="en-US" sz="2400" dirty="0"/>
              <a:t>A firm produces the same product for two markets</a:t>
            </a:r>
          </a:p>
          <a:p>
            <a:pPr>
              <a:lnSpc>
                <a:spcPct val="120000"/>
              </a:lnSpc>
            </a:pPr>
            <a:r>
              <a:rPr lang="en-US" sz="2400" b="1" dirty="0"/>
              <a:t>Math:</a:t>
            </a:r>
            <a:endParaRPr lang="en-US" sz="3000" b="1" dirty="0"/>
          </a:p>
          <a:p>
            <a:pPr marL="0" indent="0" algn="ctr">
              <a:lnSpc>
                <a:spcPct val="90000"/>
              </a:lnSpc>
              <a:buNone/>
            </a:pPr>
            <a:r>
              <a:rPr lang="en-US" sz="3000" b="1" dirty="0"/>
              <a:t>Set </a:t>
            </a:r>
            <a:r>
              <a:rPr lang="en-US" sz="3000" b="1" i="1" dirty="0" err="1"/>
              <a:t>MR</a:t>
            </a:r>
            <a:r>
              <a:rPr lang="en-US" sz="3000" b="1" i="1" baseline="-25000" dirty="0" err="1"/>
              <a:t>i</a:t>
            </a:r>
            <a:r>
              <a:rPr lang="en-US" sz="3000" b="1" i="1" dirty="0"/>
              <a:t>=</a:t>
            </a:r>
            <a:r>
              <a:rPr lang="en-US" sz="3000" b="1" i="1" dirty="0" err="1"/>
              <a:t>MC</a:t>
            </a:r>
            <a:r>
              <a:rPr lang="en-US" sz="3000" b="1" i="1" baseline="-25000" dirty="0" err="1"/>
              <a:t>i</a:t>
            </a:r>
            <a:r>
              <a:rPr lang="en-US" sz="3000" b="1" dirty="0"/>
              <a:t> in each market </a:t>
            </a:r>
            <a:r>
              <a:rPr lang="en-US" sz="3000" b="1" i="1" dirty="0"/>
              <a:t>i</a:t>
            </a:r>
          </a:p>
        </p:txBody>
      </p:sp>
      <p:sp>
        <p:nvSpPr>
          <p:cNvPr id="5" name="Slide Number Placeholder 4"/>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BC38028-5B1C-49D3-BF22-2CE9385E6DA2}" type="slidenum">
              <a:rPr kumimoji="0" lang="en-US" sz="800" b="0" i="0" u="none" strike="noStrike" kern="800" cap="none" spc="400" normalizeH="0" baseline="0" noProof="0" smtClean="0">
                <a:ln>
                  <a:noFill/>
                </a:ln>
                <a:solidFill>
                  <a:prstClr val="black">
                    <a:lumMod val="75000"/>
                    <a:lumOff val="25000"/>
                  </a:prstClr>
                </a:solidFill>
                <a:effectLst/>
                <a:uLnTx/>
                <a:uFillTx/>
                <a:latin typeface=""/>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800" cap="none" spc="400" normalizeH="0" baseline="0" noProof="0" dirty="0">
              <a:ln>
                <a:noFill/>
              </a:ln>
              <a:solidFill>
                <a:prstClr val="black">
                  <a:lumMod val="75000"/>
                  <a:lumOff val="25000"/>
                </a:prstClr>
              </a:solidFill>
              <a:effectLst/>
              <a:uLnTx/>
              <a:uFillTx/>
              <a:latin typeface=""/>
              <a:ea typeface="+mn-ea"/>
              <a:cs typeface="+mn-cs"/>
            </a:endParaRPr>
          </a:p>
        </p:txBody>
      </p:sp>
      <p:grpSp>
        <p:nvGrpSpPr>
          <p:cNvPr id="7" name="Group 6">
            <a:extLst>
              <a:ext uri="{FF2B5EF4-FFF2-40B4-BE49-F238E27FC236}">
                <a16:creationId xmlns:a16="http://schemas.microsoft.com/office/drawing/2014/main" id="{89672A31-1AE8-4EC6-8AC6-42CA5C435889}"/>
              </a:ext>
            </a:extLst>
          </p:cNvPr>
          <p:cNvGrpSpPr/>
          <p:nvPr/>
        </p:nvGrpSpPr>
        <p:grpSpPr>
          <a:xfrm>
            <a:off x="5822552" y="3145756"/>
            <a:ext cx="3076636" cy="566487"/>
            <a:chOff x="62403" y="6168852"/>
            <a:chExt cx="2911737" cy="566487"/>
          </a:xfrm>
        </p:grpSpPr>
        <p:sp>
          <p:nvSpPr>
            <p:cNvPr id="8" name="Rectangle 3">
              <a:extLst>
                <a:ext uri="{FF2B5EF4-FFF2-40B4-BE49-F238E27FC236}">
                  <a16:creationId xmlns:a16="http://schemas.microsoft.com/office/drawing/2014/main" id="{0C84A886-BCAC-4FF7-B1C7-3A47E21F8992}"/>
                </a:ext>
              </a:extLst>
            </p:cNvPr>
            <p:cNvSpPr txBox="1">
              <a:spLocks noChangeArrowheads="1"/>
            </p:cNvSpPr>
            <p:nvPr/>
          </p:nvSpPr>
          <p:spPr>
            <a:xfrm>
              <a:off x="62403" y="6168852"/>
              <a:ext cx="2911737"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Practice Video! </a:t>
              </a:r>
            </a:p>
          </p:txBody>
        </p:sp>
        <p:sp>
          <p:nvSpPr>
            <p:cNvPr id="9" name="Right Arrow 1">
              <a:extLst>
                <a:ext uri="{FF2B5EF4-FFF2-40B4-BE49-F238E27FC236}">
                  <a16:creationId xmlns:a16="http://schemas.microsoft.com/office/drawing/2014/main" id="{47F6391E-3D36-4C3C-82C4-BBDE41F4AB8B}"/>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0" name="Rectangle 3">
            <a:extLst>
              <a:ext uri="{FF2B5EF4-FFF2-40B4-BE49-F238E27FC236}">
                <a16:creationId xmlns:a16="http://schemas.microsoft.com/office/drawing/2014/main" id="{3B169DEA-8ECC-4BEC-96F8-8B3FDFAE84B5}"/>
              </a:ext>
            </a:extLst>
          </p:cNvPr>
          <p:cNvSpPr txBox="1">
            <a:spLocks noChangeArrowheads="1"/>
          </p:cNvSpPr>
          <p:nvPr/>
        </p:nvSpPr>
        <p:spPr>
          <a:xfrm>
            <a:off x="196950" y="4536485"/>
            <a:ext cx="5380790" cy="20424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spcBef>
                <a:spcPts val="0"/>
              </a:spcBef>
              <a:spcAft>
                <a:spcPts val="563"/>
              </a:spcAft>
            </a:pPr>
            <a:endParaRPr lang="en-US" sz="1300" dirty="0">
              <a:latin typeface="Whitney-Book" pitchFamily="50" charset="0"/>
              <a:cs typeface="Whitney-Book" pitchFamily="50" charset="0"/>
            </a:endParaRPr>
          </a:p>
          <a:p>
            <a:pPr lvl="1">
              <a:lnSpc>
                <a:spcPts val="3000"/>
              </a:lnSpc>
              <a:spcBef>
                <a:spcPts val="0"/>
              </a:spcBef>
              <a:spcAft>
                <a:spcPts val="563"/>
              </a:spcAft>
            </a:pPr>
            <a:r>
              <a:rPr lang="en-US" sz="2400" dirty="0">
                <a:latin typeface="Whitney-Book" pitchFamily="50" charset="0"/>
                <a:cs typeface="Whitney-Book" pitchFamily="50" charset="0"/>
              </a:rPr>
              <a:t>Prices different if demand (MR) and/or costs (MC) are different</a:t>
            </a:r>
          </a:p>
          <a:p>
            <a:pPr lvl="1">
              <a:lnSpc>
                <a:spcPts val="3000"/>
              </a:lnSpc>
              <a:spcBef>
                <a:spcPts val="0"/>
              </a:spcBef>
              <a:spcAft>
                <a:spcPts val="563"/>
              </a:spcAft>
            </a:pPr>
            <a:r>
              <a:rPr lang="en-US" sz="2400" u="sng" dirty="0">
                <a:solidFill>
                  <a:srgbClr val="C00000"/>
                </a:solidFill>
                <a:latin typeface="Whitney-Book" pitchFamily="50" charset="0"/>
                <a:cs typeface="Whitney-Book" pitchFamily="50" charset="0"/>
              </a:rPr>
              <a:t>Rule</a:t>
            </a:r>
            <a:r>
              <a:rPr lang="en-US" sz="2400" dirty="0">
                <a:latin typeface="Whitney-Book" pitchFamily="50" charset="0"/>
                <a:cs typeface="Whitney-Book" pitchFamily="50" charset="0"/>
              </a:rPr>
              <a:t>: Charge lower price in more elastic markets</a:t>
            </a:r>
            <a:endParaRPr lang="en-US" sz="1600" dirty="0">
              <a:latin typeface="Whitney-Book" pitchFamily="50" charset="0"/>
              <a:cs typeface="Whitney-Book" pitchFamily="50" charset="0"/>
            </a:endParaRPr>
          </a:p>
        </p:txBody>
      </p:sp>
      <p:sp>
        <p:nvSpPr>
          <p:cNvPr id="11" name="Rectangle 10">
            <a:extLst>
              <a:ext uri="{FF2B5EF4-FFF2-40B4-BE49-F238E27FC236}">
                <a16:creationId xmlns:a16="http://schemas.microsoft.com/office/drawing/2014/main" id="{7A2935B6-7273-484E-B78B-D7B89D363FBF}"/>
              </a:ext>
            </a:extLst>
          </p:cNvPr>
          <p:cNvSpPr/>
          <p:nvPr/>
        </p:nvSpPr>
        <p:spPr>
          <a:xfrm>
            <a:off x="5822552" y="3962400"/>
            <a:ext cx="3076636" cy="1329692"/>
          </a:xfrm>
          <a:prstGeom prst="rect">
            <a:avLst/>
          </a:prstGeom>
          <a:blipFill dpi="0" rotWithShape="1">
            <a:blip r:embed="rId4">
              <a:alphaModFix amt="43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Segment Pricing in Movies</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341886" y="1270215"/>
            <a:ext cx="8229600" cy="1897743"/>
          </a:xfrm>
        </p:spPr>
        <p:txBody>
          <a:bodyPr>
            <a:normAutofit/>
          </a:bodyPr>
          <a:lstStyle/>
          <a:p>
            <a:r>
              <a:rPr lang="en-US" sz="3100" dirty="0"/>
              <a:t>Higher prices for new movies</a:t>
            </a:r>
          </a:p>
        </p:txBody>
      </p:sp>
      <p:pic>
        <p:nvPicPr>
          <p:cNvPr id="7" name="Picture 6">
            <a:extLst>
              <a:ext uri="{FF2B5EF4-FFF2-40B4-BE49-F238E27FC236}">
                <a16:creationId xmlns:a16="http://schemas.microsoft.com/office/drawing/2014/main" id="{14ABD9C4-624B-4DE8-A429-0EBBE251722E}"/>
              </a:ext>
            </a:extLst>
          </p:cNvPr>
          <p:cNvPicPr>
            <a:picLocks noChangeAspect="1"/>
          </p:cNvPicPr>
          <p:nvPr/>
        </p:nvPicPr>
        <p:blipFill>
          <a:blip r:embed="rId3"/>
          <a:stretch>
            <a:fillRect/>
          </a:stretch>
        </p:blipFill>
        <p:spPr>
          <a:xfrm>
            <a:off x="1230086" y="2136883"/>
            <a:ext cx="6959981" cy="4039071"/>
          </a:xfrm>
          <a:prstGeom prst="rect">
            <a:avLst/>
          </a:prstGeom>
        </p:spPr>
      </p:pic>
      <p:sp>
        <p:nvSpPr>
          <p:cNvPr id="8" name="Oval 7">
            <a:extLst>
              <a:ext uri="{FF2B5EF4-FFF2-40B4-BE49-F238E27FC236}">
                <a16:creationId xmlns:a16="http://schemas.microsoft.com/office/drawing/2014/main" id="{DCD3F737-B6ED-4AAA-9B61-18B1E3AE6F36}"/>
              </a:ext>
            </a:extLst>
          </p:cNvPr>
          <p:cNvSpPr/>
          <p:nvPr/>
        </p:nvSpPr>
        <p:spPr>
          <a:xfrm>
            <a:off x="1447800" y="5301344"/>
            <a:ext cx="5421086" cy="566057"/>
          </a:xfrm>
          <a:prstGeom prst="ellipse">
            <a:avLst/>
          </a:prstGeom>
          <a:noFill/>
          <a:ln w="349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200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b="1" dirty="0"/>
              <a:t>Indirect </a:t>
            </a:r>
            <a:r>
              <a:rPr lang="fr-FR" b="1" dirty="0" err="1"/>
              <a:t>price</a:t>
            </a:r>
            <a:r>
              <a:rPr lang="fr-FR" b="1" dirty="0"/>
              <a:t> discrimination (second </a:t>
            </a:r>
            <a:r>
              <a:rPr lang="fr-FR" b="1" dirty="0" err="1"/>
              <a:t>degree</a:t>
            </a:r>
            <a:r>
              <a:rPr lang="fr-FR" b="1" dirty="0"/>
              <a:t>)</a:t>
            </a:r>
          </a:p>
          <a:p>
            <a:pPr marL="742950" lvl="2" indent="-342900">
              <a:lnSpc>
                <a:spcPct val="120000"/>
              </a:lnSpc>
            </a:pPr>
            <a:r>
              <a:rPr lang="fr-FR" sz="2400" b="1" dirty="0"/>
              <a:t>Versioning</a:t>
            </a:r>
          </a:p>
          <a:p>
            <a:pPr lvl="1">
              <a:lnSpc>
                <a:spcPct val="120000"/>
              </a:lnSpc>
              <a:spcBef>
                <a:spcPts val="0"/>
              </a:spcBef>
            </a:pPr>
            <a:r>
              <a:rPr lang="fr-FR" sz="2400" b="1" dirty="0"/>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Flat </a:t>
            </a:r>
            <a:r>
              <a:rPr lang="fr-FR" dirty="0" err="1">
                <a:solidFill>
                  <a:schemeClr val="bg1">
                    <a:lumMod val="65000"/>
                  </a:schemeClr>
                </a:solidFill>
                <a:latin typeface="Whitney-Book" pitchFamily="50" charset="0"/>
                <a:cs typeface="Whitney-Book" pitchFamily="50" charset="0"/>
              </a:rPr>
              <a:t>fee</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703039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238539" y="127215"/>
            <a:ext cx="8719931" cy="1143000"/>
          </a:xfrm>
        </p:spPr>
        <p:txBody>
          <a:bodyPr>
            <a:normAutofit/>
          </a:bodyPr>
          <a:lstStyle/>
          <a:p>
            <a:pPr algn="ctr"/>
            <a:r>
              <a:rPr lang="en-US" dirty="0">
                <a:latin typeface="Whitney-Medium" pitchFamily="50" charset="0"/>
                <a:cs typeface="Whitney-Medium" pitchFamily="50" charset="0"/>
              </a:rPr>
              <a:t>Second degree price discrimination:</a:t>
            </a:r>
            <a:br>
              <a:rPr lang="en-US" dirty="0">
                <a:latin typeface="Whitney-Medium" pitchFamily="50" charset="0"/>
                <a:cs typeface="Whitney-Medium" pitchFamily="50" charset="0"/>
              </a:rPr>
            </a:br>
            <a:r>
              <a:rPr lang="en-US" dirty="0">
                <a:latin typeface="Whitney-Medium" pitchFamily="50" charset="0"/>
                <a:cs typeface="Whitney-Medium" pitchFamily="50" charset="0"/>
              </a:rPr>
              <a:t>Versioning</a:t>
            </a:r>
          </a:p>
        </p:txBody>
      </p:sp>
      <p:sp>
        <p:nvSpPr>
          <p:cNvPr id="3" name="Content Placeholder 2"/>
          <p:cNvSpPr>
            <a:spLocks noGrp="1"/>
          </p:cNvSpPr>
          <p:nvPr>
            <p:ph idx="1"/>
          </p:nvPr>
        </p:nvSpPr>
        <p:spPr>
          <a:xfrm>
            <a:off x="354168" y="2307771"/>
            <a:ext cx="8501270" cy="4182564"/>
          </a:xfrm>
        </p:spPr>
        <p:txBody>
          <a:bodyPr>
            <a:normAutofit/>
          </a:bodyPr>
          <a:lstStyle/>
          <a:p>
            <a:r>
              <a:rPr lang="en-US" sz="3600" dirty="0"/>
              <a:t>Indirect price discrimination</a:t>
            </a:r>
          </a:p>
          <a:p>
            <a:r>
              <a:rPr lang="en-US" sz="3600" dirty="0"/>
              <a:t>Charge different price for </a:t>
            </a:r>
            <a:r>
              <a:rPr lang="en-US" sz="3600" i="1" dirty="0"/>
              <a:t>different versions</a:t>
            </a:r>
            <a:r>
              <a:rPr lang="en-US" sz="3600" dirty="0"/>
              <a:t> of the product</a:t>
            </a:r>
          </a:p>
          <a:p>
            <a:endParaRPr lang="en-US" sz="2600" dirty="0"/>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991205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125506" y="168278"/>
            <a:ext cx="8928847" cy="1143000"/>
          </a:xfrm>
        </p:spPr>
        <p:txBody>
          <a:bodyPr>
            <a:normAutofit/>
          </a:bodyPr>
          <a:lstStyle/>
          <a:p>
            <a:pPr algn="ctr"/>
            <a:r>
              <a:rPr lang="en-US" sz="3750" dirty="0">
                <a:latin typeface="Whitney-Medium" pitchFamily="50" charset="0"/>
                <a:cs typeface="Whitney-Medium" pitchFamily="50" charset="0"/>
              </a:rPr>
              <a:t>Recall: </a:t>
            </a:r>
            <a:r>
              <a:rPr lang="en-US" sz="3750" dirty="0" err="1">
                <a:latin typeface="Whitney-Medium" pitchFamily="50" charset="0"/>
                <a:cs typeface="Whitney-Medium" pitchFamily="50" charset="0"/>
              </a:rPr>
              <a:t>VErsioning</a:t>
            </a:r>
            <a:endParaRPr lang="en-US" sz="3750" dirty="0">
              <a:latin typeface="Whitney-Medium" pitchFamily="50" charset="0"/>
              <a:cs typeface="Whitney-Medium" pitchFamily="50" charset="0"/>
            </a:endParaRPr>
          </a:p>
        </p:txBody>
      </p:sp>
      <p:sp>
        <p:nvSpPr>
          <p:cNvPr id="183299" name="Rectangle 3"/>
          <p:cNvSpPr>
            <a:spLocks noGrp="1" noChangeArrowheads="1"/>
          </p:cNvSpPr>
          <p:nvPr>
            <p:ph idx="1"/>
          </p:nvPr>
        </p:nvSpPr>
        <p:spPr>
          <a:xfrm>
            <a:off x="5891454" y="1668985"/>
            <a:ext cx="3334218" cy="4525963"/>
          </a:xfrm>
        </p:spPr>
        <p:txBody>
          <a:bodyPr>
            <a:normAutofit/>
          </a:bodyPr>
          <a:lstStyle/>
          <a:p>
            <a:pPr lvl="1">
              <a:spcBef>
                <a:spcPts val="0"/>
              </a:spcBef>
              <a:spcAft>
                <a:spcPts val="563"/>
              </a:spcAft>
            </a:pPr>
            <a:r>
              <a:rPr lang="en-US" sz="2400" dirty="0">
                <a:latin typeface="Whitney-Book" pitchFamily="50" charset="0"/>
                <a:cs typeface="Whitney-Book" pitchFamily="50" charset="0"/>
              </a:rPr>
              <a:t>Create different “versions” of your product</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Design them such that customers with different MPV “self-select” into the desired version</a:t>
            </a:r>
          </a:p>
        </p:txBody>
      </p:sp>
      <p:sp>
        <p:nvSpPr>
          <p:cNvPr id="11" name="Line 3"/>
          <p:cNvSpPr>
            <a:spLocks noChangeShapeType="1"/>
          </p:cNvSpPr>
          <p:nvPr/>
        </p:nvSpPr>
        <p:spPr bwMode="auto">
          <a:xfrm>
            <a:off x="961656" y="1995786"/>
            <a:ext cx="0" cy="4342805"/>
          </a:xfrm>
          <a:prstGeom prst="line">
            <a:avLst/>
          </a:prstGeom>
          <a:noFill/>
          <a:ln w="38100">
            <a:solidFill>
              <a:schemeClr val="tx1"/>
            </a:solidFill>
            <a:round/>
            <a:headEnd type="triangle" w="med" len="med"/>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Line 4"/>
          <p:cNvSpPr>
            <a:spLocks noChangeShapeType="1"/>
          </p:cNvSpPr>
          <p:nvPr/>
        </p:nvSpPr>
        <p:spPr bwMode="auto">
          <a:xfrm>
            <a:off x="961656" y="6325195"/>
            <a:ext cx="6477000" cy="0"/>
          </a:xfrm>
          <a:prstGeom prst="line">
            <a:avLst/>
          </a:prstGeom>
          <a:noFill/>
          <a:ln w="38100">
            <a:solidFill>
              <a:schemeClr val="tx1"/>
            </a:solidFill>
            <a:round/>
            <a:headEnd type="none" w="sm" len="sm"/>
            <a:tailEnd type="triangl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13" name="Group 5"/>
          <p:cNvGrpSpPr>
            <a:grpSpLocks/>
          </p:cNvGrpSpPr>
          <p:nvPr/>
        </p:nvGrpSpPr>
        <p:grpSpPr bwMode="auto">
          <a:xfrm>
            <a:off x="550891" y="2899172"/>
            <a:ext cx="1403448" cy="3420071"/>
            <a:chOff x="697" y="1948"/>
            <a:chExt cx="943" cy="2298"/>
          </a:xfrm>
        </p:grpSpPr>
        <p:sp>
          <p:nvSpPr>
            <p:cNvPr id="14" name="Rectangle 6"/>
            <p:cNvSpPr>
              <a:spLocks noChangeArrowheads="1"/>
            </p:cNvSpPr>
            <p:nvPr/>
          </p:nvSpPr>
          <p:spPr bwMode="auto">
            <a:xfrm>
              <a:off x="980" y="1948"/>
              <a:ext cx="660"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1</a:t>
              </a:r>
            </a:p>
          </p:txBody>
        </p:sp>
        <p:sp>
          <p:nvSpPr>
            <p:cNvPr id="15" name="Rectangle 7"/>
            <p:cNvSpPr>
              <a:spLocks noChangeArrowheads="1"/>
            </p:cNvSpPr>
            <p:nvPr/>
          </p:nvSpPr>
          <p:spPr bwMode="auto">
            <a:xfrm>
              <a:off x="977" y="2359"/>
              <a:ext cx="197" cy="1887"/>
            </a:xfrm>
            <a:prstGeom prst="rect">
              <a:avLst/>
            </a:prstGeom>
            <a:solidFill>
              <a:schemeClr val="accent1">
                <a:lumMod val="25000"/>
                <a:lumOff val="75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6" name="Rectangle 8"/>
            <p:cNvSpPr>
              <a:spLocks noChangeArrowheads="1"/>
            </p:cNvSpPr>
            <p:nvPr/>
          </p:nvSpPr>
          <p:spPr bwMode="auto">
            <a:xfrm>
              <a:off x="697" y="2213"/>
              <a:ext cx="229"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1</a:t>
              </a:r>
            </a:p>
          </p:txBody>
        </p:sp>
      </p:grpSp>
      <p:grpSp>
        <p:nvGrpSpPr>
          <p:cNvPr id="18" name="Group 9"/>
          <p:cNvGrpSpPr>
            <a:grpSpLocks/>
          </p:cNvGrpSpPr>
          <p:nvPr/>
        </p:nvGrpSpPr>
        <p:grpSpPr bwMode="auto">
          <a:xfrm>
            <a:off x="524103" y="3308449"/>
            <a:ext cx="1869281" cy="3010793"/>
            <a:chOff x="692" y="2223"/>
            <a:chExt cx="1256" cy="2023"/>
          </a:xfrm>
        </p:grpSpPr>
        <p:sp>
          <p:nvSpPr>
            <p:cNvPr id="19" name="Rectangle 10"/>
            <p:cNvSpPr>
              <a:spLocks noChangeArrowheads="1"/>
            </p:cNvSpPr>
            <p:nvPr/>
          </p:nvSpPr>
          <p:spPr bwMode="auto">
            <a:xfrm>
              <a:off x="1182" y="2547"/>
              <a:ext cx="299" cy="1699"/>
            </a:xfrm>
            <a:prstGeom prst="rect">
              <a:avLst/>
            </a:prstGeom>
            <a:solidFill>
              <a:schemeClr val="accent2">
                <a:lumMod val="40000"/>
                <a:lumOff val="60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0" name="Rectangle 11"/>
            <p:cNvSpPr>
              <a:spLocks noChangeArrowheads="1"/>
            </p:cNvSpPr>
            <p:nvPr/>
          </p:nvSpPr>
          <p:spPr bwMode="auto">
            <a:xfrm>
              <a:off x="1262" y="2223"/>
              <a:ext cx="68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2</a:t>
              </a:r>
            </a:p>
          </p:txBody>
        </p:sp>
        <p:sp>
          <p:nvSpPr>
            <p:cNvPr id="21" name="Rectangle 12"/>
            <p:cNvSpPr>
              <a:spLocks noChangeArrowheads="1"/>
            </p:cNvSpPr>
            <p:nvPr/>
          </p:nvSpPr>
          <p:spPr bwMode="auto">
            <a:xfrm>
              <a:off x="692" y="2473"/>
              <a:ext cx="24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2</a:t>
              </a:r>
            </a:p>
          </p:txBody>
        </p:sp>
      </p:grpSp>
      <p:grpSp>
        <p:nvGrpSpPr>
          <p:cNvPr id="22" name="Group 13"/>
          <p:cNvGrpSpPr>
            <a:grpSpLocks/>
          </p:cNvGrpSpPr>
          <p:nvPr/>
        </p:nvGrpSpPr>
        <p:grpSpPr bwMode="auto">
          <a:xfrm>
            <a:off x="543451" y="3640337"/>
            <a:ext cx="2323207" cy="2678906"/>
            <a:chOff x="713" y="2446"/>
            <a:chExt cx="1561" cy="1800"/>
          </a:xfrm>
        </p:grpSpPr>
        <p:sp>
          <p:nvSpPr>
            <p:cNvPr id="23" name="Rectangle 14"/>
            <p:cNvSpPr>
              <a:spLocks noChangeArrowheads="1"/>
            </p:cNvSpPr>
            <p:nvPr/>
          </p:nvSpPr>
          <p:spPr bwMode="auto">
            <a:xfrm>
              <a:off x="1489" y="2933"/>
              <a:ext cx="504" cy="1313"/>
            </a:xfrm>
            <a:prstGeom prst="rect">
              <a:avLst/>
            </a:prstGeom>
            <a:solidFill>
              <a:schemeClr val="hlink"/>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4" name="Rectangle 15"/>
            <p:cNvSpPr>
              <a:spLocks noChangeArrowheads="1"/>
            </p:cNvSpPr>
            <p:nvPr/>
          </p:nvSpPr>
          <p:spPr bwMode="auto">
            <a:xfrm>
              <a:off x="1589" y="2446"/>
              <a:ext cx="685"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3</a:t>
              </a:r>
            </a:p>
          </p:txBody>
        </p:sp>
        <p:sp>
          <p:nvSpPr>
            <p:cNvPr id="25" name="Rectangle 16"/>
            <p:cNvSpPr>
              <a:spLocks noChangeArrowheads="1"/>
            </p:cNvSpPr>
            <p:nvPr/>
          </p:nvSpPr>
          <p:spPr bwMode="auto">
            <a:xfrm>
              <a:off x="713" y="2826"/>
              <a:ext cx="245"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3</a:t>
              </a:r>
            </a:p>
          </p:txBody>
        </p:sp>
      </p:grpSp>
      <p:grpSp>
        <p:nvGrpSpPr>
          <p:cNvPr id="26" name="Group 21"/>
          <p:cNvGrpSpPr>
            <a:grpSpLocks/>
          </p:cNvGrpSpPr>
          <p:nvPr/>
        </p:nvGrpSpPr>
        <p:grpSpPr bwMode="auto">
          <a:xfrm>
            <a:off x="574258" y="4781850"/>
            <a:ext cx="3854648" cy="1537396"/>
            <a:chOff x="770" y="3213"/>
            <a:chExt cx="2590" cy="1033"/>
          </a:xfrm>
        </p:grpSpPr>
        <p:sp>
          <p:nvSpPr>
            <p:cNvPr id="27" name="Rectangle 22"/>
            <p:cNvSpPr>
              <a:spLocks noChangeArrowheads="1"/>
            </p:cNvSpPr>
            <p:nvPr/>
          </p:nvSpPr>
          <p:spPr bwMode="auto">
            <a:xfrm>
              <a:off x="2642" y="3905"/>
              <a:ext cx="718" cy="341"/>
            </a:xfrm>
            <a:prstGeom prst="rect">
              <a:avLst/>
            </a:prstGeom>
            <a:solidFill>
              <a:srgbClr val="00B7A5"/>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8" name="Rectangle 23"/>
            <p:cNvSpPr>
              <a:spLocks noChangeArrowheads="1"/>
            </p:cNvSpPr>
            <p:nvPr/>
          </p:nvSpPr>
          <p:spPr bwMode="auto">
            <a:xfrm>
              <a:off x="2674" y="3213"/>
              <a:ext cx="68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5</a:t>
              </a:r>
            </a:p>
          </p:txBody>
        </p:sp>
        <p:sp>
          <p:nvSpPr>
            <p:cNvPr id="29" name="Rectangle 24"/>
            <p:cNvSpPr>
              <a:spLocks noChangeArrowheads="1"/>
            </p:cNvSpPr>
            <p:nvPr/>
          </p:nvSpPr>
          <p:spPr bwMode="auto">
            <a:xfrm>
              <a:off x="770" y="3778"/>
              <a:ext cx="24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5</a:t>
              </a:r>
            </a:p>
          </p:txBody>
        </p:sp>
      </p:grpSp>
      <p:sp>
        <p:nvSpPr>
          <p:cNvPr id="30" name="Rectangle 25"/>
          <p:cNvSpPr>
            <a:spLocks noChangeArrowheads="1"/>
          </p:cNvSpPr>
          <p:nvPr/>
        </p:nvSpPr>
        <p:spPr bwMode="auto">
          <a:xfrm>
            <a:off x="5052953" y="5917080"/>
            <a:ext cx="95739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lang="en-US" sz="1688" dirty="0">
                <a:solidFill>
                  <a:srgbClr val="C00000"/>
                </a:solidFill>
                <a:latin typeface="Whitney-Book" pitchFamily="50" charset="0"/>
                <a:cs typeface="Whitney-Book" pitchFamily="50" charset="0"/>
              </a:rPr>
              <a:t>D</a:t>
            </a:r>
            <a:r>
              <a:rPr kumimoji="0" lang="en-US" sz="1688" b="0" i="0" u="none" strike="noStrike" kern="1200" cap="none" spc="0" normalizeH="0" baseline="0" noProof="0" dirty="0" err="1">
                <a:ln>
                  <a:noFill/>
                </a:ln>
                <a:solidFill>
                  <a:srgbClr val="C00000"/>
                </a:solidFill>
                <a:effectLst/>
                <a:uLnTx/>
                <a:uFillTx/>
                <a:latin typeface="Whitney-Book" pitchFamily="50" charset="0"/>
                <a:ea typeface="+mn-ea"/>
                <a:cs typeface="Whitney-Book" pitchFamily="50" charset="0"/>
              </a:rPr>
              <a:t>emand</a:t>
            </a:r>
            <a:endParaRPr kumimoji="0" lang="en-US" sz="1688" b="0" i="0"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endParaRPr>
          </a:p>
        </p:txBody>
      </p:sp>
      <p:sp>
        <p:nvSpPr>
          <p:cNvPr id="31" name="Rectangle 26"/>
          <p:cNvSpPr>
            <a:spLocks noChangeArrowheads="1"/>
          </p:cNvSpPr>
          <p:nvPr/>
        </p:nvSpPr>
        <p:spPr bwMode="auto">
          <a:xfrm>
            <a:off x="550891" y="1608144"/>
            <a:ext cx="964855" cy="352924"/>
          </a:xfrm>
          <a:prstGeom prst="rect">
            <a:avLst/>
          </a:prstGeom>
          <a:noFill/>
          <a:ln w="9525">
            <a:noFill/>
            <a:miter lim="800000"/>
            <a:headEnd/>
            <a:tailEnd/>
          </a:ln>
          <a:effectLst/>
        </p:spPr>
        <p:txBody>
          <a:bodyPr wrap="squar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P/MPV</a:t>
            </a:r>
          </a:p>
        </p:txBody>
      </p:sp>
      <p:grpSp>
        <p:nvGrpSpPr>
          <p:cNvPr id="32" name="Group 31"/>
          <p:cNvGrpSpPr/>
          <p:nvPr/>
        </p:nvGrpSpPr>
        <p:grpSpPr>
          <a:xfrm>
            <a:off x="569867" y="4192291"/>
            <a:ext cx="4020061" cy="2141389"/>
            <a:chOff x="1169988" y="4472249"/>
            <a:chExt cx="4288064" cy="2284149"/>
          </a:xfrm>
        </p:grpSpPr>
        <p:grpSp>
          <p:nvGrpSpPr>
            <p:cNvPr id="33" name="Group 17"/>
            <p:cNvGrpSpPr>
              <a:grpSpLocks/>
            </p:cNvGrpSpPr>
            <p:nvPr/>
          </p:nvGrpSpPr>
          <p:grpSpPr bwMode="auto">
            <a:xfrm>
              <a:off x="1169988" y="5140324"/>
              <a:ext cx="2976563" cy="1616074"/>
              <a:chOff x="737" y="3238"/>
              <a:chExt cx="1875" cy="1018"/>
            </a:xfrm>
          </p:grpSpPr>
          <p:sp>
            <p:nvSpPr>
              <p:cNvPr id="35" name="Rectangle 18"/>
              <p:cNvSpPr>
                <a:spLocks noChangeArrowheads="1"/>
              </p:cNvSpPr>
              <p:nvPr/>
            </p:nvSpPr>
            <p:spPr bwMode="auto">
              <a:xfrm>
                <a:off x="2010" y="3330"/>
                <a:ext cx="602" cy="926"/>
              </a:xfrm>
              <a:prstGeom prst="rect">
                <a:avLst/>
              </a:prstGeom>
              <a:solidFill>
                <a:srgbClr val="FAFD00"/>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36" name="Rectangle 19"/>
              <p:cNvSpPr>
                <a:spLocks noChangeArrowheads="1"/>
              </p:cNvSpPr>
              <p:nvPr/>
            </p:nvSpPr>
            <p:spPr bwMode="auto">
              <a:xfrm>
                <a:off x="2345" y="3317"/>
                <a:ext cx="117"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37" name="Rectangle 20"/>
              <p:cNvSpPr>
                <a:spLocks noChangeArrowheads="1"/>
              </p:cNvSpPr>
              <p:nvPr/>
            </p:nvSpPr>
            <p:spPr bwMode="auto">
              <a:xfrm>
                <a:off x="737" y="3238"/>
                <a:ext cx="252" cy="233"/>
              </a:xfrm>
              <a:prstGeom prst="rect">
                <a:avLst/>
              </a:prstGeom>
              <a:noFill/>
              <a:ln w="9525">
                <a:noFill/>
                <a:miter lim="800000"/>
                <a:headEnd/>
                <a:tailEnd/>
              </a:ln>
              <a:effectLst/>
            </p:spPr>
            <p:txBody>
              <a:bodyPr wrap="squar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4</a:t>
                </a:r>
              </a:p>
            </p:txBody>
          </p:sp>
        </p:grpSp>
        <p:sp>
          <p:nvSpPr>
            <p:cNvPr id="34" name="Text Box 42"/>
            <p:cNvSpPr txBox="1">
              <a:spLocks noChangeArrowheads="1"/>
            </p:cNvSpPr>
            <p:nvPr/>
          </p:nvSpPr>
          <p:spPr bwMode="auto">
            <a:xfrm>
              <a:off x="3324452" y="4472249"/>
              <a:ext cx="2133600" cy="375556"/>
            </a:xfrm>
            <a:prstGeom prst="rect">
              <a:avLst/>
            </a:prstGeom>
            <a:noFill/>
            <a:ln w="12700">
              <a:noFill/>
              <a:miter lim="800000"/>
              <a:headEnd type="none" w="sm" len="sm"/>
              <a:tailEnd type="none" w="sm" len="sm"/>
            </a:ln>
            <a:effec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4</a:t>
              </a:r>
            </a:p>
          </p:txBody>
        </p:sp>
      </p:grpSp>
      <p:sp>
        <p:nvSpPr>
          <p:cNvPr id="2" name="Slide Number Placeholder 1">
            <a:extLst>
              <a:ext uri="{FF2B5EF4-FFF2-40B4-BE49-F238E27FC236}">
                <a16:creationId xmlns:a16="http://schemas.microsoft.com/office/drawing/2014/main" id="{B7E30FFA-213C-ED49-B585-283822FA9CA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 name="Straight Connector 3">
            <a:extLst>
              <a:ext uri="{FF2B5EF4-FFF2-40B4-BE49-F238E27FC236}">
                <a16:creationId xmlns:a16="http://schemas.microsoft.com/office/drawing/2014/main" id="{5DB17963-918E-4811-AC09-D4DBF868BF97}"/>
              </a:ext>
            </a:extLst>
          </p:cNvPr>
          <p:cNvCxnSpPr>
            <a:cxnSpLocks/>
          </p:cNvCxnSpPr>
          <p:nvPr/>
        </p:nvCxnSpPr>
        <p:spPr>
          <a:xfrm>
            <a:off x="961656" y="3223476"/>
            <a:ext cx="4222649" cy="308832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E09D64DA-4BA7-4EEB-BB22-93DF72702621}"/>
              </a:ext>
            </a:extLst>
          </p:cNvPr>
          <p:cNvPicPr>
            <a:picLocks noChangeAspect="1"/>
          </p:cNvPicPr>
          <p:nvPr/>
        </p:nvPicPr>
        <p:blipFill>
          <a:blip r:embed="rId4"/>
          <a:stretch>
            <a:fillRect/>
          </a:stretch>
        </p:blipFill>
        <p:spPr>
          <a:xfrm>
            <a:off x="2028517" y="1018562"/>
            <a:ext cx="4234327" cy="2382649"/>
          </a:xfrm>
          <a:prstGeom prst="rect">
            <a:avLst/>
          </a:prstGeom>
        </p:spPr>
      </p:pic>
    </p:spTree>
    <p:custDataLst>
      <p:tags r:id="rId1"/>
    </p:custDataLst>
    <p:extLst>
      <p:ext uri="{BB962C8B-B14F-4D97-AF65-F5344CB8AC3E}">
        <p14:creationId xmlns:p14="http://schemas.microsoft.com/office/powerpoint/2010/main" val="235957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2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500063" y="285750"/>
            <a:ext cx="7771805" cy="729258"/>
          </a:xfrm>
        </p:spPr>
        <p:txBody>
          <a:bodyPr/>
          <a:lstStyle/>
          <a:p>
            <a:r>
              <a:rPr lang="en-US" dirty="0"/>
              <a:t>Versioning: dolls</a:t>
            </a:r>
          </a:p>
        </p:txBody>
      </p:sp>
      <p:sp>
        <p:nvSpPr>
          <p:cNvPr id="5" name="Slide Number Placeholder 4"/>
          <p:cNvSpPr>
            <a:spLocks noGrp="1"/>
          </p:cNvSpPr>
          <p:nvPr>
            <p:ph type="sldNum" sz="quarter" idx="10"/>
          </p:nvPr>
        </p:nvSpPr>
        <p:spPr/>
        <p:txBody>
          <a:bodyPr/>
          <a:lstStyle/>
          <a:p>
            <a:fld id="{DBC38028-5B1C-49D3-BF22-2CE9385E6DA2}" type="slidenum">
              <a:rPr lang="en-US" smtClean="0"/>
              <a:pPr/>
              <a:t>23</a:t>
            </a:fld>
            <a:endParaRPr lang="en-US" dirty="0"/>
          </a:p>
        </p:txBody>
      </p:sp>
      <p:pic>
        <p:nvPicPr>
          <p:cNvPr id="7" name="Picture 6"/>
          <p:cNvPicPr>
            <a:picLocks noChangeAspect="1"/>
          </p:cNvPicPr>
          <p:nvPr/>
        </p:nvPicPr>
        <p:blipFill>
          <a:blip r:embed="rId4"/>
          <a:stretch>
            <a:fillRect/>
          </a:stretch>
        </p:blipFill>
        <p:spPr>
          <a:xfrm>
            <a:off x="285750" y="1785938"/>
            <a:ext cx="8557162" cy="3158112"/>
          </a:xfrm>
          <a:prstGeom prst="rect">
            <a:avLst/>
          </a:prstGeom>
        </p:spPr>
      </p:pic>
      <p:pic>
        <p:nvPicPr>
          <p:cNvPr id="8" name="Picture 7"/>
          <p:cNvPicPr>
            <a:picLocks noChangeAspect="1"/>
          </p:cNvPicPr>
          <p:nvPr/>
        </p:nvPicPr>
        <p:blipFill>
          <a:blip r:embed="rId5"/>
          <a:stretch>
            <a:fillRect/>
          </a:stretch>
        </p:blipFill>
        <p:spPr>
          <a:xfrm>
            <a:off x="1264830" y="5097064"/>
            <a:ext cx="830461" cy="794742"/>
          </a:xfrm>
          <a:prstGeom prst="rect">
            <a:avLst/>
          </a:prstGeom>
        </p:spPr>
      </p:pic>
      <p:pic>
        <p:nvPicPr>
          <p:cNvPr id="9" name="Picture 8"/>
          <p:cNvPicPr>
            <a:picLocks noChangeAspect="1"/>
          </p:cNvPicPr>
          <p:nvPr/>
        </p:nvPicPr>
        <p:blipFill>
          <a:blip r:embed="rId6"/>
          <a:stretch>
            <a:fillRect/>
          </a:stretch>
        </p:blipFill>
        <p:spPr>
          <a:xfrm>
            <a:off x="4008274" y="5097064"/>
            <a:ext cx="1214438" cy="812602"/>
          </a:xfrm>
          <a:prstGeom prst="rect">
            <a:avLst/>
          </a:prstGeom>
        </p:spPr>
      </p:pic>
      <p:pic>
        <p:nvPicPr>
          <p:cNvPr id="10" name="Picture 9"/>
          <p:cNvPicPr>
            <a:picLocks noChangeAspect="1"/>
          </p:cNvPicPr>
          <p:nvPr/>
        </p:nvPicPr>
        <p:blipFill>
          <a:blip r:embed="rId7"/>
          <a:stretch>
            <a:fillRect/>
          </a:stretch>
        </p:blipFill>
        <p:spPr>
          <a:xfrm>
            <a:off x="7086041" y="5110270"/>
            <a:ext cx="964406" cy="776883"/>
          </a:xfrm>
          <a:prstGeom prst="rect">
            <a:avLst/>
          </a:prstGeom>
        </p:spPr>
      </p:pic>
      <p:sp>
        <p:nvSpPr>
          <p:cNvPr id="11" name="TextBox 10"/>
          <p:cNvSpPr txBox="1"/>
          <p:nvPr/>
        </p:nvSpPr>
        <p:spPr>
          <a:xfrm>
            <a:off x="1000125" y="5018054"/>
            <a:ext cx="7315981" cy="352084"/>
          </a:xfrm>
          <a:prstGeom prst="rect">
            <a:avLst/>
          </a:prstGeom>
          <a:solidFill>
            <a:schemeClr val="bg1"/>
          </a:solidFill>
          <a:ln>
            <a:noFill/>
          </a:ln>
        </p:spPr>
        <p:txBody>
          <a:bodyPr wrap="square" rtlCol="0">
            <a:spAutoFit/>
          </a:bodyPr>
          <a:lstStyle/>
          <a:p>
            <a:endParaRPr lang="en-US" sz="1688" dirty="0">
              <a:solidFill>
                <a:schemeClr val="tx2">
                  <a:lumMod val="75000"/>
                </a:schemeClr>
              </a:solidFill>
            </a:endParaRPr>
          </a:p>
        </p:txBody>
      </p:sp>
    </p:spTree>
    <p:custDataLst>
      <p:tags r:id="rId1"/>
    </p:custDataLst>
    <p:extLst>
      <p:ext uri="{BB962C8B-B14F-4D97-AF65-F5344CB8AC3E}">
        <p14:creationId xmlns:p14="http://schemas.microsoft.com/office/powerpoint/2010/main" val="3347773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AC9FB78-E42F-4BA8-BA8A-9B177E123B2F}"/>
              </a:ext>
            </a:extLst>
          </p:cNvPr>
          <p:cNvPicPr>
            <a:picLocks noChangeAspect="1"/>
          </p:cNvPicPr>
          <p:nvPr/>
        </p:nvPicPr>
        <p:blipFill>
          <a:blip r:embed="rId3"/>
          <a:stretch>
            <a:fillRect/>
          </a:stretch>
        </p:blipFill>
        <p:spPr>
          <a:xfrm>
            <a:off x="96611" y="2854849"/>
            <a:ext cx="5314950" cy="3857625"/>
          </a:xfrm>
          <a:prstGeom prst="rect">
            <a:avLst/>
          </a:prstGeom>
        </p:spPr>
      </p:pic>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Airline Response to low-Cost Carriers</a:t>
            </a:r>
          </a:p>
        </p:txBody>
      </p:sp>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4"/>
            <a:ext cx="8229600" cy="1143001"/>
          </a:xfrm>
        </p:spPr>
        <p:txBody>
          <a:bodyPr>
            <a:normAutofit/>
          </a:bodyPr>
          <a:lstStyle/>
          <a:p>
            <a:r>
              <a:rPr lang="en-US" sz="3100" dirty="0"/>
              <a:t>How should United respond to Southwest starting to offer flights on one of its routes?</a:t>
            </a:r>
          </a:p>
        </p:txBody>
      </p:sp>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spTree>
    <p:extLst>
      <p:ext uri="{BB962C8B-B14F-4D97-AF65-F5344CB8AC3E}">
        <p14:creationId xmlns:p14="http://schemas.microsoft.com/office/powerpoint/2010/main" val="346657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28A73D-DB3A-4850-A5B9-0501579F0677}"/>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167951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132523" y="127215"/>
            <a:ext cx="8724372" cy="1143000"/>
          </a:xfrm>
        </p:spPr>
        <p:txBody>
          <a:bodyPr>
            <a:normAutofit fontScale="90000"/>
          </a:bodyPr>
          <a:lstStyle/>
          <a:p>
            <a:pPr algn="ctr"/>
            <a:r>
              <a:rPr lang="en-US" sz="3750" dirty="0">
                <a:latin typeface="Whitney-Medium" pitchFamily="50" charset="0"/>
                <a:cs typeface="Whitney-Medium" pitchFamily="50" charset="0"/>
              </a:rPr>
              <a:t>Versioning in Response to Low-Price Competition</a:t>
            </a:r>
          </a:p>
        </p:txBody>
      </p:sp>
      <p:sp>
        <p:nvSpPr>
          <p:cNvPr id="2" name="Content Placeholder 1"/>
          <p:cNvSpPr>
            <a:spLocks noGrp="1"/>
          </p:cNvSpPr>
          <p:nvPr>
            <p:ph idx="1"/>
          </p:nvPr>
        </p:nvSpPr>
        <p:spPr>
          <a:xfrm>
            <a:off x="457200" y="1651518"/>
            <a:ext cx="8229600" cy="4637314"/>
          </a:xfrm>
        </p:spPr>
        <p:txBody>
          <a:bodyPr/>
          <a:lstStyle/>
          <a:p>
            <a:r>
              <a:rPr lang="en-US" dirty="0"/>
              <a:t>Response by major US airlines to low-cost carriers (Southwest, Spirit):</a:t>
            </a:r>
          </a:p>
          <a:p>
            <a:endParaRPr lang="en-US" dirty="0"/>
          </a:p>
          <a:p>
            <a:endParaRPr lang="en-US" dirty="0"/>
          </a:p>
          <a:p>
            <a:pPr lvl="1">
              <a:spcBef>
                <a:spcPts val="0"/>
              </a:spcBef>
            </a:pPr>
            <a:r>
              <a:rPr lang="en-US" sz="2000" dirty="0"/>
              <a:t>No “free” carry-on bag</a:t>
            </a:r>
          </a:p>
          <a:p>
            <a:pPr lvl="1">
              <a:spcBef>
                <a:spcPts val="0"/>
              </a:spcBef>
            </a:pPr>
            <a:r>
              <a:rPr lang="en-US" sz="2000" dirty="0"/>
              <a:t>No advance seat assignments</a:t>
            </a:r>
          </a:p>
          <a:p>
            <a:pPr lvl="1">
              <a:spcBef>
                <a:spcPts val="0"/>
              </a:spcBef>
            </a:pPr>
            <a:r>
              <a:rPr lang="en-US" sz="2000" dirty="0"/>
              <a:t>Don’t collect miles…</a:t>
            </a:r>
          </a:p>
          <a:p>
            <a:pPr lvl="8">
              <a:spcBef>
                <a:spcPts val="0"/>
              </a:spcBef>
            </a:pPr>
            <a:endParaRPr lang="en-US" sz="1400" dirty="0"/>
          </a:p>
          <a:p>
            <a:pPr>
              <a:spcBef>
                <a:spcPts val="0"/>
              </a:spcBef>
            </a:pPr>
            <a:endParaRPr lang="en-US" sz="2200" dirty="0"/>
          </a:p>
          <a:p>
            <a:pPr>
              <a:spcBef>
                <a:spcPts val="0"/>
              </a:spcBef>
            </a:pPr>
            <a:r>
              <a:rPr lang="en-US" sz="2200" dirty="0"/>
              <a:t>Compete with low-cost competitors by offering a low-cost / low-quality version of your own product</a:t>
            </a:r>
          </a:p>
          <a:p>
            <a:pPr>
              <a:spcBef>
                <a:spcPts val="600"/>
              </a:spcBef>
            </a:pPr>
            <a:r>
              <a:rPr lang="en-US" sz="2200" dirty="0"/>
              <a:t>Not a new strategy. E.g.: Kodak Gold vs. </a:t>
            </a:r>
            <a:r>
              <a:rPr lang="en-US" sz="2200" dirty="0" err="1"/>
              <a:t>FunFilm</a:t>
            </a:r>
            <a:r>
              <a:rPr lang="en-US" sz="2200" dirty="0"/>
              <a:t> in the 1990s</a:t>
            </a:r>
          </a:p>
          <a:p>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5" name="Picture 4">
            <a:hlinkClick r:id="rId3"/>
            <a:extLst>
              <a:ext uri="{FF2B5EF4-FFF2-40B4-BE49-F238E27FC236}">
                <a16:creationId xmlns:a16="http://schemas.microsoft.com/office/drawing/2014/main" id="{B81E7773-AC36-4B2C-A9D1-83E6BFC1CEAD}"/>
              </a:ext>
            </a:extLst>
          </p:cNvPr>
          <p:cNvPicPr>
            <a:picLocks noChangeAspect="1"/>
          </p:cNvPicPr>
          <p:nvPr/>
        </p:nvPicPr>
        <p:blipFill>
          <a:blip r:embed="rId4"/>
          <a:stretch>
            <a:fillRect/>
          </a:stretch>
        </p:blipFill>
        <p:spPr>
          <a:xfrm>
            <a:off x="1228779" y="2647282"/>
            <a:ext cx="6835732" cy="701101"/>
          </a:xfrm>
          <a:prstGeom prst="rect">
            <a:avLst/>
          </a:prstGeom>
        </p:spPr>
      </p:pic>
      <p:sp>
        <p:nvSpPr>
          <p:cNvPr id="9" name="Text Box 11">
            <a:hlinkClick r:id="rId5" action="ppaction://hlinksldjump"/>
            <a:extLst>
              <a:ext uri="{FF2B5EF4-FFF2-40B4-BE49-F238E27FC236}">
                <a16:creationId xmlns:a16="http://schemas.microsoft.com/office/drawing/2014/main" id="{2BFB12FE-FE45-4A3B-BDE2-3C5662D750A0}"/>
              </a:ext>
            </a:extLst>
          </p:cNvPr>
          <p:cNvSpPr txBox="1">
            <a:spLocks noChangeArrowheads="1"/>
          </p:cNvSpPr>
          <p:nvPr/>
        </p:nvSpPr>
        <p:spPr bwMode="auto">
          <a:xfrm>
            <a:off x="6363479" y="4344147"/>
            <a:ext cx="2605678" cy="375481"/>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u="none" strike="noStrike" kern="1200" cap="none" spc="0" normalizeH="0" baseline="0" noProof="0" dirty="0">
                <a:ln>
                  <a:noFill/>
                </a:ln>
                <a:solidFill>
                  <a:srgbClr val="002060"/>
                </a:solidFill>
                <a:effectLst/>
                <a:uLnTx/>
                <a:uFillTx/>
                <a:latin typeface="Whitney Book" pitchFamily="50" charset="0"/>
                <a:ea typeface="+mn-ea"/>
                <a:cs typeface="Whitney Book" pitchFamily="50" charset="0"/>
                <a:hlinkClick r:id="rId6" action="ppaction://hlinksldjump"/>
              </a:rPr>
              <a:t>More seating versions…</a:t>
            </a:r>
            <a:r>
              <a:rPr kumimoji="0" lang="en-US" sz="1800" b="0" u="none" strike="noStrike" kern="1200" cap="none" spc="0" normalizeH="0" baseline="0" noProof="0" dirty="0">
                <a:ln>
                  <a:noFill/>
                </a:ln>
                <a:solidFill>
                  <a:srgbClr val="002060"/>
                </a:solidFill>
                <a:effectLst/>
                <a:uLnTx/>
                <a:uFillTx/>
                <a:latin typeface="Whitney Book" pitchFamily="50" charset="0"/>
                <a:ea typeface="+mn-ea"/>
                <a:cs typeface="Whitney Book" pitchFamily="50" charset="0"/>
              </a:rPr>
              <a:t> </a:t>
            </a:r>
          </a:p>
        </p:txBody>
      </p:sp>
    </p:spTree>
    <p:extLst>
      <p:ext uri="{BB962C8B-B14F-4D97-AF65-F5344CB8AC3E}">
        <p14:creationId xmlns:p14="http://schemas.microsoft.com/office/powerpoint/2010/main" val="3693483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Podcast on Price Discrimination</a:t>
            </a:r>
          </a:p>
        </p:txBody>
      </p:sp>
      <p:sp>
        <p:nvSpPr>
          <p:cNvPr id="7" name="Rectangle 3">
            <a:extLst>
              <a:ext uri="{FF2B5EF4-FFF2-40B4-BE49-F238E27FC236}">
                <a16:creationId xmlns:a16="http://schemas.microsoft.com/office/drawing/2014/main" id="{730F4166-6DF7-4FEC-BFAB-83F042557A9B}"/>
              </a:ext>
            </a:extLst>
          </p:cNvPr>
          <p:cNvSpPr txBox="1">
            <a:spLocks noChangeArrowheads="1"/>
          </p:cNvSpPr>
          <p:nvPr/>
        </p:nvSpPr>
        <p:spPr>
          <a:xfrm>
            <a:off x="396025" y="1513114"/>
            <a:ext cx="8405075" cy="5185820"/>
          </a:xfrm>
          <a:prstGeom prst="rect">
            <a:avLst/>
          </a:prstGeom>
        </p:spPr>
        <p:txBody>
          <a:bodyPr vert="horz" lIns="91440" tIns="45720" rIns="91440" bIns="45720" rtlCol="0">
            <a:normAutofit fontScale="925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200" dirty="0"/>
              <a:t>Historically: Price discrimination by haggling</a:t>
            </a:r>
          </a:p>
          <a:p>
            <a:pPr lvl="1"/>
            <a:r>
              <a:rPr lang="en-US" sz="3000" dirty="0"/>
              <a:t>Can it lead to perfect price discrimination?</a:t>
            </a:r>
          </a:p>
          <a:p>
            <a:pPr lvl="1"/>
            <a:r>
              <a:rPr lang="en-US" sz="3000" dirty="0"/>
              <a:t>What’s the problem with haggling?</a:t>
            </a:r>
          </a:p>
          <a:p>
            <a:r>
              <a:rPr lang="en-US" sz="3200" dirty="0"/>
              <a:t>How does the NYC restaurant try to price discriminate?</a:t>
            </a:r>
          </a:p>
          <a:p>
            <a:pPr lvl="1"/>
            <a:r>
              <a:rPr lang="en-US" sz="3000" dirty="0"/>
              <a:t>Regular price: $18</a:t>
            </a:r>
          </a:p>
          <a:p>
            <a:pPr lvl="1"/>
            <a:r>
              <a:rPr lang="en-US" sz="3000" dirty="0"/>
              <a:t>MC of a </a:t>
            </a:r>
            <a:r>
              <a:rPr lang="en-US" sz="3000" dirty="0" err="1"/>
              <a:t>burger+drinks</a:t>
            </a:r>
            <a:r>
              <a:rPr lang="en-US" sz="3000" dirty="0"/>
              <a:t> is $4.50</a:t>
            </a:r>
          </a:p>
          <a:p>
            <a:pPr lvl="1"/>
            <a:r>
              <a:rPr lang="en-US" sz="3000" dirty="0"/>
              <a:t>How much is the coupon?</a:t>
            </a:r>
          </a:p>
          <a:p>
            <a:pPr lvl="1"/>
            <a:r>
              <a:rPr lang="en-US" sz="3000" dirty="0"/>
              <a:t>Does that make sense?</a:t>
            </a:r>
          </a:p>
          <a:p>
            <a:r>
              <a:rPr lang="en-US" sz="3200" dirty="0"/>
              <a:t>How do coupons relate to price discrimination?</a:t>
            </a:r>
          </a:p>
          <a:p>
            <a:pPr>
              <a:buFont typeface="Lucida Grande"/>
              <a:buNone/>
            </a:pPr>
            <a:endParaRPr lang="en-US" sz="3600" dirty="0"/>
          </a:p>
        </p:txBody>
      </p:sp>
    </p:spTree>
    <p:extLst>
      <p:ext uri="{BB962C8B-B14F-4D97-AF65-F5344CB8AC3E}">
        <p14:creationId xmlns:p14="http://schemas.microsoft.com/office/powerpoint/2010/main" val="242998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dirty="0">
                <a:solidFill>
                  <a:schemeClr val="bg1">
                    <a:lumMod val="65000"/>
                  </a:schemeClr>
                </a:solidFill>
              </a:rPr>
              <a:t>Indirect </a:t>
            </a:r>
            <a:r>
              <a:rPr lang="fr-FR" dirty="0" err="1">
                <a:solidFill>
                  <a:schemeClr val="bg1">
                    <a:lumMod val="65000"/>
                  </a:schemeClr>
                </a:solidFill>
              </a:rPr>
              <a:t>price</a:t>
            </a:r>
            <a:r>
              <a:rPr lang="fr-FR" dirty="0">
                <a:solidFill>
                  <a:schemeClr val="bg1">
                    <a:lumMod val="65000"/>
                  </a:schemeClr>
                </a:solidFill>
              </a:rPr>
              <a:t> discrimination (second </a:t>
            </a:r>
            <a:r>
              <a:rPr lang="fr-FR" dirty="0" err="1">
                <a:solidFill>
                  <a:schemeClr val="bg1">
                    <a:lumMod val="65000"/>
                  </a:schemeClr>
                </a:solidFill>
              </a:rPr>
              <a:t>degree</a:t>
            </a:r>
            <a:r>
              <a:rPr lang="fr-FR" dirty="0">
                <a:solidFill>
                  <a:schemeClr val="bg1">
                    <a:lumMod val="65000"/>
                  </a:schemeClr>
                </a:solidFill>
              </a:rPr>
              <a:t>)</a:t>
            </a:r>
          </a:p>
          <a:p>
            <a:pPr marL="742950" lvl="2" indent="-342900">
              <a:lnSpc>
                <a:spcPct val="120000"/>
              </a:lnSpc>
            </a:pPr>
            <a:r>
              <a:rPr lang="fr-FR" sz="2600" dirty="0">
                <a:solidFill>
                  <a:schemeClr val="bg1">
                    <a:lumMod val="65000"/>
                  </a:schemeClr>
                </a:solidFill>
                <a:latin typeface="Whitney-Book" pitchFamily="50" charset="0"/>
              </a:rPr>
              <a:t>Versioning</a:t>
            </a:r>
          </a:p>
          <a:p>
            <a:pPr lvl="1">
              <a:lnSpc>
                <a:spcPct val="120000"/>
              </a:lnSpc>
              <a:spcBef>
                <a:spcPts val="0"/>
              </a:spcBef>
            </a:pPr>
            <a:r>
              <a:rPr lang="fr-FR" dirty="0">
                <a:solidFill>
                  <a:schemeClr val="bg1">
                    <a:lumMod val="65000"/>
                  </a:schemeClr>
                </a:solidFill>
                <a:latin typeface="Whitney-Book" pitchFamily="50" charset="0"/>
              </a:rPr>
              <a:t>Coupons</a:t>
            </a:r>
          </a:p>
          <a:p>
            <a:pPr>
              <a:lnSpc>
                <a:spcPct val="120000"/>
              </a:lnSpc>
            </a:pPr>
            <a:r>
              <a:rPr lang="fr-FR" b="1" dirty="0"/>
              <a:t>Advanced </a:t>
            </a:r>
            <a:r>
              <a:rPr lang="fr-FR" b="1" dirty="0" err="1"/>
              <a:t>pricing</a:t>
            </a:r>
            <a:r>
              <a:rPr lang="fr-FR" b="1" dirty="0"/>
              <a:t> </a:t>
            </a:r>
            <a:r>
              <a:rPr lang="fr-FR" b="1" dirty="0" err="1"/>
              <a:t>strategies</a:t>
            </a:r>
            <a:endParaRPr lang="fr-FR" b="1" dirty="0"/>
          </a:p>
          <a:p>
            <a:pPr lvl="1">
              <a:lnSpc>
                <a:spcPct val="120000"/>
              </a:lnSpc>
              <a:spcBef>
                <a:spcPts val="0"/>
              </a:spcBef>
            </a:pPr>
            <a:r>
              <a:rPr lang="fr-FR" b="1" dirty="0">
                <a:solidFill>
                  <a:srgbClr val="002060"/>
                </a:solidFill>
                <a:latin typeface="Whitney-Book" pitchFamily="50" charset="0"/>
                <a:cs typeface="Whitney-Book" pitchFamily="50" charset="0"/>
              </a:rPr>
              <a:t>Flat </a:t>
            </a:r>
            <a:r>
              <a:rPr lang="fr-FR" b="1" dirty="0" err="1">
                <a:solidFill>
                  <a:srgbClr val="002060"/>
                </a:solidFill>
                <a:latin typeface="Whitney-Book" pitchFamily="50" charset="0"/>
                <a:cs typeface="Whitney-Book" pitchFamily="50" charset="0"/>
              </a:rPr>
              <a:t>fee</a:t>
            </a:r>
            <a:r>
              <a:rPr lang="fr-FR" b="1" dirty="0">
                <a:solidFill>
                  <a:srgbClr val="002060"/>
                </a:solidFill>
                <a:latin typeface="Whitney-Book" pitchFamily="50" charset="0"/>
                <a:cs typeface="Whitney-Book" pitchFamily="50" charset="0"/>
              </a:rPr>
              <a:t> </a:t>
            </a:r>
            <a:r>
              <a:rPr lang="fr-FR" b="1" dirty="0" err="1">
                <a:solidFill>
                  <a:srgbClr val="002060"/>
                </a:solidFill>
                <a:latin typeface="Whitney-Book" pitchFamily="50" charset="0"/>
                <a:cs typeface="Whitney-Book" pitchFamily="50" charset="0"/>
              </a:rPr>
              <a:t>pricing</a:t>
            </a:r>
            <a:endParaRPr lang="fr-FR" b="1" dirty="0">
              <a:solidFill>
                <a:srgbClr val="002060"/>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99706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noFill/>
          <a:ln/>
        </p:spPr>
        <p:txBody>
          <a:bodyPr vert="horz" lIns="92273" tIns="46136" rIns="92273" bIns="46136" rtlCol="0" anchor="ctr">
            <a:normAutofit/>
          </a:bodyPr>
          <a:lstStyle/>
          <a:p>
            <a:r>
              <a:rPr lang="en-US" dirty="0"/>
              <a:t>Context</a:t>
            </a:r>
          </a:p>
        </p:txBody>
      </p:sp>
      <p:sp>
        <p:nvSpPr>
          <p:cNvPr id="238595" name="Rectangle 3"/>
          <p:cNvSpPr>
            <a:spLocks noGrp="1" noChangeArrowheads="1"/>
          </p:cNvSpPr>
          <p:nvPr>
            <p:ph type="body" idx="1"/>
          </p:nvPr>
        </p:nvSpPr>
        <p:spPr>
          <a:xfrm>
            <a:off x="571500" y="1270216"/>
            <a:ext cx="8339587" cy="6225288"/>
          </a:xfrm>
          <a:noFill/>
          <a:ln/>
        </p:spPr>
        <p:txBody>
          <a:bodyPr vert="horz" lIns="92273" tIns="46136" rIns="92273" bIns="46136" rtlCol="0">
            <a:normAutofit/>
          </a:bodyPr>
          <a:lstStyle/>
          <a:p>
            <a:pPr>
              <a:spcBef>
                <a:spcPts val="0"/>
              </a:spcBef>
              <a:spcAft>
                <a:spcPts val="563"/>
              </a:spcAft>
            </a:pPr>
            <a:r>
              <a:rPr lang="fr-FR" sz="2625" dirty="0"/>
              <a:t>So far: </a:t>
            </a:r>
            <a:r>
              <a:rPr lang="fr-FR" sz="2625" dirty="0" err="1"/>
              <a:t>We</a:t>
            </a:r>
            <a:r>
              <a:rPr lang="fr-FR" sz="2625" dirty="0"/>
              <a:t> </a:t>
            </a:r>
            <a:r>
              <a:rPr lang="fr-FR" sz="2625" dirty="0" err="1"/>
              <a:t>had</a:t>
            </a:r>
            <a:r>
              <a:rPr lang="fr-FR" sz="2625" dirty="0"/>
              <a:t> </a:t>
            </a:r>
            <a:r>
              <a:rPr lang="fr-FR" sz="2625" u="sng" dirty="0" err="1"/>
              <a:t>different</a:t>
            </a:r>
            <a:r>
              <a:rPr lang="fr-FR" sz="2625" dirty="0"/>
              <a:t> </a:t>
            </a:r>
            <a:r>
              <a:rPr lang="fr-FR" sz="2625" dirty="0" err="1"/>
              <a:t>consumers</a:t>
            </a:r>
            <a:r>
              <a:rPr lang="fr-FR" sz="2625" dirty="0"/>
              <a:t> </a:t>
            </a:r>
            <a:r>
              <a:rPr lang="fr-FR" sz="2625" dirty="0" err="1"/>
              <a:t>with</a:t>
            </a:r>
            <a:r>
              <a:rPr lang="fr-FR" sz="2625" dirty="0"/>
              <a:t> </a:t>
            </a:r>
            <a:r>
              <a:rPr lang="fr-FR" sz="2625" dirty="0" err="1"/>
              <a:t>different</a:t>
            </a:r>
            <a:r>
              <a:rPr lang="fr-FR" sz="2625" dirty="0"/>
              <a:t> </a:t>
            </a:r>
            <a:r>
              <a:rPr lang="fr-FR" sz="2625" dirty="0" err="1"/>
              <a:t>demand</a:t>
            </a:r>
            <a:r>
              <a:rPr lang="fr-FR" sz="2625" dirty="0"/>
              <a:t> </a:t>
            </a:r>
            <a:r>
              <a:rPr lang="fr-FR" sz="2625" dirty="0" err="1"/>
              <a:t>curves</a:t>
            </a:r>
            <a:r>
              <a:rPr lang="fr-FR" sz="2625" dirty="0"/>
              <a:t> (marginal </a:t>
            </a:r>
            <a:r>
              <a:rPr lang="fr-FR" sz="2625" dirty="0" err="1"/>
              <a:t>personal</a:t>
            </a:r>
            <a:r>
              <a:rPr lang="fr-FR" sz="2625" dirty="0"/>
              <a:t> value)</a:t>
            </a:r>
          </a:p>
          <a:p>
            <a:pPr lvl="1">
              <a:spcBef>
                <a:spcPts val="0"/>
              </a:spcBef>
              <a:spcAft>
                <a:spcPts val="563"/>
              </a:spcAft>
            </a:pPr>
            <a:r>
              <a:rPr lang="fr-FR" sz="2425" dirty="0" err="1"/>
              <a:t>Extract</a:t>
            </a:r>
            <a:r>
              <a:rPr lang="fr-FR" sz="2425" dirty="0"/>
              <a:t> surplus via direct/indirect </a:t>
            </a:r>
            <a:r>
              <a:rPr lang="fr-FR" sz="2425" dirty="0" err="1"/>
              <a:t>price</a:t>
            </a:r>
            <a:r>
              <a:rPr lang="fr-FR" sz="2425" dirty="0"/>
              <a:t> discrimination</a:t>
            </a:r>
          </a:p>
          <a:p>
            <a:pPr>
              <a:spcBef>
                <a:spcPts val="0"/>
              </a:spcBef>
              <a:spcAft>
                <a:spcPts val="563"/>
              </a:spcAft>
            </a:pPr>
            <a:endParaRPr lang="fr-FR" sz="2625" dirty="0"/>
          </a:p>
          <a:p>
            <a:pPr>
              <a:spcBef>
                <a:spcPts val="0"/>
              </a:spcBef>
              <a:spcAft>
                <a:spcPts val="563"/>
              </a:spcAft>
            </a:pPr>
            <a:endParaRPr lang="fr-FR" sz="2625" dirty="0"/>
          </a:p>
          <a:p>
            <a:pPr>
              <a:spcBef>
                <a:spcPts val="0"/>
              </a:spcBef>
              <a:spcAft>
                <a:spcPts val="563"/>
              </a:spcAft>
            </a:pPr>
            <a:r>
              <a:rPr lang="fr-FR" sz="2625" dirty="0" err="1"/>
              <a:t>Now</a:t>
            </a:r>
            <a:r>
              <a:rPr lang="fr-FR" sz="2625" dirty="0"/>
              <a:t>: </a:t>
            </a:r>
            <a:r>
              <a:rPr lang="fr-FR" sz="2625" dirty="0" err="1"/>
              <a:t>Consumers</a:t>
            </a:r>
            <a:r>
              <a:rPr lang="fr-FR" sz="2625" dirty="0"/>
              <a:t> have </a:t>
            </a:r>
            <a:r>
              <a:rPr lang="fr-FR" sz="2625" u="sng" dirty="0" err="1"/>
              <a:t>identical</a:t>
            </a:r>
            <a:r>
              <a:rPr lang="fr-FR" sz="2625" dirty="0"/>
              <a:t> </a:t>
            </a:r>
            <a:r>
              <a:rPr lang="fr-FR" sz="2625" dirty="0" err="1"/>
              <a:t>demand</a:t>
            </a:r>
            <a:r>
              <a:rPr lang="fr-FR" sz="2625" dirty="0"/>
              <a:t> </a:t>
            </a:r>
            <a:r>
              <a:rPr lang="fr-FR" sz="2625" dirty="0" err="1"/>
              <a:t>curves</a:t>
            </a:r>
            <a:r>
              <a:rPr lang="fr-FR" sz="2625" dirty="0"/>
              <a:t>, but </a:t>
            </a:r>
            <a:r>
              <a:rPr lang="fr-FR" sz="2625" dirty="0" err="1"/>
              <a:t>each</a:t>
            </a:r>
            <a:r>
              <a:rPr lang="fr-FR" sz="2625" dirty="0"/>
              <a:t> of </a:t>
            </a:r>
            <a:r>
              <a:rPr lang="fr-FR" sz="2625" dirty="0" err="1"/>
              <a:t>them</a:t>
            </a:r>
            <a:r>
              <a:rPr lang="fr-FR" sz="2625" dirty="0"/>
              <a:t> </a:t>
            </a:r>
            <a:r>
              <a:rPr lang="fr-FR" sz="2625" dirty="0" err="1"/>
              <a:t>purchases</a:t>
            </a:r>
            <a:r>
              <a:rPr lang="fr-FR" sz="2625" dirty="0"/>
              <a:t> </a:t>
            </a:r>
            <a:r>
              <a:rPr lang="en-US" sz="2625" dirty="0">
                <a:solidFill>
                  <a:srgbClr val="C00000"/>
                </a:solidFill>
              </a:rPr>
              <a:t>multiple units</a:t>
            </a:r>
            <a:r>
              <a:rPr lang="en-US" sz="2625" dirty="0"/>
              <a:t> of the product</a:t>
            </a:r>
          </a:p>
          <a:p>
            <a:pPr lvl="1">
              <a:spcBef>
                <a:spcPts val="0"/>
              </a:spcBef>
              <a:spcAft>
                <a:spcPts val="563"/>
              </a:spcAft>
            </a:pPr>
            <a:r>
              <a:rPr lang="en-US" sz="2425" dirty="0"/>
              <a:t>We will focus on a “representative consumer”</a:t>
            </a:r>
          </a:p>
          <a:p>
            <a:pPr lvl="1">
              <a:lnSpc>
                <a:spcPct val="90000"/>
              </a:lnSpc>
              <a:buFontTx/>
              <a:buNone/>
            </a:pPr>
            <a:endParaRPr lang="en-US" sz="2531" dirty="0"/>
          </a:p>
          <a:p>
            <a:pPr lvl="1">
              <a:lnSpc>
                <a:spcPct val="90000"/>
              </a:lnSpc>
              <a:buFontTx/>
              <a:buNone/>
            </a:pPr>
            <a:r>
              <a:rPr lang="en-US" sz="2531" dirty="0"/>
              <a:t>					</a:t>
            </a:r>
            <a:endParaRPr lang="en-US" sz="1406" dirty="0"/>
          </a:p>
        </p:txBody>
      </p:sp>
      <p:sp>
        <p:nvSpPr>
          <p:cNvPr id="4" name="Slide Number Placeholder 3"/>
          <p:cNvSpPr>
            <a:spLocks noGrp="1"/>
          </p:cNvSpPr>
          <p:nvPr>
            <p:ph type="sldNum" sz="quarter" idx="10"/>
          </p:nvPr>
        </p:nvSpPr>
        <p:spPr/>
        <p:txBody>
          <a:bodyPr/>
          <a:lstStyle/>
          <a:p>
            <a:fld id="{DBC38028-5B1C-49D3-BF22-2CE9385E6DA2}" type="slidenum">
              <a:rPr lang="en-US" smtClean="0"/>
              <a:pPr/>
              <a:t>29</a:t>
            </a:fld>
            <a:endParaRPr lang="en-US" dirty="0"/>
          </a:p>
        </p:txBody>
      </p:sp>
    </p:spTree>
    <p:custDataLst>
      <p:tags r:id="rId1"/>
    </p:custDataLst>
    <p:extLst>
      <p:ext uri="{BB962C8B-B14F-4D97-AF65-F5344CB8AC3E}">
        <p14:creationId xmlns:p14="http://schemas.microsoft.com/office/powerpoint/2010/main" val="1367425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59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8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noFill/>
          <a:ln/>
        </p:spPr>
        <p:txBody>
          <a:bodyPr vert="horz" lIns="92273" tIns="46136" rIns="92273" bIns="46136" rtlCol="0" anchor="ctr">
            <a:normAutofit/>
          </a:bodyPr>
          <a:lstStyle/>
          <a:p>
            <a:r>
              <a:rPr lang="en-US" dirty="0"/>
              <a:t>Advanced Pricing</a:t>
            </a:r>
          </a:p>
        </p:txBody>
      </p:sp>
      <p:sp>
        <p:nvSpPr>
          <p:cNvPr id="238595" name="Rectangle 3"/>
          <p:cNvSpPr>
            <a:spLocks noGrp="1" noChangeArrowheads="1"/>
          </p:cNvSpPr>
          <p:nvPr>
            <p:ph type="body" idx="1"/>
          </p:nvPr>
        </p:nvSpPr>
        <p:spPr>
          <a:xfrm>
            <a:off x="571500" y="1270216"/>
            <a:ext cx="8339587" cy="4681548"/>
          </a:xfrm>
          <a:noFill/>
          <a:ln/>
        </p:spPr>
        <p:txBody>
          <a:bodyPr vert="horz" lIns="92273" tIns="46136" rIns="92273" bIns="46136" rtlCol="0">
            <a:normAutofit/>
          </a:bodyPr>
          <a:lstStyle/>
          <a:p>
            <a:pPr>
              <a:spcBef>
                <a:spcPts val="0"/>
              </a:spcBef>
              <a:spcAft>
                <a:spcPts val="563"/>
              </a:spcAft>
            </a:pPr>
            <a:r>
              <a:rPr lang="fr-FR" sz="2625" dirty="0"/>
              <a:t>How to </a:t>
            </a:r>
            <a:r>
              <a:rPr lang="fr-FR" sz="2625" dirty="0" err="1"/>
              <a:t>extract</a:t>
            </a:r>
            <a:r>
              <a:rPr lang="fr-FR" sz="2625" dirty="0"/>
              <a:t> consumer surplus </a:t>
            </a:r>
            <a:r>
              <a:rPr lang="fr-FR" sz="2625" dirty="0" err="1"/>
              <a:t>from</a:t>
            </a:r>
            <a:r>
              <a:rPr lang="fr-FR" sz="2625" dirty="0"/>
              <a:t> </a:t>
            </a:r>
            <a:r>
              <a:rPr lang="fr-FR" sz="2625" dirty="0">
                <a:solidFill>
                  <a:srgbClr val="C00000"/>
                </a:solidFill>
              </a:rPr>
              <a:t>a </a:t>
            </a:r>
            <a:r>
              <a:rPr lang="fr-FR" sz="2625" dirty="0" err="1">
                <a:solidFill>
                  <a:srgbClr val="C00000"/>
                </a:solidFill>
              </a:rPr>
              <a:t>given</a:t>
            </a:r>
            <a:r>
              <a:rPr lang="fr-FR" sz="2625" dirty="0">
                <a:solidFill>
                  <a:srgbClr val="C00000"/>
                </a:solidFill>
              </a:rPr>
              <a:t> consumer</a:t>
            </a:r>
            <a:r>
              <a:rPr lang="fr-FR" sz="2625" dirty="0"/>
              <a:t> </a:t>
            </a:r>
            <a:r>
              <a:rPr lang="fr-FR" sz="2625" dirty="0" err="1"/>
              <a:t>who</a:t>
            </a:r>
            <a:r>
              <a:rPr lang="fr-FR" sz="2625" dirty="0"/>
              <a:t> </a:t>
            </a:r>
            <a:r>
              <a:rPr lang="en-US" sz="2625" dirty="0"/>
              <a:t>is prepared to </a:t>
            </a:r>
            <a:r>
              <a:rPr lang="en-US" sz="2625" dirty="0">
                <a:solidFill>
                  <a:srgbClr val="C00000"/>
                </a:solidFill>
              </a:rPr>
              <a:t>buy multiple units</a:t>
            </a:r>
          </a:p>
          <a:p>
            <a:pPr>
              <a:lnSpc>
                <a:spcPct val="150000"/>
              </a:lnSpc>
              <a:spcBef>
                <a:spcPts val="0"/>
              </a:spcBef>
              <a:spcAft>
                <a:spcPts val="563"/>
              </a:spcAft>
            </a:pPr>
            <a:r>
              <a:rPr lang="en-US" sz="2625" dirty="0"/>
              <a:t>Diminishing marginal personal value comes into play</a:t>
            </a:r>
          </a:p>
          <a:p>
            <a:pPr>
              <a:lnSpc>
                <a:spcPct val="150000"/>
              </a:lnSpc>
              <a:spcBef>
                <a:spcPts val="0"/>
              </a:spcBef>
              <a:spcAft>
                <a:spcPts val="563"/>
              </a:spcAft>
            </a:pPr>
            <a:r>
              <a:rPr lang="en-US" sz="2625" dirty="0"/>
              <a:t>We will study three variants of advanced pricing</a:t>
            </a:r>
          </a:p>
          <a:p>
            <a:pPr lvl="1">
              <a:lnSpc>
                <a:spcPct val="150000"/>
              </a:lnSpc>
              <a:spcBef>
                <a:spcPts val="0"/>
              </a:spcBef>
              <a:spcAft>
                <a:spcPts val="563"/>
              </a:spcAft>
            </a:pPr>
            <a:r>
              <a:rPr lang="en-US" sz="2625" dirty="0"/>
              <a:t>All-or-none offers (flat fee)</a:t>
            </a:r>
          </a:p>
          <a:p>
            <a:pPr lvl="1">
              <a:lnSpc>
                <a:spcPct val="150000"/>
              </a:lnSpc>
              <a:spcBef>
                <a:spcPts val="0"/>
              </a:spcBef>
              <a:spcAft>
                <a:spcPts val="563"/>
              </a:spcAft>
            </a:pPr>
            <a:r>
              <a:rPr lang="en-US" sz="2625" dirty="0"/>
              <a:t>Two-part tariffs (flat fee + usage fee)</a:t>
            </a:r>
          </a:p>
          <a:p>
            <a:pPr lvl="1">
              <a:lnSpc>
                <a:spcPct val="150000"/>
              </a:lnSpc>
              <a:spcBef>
                <a:spcPts val="0"/>
              </a:spcBef>
              <a:spcAft>
                <a:spcPts val="563"/>
              </a:spcAft>
            </a:pPr>
            <a:r>
              <a:rPr lang="en-US" sz="2625" dirty="0"/>
              <a:t>Block pricing</a:t>
            </a:r>
            <a:r>
              <a:rPr lang="en-US" sz="2531" dirty="0"/>
              <a:t>					</a:t>
            </a:r>
            <a:endParaRPr lang="en-US" sz="1406" dirty="0"/>
          </a:p>
        </p:txBody>
      </p:sp>
      <p:sp>
        <p:nvSpPr>
          <p:cNvPr id="4" name="Slide Number Placeholder 3"/>
          <p:cNvSpPr>
            <a:spLocks noGrp="1"/>
          </p:cNvSpPr>
          <p:nvPr>
            <p:ph type="sldNum" sz="quarter" idx="10"/>
          </p:nvPr>
        </p:nvSpPr>
        <p:spPr/>
        <p:txBody>
          <a:bodyPr/>
          <a:lstStyle/>
          <a:p>
            <a:fld id="{DBC38028-5B1C-49D3-BF22-2CE9385E6DA2}" type="slidenum">
              <a:rPr lang="en-US" smtClean="0"/>
              <a:pPr/>
              <a:t>30</a:t>
            </a:fld>
            <a:endParaRPr lang="en-US" dirty="0"/>
          </a:p>
        </p:txBody>
      </p:sp>
    </p:spTree>
    <p:custDataLst>
      <p:tags r:id="rId1"/>
    </p:custDataLst>
    <p:extLst>
      <p:ext uri="{BB962C8B-B14F-4D97-AF65-F5344CB8AC3E}">
        <p14:creationId xmlns:p14="http://schemas.microsoft.com/office/powerpoint/2010/main" val="2630370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85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59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859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859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8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7215"/>
            <a:ext cx="8399695" cy="1143000"/>
          </a:xfrm>
        </p:spPr>
        <p:txBody>
          <a:bodyPr>
            <a:normAutofit/>
          </a:bodyPr>
          <a:lstStyle/>
          <a:p>
            <a:r>
              <a:rPr lang="en-US" sz="3200" dirty="0">
                <a:latin typeface="Whitney Medium" pitchFamily="50" charset="0"/>
                <a:cs typeface="Whitney Medium" pitchFamily="50" charset="0"/>
              </a:rPr>
              <a:t>Example: Netflix</a:t>
            </a:r>
            <a:br>
              <a:rPr lang="en-US" sz="3200" dirty="0">
                <a:latin typeface="Whitney Medium" pitchFamily="50" charset="0"/>
                <a:cs typeface="Whitney Medium" pitchFamily="50" charset="0"/>
              </a:rPr>
            </a:br>
            <a:r>
              <a:rPr lang="en-US" sz="3200" dirty="0">
                <a:latin typeface="Whitney Medium" pitchFamily="50" charset="0"/>
                <a:cs typeface="Whitney Medium" pitchFamily="50" charset="0"/>
              </a:rPr>
              <a:t>flat fee </a:t>
            </a:r>
            <a:r>
              <a:rPr lang="en-US" sz="2700" dirty="0">
                <a:latin typeface="Whitney Medium" pitchFamily="50" charset="0"/>
                <a:cs typeface="Whitney Medium" pitchFamily="50" charset="0"/>
              </a:rPr>
              <a:t>(assume MC=0)</a:t>
            </a:r>
            <a:endParaRPr lang="en-US" sz="2700" dirty="0"/>
          </a:p>
        </p:txBody>
      </p:sp>
      <p:sp>
        <p:nvSpPr>
          <p:cNvPr id="45" name="Text Box 11"/>
          <p:cNvSpPr txBox="1">
            <a:spLocks noChangeArrowheads="1"/>
          </p:cNvSpPr>
          <p:nvPr/>
        </p:nvSpPr>
        <p:spPr bwMode="auto">
          <a:xfrm>
            <a:off x="3201642" y="5819639"/>
            <a:ext cx="801687" cy="467814"/>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dirty="0">
                <a:solidFill>
                  <a:srgbClr val="C00000"/>
                </a:solidFill>
                <a:latin typeface="+mn-lt"/>
                <a:cs typeface="Times New Roman" pitchFamily="18" charset="0"/>
              </a:rPr>
              <a:t>D</a:t>
            </a:r>
          </a:p>
        </p:txBody>
      </p:sp>
      <p:sp>
        <p:nvSpPr>
          <p:cNvPr id="26" name="Right Triangle 25"/>
          <p:cNvSpPr/>
          <p:nvPr/>
        </p:nvSpPr>
        <p:spPr>
          <a:xfrm>
            <a:off x="953771" y="2058404"/>
            <a:ext cx="2361151" cy="4290961"/>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latin typeface="Whitney-Book" pitchFamily="50" charset="0"/>
              <a:cs typeface="Whitney-Book" pitchFamily="50" charset="0"/>
            </a:endParaRPr>
          </a:p>
        </p:txBody>
      </p:sp>
      <p:sp>
        <p:nvSpPr>
          <p:cNvPr id="27" name="Content Placeholder 3"/>
          <p:cNvSpPr>
            <a:spLocks noGrp="1"/>
          </p:cNvSpPr>
          <p:nvPr>
            <p:ph idx="1"/>
          </p:nvPr>
        </p:nvSpPr>
        <p:spPr>
          <a:xfrm>
            <a:off x="4049474" y="1437640"/>
            <a:ext cx="5111039" cy="4525963"/>
          </a:xfrm>
        </p:spPr>
        <p:txBody>
          <a:bodyPr>
            <a:noAutofit/>
          </a:bodyPr>
          <a:lstStyle/>
          <a:p>
            <a:r>
              <a:rPr lang="en-US" sz="2000" dirty="0"/>
              <a:t>Yellow area = total value of unlimited movies for the consumer = maximum fee Netflix can charge </a:t>
            </a:r>
          </a:p>
          <a:p>
            <a:r>
              <a:rPr lang="fr-FR" sz="2000" dirty="0"/>
              <a:t>Area = </a:t>
            </a:r>
            <a:r>
              <a:rPr lang="en-US" sz="2000" dirty="0"/>
              <a:t>(16x2)/2 = 16</a:t>
            </a:r>
          </a:p>
          <a:p>
            <a:r>
              <a:rPr lang="fr-FR" sz="2000" dirty="0"/>
              <a:t>Note: </a:t>
            </a:r>
            <a:r>
              <a:rPr lang="fr-FR" sz="2000" dirty="0" err="1"/>
              <a:t>only</a:t>
            </a:r>
            <a:r>
              <a:rPr lang="fr-FR" sz="2000" dirty="0"/>
              <a:t> </a:t>
            </a:r>
            <a:r>
              <a:rPr lang="fr-FR" sz="2000" dirty="0" err="1"/>
              <a:t>makes</a:t>
            </a:r>
            <a:r>
              <a:rPr lang="fr-FR" sz="2000" dirty="0"/>
              <a:t> </a:t>
            </a:r>
            <a:r>
              <a:rPr lang="fr-FR" sz="2000" dirty="0" err="1"/>
              <a:t>sense</a:t>
            </a:r>
            <a:r>
              <a:rPr lang="fr-FR" sz="2000" dirty="0"/>
              <a:t> </a:t>
            </a:r>
            <a:r>
              <a:rPr lang="fr-FR" sz="2000" dirty="0" err="1"/>
              <a:t>when</a:t>
            </a:r>
            <a:r>
              <a:rPr lang="fr-FR" sz="2000" dirty="0"/>
              <a:t> MC=0</a:t>
            </a:r>
            <a:endParaRPr lang="en-US" sz="2000" dirty="0"/>
          </a:p>
          <a:p>
            <a:pPr marL="0" indent="0">
              <a:buNone/>
            </a:pPr>
            <a:endParaRPr lang="en-US" sz="1400" dirty="0"/>
          </a:p>
        </p:txBody>
      </p:sp>
      <p:sp>
        <p:nvSpPr>
          <p:cNvPr id="3" name="Slide Number Placeholder 2"/>
          <p:cNvSpPr>
            <a:spLocks noGrp="1"/>
          </p:cNvSpPr>
          <p:nvPr>
            <p:ph type="sldNum" sz="quarter" idx="12"/>
          </p:nvPr>
        </p:nvSpPr>
        <p:spPr/>
        <p:txBody>
          <a:bodyPr/>
          <a:lstStyle/>
          <a:p>
            <a:fld id="{0F3206DB-9488-D04D-BDD1-A7C9D84C4579}" type="slidenum">
              <a:rPr lang="en-US" smtClean="0"/>
              <a:t>31</a:t>
            </a:fld>
            <a:endParaRPr lang="en-US"/>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endParaRPr lang="en-US" b="0">
              <a:latin typeface="+mn-lt"/>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endParaRPr lang="en-US" b="0">
              <a:latin typeface="+mn-lt"/>
              <a:cs typeface="Times New Roman" pitchFamily="18" charset="0"/>
            </a:endParaRPr>
          </a:p>
        </p:txBody>
      </p:sp>
      <p:sp>
        <p:nvSpPr>
          <p:cNvPr id="40" name="Text Box 5"/>
          <p:cNvSpPr txBox="1">
            <a:spLocks noChangeArrowheads="1"/>
          </p:cNvSpPr>
          <p:nvPr/>
        </p:nvSpPr>
        <p:spPr bwMode="auto">
          <a:xfrm>
            <a:off x="425664" y="985838"/>
            <a:ext cx="520384" cy="375481"/>
          </a:xfrm>
          <a:prstGeom prst="rect">
            <a:avLst/>
          </a:prstGeom>
          <a:noFill/>
          <a:ln w="9525">
            <a:noFill/>
            <a:miter lim="800000"/>
            <a:headEnd/>
            <a:tailEnd/>
          </a:ln>
          <a:effectLst/>
        </p:spPr>
        <p:txBody>
          <a:bodyPr wrap="square" lIns="97530" tIns="48765" rIns="97530" bIns="48765">
            <a:spAutoFit/>
          </a:bodyPr>
          <a:lstStyle/>
          <a:p>
            <a:pPr defTabSz="974725">
              <a:spcBef>
                <a:spcPct val="50000"/>
              </a:spcBef>
            </a:pPr>
            <a:r>
              <a:rPr lang="en-US" b="0" i="1" dirty="0">
                <a:latin typeface="+mn-lt"/>
                <a:cs typeface="Times New Roman" pitchFamily="18" charset="0"/>
              </a:rPr>
              <a:t>P</a:t>
            </a:r>
          </a:p>
        </p:txBody>
      </p:sp>
      <p:sp>
        <p:nvSpPr>
          <p:cNvPr id="41" name="Text Box 6"/>
          <p:cNvSpPr txBox="1">
            <a:spLocks noChangeArrowheads="1"/>
          </p:cNvSpPr>
          <p:nvPr/>
        </p:nvSpPr>
        <p:spPr bwMode="auto">
          <a:xfrm>
            <a:off x="5759134" y="6363653"/>
            <a:ext cx="1490663" cy="406259"/>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sz="2000" b="0" i="1" dirty="0">
                <a:latin typeface="+mn-lt"/>
                <a:cs typeface="Times New Roman" pitchFamily="18" charset="0"/>
              </a:rPr>
              <a:t>Movies</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endParaRPr lang="en-US" b="0" dirty="0">
              <a:latin typeface="+mn-lt"/>
              <a:cs typeface="Times New Roman" pitchFamily="18" charset="0"/>
            </a:endParaRPr>
          </a:p>
        </p:txBody>
      </p:sp>
      <p:sp>
        <p:nvSpPr>
          <p:cNvPr id="56" name="TextBox 55"/>
          <p:cNvSpPr txBox="1"/>
          <p:nvPr/>
        </p:nvSpPr>
        <p:spPr>
          <a:xfrm>
            <a:off x="402772" y="1793240"/>
            <a:ext cx="704005" cy="369332"/>
          </a:xfrm>
          <a:prstGeom prst="rect">
            <a:avLst/>
          </a:prstGeom>
          <a:noFill/>
        </p:spPr>
        <p:txBody>
          <a:bodyPr wrap="square" rtlCol="0">
            <a:spAutoFit/>
          </a:bodyPr>
          <a:lstStyle/>
          <a:p>
            <a:r>
              <a:rPr lang="en-US" b="0" dirty="0">
                <a:latin typeface="+mn-lt"/>
              </a:rPr>
              <a:t>$2</a:t>
            </a:r>
          </a:p>
        </p:txBody>
      </p:sp>
      <p:sp>
        <p:nvSpPr>
          <p:cNvPr id="57" name="TextBox 56"/>
          <p:cNvSpPr txBox="1"/>
          <p:nvPr/>
        </p:nvSpPr>
        <p:spPr>
          <a:xfrm>
            <a:off x="3170237" y="6314440"/>
            <a:ext cx="574360" cy="369332"/>
          </a:xfrm>
          <a:prstGeom prst="rect">
            <a:avLst/>
          </a:prstGeom>
          <a:noFill/>
        </p:spPr>
        <p:txBody>
          <a:bodyPr wrap="square" rtlCol="0">
            <a:spAutoFit/>
          </a:bodyPr>
          <a:lstStyle/>
          <a:p>
            <a:r>
              <a:rPr lang="en-US" b="0" dirty="0">
                <a:latin typeface="+mn-lt"/>
              </a:rPr>
              <a:t>16</a:t>
            </a:r>
          </a:p>
        </p:txBody>
      </p:sp>
      <p:sp>
        <p:nvSpPr>
          <p:cNvPr id="58" name="Rectangle 57"/>
          <p:cNvSpPr/>
          <p:nvPr/>
        </p:nvSpPr>
        <p:spPr>
          <a:xfrm>
            <a:off x="1001397" y="4684641"/>
            <a:ext cx="1186287" cy="707886"/>
          </a:xfrm>
          <a:prstGeom prst="rect">
            <a:avLst/>
          </a:prstGeom>
        </p:spPr>
        <p:txBody>
          <a:bodyPr wrap="none">
            <a:spAutoFit/>
          </a:bodyPr>
          <a:lstStyle/>
          <a:p>
            <a:pPr algn="ctr"/>
            <a:r>
              <a:rPr lang="en-US" sz="2000" b="0" dirty="0">
                <a:latin typeface="+mn-lt"/>
                <a:cs typeface="Times New Roman" pitchFamily="18" charset="0"/>
              </a:rPr>
              <a:t>Revenues</a:t>
            </a:r>
          </a:p>
          <a:p>
            <a:pPr algn="ctr"/>
            <a:r>
              <a:rPr lang="en-US" sz="2000" b="0" dirty="0">
                <a:latin typeface="+mn-lt"/>
                <a:cs typeface="Times New Roman" pitchFamily="18" charset="0"/>
              </a:rPr>
              <a:t>=$16</a:t>
            </a:r>
            <a:endParaRPr lang="en-US" sz="2000" dirty="0">
              <a:latin typeface="+mn-lt"/>
            </a:endParaRPr>
          </a:p>
        </p:txBody>
      </p:sp>
      <p:sp>
        <p:nvSpPr>
          <p:cNvPr id="23" name="Text Box 11">
            <a:extLst>
              <a:ext uri="{FF2B5EF4-FFF2-40B4-BE49-F238E27FC236}">
                <a16:creationId xmlns:a16="http://schemas.microsoft.com/office/drawing/2014/main" id="{3DA96C58-4671-5844-8121-6F4E638935FC}"/>
              </a:ext>
            </a:extLst>
          </p:cNvPr>
          <p:cNvSpPr txBox="1">
            <a:spLocks noChangeArrowheads="1"/>
          </p:cNvSpPr>
          <p:nvPr/>
        </p:nvSpPr>
        <p:spPr bwMode="auto">
          <a:xfrm>
            <a:off x="1145300" y="1772877"/>
            <a:ext cx="1968075" cy="467814"/>
          </a:xfrm>
          <a:prstGeom prst="rect">
            <a:avLst/>
          </a:prstGeom>
          <a:noFill/>
          <a:ln w="9525">
            <a:noFill/>
            <a:miter lim="800000"/>
            <a:headEnd/>
            <a:tailEnd/>
          </a:ln>
          <a:effectLst/>
        </p:spPr>
        <p:txBody>
          <a:bodyPr wrap="square" lIns="97530" tIns="48765" rIns="97530" bIns="48765">
            <a:spAutoFit/>
          </a:bodyPr>
          <a:lstStyle/>
          <a:p>
            <a:pPr defTabSz="974725">
              <a:spcBef>
                <a:spcPct val="50000"/>
              </a:spcBef>
            </a:pPr>
            <a:r>
              <a:rPr lang="en-US" sz="2400" b="0" i="1" dirty="0">
                <a:solidFill>
                  <a:srgbClr val="C00000"/>
                </a:solidFill>
                <a:latin typeface="+mn-lt"/>
                <a:cs typeface="Times New Roman" pitchFamily="18" charset="0"/>
              </a:rPr>
              <a:t>P=2-Q/8</a:t>
            </a:r>
          </a:p>
        </p:txBody>
      </p:sp>
    </p:spTree>
    <p:extLst>
      <p:ext uri="{BB962C8B-B14F-4D97-AF65-F5344CB8AC3E}">
        <p14:creationId xmlns:p14="http://schemas.microsoft.com/office/powerpoint/2010/main" val="612339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6" grpId="0" animBg="1"/>
      <p:bldP spid="38" grpId="0" animBg="1"/>
      <p:bldP spid="39" grpId="0" animBg="1"/>
      <p:bldP spid="40" grpId="0"/>
      <p:bldP spid="41" grpId="0"/>
      <p:bldP spid="46" grpId="0" animBg="1"/>
      <p:bldP spid="56" grpId="0"/>
      <p:bldP spid="57" grpId="0"/>
      <p:bldP spid="58"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p:txBody>
          <a:bodyPr/>
          <a:lstStyle/>
          <a:p>
            <a:r>
              <a:rPr lang="en-US" dirty="0"/>
              <a:t>Netflix pricing strategy</a:t>
            </a:r>
          </a:p>
        </p:txBody>
      </p:sp>
      <p:pic>
        <p:nvPicPr>
          <p:cNvPr id="8" name="Picture 2" descr="http://www.top10base.com/wp-content/uploads/2015/05/tips-to-enhance-Netflix.jpg">
            <a:extLst>
              <a:ext uri="{FF2B5EF4-FFF2-40B4-BE49-F238E27FC236}">
                <a16:creationId xmlns:a16="http://schemas.microsoft.com/office/drawing/2014/main" id="{EE7D7327-09E0-42A5-93A1-D983C70359B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457200" y="4286509"/>
            <a:ext cx="3773340" cy="2608044"/>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a:extLst>
              <a:ext uri="{FF2B5EF4-FFF2-40B4-BE49-F238E27FC236}">
                <a16:creationId xmlns:a16="http://schemas.microsoft.com/office/drawing/2014/main" id="{0B93A56F-13FA-4087-AE8D-35FDCCECFA17}"/>
              </a:ext>
            </a:extLst>
          </p:cNvPr>
          <p:cNvPicPr>
            <a:picLocks noChangeAspect="1"/>
          </p:cNvPicPr>
          <p:nvPr/>
        </p:nvPicPr>
        <p:blipFill>
          <a:blip r:embed="rId5"/>
          <a:stretch>
            <a:fillRect/>
          </a:stretch>
        </p:blipFill>
        <p:spPr>
          <a:xfrm>
            <a:off x="739934" y="1087453"/>
            <a:ext cx="7664132" cy="3049649"/>
          </a:xfrm>
          <a:prstGeom prst="rect">
            <a:avLst/>
          </a:prstGeom>
        </p:spPr>
      </p:pic>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4128628" y="4585322"/>
            <a:ext cx="4653672" cy="2123691"/>
          </a:xfrm>
        </p:spPr>
        <p:txBody>
          <a:bodyPr>
            <a:normAutofit/>
          </a:bodyPr>
          <a:lstStyle/>
          <a:p>
            <a:pPr lvl="1">
              <a:spcBef>
                <a:spcPts val="0"/>
              </a:spcBef>
              <a:spcAft>
                <a:spcPts val="563"/>
              </a:spcAft>
            </a:pPr>
            <a:r>
              <a:rPr lang="en-US" sz="2400" dirty="0">
                <a:latin typeface="Whitney-Book" pitchFamily="50" charset="0"/>
                <a:cs typeface="Whitney-Book" pitchFamily="50" charset="0"/>
              </a:rPr>
              <a:t>Note that this pricing strategy is a mix of flat fee and versioning</a:t>
            </a:r>
          </a:p>
        </p:txBody>
      </p:sp>
    </p:spTree>
    <p:extLst>
      <p:ext uri="{BB962C8B-B14F-4D97-AF65-F5344CB8AC3E}">
        <p14:creationId xmlns:p14="http://schemas.microsoft.com/office/powerpoint/2010/main" val="418195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p:txBody>
          <a:bodyPr/>
          <a:lstStyle/>
          <a:p>
            <a:r>
              <a:rPr lang="en-US" dirty="0"/>
              <a:t>WSJ Article on Netflix</a:t>
            </a:r>
          </a:p>
        </p:txBody>
      </p:sp>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112860" y="5209495"/>
            <a:ext cx="8229600" cy="490483"/>
          </a:xfrm>
        </p:spPr>
        <p:txBody>
          <a:bodyPr>
            <a:normAutofit/>
          </a:bodyPr>
          <a:lstStyle/>
          <a:p>
            <a:pPr lvl="1">
              <a:spcBef>
                <a:spcPts val="0"/>
              </a:spcBef>
              <a:spcAft>
                <a:spcPts val="563"/>
              </a:spcAft>
            </a:pPr>
            <a:r>
              <a:rPr lang="en-US" sz="2400" dirty="0">
                <a:latin typeface="Whitney-Book" pitchFamily="50" charset="0"/>
                <a:cs typeface="Whitney-Book" pitchFamily="50" charset="0"/>
              </a:rPr>
              <a:t>What’s wrong with the following statement?</a:t>
            </a:r>
          </a:p>
        </p:txBody>
      </p:sp>
      <p:pic>
        <p:nvPicPr>
          <p:cNvPr id="3" name="Picture 2">
            <a:extLst>
              <a:ext uri="{FF2B5EF4-FFF2-40B4-BE49-F238E27FC236}">
                <a16:creationId xmlns:a16="http://schemas.microsoft.com/office/drawing/2014/main" id="{B4065C1C-96D7-4F12-A9AC-5B079B51C8F1}"/>
              </a:ext>
            </a:extLst>
          </p:cNvPr>
          <p:cNvPicPr>
            <a:picLocks noChangeAspect="1"/>
          </p:cNvPicPr>
          <p:nvPr/>
        </p:nvPicPr>
        <p:blipFill>
          <a:blip r:embed="rId3"/>
          <a:stretch>
            <a:fillRect/>
          </a:stretch>
        </p:blipFill>
        <p:spPr>
          <a:xfrm>
            <a:off x="773621" y="5699978"/>
            <a:ext cx="7990114" cy="708801"/>
          </a:xfrm>
          <a:prstGeom prst="rect">
            <a:avLst/>
          </a:prstGeom>
        </p:spPr>
      </p:pic>
      <p:pic>
        <p:nvPicPr>
          <p:cNvPr id="4" name="Picture 3">
            <a:extLst>
              <a:ext uri="{FF2B5EF4-FFF2-40B4-BE49-F238E27FC236}">
                <a16:creationId xmlns:a16="http://schemas.microsoft.com/office/drawing/2014/main" id="{7109F533-FD4D-4569-B3F0-311C1EE521CB}"/>
              </a:ext>
            </a:extLst>
          </p:cNvPr>
          <p:cNvPicPr>
            <a:picLocks noChangeAspect="1"/>
          </p:cNvPicPr>
          <p:nvPr/>
        </p:nvPicPr>
        <p:blipFill>
          <a:blip r:embed="rId4"/>
          <a:stretch>
            <a:fillRect/>
          </a:stretch>
        </p:blipFill>
        <p:spPr>
          <a:xfrm>
            <a:off x="586195" y="1158022"/>
            <a:ext cx="5683975" cy="3951815"/>
          </a:xfrm>
          <a:prstGeom prst="rect">
            <a:avLst/>
          </a:prstGeom>
        </p:spPr>
      </p:pic>
    </p:spTree>
    <p:extLst>
      <p:ext uri="{BB962C8B-B14F-4D97-AF65-F5344CB8AC3E}">
        <p14:creationId xmlns:p14="http://schemas.microsoft.com/office/powerpoint/2010/main" val="172014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a:xfrm>
            <a:off x="119743" y="23359"/>
            <a:ext cx="8904514" cy="1143000"/>
          </a:xfrm>
        </p:spPr>
        <p:txBody>
          <a:bodyPr/>
          <a:lstStyle/>
          <a:p>
            <a:r>
              <a:rPr lang="en-US" dirty="0"/>
              <a:t>What can Go Wrong with Flat Rates…</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119743" y="2477148"/>
                <a:ext cx="8662557" cy="4009713"/>
              </a:xfrm>
            </p:spPr>
            <p:txBody>
              <a:bodyPr>
                <a:noAutofit/>
              </a:bodyPr>
              <a:lstStyle/>
              <a:p>
                <a:pPr lvl="1">
                  <a:spcBef>
                    <a:spcPts val="600"/>
                  </a:spcBef>
                </a:pPr>
                <a:r>
                  <a:rPr lang="en-US" dirty="0">
                    <a:latin typeface="Whitney Book" pitchFamily="50" charset="0"/>
                  </a:rPr>
                  <a:t>What was AA’s offer?</a:t>
                </a:r>
              </a:p>
              <a:p>
                <a:pPr lvl="1">
                  <a:spcBef>
                    <a:spcPts val="600"/>
                  </a:spcBef>
                </a:pPr>
                <a:r>
                  <a:rPr lang="en-US" dirty="0">
                    <a:latin typeface="Whitney Book" pitchFamily="50" charset="0"/>
                  </a:rPr>
                  <a:t>How many customers bought it?</a:t>
                </a:r>
              </a:p>
              <a:p>
                <a:pPr lvl="1">
                  <a:spcBef>
                    <a:spcPts val="600"/>
                  </a:spcBef>
                </a:pPr>
                <a:r>
                  <a:rPr lang="en-US" dirty="0">
                    <a:latin typeface="Whitney Book" pitchFamily="50" charset="0"/>
                  </a:rPr>
                  <a:t>How did they behave?		</a:t>
                </a:r>
              </a:p>
              <a:p>
                <a:pPr>
                  <a:spcBef>
                    <a:spcPts val="600"/>
                  </a:spcBef>
                </a:pPr>
                <a:endParaRPr lang="en-US" sz="2600" dirty="0">
                  <a:latin typeface="Whitney Book" pitchFamily="50" charset="0"/>
                  <a:cs typeface="Whitney-Book" pitchFamily="50" charset="0"/>
                </a:endParaRPr>
              </a:p>
              <a:p>
                <a:pPr>
                  <a:spcBef>
                    <a:spcPts val="600"/>
                  </a:spcBef>
                </a:pPr>
                <a:r>
                  <a:rPr lang="en-US" sz="2600" dirty="0">
                    <a:latin typeface="Whitney Book" pitchFamily="50" charset="0"/>
                    <a:cs typeface="Whitney-Book" pitchFamily="50" charset="0"/>
                  </a:rPr>
                  <a:t>Take-Away:</a:t>
                </a:r>
              </a:p>
              <a:p>
                <a:pPr lvl="1">
                  <a:spcBef>
                    <a:spcPts val="600"/>
                  </a:spcBef>
                </a:pPr>
                <a:r>
                  <a:rPr lang="en-US" sz="2400" dirty="0">
                    <a:latin typeface="Whitney Book" pitchFamily="50" charset="0"/>
                    <a:cs typeface="Whitney-Book" pitchFamily="50" charset="0"/>
                  </a:rPr>
                  <a:t>If </a:t>
                </a:r>
                <a14:m>
                  <m:oMath xmlns:m="http://schemas.openxmlformats.org/officeDocument/2006/math">
                    <m:r>
                      <a:rPr lang="en-US" sz="2400" i="1">
                        <a:latin typeface="Cambria Math" panose="02040503050406030204" pitchFamily="18" charset="0"/>
                      </a:rPr>
                      <m:t>𝑀𝐶</m:t>
                    </m:r>
                    <m:r>
                      <a:rPr lang="en-US" sz="2400" b="0" i="0" smtClean="0">
                        <a:latin typeface="Cambria Math" panose="02040503050406030204" pitchFamily="18" charset="0"/>
                      </a:rPr>
                      <m:t>&gt;0</m:t>
                    </m:r>
                  </m:oMath>
                </a14:m>
                <a:r>
                  <a:rPr lang="en-US" sz="2400" dirty="0">
                    <a:latin typeface="Whitney Book" pitchFamily="50" charset="0"/>
                    <a:cs typeface="Whitney-Book" pitchFamily="50" charset="0"/>
                  </a:rPr>
                  <a:t>, offering a flat rate with unlimited access is a bad idea: Consumers will use ‘too much’ of the service</a:t>
                </a:r>
              </a:p>
              <a:p>
                <a:pPr lvl="1">
                  <a:spcBef>
                    <a:spcPts val="600"/>
                  </a:spcBef>
                </a:pPr>
                <a:r>
                  <a:rPr lang="en-US" sz="2400" dirty="0">
                    <a:latin typeface="Whitney Book" pitchFamily="50" charset="0"/>
                    <a:cs typeface="Whitney-Book" pitchFamily="50" charset="0"/>
                  </a:rPr>
                  <a:t>This can be solved by two-part tariffs </a:t>
                </a:r>
              </a:p>
            </p:txBody>
          </p:sp>
        </mc:Choice>
        <mc:Fallback xmlns="">
          <p:sp>
            <p:nvSpPr>
              <p:cNvPr id="9" name="Rectangle 3">
                <a:extLst>
                  <a:ext uri="{FF2B5EF4-FFF2-40B4-BE49-F238E27FC236}">
                    <a16:creationId xmlns:a16="http://schemas.microsoft.com/office/drawing/2014/main" id="{C0D216F7-F3DF-4B22-96F2-390B6F1316F8}"/>
                  </a:ext>
                </a:extLst>
              </p:cNvPr>
              <p:cNvSpPr>
                <a:spLocks noGrp="1" noRot="1" noChangeAspect="1" noMove="1" noResize="1" noEditPoints="1" noAdjustHandles="1" noChangeArrowheads="1" noChangeShapeType="1" noTextEdit="1"/>
              </p:cNvSpPr>
              <p:nvPr>
                <p:ph idx="1"/>
              </p:nvPr>
            </p:nvSpPr>
            <p:spPr>
              <a:xfrm>
                <a:off x="119743" y="2477148"/>
                <a:ext cx="8662557" cy="4009713"/>
              </a:xfrm>
              <a:blipFill>
                <a:blip r:embed="rId3"/>
                <a:stretch>
                  <a:fillRect l="-1548" t="-258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155237A2-B1A7-4F85-B654-75E5D752A65C}"/>
              </a:ext>
            </a:extLst>
          </p:cNvPr>
          <p:cNvPicPr>
            <a:picLocks noChangeAspect="1"/>
          </p:cNvPicPr>
          <p:nvPr/>
        </p:nvPicPr>
        <p:blipFill>
          <a:blip r:embed="rId4"/>
          <a:stretch>
            <a:fillRect/>
          </a:stretch>
        </p:blipFill>
        <p:spPr>
          <a:xfrm>
            <a:off x="951420" y="857672"/>
            <a:ext cx="7735380" cy="1619476"/>
          </a:xfrm>
          <a:prstGeom prst="rect">
            <a:avLst/>
          </a:prstGeom>
        </p:spPr>
      </p:pic>
    </p:spTree>
    <p:extLst>
      <p:ext uri="{BB962C8B-B14F-4D97-AF65-F5344CB8AC3E}">
        <p14:creationId xmlns:p14="http://schemas.microsoft.com/office/powerpoint/2010/main" val="74018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a:xfrm>
            <a:off x="119743" y="23359"/>
            <a:ext cx="8904514" cy="1143000"/>
          </a:xfrm>
        </p:spPr>
        <p:txBody>
          <a:bodyPr/>
          <a:lstStyle/>
          <a:p>
            <a:r>
              <a:rPr lang="en-US" dirty="0"/>
              <a:t>What can Go Wrong with Flat Rates…</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119743" y="2952206"/>
                <a:ext cx="8662557" cy="3122023"/>
              </a:xfrm>
            </p:spPr>
            <p:txBody>
              <a:bodyPr>
                <a:normAutofit fontScale="85000" lnSpcReduction="20000"/>
              </a:bodyPr>
              <a:lstStyle/>
              <a:p>
                <a:pPr marL="457200" lvl="1" indent="0">
                  <a:spcBef>
                    <a:spcPts val="0"/>
                  </a:spcBef>
                  <a:spcAft>
                    <a:spcPts val="563"/>
                  </a:spcAft>
                  <a:buNone/>
                </a:pPr>
                <a:r>
                  <a:rPr lang="en-US" sz="2400" dirty="0">
                    <a:solidFill>
                      <a:schemeClr val="tx1"/>
                    </a:solidFill>
                    <a:latin typeface="Times New Roman" panose="02020603050405020304" pitchFamily="18" charset="0"/>
                    <a:cs typeface="Times New Roman" panose="02020603050405020304" pitchFamily="18" charset="0"/>
                  </a:rPr>
                  <a:t>Lifetime first class flat rate sold in the 1980s: “Each had paid American more than $350,000 for an unlimited </a:t>
                </a:r>
                <a:r>
                  <a:rPr lang="en-US" sz="2400" dirty="0" err="1">
                    <a:solidFill>
                      <a:schemeClr val="tx1"/>
                    </a:solidFill>
                    <a:latin typeface="Times New Roman" panose="02020603050405020304" pitchFamily="18" charset="0"/>
                    <a:cs typeface="Times New Roman" panose="02020603050405020304" pitchFamily="18" charset="0"/>
                  </a:rPr>
                  <a:t>AAirpass</a:t>
                </a:r>
                <a:r>
                  <a:rPr lang="en-US" sz="2400" dirty="0">
                    <a:solidFill>
                      <a:schemeClr val="tx1"/>
                    </a:solidFill>
                    <a:latin typeface="Times New Roman" panose="02020603050405020304" pitchFamily="18" charset="0"/>
                    <a:cs typeface="Times New Roman" panose="02020603050405020304" pitchFamily="18" charset="0"/>
                  </a:rPr>
                  <a:t> and a companion ticket that allowed them to take someone along on their adventures.</a:t>
                </a:r>
              </a:p>
              <a:p>
                <a:pPr marL="457200" lvl="1" indent="0">
                  <a:spcBef>
                    <a:spcPts val="0"/>
                  </a:spcBef>
                  <a:spcAft>
                    <a:spcPts val="563"/>
                  </a:spcAft>
                  <a:buNone/>
                </a:pPr>
                <a:r>
                  <a:rPr lang="en-US" sz="2400" dirty="0">
                    <a:solidFill>
                      <a:schemeClr val="tx1"/>
                    </a:solidFill>
                    <a:latin typeface="Times New Roman" panose="02020603050405020304" pitchFamily="18" charset="0"/>
                    <a:cs typeface="Times New Roman" panose="02020603050405020304" pitchFamily="18" charset="0"/>
                  </a:rPr>
                  <a:t>Both agree it was the best purchase they ever made, one that completely redefined their lives.”</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If </a:t>
                </a:r>
                <a14:m>
                  <m:oMath xmlns:m="http://schemas.openxmlformats.org/officeDocument/2006/math">
                    <m:r>
                      <a:rPr lang="en-US" sz="2400" i="1">
                        <a:latin typeface="Cambria Math" panose="02040503050406030204" pitchFamily="18" charset="0"/>
                      </a:rPr>
                      <m:t>𝑀𝐶</m:t>
                    </m:r>
                    <m:r>
                      <a:rPr lang="en-US" sz="2400" b="0" i="0" smtClean="0">
                        <a:latin typeface="Cambria Math" panose="02040503050406030204" pitchFamily="18" charset="0"/>
                      </a:rPr>
                      <m:t>&gt;0</m:t>
                    </m:r>
                  </m:oMath>
                </a14:m>
                <a:r>
                  <a:rPr lang="en-US" sz="2400" dirty="0">
                    <a:latin typeface="Whitney-Book" pitchFamily="50" charset="0"/>
                    <a:cs typeface="Whitney-Book" pitchFamily="50" charset="0"/>
                  </a:rPr>
                  <a:t>, offering a flat rate with unlimited access is a bad idea: Consumers will use ‘too much’ of the service</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This can be solved by two-part tariffs </a:t>
                </a:r>
              </a:p>
            </p:txBody>
          </p:sp>
        </mc:Choice>
        <mc:Fallback xmlns="">
          <p:sp>
            <p:nvSpPr>
              <p:cNvPr id="9" name="Rectangle 3">
                <a:extLst>
                  <a:ext uri="{FF2B5EF4-FFF2-40B4-BE49-F238E27FC236}">
                    <a16:creationId xmlns:a16="http://schemas.microsoft.com/office/drawing/2014/main" id="{C0D216F7-F3DF-4B22-96F2-390B6F1316F8}"/>
                  </a:ext>
                </a:extLst>
              </p:cNvPr>
              <p:cNvSpPr>
                <a:spLocks noGrp="1" noRot="1" noChangeAspect="1" noMove="1" noResize="1" noEditPoints="1" noAdjustHandles="1" noChangeArrowheads="1" noChangeShapeType="1" noTextEdit="1"/>
              </p:cNvSpPr>
              <p:nvPr>
                <p:ph idx="1"/>
              </p:nvPr>
            </p:nvSpPr>
            <p:spPr>
              <a:xfrm>
                <a:off x="119743" y="2952206"/>
                <a:ext cx="8662557" cy="3122023"/>
              </a:xfrm>
              <a:blipFill>
                <a:blip r:embed="rId3"/>
                <a:stretch>
                  <a:fillRect t="-2930"/>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155237A2-B1A7-4F85-B654-75E5D752A65C}"/>
              </a:ext>
            </a:extLst>
          </p:cNvPr>
          <p:cNvPicPr>
            <a:picLocks noChangeAspect="1"/>
          </p:cNvPicPr>
          <p:nvPr/>
        </p:nvPicPr>
        <p:blipFill>
          <a:blip r:embed="rId4"/>
          <a:stretch>
            <a:fillRect/>
          </a:stretch>
        </p:blipFill>
        <p:spPr>
          <a:xfrm>
            <a:off x="951420" y="1158886"/>
            <a:ext cx="7735380" cy="1619476"/>
          </a:xfrm>
          <a:prstGeom prst="rect">
            <a:avLst/>
          </a:prstGeom>
        </p:spPr>
      </p:pic>
    </p:spTree>
    <p:extLst>
      <p:ext uri="{BB962C8B-B14F-4D97-AF65-F5344CB8AC3E}">
        <p14:creationId xmlns:p14="http://schemas.microsoft.com/office/powerpoint/2010/main" val="1427206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7215"/>
            <a:ext cx="8399695" cy="1143000"/>
          </a:xfrm>
        </p:spPr>
        <p:txBody>
          <a:bodyPr>
            <a:normAutofit/>
          </a:bodyPr>
          <a:lstStyle/>
          <a:p>
            <a:r>
              <a:rPr lang="en-US" sz="3200" dirty="0">
                <a:latin typeface="Whitney Medium" pitchFamily="50" charset="0"/>
                <a:cs typeface="Whitney Medium" pitchFamily="50" charset="0"/>
              </a:rPr>
              <a:t>Two part-Tariff</a:t>
            </a:r>
            <a:br>
              <a:rPr lang="en-US" sz="3200" dirty="0">
                <a:latin typeface="Whitney Medium" pitchFamily="50" charset="0"/>
                <a:cs typeface="Whitney Medium" pitchFamily="50" charset="0"/>
              </a:rPr>
            </a:br>
            <a:r>
              <a:rPr lang="en-US" sz="3200" dirty="0">
                <a:latin typeface="Whitney Medium" pitchFamily="50" charset="0"/>
                <a:cs typeface="Whitney Medium" pitchFamily="50" charset="0"/>
              </a:rPr>
              <a:t>Now: </a:t>
            </a:r>
            <a:r>
              <a:rPr lang="en-US" sz="3200" i="1" dirty="0">
                <a:solidFill>
                  <a:srgbClr val="C00000"/>
                </a:solidFill>
                <a:latin typeface="Whitney Medium" pitchFamily="50" charset="0"/>
                <a:cs typeface="Whitney Medium" pitchFamily="50" charset="0"/>
              </a:rPr>
              <a:t>MC</a:t>
            </a:r>
            <a:r>
              <a:rPr lang="en-US" sz="3200" dirty="0">
                <a:solidFill>
                  <a:srgbClr val="C00000"/>
                </a:solidFill>
                <a:latin typeface="Whitney Medium" pitchFamily="50" charset="0"/>
                <a:cs typeface="Whitney Medium" pitchFamily="50" charset="0"/>
              </a:rPr>
              <a:t>&gt;0</a:t>
            </a:r>
            <a:endParaRPr lang="en-US" sz="2700" dirty="0">
              <a:solidFill>
                <a:srgbClr val="C00000"/>
              </a:solidFill>
            </a:endParaRPr>
          </a:p>
        </p:txBody>
      </p:sp>
      <p:sp>
        <p:nvSpPr>
          <p:cNvPr id="45" name="Text Box 11"/>
          <p:cNvSpPr txBox="1">
            <a:spLocks noChangeArrowheads="1"/>
          </p:cNvSpPr>
          <p:nvPr/>
        </p:nvSpPr>
        <p:spPr bwMode="auto">
          <a:xfrm>
            <a:off x="3290494" y="5771063"/>
            <a:ext cx="801687" cy="375481"/>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i="1" dirty="0">
                <a:solidFill>
                  <a:srgbClr val="C00000"/>
                </a:solidFill>
                <a:latin typeface="+mn-lt"/>
                <a:cs typeface="Times New Roman" pitchFamily="18" charset="0"/>
              </a:rPr>
              <a:t>D</a:t>
            </a:r>
          </a:p>
        </p:txBody>
      </p:sp>
      <p:sp>
        <p:nvSpPr>
          <p:cNvPr id="26" name="Right Triangle 25"/>
          <p:cNvSpPr/>
          <p:nvPr/>
        </p:nvSpPr>
        <p:spPr>
          <a:xfrm>
            <a:off x="953771" y="2058405"/>
            <a:ext cx="1693886" cy="3078048"/>
          </a:xfrm>
          <a:custGeom>
            <a:avLst/>
            <a:gdLst>
              <a:gd name="connsiteX0" fmla="*/ 0 w 2361151"/>
              <a:gd name="connsiteY0" fmla="*/ 3053334 h 3053334"/>
              <a:gd name="connsiteX1" fmla="*/ 0 w 2361151"/>
              <a:gd name="connsiteY1" fmla="*/ 0 h 3053334"/>
              <a:gd name="connsiteX2" fmla="*/ 2361151 w 2361151"/>
              <a:gd name="connsiteY2" fmla="*/ 3053334 h 3053334"/>
              <a:gd name="connsiteX3" fmla="*/ 0 w 2361151"/>
              <a:gd name="connsiteY3" fmla="*/ 3053334 h 3053334"/>
              <a:gd name="connsiteX0" fmla="*/ 0 w 1706243"/>
              <a:gd name="connsiteY0" fmla="*/ 3053334 h 3090404"/>
              <a:gd name="connsiteX1" fmla="*/ 0 w 1706243"/>
              <a:gd name="connsiteY1" fmla="*/ 0 h 3090404"/>
              <a:gd name="connsiteX2" fmla="*/ 1706243 w 1706243"/>
              <a:gd name="connsiteY2" fmla="*/ 3090404 h 3090404"/>
              <a:gd name="connsiteX3" fmla="*/ 0 w 1706243"/>
              <a:gd name="connsiteY3" fmla="*/ 3053334 h 3090404"/>
              <a:gd name="connsiteX0" fmla="*/ 0 w 1693886"/>
              <a:gd name="connsiteY0" fmla="*/ 3053334 h 3078048"/>
              <a:gd name="connsiteX1" fmla="*/ 0 w 1693886"/>
              <a:gd name="connsiteY1" fmla="*/ 0 h 3078048"/>
              <a:gd name="connsiteX2" fmla="*/ 1693886 w 1693886"/>
              <a:gd name="connsiteY2" fmla="*/ 3078048 h 3078048"/>
              <a:gd name="connsiteX3" fmla="*/ 0 w 1693886"/>
              <a:gd name="connsiteY3" fmla="*/ 3053334 h 3078048"/>
            </a:gdLst>
            <a:ahLst/>
            <a:cxnLst>
              <a:cxn ang="0">
                <a:pos x="connsiteX0" y="connsiteY0"/>
              </a:cxn>
              <a:cxn ang="0">
                <a:pos x="connsiteX1" y="connsiteY1"/>
              </a:cxn>
              <a:cxn ang="0">
                <a:pos x="connsiteX2" y="connsiteY2"/>
              </a:cxn>
              <a:cxn ang="0">
                <a:pos x="connsiteX3" y="connsiteY3"/>
              </a:cxn>
            </a:cxnLst>
            <a:rect l="l" t="t" r="r" b="b"/>
            <a:pathLst>
              <a:path w="1693886" h="3078048">
                <a:moveTo>
                  <a:pt x="0" y="3053334"/>
                </a:moveTo>
                <a:lnTo>
                  <a:pt x="0" y="0"/>
                </a:lnTo>
                <a:lnTo>
                  <a:pt x="1693886" y="3078048"/>
                </a:lnTo>
                <a:lnTo>
                  <a:pt x="0" y="3053334"/>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latin typeface="Whitney-Book" pitchFamily="50" charset="0"/>
              <a:cs typeface="Whitney-Book" pitchFamily="50" charset="0"/>
            </a:endParaRPr>
          </a:p>
        </p:txBody>
      </p:sp>
      <p:sp>
        <p:nvSpPr>
          <p:cNvPr id="27" name="Content Placeholder 3"/>
          <p:cNvSpPr>
            <a:spLocks noGrp="1"/>
          </p:cNvSpPr>
          <p:nvPr>
            <p:ph idx="1"/>
          </p:nvPr>
        </p:nvSpPr>
        <p:spPr>
          <a:xfrm>
            <a:off x="4830292" y="2204659"/>
            <a:ext cx="2942108" cy="1367344"/>
          </a:xfrm>
        </p:spPr>
        <p:txBody>
          <a:bodyPr>
            <a:noAutofit/>
          </a:bodyPr>
          <a:lstStyle/>
          <a:p>
            <a:pPr marL="0" indent="0">
              <a:spcAft>
                <a:spcPts val="563"/>
              </a:spcAft>
              <a:buNone/>
            </a:pPr>
            <a:r>
              <a:rPr lang="en-US" sz="2000" dirty="0"/>
              <a:t>Flat fee ,</a:t>
            </a:r>
            <a:r>
              <a:rPr lang="en-US" sz="2000" i="1" dirty="0"/>
              <a:t>F*, </a:t>
            </a:r>
            <a:r>
              <a:rPr lang="en-US" sz="2000" dirty="0"/>
              <a:t>is equal to the entire consumer surplus. Usage fee, </a:t>
            </a:r>
            <a:r>
              <a:rPr lang="en-US" sz="2000" i="1" dirty="0"/>
              <a:t>P*,</a:t>
            </a:r>
            <a:r>
              <a:rPr lang="en-US" sz="2000" dirty="0"/>
              <a:t> is set equal to </a:t>
            </a:r>
            <a:r>
              <a:rPr lang="en-US" sz="2000" i="1" dirty="0"/>
              <a:t>MC</a:t>
            </a:r>
            <a:r>
              <a:rPr lang="en-US" sz="2000" dirty="0"/>
              <a:t>. </a:t>
            </a:r>
            <a:endParaRPr lang="en-US" sz="2000" i="1" dirty="0"/>
          </a:p>
          <a:p>
            <a:pPr marL="0" indent="0">
              <a:spcAft>
                <a:spcPts val="563"/>
              </a:spcAft>
              <a:buNone/>
            </a:pPr>
            <a:endParaRPr lang="en-US" sz="1400" dirty="0"/>
          </a:p>
        </p:txBody>
      </p:sp>
      <p:sp>
        <p:nvSpPr>
          <p:cNvPr id="3" name="Slide Number Placeholder 2"/>
          <p:cNvSpPr>
            <a:spLocks noGrp="1"/>
          </p:cNvSpPr>
          <p:nvPr>
            <p:ph type="sldNum" sz="quarter" idx="12"/>
          </p:nvPr>
        </p:nvSpPr>
        <p:spPr/>
        <p:txBody>
          <a:bodyPr/>
          <a:lstStyle/>
          <a:p>
            <a:fld id="{0F3206DB-9488-D04D-BDD1-A7C9D84C4579}" type="slidenum">
              <a:rPr lang="en-US" smtClean="0"/>
              <a:t>36</a:t>
            </a:fld>
            <a:endParaRPr lang="en-US"/>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endParaRPr lang="en-US" b="0">
              <a:latin typeface="+mn-lt"/>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endParaRPr lang="en-US" b="0">
              <a:latin typeface="+mn-lt"/>
              <a:cs typeface="Times New Roman" pitchFamily="18" charset="0"/>
            </a:endParaRPr>
          </a:p>
        </p:txBody>
      </p:sp>
      <p:sp>
        <p:nvSpPr>
          <p:cNvPr id="40" name="Text Box 5"/>
          <p:cNvSpPr txBox="1">
            <a:spLocks noChangeArrowheads="1"/>
          </p:cNvSpPr>
          <p:nvPr/>
        </p:nvSpPr>
        <p:spPr bwMode="auto">
          <a:xfrm>
            <a:off x="604522" y="1068058"/>
            <a:ext cx="638175" cy="375481"/>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i="1" dirty="0">
                <a:latin typeface="+mn-lt"/>
                <a:cs typeface="Times New Roman" pitchFamily="18" charset="0"/>
              </a:rPr>
              <a:t>P</a:t>
            </a:r>
          </a:p>
        </p:txBody>
      </p:sp>
      <p:sp>
        <p:nvSpPr>
          <p:cNvPr id="41" name="Text Box 6"/>
          <p:cNvSpPr txBox="1">
            <a:spLocks noChangeArrowheads="1"/>
          </p:cNvSpPr>
          <p:nvPr/>
        </p:nvSpPr>
        <p:spPr bwMode="auto">
          <a:xfrm>
            <a:off x="6382609" y="6363653"/>
            <a:ext cx="1490663" cy="406259"/>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sz="2000" b="0" i="1" dirty="0">
                <a:latin typeface="+mn-lt"/>
                <a:cs typeface="Times New Roman" pitchFamily="18" charset="0"/>
              </a:rPr>
              <a:t>Q</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endParaRPr lang="en-US" b="0" dirty="0">
              <a:latin typeface="+mn-lt"/>
              <a:cs typeface="Times New Roman" pitchFamily="18" charset="0"/>
            </a:endParaRPr>
          </a:p>
        </p:txBody>
      </p:sp>
      <p:sp>
        <p:nvSpPr>
          <p:cNvPr id="58" name="Rectangle 57"/>
          <p:cNvSpPr/>
          <p:nvPr/>
        </p:nvSpPr>
        <p:spPr>
          <a:xfrm>
            <a:off x="1337628" y="3779779"/>
            <a:ext cx="437941" cy="400110"/>
          </a:xfrm>
          <a:prstGeom prst="rect">
            <a:avLst/>
          </a:prstGeom>
        </p:spPr>
        <p:txBody>
          <a:bodyPr wrap="none">
            <a:spAutoFit/>
          </a:bodyPr>
          <a:lstStyle/>
          <a:p>
            <a:pPr algn="ctr"/>
            <a:r>
              <a:rPr lang="en-US" sz="2000" b="0" i="1" dirty="0">
                <a:latin typeface="+mn-lt"/>
                <a:cs typeface="Times New Roman" pitchFamily="18" charset="0"/>
              </a:rPr>
              <a:t>F*</a:t>
            </a:r>
            <a:endParaRPr lang="en-US" sz="2000" i="1" dirty="0">
              <a:latin typeface="+mn-lt"/>
            </a:endParaRPr>
          </a:p>
        </p:txBody>
      </p:sp>
      <p:grpSp>
        <p:nvGrpSpPr>
          <p:cNvPr id="4" name="Group 3">
            <a:extLst>
              <a:ext uri="{FF2B5EF4-FFF2-40B4-BE49-F238E27FC236}">
                <a16:creationId xmlns:a16="http://schemas.microsoft.com/office/drawing/2014/main" id="{84032609-D29D-4C4B-9A72-AEFE6C6ACB8F}"/>
              </a:ext>
            </a:extLst>
          </p:cNvPr>
          <p:cNvGrpSpPr/>
          <p:nvPr/>
        </p:nvGrpSpPr>
        <p:grpSpPr>
          <a:xfrm>
            <a:off x="923610" y="4936398"/>
            <a:ext cx="5458999" cy="400110"/>
            <a:chOff x="923610" y="4936398"/>
            <a:chExt cx="5458999" cy="400110"/>
          </a:xfrm>
        </p:grpSpPr>
        <p:cxnSp>
          <p:nvCxnSpPr>
            <p:cNvPr id="7" name="Straight Connector 6">
              <a:extLst>
                <a:ext uri="{FF2B5EF4-FFF2-40B4-BE49-F238E27FC236}">
                  <a16:creationId xmlns:a16="http://schemas.microsoft.com/office/drawing/2014/main" id="{C419A6A8-ABEB-4D66-82BE-6985A51455D7}"/>
                </a:ext>
              </a:extLst>
            </p:cNvPr>
            <p:cNvCxnSpPr/>
            <p:nvPr/>
          </p:nvCxnSpPr>
          <p:spPr>
            <a:xfrm>
              <a:off x="923610" y="5136453"/>
              <a:ext cx="4835524" cy="0"/>
            </a:xfrm>
            <a:prstGeom prst="line">
              <a:avLst/>
            </a:prstGeom>
            <a:ln>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4D12EF66-5BE1-42F2-BE97-7FA7E138F322}"/>
                </a:ext>
              </a:extLst>
            </p:cNvPr>
            <p:cNvSpPr/>
            <p:nvPr/>
          </p:nvSpPr>
          <p:spPr>
            <a:xfrm>
              <a:off x="5842075" y="4936398"/>
              <a:ext cx="540534" cy="400110"/>
            </a:xfrm>
            <a:prstGeom prst="rect">
              <a:avLst/>
            </a:prstGeom>
          </p:spPr>
          <p:txBody>
            <a:bodyPr wrap="none">
              <a:spAutoFit/>
            </a:bodyPr>
            <a:lstStyle/>
            <a:p>
              <a:pPr algn="ctr"/>
              <a:r>
                <a:rPr lang="en-US" sz="2000" b="0" i="1" dirty="0">
                  <a:latin typeface="+mn-lt"/>
                  <a:cs typeface="Times New Roman" pitchFamily="18" charset="0"/>
                </a:rPr>
                <a:t>MC</a:t>
              </a:r>
              <a:endParaRPr lang="en-US" sz="2000" i="1" dirty="0">
                <a:latin typeface="+mn-lt"/>
              </a:endParaRPr>
            </a:p>
          </p:txBody>
        </p:sp>
      </p:grpSp>
      <p:sp>
        <p:nvSpPr>
          <p:cNvPr id="21" name="Rectangle 20">
            <a:extLst>
              <a:ext uri="{FF2B5EF4-FFF2-40B4-BE49-F238E27FC236}">
                <a16:creationId xmlns:a16="http://schemas.microsoft.com/office/drawing/2014/main" id="{197F0A8E-450E-4C7A-B43B-CD25C9969F37}"/>
              </a:ext>
            </a:extLst>
          </p:cNvPr>
          <p:cNvSpPr/>
          <p:nvPr/>
        </p:nvSpPr>
        <p:spPr>
          <a:xfrm>
            <a:off x="466581" y="4926772"/>
            <a:ext cx="445956" cy="400110"/>
          </a:xfrm>
          <a:prstGeom prst="rect">
            <a:avLst/>
          </a:prstGeom>
        </p:spPr>
        <p:txBody>
          <a:bodyPr wrap="none">
            <a:spAutoFit/>
          </a:bodyPr>
          <a:lstStyle/>
          <a:p>
            <a:pPr algn="ctr"/>
            <a:r>
              <a:rPr lang="en-US" sz="2000" b="0" i="1" dirty="0">
                <a:latin typeface="+mn-lt"/>
                <a:cs typeface="Times New Roman" pitchFamily="18" charset="0"/>
              </a:rPr>
              <a:t>P*</a:t>
            </a:r>
            <a:endParaRPr lang="en-US" sz="2000" i="1" dirty="0">
              <a:latin typeface="+mn-lt"/>
            </a:endParaRPr>
          </a:p>
        </p:txBody>
      </p:sp>
    </p:spTree>
    <p:extLst>
      <p:ext uri="{BB962C8B-B14F-4D97-AF65-F5344CB8AC3E}">
        <p14:creationId xmlns:p14="http://schemas.microsoft.com/office/powerpoint/2010/main" val="218243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6" grpId="0" animBg="1"/>
      <p:bldP spid="38" grpId="0" animBg="1"/>
      <p:bldP spid="39" grpId="0" animBg="1"/>
      <p:bldP spid="40" grpId="0"/>
      <p:bldP spid="41" grpId="0"/>
      <p:bldP spid="46" grpId="0" animBg="1"/>
      <p:bldP spid="58"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Pricing at a Local Zoo</a:t>
            </a:r>
          </a:p>
        </p:txBody>
      </p:sp>
      <mc:AlternateContent xmlns:mc="http://schemas.openxmlformats.org/markup-compatibility/2006" xmlns:a14="http://schemas.microsoft.com/office/drawing/2010/main">
        <mc:Choice Requires="a14">
          <p:sp useBgFill="1">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3"/>
                <a:ext cx="8686800" cy="1984829"/>
              </a:xfrm>
            </p:spPr>
            <p:txBody>
              <a:bodyPr>
                <a:normAutofit fontScale="92500" lnSpcReduction="10000"/>
              </a:bodyPr>
              <a:lstStyle/>
              <a:p>
                <a:r>
                  <a:rPr lang="en-US" sz="3100" dirty="0"/>
                  <a:t>Demand for average customer is: </a:t>
                </a:r>
                <a14:m>
                  <m:oMath xmlns:m="http://schemas.openxmlformats.org/officeDocument/2006/math">
                    <m:r>
                      <a:rPr lang="en-US" sz="3100" b="0" i="1" smtClean="0">
                        <a:latin typeface="Cambria Math" panose="02040503050406030204" pitchFamily="18" charset="0"/>
                      </a:rPr>
                      <m:t>𝑃</m:t>
                    </m:r>
                    <m:r>
                      <a:rPr lang="en-US" sz="3100" i="1">
                        <a:latin typeface="Cambria Math" panose="02040503050406030204" pitchFamily="18" charset="0"/>
                      </a:rPr>
                      <m:t>=</m:t>
                    </m:r>
                    <m:r>
                      <a:rPr lang="en-US" sz="3100" b="0" i="1" smtClean="0">
                        <a:latin typeface="Cambria Math" panose="02040503050406030204" pitchFamily="18" charset="0"/>
                      </a:rPr>
                      <m:t>20−4</m:t>
                    </m:r>
                    <m:r>
                      <a:rPr lang="en-US" sz="3100" b="0" i="1" smtClean="0">
                        <a:latin typeface="Cambria Math" panose="02040503050406030204" pitchFamily="18" charset="0"/>
                      </a:rPr>
                      <m:t>𝑄</m:t>
                    </m:r>
                  </m:oMath>
                </a14:m>
                <a:endParaRPr lang="en-US" sz="3100" dirty="0"/>
              </a:p>
              <a:p>
                <a:pPr lvl="1"/>
                <a14:m>
                  <m:oMath xmlns:m="http://schemas.openxmlformats.org/officeDocument/2006/math">
                    <m:r>
                      <a:rPr lang="en-US" sz="2900" i="1" dirty="0" smtClean="0">
                        <a:latin typeface="Cambria Math" panose="02040503050406030204" pitchFamily="18" charset="0"/>
                      </a:rPr>
                      <m:t>𝑄</m:t>
                    </m:r>
                  </m:oMath>
                </a14:m>
                <a:r>
                  <a:rPr lang="en-US" sz="2900" dirty="0"/>
                  <a:t>: Visits per year</a:t>
                </a:r>
              </a:p>
              <a:p>
                <a:r>
                  <a:rPr lang="en-US" sz="3100" dirty="0"/>
                  <a:t>Marginal cost per visit:  </a:t>
                </a:r>
                <a14:m>
                  <m:oMath xmlns:m="http://schemas.openxmlformats.org/officeDocument/2006/math">
                    <m:r>
                      <a:rPr lang="en-US" sz="3100" b="0" i="1" smtClean="0">
                        <a:latin typeface="Cambria Math" panose="02040503050406030204" pitchFamily="18" charset="0"/>
                      </a:rPr>
                      <m:t>𝑀𝐶</m:t>
                    </m:r>
                    <m:r>
                      <a:rPr lang="en-US" sz="3100" b="0" i="1" smtClean="0">
                        <a:latin typeface="Cambria Math" panose="02040503050406030204" pitchFamily="18" charset="0"/>
                      </a:rPr>
                      <m:t>=$4</m:t>
                    </m:r>
                  </m:oMath>
                </a14:m>
                <a:endParaRPr lang="en-US" sz="3100" dirty="0"/>
              </a:p>
              <a:p>
                <a:r>
                  <a:rPr lang="en-US" sz="3100" dirty="0"/>
                  <a:t>What is the optimal pricing strategy?</a:t>
                </a:r>
              </a:p>
            </p:txBody>
          </p:sp>
        </mc:Choice>
        <mc:Fallback xmlns="">
          <p:sp useBgFill="1">
            <p:nvSpPr>
              <p:cNvPr id="3" name="Content Placeholder 2">
                <a:extLst>
                  <a:ext uri="{FF2B5EF4-FFF2-40B4-BE49-F238E27FC236}">
                    <a16:creationId xmlns:a16="http://schemas.microsoft.com/office/drawing/2014/main" id="{2CED4F30-DC90-4FD2-BE3B-DF4833A129F7}"/>
                  </a:ext>
                </a:extLst>
              </p:cNvPr>
              <p:cNvSpPr>
                <a:spLocks noGrp="1" noRot="1" noChangeAspect="1" noMove="1" noResize="1" noEditPoints="1" noAdjustHandles="1" noChangeArrowheads="1" noChangeShapeType="1" noTextEdit="1"/>
              </p:cNvSpPr>
              <p:nvPr>
                <p:ph idx="1"/>
              </p:nvPr>
            </p:nvSpPr>
            <p:spPr>
              <a:xfrm>
                <a:off x="457200" y="1640113"/>
                <a:ext cx="8686800" cy="1984829"/>
              </a:xfrm>
              <a:blipFill>
                <a:blip r:embed="rId3"/>
                <a:stretch>
                  <a:fillRect l="-1754" t="-8282" b="-6748"/>
                </a:stretch>
              </a:blipFill>
            </p:spPr>
            <p:txBody>
              <a:bodyPr/>
              <a:lstStyle/>
              <a:p>
                <a:r>
                  <a:rPr lang="en-US">
                    <a:noFill/>
                  </a:rPr>
                  <a:t> </a:t>
                </a:r>
              </a:p>
            </p:txBody>
          </p:sp>
        </mc:Fallback>
      </mc:AlternateContent>
      <p:sp>
        <p:nvSpPr>
          <p:cNvPr id="4" name="Parallelogram 3">
            <a:extLst>
              <a:ext uri="{FF2B5EF4-FFF2-40B4-BE49-F238E27FC236}">
                <a16:creationId xmlns:a16="http://schemas.microsoft.com/office/drawing/2014/main" id="{806E185C-4D44-4474-A2EB-8D3D5F5841AA}"/>
              </a:ext>
            </a:extLst>
          </p:cNvPr>
          <p:cNvSpPr/>
          <p:nvPr/>
        </p:nvSpPr>
        <p:spPr>
          <a:xfrm>
            <a:off x="4456686" y="6029465"/>
            <a:ext cx="4951882" cy="840025"/>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b="1" i="1" dirty="0"/>
              <a:t>Poll Everywhere Break</a:t>
            </a:r>
          </a:p>
        </p:txBody>
      </p:sp>
      <p:pic>
        <p:nvPicPr>
          <p:cNvPr id="6" name="Picture 5">
            <a:extLst>
              <a:ext uri="{FF2B5EF4-FFF2-40B4-BE49-F238E27FC236}">
                <a16:creationId xmlns:a16="http://schemas.microsoft.com/office/drawing/2014/main" id="{B419FB0D-C16A-4F1D-8009-43B54191F2E3}"/>
              </a:ext>
            </a:extLst>
          </p:cNvPr>
          <p:cNvPicPr>
            <a:picLocks noChangeAspect="1"/>
          </p:cNvPicPr>
          <p:nvPr/>
        </p:nvPicPr>
        <p:blipFill>
          <a:blip r:embed="rId4"/>
          <a:stretch>
            <a:fillRect/>
          </a:stretch>
        </p:blipFill>
        <p:spPr>
          <a:xfrm>
            <a:off x="261256" y="3737536"/>
            <a:ext cx="4138836" cy="2757499"/>
          </a:xfrm>
          <a:prstGeom prst="rect">
            <a:avLst/>
          </a:prstGeom>
        </p:spPr>
      </p:pic>
    </p:spTree>
    <p:extLst>
      <p:ext uri="{BB962C8B-B14F-4D97-AF65-F5344CB8AC3E}">
        <p14:creationId xmlns:p14="http://schemas.microsoft.com/office/powerpoint/2010/main" val="246387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CCFA75-3B7A-4385-9F5B-0BE26E48571F}"/>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27305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Zoo Pricing – Solution</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604522" y="938521"/>
            <a:ext cx="638175"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41" name="Text Box 6"/>
          <p:cNvSpPr txBox="1">
            <a:spLocks noChangeArrowheads="1"/>
          </p:cNvSpPr>
          <p:nvPr/>
        </p:nvSpPr>
        <p:spPr bwMode="auto">
          <a:xfrm>
            <a:off x="6198714" y="6363653"/>
            <a:ext cx="2183285"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a:t>
            </a:r>
            <a:r>
              <a:rPr kumimoji="0" lang="en-US" b="0" i="0" u="none" strike="noStrike" kern="1200" cap="none" spc="0" normalizeH="0" baseline="0" noProof="0" dirty="0">
                <a:ln>
                  <a:noFill/>
                </a:ln>
                <a:solidFill>
                  <a:prstClr val="black"/>
                </a:solidFill>
                <a:effectLst/>
                <a:uLnTx/>
                <a:uFillTx/>
                <a:latin typeface="Calibri"/>
                <a:ea typeface="+mn-ea"/>
                <a:cs typeface="Times New Roman" pitchFamily="18" charset="0"/>
              </a:rPr>
              <a:t>(visits per year)</a:t>
            </a:r>
            <a:endPar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5" name="Text Box 11"/>
          <p:cNvSpPr txBox="1">
            <a:spLocks noChangeArrowheads="1"/>
          </p:cNvSpPr>
          <p:nvPr/>
        </p:nvSpPr>
        <p:spPr bwMode="auto">
          <a:xfrm>
            <a:off x="4746496" y="4957777"/>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0070C0"/>
                </a:solidFill>
                <a:effectLst/>
                <a:uLnTx/>
                <a:uFillTx/>
                <a:latin typeface="Calibri"/>
                <a:ea typeface="+mn-ea"/>
                <a:cs typeface="Times New Roman" pitchFamily="18" charset="0"/>
              </a:rPr>
              <a:t>MC</a:t>
            </a:r>
          </a:p>
        </p:txBody>
      </p:sp>
      <p:sp>
        <p:nvSpPr>
          <p:cNvPr id="46" name="Line 12"/>
          <p:cNvSpPr>
            <a:spLocks noChangeShapeType="1"/>
          </p:cNvSpPr>
          <p:nvPr/>
        </p:nvSpPr>
        <p:spPr bwMode="auto">
          <a:xfrm>
            <a:off x="953771" y="2007553"/>
            <a:ext cx="4718895"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307396" y="1763320"/>
            <a:ext cx="6381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$20</a:t>
            </a:r>
          </a:p>
        </p:txBody>
      </p:sp>
      <p:sp>
        <p:nvSpPr>
          <p:cNvPr id="23" name="Content Placeholder 1"/>
          <p:cNvSpPr txBox="1">
            <a:spLocks/>
          </p:cNvSpPr>
          <p:nvPr/>
        </p:nvSpPr>
        <p:spPr>
          <a:xfrm>
            <a:off x="4956593" y="1419985"/>
            <a:ext cx="420180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6403" marR="0" lvl="0"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rPr>
              <a:t>Two-part tariff:</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Flat fee: </a:t>
            </a:r>
            <a:r>
              <a:rPr lang="en-US" sz="2425" i="1" dirty="0">
                <a:solidFill>
                  <a:srgbClr val="1F497D">
                    <a:lumMod val="75000"/>
                  </a:srgbClr>
                </a:solidFill>
              </a:rPr>
              <a:t>F </a:t>
            </a:r>
            <a:r>
              <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rPr>
              <a:t>=$32 </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Usage fee: </a:t>
            </a:r>
            <a:r>
              <a:rPr lang="en-US" sz="2425" i="1" dirty="0">
                <a:solidFill>
                  <a:srgbClr val="1F497D">
                    <a:lumMod val="75000"/>
                  </a:srgbClr>
                </a:solidFill>
              </a:rPr>
              <a:t>P </a:t>
            </a:r>
            <a:r>
              <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rPr>
              <a:t>=$4/visit</a:t>
            </a:r>
          </a:p>
          <a:p>
            <a:pPr marL="266403" indent="-266403">
              <a:spcBef>
                <a:spcPts val="0"/>
              </a:spcBef>
              <a:spcAft>
                <a:spcPts val="563"/>
              </a:spcAft>
              <a:defRPr/>
            </a:pPr>
            <a:r>
              <a:rPr lang="en-US" sz="2625" dirty="0">
                <a:solidFill>
                  <a:srgbClr val="1F497D">
                    <a:lumMod val="75000"/>
                  </a:srgbClr>
                </a:solidFill>
              </a:rPr>
              <a:t>Per-visit charge recovers the variable costs of $16</a:t>
            </a:r>
            <a:endPar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266403" indent="-266403">
              <a:spcBef>
                <a:spcPts val="0"/>
              </a:spcBef>
              <a:spcAft>
                <a:spcPts val="563"/>
              </a:spcAft>
              <a:defRPr/>
            </a:pPr>
            <a:r>
              <a:rPr lang="en-US" sz="2625" dirty="0">
                <a:solidFill>
                  <a:srgbClr val="1F497D">
                    <a:lumMod val="75000"/>
                  </a:srgbClr>
                </a:solidFill>
              </a:rPr>
              <a:t>Profit: </a:t>
            </a:r>
            <a:r>
              <a:rPr lang="en-US" sz="2625" dirty="0">
                <a:solidFill>
                  <a:srgbClr val="1F497D">
                    <a:lumMod val="75000"/>
                  </a:srgbClr>
                </a:solidFill>
                <a:highlight>
                  <a:srgbClr val="C0C0C0"/>
                </a:highlight>
              </a:rPr>
              <a:t>$32</a:t>
            </a:r>
            <a:r>
              <a:rPr lang="en-US" sz="2625" dirty="0">
                <a:solidFill>
                  <a:srgbClr val="1F497D">
                    <a:lumMod val="75000"/>
                  </a:srgbClr>
                </a:solidFill>
              </a:rPr>
              <a:t> per customer</a:t>
            </a:r>
          </a:p>
          <a:p>
            <a:pPr marL="0" indent="0">
              <a:spcBef>
                <a:spcPts val="0"/>
              </a:spcBef>
              <a:spcAft>
                <a:spcPts val="563"/>
              </a:spcAft>
              <a:buNone/>
              <a:defRPr/>
            </a:pPr>
            <a:r>
              <a:rPr lang="en-US" sz="2400" dirty="0">
                <a:solidFill>
                  <a:srgbClr val="1F497D">
                    <a:lumMod val="75000"/>
                  </a:srgbClr>
                </a:solidFill>
              </a:rPr>
              <a:t>    (assuming zero fixed cost)</a:t>
            </a:r>
            <a:endParaRPr kumimoji="0" lang="en-US" sz="2400" b="0" i="0" u="none" strike="noStrike" kern="1100" cap="none" spc="50" normalizeH="0" baseline="0" noProof="0" dirty="0">
              <a:ln>
                <a:noFill/>
              </a:ln>
              <a:solidFill>
                <a:srgbClr val="1F497D">
                  <a:lumMod val="75000"/>
                </a:srgbClr>
              </a:solidFill>
              <a:effectLst/>
              <a:uLnTx/>
              <a:uFillTx/>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
        <p:nvSpPr>
          <p:cNvPr id="28" name="Line 9"/>
          <p:cNvSpPr>
            <a:spLocks noChangeShapeType="1"/>
          </p:cNvSpPr>
          <p:nvPr/>
        </p:nvSpPr>
        <p:spPr bwMode="auto">
          <a:xfrm>
            <a:off x="933772" y="5136653"/>
            <a:ext cx="3799732" cy="39067"/>
          </a:xfrm>
          <a:prstGeom prst="line">
            <a:avLst/>
          </a:prstGeom>
          <a:noFill/>
          <a:ln w="57150">
            <a:solidFill>
              <a:schemeClr val="accent1">
                <a:lumMod val="75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14" name="Group 13">
            <a:extLst>
              <a:ext uri="{FF2B5EF4-FFF2-40B4-BE49-F238E27FC236}">
                <a16:creationId xmlns:a16="http://schemas.microsoft.com/office/drawing/2014/main" id="{166AF710-4C66-4BD8-B0FE-FBC9ADDEB9C9}"/>
              </a:ext>
            </a:extLst>
          </p:cNvPr>
          <p:cNvGrpSpPr/>
          <p:nvPr/>
        </p:nvGrpSpPr>
        <p:grpSpPr>
          <a:xfrm>
            <a:off x="680312" y="2007552"/>
            <a:ext cx="3638106" cy="3115674"/>
            <a:chOff x="734743" y="2007553"/>
            <a:chExt cx="2882854" cy="2491716"/>
          </a:xfrm>
        </p:grpSpPr>
        <p:sp>
          <p:nvSpPr>
            <p:cNvPr id="17" name="Right Triangle 16"/>
            <p:cNvSpPr/>
            <p:nvPr/>
          </p:nvSpPr>
          <p:spPr>
            <a:xfrm>
              <a:off x="953771" y="2007553"/>
              <a:ext cx="2663826" cy="2491716"/>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white"/>
                </a:solidFill>
                <a:effectLst/>
                <a:uLnTx/>
                <a:uFillTx/>
                <a:latin typeface="Whitney-Book" pitchFamily="50" charset="0"/>
                <a:ea typeface="+mn-ea"/>
                <a:cs typeface="Whitney-Book" pitchFamily="50" charset="0"/>
              </a:endParaRPr>
            </a:p>
          </p:txBody>
        </p:sp>
        <p:sp>
          <p:nvSpPr>
            <p:cNvPr id="18" name="Rectangle 17"/>
            <p:cNvSpPr/>
            <p:nvPr/>
          </p:nvSpPr>
          <p:spPr>
            <a:xfrm>
              <a:off x="734743" y="3296457"/>
              <a:ext cx="2287857" cy="812262"/>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Flat fee</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sz="2000" dirty="0">
                  <a:solidFill>
                    <a:prstClr val="black"/>
                  </a:solidFill>
                  <a:cs typeface="Times New Roman" pitchFamily="18" charset="0"/>
                </a:rPr>
                <a:t>20-4)∙4/2</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=$32</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9" name="TextBox 18"/>
          <p:cNvSpPr txBox="1"/>
          <p:nvPr/>
        </p:nvSpPr>
        <p:spPr>
          <a:xfrm>
            <a:off x="5564684" y="6300534"/>
            <a:ext cx="5743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5</a:t>
            </a:r>
          </a:p>
        </p:txBody>
      </p:sp>
      <p:sp>
        <p:nvSpPr>
          <p:cNvPr id="20" name="TextBox 19"/>
          <p:cNvSpPr txBox="1"/>
          <p:nvPr/>
        </p:nvSpPr>
        <p:spPr>
          <a:xfrm>
            <a:off x="384731" y="4951988"/>
            <a:ext cx="53044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$4</a:t>
            </a:r>
          </a:p>
        </p:txBody>
      </p:sp>
      <p:cxnSp>
        <p:nvCxnSpPr>
          <p:cNvPr id="25" name="Straight Arrow Connector 24"/>
          <p:cNvCxnSpPr>
            <a:cxnSpLocks/>
          </p:cNvCxnSpPr>
          <p:nvPr/>
        </p:nvCxnSpPr>
        <p:spPr>
          <a:xfrm flipH="1">
            <a:off x="2424408" y="2231286"/>
            <a:ext cx="2887231" cy="1302706"/>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24" name="Text Box 11"/>
              <p:cNvSpPr txBox="1">
                <a:spLocks noChangeArrowheads="1"/>
              </p:cNvSpPr>
              <p:nvPr/>
            </p:nvSpPr>
            <p:spPr bwMode="auto">
              <a:xfrm>
                <a:off x="1341425" y="1616990"/>
                <a:ext cx="2512114" cy="828619"/>
              </a:xfrm>
              <a:prstGeom prst="rect">
                <a:avLst/>
              </a:prstGeom>
              <a:noFill/>
              <a:ln w="9525">
                <a:noFill/>
                <a:miter lim="800000"/>
                <a:headEnd/>
                <a:tailEnd/>
              </a:ln>
              <a:effectLst/>
            </p:spPr>
            <p:txBody>
              <a:bodyPr wrap="square" lIns="97530" tIns="48765" rIns="97530" bIns="48765">
                <a:spAutoFit/>
              </a:bodyPr>
              <a:lstStyle/>
              <a:p>
                <a:pPr lvl="0" defTabSz="974725">
                  <a:spcBef>
                    <a:spcPct val="50000"/>
                  </a:spcBef>
                  <a:defRPr/>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𝑃</m:t>
                      </m:r>
                      <m:r>
                        <a:rPr lang="en-US" sz="2400" b="0" i="1" smtClean="0">
                          <a:solidFill>
                            <a:srgbClr val="C00000"/>
                          </a:solidFill>
                          <a:latin typeface="Cambria Math" panose="02040503050406030204" pitchFamily="18" charset="0"/>
                        </a:rPr>
                        <m:t>=20−4</m:t>
                      </m:r>
                      <m:r>
                        <a:rPr lang="en-US" sz="2400" b="0" i="1" smtClean="0">
                          <a:solidFill>
                            <a:srgbClr val="C00000"/>
                          </a:solidFill>
                          <a:latin typeface="Cambria Math" panose="02040503050406030204" pitchFamily="18" charset="0"/>
                        </a:rPr>
                        <m:t>𝑄</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𝑄</m:t>
                      </m:r>
                      <m:r>
                        <a:rPr lang="en-US" sz="2400" b="0" i="1" smtClean="0">
                          <a:solidFill>
                            <a:srgbClr val="C00000"/>
                          </a:solidFill>
                          <a:latin typeface="Cambria Math" panose="02040503050406030204" pitchFamily="18" charset="0"/>
                        </a:rPr>
                        <m:t>=5−0.25</m:t>
                      </m:r>
                      <m:r>
                        <a:rPr lang="en-US" sz="2400" b="0" i="1" smtClean="0">
                          <a:solidFill>
                            <a:srgbClr val="C00000"/>
                          </a:solidFill>
                          <a:latin typeface="Cambria Math" panose="02040503050406030204" pitchFamily="18" charset="0"/>
                        </a:rPr>
                        <m:t>𝑃</m:t>
                      </m:r>
                    </m:oMath>
                  </m:oMathPara>
                </a14:m>
                <a:endParaRPr lang="en-US" sz="2400" b="0" i="0" dirty="0">
                  <a:solidFill>
                    <a:srgbClr val="C00000"/>
                  </a:solidFill>
                  <a:latin typeface="Calibri"/>
                </a:endParaRPr>
              </a:p>
            </p:txBody>
          </p:sp>
        </mc:Choice>
        <mc:Fallback xmlns="">
          <p:sp>
            <p:nvSpPr>
              <p:cNvPr id="24" name="Text Box 11"/>
              <p:cNvSpPr txBox="1">
                <a:spLocks noRot="1" noChangeAspect="1" noMove="1" noResize="1" noEditPoints="1" noAdjustHandles="1" noChangeArrowheads="1" noChangeShapeType="1" noTextEdit="1"/>
              </p:cNvSpPr>
              <p:nvPr/>
            </p:nvSpPr>
            <p:spPr bwMode="auto">
              <a:xfrm>
                <a:off x="1341425" y="1616990"/>
                <a:ext cx="2512114" cy="828619"/>
              </a:xfrm>
              <a:prstGeom prst="rect">
                <a:avLst/>
              </a:prstGeom>
              <a:blipFill>
                <a:blip r:embed="rId3"/>
                <a:stretch>
                  <a:fillRect b="-6618"/>
                </a:stretch>
              </a:blipFill>
              <a:ln w="9525">
                <a:noFill/>
                <a:miter lim="800000"/>
                <a:headEnd/>
                <a:tailEnd/>
              </a:ln>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69F43414-A1D0-41B5-80D9-D96775895BDF}"/>
              </a:ext>
            </a:extLst>
          </p:cNvPr>
          <p:cNvGrpSpPr/>
          <p:nvPr/>
        </p:nvGrpSpPr>
        <p:grpSpPr>
          <a:xfrm>
            <a:off x="956720" y="5170163"/>
            <a:ext cx="3402185" cy="1135613"/>
            <a:chOff x="907735" y="4554911"/>
            <a:chExt cx="2788184" cy="1750866"/>
          </a:xfrm>
        </p:grpSpPr>
        <p:sp>
          <p:nvSpPr>
            <p:cNvPr id="9" name="Rectangle 8"/>
            <p:cNvSpPr/>
            <p:nvPr/>
          </p:nvSpPr>
          <p:spPr>
            <a:xfrm>
              <a:off x="907735" y="4554911"/>
              <a:ext cx="2788184" cy="17508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1379851" y="4982256"/>
              <a:ext cx="1603080" cy="855157"/>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Per-visit charge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=$4∙4</a:t>
              </a:r>
              <a:r>
                <a:rPr lang="en-US" sz="2000" dirty="0">
                  <a:solidFill>
                    <a:prstClr val="black"/>
                  </a:solidFill>
                  <a:latin typeface="Calibri"/>
                  <a:cs typeface="Times New Roman" pitchFamily="18" charset="0"/>
                </a:rPr>
                <a:t>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$16</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3" name="Text Box 11"/>
          <p:cNvSpPr txBox="1">
            <a:spLocks noChangeArrowheads="1"/>
          </p:cNvSpPr>
          <p:nvPr/>
        </p:nvSpPr>
        <p:spPr bwMode="auto">
          <a:xfrm>
            <a:off x="5487028" y="5898000"/>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cxnSp>
        <p:nvCxnSpPr>
          <p:cNvPr id="31" name="Straight Arrow Connector 30"/>
          <p:cNvCxnSpPr>
            <a:cxnSpLocks/>
          </p:cNvCxnSpPr>
          <p:nvPr/>
        </p:nvCxnSpPr>
        <p:spPr>
          <a:xfrm flipH="1">
            <a:off x="3496200" y="2721429"/>
            <a:ext cx="1796390" cy="268874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grpSp>
        <p:nvGrpSpPr>
          <p:cNvPr id="7" name="Group 6">
            <a:extLst>
              <a:ext uri="{FF2B5EF4-FFF2-40B4-BE49-F238E27FC236}">
                <a16:creationId xmlns:a16="http://schemas.microsoft.com/office/drawing/2014/main" id="{289DB82F-3B1C-4E33-A30A-997EFA92CB46}"/>
              </a:ext>
            </a:extLst>
          </p:cNvPr>
          <p:cNvGrpSpPr/>
          <p:nvPr/>
        </p:nvGrpSpPr>
        <p:grpSpPr>
          <a:xfrm>
            <a:off x="4217618" y="5170163"/>
            <a:ext cx="1673618" cy="1513325"/>
            <a:chOff x="4217618" y="5170163"/>
            <a:chExt cx="1673618" cy="1513325"/>
          </a:xfrm>
        </p:grpSpPr>
        <p:sp>
          <p:nvSpPr>
            <p:cNvPr id="57" name="TextBox 56"/>
            <p:cNvSpPr txBox="1"/>
            <p:nvPr/>
          </p:nvSpPr>
          <p:spPr>
            <a:xfrm>
              <a:off x="4217618" y="6314156"/>
              <a:ext cx="16736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a:ea typeface="+mn-ea"/>
                  <a:cs typeface="+mn-cs"/>
                </a:rPr>
                <a:t>4</a:t>
              </a:r>
              <a:r>
                <a:rPr kumimoji="0" lang="en-US" sz="1400" b="0" i="0" u="none" strike="noStrike" kern="1200" cap="none" spc="0" normalizeH="0" baseline="0" noProof="0" dirty="0">
                  <a:ln>
                    <a:noFill/>
                  </a:ln>
                  <a:solidFill>
                    <a:schemeClr val="accent1">
                      <a:lumMod val="75000"/>
                    </a:schemeClr>
                  </a:solidFill>
                  <a:effectLst/>
                  <a:uLnTx/>
                  <a:uFillTx/>
                  <a:latin typeface="Calibri"/>
                  <a:ea typeface="+mn-ea"/>
                  <a:cs typeface="+mn-cs"/>
                </a:rPr>
                <a:t> (Q=5-0.25MC)</a:t>
              </a:r>
              <a:endParaRPr kumimoji="0" lang="en-US" sz="1800" b="0" i="0" u="none" strike="noStrike" kern="1200" cap="none" spc="0" normalizeH="0" baseline="0" noProof="0" dirty="0">
                <a:ln>
                  <a:noFill/>
                </a:ln>
                <a:solidFill>
                  <a:schemeClr val="accent1">
                    <a:lumMod val="75000"/>
                  </a:schemeClr>
                </a:solidFill>
                <a:effectLst/>
                <a:uLnTx/>
                <a:uFillTx/>
                <a:latin typeface="Calibri"/>
                <a:ea typeface="+mn-ea"/>
                <a:cs typeface="+mn-cs"/>
              </a:endParaRPr>
            </a:p>
          </p:txBody>
        </p:sp>
        <p:cxnSp>
          <p:nvCxnSpPr>
            <p:cNvPr id="6" name="Straight Connector 5">
              <a:extLst>
                <a:ext uri="{FF2B5EF4-FFF2-40B4-BE49-F238E27FC236}">
                  <a16:creationId xmlns:a16="http://schemas.microsoft.com/office/drawing/2014/main" id="{4CB679D2-FB63-4604-B2E6-2CAD211AE8AD}"/>
                </a:ext>
              </a:extLst>
            </p:cNvPr>
            <p:cNvCxnSpPr/>
            <p:nvPr/>
          </p:nvCxnSpPr>
          <p:spPr>
            <a:xfrm>
              <a:off x="4397506" y="5170163"/>
              <a:ext cx="0" cy="1179202"/>
            </a:xfrm>
            <a:prstGeom prst="line">
              <a:avLst/>
            </a:prstGeom>
            <a:ln w="38100">
              <a:prstDash val="sys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7995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Zoo Pricing – Comparison to Simple Pricing</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604522" y="938521"/>
            <a:ext cx="638175"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41" name="Text Box 6"/>
          <p:cNvSpPr txBox="1">
            <a:spLocks noChangeArrowheads="1"/>
          </p:cNvSpPr>
          <p:nvPr/>
        </p:nvSpPr>
        <p:spPr bwMode="auto">
          <a:xfrm>
            <a:off x="6198714" y="6363653"/>
            <a:ext cx="2183285"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a:t>
            </a:r>
            <a:r>
              <a:rPr kumimoji="0" lang="en-US" b="0" i="0" u="none" strike="noStrike" kern="1200" cap="none" spc="0" normalizeH="0" baseline="0" noProof="0" dirty="0">
                <a:ln>
                  <a:noFill/>
                </a:ln>
                <a:solidFill>
                  <a:prstClr val="black"/>
                </a:solidFill>
                <a:effectLst/>
                <a:uLnTx/>
                <a:uFillTx/>
                <a:latin typeface="Calibri"/>
                <a:ea typeface="+mn-ea"/>
                <a:cs typeface="Times New Roman" pitchFamily="18" charset="0"/>
              </a:rPr>
              <a:t>(visits per year)</a:t>
            </a:r>
            <a:endPar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5" name="Text Box 11"/>
          <p:cNvSpPr txBox="1">
            <a:spLocks noChangeArrowheads="1"/>
          </p:cNvSpPr>
          <p:nvPr/>
        </p:nvSpPr>
        <p:spPr bwMode="auto">
          <a:xfrm>
            <a:off x="4746496" y="4957777"/>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0070C0"/>
                </a:solidFill>
                <a:effectLst/>
                <a:uLnTx/>
                <a:uFillTx/>
                <a:latin typeface="Calibri"/>
                <a:ea typeface="+mn-ea"/>
                <a:cs typeface="Times New Roman" pitchFamily="18" charset="0"/>
              </a:rPr>
              <a:t>MC</a:t>
            </a:r>
          </a:p>
        </p:txBody>
      </p:sp>
      <p:sp>
        <p:nvSpPr>
          <p:cNvPr id="46" name="Line 12"/>
          <p:cNvSpPr>
            <a:spLocks noChangeShapeType="1"/>
          </p:cNvSpPr>
          <p:nvPr/>
        </p:nvSpPr>
        <p:spPr bwMode="auto">
          <a:xfrm>
            <a:off x="953771" y="2007553"/>
            <a:ext cx="4718895"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307396" y="1763320"/>
            <a:ext cx="6381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$20</a:t>
            </a:r>
          </a:p>
        </p:txBody>
      </p:sp>
      <p:sp>
        <p:nvSpPr>
          <p:cNvPr id="23" name="Content Placeholder 1"/>
          <p:cNvSpPr txBox="1">
            <a:spLocks/>
          </p:cNvSpPr>
          <p:nvPr/>
        </p:nvSpPr>
        <p:spPr>
          <a:xfrm>
            <a:off x="5026555" y="1419985"/>
            <a:ext cx="4131846"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6403" marR="0" lvl="0"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rPr>
              <a:t>Simple Pricing:</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Profit: </a:t>
            </a:r>
            <a:r>
              <a:rPr lang="en-US" sz="2425" dirty="0">
                <a:solidFill>
                  <a:srgbClr val="1F497D">
                    <a:lumMod val="75000"/>
                  </a:srgbClr>
                </a:solidFill>
                <a:highlight>
                  <a:srgbClr val="C0C0C0"/>
                </a:highlight>
              </a:rPr>
              <a:t>$16</a:t>
            </a:r>
            <a:r>
              <a:rPr lang="en-US" sz="2425" dirty="0">
                <a:solidFill>
                  <a:srgbClr val="1F497D">
                    <a:lumMod val="75000"/>
                  </a:srgbClr>
                </a:solidFill>
              </a:rPr>
              <a:t> per customer </a:t>
            </a:r>
            <a:r>
              <a:rPr lang="en-US" sz="2000" dirty="0">
                <a:solidFill>
                  <a:srgbClr val="1F497D">
                    <a:lumMod val="75000"/>
                  </a:srgbClr>
                </a:solidFill>
              </a:rPr>
              <a:t>(assuming zero fixed cost)</a:t>
            </a:r>
            <a:endPar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
        <p:nvSpPr>
          <p:cNvPr id="28" name="Line 9"/>
          <p:cNvSpPr>
            <a:spLocks noChangeShapeType="1"/>
          </p:cNvSpPr>
          <p:nvPr/>
        </p:nvSpPr>
        <p:spPr bwMode="auto">
          <a:xfrm>
            <a:off x="933772" y="5136653"/>
            <a:ext cx="3799732" cy="39067"/>
          </a:xfrm>
          <a:prstGeom prst="line">
            <a:avLst/>
          </a:prstGeom>
          <a:noFill/>
          <a:ln w="57150">
            <a:solidFill>
              <a:schemeClr val="accent1">
                <a:lumMod val="75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9" name="TextBox 18"/>
          <p:cNvSpPr txBox="1"/>
          <p:nvPr/>
        </p:nvSpPr>
        <p:spPr>
          <a:xfrm>
            <a:off x="5564684" y="6300534"/>
            <a:ext cx="5743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5</a:t>
            </a:r>
          </a:p>
        </p:txBody>
      </p:sp>
      <p:sp>
        <p:nvSpPr>
          <p:cNvPr id="20" name="TextBox 19"/>
          <p:cNvSpPr txBox="1"/>
          <p:nvPr/>
        </p:nvSpPr>
        <p:spPr>
          <a:xfrm>
            <a:off x="384731" y="4951988"/>
            <a:ext cx="53044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$4</a:t>
            </a:r>
          </a:p>
        </p:txBody>
      </p:sp>
      <mc:AlternateContent xmlns:mc="http://schemas.openxmlformats.org/markup-compatibility/2006" xmlns:a14="http://schemas.microsoft.com/office/drawing/2010/main">
        <mc:Choice Requires="a14">
          <p:sp>
            <p:nvSpPr>
              <p:cNvPr id="24" name="Text Box 11"/>
              <p:cNvSpPr txBox="1">
                <a:spLocks noChangeArrowheads="1"/>
              </p:cNvSpPr>
              <p:nvPr/>
            </p:nvSpPr>
            <p:spPr bwMode="auto">
              <a:xfrm>
                <a:off x="1685799" y="1604343"/>
                <a:ext cx="2386497" cy="1329589"/>
              </a:xfrm>
              <a:prstGeom prst="rect">
                <a:avLst/>
              </a:prstGeom>
              <a:noFill/>
              <a:ln w="9525">
                <a:noFill/>
                <a:miter lim="800000"/>
                <a:headEnd/>
                <a:tailEnd/>
              </a:ln>
              <a:effectLst/>
            </p:spPr>
            <p:txBody>
              <a:bodyPr wrap="square" lIns="97530" tIns="48765" rIns="97530" bIns="48765">
                <a:spAutoFit/>
              </a:bodyPr>
              <a:lstStyle/>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𝑃</m:t>
                      </m:r>
                      <m:r>
                        <a:rPr lang="en-US" sz="2000" b="0" i="1" smtClean="0">
                          <a:solidFill>
                            <a:schemeClr val="accent3">
                              <a:lumMod val="75000"/>
                            </a:schemeClr>
                          </a:solidFill>
                          <a:latin typeface="Cambria Math" panose="02040503050406030204" pitchFamily="18" charset="0"/>
                        </a:rPr>
                        <m:t>=20−4</m:t>
                      </m:r>
                      <m:r>
                        <a:rPr lang="en-US" sz="2000" b="0" i="1" smtClean="0">
                          <a:solidFill>
                            <a:schemeClr val="accent3">
                              <a:lumMod val="75000"/>
                            </a:schemeClr>
                          </a:solidFill>
                          <a:latin typeface="Cambria Math" panose="02040503050406030204" pitchFamily="18" charset="0"/>
                        </a:rPr>
                        <m:t>𝑄</m:t>
                      </m:r>
                    </m:oMath>
                  </m:oMathPara>
                </a14:m>
                <a:endParaRPr lang="en-US" sz="2000" b="0" i="1" dirty="0">
                  <a:solidFill>
                    <a:schemeClr val="accent3">
                      <a:lumMod val="75000"/>
                    </a:schemeClr>
                  </a:solidFill>
                  <a:latin typeface="Cambria Math" panose="02040503050406030204" pitchFamily="18" charset="0"/>
                </a:endParaRPr>
              </a:p>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m:t>
                      </m:r>
                      <m:r>
                        <a:rPr lang="en-US" sz="2000" b="0" i="1" smtClean="0">
                          <a:solidFill>
                            <a:schemeClr val="accent3">
                              <a:lumMod val="75000"/>
                            </a:schemeClr>
                          </a:solidFill>
                          <a:latin typeface="Cambria Math" panose="02040503050406030204" pitchFamily="18" charset="0"/>
                        </a:rPr>
                        <m:t>𝑀𝑅</m:t>
                      </m:r>
                      <m:r>
                        <a:rPr lang="en-US" sz="2000" b="0" i="1" smtClean="0">
                          <a:solidFill>
                            <a:schemeClr val="accent3">
                              <a:lumMod val="75000"/>
                            </a:schemeClr>
                          </a:solidFill>
                          <a:latin typeface="Cambria Math" panose="02040503050406030204" pitchFamily="18" charset="0"/>
                        </a:rPr>
                        <m:t>=20−8</m:t>
                      </m:r>
                      <m:r>
                        <a:rPr lang="en-US" sz="2000" b="0" i="1" smtClean="0">
                          <a:solidFill>
                            <a:schemeClr val="accent3">
                              <a:lumMod val="75000"/>
                            </a:schemeClr>
                          </a:solidFill>
                          <a:latin typeface="Cambria Math" panose="02040503050406030204" pitchFamily="18" charset="0"/>
                        </a:rPr>
                        <m:t>𝑄</m:t>
                      </m:r>
                    </m:oMath>
                  </m:oMathPara>
                </a14:m>
                <a:endParaRPr lang="en-US" sz="2000" b="0" i="1" dirty="0">
                  <a:solidFill>
                    <a:schemeClr val="accent3">
                      <a:lumMod val="75000"/>
                    </a:schemeClr>
                  </a:solidFill>
                  <a:latin typeface="Cambria Math" panose="02040503050406030204" pitchFamily="18" charset="0"/>
                </a:endParaRPr>
              </a:p>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𝑀𝑅</m:t>
                      </m:r>
                      <m:r>
                        <a:rPr lang="en-US" sz="2000" b="0" i="1" smtClean="0">
                          <a:solidFill>
                            <a:schemeClr val="accent3">
                              <a:lumMod val="75000"/>
                            </a:schemeClr>
                          </a:solidFill>
                          <a:latin typeface="Cambria Math" panose="02040503050406030204" pitchFamily="18" charset="0"/>
                        </a:rPr>
                        <m:t>=</m:t>
                      </m:r>
                      <m:r>
                        <a:rPr lang="en-US" sz="2000" b="0" i="1" smtClean="0">
                          <a:solidFill>
                            <a:schemeClr val="accent3">
                              <a:lumMod val="75000"/>
                            </a:schemeClr>
                          </a:solidFill>
                          <a:latin typeface="Cambria Math" panose="02040503050406030204" pitchFamily="18" charset="0"/>
                        </a:rPr>
                        <m:t>𝑀𝐶</m:t>
                      </m:r>
                      <m:r>
                        <a:rPr lang="en-US" sz="2000" b="0" i="1" smtClean="0">
                          <a:solidFill>
                            <a:schemeClr val="accent3">
                              <a:lumMod val="75000"/>
                            </a:schemeClr>
                          </a:solidFill>
                          <a:latin typeface="Cambria Math" panose="02040503050406030204" pitchFamily="18" charset="0"/>
                        </a:rPr>
                        <m:t>=4</m:t>
                      </m:r>
                    </m:oMath>
                  </m:oMathPara>
                </a14:m>
                <a:endParaRPr lang="en-US" sz="2000" b="0" i="1" dirty="0">
                  <a:solidFill>
                    <a:schemeClr val="accent3">
                      <a:lumMod val="75000"/>
                    </a:schemeClr>
                  </a:solidFill>
                  <a:latin typeface="Cambria Math" panose="02040503050406030204" pitchFamily="18" charset="0"/>
                </a:endParaRPr>
              </a:p>
              <a:p>
                <a:pPr lvl="0" defTabSz="974725">
                  <a:spcBef>
                    <a:spcPct val="50000"/>
                  </a:spcBef>
                  <a:defRPr/>
                </a:pPr>
                <a14:m>
                  <m:oMathPara xmlns:m="http://schemas.openxmlformats.org/officeDocument/2006/math">
                    <m:oMathParaPr>
                      <m:jc m:val="centerGroup"/>
                    </m:oMathParaPr>
                    <m:oMath xmlns:m="http://schemas.openxmlformats.org/officeDocument/2006/math">
                      <m:r>
                        <a:rPr lang="en-US" sz="2000" b="0" i="1" smtClean="0">
                          <a:solidFill>
                            <a:schemeClr val="accent3">
                              <a:lumMod val="75000"/>
                            </a:schemeClr>
                          </a:solidFill>
                          <a:latin typeface="Cambria Math" panose="02040503050406030204" pitchFamily="18" charset="0"/>
                        </a:rPr>
                        <m:t>⇒</m:t>
                      </m:r>
                      <m:sSup>
                        <m:sSupPr>
                          <m:ctrlPr>
                            <a:rPr lang="en-US" sz="2000" b="0" i="1" smtClean="0">
                              <a:solidFill>
                                <a:schemeClr val="accent3">
                                  <a:lumMod val="75000"/>
                                </a:schemeClr>
                              </a:solidFill>
                              <a:latin typeface="Cambria Math" panose="02040503050406030204" pitchFamily="18" charset="0"/>
                            </a:rPr>
                          </m:ctrlPr>
                        </m:sSupPr>
                        <m:e>
                          <m:r>
                            <a:rPr lang="en-US" sz="2000" b="0" i="1" smtClean="0">
                              <a:solidFill>
                                <a:schemeClr val="accent3">
                                  <a:lumMod val="75000"/>
                                </a:schemeClr>
                              </a:solidFill>
                              <a:latin typeface="Cambria Math" panose="02040503050406030204" pitchFamily="18" charset="0"/>
                            </a:rPr>
                            <m:t>𝑄</m:t>
                          </m:r>
                        </m:e>
                        <m:sup>
                          <m:r>
                            <a:rPr lang="en-US" sz="2000" b="0" i="1" smtClean="0">
                              <a:solidFill>
                                <a:schemeClr val="accent3">
                                  <a:lumMod val="75000"/>
                                </a:schemeClr>
                              </a:solidFill>
                              <a:latin typeface="Cambria Math" panose="02040503050406030204" pitchFamily="18" charset="0"/>
                            </a:rPr>
                            <m:t>∗</m:t>
                          </m:r>
                        </m:sup>
                      </m:sSup>
                      <m:r>
                        <a:rPr lang="en-US" sz="2000" b="0" i="1" smtClean="0">
                          <a:solidFill>
                            <a:schemeClr val="accent3">
                              <a:lumMod val="75000"/>
                            </a:schemeClr>
                          </a:solidFill>
                          <a:latin typeface="Cambria Math" panose="02040503050406030204" pitchFamily="18" charset="0"/>
                        </a:rPr>
                        <m:t>=2;</m:t>
                      </m:r>
                      <m:sSup>
                        <m:sSupPr>
                          <m:ctrlPr>
                            <a:rPr lang="en-US" sz="2000" b="0" i="1" smtClean="0">
                              <a:solidFill>
                                <a:schemeClr val="accent3">
                                  <a:lumMod val="75000"/>
                                </a:schemeClr>
                              </a:solidFill>
                              <a:latin typeface="Cambria Math" panose="02040503050406030204" pitchFamily="18" charset="0"/>
                            </a:rPr>
                          </m:ctrlPr>
                        </m:sSupPr>
                        <m:e>
                          <m:r>
                            <a:rPr lang="en-US" sz="2000" b="0" i="1" smtClean="0">
                              <a:solidFill>
                                <a:schemeClr val="accent3">
                                  <a:lumMod val="75000"/>
                                </a:schemeClr>
                              </a:solidFill>
                              <a:latin typeface="Cambria Math" panose="02040503050406030204" pitchFamily="18" charset="0"/>
                            </a:rPr>
                            <m:t>𝑃</m:t>
                          </m:r>
                        </m:e>
                        <m:sup>
                          <m:r>
                            <a:rPr lang="en-US" sz="2000" b="0" i="1" smtClean="0">
                              <a:solidFill>
                                <a:schemeClr val="accent3">
                                  <a:lumMod val="75000"/>
                                </a:schemeClr>
                              </a:solidFill>
                              <a:latin typeface="Cambria Math" panose="02040503050406030204" pitchFamily="18" charset="0"/>
                            </a:rPr>
                            <m:t>∗</m:t>
                          </m:r>
                        </m:sup>
                      </m:sSup>
                      <m:r>
                        <a:rPr lang="en-US" sz="2000" b="0" i="1" smtClean="0">
                          <a:solidFill>
                            <a:schemeClr val="accent3">
                              <a:lumMod val="75000"/>
                            </a:schemeClr>
                          </a:solidFill>
                          <a:latin typeface="Cambria Math" panose="02040503050406030204" pitchFamily="18" charset="0"/>
                        </a:rPr>
                        <m:t>=12</m:t>
                      </m:r>
                    </m:oMath>
                  </m:oMathPara>
                </a14:m>
                <a:endParaRPr lang="en-US" sz="2000" b="0" i="0" dirty="0">
                  <a:solidFill>
                    <a:schemeClr val="accent3">
                      <a:lumMod val="75000"/>
                    </a:schemeClr>
                  </a:solidFill>
                  <a:latin typeface="Calibri"/>
                </a:endParaRPr>
              </a:p>
            </p:txBody>
          </p:sp>
        </mc:Choice>
        <mc:Fallback xmlns="">
          <p:sp>
            <p:nvSpPr>
              <p:cNvPr id="24" name="Text Box 11"/>
              <p:cNvSpPr txBox="1">
                <a:spLocks noRot="1" noChangeAspect="1" noMove="1" noResize="1" noEditPoints="1" noAdjustHandles="1" noChangeArrowheads="1" noChangeShapeType="1" noTextEdit="1"/>
              </p:cNvSpPr>
              <p:nvPr/>
            </p:nvSpPr>
            <p:spPr bwMode="auto">
              <a:xfrm>
                <a:off x="1685799" y="1604343"/>
                <a:ext cx="2386497" cy="1329589"/>
              </a:xfrm>
              <a:prstGeom prst="rect">
                <a:avLst/>
              </a:prstGeom>
              <a:blipFill>
                <a:blip r:embed="rId3"/>
                <a:stretch>
                  <a:fillRect b="-1835"/>
                </a:stretch>
              </a:blipFill>
              <a:ln w="9525">
                <a:noFill/>
                <a:miter lim="800000"/>
                <a:headEnd/>
                <a:tailEnd/>
              </a:ln>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69F43414-A1D0-41B5-80D9-D96775895BDF}"/>
              </a:ext>
            </a:extLst>
          </p:cNvPr>
          <p:cNvGrpSpPr/>
          <p:nvPr/>
        </p:nvGrpSpPr>
        <p:grpSpPr>
          <a:xfrm>
            <a:off x="893230" y="3541051"/>
            <a:ext cx="1672211" cy="1595602"/>
            <a:chOff x="821124" y="4554911"/>
            <a:chExt cx="2874795" cy="1750866"/>
          </a:xfrm>
        </p:grpSpPr>
        <p:sp>
          <p:nvSpPr>
            <p:cNvPr id="9" name="Rectangle 8"/>
            <p:cNvSpPr/>
            <p:nvPr/>
          </p:nvSpPr>
          <p:spPr>
            <a:xfrm>
              <a:off x="907735" y="4554911"/>
              <a:ext cx="2788184" cy="1750866"/>
            </a:xfrm>
            <a:prstGeom prst="rect">
              <a:avLst/>
            </a:prstGeom>
            <a:gradFill>
              <a:gsLst>
                <a:gs pos="0">
                  <a:schemeClr val="accent3">
                    <a:lumMod val="75000"/>
                  </a:schemeClr>
                </a:gs>
                <a:gs pos="100000">
                  <a:schemeClr val="accent3">
                    <a:lumMod val="40000"/>
                    <a:lumOff val="6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821124" y="4982256"/>
              <a:ext cx="2720540" cy="1114495"/>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cs typeface="Times New Roman" pitchFamily="18" charset="0"/>
                </a:rPr>
                <a:t>Under simple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Pricing: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cs typeface="Times New Roman" pitchFamily="18" charset="0"/>
                </a:rPr>
                <a:t>$16</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3" name="Text Box 11"/>
          <p:cNvSpPr txBox="1">
            <a:spLocks noChangeArrowheads="1"/>
          </p:cNvSpPr>
          <p:nvPr/>
        </p:nvSpPr>
        <p:spPr bwMode="auto">
          <a:xfrm>
            <a:off x="5487028" y="5898000"/>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sp>
        <p:nvSpPr>
          <p:cNvPr id="29" name="Line 12">
            <a:extLst>
              <a:ext uri="{FF2B5EF4-FFF2-40B4-BE49-F238E27FC236}">
                <a16:creationId xmlns:a16="http://schemas.microsoft.com/office/drawing/2014/main" id="{014B4A97-9BE0-4473-865A-6D9C323216CC}"/>
              </a:ext>
            </a:extLst>
          </p:cNvPr>
          <p:cNvSpPr>
            <a:spLocks noChangeShapeType="1"/>
          </p:cNvSpPr>
          <p:nvPr/>
        </p:nvSpPr>
        <p:spPr bwMode="auto">
          <a:xfrm>
            <a:off x="983281" y="2064616"/>
            <a:ext cx="2363248" cy="4525963"/>
          </a:xfrm>
          <a:prstGeom prst="line">
            <a:avLst/>
          </a:prstGeom>
          <a:noFill/>
          <a:ln w="38100">
            <a:solidFill>
              <a:srgbClr val="C00000"/>
            </a:solidFill>
            <a:prstDash val="sysDash"/>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30" name="Text Box 11">
            <a:extLst>
              <a:ext uri="{FF2B5EF4-FFF2-40B4-BE49-F238E27FC236}">
                <a16:creationId xmlns:a16="http://schemas.microsoft.com/office/drawing/2014/main" id="{2653D4F7-A08C-454A-A379-F70D67899194}"/>
              </a:ext>
            </a:extLst>
          </p:cNvPr>
          <p:cNvSpPr txBox="1">
            <a:spLocks noChangeArrowheads="1"/>
          </p:cNvSpPr>
          <p:nvPr/>
        </p:nvSpPr>
        <p:spPr bwMode="auto">
          <a:xfrm>
            <a:off x="3321530" y="6311718"/>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MR</a:t>
            </a:r>
          </a:p>
        </p:txBody>
      </p:sp>
      <p:grpSp>
        <p:nvGrpSpPr>
          <p:cNvPr id="11" name="Group 10">
            <a:extLst>
              <a:ext uri="{FF2B5EF4-FFF2-40B4-BE49-F238E27FC236}">
                <a16:creationId xmlns:a16="http://schemas.microsoft.com/office/drawing/2014/main" id="{3272D398-3121-4283-AA81-F52C81CC3A60}"/>
              </a:ext>
            </a:extLst>
          </p:cNvPr>
          <p:cNvGrpSpPr/>
          <p:nvPr/>
        </p:nvGrpSpPr>
        <p:grpSpPr>
          <a:xfrm>
            <a:off x="342497" y="3329591"/>
            <a:ext cx="3729799" cy="3332656"/>
            <a:chOff x="342497" y="3329591"/>
            <a:chExt cx="3729799" cy="3332656"/>
          </a:xfrm>
        </p:grpSpPr>
        <p:grpSp>
          <p:nvGrpSpPr>
            <p:cNvPr id="7" name="Group 6">
              <a:extLst>
                <a:ext uri="{FF2B5EF4-FFF2-40B4-BE49-F238E27FC236}">
                  <a16:creationId xmlns:a16="http://schemas.microsoft.com/office/drawing/2014/main" id="{289DB82F-3B1C-4E33-A30A-997EFA92CB46}"/>
                </a:ext>
              </a:extLst>
            </p:cNvPr>
            <p:cNvGrpSpPr/>
            <p:nvPr/>
          </p:nvGrpSpPr>
          <p:grpSpPr>
            <a:xfrm>
              <a:off x="2398678" y="3533992"/>
              <a:ext cx="1673618" cy="3128255"/>
              <a:chOff x="4217618" y="3555233"/>
              <a:chExt cx="1673618" cy="3128255"/>
            </a:xfrm>
          </p:grpSpPr>
          <p:sp>
            <p:nvSpPr>
              <p:cNvPr id="57" name="TextBox 56"/>
              <p:cNvSpPr txBox="1"/>
              <p:nvPr/>
            </p:nvSpPr>
            <p:spPr>
              <a:xfrm>
                <a:off x="4217618" y="6314156"/>
                <a:ext cx="16736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3">
                        <a:lumMod val="75000"/>
                      </a:schemeClr>
                    </a:solidFill>
                    <a:effectLst/>
                    <a:uLnTx/>
                    <a:uFillTx/>
                    <a:latin typeface="Calibri"/>
                    <a:ea typeface="+mn-ea"/>
                    <a:cs typeface="+mn-cs"/>
                  </a:rPr>
                  <a:t>2</a:t>
                </a:r>
              </a:p>
            </p:txBody>
          </p:sp>
          <p:cxnSp>
            <p:nvCxnSpPr>
              <p:cNvPr id="6" name="Straight Connector 5">
                <a:extLst>
                  <a:ext uri="{FF2B5EF4-FFF2-40B4-BE49-F238E27FC236}">
                    <a16:creationId xmlns:a16="http://schemas.microsoft.com/office/drawing/2014/main" id="{4CB679D2-FB63-4604-B2E6-2CAD211AE8AD}"/>
                  </a:ext>
                </a:extLst>
              </p:cNvPr>
              <p:cNvCxnSpPr>
                <a:cxnSpLocks/>
              </p:cNvCxnSpPr>
              <p:nvPr/>
            </p:nvCxnSpPr>
            <p:spPr>
              <a:xfrm>
                <a:off x="4397506" y="3555233"/>
                <a:ext cx="0" cy="2794132"/>
              </a:xfrm>
              <a:prstGeom prst="line">
                <a:avLst/>
              </a:prstGeom>
              <a:ln w="38100">
                <a:solidFill>
                  <a:schemeClr val="accent3">
                    <a:lumMod val="75000"/>
                  </a:schemeClr>
                </a:solidFill>
                <a:prstDash val="sysDash"/>
              </a:ln>
            </p:spPr>
            <p:style>
              <a:lnRef idx="2">
                <a:schemeClr val="accent1"/>
              </a:lnRef>
              <a:fillRef idx="0">
                <a:schemeClr val="accent1"/>
              </a:fillRef>
              <a:effectRef idx="1">
                <a:schemeClr val="accent1"/>
              </a:effectRef>
              <a:fontRef idx="minor">
                <a:schemeClr val="tx1"/>
              </a:fontRef>
            </p:style>
          </p:cxnSp>
        </p:grpSp>
        <p:cxnSp>
          <p:nvCxnSpPr>
            <p:cNvPr id="34" name="Straight Connector 33">
              <a:extLst>
                <a:ext uri="{FF2B5EF4-FFF2-40B4-BE49-F238E27FC236}">
                  <a16:creationId xmlns:a16="http://schemas.microsoft.com/office/drawing/2014/main" id="{E1F4AA7A-0150-4F7C-9FD6-B30DD5333D03}"/>
                </a:ext>
              </a:extLst>
            </p:cNvPr>
            <p:cNvCxnSpPr>
              <a:cxnSpLocks/>
            </p:cNvCxnSpPr>
            <p:nvPr/>
          </p:nvCxnSpPr>
          <p:spPr>
            <a:xfrm flipH="1">
              <a:off x="956722" y="3512219"/>
              <a:ext cx="1621844" cy="0"/>
            </a:xfrm>
            <a:prstGeom prst="line">
              <a:avLst/>
            </a:prstGeom>
            <a:ln w="38100">
              <a:solidFill>
                <a:schemeClr val="accent3">
                  <a:lumMod val="7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AC1A905-BF6E-43A6-86E7-434188D5FF25}"/>
                </a:ext>
              </a:extLst>
            </p:cNvPr>
            <p:cNvSpPr txBox="1"/>
            <p:nvPr/>
          </p:nvSpPr>
          <p:spPr>
            <a:xfrm>
              <a:off x="342497" y="3329591"/>
              <a:ext cx="7104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3">
                      <a:lumMod val="75000"/>
                    </a:schemeClr>
                  </a:solidFill>
                  <a:effectLst/>
                  <a:uLnTx/>
                  <a:uFillTx/>
                  <a:latin typeface="Calibri"/>
                  <a:ea typeface="+mn-ea"/>
                  <a:cs typeface="+mn-cs"/>
                </a:rPr>
                <a:t>$12</a:t>
              </a:r>
            </a:p>
          </p:txBody>
        </p:sp>
      </p:grpSp>
      <p:cxnSp>
        <p:nvCxnSpPr>
          <p:cNvPr id="25" name="Straight Arrow Connector 24"/>
          <p:cNvCxnSpPr>
            <a:cxnSpLocks/>
          </p:cNvCxnSpPr>
          <p:nvPr/>
        </p:nvCxnSpPr>
        <p:spPr>
          <a:xfrm flipH="1">
            <a:off x="2264229" y="2192219"/>
            <a:ext cx="3207725" cy="1595602"/>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054158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Zoo Pricing – Comparison to Flat </a:t>
            </a:r>
            <a:r>
              <a:rPr lang="en-US" sz="3200" dirty="0" err="1">
                <a:latin typeface="Whitney-Medium" pitchFamily="50" charset="0"/>
                <a:cs typeface="Whitney-Medium" pitchFamily="50" charset="0"/>
              </a:rPr>
              <a:t>FEe</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604522" y="938521"/>
            <a:ext cx="638175"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41" name="Text Box 6"/>
          <p:cNvSpPr txBox="1">
            <a:spLocks noChangeArrowheads="1"/>
          </p:cNvSpPr>
          <p:nvPr/>
        </p:nvSpPr>
        <p:spPr bwMode="auto">
          <a:xfrm>
            <a:off x="6198714" y="6363653"/>
            <a:ext cx="2183285"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a:t>
            </a:r>
            <a:r>
              <a:rPr kumimoji="0" lang="en-US" b="0" i="0" u="none" strike="noStrike" kern="1200" cap="none" spc="0" normalizeH="0" baseline="0" noProof="0" dirty="0">
                <a:ln>
                  <a:noFill/>
                </a:ln>
                <a:solidFill>
                  <a:prstClr val="black"/>
                </a:solidFill>
                <a:effectLst/>
                <a:uLnTx/>
                <a:uFillTx/>
                <a:latin typeface="Calibri"/>
                <a:ea typeface="+mn-ea"/>
                <a:cs typeface="Times New Roman" pitchFamily="18" charset="0"/>
              </a:rPr>
              <a:t>(visits per year)</a:t>
            </a:r>
            <a:endPar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5" name="Text Box 11"/>
          <p:cNvSpPr txBox="1">
            <a:spLocks noChangeArrowheads="1"/>
          </p:cNvSpPr>
          <p:nvPr/>
        </p:nvSpPr>
        <p:spPr bwMode="auto">
          <a:xfrm>
            <a:off x="6218713" y="4933524"/>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0070C0"/>
                </a:solidFill>
                <a:effectLst/>
                <a:uLnTx/>
                <a:uFillTx/>
                <a:latin typeface="Calibri"/>
                <a:ea typeface="+mn-ea"/>
                <a:cs typeface="Times New Roman" pitchFamily="18" charset="0"/>
              </a:rPr>
              <a:t>MC</a:t>
            </a:r>
          </a:p>
        </p:txBody>
      </p:sp>
      <p:sp>
        <p:nvSpPr>
          <p:cNvPr id="46" name="Line 12"/>
          <p:cNvSpPr>
            <a:spLocks noChangeShapeType="1"/>
          </p:cNvSpPr>
          <p:nvPr/>
        </p:nvSpPr>
        <p:spPr bwMode="auto">
          <a:xfrm>
            <a:off x="953771" y="2007553"/>
            <a:ext cx="4718895"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6" name="TextBox 55"/>
          <p:cNvSpPr txBox="1"/>
          <p:nvPr/>
        </p:nvSpPr>
        <p:spPr>
          <a:xfrm>
            <a:off x="307396" y="1763320"/>
            <a:ext cx="6381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$20</a:t>
            </a:r>
          </a:p>
        </p:txBody>
      </p:sp>
      <p:sp>
        <p:nvSpPr>
          <p:cNvPr id="23" name="Content Placeholder 1"/>
          <p:cNvSpPr txBox="1">
            <a:spLocks/>
          </p:cNvSpPr>
          <p:nvPr/>
        </p:nvSpPr>
        <p:spPr>
          <a:xfrm>
            <a:off x="4956593" y="1419985"/>
            <a:ext cx="420180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6403" marR="0" lvl="0"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625" b="0" i="0" u="none" strike="noStrike" kern="1100" cap="none" spc="50" normalizeH="0" baseline="0" noProof="0" dirty="0">
                <a:ln>
                  <a:noFill/>
                </a:ln>
                <a:solidFill>
                  <a:srgbClr val="1F497D">
                    <a:lumMod val="75000"/>
                  </a:srgbClr>
                </a:solidFill>
                <a:effectLst/>
                <a:uLnTx/>
                <a:uFillTx/>
                <a:latin typeface="Whitney-Book"/>
                <a:ea typeface="+mn-ea"/>
                <a:cs typeface="+mn-cs"/>
              </a:rPr>
              <a:t>Flat-Fee Pricing:</a:t>
            </a: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r>
              <a:rPr kumimoji="0" lang="en-US" sz="2425" b="0" i="0" u="none" strike="noStrike" kern="1100" cap="none" spc="50" normalizeH="0" baseline="0" noProof="0" dirty="0">
                <a:ln>
                  <a:noFill/>
                </a:ln>
                <a:solidFill>
                  <a:srgbClr val="C0504D"/>
                </a:solidFill>
                <a:effectLst/>
                <a:uLnTx/>
                <a:uFillTx/>
                <a:latin typeface="Whitney-Book"/>
                <a:ea typeface="+mn-ea"/>
                <a:cs typeface="+mn-cs"/>
              </a:rPr>
              <a:t>Flat fee: </a:t>
            </a:r>
            <a:r>
              <a:rPr lang="en-US" sz="2425" i="1" dirty="0">
                <a:solidFill>
                  <a:srgbClr val="1F497D">
                    <a:lumMod val="75000"/>
                  </a:srgbClr>
                </a:solidFill>
              </a:rPr>
              <a:t>F </a:t>
            </a:r>
            <a:r>
              <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rPr>
              <a:t>=$50 </a:t>
            </a:r>
          </a:p>
          <a:p>
            <a:pPr marL="266403" indent="-266403">
              <a:spcBef>
                <a:spcPts val="0"/>
              </a:spcBef>
              <a:spcAft>
                <a:spcPts val="563"/>
              </a:spcAft>
              <a:defRPr/>
            </a:pPr>
            <a:r>
              <a:rPr lang="en-US" sz="2625" dirty="0">
                <a:solidFill>
                  <a:srgbClr val="1F497D">
                    <a:lumMod val="75000"/>
                  </a:srgbClr>
                </a:solidFill>
              </a:rPr>
              <a:t>Costs due to visits is $20</a:t>
            </a:r>
          </a:p>
          <a:p>
            <a:pPr marL="266403" indent="-266403">
              <a:spcBef>
                <a:spcPts val="0"/>
              </a:spcBef>
              <a:spcAft>
                <a:spcPts val="563"/>
              </a:spcAft>
              <a:defRPr/>
            </a:pPr>
            <a:r>
              <a:rPr lang="en-US" sz="2625" dirty="0">
                <a:solidFill>
                  <a:srgbClr val="1F497D">
                    <a:lumMod val="75000"/>
                  </a:srgbClr>
                </a:solidFill>
              </a:rPr>
              <a:t>Profit: </a:t>
            </a:r>
            <a:r>
              <a:rPr lang="en-US" sz="2625" dirty="0">
                <a:solidFill>
                  <a:srgbClr val="1F497D">
                    <a:lumMod val="75000"/>
                  </a:srgbClr>
                </a:solidFill>
                <a:highlight>
                  <a:srgbClr val="C0C0C0"/>
                </a:highlight>
              </a:rPr>
              <a:t>$30</a:t>
            </a:r>
            <a:r>
              <a:rPr lang="en-US" sz="2625" dirty="0">
                <a:solidFill>
                  <a:srgbClr val="1F497D">
                    <a:lumMod val="75000"/>
                  </a:srgbClr>
                </a:solidFill>
              </a:rPr>
              <a:t> per customer</a:t>
            </a:r>
          </a:p>
          <a:p>
            <a:pPr marL="0" indent="0">
              <a:spcBef>
                <a:spcPts val="0"/>
              </a:spcBef>
              <a:spcAft>
                <a:spcPts val="563"/>
              </a:spcAft>
              <a:buNone/>
              <a:defRPr/>
            </a:pPr>
            <a:r>
              <a:rPr lang="en-US" sz="2400" dirty="0">
                <a:solidFill>
                  <a:srgbClr val="1F497D">
                    <a:lumMod val="75000"/>
                  </a:srgbClr>
                </a:solidFill>
              </a:rPr>
              <a:t>    (assuming zero fixed cost)</a:t>
            </a:r>
            <a:endParaRPr kumimoji="0" lang="en-US" sz="2400" b="0" i="0" u="none" strike="noStrike" kern="1100" cap="none" spc="50" normalizeH="0" baseline="0" noProof="0" dirty="0">
              <a:ln>
                <a:noFill/>
              </a:ln>
              <a:solidFill>
                <a:srgbClr val="1F497D">
                  <a:lumMod val="75000"/>
                </a:srgbClr>
              </a:solidFill>
              <a:effectLst/>
              <a:uLnTx/>
              <a:uFillTx/>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sp>
        <p:nvSpPr>
          <p:cNvPr id="28" name="Line 9"/>
          <p:cNvSpPr>
            <a:spLocks noChangeShapeType="1"/>
          </p:cNvSpPr>
          <p:nvPr/>
        </p:nvSpPr>
        <p:spPr bwMode="auto">
          <a:xfrm>
            <a:off x="933772" y="5136654"/>
            <a:ext cx="5281972" cy="12289"/>
          </a:xfrm>
          <a:prstGeom prst="line">
            <a:avLst/>
          </a:prstGeom>
          <a:noFill/>
          <a:ln w="57150">
            <a:solidFill>
              <a:schemeClr val="accent1">
                <a:lumMod val="75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14" name="Group 13">
            <a:extLst>
              <a:ext uri="{FF2B5EF4-FFF2-40B4-BE49-F238E27FC236}">
                <a16:creationId xmlns:a16="http://schemas.microsoft.com/office/drawing/2014/main" id="{166AF710-4C66-4BD8-B0FE-FBC9ADDEB9C9}"/>
              </a:ext>
            </a:extLst>
          </p:cNvPr>
          <p:cNvGrpSpPr/>
          <p:nvPr/>
        </p:nvGrpSpPr>
        <p:grpSpPr>
          <a:xfrm>
            <a:off x="-5565" y="2007551"/>
            <a:ext cx="5570246" cy="4274827"/>
            <a:chOff x="335595" y="2007553"/>
            <a:chExt cx="3241623" cy="2470435"/>
          </a:xfrm>
        </p:grpSpPr>
        <p:sp>
          <p:nvSpPr>
            <p:cNvPr id="17" name="Right Triangle 16"/>
            <p:cNvSpPr/>
            <p:nvPr/>
          </p:nvSpPr>
          <p:spPr>
            <a:xfrm>
              <a:off x="889111" y="2007553"/>
              <a:ext cx="2688107" cy="2470435"/>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white"/>
                </a:solidFill>
                <a:effectLst/>
                <a:uLnTx/>
                <a:uFillTx/>
                <a:latin typeface="Whitney-Book" pitchFamily="50" charset="0"/>
                <a:ea typeface="+mn-ea"/>
                <a:cs typeface="Whitney-Book" pitchFamily="50" charset="0"/>
              </a:endParaRPr>
            </a:p>
          </p:txBody>
        </p:sp>
        <p:sp>
          <p:nvSpPr>
            <p:cNvPr id="18" name="Rectangle 17"/>
            <p:cNvSpPr/>
            <p:nvPr/>
          </p:nvSpPr>
          <p:spPr>
            <a:xfrm>
              <a:off x="335595" y="2903870"/>
              <a:ext cx="2287857" cy="812262"/>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Flat fee</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sz="2000" dirty="0">
                  <a:solidFill>
                    <a:prstClr val="black"/>
                  </a:solidFill>
                  <a:cs typeface="Times New Roman" pitchFamily="18" charset="0"/>
                </a:rPr>
                <a:t>20∙5/2</a:t>
              </a:r>
            </a:p>
            <a:p>
              <a:pPr lvl="0" algn="ctr">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=$50</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9" name="TextBox 18"/>
          <p:cNvSpPr txBox="1"/>
          <p:nvPr/>
        </p:nvSpPr>
        <p:spPr>
          <a:xfrm>
            <a:off x="5564684" y="6300534"/>
            <a:ext cx="574360" cy="369332"/>
          </a:xfrm>
          <a:prstGeom prst="rect">
            <a:avLst/>
          </a:prstGeom>
          <a:noFill/>
        </p:spPr>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5</a:t>
            </a:r>
          </a:p>
        </p:txBody>
      </p:sp>
      <p:sp>
        <p:nvSpPr>
          <p:cNvPr id="20" name="TextBox 19"/>
          <p:cNvSpPr txBox="1"/>
          <p:nvPr/>
        </p:nvSpPr>
        <p:spPr>
          <a:xfrm>
            <a:off x="384731" y="4951988"/>
            <a:ext cx="53044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$4</a:t>
            </a:r>
          </a:p>
        </p:txBody>
      </p:sp>
      <p:cxnSp>
        <p:nvCxnSpPr>
          <p:cNvPr id="25" name="Straight Arrow Connector 24"/>
          <p:cNvCxnSpPr>
            <a:cxnSpLocks/>
          </p:cNvCxnSpPr>
          <p:nvPr/>
        </p:nvCxnSpPr>
        <p:spPr>
          <a:xfrm flipH="1">
            <a:off x="2424408" y="2231286"/>
            <a:ext cx="2887231" cy="1302706"/>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24" name="Text Box 11"/>
              <p:cNvSpPr txBox="1">
                <a:spLocks noChangeArrowheads="1"/>
              </p:cNvSpPr>
              <p:nvPr/>
            </p:nvSpPr>
            <p:spPr bwMode="auto">
              <a:xfrm>
                <a:off x="837585" y="1756759"/>
                <a:ext cx="2512114" cy="467814"/>
              </a:xfrm>
              <a:prstGeom prst="rect">
                <a:avLst/>
              </a:prstGeom>
              <a:noFill/>
              <a:ln w="9525">
                <a:noFill/>
                <a:miter lim="800000"/>
                <a:headEnd/>
                <a:tailEnd/>
              </a:ln>
              <a:effectLst/>
            </p:spPr>
            <p:txBody>
              <a:bodyPr wrap="square" lIns="97530" tIns="48765" rIns="97530" bIns="48765">
                <a:spAutoFit/>
              </a:bodyPr>
              <a:lstStyle/>
              <a:p>
                <a:pPr lvl="0" defTabSz="974725">
                  <a:spcBef>
                    <a:spcPct val="50000"/>
                  </a:spcBef>
                  <a:defRPr/>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𝑃</m:t>
                      </m:r>
                      <m:r>
                        <a:rPr lang="en-US" sz="2400" b="0" i="1" smtClean="0">
                          <a:solidFill>
                            <a:srgbClr val="C00000"/>
                          </a:solidFill>
                          <a:latin typeface="Cambria Math" panose="02040503050406030204" pitchFamily="18" charset="0"/>
                        </a:rPr>
                        <m:t>=20−4</m:t>
                      </m:r>
                      <m:r>
                        <a:rPr lang="en-US" sz="2400" b="0" i="1" smtClean="0">
                          <a:solidFill>
                            <a:srgbClr val="C00000"/>
                          </a:solidFill>
                          <a:latin typeface="Cambria Math" panose="02040503050406030204" pitchFamily="18" charset="0"/>
                        </a:rPr>
                        <m:t>𝑄</m:t>
                      </m:r>
                    </m:oMath>
                  </m:oMathPara>
                </a14:m>
                <a:endParaRPr lang="en-US" sz="2400" b="0" i="0" dirty="0">
                  <a:solidFill>
                    <a:srgbClr val="C00000"/>
                  </a:solidFill>
                  <a:latin typeface="Calibri"/>
                </a:endParaRPr>
              </a:p>
            </p:txBody>
          </p:sp>
        </mc:Choice>
        <mc:Fallback xmlns="">
          <p:sp>
            <p:nvSpPr>
              <p:cNvPr id="24" name="Text Box 11"/>
              <p:cNvSpPr txBox="1">
                <a:spLocks noRot="1" noChangeAspect="1" noMove="1" noResize="1" noEditPoints="1" noAdjustHandles="1" noChangeArrowheads="1" noChangeShapeType="1" noTextEdit="1"/>
              </p:cNvSpPr>
              <p:nvPr/>
            </p:nvSpPr>
            <p:spPr bwMode="auto">
              <a:xfrm>
                <a:off x="837585" y="1756759"/>
                <a:ext cx="2512114" cy="467814"/>
              </a:xfrm>
              <a:prstGeom prst="rect">
                <a:avLst/>
              </a:prstGeom>
              <a:blipFill>
                <a:blip r:embed="rId3"/>
                <a:stretch>
                  <a:fillRect b="-11688"/>
                </a:stretch>
              </a:blipFill>
              <a:ln w="9525">
                <a:noFill/>
                <a:miter lim="800000"/>
                <a:headEnd/>
                <a:tailEnd/>
              </a:ln>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69F43414-A1D0-41B5-80D9-D96775895BDF}"/>
              </a:ext>
            </a:extLst>
          </p:cNvPr>
          <p:cNvGrpSpPr/>
          <p:nvPr/>
        </p:nvGrpSpPr>
        <p:grpSpPr>
          <a:xfrm>
            <a:off x="956720" y="5170163"/>
            <a:ext cx="4677347" cy="1135613"/>
            <a:chOff x="907735" y="4554911"/>
            <a:chExt cx="2788184" cy="1750866"/>
          </a:xfrm>
        </p:grpSpPr>
        <p:sp>
          <p:nvSpPr>
            <p:cNvPr id="9" name="Rectangle 8"/>
            <p:cNvSpPr/>
            <p:nvPr/>
          </p:nvSpPr>
          <p:spPr>
            <a:xfrm>
              <a:off x="907735" y="4554911"/>
              <a:ext cx="2788184" cy="1750866"/>
            </a:xfrm>
            <a:prstGeom prst="rect">
              <a:avLst/>
            </a:prstGeom>
            <a:gradFill>
              <a:gsLst>
                <a:gs pos="0">
                  <a:schemeClr val="accent1">
                    <a:tint val="100000"/>
                    <a:shade val="100000"/>
                    <a:satMod val="130000"/>
                    <a:alpha val="30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1337829" y="4982256"/>
              <a:ext cx="1687130" cy="1091405"/>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Variable cost due to visits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=$4∙5</a:t>
              </a:r>
              <a:r>
                <a:rPr lang="en-US" sz="2000" dirty="0">
                  <a:solidFill>
                    <a:prstClr val="black"/>
                  </a:solidFill>
                  <a:latin typeface="Calibri"/>
                  <a:cs typeface="Times New Roman" pitchFamily="18" charset="0"/>
                </a:rPr>
                <a:t>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 $20</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3" name="Text Box 11"/>
          <p:cNvSpPr txBox="1">
            <a:spLocks noChangeArrowheads="1"/>
          </p:cNvSpPr>
          <p:nvPr/>
        </p:nvSpPr>
        <p:spPr bwMode="auto">
          <a:xfrm>
            <a:off x="5700429" y="5964104"/>
            <a:ext cx="801687"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a:xfrm>
            <a:off x="8381999" y="6490335"/>
            <a:ext cx="474896"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cxnSp>
        <p:nvCxnSpPr>
          <p:cNvPr id="31" name="Straight Arrow Connector 30"/>
          <p:cNvCxnSpPr>
            <a:cxnSpLocks/>
          </p:cNvCxnSpPr>
          <p:nvPr/>
        </p:nvCxnSpPr>
        <p:spPr>
          <a:xfrm flipH="1">
            <a:off x="3496200" y="2721429"/>
            <a:ext cx="1796390" cy="2688740"/>
          </a:xfrm>
          <a:prstGeom prst="straightConnector1">
            <a:avLst/>
          </a:prstGeom>
          <a:ln w="38100">
            <a:solidFill>
              <a:schemeClr val="accent1">
                <a:lumMod val="75000"/>
              </a:schemeClr>
            </a:solidFill>
            <a:tailEnd type="triangle"/>
          </a:ln>
        </p:spPr>
        <p:style>
          <a:lnRef idx="1">
            <a:schemeClr val="accent6"/>
          </a:lnRef>
          <a:fillRef idx="0">
            <a:schemeClr val="accent6"/>
          </a:fillRef>
          <a:effectRef idx="0">
            <a:schemeClr val="accent6"/>
          </a:effectRef>
          <a:fontRef idx="minor">
            <a:schemeClr val="tx1"/>
          </a:fontRef>
        </p:style>
      </p:cxnSp>
      <p:cxnSp>
        <p:nvCxnSpPr>
          <p:cNvPr id="6" name="Straight Connector 5">
            <a:extLst>
              <a:ext uri="{FF2B5EF4-FFF2-40B4-BE49-F238E27FC236}">
                <a16:creationId xmlns:a16="http://schemas.microsoft.com/office/drawing/2014/main" id="{4CB679D2-FB63-4604-B2E6-2CAD211AE8AD}"/>
              </a:ext>
            </a:extLst>
          </p:cNvPr>
          <p:cNvCxnSpPr/>
          <p:nvPr/>
        </p:nvCxnSpPr>
        <p:spPr>
          <a:xfrm>
            <a:off x="5672666" y="5156186"/>
            <a:ext cx="0" cy="1179202"/>
          </a:xfrm>
          <a:prstGeom prst="line">
            <a:avLst/>
          </a:prstGeom>
          <a:ln w="38100">
            <a:prstDash val="sysDash"/>
          </a:ln>
        </p:spPr>
        <p:style>
          <a:lnRef idx="2">
            <a:schemeClr val="accent1"/>
          </a:lnRef>
          <a:fillRef idx="0">
            <a:schemeClr val="accent1"/>
          </a:fillRef>
          <a:effectRef idx="1">
            <a:schemeClr val="accent1"/>
          </a:effectRef>
          <a:fontRef idx="minor">
            <a:schemeClr val="tx1"/>
          </a:fontRef>
        </p:style>
      </p:cxnSp>
      <p:sp>
        <p:nvSpPr>
          <p:cNvPr id="29" name="Content Placeholder 3">
            <a:extLst>
              <a:ext uri="{FF2B5EF4-FFF2-40B4-BE49-F238E27FC236}">
                <a16:creationId xmlns:a16="http://schemas.microsoft.com/office/drawing/2014/main" id="{063DE096-5BE8-40FE-A532-293F9D87CBA0}"/>
              </a:ext>
            </a:extLst>
          </p:cNvPr>
          <p:cNvSpPr>
            <a:spLocks noGrp="1"/>
          </p:cNvSpPr>
          <p:nvPr>
            <p:ph idx="1"/>
          </p:nvPr>
        </p:nvSpPr>
        <p:spPr>
          <a:xfrm>
            <a:off x="6775720" y="4741387"/>
            <a:ext cx="2258575" cy="1082470"/>
          </a:xfrm>
        </p:spPr>
        <p:txBody>
          <a:bodyPr>
            <a:noAutofit/>
          </a:bodyPr>
          <a:lstStyle/>
          <a:p>
            <a:pPr marL="0" indent="0">
              <a:spcAft>
                <a:spcPts val="563"/>
              </a:spcAft>
              <a:buNone/>
            </a:pPr>
            <a:r>
              <a:rPr lang="en-US" sz="2000" dirty="0"/>
              <a:t>Overall 5 visits since price per visit is now zero</a:t>
            </a:r>
            <a:endParaRPr lang="en-US" sz="2000" i="1" dirty="0"/>
          </a:p>
        </p:txBody>
      </p:sp>
      <p:cxnSp>
        <p:nvCxnSpPr>
          <p:cNvPr id="30" name="Straight Arrow Connector 29">
            <a:extLst>
              <a:ext uri="{FF2B5EF4-FFF2-40B4-BE49-F238E27FC236}">
                <a16:creationId xmlns:a16="http://schemas.microsoft.com/office/drawing/2014/main" id="{077966E6-5FBE-4A4C-B67C-E8405392B0FC}"/>
              </a:ext>
            </a:extLst>
          </p:cNvPr>
          <p:cNvCxnSpPr>
            <a:cxnSpLocks/>
          </p:cNvCxnSpPr>
          <p:nvPr/>
        </p:nvCxnSpPr>
        <p:spPr>
          <a:xfrm flipH="1">
            <a:off x="5821876" y="5438015"/>
            <a:ext cx="953844" cy="1050076"/>
          </a:xfrm>
          <a:prstGeom prst="straightConnector1">
            <a:avLst/>
          </a:prstGeom>
          <a:ln w="38100">
            <a:solidFill>
              <a:schemeClr val="accent1">
                <a:lumMod val="75000"/>
              </a:schemeClr>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60382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19B4-8F99-41F5-A65F-5BC41610269C}"/>
              </a:ext>
            </a:extLst>
          </p:cNvPr>
          <p:cNvSpPr>
            <a:spLocks noGrp="1"/>
          </p:cNvSpPr>
          <p:nvPr>
            <p:ph type="title"/>
          </p:nvPr>
        </p:nvSpPr>
        <p:spPr/>
        <p:txBody>
          <a:bodyPr/>
          <a:lstStyle/>
          <a:p>
            <a:r>
              <a:rPr lang="fr-FR" dirty="0"/>
              <a:t>Block Pricing</a:t>
            </a:r>
            <a:endParaRPr lang="en-US" dirty="0"/>
          </a:p>
        </p:txBody>
      </p:sp>
      <p:sp>
        <p:nvSpPr>
          <p:cNvPr id="3" name="Content Placeholder 2">
            <a:extLst>
              <a:ext uri="{FF2B5EF4-FFF2-40B4-BE49-F238E27FC236}">
                <a16:creationId xmlns:a16="http://schemas.microsoft.com/office/drawing/2014/main" id="{D8C7CC97-897F-4381-AAC8-132F0C317D09}"/>
              </a:ext>
            </a:extLst>
          </p:cNvPr>
          <p:cNvSpPr>
            <a:spLocks noGrp="1"/>
          </p:cNvSpPr>
          <p:nvPr>
            <p:ph idx="1"/>
          </p:nvPr>
        </p:nvSpPr>
        <p:spPr>
          <a:xfrm>
            <a:off x="333683" y="1719943"/>
            <a:ext cx="8229600" cy="4466155"/>
          </a:xfrm>
        </p:spPr>
        <p:txBody>
          <a:bodyPr>
            <a:normAutofit/>
          </a:bodyPr>
          <a:lstStyle/>
          <a:p>
            <a:r>
              <a:rPr lang="en-US" sz="2400" dirty="0"/>
              <a:t>Block pricing is the practice of reducing the price of a good when the </a:t>
            </a:r>
            <a:r>
              <a:rPr lang="en-US" sz="2400" u="sng" dirty="0">
                <a:solidFill>
                  <a:srgbClr val="C00000"/>
                </a:solidFill>
              </a:rPr>
              <a:t>same</a:t>
            </a:r>
            <a:r>
              <a:rPr lang="en-US" sz="2400" dirty="0">
                <a:solidFill>
                  <a:srgbClr val="C00000"/>
                </a:solidFill>
              </a:rPr>
              <a:t> customer </a:t>
            </a:r>
            <a:r>
              <a:rPr lang="en-US" sz="2400" dirty="0"/>
              <a:t>buys more of it</a:t>
            </a:r>
          </a:p>
          <a:p>
            <a:endParaRPr lang="en-US" sz="2400" dirty="0"/>
          </a:p>
          <a:p>
            <a:pPr marL="0" indent="0">
              <a:buNone/>
            </a:pPr>
            <a:endParaRPr lang="en-US" dirty="0"/>
          </a:p>
        </p:txBody>
      </p:sp>
    </p:spTree>
    <p:extLst>
      <p:ext uri="{BB962C8B-B14F-4D97-AF65-F5344CB8AC3E}">
        <p14:creationId xmlns:p14="http://schemas.microsoft.com/office/powerpoint/2010/main" val="4248733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Whitney-Medium" pitchFamily="50" charset="0"/>
                <a:cs typeface="Whitney-Medium" pitchFamily="50" charset="0"/>
              </a:rPr>
              <a:t>Block pricing: Ice Cream</a:t>
            </a:r>
            <a:endParaRPr lang="en-US" dirty="0"/>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40" name="Text Box 5"/>
          <p:cNvSpPr txBox="1">
            <a:spLocks noChangeArrowheads="1"/>
          </p:cNvSpPr>
          <p:nvPr/>
        </p:nvSpPr>
        <p:spPr bwMode="auto">
          <a:xfrm>
            <a:off x="0" y="1015810"/>
            <a:ext cx="1129260" cy="652480"/>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Price </a:t>
            </a:r>
            <a:r>
              <a:rPr kumimoji="0" lang="en-US" sz="1600" b="0" i="1"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sz="1600" i="1" dirty="0">
                <a:solidFill>
                  <a:prstClr val="black"/>
                </a:solidFill>
                <a:latin typeface="Calibri"/>
                <a:cs typeface="Times New Roman" pitchFamily="18" charset="0"/>
              </a:rPr>
              <a:t>scoop</a:t>
            </a:r>
            <a:r>
              <a:rPr kumimoji="0" lang="en-US" sz="1600" b="0" i="1" u="none" strike="noStrike" kern="1200" cap="none" spc="0" normalizeH="0" baseline="0" noProof="0" dirty="0">
                <a:ln>
                  <a:noFill/>
                </a:ln>
                <a:solidFill>
                  <a:prstClr val="black"/>
                </a:solidFill>
                <a:effectLst/>
                <a:uLnTx/>
                <a:uFillTx/>
                <a:latin typeface="Calibri"/>
                <a:ea typeface="+mn-ea"/>
                <a:cs typeface="Times New Roman" pitchFamily="18" charset="0"/>
              </a:rPr>
              <a:t>)</a:t>
            </a: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 </a:t>
            </a:r>
            <a:endParaRPr kumimoji="0" lang="en-US" sz="1800" b="0" i="1" u="sng"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41" name="Text Box 6"/>
          <p:cNvSpPr txBox="1">
            <a:spLocks noChangeArrowheads="1"/>
          </p:cNvSpPr>
          <p:nvPr/>
        </p:nvSpPr>
        <p:spPr bwMode="auto">
          <a:xfrm>
            <a:off x="6411066" y="6363653"/>
            <a:ext cx="1869739" cy="406259"/>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rPr>
              <a:t>Q </a:t>
            </a:r>
            <a:r>
              <a:rPr kumimoji="0" lang="en-US" sz="1200" b="0" i="1" u="none" strike="noStrike" kern="1200" cap="none" spc="0" normalizeH="0" baseline="0" noProof="0" dirty="0">
                <a:ln>
                  <a:noFill/>
                </a:ln>
                <a:solidFill>
                  <a:prstClr val="black"/>
                </a:solidFill>
                <a:effectLst/>
                <a:uLnTx/>
                <a:uFillTx/>
                <a:latin typeface="Calibri"/>
                <a:ea typeface="+mn-ea"/>
                <a:cs typeface="Times New Roman" pitchFamily="18" charset="0"/>
              </a:rPr>
              <a:t>(scoops</a:t>
            </a:r>
            <a:r>
              <a:rPr kumimoji="0" lang="en-US" sz="1200" b="0" i="1" u="none" strike="noStrike" kern="1200" cap="none" spc="0" normalizeH="0" noProof="0" dirty="0">
                <a:ln>
                  <a:noFill/>
                </a:ln>
                <a:solidFill>
                  <a:prstClr val="black"/>
                </a:solidFill>
                <a:effectLst/>
                <a:uLnTx/>
                <a:uFillTx/>
                <a:latin typeface="Calibri"/>
                <a:ea typeface="+mn-ea"/>
                <a:cs typeface="Times New Roman" pitchFamily="18" charset="0"/>
              </a:rPr>
              <a:t> per customer</a:t>
            </a:r>
            <a:r>
              <a:rPr kumimoji="0" lang="en-US" sz="1200" b="0" i="1" u="none" strike="noStrike" kern="1200" cap="none" spc="0" normalizeH="0" baseline="0" noProof="0" dirty="0">
                <a:ln>
                  <a:noFill/>
                </a:ln>
                <a:solidFill>
                  <a:prstClr val="black"/>
                </a:solidFill>
                <a:effectLst/>
                <a:uLnTx/>
                <a:uFillTx/>
                <a:latin typeface="Calibri"/>
                <a:ea typeface="+mn-ea"/>
                <a:cs typeface="Times New Roman" pitchFamily="18" charset="0"/>
              </a:rPr>
              <a:t>)</a:t>
            </a:r>
            <a:endParaRPr kumimoji="0" lang="en-US" sz="2000" b="0" i="1"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23" name="Content Placeholder 1"/>
          <p:cNvSpPr txBox="1">
            <a:spLocks/>
          </p:cNvSpPr>
          <p:nvPr/>
        </p:nvSpPr>
        <p:spPr>
          <a:xfrm>
            <a:off x="5334628" y="1419985"/>
            <a:ext cx="3823772"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425"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grpSp>
        <p:nvGrpSpPr>
          <p:cNvPr id="17" name="Group 16">
            <a:extLst>
              <a:ext uri="{FF2B5EF4-FFF2-40B4-BE49-F238E27FC236}">
                <a16:creationId xmlns:a16="http://schemas.microsoft.com/office/drawing/2014/main" id="{66F5A197-6AD9-4932-9549-D416B84297B5}"/>
              </a:ext>
            </a:extLst>
          </p:cNvPr>
          <p:cNvGrpSpPr/>
          <p:nvPr/>
        </p:nvGrpSpPr>
        <p:grpSpPr>
          <a:xfrm>
            <a:off x="238851" y="4944330"/>
            <a:ext cx="5239317" cy="551504"/>
            <a:chOff x="238851" y="4944330"/>
            <a:chExt cx="5239317" cy="551504"/>
          </a:xfrm>
        </p:grpSpPr>
        <p:grpSp>
          <p:nvGrpSpPr>
            <p:cNvPr id="16" name="Group 15">
              <a:extLst>
                <a:ext uri="{FF2B5EF4-FFF2-40B4-BE49-F238E27FC236}">
                  <a16:creationId xmlns:a16="http://schemas.microsoft.com/office/drawing/2014/main" id="{1654183A-3390-46EF-B7DA-3AFFD51EE59D}"/>
                </a:ext>
              </a:extLst>
            </p:cNvPr>
            <p:cNvGrpSpPr/>
            <p:nvPr/>
          </p:nvGrpSpPr>
          <p:grpSpPr>
            <a:xfrm>
              <a:off x="931312" y="4944330"/>
              <a:ext cx="4546856" cy="381650"/>
              <a:chOff x="931312" y="4944330"/>
              <a:chExt cx="4546856" cy="381650"/>
            </a:xfrm>
          </p:grpSpPr>
          <p:sp>
            <p:nvSpPr>
              <p:cNvPr id="45" name="Text Box 11"/>
              <p:cNvSpPr txBox="1">
                <a:spLocks noChangeArrowheads="1"/>
              </p:cNvSpPr>
              <p:nvPr/>
            </p:nvSpPr>
            <p:spPr bwMode="auto">
              <a:xfrm>
                <a:off x="4676481" y="4944330"/>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i="1" u="none" strike="noStrike" kern="1200" cap="none" spc="0" normalizeH="0" baseline="0" noProof="0" dirty="0">
                    <a:ln>
                      <a:noFill/>
                    </a:ln>
                    <a:solidFill>
                      <a:schemeClr val="accent6">
                        <a:lumMod val="50000"/>
                      </a:schemeClr>
                    </a:solidFill>
                    <a:effectLst/>
                    <a:uLnTx/>
                    <a:uFillTx/>
                    <a:latin typeface="Calibri"/>
                    <a:ea typeface="+mn-ea"/>
                    <a:cs typeface="Times New Roman" pitchFamily="18" charset="0"/>
                  </a:rPr>
                  <a:t>MC</a:t>
                </a:r>
              </a:p>
            </p:txBody>
          </p:sp>
          <p:sp>
            <p:nvSpPr>
              <p:cNvPr id="28" name="Line 9"/>
              <p:cNvSpPr>
                <a:spLocks noChangeShapeType="1"/>
              </p:cNvSpPr>
              <p:nvPr/>
            </p:nvSpPr>
            <p:spPr bwMode="auto">
              <a:xfrm>
                <a:off x="931312" y="5325980"/>
                <a:ext cx="4316988" cy="0"/>
              </a:xfrm>
              <a:prstGeom prst="line">
                <a:avLst/>
              </a:prstGeom>
              <a:noFill/>
              <a:ln w="57150">
                <a:solidFill>
                  <a:schemeClr val="accent2">
                    <a:lumMod val="60000"/>
                    <a:lumOff val="40000"/>
                  </a:schemeClr>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sp>
          <p:nvSpPr>
            <p:cNvPr id="20" name="TextBox 19"/>
            <p:cNvSpPr txBox="1"/>
            <p:nvPr/>
          </p:nvSpPr>
          <p:spPr>
            <a:xfrm>
              <a:off x="238851" y="5126502"/>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$1.00</a:t>
              </a:r>
            </a:p>
          </p:txBody>
        </p:sp>
      </p:grpSp>
      <p:grpSp>
        <p:nvGrpSpPr>
          <p:cNvPr id="14" name="Group 13">
            <a:extLst>
              <a:ext uri="{FF2B5EF4-FFF2-40B4-BE49-F238E27FC236}">
                <a16:creationId xmlns:a16="http://schemas.microsoft.com/office/drawing/2014/main" id="{2EC0C82E-FE9D-4F7F-8373-3C99D3B72346}"/>
              </a:ext>
            </a:extLst>
          </p:cNvPr>
          <p:cNvGrpSpPr/>
          <p:nvPr/>
        </p:nvGrpSpPr>
        <p:grpSpPr>
          <a:xfrm>
            <a:off x="953772" y="2007553"/>
            <a:ext cx="5073414" cy="4140258"/>
            <a:chOff x="953772" y="2007553"/>
            <a:chExt cx="5073414" cy="4140258"/>
          </a:xfrm>
        </p:grpSpPr>
        <p:sp>
          <p:nvSpPr>
            <p:cNvPr id="46" name="Line 12"/>
            <p:cNvSpPr>
              <a:spLocks noChangeShapeType="1"/>
            </p:cNvSpPr>
            <p:nvPr/>
          </p:nvSpPr>
          <p:spPr bwMode="auto">
            <a:xfrm>
              <a:off x="953772" y="2007553"/>
              <a:ext cx="4286830" cy="3956117"/>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33" name="Text Box 11"/>
            <p:cNvSpPr txBox="1">
              <a:spLocks noChangeArrowheads="1"/>
            </p:cNvSpPr>
            <p:nvPr/>
          </p:nvSpPr>
          <p:spPr bwMode="auto">
            <a:xfrm>
              <a:off x="5225499" y="5772330"/>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a:t>
              </a:r>
            </a:p>
          </p:txBody>
        </p:sp>
      </p:grpSp>
      <p:sp>
        <p:nvSpPr>
          <p:cNvPr id="3" name="Slide Number Placeholder 2">
            <a:extLst>
              <a:ext uri="{FF2B5EF4-FFF2-40B4-BE49-F238E27FC236}">
                <a16:creationId xmlns:a16="http://schemas.microsoft.com/office/drawing/2014/main" id="{1B6FB30B-5944-E44F-A6CE-5420AE9B415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000" b="0" i="0" u="none" strike="noStrike" kern="1200" cap="none" spc="300" normalizeH="0" baseline="0" noProof="0" dirty="0">
              <a:ln>
                <a:noFill/>
              </a:ln>
              <a:solidFill>
                <a:prstClr val="black">
                  <a:lumMod val="65000"/>
                  <a:lumOff val="35000"/>
                </a:prstClr>
              </a:solidFill>
              <a:effectLst/>
              <a:uLnTx/>
              <a:uFillTx/>
              <a:latin typeface="Trebuchet MS"/>
              <a:ea typeface="+mn-ea"/>
              <a:cs typeface="+mn-cs"/>
            </a:endParaRPr>
          </a:p>
        </p:txBody>
      </p:sp>
      <p:grpSp>
        <p:nvGrpSpPr>
          <p:cNvPr id="24" name="Group 23">
            <a:extLst>
              <a:ext uri="{FF2B5EF4-FFF2-40B4-BE49-F238E27FC236}">
                <a16:creationId xmlns:a16="http://schemas.microsoft.com/office/drawing/2014/main" id="{D048EBED-E244-4234-81CF-36D73CF22C96}"/>
              </a:ext>
            </a:extLst>
          </p:cNvPr>
          <p:cNvGrpSpPr/>
          <p:nvPr/>
        </p:nvGrpSpPr>
        <p:grpSpPr>
          <a:xfrm>
            <a:off x="212943" y="2859001"/>
            <a:ext cx="2524842" cy="3813896"/>
            <a:chOff x="202598" y="2883160"/>
            <a:chExt cx="2524842" cy="3813896"/>
          </a:xfrm>
        </p:grpSpPr>
        <p:cxnSp>
          <p:nvCxnSpPr>
            <p:cNvPr id="7" name="Straight Connector 6">
              <a:extLst>
                <a:ext uri="{FF2B5EF4-FFF2-40B4-BE49-F238E27FC236}">
                  <a16:creationId xmlns:a16="http://schemas.microsoft.com/office/drawing/2014/main" id="{FCA90C9D-C308-4C15-9A9F-CE65720705EE}"/>
                </a:ext>
              </a:extLst>
            </p:cNvPr>
            <p:cNvCxnSpPr>
              <a:cxnSpLocks/>
            </p:cNvCxnSpPr>
            <p:nvPr/>
          </p:nvCxnSpPr>
          <p:spPr>
            <a:xfrm flipV="1">
              <a:off x="2133600" y="3096063"/>
              <a:ext cx="0" cy="2197961"/>
            </a:xfrm>
            <a:prstGeom prst="line">
              <a:avLst/>
            </a:prstGeom>
            <a:ln/>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B90DE855-7A7B-45A5-AA0C-DEC628A0A86C}"/>
                </a:ext>
              </a:extLst>
            </p:cNvPr>
            <p:cNvCxnSpPr>
              <a:cxnSpLocks/>
            </p:cNvCxnSpPr>
            <p:nvPr/>
          </p:nvCxnSpPr>
          <p:spPr>
            <a:xfrm>
              <a:off x="914989" y="3082041"/>
              <a:ext cx="1218611" cy="0"/>
            </a:xfrm>
            <a:prstGeom prst="line">
              <a:avLst/>
            </a:prstGeom>
            <a:ln/>
          </p:spPr>
          <p:style>
            <a:lnRef idx="3">
              <a:schemeClr val="dk1"/>
            </a:lnRef>
            <a:fillRef idx="0">
              <a:schemeClr val="dk1"/>
            </a:fillRef>
            <a:effectRef idx="2">
              <a:schemeClr val="dk1"/>
            </a:effectRef>
            <a:fontRef idx="minor">
              <a:schemeClr val="tx1"/>
            </a:fontRef>
          </p:style>
        </p:cxnSp>
        <p:grpSp>
          <p:nvGrpSpPr>
            <p:cNvPr id="22" name="Group 21">
              <a:extLst>
                <a:ext uri="{FF2B5EF4-FFF2-40B4-BE49-F238E27FC236}">
                  <a16:creationId xmlns:a16="http://schemas.microsoft.com/office/drawing/2014/main" id="{F2AD45B3-200F-4DC8-A9B8-A192A8792FD0}"/>
                </a:ext>
              </a:extLst>
            </p:cNvPr>
            <p:cNvGrpSpPr/>
            <p:nvPr/>
          </p:nvGrpSpPr>
          <p:grpSpPr>
            <a:xfrm>
              <a:off x="202598" y="2883160"/>
              <a:ext cx="2524842" cy="3813896"/>
              <a:chOff x="202598" y="2883160"/>
              <a:chExt cx="2524842" cy="3813896"/>
            </a:xfrm>
          </p:grpSpPr>
          <p:sp>
            <p:nvSpPr>
              <p:cNvPr id="56" name="TextBox 55"/>
              <p:cNvSpPr txBox="1"/>
              <p:nvPr/>
            </p:nvSpPr>
            <p:spPr>
              <a:xfrm>
                <a:off x="202598" y="2883160"/>
                <a:ext cx="74436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r>
                  <a:rPr lang="en-US" dirty="0">
                    <a:solidFill>
                      <a:prstClr val="black"/>
                    </a:solidFill>
                    <a:latin typeface="Calibri"/>
                  </a:rPr>
                  <a:t>4.00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5E92E22D-04A1-426F-A7F3-59C15F3DBCBE}"/>
                  </a:ext>
                </a:extLst>
              </p:cNvPr>
              <p:cNvSpPr/>
              <p:nvPr/>
            </p:nvSpPr>
            <p:spPr>
              <a:xfrm>
                <a:off x="977121" y="3125431"/>
                <a:ext cx="1103528" cy="2167108"/>
              </a:xfrm>
              <a:prstGeom prst="rect">
                <a:avLst/>
              </a:prstGeom>
              <a:solidFill>
                <a:schemeClr val="accent3">
                  <a:alpha val="42000"/>
                </a:schemeClr>
              </a:solidFill>
              <a:ln>
                <a:solidFill>
                  <a:schemeClr val="accent1">
                    <a:shade val="95000"/>
                    <a:satMod val="105000"/>
                    <a:alpha val="5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9" name="Straight Connector 58">
                <a:extLst>
                  <a:ext uri="{FF2B5EF4-FFF2-40B4-BE49-F238E27FC236}">
                    <a16:creationId xmlns:a16="http://schemas.microsoft.com/office/drawing/2014/main" id="{D0130EBA-0EBD-450A-9780-B4949999157F}"/>
                  </a:ext>
                </a:extLst>
              </p:cNvPr>
              <p:cNvCxnSpPr/>
              <p:nvPr/>
            </p:nvCxnSpPr>
            <p:spPr>
              <a:xfrm>
                <a:off x="2133600" y="5332150"/>
                <a:ext cx="0" cy="1016277"/>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5CF6E0E5-D764-4A5F-8FC3-E0424800FEEA}"/>
                  </a:ext>
                </a:extLst>
              </p:cNvPr>
              <p:cNvSpPr txBox="1"/>
              <p:nvPr/>
            </p:nvSpPr>
            <p:spPr>
              <a:xfrm>
                <a:off x="1980022" y="6327724"/>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a:t>
                </a:r>
              </a:p>
            </p:txBody>
          </p:sp>
        </p:grpSp>
      </p:grpSp>
      <p:grpSp>
        <p:nvGrpSpPr>
          <p:cNvPr id="35" name="Group 34">
            <a:extLst>
              <a:ext uri="{FF2B5EF4-FFF2-40B4-BE49-F238E27FC236}">
                <a16:creationId xmlns:a16="http://schemas.microsoft.com/office/drawing/2014/main" id="{A47C344F-575A-4BB3-83E4-879A343AFA22}"/>
              </a:ext>
            </a:extLst>
          </p:cNvPr>
          <p:cNvGrpSpPr/>
          <p:nvPr/>
        </p:nvGrpSpPr>
        <p:grpSpPr>
          <a:xfrm>
            <a:off x="191681" y="3765553"/>
            <a:ext cx="3542020" cy="2935455"/>
            <a:chOff x="200888" y="3762472"/>
            <a:chExt cx="3542020" cy="2935455"/>
          </a:xfrm>
        </p:grpSpPr>
        <p:sp>
          <p:nvSpPr>
            <p:cNvPr id="67" name="Rectangle 66">
              <a:extLst>
                <a:ext uri="{FF2B5EF4-FFF2-40B4-BE49-F238E27FC236}">
                  <a16:creationId xmlns:a16="http://schemas.microsoft.com/office/drawing/2014/main" id="{2D50636F-C3A6-45AF-BAE8-85A9E4074F1E}"/>
                </a:ext>
              </a:extLst>
            </p:cNvPr>
            <p:cNvSpPr/>
            <p:nvPr/>
          </p:nvSpPr>
          <p:spPr>
            <a:xfrm>
              <a:off x="2189917" y="3991683"/>
              <a:ext cx="892681" cy="1308567"/>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73EA9B-9B36-4DC4-B7F5-6465293B298B}"/>
                </a:ext>
              </a:extLst>
            </p:cNvPr>
            <p:cNvCxnSpPr>
              <a:cxnSpLocks/>
            </p:cNvCxnSpPr>
            <p:nvPr/>
          </p:nvCxnSpPr>
          <p:spPr>
            <a:xfrm>
              <a:off x="946960" y="3963313"/>
              <a:ext cx="1677531" cy="710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TextBox 35">
              <a:extLst>
                <a:ext uri="{FF2B5EF4-FFF2-40B4-BE49-F238E27FC236}">
                  <a16:creationId xmlns:a16="http://schemas.microsoft.com/office/drawing/2014/main" id="{B6A0DBB4-762A-4A56-A2CF-AB003CA811D4}"/>
                </a:ext>
              </a:extLst>
            </p:cNvPr>
            <p:cNvSpPr txBox="1"/>
            <p:nvPr/>
          </p:nvSpPr>
          <p:spPr>
            <a:xfrm>
              <a:off x="200888" y="3762472"/>
              <a:ext cx="71707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$3.00</a:t>
              </a:r>
            </a:p>
          </p:txBody>
        </p:sp>
        <p:cxnSp>
          <p:nvCxnSpPr>
            <p:cNvPr id="34" name="Straight Connector 33">
              <a:extLst>
                <a:ext uri="{FF2B5EF4-FFF2-40B4-BE49-F238E27FC236}">
                  <a16:creationId xmlns:a16="http://schemas.microsoft.com/office/drawing/2014/main" id="{18D2EEF9-198C-4A93-A4C1-413EB488B66C}"/>
                </a:ext>
              </a:extLst>
            </p:cNvPr>
            <p:cNvCxnSpPr>
              <a:cxnSpLocks/>
            </p:cNvCxnSpPr>
            <p:nvPr/>
          </p:nvCxnSpPr>
          <p:spPr>
            <a:xfrm>
              <a:off x="2133600" y="3963313"/>
              <a:ext cx="986589" cy="7108"/>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6B4E6E5-321D-4CC0-91D2-9C229549FDF2}"/>
                </a:ext>
              </a:extLst>
            </p:cNvPr>
            <p:cNvCxnSpPr>
              <a:cxnSpLocks/>
            </p:cNvCxnSpPr>
            <p:nvPr/>
          </p:nvCxnSpPr>
          <p:spPr>
            <a:xfrm>
              <a:off x="3105208" y="3963313"/>
              <a:ext cx="0" cy="136266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D8012BF-ECD3-4BBD-A2CE-2F0CDD2F8699}"/>
                </a:ext>
              </a:extLst>
            </p:cNvPr>
            <p:cNvCxnSpPr/>
            <p:nvPr/>
          </p:nvCxnSpPr>
          <p:spPr>
            <a:xfrm>
              <a:off x="3120189" y="5359421"/>
              <a:ext cx="0" cy="1016277"/>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C3DE71B5-A600-4B66-B71F-0F1A2CD4E139}"/>
                </a:ext>
              </a:extLst>
            </p:cNvPr>
            <p:cNvSpPr txBox="1"/>
            <p:nvPr/>
          </p:nvSpPr>
          <p:spPr>
            <a:xfrm>
              <a:off x="2995490" y="6328595"/>
              <a:ext cx="74741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a:rPr>
                <a:t>2</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8" name="Group 47">
            <a:extLst>
              <a:ext uri="{FF2B5EF4-FFF2-40B4-BE49-F238E27FC236}">
                <a16:creationId xmlns:a16="http://schemas.microsoft.com/office/drawing/2014/main" id="{277EFEC1-4238-4FA2-A3F6-5AB84D5EEED9}"/>
              </a:ext>
            </a:extLst>
          </p:cNvPr>
          <p:cNvGrpSpPr/>
          <p:nvPr/>
        </p:nvGrpSpPr>
        <p:grpSpPr>
          <a:xfrm>
            <a:off x="254447" y="4707662"/>
            <a:ext cx="4141042" cy="2005656"/>
            <a:chOff x="228674" y="4708329"/>
            <a:chExt cx="4141042" cy="2005656"/>
          </a:xfrm>
        </p:grpSpPr>
        <p:cxnSp>
          <p:nvCxnSpPr>
            <p:cNvPr id="54" name="Straight Connector 53">
              <a:extLst>
                <a:ext uri="{FF2B5EF4-FFF2-40B4-BE49-F238E27FC236}">
                  <a16:creationId xmlns:a16="http://schemas.microsoft.com/office/drawing/2014/main" id="{7B849621-D5E4-4C3D-BA45-4C1872087A4E}"/>
                </a:ext>
              </a:extLst>
            </p:cNvPr>
            <p:cNvCxnSpPr>
              <a:cxnSpLocks/>
            </p:cNvCxnSpPr>
            <p:nvPr/>
          </p:nvCxnSpPr>
          <p:spPr>
            <a:xfrm>
              <a:off x="3105208" y="4934506"/>
              <a:ext cx="1001571" cy="69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310B8D54-FDA7-4AA7-922A-E4BAF86CF554}"/>
                </a:ext>
              </a:extLst>
            </p:cNvPr>
            <p:cNvGrpSpPr/>
            <p:nvPr/>
          </p:nvGrpSpPr>
          <p:grpSpPr>
            <a:xfrm>
              <a:off x="228674" y="4708329"/>
              <a:ext cx="4141042" cy="2005656"/>
              <a:chOff x="228674" y="4708329"/>
              <a:chExt cx="4141042" cy="2005656"/>
            </a:xfrm>
          </p:grpSpPr>
          <p:cxnSp>
            <p:nvCxnSpPr>
              <p:cNvPr id="47" name="Straight Connector 46">
                <a:extLst>
                  <a:ext uri="{FF2B5EF4-FFF2-40B4-BE49-F238E27FC236}">
                    <a16:creationId xmlns:a16="http://schemas.microsoft.com/office/drawing/2014/main" id="{B21B3DA5-E094-4F5F-9FB1-3C35951AEE2E}"/>
                  </a:ext>
                </a:extLst>
              </p:cNvPr>
              <p:cNvCxnSpPr>
                <a:cxnSpLocks/>
              </p:cNvCxnSpPr>
              <p:nvPr/>
            </p:nvCxnSpPr>
            <p:spPr>
              <a:xfrm flipV="1">
                <a:off x="931312" y="4934598"/>
                <a:ext cx="2211337" cy="598"/>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5A9074B-DE45-42C2-951B-C3D577DB5E95}"/>
                  </a:ext>
                </a:extLst>
              </p:cNvPr>
              <p:cNvCxnSpPr>
                <a:cxnSpLocks/>
              </p:cNvCxnSpPr>
              <p:nvPr/>
            </p:nvCxnSpPr>
            <p:spPr>
              <a:xfrm>
                <a:off x="4098757" y="4905581"/>
                <a:ext cx="0" cy="38844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8F83A56B-BDF6-4C9A-96F3-D63F767174DF}"/>
                  </a:ext>
                </a:extLst>
              </p:cNvPr>
              <p:cNvSpPr/>
              <p:nvPr/>
            </p:nvSpPr>
            <p:spPr>
              <a:xfrm>
                <a:off x="3133946" y="4968765"/>
                <a:ext cx="948377" cy="350117"/>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645312AF-E7CA-4117-A22F-21D4F6AD70B3}"/>
                  </a:ext>
                </a:extLst>
              </p:cNvPr>
              <p:cNvSpPr txBox="1"/>
              <p:nvPr/>
            </p:nvSpPr>
            <p:spPr>
              <a:xfrm>
                <a:off x="228674" y="4708329"/>
                <a:ext cx="71707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$1.50</a:t>
                </a:r>
              </a:p>
            </p:txBody>
          </p:sp>
          <p:cxnSp>
            <p:nvCxnSpPr>
              <p:cNvPr id="83" name="Straight Connector 82">
                <a:extLst>
                  <a:ext uri="{FF2B5EF4-FFF2-40B4-BE49-F238E27FC236}">
                    <a16:creationId xmlns:a16="http://schemas.microsoft.com/office/drawing/2014/main" id="{D18297F5-D94F-4B44-86CA-B6598C52659A}"/>
                  </a:ext>
                </a:extLst>
              </p:cNvPr>
              <p:cNvCxnSpPr>
                <a:cxnSpLocks/>
              </p:cNvCxnSpPr>
              <p:nvPr/>
            </p:nvCxnSpPr>
            <p:spPr>
              <a:xfrm flipH="1">
                <a:off x="4098758" y="5318934"/>
                <a:ext cx="8021" cy="1025719"/>
              </a:xfrm>
              <a:prstGeom prst="line">
                <a:avLst/>
              </a:prstGeom>
              <a:ln w="190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80708D52-1E82-447E-BF83-08F95F5A142A}"/>
                  </a:ext>
                </a:extLst>
              </p:cNvPr>
              <p:cNvSpPr txBox="1"/>
              <p:nvPr/>
            </p:nvSpPr>
            <p:spPr>
              <a:xfrm>
                <a:off x="3970641" y="6344653"/>
                <a:ext cx="3990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3</a:t>
                </a:r>
              </a:p>
            </p:txBody>
          </p:sp>
        </p:grpSp>
      </p:grpSp>
      <p:sp>
        <p:nvSpPr>
          <p:cNvPr id="44" name="Content Placeholder 1">
            <a:extLst>
              <a:ext uri="{FF2B5EF4-FFF2-40B4-BE49-F238E27FC236}">
                <a16:creationId xmlns:a16="http://schemas.microsoft.com/office/drawing/2014/main" id="{89622697-4636-4849-B30F-5F3B873420BA}"/>
              </a:ext>
            </a:extLst>
          </p:cNvPr>
          <p:cNvSpPr txBox="1">
            <a:spLocks/>
          </p:cNvSpPr>
          <p:nvPr/>
        </p:nvSpPr>
        <p:spPr>
          <a:xfrm>
            <a:off x="1412127" y="1474332"/>
            <a:ext cx="2647854" cy="1025719"/>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300"/>
              </a:spcAft>
              <a:buNone/>
              <a:defRPr/>
            </a:pPr>
            <a:r>
              <a:rPr kumimoji="0" lang="en-US" sz="2000" b="0" i="0" u="none" strike="noStrike" kern="1100" cap="none" spc="50" normalizeH="0" noProof="0" dirty="0">
                <a:ln>
                  <a:noFill/>
                </a:ln>
                <a:solidFill>
                  <a:srgbClr val="1F497D">
                    <a:lumMod val="75000"/>
                  </a:srgbClr>
                </a:solidFill>
                <a:effectLst/>
                <a:uLnTx/>
                <a:uFillTx/>
                <a:latin typeface="Whitney-Book"/>
                <a:ea typeface="+mn-ea"/>
                <a:cs typeface="+mn-cs"/>
              </a:rPr>
              <a:t>Purchase options:</a:t>
            </a:r>
          </a:p>
          <a:p>
            <a:pPr>
              <a:spcBef>
                <a:spcPts val="0"/>
              </a:spcBef>
              <a:defRPr/>
            </a:pPr>
            <a:r>
              <a:rPr lang="en-US" sz="2000" baseline="0" dirty="0">
                <a:solidFill>
                  <a:srgbClr val="1F497D">
                    <a:lumMod val="75000"/>
                  </a:srgbClr>
                </a:solidFill>
              </a:rPr>
              <a:t>1 scoop for $4</a:t>
            </a:r>
          </a:p>
          <a:p>
            <a:pPr>
              <a:spcBef>
                <a:spcPts val="0"/>
              </a:spcBef>
              <a:defRPr/>
            </a:pPr>
            <a:r>
              <a:rPr kumimoji="0" lang="en-US" sz="2000" b="0" i="0" u="none" strike="noStrike" kern="1100" cap="none" spc="50" normalizeH="0" noProof="0" dirty="0">
                <a:ln>
                  <a:noFill/>
                </a:ln>
                <a:solidFill>
                  <a:srgbClr val="1F497D">
                    <a:lumMod val="75000"/>
                  </a:srgbClr>
                </a:solidFill>
                <a:effectLst/>
                <a:uLnTx/>
                <a:uFillTx/>
                <a:latin typeface="Whitney-Book"/>
                <a:ea typeface="+mn-ea"/>
                <a:cs typeface="+mn-cs"/>
              </a:rPr>
              <a:t>2 scoops for $7</a:t>
            </a:r>
          </a:p>
          <a:p>
            <a:pPr>
              <a:spcBef>
                <a:spcPts val="0"/>
              </a:spcBef>
              <a:defRPr/>
            </a:pPr>
            <a:r>
              <a:rPr lang="en-US" sz="2000" baseline="0" dirty="0">
                <a:solidFill>
                  <a:srgbClr val="1F497D">
                    <a:lumMod val="75000"/>
                  </a:srgbClr>
                </a:solidFill>
              </a:rPr>
              <a:t>3 scoops</a:t>
            </a:r>
            <a:r>
              <a:rPr lang="en-US" sz="2000" dirty="0">
                <a:solidFill>
                  <a:srgbClr val="1F497D">
                    <a:lumMod val="75000"/>
                  </a:srgbClr>
                </a:solidFill>
              </a:rPr>
              <a:t> for $8.50</a:t>
            </a:r>
            <a:endPar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666453" marR="0" lvl="1" indent="-266403" algn="l" defTabSz="457200" rtl="0" eaLnBrk="1" fontAlgn="auto" latinLnBrk="0" hangingPunct="1">
              <a:lnSpc>
                <a:spcPct val="100000"/>
              </a:lnSpc>
              <a:spcBef>
                <a:spcPts val="0"/>
              </a:spcBef>
              <a:spcAft>
                <a:spcPts val="563"/>
              </a:spcAft>
              <a:buClr>
                <a:srgbClr val="1B8BD5"/>
              </a:buClr>
              <a:buSzTx/>
              <a:buFont typeface="Lucida Grande"/>
              <a:buChar char="»"/>
              <a:tabLst/>
              <a:defRPr/>
            </a:pPr>
            <a:endParaRPr kumimoji="0" lang="en-US" sz="2000"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pic>
        <p:nvPicPr>
          <p:cNvPr id="13" name="Picture 12">
            <a:extLst>
              <a:ext uri="{FF2B5EF4-FFF2-40B4-BE49-F238E27FC236}">
                <a16:creationId xmlns:a16="http://schemas.microsoft.com/office/drawing/2014/main" id="{0C0963B7-07C4-4576-B75D-544745DC20EA}"/>
              </a:ext>
            </a:extLst>
          </p:cNvPr>
          <p:cNvPicPr>
            <a:picLocks noChangeAspect="1"/>
          </p:cNvPicPr>
          <p:nvPr/>
        </p:nvPicPr>
        <p:blipFill>
          <a:blip r:embed="rId3"/>
          <a:stretch>
            <a:fillRect/>
          </a:stretch>
        </p:blipFill>
        <p:spPr>
          <a:xfrm>
            <a:off x="4998668" y="1469693"/>
            <a:ext cx="3932389" cy="3134716"/>
          </a:xfrm>
          <a:prstGeom prst="rect">
            <a:avLst/>
          </a:prstGeom>
        </p:spPr>
      </p:pic>
      <p:grpSp>
        <p:nvGrpSpPr>
          <p:cNvPr id="49" name="Group 48">
            <a:extLst>
              <a:ext uri="{FF2B5EF4-FFF2-40B4-BE49-F238E27FC236}">
                <a16:creationId xmlns:a16="http://schemas.microsoft.com/office/drawing/2014/main" id="{EEEBB02B-1D2F-4086-82DA-8CF540293FB1}"/>
              </a:ext>
            </a:extLst>
          </p:cNvPr>
          <p:cNvGrpSpPr/>
          <p:nvPr/>
        </p:nvGrpSpPr>
        <p:grpSpPr>
          <a:xfrm>
            <a:off x="1364397" y="4109630"/>
            <a:ext cx="2346725" cy="1234249"/>
            <a:chOff x="1364397" y="4109630"/>
            <a:chExt cx="2346725" cy="1234249"/>
          </a:xfrm>
        </p:grpSpPr>
        <p:sp>
          <p:nvSpPr>
            <p:cNvPr id="68" name="Rectangle 67">
              <a:extLst>
                <a:ext uri="{FF2B5EF4-FFF2-40B4-BE49-F238E27FC236}">
                  <a16:creationId xmlns:a16="http://schemas.microsoft.com/office/drawing/2014/main" id="{F68E86D3-1CD3-408E-BD86-5682745CABED}"/>
                </a:ext>
              </a:extLst>
            </p:cNvPr>
            <p:cNvSpPr/>
            <p:nvPr/>
          </p:nvSpPr>
          <p:spPr>
            <a:xfrm>
              <a:off x="2469561" y="4411147"/>
              <a:ext cx="328936"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B</a:t>
              </a:r>
            </a:p>
          </p:txBody>
        </p:sp>
        <p:sp>
          <p:nvSpPr>
            <p:cNvPr id="75" name="Rectangle 74">
              <a:extLst>
                <a:ext uri="{FF2B5EF4-FFF2-40B4-BE49-F238E27FC236}">
                  <a16:creationId xmlns:a16="http://schemas.microsoft.com/office/drawing/2014/main" id="{8C2FC802-1C59-4A36-B820-B0656704E565}"/>
                </a:ext>
              </a:extLst>
            </p:cNvPr>
            <p:cNvSpPr/>
            <p:nvPr/>
          </p:nvSpPr>
          <p:spPr>
            <a:xfrm>
              <a:off x="1364397" y="4109630"/>
              <a:ext cx="340158"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A</a:t>
              </a:r>
            </a:p>
          </p:txBody>
        </p:sp>
        <p:sp>
          <p:nvSpPr>
            <p:cNvPr id="81" name="Rectangle 80">
              <a:extLst>
                <a:ext uri="{FF2B5EF4-FFF2-40B4-BE49-F238E27FC236}">
                  <a16:creationId xmlns:a16="http://schemas.microsoft.com/office/drawing/2014/main" id="{0B08CB8B-BAFF-498D-92C8-123CFCD02716}"/>
                </a:ext>
              </a:extLst>
            </p:cNvPr>
            <p:cNvSpPr/>
            <p:nvPr/>
          </p:nvSpPr>
          <p:spPr>
            <a:xfrm>
              <a:off x="3390200" y="4943769"/>
              <a:ext cx="320922" cy="40011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C</a:t>
              </a:r>
            </a:p>
          </p:txBody>
        </p:sp>
      </p:grpSp>
    </p:spTree>
    <p:extLst>
      <p:ext uri="{BB962C8B-B14F-4D97-AF65-F5344CB8AC3E}">
        <p14:creationId xmlns:p14="http://schemas.microsoft.com/office/powerpoint/2010/main" val="413809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92977" y="809598"/>
            <a:ext cx="3154194" cy="1901688"/>
          </a:xfrm>
        </p:spPr>
        <p:txBody>
          <a:bodyPr>
            <a:normAutofit fontScale="90000"/>
          </a:bodyPr>
          <a:lstStyle/>
          <a:p>
            <a:pPr algn="l"/>
            <a:r>
              <a:rPr lang="en-US" dirty="0"/>
              <a:t>How to extract consumer surplus?</a:t>
            </a:r>
            <a:br>
              <a:rPr lang="en-US" dirty="0"/>
            </a:br>
            <a:br>
              <a:rPr lang="en-US" dirty="0"/>
            </a:br>
            <a:r>
              <a:rPr lang="en-US" dirty="0"/>
              <a:t>A summary</a:t>
            </a:r>
            <a:br>
              <a:rPr lang="en-US" dirty="0"/>
            </a:br>
            <a:r>
              <a:rPr lang="en-US" dirty="0"/>
              <a:t>of pricing strategies</a:t>
            </a:r>
          </a:p>
        </p:txBody>
      </p:sp>
      <p:sp>
        <p:nvSpPr>
          <p:cNvPr id="9" name="Rounded Rectangle 8"/>
          <p:cNvSpPr/>
          <p:nvPr/>
        </p:nvSpPr>
        <p:spPr>
          <a:xfrm>
            <a:off x="4041427" y="936761"/>
            <a:ext cx="1619749" cy="56553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Does the firm have market power?</a:t>
            </a:r>
          </a:p>
        </p:txBody>
      </p:sp>
      <p:sp>
        <p:nvSpPr>
          <p:cNvPr id="10" name="Rounded Rectangle 9"/>
          <p:cNvSpPr/>
          <p:nvPr/>
        </p:nvSpPr>
        <p:spPr>
          <a:xfrm>
            <a:off x="4041427" y="1980956"/>
            <a:ext cx="1619749" cy="56553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Can the firm prevent resale and arbitrage?</a:t>
            </a:r>
          </a:p>
        </p:txBody>
      </p:sp>
      <p:sp>
        <p:nvSpPr>
          <p:cNvPr id="11" name="Rounded Rectangle 10"/>
          <p:cNvSpPr/>
          <p:nvPr/>
        </p:nvSpPr>
        <p:spPr>
          <a:xfrm>
            <a:off x="4041426" y="3031381"/>
            <a:ext cx="1619750" cy="56553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 the firm's customers have different demand curves?</a:t>
            </a:r>
          </a:p>
        </p:txBody>
      </p:sp>
      <p:sp>
        <p:nvSpPr>
          <p:cNvPr id="12" name="Rounded Rectangle 11"/>
          <p:cNvSpPr/>
          <p:nvPr/>
        </p:nvSpPr>
        <p:spPr>
          <a:xfrm>
            <a:off x="4035083" y="4034153"/>
            <a:ext cx="1626093" cy="70990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normAutofit fontScale="7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Can the firm directly identify different customers?</a:t>
            </a:r>
          </a:p>
        </p:txBody>
      </p:sp>
      <p:sp>
        <p:nvSpPr>
          <p:cNvPr id="13" name="Rounded Rectangle 12"/>
          <p:cNvSpPr/>
          <p:nvPr/>
        </p:nvSpPr>
        <p:spPr>
          <a:xfrm>
            <a:off x="6566470" y="936761"/>
            <a:ext cx="1914921" cy="56553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Perfect competition produces quantity at which </a:t>
            </a:r>
            <a:r>
              <a:rPr kumimoji="0" lang="en-US" sz="1800" b="0" i="1" u="none" strike="noStrike" kern="1200" cap="none" spc="0" normalizeH="0" baseline="0" noProof="0" dirty="0">
                <a:ln>
                  <a:noFill/>
                </a:ln>
                <a:solidFill>
                  <a:prstClr val="black"/>
                </a:solidFill>
                <a:effectLst/>
                <a:uLnTx/>
                <a:uFillTx/>
                <a:latin typeface="Calibri"/>
                <a:ea typeface="+mn-ea"/>
                <a:cs typeface="+mn-cs"/>
              </a:rPr>
              <a:t>MR = P = MC</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Rounded Rectangle 13"/>
          <p:cNvSpPr/>
          <p:nvPr/>
        </p:nvSpPr>
        <p:spPr>
          <a:xfrm>
            <a:off x="6566470" y="1980955"/>
            <a:ext cx="1914921" cy="661034"/>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Firm produces quantity (</a:t>
            </a:r>
            <a:r>
              <a:rPr kumimoji="0" lang="en-US" sz="1800" b="0" i="1" u="none" strike="noStrike" kern="1200" cap="none" spc="0" normalizeH="0" baseline="0" noProof="0" dirty="0">
                <a:ln>
                  <a:noFill/>
                </a:ln>
                <a:solidFill>
                  <a:prstClr val="black"/>
                </a:solidFill>
                <a:effectLst/>
                <a:uLnTx/>
                <a:uFillTx/>
                <a:latin typeface="Calibri"/>
                <a:ea typeface="+mn-ea"/>
                <a:cs typeface="+mn-cs"/>
              </a:rPr>
              <a:t>Q</a:t>
            </a:r>
            <a:r>
              <a:rPr kumimoji="0" lang="en-US" sz="1800" b="0" i="0" u="none" strike="noStrike" kern="1200" cap="none" spc="0" normalizeH="0" baseline="0" noProof="0" dirty="0">
                <a:ln>
                  <a:noFill/>
                </a:ln>
                <a:solidFill>
                  <a:prstClr val="black"/>
                </a:solidFill>
                <a:effectLst/>
                <a:uLnTx/>
                <a:uFillTx/>
                <a:latin typeface="Calibri"/>
                <a:ea typeface="+mn-ea"/>
                <a:cs typeface="+mn-cs"/>
              </a:rPr>
              <a:t>*) at which </a:t>
            </a:r>
            <a:r>
              <a:rPr kumimoji="0" lang="en-US" sz="1800" b="0" i="1" u="none" strike="noStrike" kern="1200" cap="none" spc="0" normalizeH="0" baseline="0" noProof="0" dirty="0">
                <a:ln>
                  <a:noFill/>
                </a:ln>
                <a:solidFill>
                  <a:prstClr val="black"/>
                </a:solidFill>
                <a:effectLst/>
                <a:uLnTx/>
                <a:uFillTx/>
                <a:latin typeface="Calibri"/>
                <a:ea typeface="+mn-ea"/>
                <a:cs typeface="+mn-cs"/>
              </a:rPr>
              <a:t>MR = MC</a:t>
            </a:r>
            <a:r>
              <a:rPr kumimoji="0" lang="en-US" sz="1800" b="0" i="0" u="none" strike="noStrike" kern="1200" cap="none" spc="0" normalizeH="0" baseline="0" noProof="0" dirty="0">
                <a:ln>
                  <a:noFill/>
                </a:ln>
                <a:solidFill>
                  <a:prstClr val="black"/>
                </a:solidFill>
                <a:effectLst/>
                <a:uLnTx/>
                <a:uFillTx/>
                <a:latin typeface="Calibri"/>
                <a:ea typeface="+mn-ea"/>
                <a:cs typeface="+mn-cs"/>
              </a:rPr>
              <a:t>, sets price </a:t>
            </a:r>
            <a:r>
              <a:rPr kumimoji="0" lang="en-US" sz="1800" b="0" i="1" u="none" strike="noStrike" kern="1200" cap="none" spc="0" normalizeH="0" baseline="0" noProof="0" dirty="0">
                <a:ln>
                  <a:noFill/>
                </a:ln>
                <a:solidFill>
                  <a:prstClr val="black"/>
                </a:solidFill>
                <a:effectLst/>
                <a:uLnTx/>
                <a:uFillTx/>
                <a:latin typeface="Calibri"/>
                <a:ea typeface="+mn-ea"/>
                <a:cs typeface="+mn-cs"/>
              </a:rPr>
              <a:t>P*</a:t>
            </a:r>
            <a:r>
              <a:rPr kumimoji="0" lang="en-US" sz="1800" b="0" i="0" u="none" strike="noStrike" kern="1200" cap="none" spc="0" normalizeH="0" baseline="0" noProof="0" dirty="0">
                <a:ln>
                  <a:noFill/>
                </a:ln>
                <a:solidFill>
                  <a:prstClr val="black"/>
                </a:solidFill>
                <a:effectLst/>
                <a:uLnTx/>
                <a:uFillTx/>
                <a:latin typeface="Calibri"/>
                <a:ea typeface="+mn-ea"/>
                <a:cs typeface="+mn-cs"/>
              </a:rPr>
              <a:t> where </a:t>
            </a:r>
            <a:r>
              <a:rPr kumimoji="0" lang="en-US" sz="1800" b="0" i="1" u="none" strike="noStrike" kern="1200" cap="none" spc="0" normalizeH="0" baseline="0" noProof="0" dirty="0">
                <a:ln>
                  <a:noFill/>
                </a:ln>
                <a:solidFill>
                  <a:prstClr val="black"/>
                </a:solidFill>
                <a:effectLst/>
                <a:uLnTx/>
                <a:uFillTx/>
                <a:latin typeface="Calibri"/>
                <a:ea typeface="+mn-ea"/>
                <a:cs typeface="+mn-cs"/>
              </a:rPr>
              <a:t>Q* = D(P*)</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Rounded Rectangle 14"/>
          <p:cNvSpPr/>
          <p:nvPr/>
        </p:nvSpPr>
        <p:spPr>
          <a:xfrm>
            <a:off x="6568972" y="2890162"/>
            <a:ext cx="2022578" cy="82838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400" b="0" i="0" u="none" strike="noStrike" kern="1200" cap="none" spc="0" normalizeH="0" baseline="0" noProof="0" dirty="0">
              <a:ln>
                <a:noFill/>
              </a:ln>
              <a:solidFill>
                <a:prstClr val="black"/>
              </a:solidFill>
              <a:effectLst/>
              <a:uLnTx/>
              <a:uFillTx/>
              <a:latin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a:rPr>
              <a:t>Advanced pricing strategies</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4400" b="0" i="0" u="none" strike="noStrike" kern="1200" cap="none" spc="0" normalizeH="0" baseline="0" noProof="0" dirty="0">
                <a:ln>
                  <a:noFill/>
                </a:ln>
                <a:solidFill>
                  <a:prstClr val="black"/>
                </a:solidFill>
                <a:effectLst/>
                <a:uLnTx/>
                <a:uFillTx/>
                <a:latin typeface="Calibri"/>
              </a:rPr>
            </a:br>
            <a:r>
              <a:rPr kumimoji="0" lang="en-US" sz="4400" b="0" i="0" u="none" strike="noStrike" kern="1200" cap="none" spc="0" normalizeH="0" baseline="0" noProof="0" dirty="0">
                <a:ln>
                  <a:noFill/>
                </a:ln>
                <a:solidFill>
                  <a:prstClr val="black"/>
                </a:solidFill>
                <a:effectLst/>
                <a:uLnTx/>
                <a:uFillTx/>
                <a:latin typeface="Calibri"/>
              </a:rPr>
              <a:t>•  Flat-fee</a:t>
            </a:r>
            <a:endParaRPr lang="en-US" sz="4400" dirty="0">
              <a:solidFill>
                <a:prstClr val="black"/>
              </a:solidFill>
              <a:latin typeface="Calibri"/>
            </a:endParaRPr>
          </a:p>
          <a:p>
            <a:pPr>
              <a:defRPr/>
            </a:pPr>
            <a:r>
              <a:rPr lang="en-US" sz="4400" dirty="0">
                <a:solidFill>
                  <a:prstClr val="black"/>
                </a:solidFill>
              </a:rPr>
              <a:t>•  Two-part tariff</a:t>
            </a:r>
          </a:p>
          <a:p>
            <a:pPr>
              <a:defRPr/>
            </a:pPr>
            <a:r>
              <a:rPr lang="en-US" sz="4400" dirty="0">
                <a:solidFill>
                  <a:prstClr val="black"/>
                </a:solidFill>
              </a:rPr>
              <a:t>•  Block pricing</a:t>
            </a:r>
            <a:endParaRPr lang="en-US" sz="4400" dirty="0">
              <a:solidFill>
                <a:prstClr val="black"/>
              </a:solidFill>
              <a:latin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Rounded Rectangle 15"/>
          <p:cNvSpPr/>
          <p:nvPr/>
        </p:nvSpPr>
        <p:spPr>
          <a:xfrm>
            <a:off x="6566470" y="4034153"/>
            <a:ext cx="1914921" cy="109776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rmAutofit fontScale="62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Indirect (second-degree) price discrimination</a:t>
            </a:r>
            <a:br>
              <a:rPr kumimoji="0" lang="en-US" sz="1800" b="0" i="0" u="none" strike="noStrike" kern="1200" cap="none" spc="0" normalizeH="0" baseline="0" noProof="0" dirty="0">
                <a:ln>
                  <a:noFill/>
                </a:ln>
                <a:solidFill>
                  <a:prstClr val="black"/>
                </a:solidFill>
                <a:effectLst/>
                <a:uLnTx/>
                <a:uFillTx/>
                <a:latin typeface="Calibri"/>
                <a:ea typeface="+mn-ea"/>
                <a:cs typeface="+mn-cs"/>
              </a:rPr>
            </a:b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Versioning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Coupons</a:t>
            </a:r>
          </a:p>
        </p:txBody>
      </p:sp>
      <p:sp>
        <p:nvSpPr>
          <p:cNvPr id="18" name="Rounded Rectangle 17"/>
          <p:cNvSpPr/>
          <p:nvPr/>
        </p:nvSpPr>
        <p:spPr>
          <a:xfrm>
            <a:off x="1954698" y="4375703"/>
            <a:ext cx="1068080" cy="42298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Direct price discrimination</a:t>
            </a:r>
          </a:p>
        </p:txBody>
      </p:sp>
      <p:sp>
        <p:nvSpPr>
          <p:cNvPr id="20" name="Rounded Rectangle 19"/>
          <p:cNvSpPr/>
          <p:nvPr/>
        </p:nvSpPr>
        <p:spPr>
          <a:xfrm>
            <a:off x="384314" y="5040152"/>
            <a:ext cx="2067163" cy="91258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Firm has complete information about every customer</a:t>
            </a:r>
            <a:br>
              <a:rPr kumimoji="0" lang="en-US" sz="1100" b="0" i="0" u="none" strike="noStrike" kern="1200" cap="none" spc="0" normalizeH="0" baseline="0" noProof="0" dirty="0">
                <a:ln>
                  <a:noFill/>
                </a:ln>
                <a:solidFill>
                  <a:prstClr val="black"/>
                </a:solidFill>
                <a:effectLst/>
                <a:uLnTx/>
                <a:uFillTx/>
                <a:latin typeface="Calibri"/>
                <a:ea typeface="+mn-ea"/>
                <a:cs typeface="+mn-cs"/>
              </a:rPr>
            </a:br>
            <a:r>
              <a:rPr kumimoji="0" lang="en-US" sz="1100" b="0" i="0" u="none" strike="noStrike" kern="1200" cap="none" spc="0" normalizeH="0" baseline="0" noProof="0" dirty="0">
                <a:ln>
                  <a:noFill/>
                </a:ln>
                <a:solidFill>
                  <a:prstClr val="black"/>
                </a:solidFill>
                <a:effectLst/>
                <a:uLnTx/>
                <a:uFillTx/>
                <a:latin typeface="Calibri"/>
                <a:ea typeface="+mn-ea"/>
                <a:cs typeface="+mn-cs"/>
              </a:rPr>
              <a:t>-----------------------------------------</a:t>
            </a:r>
            <a:br>
              <a:rPr kumimoji="0" lang="en-US" sz="1100" b="0" i="0" u="none" strike="noStrike" kern="1200" cap="none" spc="0" normalizeH="0" baseline="0" noProof="0" dirty="0">
                <a:ln>
                  <a:noFill/>
                </a:ln>
                <a:solidFill>
                  <a:prstClr val="black"/>
                </a:solidFill>
                <a:effectLst/>
                <a:uLnTx/>
                <a:uFillTx/>
                <a:latin typeface="Calibri"/>
                <a:ea typeface="+mn-ea"/>
                <a:cs typeface="+mn-cs"/>
              </a:rPr>
            </a:br>
            <a:r>
              <a:rPr kumimoji="0" lang="en-US" sz="1100" b="0" i="0" u="none" strike="noStrike" kern="1200" cap="none" spc="0" normalizeH="0" baseline="0" noProof="0" dirty="0">
                <a:ln>
                  <a:noFill/>
                </a:ln>
                <a:solidFill>
                  <a:prstClr val="black"/>
                </a:solidFill>
                <a:effectLst/>
                <a:uLnTx/>
                <a:uFillTx/>
                <a:latin typeface="Calibri"/>
                <a:ea typeface="+mn-ea"/>
                <a:cs typeface="+mn-cs"/>
              </a:rPr>
              <a:t>Perfect (first-degree) price discrimination</a:t>
            </a:r>
          </a:p>
        </p:txBody>
      </p:sp>
      <p:sp>
        <p:nvSpPr>
          <p:cNvPr id="22" name="Rounded Rectangle 21"/>
          <p:cNvSpPr/>
          <p:nvPr/>
        </p:nvSpPr>
        <p:spPr>
          <a:xfrm>
            <a:off x="2544465" y="5040150"/>
            <a:ext cx="2047413" cy="91258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Firm has information on groups of customers</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Segmenting (third-degree) price discrimination</a:t>
            </a:r>
          </a:p>
        </p:txBody>
      </p:sp>
      <p:cxnSp>
        <p:nvCxnSpPr>
          <p:cNvPr id="25" name="Straight Arrow Connector 24"/>
          <p:cNvCxnSpPr>
            <a:stCxn id="9" idx="3"/>
            <a:endCxn id="13" idx="1"/>
          </p:cNvCxnSpPr>
          <p:nvPr/>
        </p:nvCxnSpPr>
        <p:spPr>
          <a:xfrm>
            <a:off x="5661175" y="1219529"/>
            <a:ext cx="905294"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p:cNvCxnSpPr/>
          <p:nvPr/>
        </p:nvCxnSpPr>
        <p:spPr>
          <a:xfrm>
            <a:off x="5661174" y="3305805"/>
            <a:ext cx="898670"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p:cNvCxnSpPr/>
          <p:nvPr/>
        </p:nvCxnSpPr>
        <p:spPr>
          <a:xfrm>
            <a:off x="2092235" y="4798692"/>
            <a:ext cx="1099" cy="24146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p:cNvCxnSpPr/>
          <p:nvPr/>
        </p:nvCxnSpPr>
        <p:spPr>
          <a:xfrm>
            <a:off x="2824119" y="4798692"/>
            <a:ext cx="1099" cy="24146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TextBox 41"/>
          <p:cNvSpPr txBox="1"/>
          <p:nvPr/>
        </p:nvSpPr>
        <p:spPr>
          <a:xfrm>
            <a:off x="5863173" y="1022462"/>
            <a:ext cx="35298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a:ea typeface="+mn-ea"/>
                <a:cs typeface="+mn-cs"/>
              </a:rPr>
              <a:t>No</a:t>
            </a:r>
            <a:endParaRPr kumimoji="0" lang="en-US" sz="1100" b="1" i="0" u="none" strike="noStrike" kern="1200" cap="none" spc="0" normalizeH="0" baseline="0" noProof="0" dirty="0">
              <a:ln>
                <a:noFill/>
              </a:ln>
              <a:solidFill>
                <a:prstClr val="black"/>
              </a:solidFill>
              <a:effectLst/>
              <a:uLnTx/>
              <a:uFillTx/>
              <a:latin typeface="Calibri"/>
              <a:ea typeface="+mn-ea"/>
              <a:cs typeface="+mn-cs"/>
            </a:endParaRPr>
          </a:p>
        </p:txBody>
      </p:sp>
      <p:sp>
        <p:nvSpPr>
          <p:cNvPr id="46" name="TextBox 45"/>
          <p:cNvSpPr txBox="1"/>
          <p:nvPr/>
        </p:nvSpPr>
        <p:spPr>
          <a:xfrm>
            <a:off x="5864040" y="3092691"/>
            <a:ext cx="35298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a:ea typeface="+mn-ea"/>
                <a:cs typeface="+mn-cs"/>
              </a:rPr>
              <a:t>No</a:t>
            </a:r>
            <a:endParaRPr kumimoji="0" lang="en-US" sz="11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55" name="Group 54"/>
          <p:cNvGrpSpPr/>
          <p:nvPr/>
        </p:nvGrpSpPr>
        <p:grpSpPr>
          <a:xfrm>
            <a:off x="4639225" y="1502297"/>
            <a:ext cx="385042" cy="477412"/>
            <a:chOff x="4871135" y="645047"/>
            <a:chExt cx="385042" cy="580780"/>
          </a:xfrm>
        </p:grpSpPr>
        <p:sp>
          <p:nvSpPr>
            <p:cNvPr id="44" name="TextBox 43"/>
            <p:cNvSpPr txBox="1"/>
            <p:nvPr/>
          </p:nvSpPr>
          <p:spPr>
            <a:xfrm>
              <a:off x="4871135" y="739387"/>
              <a:ext cx="385042" cy="31825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51" name="Group 50"/>
            <p:cNvGrpSpPr/>
            <p:nvPr/>
          </p:nvGrpSpPr>
          <p:grpSpPr>
            <a:xfrm>
              <a:off x="5038697" y="645047"/>
              <a:ext cx="5497" cy="580780"/>
              <a:chOff x="5038697" y="645047"/>
              <a:chExt cx="5497" cy="580780"/>
            </a:xfrm>
          </p:grpSpPr>
          <p:cxnSp>
            <p:nvCxnSpPr>
              <p:cNvPr id="29" name="Straight Arrow Connector 28"/>
              <p:cNvCxnSpPr/>
              <p:nvPr/>
            </p:nvCxnSpPr>
            <p:spPr>
              <a:xfrm>
                <a:off x="5044194" y="645047"/>
                <a:ext cx="0" cy="169962"/>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Arrow Connector 48"/>
              <p:cNvCxnSpPr/>
              <p:nvPr/>
            </p:nvCxnSpPr>
            <p:spPr>
              <a:xfrm>
                <a:off x="5038697" y="991926"/>
                <a:ext cx="5497" cy="23390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grpSp>
        <p:nvGrpSpPr>
          <p:cNvPr id="56" name="Group 55"/>
          <p:cNvGrpSpPr/>
          <p:nvPr/>
        </p:nvGrpSpPr>
        <p:grpSpPr>
          <a:xfrm>
            <a:off x="4655607" y="2552970"/>
            <a:ext cx="385042" cy="468388"/>
            <a:chOff x="4871135" y="645047"/>
            <a:chExt cx="385042" cy="580780"/>
          </a:xfrm>
        </p:grpSpPr>
        <p:sp>
          <p:nvSpPr>
            <p:cNvPr id="57" name="TextBox 56"/>
            <p:cNvSpPr txBox="1"/>
            <p:nvPr/>
          </p:nvSpPr>
          <p:spPr>
            <a:xfrm>
              <a:off x="4871135" y="738765"/>
              <a:ext cx="385042" cy="32438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58" name="Group 57"/>
            <p:cNvGrpSpPr/>
            <p:nvPr/>
          </p:nvGrpSpPr>
          <p:grpSpPr>
            <a:xfrm>
              <a:off x="5038697" y="645047"/>
              <a:ext cx="5497" cy="580780"/>
              <a:chOff x="5038697" y="645047"/>
              <a:chExt cx="5497" cy="580780"/>
            </a:xfrm>
          </p:grpSpPr>
          <p:cxnSp>
            <p:nvCxnSpPr>
              <p:cNvPr id="59" name="Straight Arrow Connector 58"/>
              <p:cNvCxnSpPr/>
              <p:nvPr/>
            </p:nvCxnSpPr>
            <p:spPr>
              <a:xfrm>
                <a:off x="5041996" y="645047"/>
                <a:ext cx="2198" cy="169962"/>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Arrow Connector 59"/>
              <p:cNvCxnSpPr/>
              <p:nvPr/>
            </p:nvCxnSpPr>
            <p:spPr>
              <a:xfrm>
                <a:off x="5038697" y="991926"/>
                <a:ext cx="5497" cy="23390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grpSp>
        <p:nvGrpSpPr>
          <p:cNvPr id="63" name="Group 62"/>
          <p:cNvGrpSpPr/>
          <p:nvPr/>
        </p:nvGrpSpPr>
        <p:grpSpPr>
          <a:xfrm>
            <a:off x="4639225" y="3596918"/>
            <a:ext cx="385042" cy="437236"/>
            <a:chOff x="4871135" y="645047"/>
            <a:chExt cx="385042" cy="580780"/>
          </a:xfrm>
        </p:grpSpPr>
        <p:sp>
          <p:nvSpPr>
            <p:cNvPr id="64" name="TextBox 63"/>
            <p:cNvSpPr txBox="1"/>
            <p:nvPr/>
          </p:nvSpPr>
          <p:spPr>
            <a:xfrm>
              <a:off x="4871135" y="708825"/>
              <a:ext cx="385042" cy="35105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65" name="Group 64"/>
            <p:cNvGrpSpPr/>
            <p:nvPr/>
          </p:nvGrpSpPr>
          <p:grpSpPr>
            <a:xfrm>
              <a:off x="5038697" y="645047"/>
              <a:ext cx="5497" cy="580780"/>
              <a:chOff x="5038697" y="645047"/>
              <a:chExt cx="5497" cy="580780"/>
            </a:xfrm>
          </p:grpSpPr>
          <p:cxnSp>
            <p:nvCxnSpPr>
              <p:cNvPr id="66" name="Straight Arrow Connector 65"/>
              <p:cNvCxnSpPr/>
              <p:nvPr/>
            </p:nvCxnSpPr>
            <p:spPr>
              <a:xfrm>
                <a:off x="5041996" y="645047"/>
                <a:ext cx="2198" cy="169962"/>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Arrow Connector 66"/>
              <p:cNvCxnSpPr/>
              <p:nvPr/>
            </p:nvCxnSpPr>
            <p:spPr>
              <a:xfrm>
                <a:off x="5038697" y="991926"/>
                <a:ext cx="5497" cy="23390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sp>
        <p:nvSpPr>
          <p:cNvPr id="78" name="TextBox 77"/>
          <p:cNvSpPr txBox="1"/>
          <p:nvPr/>
        </p:nvSpPr>
        <p:spPr>
          <a:xfrm>
            <a:off x="3369039" y="4424170"/>
            <a:ext cx="38504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Yes</a:t>
            </a:r>
          </a:p>
        </p:txBody>
      </p:sp>
      <p:grpSp>
        <p:nvGrpSpPr>
          <p:cNvPr id="83" name="Group 82"/>
          <p:cNvGrpSpPr/>
          <p:nvPr/>
        </p:nvGrpSpPr>
        <p:grpSpPr>
          <a:xfrm rot="5400000">
            <a:off x="3531017" y="4055719"/>
            <a:ext cx="2170" cy="1018647"/>
            <a:chOff x="3644518" y="3147206"/>
            <a:chExt cx="2170" cy="1018647"/>
          </a:xfrm>
        </p:grpSpPr>
        <p:cxnSp>
          <p:nvCxnSpPr>
            <p:cNvPr id="80" name="Straight Arrow Connector 79"/>
            <p:cNvCxnSpPr/>
            <p:nvPr/>
          </p:nvCxnSpPr>
          <p:spPr>
            <a:xfrm rot="16200000" flipH="1">
              <a:off x="3499102" y="3294792"/>
              <a:ext cx="295171" cy="0"/>
            </a:xfrm>
            <a:prstGeom prst="straightConnector1">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Straight Arrow Connector 80"/>
            <p:cNvCxnSpPr/>
            <p:nvPr/>
          </p:nvCxnSpPr>
          <p:spPr>
            <a:xfrm rot="16200000" flipH="1">
              <a:off x="3456931" y="3978267"/>
              <a:ext cx="375173"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87" name="TextBox 86"/>
          <p:cNvSpPr txBox="1"/>
          <p:nvPr/>
        </p:nvSpPr>
        <p:spPr>
          <a:xfrm>
            <a:off x="5863174" y="4373269"/>
            <a:ext cx="362111"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No</a:t>
            </a:r>
          </a:p>
        </p:txBody>
      </p:sp>
      <p:cxnSp>
        <p:nvCxnSpPr>
          <p:cNvPr id="100" name="Straight Arrow Connector 99"/>
          <p:cNvCxnSpPr/>
          <p:nvPr/>
        </p:nvCxnSpPr>
        <p:spPr>
          <a:xfrm>
            <a:off x="5670304" y="2270151"/>
            <a:ext cx="89866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1" name="TextBox 100"/>
          <p:cNvSpPr txBox="1"/>
          <p:nvPr/>
        </p:nvSpPr>
        <p:spPr>
          <a:xfrm>
            <a:off x="5872302" y="2073084"/>
            <a:ext cx="352982"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a:ea typeface="+mn-ea"/>
                <a:cs typeface="+mn-cs"/>
              </a:rPr>
              <a:t>No</a:t>
            </a:r>
            <a:endParaRPr kumimoji="0" lang="en-US" sz="1100" b="1"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Box 2"/>
          <p:cNvSpPr txBox="1"/>
          <p:nvPr/>
        </p:nvSpPr>
        <p:spPr>
          <a:xfrm>
            <a:off x="292977" y="6503831"/>
            <a:ext cx="374210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Source: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Goolsbee</a:t>
            </a:r>
            <a:r>
              <a:rPr kumimoji="0" lang="en-US" sz="1800" b="0" i="0" u="none" strike="noStrike" kern="1200" cap="none" spc="0" normalizeH="0" baseline="0" noProof="0" dirty="0">
                <a:ln>
                  <a:noFill/>
                </a:ln>
                <a:solidFill>
                  <a:prstClr val="black"/>
                </a:solidFill>
                <a:effectLst/>
                <a:uLnTx/>
                <a:uFillTx/>
                <a:latin typeface="Calibri"/>
                <a:ea typeface="+mn-ea"/>
                <a:cs typeface="+mn-cs"/>
              </a:rPr>
              <a:t>, Levitt,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Syverson</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6E3D2D88-7161-CA43-86F4-B787D160A60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5" name="Straight Arrow Connector 44">
            <a:extLst>
              <a:ext uri="{FF2B5EF4-FFF2-40B4-BE49-F238E27FC236}">
                <a16:creationId xmlns:a16="http://schemas.microsoft.com/office/drawing/2014/main" id="{29E92A36-D343-4E48-8359-77F17D6B30B4}"/>
              </a:ext>
            </a:extLst>
          </p:cNvPr>
          <p:cNvCxnSpPr/>
          <p:nvPr/>
        </p:nvCxnSpPr>
        <p:spPr>
          <a:xfrm>
            <a:off x="5661174" y="4576797"/>
            <a:ext cx="898670"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010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8" grpId="0" animBg="1"/>
      <p:bldP spid="20" grpId="0" animBg="1"/>
      <p:bldP spid="22" grpId="0" animBg="1"/>
      <p:bldP spid="42" grpId="0"/>
      <p:bldP spid="46" grpId="0"/>
      <p:bldP spid="78" grpId="0"/>
      <p:bldP spid="87" grpId="0"/>
      <p:bldP spid="101"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19B4-8F99-41F5-A65F-5BC41610269C}"/>
              </a:ext>
            </a:extLst>
          </p:cNvPr>
          <p:cNvSpPr>
            <a:spLocks noGrp="1"/>
          </p:cNvSpPr>
          <p:nvPr>
            <p:ph type="title"/>
          </p:nvPr>
        </p:nvSpPr>
        <p:spPr>
          <a:xfrm>
            <a:off x="457200" y="127215"/>
            <a:ext cx="8229600" cy="2049928"/>
          </a:xfrm>
        </p:spPr>
        <p:txBody>
          <a:bodyPr>
            <a:normAutofit/>
          </a:bodyPr>
          <a:lstStyle/>
          <a:p>
            <a:r>
              <a:rPr lang="fr-FR" dirty="0" err="1"/>
              <a:t>Some</a:t>
            </a:r>
            <a:r>
              <a:rPr lang="fr-FR" dirty="0"/>
              <a:t> </a:t>
            </a:r>
            <a:r>
              <a:rPr lang="fr-FR" dirty="0" err="1"/>
              <a:t>Examples</a:t>
            </a:r>
            <a:r>
              <a:rPr lang="fr-FR" dirty="0"/>
              <a:t> for Innovative Pricing </a:t>
            </a:r>
            <a:r>
              <a:rPr lang="fr-FR" dirty="0" err="1"/>
              <a:t>Strategies</a:t>
            </a:r>
            <a:br>
              <a:rPr lang="fr-FR" dirty="0"/>
            </a:br>
            <a:r>
              <a:rPr lang="fr-FR" dirty="0"/>
              <a:t>(</a:t>
            </a:r>
            <a:r>
              <a:rPr lang="fr-FR" dirty="0" err="1"/>
              <a:t>only</a:t>
            </a:r>
            <a:r>
              <a:rPr lang="fr-FR" dirty="0"/>
              <a:t> if </a:t>
            </a:r>
            <a:r>
              <a:rPr lang="fr-FR" dirty="0" err="1"/>
              <a:t>We</a:t>
            </a:r>
            <a:r>
              <a:rPr lang="fr-FR" dirty="0"/>
              <a:t> have Time)</a:t>
            </a:r>
            <a:endParaRPr lang="en-US" dirty="0"/>
          </a:p>
        </p:txBody>
      </p:sp>
    </p:spTree>
    <p:extLst>
      <p:ext uri="{BB962C8B-B14F-4D97-AF65-F5344CB8AC3E}">
        <p14:creationId xmlns:p14="http://schemas.microsoft.com/office/powerpoint/2010/main" val="1139217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mad optimist</a:t>
            </a:r>
          </a:p>
        </p:txBody>
      </p:sp>
      <p:sp>
        <p:nvSpPr>
          <p:cNvPr id="5" name="Content Placeholder 4">
            <a:extLst>
              <a:ext uri="{FF2B5EF4-FFF2-40B4-BE49-F238E27FC236}">
                <a16:creationId xmlns:a16="http://schemas.microsoft.com/office/drawing/2014/main" id="{8BA021ED-1A66-42B2-8E6B-88E183C1FAAA}"/>
              </a:ext>
            </a:extLst>
          </p:cNvPr>
          <p:cNvSpPr>
            <a:spLocks noGrp="1"/>
          </p:cNvSpPr>
          <p:nvPr>
            <p:ph idx="1"/>
          </p:nvPr>
        </p:nvSpPr>
        <p:spPr>
          <a:xfrm>
            <a:off x="457200" y="1088571"/>
            <a:ext cx="8371114" cy="4857377"/>
          </a:xfrm>
        </p:spPr>
        <p:txBody>
          <a:bodyPr/>
          <a:lstStyle/>
          <a:p>
            <a:r>
              <a:rPr lang="en-US" dirty="0"/>
              <a:t>An interesting way to extract consumer surplus</a:t>
            </a:r>
          </a:p>
        </p:txBody>
      </p:sp>
      <p:pic>
        <p:nvPicPr>
          <p:cNvPr id="6" name="Picture 5">
            <a:hlinkClick r:id="rId3"/>
            <a:extLst>
              <a:ext uri="{FF2B5EF4-FFF2-40B4-BE49-F238E27FC236}">
                <a16:creationId xmlns:a16="http://schemas.microsoft.com/office/drawing/2014/main" id="{DF559357-8688-41C6-BA4B-0497FAFA1C2C}"/>
              </a:ext>
            </a:extLst>
          </p:cNvPr>
          <p:cNvPicPr>
            <a:picLocks noChangeAspect="1"/>
          </p:cNvPicPr>
          <p:nvPr/>
        </p:nvPicPr>
        <p:blipFill>
          <a:blip r:embed="rId4"/>
          <a:stretch>
            <a:fillRect/>
          </a:stretch>
        </p:blipFill>
        <p:spPr>
          <a:xfrm>
            <a:off x="315686" y="1720669"/>
            <a:ext cx="8828314" cy="4649728"/>
          </a:xfrm>
          <a:prstGeom prst="rect">
            <a:avLst/>
          </a:prstGeom>
        </p:spPr>
      </p:pic>
    </p:spTree>
    <p:extLst>
      <p:ext uri="{BB962C8B-B14F-4D97-AF65-F5344CB8AC3E}">
        <p14:creationId xmlns:p14="http://schemas.microsoft.com/office/powerpoint/2010/main" val="290110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Rent the runway</a:t>
            </a:r>
          </a:p>
        </p:txBody>
      </p:sp>
      <p:sp>
        <p:nvSpPr>
          <p:cNvPr id="3" name="Content Placeholder 2">
            <a:extLst>
              <a:ext uri="{FF2B5EF4-FFF2-40B4-BE49-F238E27FC236}">
                <a16:creationId xmlns:a16="http://schemas.microsoft.com/office/drawing/2014/main" id="{47F06DCD-1FFE-407F-B6EC-03179983C614}"/>
              </a:ext>
            </a:extLst>
          </p:cNvPr>
          <p:cNvSpPr>
            <a:spLocks noGrp="1"/>
          </p:cNvSpPr>
          <p:nvPr>
            <p:ph idx="1"/>
          </p:nvPr>
        </p:nvSpPr>
        <p:spPr>
          <a:xfrm>
            <a:off x="457200" y="1099457"/>
            <a:ext cx="8229600" cy="4846491"/>
          </a:xfrm>
        </p:spPr>
        <p:txBody>
          <a:bodyPr/>
          <a:lstStyle/>
          <a:p>
            <a:r>
              <a:rPr lang="en-US" dirty="0"/>
              <a:t>Combination of block pricing and versioning</a:t>
            </a:r>
          </a:p>
        </p:txBody>
      </p:sp>
      <p:pic>
        <p:nvPicPr>
          <p:cNvPr id="4" name="Picture 3">
            <a:hlinkClick r:id="rId3"/>
            <a:extLst>
              <a:ext uri="{FF2B5EF4-FFF2-40B4-BE49-F238E27FC236}">
                <a16:creationId xmlns:a16="http://schemas.microsoft.com/office/drawing/2014/main" id="{30F680C8-B051-45CB-A99C-263ACB315A38}"/>
              </a:ext>
            </a:extLst>
          </p:cNvPr>
          <p:cNvPicPr>
            <a:picLocks noChangeAspect="1"/>
          </p:cNvPicPr>
          <p:nvPr/>
        </p:nvPicPr>
        <p:blipFill>
          <a:blip r:embed="rId4"/>
          <a:stretch>
            <a:fillRect/>
          </a:stretch>
        </p:blipFill>
        <p:spPr>
          <a:xfrm>
            <a:off x="1115785" y="1822443"/>
            <a:ext cx="6912429" cy="4682403"/>
          </a:xfrm>
          <a:prstGeom prst="rect">
            <a:avLst/>
          </a:prstGeom>
        </p:spPr>
      </p:pic>
    </p:spTree>
    <p:extLst>
      <p:ext uri="{BB962C8B-B14F-4D97-AF65-F5344CB8AC3E}">
        <p14:creationId xmlns:p14="http://schemas.microsoft.com/office/powerpoint/2010/main" val="42068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8743-C968-410C-9C75-27FBED8D127D}"/>
              </a:ext>
            </a:extLst>
          </p:cNvPr>
          <p:cNvSpPr>
            <a:spLocks noGrp="1"/>
          </p:cNvSpPr>
          <p:nvPr>
            <p:ph type="title"/>
          </p:nvPr>
        </p:nvSpPr>
        <p:spPr/>
        <p:txBody>
          <a:bodyPr/>
          <a:lstStyle/>
          <a:p>
            <a:r>
              <a:rPr lang="en-US" dirty="0"/>
              <a:t>The economist pricing example</a:t>
            </a:r>
          </a:p>
        </p:txBody>
      </p:sp>
      <p:pic>
        <p:nvPicPr>
          <p:cNvPr id="2050" name="Picture 2" descr="The decoy pricing example from The Economist.">
            <a:extLst>
              <a:ext uri="{FF2B5EF4-FFF2-40B4-BE49-F238E27FC236}">
                <a16:creationId xmlns:a16="http://schemas.microsoft.com/office/drawing/2014/main" id="{6DB10775-7909-4589-8F87-24E41AEA5A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912767"/>
            <a:ext cx="4505674" cy="3514843"/>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3">
            <a:extLst>
              <a:ext uri="{FF2B5EF4-FFF2-40B4-BE49-F238E27FC236}">
                <a16:creationId xmlns:a16="http://schemas.microsoft.com/office/drawing/2014/main" id="{0CD3665E-18B1-452B-BE7D-3069B6531CC8}"/>
              </a:ext>
            </a:extLst>
          </p:cNvPr>
          <p:cNvSpPr txBox="1">
            <a:spLocks/>
          </p:cNvSpPr>
          <p:nvPr/>
        </p:nvSpPr>
        <p:spPr>
          <a:xfrm>
            <a:off x="5173325" y="1771272"/>
            <a:ext cx="3970675" cy="452596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563"/>
              </a:spcAft>
              <a:buFont typeface="Lucida Grande"/>
              <a:buNone/>
            </a:pPr>
            <a:r>
              <a:rPr lang="en-US" sz="2400" dirty="0"/>
              <a:t>What do you think about this pricing strategy?</a:t>
            </a:r>
          </a:p>
          <a:p>
            <a:pPr marL="0" indent="0">
              <a:spcAft>
                <a:spcPts val="563"/>
              </a:spcAft>
              <a:buFont typeface="Lucida Grande"/>
              <a:buNone/>
            </a:pPr>
            <a:endParaRPr lang="en-US" sz="1400" dirty="0"/>
          </a:p>
        </p:txBody>
      </p:sp>
      <p:sp>
        <p:nvSpPr>
          <p:cNvPr id="3" name="TextBox 2">
            <a:extLst>
              <a:ext uri="{FF2B5EF4-FFF2-40B4-BE49-F238E27FC236}">
                <a16:creationId xmlns:a16="http://schemas.microsoft.com/office/drawing/2014/main" id="{6FDFB1F0-5541-4644-B86F-FF54F11A69EE}"/>
              </a:ext>
            </a:extLst>
          </p:cNvPr>
          <p:cNvSpPr txBox="1"/>
          <p:nvPr/>
        </p:nvSpPr>
        <p:spPr>
          <a:xfrm>
            <a:off x="5083629" y="3200400"/>
            <a:ext cx="1317171" cy="461665"/>
          </a:xfrm>
          <a:prstGeom prst="rect">
            <a:avLst/>
          </a:prstGeom>
          <a:noFill/>
        </p:spPr>
        <p:txBody>
          <a:bodyPr wrap="square" rtlCol="0">
            <a:spAutoFit/>
          </a:bodyPr>
          <a:lstStyle/>
          <a:p>
            <a:r>
              <a:rPr lang="en-US" sz="2400" b="1" dirty="0">
                <a:sym typeface="Wingdings" panose="05000000000000000000" pitchFamily="2" charset="2"/>
              </a:rPr>
              <a:t> </a:t>
            </a:r>
            <a:r>
              <a:rPr lang="en-US" sz="2400" b="1" dirty="0"/>
              <a:t>16%</a:t>
            </a:r>
          </a:p>
        </p:txBody>
      </p:sp>
      <p:sp>
        <p:nvSpPr>
          <p:cNvPr id="6" name="TextBox 5">
            <a:extLst>
              <a:ext uri="{FF2B5EF4-FFF2-40B4-BE49-F238E27FC236}">
                <a16:creationId xmlns:a16="http://schemas.microsoft.com/office/drawing/2014/main" id="{2E5DD4D1-D95B-4711-9737-9B4080C91BD8}"/>
              </a:ext>
            </a:extLst>
          </p:cNvPr>
          <p:cNvSpPr txBox="1"/>
          <p:nvPr/>
        </p:nvSpPr>
        <p:spPr>
          <a:xfrm>
            <a:off x="5083629" y="4672617"/>
            <a:ext cx="1317171" cy="461665"/>
          </a:xfrm>
          <a:prstGeom prst="rect">
            <a:avLst/>
          </a:prstGeom>
          <a:noFill/>
        </p:spPr>
        <p:txBody>
          <a:bodyPr wrap="square" rtlCol="0">
            <a:spAutoFit/>
          </a:bodyPr>
          <a:lstStyle/>
          <a:p>
            <a:r>
              <a:rPr lang="en-US" sz="2400" b="1" dirty="0">
                <a:sym typeface="Wingdings" panose="05000000000000000000" pitchFamily="2" charset="2"/>
              </a:rPr>
              <a:t> </a:t>
            </a:r>
            <a:r>
              <a:rPr lang="en-US" sz="2400" b="1" dirty="0"/>
              <a:t>84%</a:t>
            </a:r>
          </a:p>
        </p:txBody>
      </p:sp>
      <p:sp>
        <p:nvSpPr>
          <p:cNvPr id="7" name="Content Placeholder 3">
            <a:extLst>
              <a:ext uri="{FF2B5EF4-FFF2-40B4-BE49-F238E27FC236}">
                <a16:creationId xmlns:a16="http://schemas.microsoft.com/office/drawing/2014/main" id="{C6D690A6-8B62-46AB-B302-3B29711CBB8D}"/>
              </a:ext>
            </a:extLst>
          </p:cNvPr>
          <p:cNvSpPr txBox="1">
            <a:spLocks/>
          </p:cNvSpPr>
          <p:nvPr/>
        </p:nvSpPr>
        <p:spPr>
          <a:xfrm>
            <a:off x="255814" y="5746387"/>
            <a:ext cx="8784771" cy="64754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563"/>
              </a:spcAft>
              <a:buFont typeface="Lucida Grande"/>
              <a:buNone/>
            </a:pPr>
            <a:r>
              <a:rPr lang="en-US" sz="2400" dirty="0"/>
              <a:t>Attention focused on the comparison between the two $125 options </a:t>
            </a:r>
          </a:p>
          <a:p>
            <a:pPr marL="0" indent="0">
              <a:spcAft>
                <a:spcPts val="563"/>
              </a:spcAft>
              <a:buFont typeface="Lucida Grande"/>
              <a:buNone/>
            </a:pPr>
            <a:endParaRPr lang="en-US" sz="1400" dirty="0"/>
          </a:p>
        </p:txBody>
      </p:sp>
    </p:spTree>
    <p:extLst>
      <p:ext uri="{BB962C8B-B14F-4D97-AF65-F5344CB8AC3E}">
        <p14:creationId xmlns:p14="http://schemas.microsoft.com/office/powerpoint/2010/main" val="521299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C5A0-0689-401F-9770-AF75310B6079}"/>
              </a:ext>
            </a:extLst>
          </p:cNvPr>
          <p:cNvSpPr>
            <a:spLocks noGrp="1"/>
          </p:cNvSpPr>
          <p:nvPr>
            <p:ph type="title"/>
          </p:nvPr>
        </p:nvSpPr>
        <p:spPr/>
        <p:txBody>
          <a:bodyPr/>
          <a:lstStyle/>
          <a:p>
            <a:r>
              <a:rPr lang="en-US" dirty="0"/>
              <a:t>Dan </a:t>
            </a:r>
            <a:r>
              <a:rPr lang="en-US" dirty="0" err="1"/>
              <a:t>Ariely’s</a:t>
            </a:r>
            <a:r>
              <a:rPr lang="en-US" dirty="0"/>
              <a:t> experiment</a:t>
            </a:r>
          </a:p>
        </p:txBody>
      </p:sp>
      <p:sp>
        <p:nvSpPr>
          <p:cNvPr id="3" name="Content Placeholder 2">
            <a:extLst>
              <a:ext uri="{FF2B5EF4-FFF2-40B4-BE49-F238E27FC236}">
                <a16:creationId xmlns:a16="http://schemas.microsoft.com/office/drawing/2014/main" id="{F340ABF9-7F51-40B7-B86F-2B8B7EFEA68F}"/>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6AC3901D-03D2-439D-B6E3-2BD197B26DA3}"/>
              </a:ext>
            </a:extLst>
          </p:cNvPr>
          <p:cNvPicPr>
            <a:picLocks noChangeAspect="1"/>
          </p:cNvPicPr>
          <p:nvPr/>
        </p:nvPicPr>
        <p:blipFill>
          <a:blip r:embed="rId3"/>
          <a:stretch>
            <a:fillRect/>
          </a:stretch>
        </p:blipFill>
        <p:spPr>
          <a:xfrm>
            <a:off x="1472340" y="2102707"/>
            <a:ext cx="5632796" cy="3124201"/>
          </a:xfrm>
          <a:prstGeom prst="rect">
            <a:avLst/>
          </a:prstGeom>
        </p:spPr>
      </p:pic>
      <p:sp>
        <p:nvSpPr>
          <p:cNvPr id="5" name="Content Placeholder 3">
            <a:extLst>
              <a:ext uri="{FF2B5EF4-FFF2-40B4-BE49-F238E27FC236}">
                <a16:creationId xmlns:a16="http://schemas.microsoft.com/office/drawing/2014/main" id="{82809E26-C743-4D11-B567-48E81294E68C}"/>
              </a:ext>
            </a:extLst>
          </p:cNvPr>
          <p:cNvSpPr txBox="1">
            <a:spLocks/>
          </p:cNvSpPr>
          <p:nvPr/>
        </p:nvSpPr>
        <p:spPr>
          <a:xfrm>
            <a:off x="359229" y="5649686"/>
            <a:ext cx="8784771" cy="64754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563"/>
              </a:spcAft>
              <a:buFont typeface="Lucida Grande"/>
              <a:buNone/>
            </a:pPr>
            <a:r>
              <a:rPr lang="en-US" sz="2400" dirty="0"/>
              <a:t>Attention on the comparison between $59 and $125 </a:t>
            </a:r>
          </a:p>
          <a:p>
            <a:pPr marL="0" indent="0">
              <a:spcAft>
                <a:spcPts val="563"/>
              </a:spcAft>
              <a:buFont typeface="Lucida Grande"/>
              <a:buNone/>
            </a:pPr>
            <a:endParaRPr lang="en-US" sz="1400" dirty="0"/>
          </a:p>
        </p:txBody>
      </p:sp>
    </p:spTree>
    <p:extLst>
      <p:ext uri="{BB962C8B-B14F-4D97-AF65-F5344CB8AC3E}">
        <p14:creationId xmlns:p14="http://schemas.microsoft.com/office/powerpoint/2010/main" val="1017752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1" y="1163639"/>
            <a:ext cx="8757139" cy="5550310"/>
          </a:xfrm>
        </p:spPr>
        <p:txBody>
          <a:bodyPr>
            <a:noAutofit/>
          </a:bodyPr>
          <a:lstStyle/>
          <a:p>
            <a:r>
              <a:rPr lang="fr-FR" sz="2400" dirty="0"/>
              <a:t>Limitations of simple </a:t>
            </a:r>
            <a:r>
              <a:rPr lang="fr-FR" sz="2400" dirty="0" err="1"/>
              <a:t>pricing</a:t>
            </a:r>
            <a:endParaRPr lang="fr-FR" sz="2400" dirty="0"/>
          </a:p>
          <a:p>
            <a:r>
              <a:rPr lang="fr-FR" sz="2400" dirty="0"/>
              <a:t>Direct </a:t>
            </a:r>
            <a:r>
              <a:rPr lang="fr-FR" sz="2400" dirty="0" err="1"/>
              <a:t>price</a:t>
            </a:r>
            <a:r>
              <a:rPr lang="fr-FR" sz="2400" dirty="0"/>
              <a:t> discrimination</a:t>
            </a:r>
          </a:p>
          <a:p>
            <a:pPr lvl="1"/>
            <a:r>
              <a:rPr lang="fr-FR" sz="2000" dirty="0" err="1"/>
              <a:t>Personalized</a:t>
            </a:r>
            <a:r>
              <a:rPr lang="fr-FR" sz="2000" dirty="0"/>
              <a:t> </a:t>
            </a:r>
            <a:r>
              <a:rPr lang="fr-FR" sz="2000" dirty="0" err="1"/>
              <a:t>pricing</a:t>
            </a:r>
            <a:r>
              <a:rPr lang="fr-FR" sz="2000" dirty="0"/>
              <a:t> (first </a:t>
            </a:r>
            <a:r>
              <a:rPr lang="fr-FR" sz="2000" dirty="0" err="1"/>
              <a:t>degree</a:t>
            </a:r>
            <a:r>
              <a:rPr lang="fr-FR" sz="2000" dirty="0"/>
              <a:t>). </a:t>
            </a:r>
            <a:r>
              <a:rPr lang="fr-FR" sz="2000" dirty="0" err="1"/>
              <a:t>Hypothetical</a:t>
            </a:r>
            <a:r>
              <a:rPr lang="fr-FR" sz="2000" dirty="0"/>
              <a:t>.</a:t>
            </a:r>
          </a:p>
          <a:p>
            <a:pPr lvl="1"/>
            <a:r>
              <a:rPr lang="fr-FR" sz="2000" dirty="0"/>
              <a:t>Segment </a:t>
            </a:r>
            <a:r>
              <a:rPr lang="fr-FR" sz="2000" dirty="0" err="1"/>
              <a:t>pricing</a:t>
            </a:r>
            <a:r>
              <a:rPr lang="fr-FR" sz="2000" dirty="0"/>
              <a:t> (</a:t>
            </a:r>
            <a:r>
              <a:rPr lang="fr-FR" sz="2000" dirty="0" err="1"/>
              <a:t>third</a:t>
            </a:r>
            <a:r>
              <a:rPr lang="fr-FR" sz="2000" dirty="0"/>
              <a:t> </a:t>
            </a:r>
            <a:r>
              <a:rPr lang="fr-FR" sz="2000" dirty="0" err="1"/>
              <a:t>degree</a:t>
            </a:r>
            <a:r>
              <a:rPr lang="fr-FR" sz="2000" dirty="0"/>
              <a:t>)</a:t>
            </a:r>
          </a:p>
          <a:p>
            <a:pPr lvl="2"/>
            <a:r>
              <a:rPr lang="fr-FR" sz="1800" dirty="0" err="1"/>
              <a:t>Higher</a:t>
            </a:r>
            <a:r>
              <a:rPr lang="fr-FR" sz="1800" dirty="0"/>
              <a:t> </a:t>
            </a:r>
            <a:r>
              <a:rPr lang="fr-FR" sz="1800" dirty="0" err="1"/>
              <a:t>price</a:t>
            </a:r>
            <a:r>
              <a:rPr lang="fr-FR" sz="1800" dirty="0"/>
              <a:t> to </a:t>
            </a:r>
            <a:r>
              <a:rPr lang="fr-FR" sz="1800" dirty="0" err="1"/>
              <a:t>less</a:t>
            </a:r>
            <a:r>
              <a:rPr lang="fr-FR" sz="1800" dirty="0"/>
              <a:t> </a:t>
            </a:r>
            <a:r>
              <a:rPr lang="fr-FR" sz="1800" dirty="0" err="1"/>
              <a:t>elastic</a:t>
            </a:r>
            <a:r>
              <a:rPr lang="fr-FR" sz="1800" dirty="0"/>
              <a:t> groups</a:t>
            </a:r>
          </a:p>
          <a:p>
            <a:r>
              <a:rPr lang="fr-FR" sz="2400" dirty="0"/>
              <a:t>Indirect </a:t>
            </a:r>
            <a:r>
              <a:rPr lang="fr-FR" sz="2400" dirty="0" err="1"/>
              <a:t>price</a:t>
            </a:r>
            <a:r>
              <a:rPr lang="fr-FR" sz="2400" dirty="0"/>
              <a:t> discrimination</a:t>
            </a:r>
          </a:p>
          <a:p>
            <a:pPr lvl="1"/>
            <a:r>
              <a:rPr lang="fr-FR" sz="2000" dirty="0"/>
              <a:t>Versioning  and coupons (second </a:t>
            </a:r>
            <a:r>
              <a:rPr lang="fr-FR" sz="2000" dirty="0" err="1"/>
              <a:t>degree</a:t>
            </a:r>
            <a:r>
              <a:rPr lang="fr-FR" sz="2000" dirty="0"/>
              <a:t>)</a:t>
            </a:r>
          </a:p>
          <a:p>
            <a:r>
              <a:rPr lang="fr-FR" sz="2400" dirty="0"/>
              <a:t>Advanced </a:t>
            </a:r>
            <a:r>
              <a:rPr lang="fr-FR" sz="2400" dirty="0" err="1"/>
              <a:t>pricing</a:t>
            </a:r>
            <a:r>
              <a:rPr lang="fr-FR" sz="2400" dirty="0"/>
              <a:t> </a:t>
            </a:r>
            <a:r>
              <a:rPr lang="fr-FR" sz="2400" dirty="0" err="1"/>
              <a:t>strategies</a:t>
            </a:r>
            <a:r>
              <a:rPr lang="fr-FR" sz="2400" dirty="0"/>
              <a:t>:</a:t>
            </a:r>
          </a:p>
          <a:p>
            <a:pPr lvl="1"/>
            <a:r>
              <a:rPr lang="fr-FR" sz="2000" dirty="0"/>
              <a:t>If MC=0: Flat </a:t>
            </a:r>
            <a:r>
              <a:rPr lang="fr-FR" sz="2000" dirty="0" err="1"/>
              <a:t>fee</a:t>
            </a:r>
            <a:r>
              <a:rPr lang="fr-FR" sz="2000" dirty="0"/>
              <a:t> and </a:t>
            </a:r>
            <a:r>
              <a:rPr lang="fr-FR" sz="2000" dirty="0" err="1"/>
              <a:t>unlimited</a:t>
            </a:r>
            <a:r>
              <a:rPr lang="fr-FR" sz="2000" dirty="0"/>
              <a:t> </a:t>
            </a:r>
            <a:r>
              <a:rPr lang="fr-FR" sz="2000" dirty="0" err="1"/>
              <a:t>access</a:t>
            </a:r>
            <a:r>
              <a:rPr lang="fr-FR" sz="2000" dirty="0"/>
              <a:t> (e.g., Netflix)</a:t>
            </a:r>
          </a:p>
          <a:p>
            <a:pPr lvl="1"/>
            <a:r>
              <a:rPr lang="fr-FR" sz="2000" dirty="0"/>
              <a:t>If MC&gt;0: </a:t>
            </a:r>
            <a:r>
              <a:rPr lang="fr-FR" sz="2000" dirty="0" err="1"/>
              <a:t>Two</a:t>
            </a:r>
            <a:r>
              <a:rPr lang="fr-FR" sz="2000" dirty="0"/>
              <a:t>-part </a:t>
            </a:r>
            <a:r>
              <a:rPr lang="fr-FR" sz="2000" dirty="0" err="1"/>
              <a:t>tariff</a:t>
            </a:r>
            <a:r>
              <a:rPr lang="fr-FR" sz="2000" dirty="0"/>
              <a:t> (flat </a:t>
            </a:r>
            <a:r>
              <a:rPr lang="fr-FR" sz="2000" dirty="0" err="1"/>
              <a:t>fee</a:t>
            </a:r>
            <a:r>
              <a:rPr lang="fr-FR" sz="2000" dirty="0"/>
              <a:t> + usage </a:t>
            </a:r>
            <a:r>
              <a:rPr lang="fr-FR" sz="2000" dirty="0" err="1"/>
              <a:t>fee</a:t>
            </a:r>
            <a:r>
              <a:rPr lang="fr-FR" sz="2000" dirty="0"/>
              <a:t>) </a:t>
            </a:r>
          </a:p>
          <a:p>
            <a:pPr lvl="2"/>
            <a:r>
              <a:rPr lang="fr-FR" sz="1800" dirty="0"/>
              <a:t>Usage </a:t>
            </a:r>
            <a:r>
              <a:rPr lang="fr-FR" sz="1800" dirty="0" err="1"/>
              <a:t>fee</a:t>
            </a:r>
            <a:r>
              <a:rPr lang="fr-FR" sz="1800" dirty="0"/>
              <a:t> = MC to </a:t>
            </a:r>
            <a:r>
              <a:rPr lang="fr-FR" sz="1800" dirty="0" err="1"/>
              <a:t>avoid</a:t>
            </a:r>
            <a:r>
              <a:rPr lang="fr-FR" sz="1800" dirty="0"/>
              <a:t> excessive use</a:t>
            </a:r>
          </a:p>
          <a:p>
            <a:pPr lvl="2"/>
            <a:r>
              <a:rPr lang="fr-FR" sz="1800" dirty="0"/>
              <a:t>Flat </a:t>
            </a:r>
            <a:r>
              <a:rPr lang="fr-FR" sz="1800" dirty="0" err="1"/>
              <a:t>fee</a:t>
            </a:r>
            <a:r>
              <a:rPr lang="fr-FR" sz="1800" dirty="0"/>
              <a:t> = </a:t>
            </a:r>
            <a:r>
              <a:rPr lang="en-US" sz="1800" dirty="0"/>
              <a:t>area under the demand curve above the per-unit fee</a:t>
            </a:r>
            <a:endParaRPr lang="fr-FR" sz="1800" dirty="0"/>
          </a:p>
          <a:p>
            <a:pPr lvl="1"/>
            <a:r>
              <a:rPr lang="fr-FR" sz="2000" dirty="0"/>
              <a:t>Block </a:t>
            </a:r>
            <a:r>
              <a:rPr lang="fr-FR" sz="2000" dirty="0" err="1"/>
              <a:t>pricing</a:t>
            </a:r>
            <a:endParaRPr lang="fr-FR" sz="2000" dirty="0"/>
          </a:p>
          <a:p>
            <a:pPr lvl="2">
              <a:lnSpc>
                <a:spcPct val="150000"/>
              </a:lnSpc>
            </a:pPr>
            <a:endParaRPr lang="fr-FR" sz="1800" dirty="0"/>
          </a:p>
          <a:p>
            <a:pPr>
              <a:lnSpc>
                <a:spcPct val="150000"/>
              </a:lnSpc>
            </a:pPr>
            <a:endParaRPr lang="en-US" sz="2000" dirty="0"/>
          </a:p>
          <a:p>
            <a:pPr lvl="1">
              <a:lnSpc>
                <a:spcPct val="150000"/>
              </a:lnSpc>
            </a:pPr>
            <a:endParaRPr lang="en-US" sz="1800" dirty="0"/>
          </a:p>
        </p:txBody>
      </p:sp>
      <p:sp>
        <p:nvSpPr>
          <p:cNvPr id="5" name="Title 4"/>
          <p:cNvSpPr>
            <a:spLocks noGrp="1"/>
          </p:cNvSpPr>
          <p:nvPr>
            <p:ph type="title"/>
          </p:nvPr>
        </p:nvSpPr>
        <p:spPr>
          <a:xfrm>
            <a:off x="457200" y="20639"/>
            <a:ext cx="8229600" cy="1143000"/>
          </a:xfrm>
        </p:spPr>
        <p:txBody>
          <a:bodyPr>
            <a:normAutofit/>
          </a:bodyPr>
          <a:lstStyle/>
          <a:p>
            <a:r>
              <a:rPr lang="en-US" sz="3000" dirty="0"/>
              <a:t>Module 6 summary</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4061193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315685" y="2535239"/>
            <a:ext cx="8229600" cy="1143000"/>
          </a:xfrm>
        </p:spPr>
        <p:txBody>
          <a:bodyPr>
            <a:normAutofit/>
          </a:bodyPr>
          <a:lstStyle/>
          <a:p>
            <a:r>
              <a:rPr lang="en-US" sz="3000" dirty="0"/>
              <a:t>Backup</a:t>
            </a:r>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2502371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51518"/>
            <a:ext cx="8229600" cy="4637314"/>
          </a:xfrm>
        </p:spPr>
        <p:txBody>
          <a:bodyPr/>
          <a:lstStyle/>
          <a:p>
            <a:pPr marL="0" indent="0">
              <a:buNone/>
            </a:pPr>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
        <p:nvSpPr>
          <p:cNvPr id="6" name="Action Button: Beginning 1">
            <a:hlinkClick r:id="rId3" action="ppaction://hlinksldjump" highlightClick="1"/>
            <a:extLst>
              <a:ext uri="{FF2B5EF4-FFF2-40B4-BE49-F238E27FC236}">
                <a16:creationId xmlns:a16="http://schemas.microsoft.com/office/drawing/2014/main" id="{554A465B-6647-4BBF-82BD-9C3B9B98A422}"/>
              </a:ext>
            </a:extLst>
          </p:cNvPr>
          <p:cNvSpPr/>
          <p:nvPr/>
        </p:nvSpPr>
        <p:spPr bwMode="auto">
          <a:xfrm>
            <a:off x="8153400" y="6400800"/>
            <a:ext cx="609600" cy="381000"/>
          </a:xfrm>
          <a:prstGeom prst="actionButtonBeginning">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ahoma" pitchFamily="124" charset="0"/>
            </a:endParaRPr>
          </a:p>
        </p:txBody>
      </p:sp>
      <p:pic>
        <p:nvPicPr>
          <p:cNvPr id="9" name="Picture 8">
            <a:extLst>
              <a:ext uri="{FF2B5EF4-FFF2-40B4-BE49-F238E27FC236}">
                <a16:creationId xmlns:a16="http://schemas.microsoft.com/office/drawing/2014/main" id="{05FDFF95-1459-4523-8F46-935E3FF694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8514" y="35735"/>
            <a:ext cx="3115189" cy="6822265"/>
          </a:xfrm>
          <a:prstGeom prst="rect">
            <a:avLst/>
          </a:prstGeom>
        </p:spPr>
      </p:pic>
    </p:spTree>
    <p:extLst>
      <p:ext uri="{BB962C8B-B14F-4D97-AF65-F5344CB8AC3E}">
        <p14:creationId xmlns:p14="http://schemas.microsoft.com/office/powerpoint/2010/main" val="2333675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__PE_POLL_EMBED_ID" val="e617bc1c-d35e-4dc9-a341-f33086554f78"/>
</p:tagLst>
</file>

<file path=ppt/tags/tag8.xml><?xml version="1.0" encoding="utf-8"?>
<p:tagLst xmlns:a="http://schemas.openxmlformats.org/drawingml/2006/main" xmlns:r="http://schemas.openxmlformats.org/officeDocument/2006/relationships" xmlns:p="http://schemas.openxmlformats.org/presentationml/2006/main">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__PE_POLL_EMBED_ID" val="8e4dc93e-910f-43fa-b821-f1370c53a023"/>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__PE_POLL_EMBED_ID" val="d9cc8d5a-6c34-48ed-84df-a87ab1d9c20b"/>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81367</TotalTime>
  <Words>3307</Words>
  <Application>Microsoft Office PowerPoint</Application>
  <PresentationFormat>On-screen Show (4:3)</PresentationFormat>
  <Paragraphs>520</Paragraphs>
  <Slides>52</Slides>
  <Notes>52</Notes>
  <HiddenSlides>1</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52</vt:i4>
      </vt:variant>
    </vt:vector>
  </HeadingPairs>
  <TitlesOfParts>
    <vt:vector size="70" baseType="lpstr">
      <vt:lpstr>Arial</vt:lpstr>
      <vt:lpstr>Calibri</vt:lpstr>
      <vt:lpstr>Cambria Math</vt:lpstr>
      <vt:lpstr>Lucida Grande</vt:lpstr>
      <vt:lpstr>Tahoma</vt:lpstr>
      <vt:lpstr>Times New Roman</vt:lpstr>
      <vt:lpstr>Trebuchet MS</vt:lpstr>
      <vt:lpstr>Whitney Book</vt:lpstr>
      <vt:lpstr>Whitney Medium</vt:lpstr>
      <vt:lpstr>Whitney-Book</vt:lpstr>
      <vt:lpstr>Whitney-Medium</vt:lpstr>
      <vt:lpstr>Wingdings</vt:lpstr>
      <vt:lpstr>2_Custom Design</vt:lpstr>
      <vt:lpstr>Custom Design</vt:lpstr>
      <vt:lpstr>3_Custom Design</vt:lpstr>
      <vt:lpstr>5_Custom Design</vt:lpstr>
      <vt:lpstr>4_Custom Design</vt:lpstr>
      <vt:lpstr>12_Custom Design</vt:lpstr>
      <vt:lpstr>Complex Pricing – Recap and APplications </vt:lpstr>
      <vt:lpstr>Exam-Specific announcements</vt:lpstr>
      <vt:lpstr>Final exam: Structure</vt:lpstr>
      <vt:lpstr>Further Exam-Related announcements</vt:lpstr>
      <vt:lpstr>Plan for Today</vt:lpstr>
      <vt:lpstr>agenda for the class</vt:lpstr>
      <vt:lpstr>OUTLINE of module 6</vt:lpstr>
      <vt:lpstr>Dilemma of simple pricing Explained by the Podcast</vt:lpstr>
      <vt:lpstr>Dilemma of simple pricing</vt:lpstr>
      <vt:lpstr>Complex (non-uniform) pricing </vt:lpstr>
      <vt:lpstr>First degree price discrimination</vt:lpstr>
      <vt:lpstr>The Dystopian Future of Price Discrimination</vt:lpstr>
      <vt:lpstr>Uber Starts Charging What You’re Willing to Pay?</vt:lpstr>
      <vt:lpstr>Third degree price discrimination: segment pricing (group pricing)</vt:lpstr>
      <vt:lpstr>Consumer Segments in Medication</vt:lpstr>
      <vt:lpstr>PowerPoint Presentation</vt:lpstr>
      <vt:lpstr>Solution</vt:lpstr>
      <vt:lpstr>Important: Segment Pricing Analytically </vt:lpstr>
      <vt:lpstr>Segment Pricing in Movies</vt:lpstr>
      <vt:lpstr>OUTLINE of module 6 </vt:lpstr>
      <vt:lpstr>Second degree price discrimination: Versioning</vt:lpstr>
      <vt:lpstr>Recall: VErsioning</vt:lpstr>
      <vt:lpstr>Versioning: dolls</vt:lpstr>
      <vt:lpstr>Airline Response to low-Cost Carriers</vt:lpstr>
      <vt:lpstr>PowerPoint Presentation</vt:lpstr>
      <vt:lpstr>Versioning in Response to Low-Price Competition</vt:lpstr>
      <vt:lpstr>Podcast on Price Discrimination</vt:lpstr>
      <vt:lpstr>OUTLINE of module 6 </vt:lpstr>
      <vt:lpstr>Context</vt:lpstr>
      <vt:lpstr>Advanced Pricing</vt:lpstr>
      <vt:lpstr>Example: Netflix flat fee (assume MC=0)</vt:lpstr>
      <vt:lpstr>Netflix pricing strategy</vt:lpstr>
      <vt:lpstr>WSJ Article on Netflix</vt:lpstr>
      <vt:lpstr>What can Go Wrong with Flat Rates…</vt:lpstr>
      <vt:lpstr>What can Go Wrong with Flat Rates…</vt:lpstr>
      <vt:lpstr>Two part-Tariff Now: MC&gt;0</vt:lpstr>
      <vt:lpstr>Pricing at a Local Zoo</vt:lpstr>
      <vt:lpstr>PowerPoint Presentation</vt:lpstr>
      <vt:lpstr>Zoo Pricing – Solution</vt:lpstr>
      <vt:lpstr>Zoo Pricing – Comparison to Simple Pricing</vt:lpstr>
      <vt:lpstr>Zoo Pricing – Comparison to Flat FEe</vt:lpstr>
      <vt:lpstr>Block Pricing</vt:lpstr>
      <vt:lpstr>Block pricing: Ice Cream</vt:lpstr>
      <vt:lpstr>How to extract consumer surplus?  A summary of pricing strategies</vt:lpstr>
      <vt:lpstr>Some Examples for Innovative Pricing Strategies (only if We have Time)</vt:lpstr>
      <vt:lpstr>The mad optimist</vt:lpstr>
      <vt:lpstr>Rent the runway</vt:lpstr>
      <vt:lpstr>The economist pricing example</vt:lpstr>
      <vt:lpstr>Dan Ariely’s experiment</vt:lpstr>
      <vt:lpstr>Module 6 summary</vt:lpstr>
      <vt:lpstr>Backup</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1425</cp:revision>
  <cp:lastPrinted>2022-02-18T07:22:21Z</cp:lastPrinted>
  <dcterms:created xsi:type="dcterms:W3CDTF">2013-01-24T22:32:50Z</dcterms:created>
  <dcterms:modified xsi:type="dcterms:W3CDTF">2022-03-05T02:26:29Z</dcterms:modified>
  <cp:category/>
</cp:coreProperties>
</file>