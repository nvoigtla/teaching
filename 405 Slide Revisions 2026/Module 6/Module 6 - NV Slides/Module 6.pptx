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3.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4.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5.xml" ContentType="application/vnd.openxmlformats-officedocument.presentationml.tags+xml"/>
  <Override PartName="/ppt/notesSlides/notesSlide22.xml" ContentType="application/vnd.openxmlformats-officedocument.presentationml.notesSlide+xml"/>
  <Override PartName="/ppt/tags/tag6.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7.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8.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9.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10.xml" ContentType="application/vnd.openxmlformats-officedocument.presentationml.tags+xml"/>
  <Override PartName="/ppt/notesSlides/notesSlide33.xml" ContentType="application/vnd.openxmlformats-officedocument.presentationml.notesSlide+xml"/>
  <Override PartName="/ppt/tags/tag11.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12.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13.xml" ContentType="application/vnd.openxmlformats-officedocument.presentationml.tags+xml"/>
  <Override PartName="/ppt/notesSlides/notesSlide41.xml" ContentType="application/vnd.openxmlformats-officedocument.presentationml.notesSlide+xml"/>
  <Override PartName="/ppt/tags/tag14.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15.xml" ContentType="application/vnd.openxmlformats-officedocument.presentationml.tags+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tags/tag16.xml" ContentType="application/vnd.openxmlformats-officedocument.presentationml.tags+xml"/>
  <Override PartName="/ppt/notesSlides/notesSlide70.xml" ContentType="application/vnd.openxmlformats-officedocument.presentationml.notesSlide+xml"/>
  <Override PartName="/ppt/tags/tag17.xml" ContentType="application/vnd.openxmlformats-officedocument.presentationml.tags+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9" r:id="rId1"/>
    <p:sldMasterId id="2147483756" r:id="rId2"/>
    <p:sldMasterId id="2147483724" r:id="rId3"/>
    <p:sldMasterId id="2147483769" r:id="rId4"/>
    <p:sldMasterId id="2147483819" r:id="rId5"/>
    <p:sldMasterId id="2147483835" r:id="rId6"/>
  </p:sldMasterIdLst>
  <p:notesMasterIdLst>
    <p:notesMasterId r:id="rId83"/>
  </p:notesMasterIdLst>
  <p:handoutMasterIdLst>
    <p:handoutMasterId r:id="rId84"/>
  </p:handoutMasterIdLst>
  <p:sldIdLst>
    <p:sldId id="257" r:id="rId7"/>
    <p:sldId id="973" r:id="rId8"/>
    <p:sldId id="376" r:id="rId9"/>
    <p:sldId id="706" r:id="rId10"/>
    <p:sldId id="916" r:id="rId11"/>
    <p:sldId id="919" r:id="rId12"/>
    <p:sldId id="920" r:id="rId13"/>
    <p:sldId id="921" r:id="rId14"/>
    <p:sldId id="922" r:id="rId15"/>
    <p:sldId id="923" r:id="rId16"/>
    <p:sldId id="924" r:id="rId17"/>
    <p:sldId id="925" r:id="rId18"/>
    <p:sldId id="971" r:id="rId19"/>
    <p:sldId id="926" r:id="rId20"/>
    <p:sldId id="927" r:id="rId21"/>
    <p:sldId id="466" r:id="rId22"/>
    <p:sldId id="929" r:id="rId23"/>
    <p:sldId id="930" r:id="rId24"/>
    <p:sldId id="931" r:id="rId25"/>
    <p:sldId id="932" r:id="rId26"/>
    <p:sldId id="933" r:id="rId27"/>
    <p:sldId id="934" r:id="rId28"/>
    <p:sldId id="935" r:id="rId29"/>
    <p:sldId id="820" r:id="rId30"/>
    <p:sldId id="1000" r:id="rId31"/>
    <p:sldId id="961" r:id="rId32"/>
    <p:sldId id="960" r:id="rId33"/>
    <p:sldId id="962" r:id="rId34"/>
    <p:sldId id="974" r:id="rId35"/>
    <p:sldId id="937" r:id="rId36"/>
    <p:sldId id="938" r:id="rId37"/>
    <p:sldId id="939" r:id="rId38"/>
    <p:sldId id="940" r:id="rId39"/>
    <p:sldId id="941" r:id="rId40"/>
    <p:sldId id="977" r:id="rId41"/>
    <p:sldId id="984" r:id="rId42"/>
    <p:sldId id="943" r:id="rId43"/>
    <p:sldId id="989" r:id="rId44"/>
    <p:sldId id="963" r:id="rId45"/>
    <p:sldId id="964" r:id="rId46"/>
    <p:sldId id="750" r:id="rId47"/>
    <p:sldId id="944" r:id="rId48"/>
    <p:sldId id="945" r:id="rId49"/>
    <p:sldId id="951" r:id="rId50"/>
    <p:sldId id="419" r:id="rId51"/>
    <p:sldId id="387" r:id="rId52"/>
    <p:sldId id="804" r:id="rId53"/>
    <p:sldId id="958" r:id="rId54"/>
    <p:sldId id="975" r:id="rId55"/>
    <p:sldId id="946" r:id="rId56"/>
    <p:sldId id="952" r:id="rId57"/>
    <p:sldId id="953" r:id="rId58"/>
    <p:sldId id="976" r:id="rId59"/>
    <p:sldId id="990" r:id="rId60"/>
    <p:sldId id="991" r:id="rId61"/>
    <p:sldId id="992" r:id="rId62"/>
    <p:sldId id="993" r:id="rId63"/>
    <p:sldId id="994" r:id="rId64"/>
    <p:sldId id="978" r:id="rId65"/>
    <p:sldId id="947" r:id="rId66"/>
    <p:sldId id="955" r:id="rId67"/>
    <p:sldId id="956" r:id="rId68"/>
    <p:sldId id="995" r:id="rId69"/>
    <p:sldId id="957" r:id="rId70"/>
    <p:sldId id="979" r:id="rId71"/>
    <p:sldId id="495" r:id="rId72"/>
    <p:sldId id="980" r:id="rId73"/>
    <p:sldId id="981" r:id="rId74"/>
    <p:sldId id="986" r:id="rId75"/>
    <p:sldId id="987" r:id="rId76"/>
    <p:sldId id="806" r:id="rId77"/>
    <p:sldId id="983" r:id="rId78"/>
    <p:sldId id="988" r:id="rId79"/>
    <p:sldId id="759" r:id="rId80"/>
    <p:sldId id="959" r:id="rId81"/>
    <p:sldId id="828" r:id="rId82"/>
  </p:sldIdLst>
  <p:sldSz cx="9144000" cy="6858000" type="screen4x3"/>
  <p:notesSz cx="7315200" cy="9601200"/>
  <p:custDataLst>
    <p:tags r:id="rId8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iuliano, Paola" initials="GP" lastIdx="111" clrIdx="0">
    <p:extLst>
      <p:ext uri="{19B8F6BF-5375-455C-9EA6-DF929625EA0E}">
        <p15:presenceInfo xmlns:p15="http://schemas.microsoft.com/office/powerpoint/2012/main" userId="S::giulpao@ad.ucla.edu::132bae3d-d350-492a-913b-ab702ff24d3d" providerId="AD"/>
      </p:ext>
    </p:extLst>
  </p:cmAuthor>
  <p:cmAuthor id="2" name="CLEMENCE TRICAUD" initials="CT" lastIdx="41" clrIdx="1">
    <p:extLst>
      <p:ext uri="{19B8F6BF-5375-455C-9EA6-DF929625EA0E}">
        <p15:presenceInfo xmlns:p15="http://schemas.microsoft.com/office/powerpoint/2012/main" userId="S-1-5-21-1914341619-2963887621-4192079504-39280" providerId="AD"/>
      </p:ext>
    </p:extLst>
  </p:cmAuthor>
  <p:cmAuthor id="3" name="Wasserman, Melanie" initials="WM" lastIdx="20" clrIdx="2">
    <p:extLst>
      <p:ext uri="{19B8F6BF-5375-455C-9EA6-DF929625EA0E}">
        <p15:presenceInfo xmlns:p15="http://schemas.microsoft.com/office/powerpoint/2012/main" userId="S::mswasserman@ad.ucla.edu::dc9d8677-d4c7-4bfe-9320-b2694e2f633d" providerId="AD"/>
      </p:ext>
    </p:extLst>
  </p:cmAuthor>
  <p:cmAuthor id="4" name="Nico Voigtlaender" initials="NV" lastIdx="35" clrIdx="3">
    <p:extLst>
      <p:ext uri="{19B8F6BF-5375-455C-9EA6-DF929625EA0E}">
        <p15:presenceInfo xmlns:p15="http://schemas.microsoft.com/office/powerpoint/2012/main" userId="Nico Voigtlaend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1B8BD5"/>
    <a:srgbClr val="FFFFFF"/>
    <a:srgbClr val="002B56"/>
    <a:srgbClr val="002B4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7063" autoAdjust="0"/>
  </p:normalViewPr>
  <p:slideViewPr>
    <p:cSldViewPr snapToGrid="0" snapToObjects="1">
      <p:cViewPr varScale="1">
        <p:scale>
          <a:sx n="88" d="100"/>
          <a:sy n="88" d="100"/>
        </p:scale>
        <p:origin x="1584" y="9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0" d="100"/>
        <a:sy n="60" d="100"/>
      </p:scale>
      <p:origin x="0" y="-5142"/>
    </p:cViewPr>
  </p:sorterViewPr>
  <p:notesViewPr>
    <p:cSldViewPr snapToGrid="0" snapToObjects="1">
      <p:cViewPr varScale="1">
        <p:scale>
          <a:sx n="87" d="100"/>
          <a:sy n="87" d="100"/>
        </p:scale>
        <p:origin x="192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handoutMaster" Target="handoutMasters/handoutMaster1.xml"/><Relationship Id="rId89" Type="http://schemas.openxmlformats.org/officeDocument/2006/relationships/theme" Target="theme/theme1.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5" Type="http://schemas.openxmlformats.org/officeDocument/2006/relationships/slideMaster" Target="slideMasters/slideMaster5.xml"/><Relationship Id="rId90" Type="http://schemas.openxmlformats.org/officeDocument/2006/relationships/tableStyles" Target="tableStyles.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slide" Target="slides/slide74.xml"/><Relationship Id="rId85" Type="http://schemas.openxmlformats.org/officeDocument/2006/relationships/tags" Target="tags/tag1.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notesMaster" Target="notesMasters/notesMaster1.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presProps" Target="presProps.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47" tIns="48324" rIns="96647" bIns="48324" rtlCol="0"/>
          <a:lstStyle>
            <a:lvl1pPr algn="r">
              <a:defRPr sz="1300"/>
            </a:lvl1pPr>
          </a:lstStyle>
          <a:p>
            <a:fld id="{F6D47F8B-C2FC-9540-A0E0-B106EE612B16}" type="datetimeFigureOut">
              <a:rPr lang="en-US" smtClean="0"/>
              <a:t>11/14/2024</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47" tIns="48324" rIns="96647" bIns="48324" rtlCol="0" anchor="b"/>
          <a:lstStyle>
            <a:lvl1pPr algn="r">
              <a:defRPr sz="1300"/>
            </a:lvl1pPr>
          </a:lstStyle>
          <a:p>
            <a:fld id="{14208B52-F97A-2D40-B706-CEC41B37499B}" type="slidenum">
              <a:rPr lang="en-US" smtClean="0"/>
              <a:t>‹#›</a:t>
            </a:fld>
            <a:endParaRPr lang="en-US"/>
          </a:p>
        </p:txBody>
      </p:sp>
    </p:spTree>
    <p:extLst>
      <p:ext uri="{BB962C8B-B14F-4D97-AF65-F5344CB8AC3E}">
        <p14:creationId xmlns:p14="http://schemas.microsoft.com/office/powerpoint/2010/main" val="1431928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47" tIns="48324" rIns="96647" bIns="48324" rtlCol="0"/>
          <a:lstStyle>
            <a:lvl1pPr algn="r">
              <a:defRPr sz="1300"/>
            </a:lvl1pPr>
          </a:lstStyle>
          <a:p>
            <a:fld id="{9FAC1A9B-BDAC-6A46-B8D4-E37AE0BBC950}" type="datetimeFigureOut">
              <a:rPr lang="en-US" smtClean="0"/>
              <a:t>11/14/2024</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47" tIns="48324" rIns="96647" bIns="48324"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47" tIns="48324" rIns="96647" bIns="483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47" tIns="48324" rIns="96647" bIns="48324" rtlCol="0" anchor="b"/>
          <a:lstStyle>
            <a:lvl1pPr algn="r">
              <a:defRPr sz="1300"/>
            </a:lvl1pPr>
          </a:lstStyle>
          <a:p>
            <a:fld id="{8D36AC2A-E969-3C46-9ED8-B46D40C5E669}" type="slidenum">
              <a:rPr lang="en-US" smtClean="0"/>
              <a:t>‹#›</a:t>
            </a:fld>
            <a:endParaRPr lang="en-US"/>
          </a:p>
        </p:txBody>
      </p:sp>
    </p:spTree>
    <p:extLst>
      <p:ext uri="{BB962C8B-B14F-4D97-AF65-F5344CB8AC3E}">
        <p14:creationId xmlns:p14="http://schemas.microsoft.com/office/powerpoint/2010/main" val="119172646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twitter.com/SenWarren/status/1762848417288475038"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36AC2A-E969-3C46-9ED8-B46D40C5E669}" type="slidenum">
              <a:rPr lang="en-US" smtClean="0"/>
              <a:t>1</a:t>
            </a:fld>
            <a:endParaRPr lang="en-US"/>
          </a:p>
        </p:txBody>
      </p:sp>
    </p:spTree>
    <p:extLst>
      <p:ext uri="{BB962C8B-B14F-4D97-AF65-F5344CB8AC3E}">
        <p14:creationId xmlns:p14="http://schemas.microsoft.com/office/powerpoint/2010/main" val="6425635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B94B4F-1C3E-42AD-8B65-1B752C8E558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069977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D36AC2A-E969-3C46-9ED8-B46D40C5E669}" type="slidenum">
              <a:rPr lang="en-US" smtClean="0"/>
              <a:t>3</a:t>
            </a:fld>
            <a:endParaRPr lang="en-US"/>
          </a:p>
        </p:txBody>
      </p:sp>
    </p:spTree>
    <p:extLst>
      <p:ext uri="{BB962C8B-B14F-4D97-AF65-F5344CB8AC3E}">
        <p14:creationId xmlns:p14="http://schemas.microsoft.com/office/powerpoint/2010/main" val="1116117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4</a:t>
            </a:fld>
            <a:endParaRPr lang="en-US"/>
          </a:p>
        </p:txBody>
      </p:sp>
    </p:spTree>
    <p:extLst>
      <p:ext uri="{BB962C8B-B14F-4D97-AF65-F5344CB8AC3E}">
        <p14:creationId xmlns:p14="http://schemas.microsoft.com/office/powerpoint/2010/main" val="9910341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5</a:t>
            </a:fld>
            <a:endParaRPr lang="en-US"/>
          </a:p>
        </p:txBody>
      </p:sp>
    </p:spTree>
    <p:extLst>
      <p:ext uri="{BB962C8B-B14F-4D97-AF65-F5344CB8AC3E}">
        <p14:creationId xmlns:p14="http://schemas.microsoft.com/office/powerpoint/2010/main" val="7892576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When an individual can buy several units of an item, the seller can think about a </a:t>
            </a:r>
            <a:r>
              <a:rPr lang="en-US" sz="1200" b="1" kern="1200" dirty="0">
                <a:solidFill>
                  <a:schemeClr val="tx1"/>
                </a:solidFill>
                <a:effectLst/>
                <a:latin typeface="+mn-lt"/>
                <a:ea typeface="+mn-ea"/>
                <a:cs typeface="+mn-cs"/>
              </a:rPr>
              <a:t>advanced pricing strategies</a:t>
            </a:r>
            <a:r>
              <a:rPr lang="en-US" sz="1200" kern="1200" dirty="0">
                <a:solidFill>
                  <a:schemeClr val="tx1"/>
                </a:solidFill>
                <a:effectLst/>
                <a:latin typeface="+mn-lt"/>
                <a:ea typeface="+mn-ea"/>
                <a:cs typeface="+mn-cs"/>
              </a:rPr>
              <a:t>. This is the case of continuous choice as opposed to binary choice (buy/don’t buy). </a:t>
            </a:r>
            <a:r>
              <a:rPr lang="en-US" sz="1200" b="1" kern="1200" dirty="0">
                <a:solidFill>
                  <a:schemeClr val="tx1"/>
                </a:solidFill>
                <a:effectLst/>
                <a:latin typeface="+mn-lt"/>
                <a:ea typeface="+mn-ea"/>
                <a:cs typeface="+mn-cs"/>
              </a:rPr>
              <a:t>Diminishing marginal personal value</a:t>
            </a:r>
            <a:r>
              <a:rPr lang="en-US" sz="1200" kern="1200" dirty="0">
                <a:solidFill>
                  <a:schemeClr val="tx1"/>
                </a:solidFill>
                <a:effectLst/>
                <a:latin typeface="+mn-lt"/>
                <a:ea typeface="+mn-ea"/>
                <a:cs typeface="+mn-cs"/>
              </a:rPr>
              <a:t> comes into play – the value of each subsequent unit falls. </a:t>
            </a:r>
            <a:endParaRPr lang="en-US" sz="11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US" sz="11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10115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Ask in class if this is a price searcher or price taker</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dilemma of pricing is that if you charge a </a:t>
            </a:r>
            <a:r>
              <a:rPr lang="en-US" sz="1200" b="1" kern="1200" dirty="0">
                <a:solidFill>
                  <a:schemeClr val="tx1"/>
                </a:solidFill>
                <a:effectLst/>
                <a:latin typeface="+mn-lt"/>
                <a:ea typeface="+mn-ea"/>
                <a:cs typeface="+mn-cs"/>
              </a:rPr>
              <a:t>high price</a:t>
            </a:r>
            <a:r>
              <a:rPr lang="en-US" sz="1200" kern="1200" dirty="0">
                <a:solidFill>
                  <a:schemeClr val="tx1"/>
                </a:solidFill>
                <a:effectLst/>
                <a:latin typeface="+mn-lt"/>
                <a:ea typeface="+mn-ea"/>
                <a:cs typeface="+mn-cs"/>
              </a:rPr>
              <a:t> to capture a lot of value, you exclude many from wanting to buy the product, namely the hordes of those with valuations for the product that are lower than price. The alternative is to go with </a:t>
            </a:r>
            <a:r>
              <a:rPr lang="en-US" sz="1200" b="1" kern="1200" dirty="0">
                <a:solidFill>
                  <a:schemeClr val="tx1"/>
                </a:solidFill>
                <a:effectLst/>
                <a:latin typeface="+mn-lt"/>
                <a:ea typeface="+mn-ea"/>
                <a:cs typeface="+mn-cs"/>
              </a:rPr>
              <a:t>volume</a:t>
            </a:r>
            <a:r>
              <a:rPr lang="en-US" sz="1200" kern="1200" dirty="0">
                <a:solidFill>
                  <a:schemeClr val="tx1"/>
                </a:solidFill>
                <a:effectLst/>
                <a:latin typeface="+mn-lt"/>
                <a:ea typeface="+mn-ea"/>
                <a:cs typeface="+mn-cs"/>
              </a:rPr>
              <a:t>, but then you have to charge a low price and you give away a lot of consumer surplus, leave a lot of surplus on the table which you do not capture. There is a dilemma. Today we will see how to escape the dilemma through </a:t>
            </a:r>
            <a:r>
              <a:rPr lang="en-US" sz="1200" b="1" kern="1200" dirty="0">
                <a:solidFill>
                  <a:schemeClr val="tx1"/>
                </a:solidFill>
                <a:effectLst/>
                <a:latin typeface="+mn-lt"/>
                <a:ea typeface="+mn-ea"/>
                <a:cs typeface="+mn-cs"/>
              </a:rPr>
              <a:t>price discrimination</a:t>
            </a: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91734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857250" lvl="1" indent="-457200" defTabSz="914400">
              <a:lnSpc>
                <a:spcPct val="90000"/>
              </a:lnSpc>
            </a:pPr>
            <a:r>
              <a:rPr lang="en-US" sz="2200" dirty="0"/>
              <a:t>Consumers are better off under resale: low-price consumers can resell their purchases at a profit; high-price consumers can buy product at a lower price than the firm would charge</a:t>
            </a:r>
          </a:p>
          <a:p>
            <a:pPr marL="857250" lvl="1" indent="-457200" defTabSz="914400">
              <a:lnSpc>
                <a:spcPct val="90000"/>
              </a:lnSpc>
            </a:pPr>
            <a:r>
              <a:rPr lang="en-US" sz="2200" dirty="0"/>
              <a:t>Firms are not better off, since only selling at one price, the lower price!</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900975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583538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11</a:t>
            </a:fld>
            <a:endParaRPr lang="en-US"/>
          </a:p>
        </p:txBody>
      </p:sp>
    </p:spTree>
    <p:extLst>
      <p:ext uri="{BB962C8B-B14F-4D97-AF65-F5344CB8AC3E}">
        <p14:creationId xmlns:p14="http://schemas.microsoft.com/office/powerpoint/2010/main" val="20031993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13</a:t>
            </a:fld>
            <a:endParaRPr lang="en-US"/>
          </a:p>
        </p:txBody>
      </p:sp>
    </p:spTree>
    <p:extLst>
      <p:ext uri="{BB962C8B-B14F-4D97-AF65-F5344CB8AC3E}">
        <p14:creationId xmlns:p14="http://schemas.microsoft.com/office/powerpoint/2010/main" val="8380730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In an ideal world you would like to charge </a:t>
            </a:r>
            <a:r>
              <a:rPr lang="en-US" sz="1200" b="1" dirty="0"/>
              <a:t>individual prices</a:t>
            </a:r>
            <a:r>
              <a:rPr lang="en-US" sz="1200" dirty="0"/>
              <a:t> </a:t>
            </a:r>
            <a:r>
              <a:rPr lang="en-US" sz="1200" b="1" dirty="0"/>
              <a:t>to mop up all the surplus</a:t>
            </a:r>
            <a:r>
              <a:rPr lang="en-US" sz="1200" dirty="0"/>
              <a:t> – to capture all the area beneath the Demand curve in the form of corporate revenue. This type of customized pricing represents the ideal. Customized to what? To the buyers’ valuations! This is difficult to do in practice for a variety of reasons: e.g., arbitrage, legal restrictions.</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937832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In an ideal world you would like to charge </a:t>
            </a:r>
            <a:r>
              <a:rPr lang="en-US" sz="1200" b="1" dirty="0"/>
              <a:t>individual prices</a:t>
            </a:r>
            <a:r>
              <a:rPr lang="en-US" sz="1200" dirty="0"/>
              <a:t> </a:t>
            </a:r>
            <a:r>
              <a:rPr lang="en-US" sz="1200" b="1" dirty="0"/>
              <a:t>to mop up all the surplus</a:t>
            </a:r>
            <a:r>
              <a:rPr lang="en-US" sz="1200" dirty="0"/>
              <a:t> – to capture all the area beneath the Demand curve in the form of corporate revenue. This type of customized pricing represents the ideal. Customized to what? To the buyers’ valuations! This is difficult to do in practice for a variety of reasons: e.g., arbitrage, legal restrictions.</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843719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240235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17</a:t>
            </a:fld>
            <a:endParaRPr lang="en-US"/>
          </a:p>
        </p:txBody>
      </p:sp>
    </p:spTree>
    <p:extLst>
      <p:ext uri="{BB962C8B-B14F-4D97-AF65-F5344CB8AC3E}">
        <p14:creationId xmlns:p14="http://schemas.microsoft.com/office/powerpoint/2010/main" val="20031993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39026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effectLst/>
                <a:latin typeface="+mn-lt"/>
                <a:ea typeface="+mn-ea"/>
                <a:cs typeface="+mn-cs"/>
              </a:rPr>
              <a:t>We reintroduce segment pricing, a concept already introduced in week 2 when we discussed Mercedes’s optimal pricing in the US and Germany, based on different elasticities.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At the </a:t>
            </a:r>
            <a:r>
              <a:rPr lang="en-US" sz="1200" b="1" kern="1200" dirty="0">
                <a:solidFill>
                  <a:schemeClr val="tx1"/>
                </a:solidFill>
                <a:effectLst/>
                <a:latin typeface="+mn-lt"/>
                <a:ea typeface="+mn-ea"/>
                <a:cs typeface="+mn-cs"/>
              </a:rPr>
              <a:t>car wash</a:t>
            </a:r>
            <a:r>
              <a:rPr lang="en-US" sz="1200" kern="1200" dirty="0">
                <a:solidFill>
                  <a:schemeClr val="tx1"/>
                </a:solidFill>
                <a:effectLst/>
                <a:latin typeface="+mn-lt"/>
                <a:ea typeface="+mn-ea"/>
                <a:cs typeface="+mn-cs"/>
              </a:rPr>
              <a:t>, senior citizens get a discount. This is price discrimination based on age. Why do firms select different prices for different segments? We talked about incentives to discriminate when </a:t>
            </a:r>
            <a:r>
              <a:rPr lang="en-US" sz="1200" b="1" kern="1200" dirty="0">
                <a:solidFill>
                  <a:schemeClr val="tx1"/>
                </a:solidFill>
                <a:effectLst/>
                <a:latin typeface="+mn-lt"/>
                <a:ea typeface="+mn-ea"/>
                <a:cs typeface="+mn-cs"/>
              </a:rPr>
              <a:t>different market segments exhibit different demand </a:t>
            </a:r>
            <a:r>
              <a:rPr lang="en-US" sz="1200" b="1" kern="1200" dirty="0" err="1">
                <a:solidFill>
                  <a:schemeClr val="tx1"/>
                </a:solidFill>
                <a:effectLst/>
                <a:latin typeface="+mn-lt"/>
                <a:ea typeface="+mn-ea"/>
                <a:cs typeface="+mn-cs"/>
              </a:rPr>
              <a:t>elasticities</a:t>
            </a:r>
            <a:r>
              <a:rPr lang="en-US" sz="1200" kern="1200" dirty="0">
                <a:solidFill>
                  <a:schemeClr val="tx1"/>
                </a:solidFill>
                <a:effectLst/>
                <a:latin typeface="+mn-lt"/>
                <a:ea typeface="+mn-ea"/>
                <a:cs typeface="+mn-cs"/>
              </a:rPr>
              <a:t>. You want to equate marginal revenue across segments, assuming marginal cost is equal across segments. The implication of this is that you want to charge a lower price for the more elastic segment.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So why are senior citizens </a:t>
            </a:r>
            <a:r>
              <a:rPr lang="en-US" sz="1200" b="1" kern="1200" dirty="0">
                <a:solidFill>
                  <a:schemeClr val="tx1"/>
                </a:solidFill>
                <a:effectLst/>
                <a:latin typeface="+mn-lt"/>
                <a:ea typeface="+mn-ea"/>
                <a:cs typeface="+mn-cs"/>
              </a:rPr>
              <a:t>more price sensitive</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Going to the car wash is a time consuming activity. It can take 40 minutes, sometimes more for an upscale treatment. Senior citizens can afford to drive around longer for a better deal. Opportunity cost of time. They have lower income, so they are more price sensitive The opportunity cost of time for a senior person is much lower than say for a professional. A professional is concerned about the value of time. Senior citizens don’t care so much about the time component of the cost of the car wash, so they are more sensitive to price.</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B94B4F-1C3E-42AD-8B65-1B752C8E558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18656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aseline="0" dirty="0" err="1"/>
              <a:t>Why</a:t>
            </a:r>
            <a:r>
              <a:rPr lang="fr-FR" baseline="0" dirty="0"/>
              <a:t> </a:t>
            </a:r>
            <a:r>
              <a:rPr lang="fr-FR" baseline="0" dirty="0" err="1"/>
              <a:t>would</a:t>
            </a:r>
            <a:r>
              <a:rPr lang="fr-FR" baseline="0" dirty="0"/>
              <a:t> </a:t>
            </a:r>
            <a:r>
              <a:rPr lang="fr-FR" baseline="0" dirty="0" err="1"/>
              <a:t>you</a:t>
            </a:r>
            <a:r>
              <a:rPr lang="fr-FR" baseline="0" dirty="0"/>
              <a:t> charge </a:t>
            </a:r>
            <a:r>
              <a:rPr lang="fr-FR" baseline="0" dirty="0" err="1"/>
              <a:t>lower</a:t>
            </a:r>
            <a:r>
              <a:rPr lang="fr-FR" baseline="0" dirty="0"/>
              <a:t> </a:t>
            </a:r>
            <a:r>
              <a:rPr lang="fr-FR" baseline="0" dirty="0" err="1"/>
              <a:t>price</a:t>
            </a:r>
            <a:r>
              <a:rPr lang="fr-FR" baseline="0" dirty="0"/>
              <a:t> to </a:t>
            </a:r>
            <a:r>
              <a:rPr lang="fr-FR" baseline="0" dirty="0" err="1"/>
              <a:t>students</a:t>
            </a:r>
            <a:r>
              <a:rPr lang="fr-FR" baseline="0" dirty="0"/>
              <a:t>? </a:t>
            </a:r>
            <a:r>
              <a:rPr lang="en-US" baseline="0" dirty="0"/>
              <a:t>lower incomes and more free time. As a result, they are more price-elastic and it is optimal to offer them discounts.</a:t>
            </a:r>
          </a:p>
          <a:p>
            <a:endParaRPr lang="en-US" baseline="0" dirty="0"/>
          </a:p>
          <a:p>
            <a:r>
              <a:rPr lang="en-US" baseline="0" dirty="0"/>
              <a:t>Important: you need to “verify” that they are indeed students.</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157308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u="sng" kern="1200" dirty="0">
                <a:solidFill>
                  <a:schemeClr val="tx1"/>
                </a:solidFill>
                <a:effectLst/>
                <a:latin typeface="+mn-lt"/>
                <a:ea typeface="+mn-ea"/>
                <a:cs typeface="+mn-cs"/>
              </a:rPr>
              <a:t>Disneyland and Taj</a:t>
            </a:r>
            <a:r>
              <a:rPr lang="en-US" sz="1100" u="sng" kern="1200" baseline="0" dirty="0">
                <a:solidFill>
                  <a:schemeClr val="tx1"/>
                </a:solidFill>
                <a:effectLst/>
                <a:latin typeface="+mn-lt"/>
                <a:ea typeface="+mn-ea"/>
                <a:cs typeface="+mn-cs"/>
              </a:rPr>
              <a:t> Mahal</a:t>
            </a:r>
            <a:r>
              <a:rPr lang="en-US" sz="1100" kern="1200" dirty="0">
                <a:solidFill>
                  <a:schemeClr val="tx1"/>
                </a:solidFill>
                <a:effectLst/>
                <a:latin typeface="+mn-lt"/>
                <a:ea typeface="+mn-ea"/>
                <a:cs typeface="+mn-cs"/>
              </a:rPr>
              <a:t>: lower prices for </a:t>
            </a:r>
            <a:r>
              <a:rPr lang="en-US" sz="1100" kern="1200" dirty="0" err="1">
                <a:solidFill>
                  <a:schemeClr val="tx1"/>
                </a:solidFill>
                <a:effectLst/>
                <a:latin typeface="+mn-lt"/>
                <a:ea typeface="+mn-ea"/>
                <a:cs typeface="+mn-cs"/>
              </a:rPr>
              <a:t>Socal</a:t>
            </a:r>
            <a:r>
              <a:rPr lang="en-US" sz="1100" kern="1200" dirty="0">
                <a:solidFill>
                  <a:schemeClr val="tx1"/>
                </a:solidFill>
                <a:effectLst/>
                <a:latin typeface="+mn-lt"/>
                <a:ea typeface="+mn-ea"/>
                <a:cs typeface="+mn-cs"/>
              </a:rPr>
              <a:t>/Indian</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residents compared to tourists. Why? Tourists have lower elasticity of demand than locals that have more easily available alternatives (and in the Indian case, lower</a:t>
            </a:r>
            <a:r>
              <a:rPr lang="en-US" sz="1100" kern="1200" baseline="0" dirty="0">
                <a:solidFill>
                  <a:schemeClr val="tx1"/>
                </a:solidFill>
                <a:effectLst/>
                <a:latin typeface="+mn-lt"/>
                <a:ea typeface="+mn-ea"/>
                <a:cs typeface="+mn-cs"/>
              </a:rPr>
              <a:t> income)</a:t>
            </a:r>
            <a:r>
              <a:rPr lang="en-US" sz="1100" kern="1200" dirty="0">
                <a:solidFill>
                  <a:schemeClr val="tx1"/>
                </a:solidFill>
                <a:effectLst/>
                <a:latin typeface="+mn-lt"/>
                <a:ea typeface="+mn-ea"/>
                <a:cs typeface="+mn-cs"/>
              </a:rPr>
              <a:t>. Generalized phenomenon in tourism – in India airlines used to charge higher fares to tourists.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05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050" u="sng" kern="1200" dirty="0">
                <a:solidFill>
                  <a:schemeClr val="tx1"/>
                </a:solidFill>
                <a:effectLst/>
                <a:latin typeface="+mn-lt"/>
                <a:ea typeface="+mn-ea"/>
                <a:cs typeface="+mn-cs"/>
              </a:rPr>
              <a:t>Another</a:t>
            </a:r>
            <a:r>
              <a:rPr lang="en-US" sz="1050" u="sng" kern="1200" baseline="0" dirty="0">
                <a:solidFill>
                  <a:schemeClr val="tx1"/>
                </a:solidFill>
                <a:effectLst/>
                <a:latin typeface="+mn-lt"/>
                <a:ea typeface="+mn-ea"/>
                <a:cs typeface="+mn-cs"/>
              </a:rPr>
              <a:t> Example</a:t>
            </a:r>
            <a:r>
              <a:rPr lang="en-US" sz="1200" kern="1200" dirty="0">
                <a:solidFill>
                  <a:schemeClr val="tx1"/>
                </a:solidFill>
                <a:effectLst/>
                <a:latin typeface="+mn-lt"/>
                <a:ea typeface="+mn-ea"/>
                <a:cs typeface="+mn-cs"/>
              </a:rPr>
              <a:t>: US drugs cheaper in Canada than in USA. There is more discretion as to price in the US because there is less collective bargaining between public entities and pharmaceutical companies for lower prices. This creates incentives for transshipping of drugs – </a:t>
            </a:r>
            <a:r>
              <a:rPr lang="en-US" sz="1200" b="1" kern="1200" dirty="0">
                <a:solidFill>
                  <a:schemeClr val="tx1"/>
                </a:solidFill>
                <a:effectLst/>
                <a:latin typeface="+mn-lt"/>
                <a:ea typeface="+mn-ea"/>
                <a:cs typeface="+mn-cs"/>
              </a:rPr>
              <a:t>parallel imports</a:t>
            </a:r>
            <a:r>
              <a:rPr lang="en-US" sz="1200" kern="1200" dirty="0">
                <a:solidFill>
                  <a:schemeClr val="tx1"/>
                </a:solidFill>
                <a:effectLst/>
                <a:latin typeface="+mn-lt"/>
                <a:ea typeface="+mn-ea"/>
                <a:cs typeface="+mn-cs"/>
              </a:rPr>
              <a:t> to take advantage of </a:t>
            </a:r>
            <a:r>
              <a:rPr lang="en-US" sz="1200" b="1" kern="1200" dirty="0">
                <a:solidFill>
                  <a:schemeClr val="tx1"/>
                </a:solidFill>
                <a:effectLst/>
                <a:latin typeface="+mn-lt"/>
                <a:ea typeface="+mn-ea"/>
                <a:cs typeface="+mn-cs"/>
              </a:rPr>
              <a:t>arbitrage</a:t>
            </a:r>
            <a:r>
              <a:rPr lang="en-US" sz="1200" kern="1200" dirty="0">
                <a:solidFill>
                  <a:schemeClr val="tx1"/>
                </a:solidFill>
                <a:effectLst/>
                <a:latin typeface="+mn-lt"/>
                <a:ea typeface="+mn-ea"/>
                <a:cs typeface="+mn-cs"/>
              </a:rPr>
              <a:t> opportunities. </a:t>
            </a:r>
            <a:endParaRPr lang="en-US" sz="11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877834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D7939DBB-0AD6-492D-919A-56B12B27DFE7}" type="slidenum">
              <a:rPr lang="en-US"/>
              <a:pPr/>
              <a:t>22</a:t>
            </a:fld>
            <a:endParaRPr lang="en-US"/>
          </a:p>
        </p:txBody>
      </p:sp>
      <p:sp>
        <p:nvSpPr>
          <p:cNvPr id="235522" name="Rectangle 2"/>
          <p:cNvSpPr>
            <a:spLocks noGrp="1" noRot="1" noChangeAspect="1" noChangeArrowheads="1"/>
          </p:cNvSpPr>
          <p:nvPr>
            <p:ph type="sldImg"/>
          </p:nvPr>
        </p:nvSpPr>
        <p:spPr bwMode="auto">
          <a:xfrm>
            <a:off x="1104900" y="565150"/>
            <a:ext cx="5105400" cy="3829050"/>
          </a:xfrm>
          <a:prstGeom prst="rect">
            <a:avLst/>
          </a:prstGeom>
          <a:solidFill>
            <a:srgbClr val="FFFFFF"/>
          </a:solidFill>
          <a:ln>
            <a:solidFill>
              <a:srgbClr val="000000"/>
            </a:solidFill>
            <a:miter lim="800000"/>
            <a:headEnd/>
            <a:tailEnd/>
          </a:ln>
        </p:spPr>
      </p:sp>
      <p:sp>
        <p:nvSpPr>
          <p:cNvPr id="235523" name="Rectangle 3"/>
          <p:cNvSpPr>
            <a:spLocks noGrp="1" noChangeArrowheads="1"/>
          </p:cNvSpPr>
          <p:nvPr>
            <p:ph type="body" idx="1"/>
          </p:nvPr>
        </p:nvSpPr>
        <p:spPr bwMode="auto">
          <a:xfrm>
            <a:off x="988907" y="4813039"/>
            <a:ext cx="5364480" cy="4320457"/>
          </a:xfrm>
          <a:prstGeom prst="rect">
            <a:avLst/>
          </a:prstGeom>
          <a:solidFill>
            <a:srgbClr val="FFFFFF"/>
          </a:solidFill>
          <a:ln>
            <a:solidFill>
              <a:srgbClr val="000000"/>
            </a:solidFill>
            <a:miter lim="800000"/>
            <a:headEnd/>
            <a:tailEnd/>
          </a:ln>
        </p:spPr>
        <p:txBody>
          <a:bodyPr/>
          <a:lstStyle/>
          <a:p>
            <a:r>
              <a:rPr lang="en-US" dirty="0"/>
              <a:t>One can go directly to the website and look for favorite goods. I use coffee </a:t>
            </a:r>
            <a:r>
              <a:rPr lang="en-US" dirty="0" err="1"/>
              <a:t>moka</a:t>
            </a:r>
            <a:r>
              <a:rPr lang="en-US" dirty="0"/>
              <a:t> </a:t>
            </a:r>
            <a:r>
              <a:rPr lang="en-US" dirty="0" err="1"/>
              <a:t>bialetti</a:t>
            </a:r>
            <a:r>
              <a:rPr lang="en-US" dirty="0"/>
              <a:t>:</a:t>
            </a:r>
          </a:p>
          <a:p>
            <a:r>
              <a:rPr lang="en-US" dirty="0"/>
              <a:t>https://camelcamelcamel.com/</a:t>
            </a:r>
          </a:p>
          <a:p>
            <a:endParaRPr lang="en-US" dirty="0"/>
          </a:p>
        </p:txBody>
      </p:sp>
    </p:spTree>
    <p:extLst>
      <p:ext uri="{BB962C8B-B14F-4D97-AF65-F5344CB8AC3E}">
        <p14:creationId xmlns:p14="http://schemas.microsoft.com/office/powerpoint/2010/main" val="15150929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For next slide: the price of </a:t>
            </a:r>
            <a:r>
              <a:rPr lang="en-US" dirty="0" err="1"/>
              <a:t>Lodine</a:t>
            </a:r>
            <a:r>
              <a:rPr lang="en-US" dirty="0"/>
              <a:t> for humans is three times the price for animals</a:t>
            </a:r>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23</a:t>
            </a:fld>
            <a:endParaRPr lang="en-US"/>
          </a:p>
        </p:txBody>
      </p:sp>
    </p:spTree>
    <p:extLst>
      <p:ext uri="{BB962C8B-B14F-4D97-AF65-F5344CB8AC3E}">
        <p14:creationId xmlns:p14="http://schemas.microsoft.com/office/powerpoint/2010/main" val="34935894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14B94B4F-1C3E-42AD-8B65-1B752C8E558F}" type="slidenum">
              <a:rPr lang="en-US" smtClean="0"/>
              <a:pPr>
                <a:defRPr/>
              </a:pPr>
              <a:t>24</a:t>
            </a:fld>
            <a:endParaRPr lang="en-US"/>
          </a:p>
        </p:txBody>
      </p:sp>
    </p:spTree>
    <p:extLst>
      <p:ext uri="{BB962C8B-B14F-4D97-AF65-F5344CB8AC3E}">
        <p14:creationId xmlns:p14="http://schemas.microsoft.com/office/powerpoint/2010/main" val="31201145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B94B4F-1C3E-42AD-8B65-1B752C8E558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915343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For next slide: the price of </a:t>
            </a:r>
            <a:r>
              <a:rPr lang="en-US" dirty="0" err="1"/>
              <a:t>Lodine</a:t>
            </a:r>
            <a:r>
              <a:rPr lang="en-US" dirty="0"/>
              <a:t> for humans is three times the price for animals</a:t>
            </a:r>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26</a:t>
            </a:fld>
            <a:endParaRPr lang="en-US"/>
          </a:p>
        </p:txBody>
      </p:sp>
    </p:spTree>
    <p:extLst>
      <p:ext uri="{BB962C8B-B14F-4D97-AF65-F5344CB8AC3E}">
        <p14:creationId xmlns:p14="http://schemas.microsoft.com/office/powerpoint/2010/main" val="32883553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Lodine, a medication for arthritis, is used for both humans and dogs. Which segment 'pays' a higher price?
https://www.polleverywhere.com/multiple_choice_polls/4BC5CeS5GrXrPVaYNwliJ?state=opened&amp;flow=Default&amp;onscreen=persist</a:t>
            </a:r>
          </a:p>
        </p:txBody>
      </p:sp>
      <p:sp>
        <p:nvSpPr>
          <p:cNvPr id="4" name="Slide Number Placeholder 3"/>
          <p:cNvSpPr>
            <a:spLocks noGrp="1"/>
          </p:cNvSpPr>
          <p:nvPr>
            <p:ph type="sldNum" sz="quarter" idx="5"/>
          </p:nvPr>
        </p:nvSpPr>
        <p:spPr/>
        <p:txBody>
          <a:bodyPr/>
          <a:lstStyle/>
          <a:p>
            <a:fld id="{8D36AC2A-E969-3C46-9ED8-B46D40C5E669}" type="slidenum">
              <a:rPr lang="en-US" smtClean="0"/>
              <a:t>27</a:t>
            </a:fld>
            <a:endParaRPr lang="en-US"/>
          </a:p>
        </p:txBody>
      </p:sp>
      <p:sp>
        <p:nvSpPr>
          <p:cNvPr id="5" name="TextBox 4">
            <a:extLst>
              <a:ext uri="{FF2B5EF4-FFF2-40B4-BE49-F238E27FC236}">
                <a16:creationId xmlns:a16="http://schemas.microsoft.com/office/drawing/2014/main" id="{4D915004-F0C7-449F-96E1-1D0F5F0D3BA1}"/>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7279192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For next slide: the price of </a:t>
            </a:r>
            <a:r>
              <a:rPr lang="en-US" dirty="0" err="1"/>
              <a:t>Lodine</a:t>
            </a:r>
            <a:r>
              <a:rPr lang="en-US" dirty="0"/>
              <a:t> for humans is three times the price for animals</a:t>
            </a:r>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28</a:t>
            </a:fld>
            <a:endParaRPr lang="en-US"/>
          </a:p>
        </p:txBody>
      </p:sp>
    </p:spTree>
    <p:extLst>
      <p:ext uri="{BB962C8B-B14F-4D97-AF65-F5344CB8AC3E}">
        <p14:creationId xmlns:p14="http://schemas.microsoft.com/office/powerpoint/2010/main" val="30513600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a:spLocks noGrp="1" noChangeArrowheads="1"/>
          </p:cNvSpPr>
          <p:nvPr>
            <p:ph type="sldNum" sz="quarter" idx="5"/>
          </p:nvPr>
        </p:nvSpPr>
        <p:spPr>
          <a:ln/>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E380E3-6D8F-49B4-9899-6E5D0F74521F}" type="slidenum">
              <a:rPr kumimoji="0" lang="en-US" sz="1300" b="0" i="0" u="none" strike="noStrike" kern="1200" cap="none" spc="0" normalizeH="0" baseline="0" noProof="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45410" name="Rectangle 2"/>
          <p:cNvSpPr>
            <a:spLocks noGrp="1" noRot="1" noChangeAspect="1" noChangeArrowheads="1"/>
          </p:cNvSpPr>
          <p:nvPr>
            <p:ph type="sldImg"/>
          </p:nvPr>
        </p:nvSpPr>
        <p:spPr bwMode="auto">
          <a:xfrm>
            <a:off x="1266825" y="727075"/>
            <a:ext cx="4781550" cy="3586163"/>
          </a:xfrm>
          <a:prstGeom prst="rect">
            <a:avLst/>
          </a:prstGeom>
          <a:noFill/>
          <a:ln w="12700" cap="flat">
            <a:solidFill>
              <a:schemeClr val="tx1"/>
            </a:solidFill>
            <a:miter lim="800000"/>
            <a:headEnd/>
            <a:tailEnd/>
          </a:ln>
        </p:spPr>
      </p:sp>
      <p:sp>
        <p:nvSpPr>
          <p:cNvPr id="145411" name="Rectangle 3"/>
          <p:cNvSpPr>
            <a:spLocks noGrp="1" noChangeArrowheads="1"/>
          </p:cNvSpPr>
          <p:nvPr>
            <p:ph type="body" idx="1"/>
          </p:nvPr>
        </p:nvSpPr>
        <p:spPr bwMode="auto">
          <a:xfrm>
            <a:off x="975360" y="4559286"/>
            <a:ext cx="5364480" cy="4320456"/>
          </a:xfrm>
          <a:prstGeom prst="rect">
            <a:avLst/>
          </a:prstGeom>
          <a:noFill/>
          <a:ln>
            <a:miter lim="800000"/>
            <a:headEnd/>
            <a:tailEnd/>
          </a:ln>
        </p:spPr>
        <p:txBody>
          <a:bodyPr lIns="97056" tIns="48529" rIns="97056" bIns="48529"/>
          <a:lstStyle/>
          <a:p>
            <a:endParaRPr lang="en-US"/>
          </a:p>
        </p:txBody>
      </p:sp>
    </p:spTree>
    <p:extLst>
      <p:ext uri="{BB962C8B-B14F-4D97-AF65-F5344CB8AC3E}">
        <p14:creationId xmlns:p14="http://schemas.microsoft.com/office/powerpoint/2010/main" val="20611852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979732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31</a:t>
            </a:fld>
            <a:endParaRPr lang="en-US"/>
          </a:p>
        </p:txBody>
      </p:sp>
    </p:spTree>
    <p:extLst>
      <p:ext uri="{BB962C8B-B14F-4D97-AF65-F5344CB8AC3E}">
        <p14:creationId xmlns:p14="http://schemas.microsoft.com/office/powerpoint/2010/main" val="684172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838019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300" dirty="0"/>
          </a:p>
        </p:txBody>
      </p:sp>
      <p:sp>
        <p:nvSpPr>
          <p:cNvPr id="4" name="Slide Number Placeholder 3"/>
          <p:cNvSpPr>
            <a:spLocks noGrp="1"/>
          </p:cNvSpPr>
          <p:nvPr>
            <p:ph type="sldNum" sz="quarter" idx="10"/>
          </p:nvPr>
        </p:nvSpPr>
        <p:spPr/>
        <p:txBody>
          <a:bodyPr/>
          <a:lstStyle/>
          <a:p>
            <a:pPr marL="0" marR="0" lvl="0" indent="0" algn="r" defTabSz="483306" rtl="0" eaLnBrk="1" fontAlgn="auto" latinLnBrk="0" hangingPunct="1">
              <a:lnSpc>
                <a:spcPct val="100000"/>
              </a:lnSpc>
              <a:spcBef>
                <a:spcPts val="0"/>
              </a:spcBef>
              <a:spcAft>
                <a:spcPts val="0"/>
              </a:spcAft>
              <a:buClrTx/>
              <a:buSzTx/>
              <a:buFontTx/>
              <a:buNone/>
              <a:tabLst/>
              <a:defRPr/>
            </a:pPr>
            <a:fld id="{14B94B4F-1C3E-42AD-8B65-1B752C8E558F}" type="slidenum">
              <a:rPr kumimoji="0" lang="en-US" sz="1300" b="0" i="0" u="none" strike="noStrike" kern="1200" cap="none" spc="0" normalizeH="0" baseline="0" noProof="0">
                <a:ln>
                  <a:noFill/>
                </a:ln>
                <a:solidFill>
                  <a:prstClr val="black"/>
                </a:solidFill>
                <a:effectLst/>
                <a:uLnTx/>
                <a:uFillTx/>
                <a:latin typeface="Calibri"/>
                <a:ea typeface="+mn-ea"/>
                <a:cs typeface="+mn-cs"/>
              </a:rPr>
              <a:pPr marL="0" marR="0" lvl="0" indent="0" algn="r" defTabSz="483306" rtl="0" eaLnBrk="1" fontAlgn="auto" latinLnBrk="0" hangingPunct="1">
                <a:lnSpc>
                  <a:spcPct val="100000"/>
                </a:lnSpc>
                <a:spcBef>
                  <a:spcPts val="0"/>
                </a:spcBef>
                <a:spcAft>
                  <a:spcPts val="0"/>
                </a:spcAft>
                <a:buClrTx/>
                <a:buSzTx/>
                <a:buFontTx/>
                <a:buNone/>
                <a:tabLst/>
                <a:defRPr/>
              </a:pPr>
              <a:t>33</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239253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An example of Second Degree Price Discrimination: Versioning</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We will go in greater depth into one form of </a:t>
            </a:r>
            <a:r>
              <a:rPr lang="en-US" sz="1200" b="1" kern="1200" dirty="0">
                <a:solidFill>
                  <a:schemeClr val="tx1"/>
                </a:solidFill>
                <a:effectLst/>
                <a:latin typeface="+mn-lt"/>
                <a:ea typeface="+mn-ea"/>
                <a:cs typeface="+mn-cs"/>
              </a:rPr>
              <a:t>second degree price discrimination</a:t>
            </a:r>
            <a:r>
              <a:rPr lang="en-US" sz="1200" kern="1200" dirty="0">
                <a:solidFill>
                  <a:schemeClr val="tx1"/>
                </a:solidFill>
                <a:effectLst/>
                <a:latin typeface="+mn-lt"/>
                <a:ea typeface="+mn-ea"/>
                <a:cs typeface="+mn-cs"/>
              </a:rPr>
              <a:t> which is versioning. Versioning is incentive compatible and accomplishes everything that price discrimination accomplishes. Consumers who buy at a high price do so </a:t>
            </a:r>
            <a:r>
              <a:rPr lang="en-US" sz="1200" b="1" kern="1200" dirty="0">
                <a:solidFill>
                  <a:schemeClr val="tx1"/>
                </a:solidFill>
                <a:effectLst/>
                <a:latin typeface="+mn-lt"/>
                <a:ea typeface="+mn-ea"/>
                <a:cs typeface="+mn-cs"/>
              </a:rPr>
              <a:t>willingly</a:t>
            </a:r>
            <a:r>
              <a:rPr lang="en-US" sz="1200" kern="1200" dirty="0">
                <a:solidFill>
                  <a:schemeClr val="tx1"/>
                </a:solidFill>
                <a:effectLst/>
                <a:latin typeface="+mn-lt"/>
                <a:ea typeface="+mn-ea"/>
                <a:cs typeface="+mn-cs"/>
              </a:rPr>
              <a:t>. The key to understand this is that the version priced at a premium has to have features that generate some value to the consumer, but the </a:t>
            </a:r>
            <a:r>
              <a:rPr lang="en-US" sz="1200" b="1" kern="1200" dirty="0">
                <a:solidFill>
                  <a:schemeClr val="tx1"/>
                </a:solidFill>
                <a:effectLst/>
                <a:latin typeface="+mn-lt"/>
                <a:ea typeface="+mn-ea"/>
                <a:cs typeface="+mn-cs"/>
              </a:rPr>
              <a:t>cost differential</a:t>
            </a:r>
            <a:r>
              <a:rPr lang="en-US" sz="1200" kern="1200" dirty="0">
                <a:solidFill>
                  <a:schemeClr val="tx1"/>
                </a:solidFill>
                <a:effectLst/>
                <a:latin typeface="+mn-lt"/>
                <a:ea typeface="+mn-ea"/>
                <a:cs typeface="+mn-cs"/>
              </a:rPr>
              <a:t> to the company is minor relative to the price differential (otherwise there is no real discrimination on price if the surplus captured is the same across segments).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perfect example is </a:t>
            </a:r>
            <a:r>
              <a:rPr lang="en-US" sz="1200" b="1" kern="1200" dirty="0">
                <a:solidFill>
                  <a:schemeClr val="tx1"/>
                </a:solidFill>
                <a:effectLst/>
                <a:latin typeface="+mn-lt"/>
                <a:ea typeface="+mn-ea"/>
                <a:cs typeface="+mn-cs"/>
              </a:rPr>
              <a:t>Microsoft:</a:t>
            </a:r>
            <a:r>
              <a:rPr lang="en-US" sz="1200" kern="1200" dirty="0">
                <a:solidFill>
                  <a:schemeClr val="tx1"/>
                </a:solidFill>
                <a:effectLst/>
                <a:latin typeface="+mn-lt"/>
                <a:ea typeface="+mn-ea"/>
                <a:cs typeface="+mn-cs"/>
              </a:rPr>
              <a:t> offers Windows Professional and Windows Home Edition. Windows Pro has more features than Home edition but they are otherwise close substitutes. The marginal cost of producing each is identical (and approximately zero) – in fact it may cost the company something to actually differentiate the products. </a:t>
            </a:r>
            <a:r>
              <a:rPr lang="en-US" sz="1200" b="1" kern="1200" dirty="0">
                <a:solidFill>
                  <a:schemeClr val="tx1"/>
                </a:solidFill>
                <a:effectLst/>
                <a:latin typeface="+mn-lt"/>
                <a:ea typeface="+mn-ea"/>
                <a:cs typeface="+mn-cs"/>
              </a:rPr>
              <a:t>Sometimes it costs nothing to make something better but you don’t want to do it</a:t>
            </a:r>
            <a:r>
              <a:rPr lang="en-US" sz="1200" kern="1200" dirty="0">
                <a:solidFill>
                  <a:schemeClr val="tx1"/>
                </a:solidFill>
                <a:effectLst/>
                <a:latin typeface="+mn-lt"/>
                <a:ea typeface="+mn-ea"/>
                <a:cs typeface="+mn-cs"/>
              </a:rPr>
              <a:t>: why doesn’t Microsoft offer the full version of Windows to all their customers since the MC of doing so is zero? Because they would then join the markets, and forego the benefits of </a:t>
            </a:r>
            <a:r>
              <a:rPr lang="en-US" sz="1200" b="1" kern="1200" dirty="0">
                <a:solidFill>
                  <a:schemeClr val="tx1"/>
                </a:solidFill>
                <a:effectLst/>
                <a:latin typeface="+mn-lt"/>
                <a:ea typeface="+mn-ea"/>
                <a:cs typeface="+mn-cs"/>
              </a:rPr>
              <a:t>price</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discrimination</a:t>
            </a:r>
            <a:r>
              <a:rPr lang="en-US" sz="1200" kern="1200" dirty="0">
                <a:solidFill>
                  <a:schemeClr val="tx1"/>
                </a:solidFill>
                <a:effectLst/>
                <a:latin typeface="+mn-lt"/>
                <a:ea typeface="+mn-ea"/>
                <a:cs typeface="+mn-cs"/>
              </a:rPr>
              <a:t>. You add features to the price insensitive segment so you can charge them more.</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99715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5DD8D9A5-4327-440E-B129-923F089C97E0}" type="slidenum">
              <a:rPr lang="en-US"/>
              <a:pPr/>
              <a:t>36</a:t>
            </a:fld>
            <a:endParaRPr lang="en-US"/>
          </a:p>
        </p:txBody>
      </p:sp>
      <p:sp>
        <p:nvSpPr>
          <p:cNvPr id="221186" name="Rectangle 2"/>
          <p:cNvSpPr>
            <a:spLocks noGrp="1" noRot="1" noChangeAspect="1" noChangeArrowheads="1" noTextEdit="1"/>
          </p:cNvSpPr>
          <p:nvPr>
            <p:ph type="sldImg"/>
          </p:nvPr>
        </p:nvSpPr>
        <p:spPr bwMode="auto">
          <a:xfrm>
            <a:off x="1104900" y="565150"/>
            <a:ext cx="5105400" cy="3829050"/>
          </a:xfrm>
          <a:prstGeom prst="rect">
            <a:avLst/>
          </a:prstGeom>
          <a:solidFill>
            <a:srgbClr val="FFFFFF"/>
          </a:solidFill>
          <a:ln>
            <a:solidFill>
              <a:srgbClr val="000000"/>
            </a:solidFill>
            <a:miter lim="800000"/>
            <a:headEnd/>
            <a:tailEnd/>
          </a:ln>
        </p:spPr>
      </p:sp>
      <p:sp>
        <p:nvSpPr>
          <p:cNvPr id="221187" name="Rectangle 3"/>
          <p:cNvSpPr>
            <a:spLocks noGrp="1" noChangeArrowheads="1"/>
          </p:cNvSpPr>
          <p:nvPr>
            <p:ph type="body" idx="1"/>
          </p:nvPr>
        </p:nvSpPr>
        <p:spPr bwMode="auto">
          <a:xfrm>
            <a:off x="988907" y="4813039"/>
            <a:ext cx="5364480" cy="4320457"/>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8149380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17D26193-1B08-40C3-9FFA-7DE3344D3104}" type="slidenum">
              <a:rPr lang="en-US"/>
              <a:pPr/>
              <a:t>37</a:t>
            </a:fld>
            <a:endParaRPr lang="en-US"/>
          </a:p>
        </p:txBody>
      </p:sp>
      <p:sp>
        <p:nvSpPr>
          <p:cNvPr id="223234" name="Rectangle 2"/>
          <p:cNvSpPr>
            <a:spLocks noGrp="1" noRot="1" noChangeAspect="1" noChangeArrowheads="1"/>
          </p:cNvSpPr>
          <p:nvPr>
            <p:ph type="sldImg"/>
          </p:nvPr>
        </p:nvSpPr>
        <p:spPr bwMode="auto">
          <a:xfrm>
            <a:off x="1104900" y="565150"/>
            <a:ext cx="5105400" cy="3829050"/>
          </a:xfrm>
          <a:prstGeom prst="rect">
            <a:avLst/>
          </a:prstGeom>
          <a:solidFill>
            <a:srgbClr val="FFFFFF"/>
          </a:solidFill>
          <a:ln>
            <a:solidFill>
              <a:srgbClr val="000000"/>
            </a:solidFill>
            <a:miter lim="800000"/>
            <a:headEnd/>
            <a:tailEnd/>
          </a:ln>
        </p:spPr>
      </p:sp>
      <p:sp>
        <p:nvSpPr>
          <p:cNvPr id="223235" name="Rectangle 3"/>
          <p:cNvSpPr>
            <a:spLocks noGrp="1" noChangeArrowheads="1"/>
          </p:cNvSpPr>
          <p:nvPr>
            <p:ph type="body" idx="1"/>
          </p:nvPr>
        </p:nvSpPr>
        <p:spPr bwMode="auto">
          <a:xfrm>
            <a:off x="988907" y="4813039"/>
            <a:ext cx="5364480" cy="4320457"/>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8262175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tsunami lapped the foundations of the halls of Congress Wednesday when Sen. Elizabeth Warren, D-Mass., </a:t>
            </a:r>
            <a:r>
              <a:rPr lang="en-US" sz="1200" u="sng" kern="1200" dirty="0">
                <a:solidFill>
                  <a:schemeClr val="tx1"/>
                </a:solidFill>
                <a:effectLst/>
                <a:latin typeface="+mn-lt"/>
                <a:ea typeface="+mn-ea"/>
                <a:cs typeface="+mn-cs"/>
                <a:hlinkClick r:id="rId3"/>
              </a:rPr>
              <a:t>issued from her official U.S. Senate X/Twitter account: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“Wendy’s is planning to try out ‘surge pricing’ — that means you could pay more for your lunch, even if the cost to Wendy’s stays exactly the same. It’s price gouging plain and simple, and American families have had enough.”</a:t>
            </a:r>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38</a:t>
            </a:fld>
            <a:endParaRPr lang="en-US"/>
          </a:p>
        </p:txBody>
      </p:sp>
    </p:spTree>
    <p:extLst>
      <p:ext uri="{BB962C8B-B14F-4D97-AF65-F5344CB8AC3E}">
        <p14:creationId xmlns:p14="http://schemas.microsoft.com/office/powerpoint/2010/main" val="8089183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39</a:t>
            </a:fld>
            <a:endParaRPr lang="en-US"/>
          </a:p>
        </p:txBody>
      </p:sp>
    </p:spTree>
    <p:extLst>
      <p:ext uri="{BB962C8B-B14F-4D97-AF65-F5344CB8AC3E}">
        <p14:creationId xmlns:p14="http://schemas.microsoft.com/office/powerpoint/2010/main" val="26444652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How should United respond to Southwest starting to offer flights on one of its routes?
https://www.polleverywhere.com/multiple_choice_polls/kTjbo3Qwc1lQNUuHpIZ8D?state=opened&amp;flow=Default&amp;onscreen=persist</a:t>
            </a:r>
          </a:p>
        </p:txBody>
      </p:sp>
      <p:sp>
        <p:nvSpPr>
          <p:cNvPr id="4" name="Slide Number Placeholder 3"/>
          <p:cNvSpPr>
            <a:spLocks noGrp="1"/>
          </p:cNvSpPr>
          <p:nvPr>
            <p:ph type="sldNum" sz="quarter" idx="5"/>
          </p:nvPr>
        </p:nvSpPr>
        <p:spPr/>
        <p:txBody>
          <a:bodyPr/>
          <a:lstStyle/>
          <a:p>
            <a:fld id="{8D36AC2A-E969-3C46-9ED8-B46D40C5E669}" type="slidenum">
              <a:rPr lang="en-US" smtClean="0"/>
              <a:t>40</a:t>
            </a:fld>
            <a:endParaRPr lang="en-US"/>
          </a:p>
        </p:txBody>
      </p:sp>
      <p:sp>
        <p:nvSpPr>
          <p:cNvPr id="5" name="TextBox 4">
            <a:extLst>
              <a:ext uri="{FF2B5EF4-FFF2-40B4-BE49-F238E27FC236}">
                <a16:creationId xmlns:a16="http://schemas.microsoft.com/office/drawing/2014/main" id="{2A929C83-7AE8-45B1-8912-7D2780849009}"/>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7680854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u="sng" kern="1200" dirty="0">
                <a:solidFill>
                  <a:schemeClr val="tx1"/>
                </a:solidFill>
                <a:effectLst/>
                <a:latin typeface="+mn-lt"/>
                <a:ea typeface="+mn-ea"/>
                <a:cs typeface="+mn-cs"/>
              </a:rPr>
              <a:t>Another Example</a:t>
            </a:r>
            <a:r>
              <a:rPr lang="en-US" sz="1200" kern="1200" dirty="0">
                <a:solidFill>
                  <a:schemeClr val="tx1"/>
                </a:solidFill>
                <a:effectLst/>
                <a:latin typeface="+mn-lt"/>
                <a:ea typeface="+mn-ea"/>
                <a:cs typeface="+mn-cs"/>
              </a:rPr>
              <a:t>: Fun Film sold at Price Costco. This is a classic example. Kodak was selling their premium Royal Gold film. Fuji and others started competing. Kodak wanted to protect the low end of their market. They could have lowered the price on Royal Gold, but then you give up capturing the surplus at the high end. So they introduced a new brand, </a:t>
            </a:r>
            <a:r>
              <a:rPr lang="en-US" sz="1200" kern="1200" dirty="0" err="1">
                <a:solidFill>
                  <a:schemeClr val="tx1"/>
                </a:solidFill>
                <a:effectLst/>
                <a:latin typeface="+mn-lt"/>
                <a:ea typeface="+mn-ea"/>
                <a:cs typeface="+mn-cs"/>
              </a:rPr>
              <a:t>FunFilm</a:t>
            </a:r>
            <a:r>
              <a:rPr lang="en-US" sz="1200" kern="1200" dirty="0">
                <a:solidFill>
                  <a:schemeClr val="tx1"/>
                </a:solidFill>
                <a:effectLst/>
                <a:latin typeface="+mn-lt"/>
                <a:ea typeface="+mn-ea"/>
                <a:cs typeface="+mn-cs"/>
              </a:rPr>
              <a:t>, offered only at discount stores like Sam’s Club, Costco, in bulk. This is where price sensitive customers go. It turns out the two films were chemically identical. The packaging and bulk sales aspect were different but the actual product was the same. This is a classic B-school case.</a:t>
            </a:r>
            <a:endParaRPr lang="en-US" dirty="0"/>
          </a:p>
          <a:p>
            <a:pPr lv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99715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u="sng" kern="1200" dirty="0">
                <a:solidFill>
                  <a:schemeClr val="tx1"/>
                </a:solidFill>
                <a:effectLst/>
                <a:latin typeface="+mn-lt"/>
                <a:ea typeface="+mn-ea"/>
                <a:cs typeface="+mn-cs"/>
              </a:rPr>
              <a:t>Checkout stand coupons</a:t>
            </a:r>
            <a:r>
              <a:rPr lang="en-US" sz="1200" kern="1200" dirty="0">
                <a:solidFill>
                  <a:schemeClr val="tx1"/>
                </a:solidFill>
                <a:effectLst/>
                <a:latin typeface="+mn-lt"/>
                <a:ea typeface="+mn-ea"/>
                <a:cs typeface="+mn-cs"/>
              </a:rPr>
              <a:t>: Nobody wants to spend money unnecessarily, but it takes time to sort through the coupons. Those who have nothing else to do on a Sunday morning, i.e. those with a low opportunity cost of time, who are price sensitive, will take the time to cut the coupons. This is an ingenious scheme to charge higher price to the low elasticity customers to capture more consumer surplus.</a:t>
            </a:r>
            <a:endParaRPr lang="en-US" sz="1100" kern="1200" dirty="0">
              <a:solidFill>
                <a:schemeClr val="tx1"/>
              </a:solidFill>
              <a:effectLst/>
              <a:latin typeface="+mn-lt"/>
              <a:ea typeface="+mn-ea"/>
              <a:cs typeface="+mn-cs"/>
            </a:endParaRPr>
          </a:p>
          <a:p>
            <a:endParaRPr lang="en-US" sz="1200" u="sng"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708733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43</a:t>
            </a:fld>
            <a:endParaRPr lang="en-US"/>
          </a:p>
        </p:txBody>
      </p:sp>
    </p:spTree>
    <p:extLst>
      <p:ext uri="{BB962C8B-B14F-4D97-AF65-F5344CB8AC3E}">
        <p14:creationId xmlns:p14="http://schemas.microsoft.com/office/powerpoint/2010/main" val="7855308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E85C80C1-D073-41E8-82D0-F37C217C6DB8}" type="slidenum">
              <a:rPr lang="en-US"/>
              <a:pPr/>
              <a:t>44</a:t>
            </a:fld>
            <a:endParaRPr lang="en-US"/>
          </a:p>
        </p:txBody>
      </p:sp>
      <p:sp>
        <p:nvSpPr>
          <p:cNvPr id="239618" name="Rectangle 2"/>
          <p:cNvSpPr>
            <a:spLocks noGrp="1" noRot="1" noChangeAspect="1" noChangeArrowheads="1"/>
          </p:cNvSpPr>
          <p:nvPr>
            <p:ph type="sldImg"/>
          </p:nvPr>
        </p:nvSpPr>
        <p:spPr bwMode="auto">
          <a:xfrm>
            <a:off x="1266825" y="727075"/>
            <a:ext cx="4781550" cy="3586163"/>
          </a:xfrm>
          <a:prstGeom prst="rect">
            <a:avLst/>
          </a:prstGeom>
          <a:noFill/>
          <a:ln w="12700" cap="flat">
            <a:solidFill>
              <a:schemeClr val="tx1"/>
            </a:solidFill>
            <a:miter lim="800000"/>
            <a:headEnd/>
            <a:tailEnd/>
          </a:ln>
        </p:spPr>
      </p:sp>
      <p:sp>
        <p:nvSpPr>
          <p:cNvPr id="239619" name="Rectangle 3"/>
          <p:cNvSpPr>
            <a:spLocks noGrp="1" noChangeArrowheads="1"/>
          </p:cNvSpPr>
          <p:nvPr>
            <p:ph type="body" idx="1"/>
          </p:nvPr>
        </p:nvSpPr>
        <p:spPr bwMode="auto">
          <a:xfrm>
            <a:off x="975360" y="4559286"/>
            <a:ext cx="5364480" cy="4320456"/>
          </a:xfrm>
          <a:prstGeom prst="rect">
            <a:avLst/>
          </a:prstGeom>
          <a:noFill/>
          <a:ln>
            <a:miter lim="800000"/>
            <a:headEnd/>
            <a:tailEnd/>
          </a:ln>
        </p:spPr>
        <p:txBody>
          <a:bodyPr lIns="97056" tIns="48529" rIns="97056" bIns="48529"/>
          <a:lstStyle/>
          <a:p>
            <a:endParaRPr lang="en-US" dirty="0"/>
          </a:p>
        </p:txBody>
      </p:sp>
    </p:spTree>
    <p:extLst>
      <p:ext uri="{BB962C8B-B14F-4D97-AF65-F5344CB8AC3E}">
        <p14:creationId xmlns:p14="http://schemas.microsoft.com/office/powerpoint/2010/main" val="303147051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E85C80C1-D073-41E8-82D0-F37C217C6DB8}" type="slidenum">
              <a:rPr lang="en-US"/>
              <a:pPr/>
              <a:t>45</a:t>
            </a:fld>
            <a:endParaRPr lang="en-US"/>
          </a:p>
        </p:txBody>
      </p:sp>
      <p:sp>
        <p:nvSpPr>
          <p:cNvPr id="239618" name="Rectangle 2"/>
          <p:cNvSpPr>
            <a:spLocks noGrp="1" noRot="1" noChangeAspect="1" noChangeArrowheads="1"/>
          </p:cNvSpPr>
          <p:nvPr>
            <p:ph type="sldImg"/>
          </p:nvPr>
        </p:nvSpPr>
        <p:spPr bwMode="auto">
          <a:xfrm>
            <a:off x="1266825" y="727075"/>
            <a:ext cx="4781550" cy="3586163"/>
          </a:xfrm>
          <a:prstGeom prst="rect">
            <a:avLst/>
          </a:prstGeom>
          <a:noFill/>
          <a:ln w="12700" cap="flat">
            <a:solidFill>
              <a:schemeClr val="tx1"/>
            </a:solidFill>
            <a:miter lim="800000"/>
            <a:headEnd/>
            <a:tailEnd/>
          </a:ln>
        </p:spPr>
      </p:sp>
      <p:sp>
        <p:nvSpPr>
          <p:cNvPr id="239619" name="Rectangle 3"/>
          <p:cNvSpPr>
            <a:spLocks noGrp="1" noChangeArrowheads="1"/>
          </p:cNvSpPr>
          <p:nvPr>
            <p:ph type="body" idx="1"/>
          </p:nvPr>
        </p:nvSpPr>
        <p:spPr bwMode="auto">
          <a:xfrm>
            <a:off x="975360" y="4559286"/>
            <a:ext cx="5364480" cy="4320456"/>
          </a:xfrm>
          <a:prstGeom prst="rect">
            <a:avLst/>
          </a:prstGeom>
          <a:noFill/>
          <a:ln>
            <a:miter lim="800000"/>
            <a:headEnd/>
            <a:tailEnd/>
          </a:ln>
        </p:spPr>
        <p:txBody>
          <a:bodyPr lIns="97056" tIns="48529" rIns="97056" bIns="48529"/>
          <a:lstStyle/>
          <a:p>
            <a:endParaRPr lang="en-US" dirty="0"/>
          </a:p>
        </p:txBody>
      </p:sp>
    </p:spTree>
    <p:extLst>
      <p:ext uri="{BB962C8B-B14F-4D97-AF65-F5344CB8AC3E}">
        <p14:creationId xmlns:p14="http://schemas.microsoft.com/office/powerpoint/2010/main" val="9119296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With MC=0, people buy to where the value is zero. You want to capture the entire area under the demand curve. How much does the consumer pay? For a flat fee of $400, he would be just willing to purchase the bundle of 20 units. The company doubles their contribution and extracts all the surplus. </a:t>
            </a:r>
          </a:p>
          <a:p>
            <a:endParaRPr lang="en-US" sz="1200" kern="1200" dirty="0">
              <a:solidFill>
                <a:schemeClr val="tx1"/>
              </a:solidFill>
              <a:effectLst/>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Equivalent pricing schemes: A </a:t>
            </a:r>
            <a:r>
              <a:rPr lang="en-US" sz="1200" b="1" kern="1200" dirty="0">
                <a:solidFill>
                  <a:schemeClr val="tx1"/>
                </a:solidFill>
                <a:effectLst/>
                <a:latin typeface="+mn-lt"/>
                <a:ea typeface="+mn-ea"/>
                <a:cs typeface="+mn-cs"/>
              </a:rPr>
              <a:t>sliding scale discount pricing scheme</a:t>
            </a:r>
            <a:r>
              <a:rPr lang="en-US" sz="1200" kern="1200" dirty="0">
                <a:solidFill>
                  <a:schemeClr val="tx1"/>
                </a:solidFill>
                <a:effectLst/>
                <a:latin typeface="+mn-lt"/>
                <a:ea typeface="+mn-ea"/>
                <a:cs typeface="+mn-cs"/>
              </a:rPr>
              <a:t> amounts to the same thing – charge lower and lower amounts for each subsequent unit sold. Here you march the consumer down the demand curve and you charge successively lower prices that allow you to capture all the surplus. The quantity discounts come from the seller’s realization that the buyer has a downward sloping demand curve.</a:t>
            </a:r>
          </a:p>
        </p:txBody>
      </p:sp>
      <p:sp>
        <p:nvSpPr>
          <p:cNvPr id="4" name="Slide Number Placeholder 3"/>
          <p:cNvSpPr>
            <a:spLocks noGrp="1"/>
          </p:cNvSpPr>
          <p:nvPr>
            <p:ph type="sldNum" sz="quarter" idx="10"/>
          </p:nvPr>
        </p:nvSpPr>
        <p:spPr/>
        <p:txBody>
          <a:bodyPr/>
          <a:lstStyle/>
          <a:p>
            <a:fld id="{8D36AC2A-E969-3C46-9ED8-B46D40C5E669}" type="slidenum">
              <a:rPr lang="en-US" smtClean="0"/>
              <a:t>46</a:t>
            </a:fld>
            <a:endParaRPr lang="en-US"/>
          </a:p>
        </p:txBody>
      </p:sp>
    </p:spTree>
    <p:extLst>
      <p:ext uri="{BB962C8B-B14F-4D97-AF65-F5344CB8AC3E}">
        <p14:creationId xmlns:p14="http://schemas.microsoft.com/office/powerpoint/2010/main" val="33051255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represent the pricing strategy of Netflix, as an example of versioning. They have three plans, from basic to premium. The chart on the right represents the change in strategy that Netflix followed over time</a:t>
            </a:r>
          </a:p>
          <a:p>
            <a:r>
              <a:rPr lang="en-US" dirty="0"/>
              <a:t>This is a very good video on increase in price in 2017, where they also discuss previous price increases and the backlash associated with them</a:t>
            </a:r>
          </a:p>
          <a:p>
            <a:r>
              <a:rPr lang="en-US" dirty="0"/>
              <a:t>https://finance.yahoo.com/news/netflix-price-hikes-wont-hurt-subscriber-growth-211526185.html</a:t>
            </a:r>
          </a:p>
          <a:p>
            <a:endParaRPr lang="en-US" dirty="0"/>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47</a:t>
            </a:fld>
            <a:endParaRPr lang="en-US"/>
          </a:p>
        </p:txBody>
      </p:sp>
    </p:spTree>
    <p:extLst>
      <p:ext uri="{BB962C8B-B14F-4D97-AF65-F5344CB8AC3E}">
        <p14:creationId xmlns:p14="http://schemas.microsoft.com/office/powerpoint/2010/main" val="4355010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48</a:t>
            </a:fld>
            <a:endParaRPr lang="en-US"/>
          </a:p>
        </p:txBody>
      </p:sp>
    </p:spTree>
    <p:extLst>
      <p:ext uri="{BB962C8B-B14F-4D97-AF65-F5344CB8AC3E}">
        <p14:creationId xmlns:p14="http://schemas.microsoft.com/office/powerpoint/2010/main" val="151739152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Only 65 customer</a:t>
            </a:r>
            <a:r>
              <a:rPr lang="en-US" baseline="0" dirty="0"/>
              <a:t>s bought the flat rate pass</a:t>
            </a:r>
            <a:endParaRPr lang="en-US" dirty="0"/>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49</a:t>
            </a:fld>
            <a:endParaRPr lang="en-US"/>
          </a:p>
        </p:txBody>
      </p:sp>
    </p:spTree>
    <p:extLst>
      <p:ext uri="{BB962C8B-B14F-4D97-AF65-F5344CB8AC3E}">
        <p14:creationId xmlns:p14="http://schemas.microsoft.com/office/powerpoint/2010/main" val="38084560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50</a:t>
            </a:fld>
            <a:endParaRPr lang="en-US"/>
          </a:p>
        </p:txBody>
      </p:sp>
    </p:spTree>
    <p:extLst>
      <p:ext uri="{BB962C8B-B14F-4D97-AF65-F5344CB8AC3E}">
        <p14:creationId xmlns:p14="http://schemas.microsoft.com/office/powerpoint/2010/main" val="11816212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8D36AC2A-E969-3C46-9ED8-B46D40C5E669}" type="slidenum">
              <a:rPr lang="en-US" smtClean="0"/>
              <a:t>51</a:t>
            </a:fld>
            <a:endParaRPr lang="en-US"/>
          </a:p>
        </p:txBody>
      </p:sp>
    </p:spTree>
    <p:extLst>
      <p:ext uri="{BB962C8B-B14F-4D97-AF65-F5344CB8AC3E}">
        <p14:creationId xmlns:p14="http://schemas.microsoft.com/office/powerpoint/2010/main" val="299837543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52</a:t>
            </a:fld>
            <a:endParaRPr lang="en-US"/>
          </a:p>
        </p:txBody>
      </p:sp>
    </p:spTree>
    <p:extLst>
      <p:ext uri="{BB962C8B-B14F-4D97-AF65-F5344CB8AC3E}">
        <p14:creationId xmlns:p14="http://schemas.microsoft.com/office/powerpoint/2010/main" val="2589331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53</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8578114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54</a:t>
            </a:fld>
            <a:endParaRPr lang="en-US"/>
          </a:p>
        </p:txBody>
      </p:sp>
    </p:spTree>
    <p:extLst>
      <p:ext uri="{BB962C8B-B14F-4D97-AF65-F5344CB8AC3E}">
        <p14:creationId xmlns:p14="http://schemas.microsoft.com/office/powerpoint/2010/main" val="306511814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What is the optimal pricing strategy for the Zoo?
https://www.polleverywhere.com/multiple_choice_polls/hmpajEICOBWnni2rKMoIs?state=opened&amp;flow=Default&amp;onscreen=persist</a:t>
            </a:r>
          </a:p>
        </p:txBody>
      </p:sp>
      <p:sp>
        <p:nvSpPr>
          <p:cNvPr id="4" name="Slide Number Placeholder 3"/>
          <p:cNvSpPr>
            <a:spLocks noGrp="1"/>
          </p:cNvSpPr>
          <p:nvPr>
            <p:ph type="sldNum" sz="quarter" idx="5"/>
          </p:nvPr>
        </p:nvSpPr>
        <p:spPr/>
        <p:txBody>
          <a:bodyPr/>
          <a:lstStyle/>
          <a:p>
            <a:fld id="{8D36AC2A-E969-3C46-9ED8-B46D40C5E669}" type="slidenum">
              <a:rPr lang="en-US" smtClean="0"/>
              <a:t>55</a:t>
            </a:fld>
            <a:endParaRPr lang="en-US"/>
          </a:p>
        </p:txBody>
      </p:sp>
      <p:sp>
        <p:nvSpPr>
          <p:cNvPr id="5" name="TextBox 4">
            <a:extLst>
              <a:ext uri="{FF2B5EF4-FFF2-40B4-BE49-F238E27FC236}">
                <a16:creationId xmlns:a16="http://schemas.microsoft.com/office/drawing/2014/main" id="{2D99883A-0E82-4F53-864F-0CFF128852CF}"/>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405877687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56</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279963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57</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7455313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58</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7227545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60</a:t>
            </a:fld>
            <a:endParaRPr lang="en-US"/>
          </a:p>
        </p:txBody>
      </p:sp>
    </p:spTree>
    <p:extLst>
      <p:ext uri="{BB962C8B-B14F-4D97-AF65-F5344CB8AC3E}">
        <p14:creationId xmlns:p14="http://schemas.microsoft.com/office/powerpoint/2010/main" val="10551560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61</a:t>
            </a:fld>
            <a:endParaRPr lang="en-US"/>
          </a:p>
        </p:txBody>
      </p:sp>
    </p:spTree>
    <p:extLst>
      <p:ext uri="{BB962C8B-B14F-4D97-AF65-F5344CB8AC3E}">
        <p14:creationId xmlns:p14="http://schemas.microsoft.com/office/powerpoint/2010/main" val="20140935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Note that the pricing strategy can be also be expressed as 100 at $25, 125 at $30, 175 at 35$. Consumers will opt to purchase 175 at $35 and Walmart will still increase its producer surplus</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62</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3503304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63</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6739219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6999272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65</a:t>
            </a:fld>
            <a:endParaRPr lang="en-US"/>
          </a:p>
        </p:txBody>
      </p:sp>
    </p:spTree>
    <p:extLst>
      <p:ext uri="{BB962C8B-B14F-4D97-AF65-F5344CB8AC3E}">
        <p14:creationId xmlns:p14="http://schemas.microsoft.com/office/powerpoint/2010/main" val="43414833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Attempts to extract consumer surplus</a:t>
            </a:r>
          </a:p>
        </p:txBody>
      </p:sp>
      <p:sp>
        <p:nvSpPr>
          <p:cNvPr id="4" name="Slide Number Placeholder 3"/>
          <p:cNvSpPr>
            <a:spLocks noGrp="1"/>
          </p:cNvSpPr>
          <p:nvPr>
            <p:ph type="sldNum" sz="quarter" idx="5"/>
          </p:nvPr>
        </p:nvSpPr>
        <p:spPr/>
        <p:txBody>
          <a:bodyPr/>
          <a:lstStyle/>
          <a:p>
            <a:fld id="{8D36AC2A-E969-3C46-9ED8-B46D40C5E669}" type="slidenum">
              <a:rPr lang="en-US" smtClean="0"/>
              <a:t>66</a:t>
            </a:fld>
            <a:endParaRPr lang="en-US"/>
          </a:p>
        </p:txBody>
      </p:sp>
    </p:spTree>
    <p:extLst>
      <p:ext uri="{BB962C8B-B14F-4D97-AF65-F5344CB8AC3E}">
        <p14:creationId xmlns:p14="http://schemas.microsoft.com/office/powerpoint/2010/main" val="386345939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Attempts to extract consumer surplus</a:t>
            </a:r>
          </a:p>
        </p:txBody>
      </p:sp>
      <p:sp>
        <p:nvSpPr>
          <p:cNvPr id="4" name="Slide Number Placeholder 3"/>
          <p:cNvSpPr>
            <a:spLocks noGrp="1"/>
          </p:cNvSpPr>
          <p:nvPr>
            <p:ph type="sldNum" sz="quarter" idx="5"/>
          </p:nvPr>
        </p:nvSpPr>
        <p:spPr/>
        <p:txBody>
          <a:bodyPr/>
          <a:lstStyle/>
          <a:p>
            <a:fld id="{8D36AC2A-E969-3C46-9ED8-B46D40C5E669}" type="slidenum">
              <a:rPr lang="en-US" smtClean="0"/>
              <a:t>67</a:t>
            </a:fld>
            <a:endParaRPr lang="en-US"/>
          </a:p>
        </p:txBody>
      </p:sp>
    </p:spTree>
    <p:extLst>
      <p:ext uri="{BB962C8B-B14F-4D97-AF65-F5344CB8AC3E}">
        <p14:creationId xmlns:p14="http://schemas.microsoft.com/office/powerpoint/2010/main" val="352221804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Combination of block pricing and versioning</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5000392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Attempts to extract consumer surplus</a:t>
            </a:r>
          </a:p>
        </p:txBody>
      </p:sp>
      <p:sp>
        <p:nvSpPr>
          <p:cNvPr id="4" name="Slide Number Placeholder 3"/>
          <p:cNvSpPr>
            <a:spLocks noGrp="1"/>
          </p:cNvSpPr>
          <p:nvPr>
            <p:ph type="sldNum" sz="quarter" idx="5"/>
          </p:nvPr>
        </p:nvSpPr>
        <p:spPr/>
        <p:txBody>
          <a:bodyPr/>
          <a:lstStyle/>
          <a:p>
            <a:fld id="{8D36AC2A-E969-3C46-9ED8-B46D40C5E669}" type="slidenum">
              <a:rPr lang="en-US" smtClean="0"/>
              <a:t>69</a:t>
            </a:fld>
            <a:endParaRPr lang="en-US"/>
          </a:p>
        </p:txBody>
      </p:sp>
    </p:spTree>
    <p:extLst>
      <p:ext uri="{BB962C8B-B14F-4D97-AF65-F5344CB8AC3E}">
        <p14:creationId xmlns:p14="http://schemas.microsoft.com/office/powerpoint/2010/main" val="386345939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Attempts to extract consumer surplus</a:t>
            </a:r>
          </a:p>
        </p:txBody>
      </p:sp>
      <p:sp>
        <p:nvSpPr>
          <p:cNvPr id="4" name="Slide Number Placeholder 3"/>
          <p:cNvSpPr>
            <a:spLocks noGrp="1"/>
          </p:cNvSpPr>
          <p:nvPr>
            <p:ph type="sldNum" sz="quarter" idx="5"/>
          </p:nvPr>
        </p:nvSpPr>
        <p:spPr/>
        <p:txBody>
          <a:bodyPr/>
          <a:lstStyle/>
          <a:p>
            <a:fld id="{8D36AC2A-E969-3C46-9ED8-B46D40C5E669}" type="slidenum">
              <a:rPr lang="en-US" smtClean="0"/>
              <a:t>70</a:t>
            </a:fld>
            <a:endParaRPr lang="en-US"/>
          </a:p>
        </p:txBody>
      </p:sp>
    </p:spTree>
    <p:extLst>
      <p:ext uri="{BB962C8B-B14F-4D97-AF65-F5344CB8AC3E}">
        <p14:creationId xmlns:p14="http://schemas.microsoft.com/office/powerpoint/2010/main" val="120928721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experiment was as follows, </a:t>
            </a:r>
          </a:p>
          <a:p>
            <a:r>
              <a:rPr lang="en-US" dirty="0"/>
              <a:t>- In one case consumers saw two options at 125 one including only print and one including print and web, and one at $59.</a:t>
            </a:r>
          </a:p>
          <a:p>
            <a:r>
              <a:rPr lang="en-US" dirty="0"/>
              <a:t>- In the other treatment consumer were given two options: $59 and $125 for print and web. </a:t>
            </a:r>
          </a:p>
          <a:p>
            <a:r>
              <a:rPr lang="en-US" dirty="0"/>
              <a:t>When people saw the three options 84% of them chose print and web and only 16% the cheapest option. Their attention went to the comparison between the two options at 125.</a:t>
            </a:r>
          </a:p>
          <a:p>
            <a:r>
              <a:rPr lang="en-US" dirty="0"/>
              <a:t>In the experiment with two options only 32% of them chose the expensive option, most of the (68% chose the $59 option)</a:t>
            </a:r>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Explanation: https://cxl.com/blog/pricing-experiments-you-might-not-know-but-can-learn-from/ </a:t>
            </a:r>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71</a:t>
            </a:fld>
            <a:endParaRPr lang="en-US"/>
          </a:p>
        </p:txBody>
      </p:sp>
    </p:spTree>
    <p:extLst>
      <p:ext uri="{BB962C8B-B14F-4D97-AF65-F5344CB8AC3E}">
        <p14:creationId xmlns:p14="http://schemas.microsoft.com/office/powerpoint/2010/main" val="78014862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https://cxl.com/blog/pricing-experiments-you-might-not-know-but-can-learn-from/ </a:t>
            </a:r>
          </a:p>
        </p:txBody>
      </p:sp>
      <p:sp>
        <p:nvSpPr>
          <p:cNvPr id="4" name="Slide Number Placeholder 3"/>
          <p:cNvSpPr>
            <a:spLocks noGrp="1"/>
          </p:cNvSpPr>
          <p:nvPr>
            <p:ph type="sldNum" sz="quarter" idx="5"/>
          </p:nvPr>
        </p:nvSpPr>
        <p:spPr/>
        <p:txBody>
          <a:bodyPr/>
          <a:lstStyle/>
          <a:p>
            <a:fld id="{8D36AC2A-E969-3C46-9ED8-B46D40C5E669}" type="slidenum">
              <a:rPr lang="en-US" smtClean="0"/>
              <a:t>72</a:t>
            </a:fld>
            <a:endParaRPr lang="en-US"/>
          </a:p>
        </p:txBody>
      </p:sp>
    </p:spTree>
    <p:extLst>
      <p:ext uri="{BB962C8B-B14F-4D97-AF65-F5344CB8AC3E}">
        <p14:creationId xmlns:p14="http://schemas.microsoft.com/office/powerpoint/2010/main" val="331645184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 framing is </a:t>
            </a:r>
            <a:r>
              <a:rPr lang="en-US" b="1" dirty="0"/>
              <a:t>the optimization of how to present prices, services, and products in the most appealing way</a:t>
            </a:r>
            <a:r>
              <a:rPr lang="en-US" dirty="0"/>
              <a:t>. </a:t>
            </a:r>
            <a:r>
              <a:rPr lang="en-US"/>
              <a:t>It's not changing the prices of your products or services but the way they are exhibited in order to encourage consumers to make more purchases.</a:t>
            </a:r>
          </a:p>
        </p:txBody>
      </p:sp>
      <p:sp>
        <p:nvSpPr>
          <p:cNvPr id="4" name="Slide Number Placeholder 3"/>
          <p:cNvSpPr>
            <a:spLocks noGrp="1"/>
          </p:cNvSpPr>
          <p:nvPr>
            <p:ph type="sldNum" sz="quarter" idx="5"/>
          </p:nvPr>
        </p:nvSpPr>
        <p:spPr/>
        <p:txBody>
          <a:bodyPr/>
          <a:lstStyle/>
          <a:p>
            <a:fld id="{8D36AC2A-E969-3C46-9ED8-B46D40C5E669}" type="slidenum">
              <a:rPr lang="en-US" smtClean="0"/>
              <a:t>73</a:t>
            </a:fld>
            <a:endParaRPr lang="en-US"/>
          </a:p>
        </p:txBody>
      </p:sp>
    </p:spTree>
    <p:extLst>
      <p:ext uri="{BB962C8B-B14F-4D97-AF65-F5344CB8AC3E}">
        <p14:creationId xmlns:p14="http://schemas.microsoft.com/office/powerpoint/2010/main" val="138353741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B94B4F-1C3E-42AD-8B65-1B752C8E558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1966728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B94B4F-1C3E-42AD-8B65-1B752C8E558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3737548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743043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F8D68B6-7B24-6146-BD9E-412DC96CF560}"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3" name="Text Placeholder 2"/>
          <p:cNvSpPr>
            <a:spLocks noGrp="1"/>
          </p:cNvSpPr>
          <p:nvPr>
            <p:ph type="body" idx="1"/>
          </p:nvPr>
        </p:nvSpPr>
        <p:spPr>
          <a:xfrm>
            <a:off x="518199" y="2906713"/>
            <a:ext cx="7772400" cy="1500187"/>
          </a:xfrm>
        </p:spPr>
        <p:txBody>
          <a:bodyPr anchor="b">
            <a:normAutofit/>
          </a:bodyPr>
          <a:lstStyle>
            <a:lvl1pPr marL="0" indent="0">
              <a:buNone/>
              <a:defRPr sz="1600">
                <a:solidFill>
                  <a:srgbClr val="1B8BD5"/>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itle Placeholder 1"/>
          <p:cNvSpPr>
            <a:spLocks noGrp="1"/>
          </p:cNvSpPr>
          <p:nvPr>
            <p:ph type="title"/>
          </p:nvPr>
        </p:nvSpPr>
        <p:spPr>
          <a:xfrm>
            <a:off x="518199" y="4401792"/>
            <a:ext cx="8229600" cy="1143000"/>
          </a:xfrm>
          <a:prstGeom prst="rect">
            <a:avLst/>
          </a:prstGeom>
        </p:spPr>
        <p:txBody>
          <a:bodyPr vert="horz" lIns="91440" tIns="45720" rIns="91440" bIns="45720" rtlCol="0" anchor="t" anchorCtr="0">
            <a:normAutofit/>
          </a:bodyPr>
          <a:lstStyle>
            <a:lvl1pPr algn="l">
              <a:defRPr>
                <a:solidFill>
                  <a:schemeClr val="bg1"/>
                </a:solidFill>
              </a:defRPr>
            </a:lvl1pPr>
          </a:lstStyle>
          <a:p>
            <a:r>
              <a:rPr lang="en-US" dirty="0"/>
              <a:t>Click to edit Master title style</a:t>
            </a:r>
          </a:p>
        </p:txBody>
      </p:sp>
      <p:cxnSp>
        <p:nvCxnSpPr>
          <p:cNvPr id="12" name="Straight Connector 11"/>
          <p:cNvCxnSpPr/>
          <p:nvPr userDrawn="1"/>
        </p:nvCxnSpPr>
        <p:spPr>
          <a:xfrm>
            <a:off x="623681" y="4406900"/>
            <a:ext cx="7666919" cy="0"/>
          </a:xfrm>
          <a:prstGeom prst="line">
            <a:avLst/>
          </a:prstGeom>
          <a:ln>
            <a:solidFill>
              <a:schemeClr val="tx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2669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t>11/14/2024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4238967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9E111D7-C283-8E4B-AB2F-B2B17B0FC9BC}"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923028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315517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noAutofit/>
          </a:bodyPr>
          <a:lstStyle>
            <a:lvl1pPr algn="l">
              <a:defRPr sz="32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E111D7-C283-8E4B-AB2F-B2B17B0FC9BC}"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653757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9E111D7-C283-8E4B-AB2F-B2B17B0FC9BC}" type="datetimeFigureOut">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144116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9E111D7-C283-8E4B-AB2F-B2B17B0FC9BC}" type="datetimeFigureOut">
              <a:rPr lang="en-US" smtClean="0"/>
              <a:t>11/14/2024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683145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9E111D7-C283-8E4B-AB2F-B2B17B0FC9BC}" type="datetimeFigureOut">
              <a:rPr lang="en-US" smtClean="0"/>
              <a:t>11/14/2024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95173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E111D7-C283-8E4B-AB2F-B2B17B0FC9BC}" type="datetimeFigureOut">
              <a:rPr lang="en-US" smtClean="0"/>
              <a:t>11/14/2024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658720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E111D7-C283-8E4B-AB2F-B2B17B0FC9BC}" type="datetimeFigureOut">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33965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E111D7-C283-8E4B-AB2F-B2B17B0FC9BC}" type="datetimeFigureOut">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832547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3956811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834392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F8D68B6-7B24-6146-BD9E-412DC96CF560}"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4292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F8D68B6-7B24-6146-BD9E-412DC96CF560}"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440323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8D68B6-7B24-6146-BD9E-412DC96CF560}"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259889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F8D68B6-7B24-6146-BD9E-412DC96CF560}" type="datetimeFigureOut">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058198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8D68B6-7B24-6146-BD9E-412DC96CF560}" type="datetimeFigureOut">
              <a:rPr lang="en-US" smtClean="0"/>
              <a:t>11/14/2024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117213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t>11/14/2024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180880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8D68B6-7B24-6146-BD9E-412DC96CF560}" type="datetimeFigureOut">
              <a:rPr lang="en-US" smtClean="0"/>
              <a:t>11/14/2024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046176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8D68B6-7B24-6146-BD9E-412DC96CF560}" type="datetimeFigureOut">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614727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8D68B6-7B24-6146-BD9E-412DC96CF560}" type="datetimeFigureOut">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683847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pPr/>
              <a:t>11/14/2024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3032531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BF8D68B6-7B24-6146-BD9E-412DC96CF560}"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58220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F8D68B6-7B24-6146-BD9E-412DC96CF560}"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120140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BF8D68B6-7B24-6146-BD9E-412DC96CF560}" type="datetimeFigureOut">
              <a:rPr lang="en-US" smtClean="0"/>
              <a:pPr/>
              <a:t>11/14/2024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1949856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F8D68B6-7B24-6146-BD9E-412DC96CF560}" type="datetimeFigureOut">
              <a:rPr lang="en-US" smtClean="0"/>
              <a:pPr/>
              <a:t>11/14/2024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02897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3C16A1EF-F8D3-2C4C-A23B-DABFF455F73F}" type="datetime1">
              <a:rPr lang="en-US" smtClean="0">
                <a:solidFill>
                  <a:prstClr val="black">
                    <a:lumMod val="75000"/>
                    <a:lumOff val="25000"/>
                  </a:prstClr>
                </a:solidFill>
              </a:rPr>
              <a:pPr/>
              <a:t>11/14/2024</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457365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8"/>
          <p:cNvSpPr>
            <a:spLocks noGrp="1"/>
          </p:cNvSpPr>
          <p:nvPr>
            <p:ph type="dt" sz="half" idx="10"/>
          </p:nvPr>
        </p:nvSpPr>
        <p:spPr/>
        <p:txBody>
          <a:bodyPr/>
          <a:lstStyle/>
          <a:p>
            <a:fld id="{AF541F4B-73DA-634C-9E29-56388643854B}" type="datetime1">
              <a:rPr lang="en-US" smtClean="0">
                <a:solidFill>
                  <a:prstClr val="black">
                    <a:lumMod val="75000"/>
                    <a:lumOff val="25000"/>
                  </a:prstClr>
                </a:solidFill>
              </a:rPr>
              <a:pPr/>
              <a:t>11/14/2024</a:t>
            </a:fld>
            <a:endParaRPr lang="en-US" dirty="0">
              <a:solidFill>
                <a:prstClr val="black">
                  <a:lumMod val="75000"/>
                  <a:lumOff val="25000"/>
                </a:prstClr>
              </a:solidFill>
            </a:endParaRPr>
          </a:p>
        </p:txBody>
      </p:sp>
      <p:sp>
        <p:nvSpPr>
          <p:cNvPr id="10" name="Footer Placeholder 9"/>
          <p:cNvSpPr>
            <a:spLocks noGrp="1"/>
          </p:cNvSpPr>
          <p:nvPr>
            <p:ph type="ftr" sz="quarter" idx="11"/>
          </p:nvPr>
        </p:nvSpPr>
        <p:spPr/>
        <p:txBody>
          <a:bodyPr/>
          <a:lstStyle/>
          <a:p>
            <a:endParaRPr lang="en-US" dirty="0">
              <a:solidFill>
                <a:prstClr val="white">
                  <a:lumMod val="50000"/>
                </a:prstClr>
              </a:solidFill>
            </a:endParaRPr>
          </a:p>
        </p:txBody>
      </p:sp>
      <p:sp>
        <p:nvSpPr>
          <p:cNvPr id="11" name="Slide Number Placeholder 10"/>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30683439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E59C6B-EB5D-C046-9EA3-3CA9495D4FA9}" type="datetime1">
              <a:rPr lang="en-US" smtClean="0">
                <a:solidFill>
                  <a:prstClr val="black">
                    <a:lumMod val="75000"/>
                    <a:lumOff val="25000"/>
                  </a:prstClr>
                </a:solidFill>
              </a:rPr>
              <a:pPr/>
              <a:t>11/14/2024</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9706617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43CE89-0F10-7242-893C-EB6AB707C3E1}" type="datetime1">
              <a:rPr lang="en-US" smtClean="0">
                <a:solidFill>
                  <a:prstClr val="black">
                    <a:lumMod val="75000"/>
                    <a:lumOff val="25000"/>
                  </a:prstClr>
                </a:solidFill>
              </a:rPr>
              <a:pPr/>
              <a:t>11/14/2024</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0609592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47D4AD-BBAE-3345-8D65-FDA503BCC307}" type="datetime1">
              <a:rPr lang="en-US" smtClean="0">
                <a:solidFill>
                  <a:prstClr val="black">
                    <a:lumMod val="75000"/>
                    <a:lumOff val="25000"/>
                  </a:prstClr>
                </a:solidFill>
              </a:rPr>
              <a:pPr/>
              <a:t>11/14/2024</a:t>
            </a:fld>
            <a:endParaRPr lang="en-US">
              <a:solidFill>
                <a:prstClr val="black">
                  <a:lumMod val="75000"/>
                  <a:lumOff val="25000"/>
                </a:prstClr>
              </a:solidFill>
            </a:endParaRPr>
          </a:p>
        </p:txBody>
      </p:sp>
      <p:sp>
        <p:nvSpPr>
          <p:cNvPr id="8" name="Footer Placeholder 7"/>
          <p:cNvSpPr>
            <a:spLocks noGrp="1"/>
          </p:cNvSpPr>
          <p:nvPr>
            <p:ph type="ftr" sz="quarter" idx="11"/>
          </p:nvPr>
        </p:nvSpPr>
        <p:spPr/>
        <p:txBody>
          <a:bodyPr/>
          <a:lstStyle/>
          <a:p>
            <a:endParaRPr lang="en-US">
              <a:solidFill>
                <a:prstClr val="white">
                  <a:lumMod val="50000"/>
                </a:prstClr>
              </a:solidFill>
            </a:endParaRPr>
          </a:p>
        </p:txBody>
      </p:sp>
      <p:sp>
        <p:nvSpPr>
          <p:cNvPr id="9" name="Slide Number Placeholder 8"/>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2464600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81AFE5B-575B-7C44-8512-74AD30B0897C}" type="datetime1">
              <a:rPr lang="en-US" smtClean="0">
                <a:solidFill>
                  <a:prstClr val="black">
                    <a:lumMod val="75000"/>
                    <a:lumOff val="25000"/>
                  </a:prstClr>
                </a:solidFill>
              </a:rPr>
              <a:pPr/>
              <a:t>11/14/2024</a:t>
            </a:fld>
            <a:endParaRPr lang="en-US">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751884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EADBD6-357E-6446-973D-D43166770EC1}" type="datetime1">
              <a:rPr lang="en-US" smtClean="0">
                <a:solidFill>
                  <a:prstClr val="black">
                    <a:lumMod val="75000"/>
                    <a:lumOff val="25000"/>
                  </a:prstClr>
                </a:solidFill>
              </a:rPr>
              <a:pPr/>
              <a:t>11/14/2024</a:t>
            </a:fld>
            <a:endParaRPr lang="en-US">
              <a:solidFill>
                <a:prstClr val="black">
                  <a:lumMod val="75000"/>
                  <a:lumOff val="25000"/>
                </a:prstClr>
              </a:solidFill>
            </a:endParaRPr>
          </a:p>
        </p:txBody>
      </p:sp>
      <p:sp>
        <p:nvSpPr>
          <p:cNvPr id="3" name="Footer Placeholder 2"/>
          <p:cNvSpPr>
            <a:spLocks noGrp="1"/>
          </p:cNvSpPr>
          <p:nvPr>
            <p:ph type="ftr" sz="quarter" idx="11"/>
          </p:nvPr>
        </p:nvSpPr>
        <p:spPr/>
        <p:txBody>
          <a:bodyPr/>
          <a:lstStyle/>
          <a:p>
            <a:endParaRPr lang="en-US">
              <a:solidFill>
                <a:prstClr val="white">
                  <a:lumMod val="50000"/>
                </a:prstClr>
              </a:solidFill>
            </a:endParaRPr>
          </a:p>
        </p:txBody>
      </p:sp>
      <p:sp>
        <p:nvSpPr>
          <p:cNvPr id="4" name="Slide Number Placeholder 3"/>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5014830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7ED7A8-0006-294D-BE45-F3E7C3592CEA}" type="datetime1">
              <a:rPr lang="en-US" smtClean="0">
                <a:solidFill>
                  <a:prstClr val="black">
                    <a:lumMod val="75000"/>
                    <a:lumOff val="25000"/>
                  </a:prstClr>
                </a:solidFill>
              </a:rPr>
              <a:pPr/>
              <a:t>11/14/2024</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23301714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831F3B-0CB8-3743-AFB9-710E8B95EFBB}" type="datetime1">
              <a:rPr lang="en-US" smtClean="0">
                <a:solidFill>
                  <a:prstClr val="black">
                    <a:lumMod val="75000"/>
                    <a:lumOff val="25000"/>
                  </a:prstClr>
                </a:solidFill>
              </a:rPr>
              <a:pPr/>
              <a:t>11/14/2024</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655065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B634D085-3135-FC4A-9A84-231E84B61035}" type="datetime1">
              <a:rPr lang="en-US" smtClean="0">
                <a:solidFill>
                  <a:prstClr val="black">
                    <a:lumMod val="75000"/>
                    <a:lumOff val="25000"/>
                  </a:prstClr>
                </a:solidFill>
              </a:rPr>
              <a:pPr/>
              <a:t>11/14/2024</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11905936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solidFill>
                <a:prstClr val="black"/>
              </a:solidFill>
            </a:endParaRPr>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FB5C6980-FB3F-B643-BBDA-B1757172054E}" type="datetime1">
              <a:rPr lang="en-US" smtClean="0">
                <a:solidFill>
                  <a:prstClr val="black">
                    <a:lumMod val="75000"/>
                    <a:lumOff val="25000"/>
                  </a:prstClr>
                </a:solidFill>
              </a:rPr>
              <a:pPr/>
              <a:t>11/14/2024</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0050649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C935DF3-9DEA-544D-8F00-A2AC9DF52A4B}" type="datetime1">
              <a:rPr lang="en-US" smtClean="0">
                <a:solidFill>
                  <a:prstClr val="black">
                    <a:lumMod val="75000"/>
                    <a:lumOff val="25000"/>
                  </a:prstClr>
                </a:solidFill>
              </a:rPr>
              <a:pPr/>
              <a:t>11/14/2024</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40328916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AB1105CF-9EA3-6E4A-B446-49944784288B}" type="datetime1">
              <a:rPr lang="en-US" smtClean="0">
                <a:solidFill>
                  <a:prstClr val="black">
                    <a:lumMod val="75000"/>
                    <a:lumOff val="25000"/>
                  </a:prstClr>
                </a:solidFill>
              </a:rPr>
              <a:pPr/>
              <a:t>11/14/2024</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266788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88D68B0-69D4-C442-8BE8-D78CC592EE29}" type="datetime1">
              <a:rPr lang="en-US" smtClean="0">
                <a:solidFill>
                  <a:prstClr val="black">
                    <a:lumMod val="75000"/>
                    <a:lumOff val="25000"/>
                  </a:prstClr>
                </a:solidFill>
              </a:rPr>
              <a:pPr/>
              <a:t>11/14/2024</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62810727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1F899A1-0085-4047-8521-4C6E88495644}" type="datetime1">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8764585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2245513-CCD9-BF44-AF3C-BE8B0074F8E4}" type="datetime1">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1265589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E4E69F-4642-024C-8218-7783E0016BBC}" type="datetime1">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32147260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87935AA-3EEA-4E4A-AAA8-EB53B8142E5C}" type="datetime1">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7787601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2FC2FF5-857A-9348-8EB2-11D856F360AB}" type="datetime1">
              <a:rPr lang="en-US" smtClean="0"/>
              <a:t>11/14/2024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61862301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6F0E36F-906D-344A-A949-C52B74620049}" type="datetime1">
              <a:rPr lang="en-US" smtClean="0"/>
              <a:t>11/14/2024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6333862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9CB588-7288-D04E-904A-CDCE244D580E}" type="datetime1">
              <a:rPr lang="en-US" smtClean="0"/>
              <a:t>11/14/2024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9015224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6D5D81-43A6-3F49-B307-3F9BBA124F23}" type="datetime1">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5169905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6B1EA0-6DD3-504A-8908-E971883387B0}" type="datetime1">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3669655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DB6B5274-5AC2-BC41-98DA-ADE40ECE0F39}" type="datetime1">
              <a:rPr lang="en-US" smtClean="0"/>
              <a:t>11/14/2024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146040690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E15BFCA8-EF2C-1647-8362-8B88070EA177}" type="datetime1">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774695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1D63F98-41A7-214D-9D1E-B369563BBE09}" type="datetime1">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10893933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C14E1FBA-CBBF-0E4F-B88D-32EF928D3AC7}" type="datetime1">
              <a:rPr lang="en-US" smtClean="0"/>
              <a:t>11/14/2024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178926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423D41A-B76F-734D-8195-99F8976B7155}" type="datetime1">
              <a:rPr lang="en-US" smtClean="0"/>
              <a:t>11/14/2024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417381366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p>
            <a:fld id="{DBC38028-5B1C-49D3-BF22-2CE9385E6DA2}"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36781005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6EC633E-2298-204E-AACF-E24EFF406AAF}" type="datetime1">
              <a:rPr lang="en-US" smtClean="0">
                <a:solidFill>
                  <a:prstClr val="black">
                    <a:lumMod val="75000"/>
                    <a:lumOff val="25000"/>
                  </a:prstClr>
                </a:solidFill>
              </a:rPr>
              <a:pPr/>
              <a:t>11/14/2024</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81139060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56AAD53-932E-6744-A7B5-E9D56713AA93}" type="datetime1">
              <a:rPr lang="en-US" smtClean="0">
                <a:solidFill>
                  <a:prstClr val="black">
                    <a:lumMod val="75000"/>
                    <a:lumOff val="25000"/>
                  </a:prstClr>
                </a:solidFill>
              </a:rPr>
              <a:pPr/>
              <a:t>11/14/2024</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44570968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3DFCC7-1B5D-4E46-84A5-178B98047B80}" type="datetime1">
              <a:rPr lang="en-US" smtClean="0">
                <a:solidFill>
                  <a:prstClr val="black">
                    <a:lumMod val="75000"/>
                    <a:lumOff val="25000"/>
                  </a:prstClr>
                </a:solidFill>
              </a:rPr>
              <a:pPr/>
              <a:t>11/14/2024</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9336310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162845D-97EE-F445-AA82-55CB33116414}" type="datetime1">
              <a:rPr lang="en-US" smtClean="0">
                <a:solidFill>
                  <a:prstClr val="black">
                    <a:lumMod val="75000"/>
                    <a:lumOff val="25000"/>
                  </a:prstClr>
                </a:solidFill>
              </a:rPr>
              <a:pPr/>
              <a:t>11/14/2024</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57974759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250BF4-8988-BE4B-A0D9-5982AE90C1B1}" type="datetime1">
              <a:rPr lang="en-US" smtClean="0">
                <a:solidFill>
                  <a:prstClr val="black">
                    <a:lumMod val="75000"/>
                    <a:lumOff val="25000"/>
                  </a:prstClr>
                </a:solidFill>
              </a:rPr>
              <a:pPr/>
              <a:t>11/14/2024</a:t>
            </a:fld>
            <a:endParaRPr lang="en-US">
              <a:solidFill>
                <a:prstClr val="black">
                  <a:lumMod val="75000"/>
                  <a:lumOff val="25000"/>
                </a:prstClr>
              </a:solidFill>
            </a:endParaRPr>
          </a:p>
        </p:txBody>
      </p:sp>
      <p:sp>
        <p:nvSpPr>
          <p:cNvPr id="8" name="Footer Placeholder 7"/>
          <p:cNvSpPr>
            <a:spLocks noGrp="1"/>
          </p:cNvSpPr>
          <p:nvPr>
            <p:ph type="ftr" sz="quarter" idx="11"/>
          </p:nvPr>
        </p:nvSpPr>
        <p:spPr/>
        <p:txBody>
          <a:bodyPr/>
          <a:lstStyle/>
          <a:p>
            <a:endParaRPr lang="en-US">
              <a:solidFill>
                <a:prstClr val="white">
                  <a:lumMod val="50000"/>
                </a:prstClr>
              </a:solidFill>
            </a:endParaRPr>
          </a:p>
        </p:txBody>
      </p:sp>
      <p:sp>
        <p:nvSpPr>
          <p:cNvPr id="9" name="Slide Number Placeholder 8"/>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235520633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EE871F8-0597-BE4B-8995-43A43442923E}" type="datetime1">
              <a:rPr lang="en-US" smtClean="0">
                <a:solidFill>
                  <a:prstClr val="black">
                    <a:lumMod val="75000"/>
                    <a:lumOff val="25000"/>
                  </a:prstClr>
                </a:solidFill>
              </a:rPr>
              <a:pPr/>
              <a:t>11/14/2024</a:t>
            </a:fld>
            <a:endParaRPr lang="en-US">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64014313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6C6356-ED15-9E40-8BB7-7D9094231F3D}" type="datetime1">
              <a:rPr lang="en-US" smtClean="0">
                <a:solidFill>
                  <a:prstClr val="black">
                    <a:lumMod val="75000"/>
                    <a:lumOff val="25000"/>
                  </a:prstClr>
                </a:solidFill>
              </a:rPr>
              <a:pPr/>
              <a:t>11/14/2024</a:t>
            </a:fld>
            <a:endParaRPr lang="en-US">
              <a:solidFill>
                <a:prstClr val="black">
                  <a:lumMod val="75000"/>
                  <a:lumOff val="25000"/>
                </a:prstClr>
              </a:solidFill>
            </a:endParaRPr>
          </a:p>
        </p:txBody>
      </p:sp>
      <p:sp>
        <p:nvSpPr>
          <p:cNvPr id="3" name="Footer Placeholder 2"/>
          <p:cNvSpPr>
            <a:spLocks noGrp="1"/>
          </p:cNvSpPr>
          <p:nvPr>
            <p:ph type="ftr" sz="quarter" idx="11"/>
          </p:nvPr>
        </p:nvSpPr>
        <p:spPr/>
        <p:txBody>
          <a:bodyPr/>
          <a:lstStyle/>
          <a:p>
            <a:endParaRPr lang="en-US">
              <a:solidFill>
                <a:prstClr val="white">
                  <a:lumMod val="50000"/>
                </a:prstClr>
              </a:solidFill>
            </a:endParaRPr>
          </a:p>
        </p:txBody>
      </p:sp>
      <p:sp>
        <p:nvSpPr>
          <p:cNvPr id="4" name="Slide Number Placeholder 3"/>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64963882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3BFDCC3-7787-B94B-8E9A-4B130A91D447}" type="datetime1">
              <a:rPr lang="en-US" smtClean="0">
                <a:solidFill>
                  <a:prstClr val="black">
                    <a:lumMod val="75000"/>
                    <a:lumOff val="25000"/>
                  </a:prstClr>
                </a:solidFill>
              </a:rPr>
              <a:pPr/>
              <a:t>11/14/2024</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47435426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E137E5-D1D0-9749-AFE5-370792A74CE6}" type="datetime1">
              <a:rPr lang="en-US" smtClean="0">
                <a:solidFill>
                  <a:prstClr val="black">
                    <a:lumMod val="75000"/>
                    <a:lumOff val="25000"/>
                  </a:prstClr>
                </a:solidFill>
              </a:rPr>
              <a:pPr/>
              <a:t>11/14/2024</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68580133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4B506F6A-AC1A-774B-A74A-33E90EC9254E}" type="datetime1">
              <a:rPr lang="en-US" smtClean="0">
                <a:solidFill>
                  <a:prstClr val="black">
                    <a:lumMod val="75000"/>
                    <a:lumOff val="25000"/>
                  </a:prstClr>
                </a:solidFill>
              </a:rPr>
              <a:pPr/>
              <a:t>11/14/2024</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353228233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solidFill>
                <a:prstClr val="black"/>
              </a:solidFill>
            </a:endParaRPr>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81658234-11CC-E84A-A484-707AFF7FC114}" type="datetime1">
              <a:rPr lang="en-US" smtClean="0">
                <a:solidFill>
                  <a:prstClr val="black">
                    <a:lumMod val="75000"/>
                    <a:lumOff val="25000"/>
                  </a:prstClr>
                </a:solidFill>
              </a:rPr>
              <a:pPr/>
              <a:t>11/14/2024</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93100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3A8A679-79CD-7C4C-B43E-7A7F72D5077A}" type="datetime1">
              <a:rPr lang="en-US" smtClean="0">
                <a:solidFill>
                  <a:prstClr val="black">
                    <a:lumMod val="75000"/>
                    <a:lumOff val="25000"/>
                  </a:prstClr>
                </a:solidFill>
              </a:rPr>
              <a:pPr/>
              <a:t>11/14/2024</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64374777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29674BE0-4447-9D40-9A24-D851C2136A27}" type="datetime1">
              <a:rPr lang="en-US" smtClean="0">
                <a:solidFill>
                  <a:prstClr val="black">
                    <a:lumMod val="75000"/>
                    <a:lumOff val="25000"/>
                  </a:prstClr>
                </a:solidFill>
              </a:rPr>
              <a:pPr/>
              <a:t>11/14/2024</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986020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7E5AD2E-853D-3E4B-8412-10F295485E76}" type="datetime1">
              <a:rPr lang="en-US" smtClean="0">
                <a:solidFill>
                  <a:prstClr val="black">
                    <a:lumMod val="75000"/>
                    <a:lumOff val="25000"/>
                  </a:prstClr>
                </a:solidFill>
              </a:rPr>
              <a:pPr/>
              <a:t>11/14/2024</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64506781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06393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3.jpe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4.gi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image" Target="../media/image4.gif"/><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3.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6" Type="http://schemas.openxmlformats.org/officeDocument/2006/relationships/image" Target="../media/image4.gif"/><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theme" Target="../theme/theme4.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image" Target="../media/image4.gif"/><Relationship Id="rId2" Type="http://schemas.openxmlformats.org/officeDocument/2006/relationships/slideLayout" Target="../slideLayouts/slideLayout43.xml"/><Relationship Id="rId16" Type="http://schemas.openxmlformats.org/officeDocument/2006/relationships/theme" Target="../theme/theme5.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17" Type="http://schemas.openxmlformats.org/officeDocument/2006/relationships/image" Target="../media/image4.gif"/><Relationship Id="rId2" Type="http://schemas.openxmlformats.org/officeDocument/2006/relationships/slideLayout" Target="../slideLayouts/slideLayout58.xml"/><Relationship Id="rId16" Type="http://schemas.openxmlformats.org/officeDocument/2006/relationships/theme" Target="../theme/theme6.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2013UCLAAndersonLogoScreen4-3.gif"/>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4" name="Picture 13"/>
          <p:cNvPicPr>
            <a:picLocks/>
          </p:cNvPicPr>
          <p:nvPr userDrawn="1"/>
        </p:nvPicPr>
        <p:blipFill>
          <a:blip r:embed="rId5"/>
          <a:stretch>
            <a:fillRect/>
          </a:stretch>
        </p:blipFill>
        <p:spPr>
          <a:xfrm>
            <a:off x="786049" y="5935664"/>
            <a:ext cx="1973580" cy="381000"/>
          </a:xfrm>
          <a:prstGeom prst="rect">
            <a:avLst/>
          </a:prstGeom>
        </p:spPr>
      </p:pic>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7297" y="1417639"/>
            <a:ext cx="7934131" cy="4708525"/>
          </a:xfrm>
          <a:prstGeom prst="rect">
            <a:avLst/>
          </a:prstGeom>
        </p:spPr>
        <p:txBody>
          <a:bodyPr vert="horz" lIns="91440" tIns="45720" rIns="91440" bIns="45720" rtlCol="0">
            <a:normAutofit/>
          </a:bodyPr>
          <a:lstStyle/>
          <a:p>
            <a:pPr lvl="0"/>
            <a:r>
              <a:rPr lang="en-US" dirty="0"/>
              <a:t>Click to edit Master text styles</a:t>
            </a:r>
          </a:p>
        </p:txBody>
      </p:sp>
      <p:sp>
        <p:nvSpPr>
          <p:cNvPr id="4" name="Date Placeholder 3"/>
          <p:cNvSpPr>
            <a:spLocks noGrp="1"/>
          </p:cNvSpPr>
          <p:nvPr>
            <p:ph type="dt" sz="half" idx="2"/>
          </p:nvPr>
        </p:nvSpPr>
        <p:spPr>
          <a:xfrm>
            <a:off x="151030" y="6356351"/>
            <a:ext cx="2133600" cy="365125"/>
          </a:xfrm>
          <a:prstGeom prst="rect">
            <a:avLst/>
          </a:prstGeom>
        </p:spPr>
        <p:txBody>
          <a:bodyPr vert="horz" lIns="91440" tIns="45720" rIns="91440" bIns="45720" rtlCol="0" anchor="ctr"/>
          <a:lstStyle>
            <a:lvl1pPr algn="l">
              <a:defRPr sz="1000" kern="900" spc="400">
                <a:solidFill>
                  <a:schemeClr val="bg1"/>
                </a:solidFill>
                <a:latin typeface=""/>
              </a:defRPr>
            </a:lvl1pPr>
          </a:lstStyle>
          <a:p>
            <a:fld id="{BF8D68B6-7B24-6146-BD9E-412DC96CF560}" type="datetimeFigureOut">
              <a:rPr lang="en-US" smtClean="0"/>
              <a:pPr/>
              <a:t>11/14/2024</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4290648545"/>
      </p:ext>
    </p:extLst>
  </p:cSld>
  <p:clrMap bg1="lt1" tx1="dk1" bg2="lt2" tx2="dk2" accent1="accent1" accent2="accent2" accent3="accent3" accent4="accent4" accent5="accent5" accent6="accent6" hlink="hlink" folHlink="folHlink"/>
  <p:sldLayoutIdLst>
    <p:sldLayoutId id="2147483712" r:id="rId1"/>
    <p:sldLayoutId id="2147483715" r:id="rId2"/>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3000" b="0" i="0" kern="1200" cap="all" spc="400">
          <a:solidFill>
            <a:schemeClr val="bg1"/>
          </a:solidFill>
          <a:latin typeface="Whitney Book"/>
          <a:ea typeface="+mj-ea"/>
          <a:cs typeface="+mj-cs"/>
        </a:defRPr>
      </a:lvl1pPr>
    </p:titleStyle>
    <p:bodyStyle>
      <a:lvl1pPr marL="0" indent="0" algn="l" defTabSz="457200" rtl="0" eaLnBrk="1" latinLnBrk="0" hangingPunct="1">
        <a:spcBef>
          <a:spcPct val="20000"/>
        </a:spcBef>
        <a:buClr>
          <a:srgbClr val="1B8BD5"/>
        </a:buClr>
        <a:buFontTx/>
        <a:buNone/>
        <a:defRPr sz="3200" kern="1100" spc="50" normalizeH="0" baseline="0">
          <a:solidFill>
            <a:schemeClr val="tx2">
              <a:lumMod val="75000"/>
            </a:schemeClr>
          </a:solidFill>
          <a:latin typeface="Whitney-Book"/>
          <a:ea typeface="+mn-ea"/>
          <a:cs typeface="+mn-cs"/>
        </a:defRPr>
      </a:lvl1pPr>
      <a:lvl2pPr marL="457200" indent="0" algn="l" defTabSz="457200" rtl="0" eaLnBrk="1" latinLnBrk="0" hangingPunct="1">
        <a:spcBef>
          <a:spcPct val="20000"/>
        </a:spcBef>
        <a:buClr>
          <a:srgbClr val="1B8BD5"/>
        </a:buClr>
        <a:buFontTx/>
        <a:buNone/>
        <a:defRPr sz="2800" kern="1100" spc="50" normalizeH="0" baseline="0">
          <a:solidFill>
            <a:schemeClr val="tx2">
              <a:lumMod val="75000"/>
            </a:schemeClr>
          </a:solidFill>
          <a:latin typeface="Whitney-Book"/>
          <a:ea typeface="+mn-ea"/>
          <a:cs typeface="+mn-cs"/>
        </a:defRPr>
      </a:lvl2pPr>
      <a:lvl3pPr marL="914400" indent="0" algn="l" defTabSz="457200" rtl="0" eaLnBrk="1" latinLnBrk="0" hangingPunct="1">
        <a:spcBef>
          <a:spcPct val="20000"/>
        </a:spcBef>
        <a:buClr>
          <a:srgbClr val="1B8BD5"/>
        </a:buClr>
        <a:buFontTx/>
        <a:buNone/>
        <a:defRPr sz="2400" kern="1100" spc="50" normalizeH="0" baseline="0">
          <a:solidFill>
            <a:schemeClr val="tx2">
              <a:lumMod val="75000"/>
            </a:schemeClr>
          </a:solidFill>
          <a:latin typeface="Whitney-Book"/>
          <a:ea typeface="+mn-ea"/>
          <a:cs typeface="+mn-cs"/>
        </a:defRPr>
      </a:lvl3pPr>
      <a:lvl4pPr marL="1371600" indent="0" algn="l" defTabSz="457200" rtl="0" eaLnBrk="1" latinLnBrk="0" hangingPunct="1">
        <a:spcBef>
          <a:spcPct val="20000"/>
        </a:spcBef>
        <a:buClr>
          <a:srgbClr val="1B8BD5"/>
        </a:buClr>
        <a:buFontTx/>
        <a:buNone/>
        <a:defRPr sz="2000" kern="1100" spc="50" normalizeH="0" baseline="0">
          <a:solidFill>
            <a:schemeClr val="tx2">
              <a:lumMod val="75000"/>
            </a:schemeClr>
          </a:solidFill>
          <a:latin typeface="Whitney-Book"/>
          <a:ea typeface="+mn-ea"/>
          <a:cs typeface="+mn-cs"/>
        </a:defRPr>
      </a:lvl4pPr>
      <a:lvl5pPr marL="1828800" indent="0" algn="l" defTabSz="457200" rtl="0" eaLnBrk="1" latinLnBrk="0" hangingPunct="1">
        <a:spcBef>
          <a:spcPct val="20000"/>
        </a:spcBef>
        <a:buClr>
          <a:srgbClr val="1B8BD5"/>
        </a:buClr>
        <a:buFontTx/>
        <a:buNone/>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810698" y="0"/>
            <a:ext cx="9954698" cy="4782311"/>
          </a:xfrm>
          <a:prstGeom prst="rect">
            <a:avLst/>
          </a:prstGeom>
        </p:spPr>
      </p:pic>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52530" y="1600201"/>
            <a:ext cx="7836326"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E111D7-C283-8E4B-AB2F-B2B17B0FC9BC}" type="datetimeFigureOut">
              <a:rPr lang="en-US" smtClean="0"/>
              <a:t>11/14/2024</a:t>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4DDD2-D94C-1147-A389-2CD6A7EEF184}" type="slidenum">
              <a:rPr lang="en-US" smtClean="0"/>
              <a:t>‹#›</a:t>
            </a:fld>
            <a:endParaRPr lang="en-US"/>
          </a:p>
        </p:txBody>
      </p:sp>
      <p:pic>
        <p:nvPicPr>
          <p:cNvPr id="8" name="Picture 7" descr="AndersonLogo_TITN.gif"/>
          <p:cNvPicPr>
            <a:picLocks/>
          </p:cNvPicPr>
          <p:nvPr userDrawn="1"/>
        </p:nvPicPr>
        <p:blipFill>
          <a:blip r:embed="rId14" cstate="screen">
            <a:extLst>
              <a:ext uri="{28A0092B-C50C-407E-A947-70E740481C1C}">
                <a14:useLocalDpi xmlns:a14="http://schemas.microsoft.com/office/drawing/2010/main"/>
              </a:ext>
            </a:extLst>
          </a:blip>
          <a:stretch>
            <a:fillRect/>
          </a:stretch>
        </p:blipFill>
        <p:spPr>
          <a:xfrm>
            <a:off x="1205668" y="6197715"/>
            <a:ext cx="2194560" cy="438573"/>
          </a:xfrm>
          <a:prstGeom prst="rect">
            <a:avLst/>
          </a:prstGeom>
        </p:spPr>
      </p:pic>
    </p:spTree>
    <p:extLst>
      <p:ext uri="{BB962C8B-B14F-4D97-AF65-F5344CB8AC3E}">
        <p14:creationId xmlns:p14="http://schemas.microsoft.com/office/powerpoint/2010/main" val="342558120"/>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2800" kern="1200" cap="all" spc="4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1pPr>
      <a:lvl2pPr marL="742950" indent="-28575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2pPr>
      <a:lvl3pPr marL="11430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3pPr>
      <a:lvl4pPr marL="16002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4pPr>
      <a:lvl5pPr marL="20574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BF8D68B6-7B24-6146-BD9E-412DC96CF560}" type="datetimeFigureOut">
              <a:rPr lang="en-US" smtClean="0"/>
              <a:pPr/>
              <a:t>11/14/2024</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2217867851"/>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7" r:id="rId10"/>
    <p:sldLayoutId id="2147483734" r:id="rId11"/>
    <p:sldLayoutId id="2147483735" r:id="rId12"/>
    <p:sldLayoutId id="2147483738" r:id="rId13"/>
    <p:sldLayoutId id="2147483768" r:id="rId14"/>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4E0049A5-3BC7-C248-9551-30ECA52D2877}" type="datetime1">
              <a:rPr lang="en-US" smtClean="0">
                <a:solidFill>
                  <a:prstClr val="black">
                    <a:lumMod val="75000"/>
                    <a:lumOff val="25000"/>
                  </a:prstClr>
                </a:solidFill>
              </a:rPr>
              <a:pPr/>
              <a:t>11/14/2024</a:t>
            </a:fld>
            <a:endParaRPr lang="en-US" dirty="0">
              <a:solidFill>
                <a:prstClr val="black">
                  <a:lumMod val="75000"/>
                  <a:lumOff val="25000"/>
                </a:prstClr>
              </a:solidFill>
            </a:endParaRPr>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solidFill>
                <a:prstClr val="white">
                  <a:lumMod val="50000"/>
                </a:prstClr>
              </a:solidFill>
            </a:endParaRPr>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847157103"/>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84078B1F-B2EE-D743-B0A9-AD5D4736074E}" type="datetime1">
              <a:rPr lang="en-US" smtClean="0"/>
              <a:t>11/14/2024</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3497365116"/>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8E90A6E0-D48F-F943-96BF-CEC2ED7DA21A}" type="datetime1">
              <a:rPr lang="en-US" smtClean="0">
                <a:solidFill>
                  <a:prstClr val="black">
                    <a:lumMod val="75000"/>
                    <a:lumOff val="25000"/>
                  </a:prstClr>
                </a:solidFill>
              </a:rPr>
              <a:pPr/>
              <a:t>11/14/2024</a:t>
            </a:fld>
            <a:endParaRPr lang="en-US" dirty="0">
              <a:solidFill>
                <a:prstClr val="black">
                  <a:lumMod val="75000"/>
                  <a:lumOff val="25000"/>
                </a:prstClr>
              </a:solidFill>
            </a:endParaRPr>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solidFill>
                <a:prstClr val="white">
                  <a:lumMod val="50000"/>
                </a:prstClr>
              </a:solidFill>
            </a:endParaRPr>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2087325818"/>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 id="2147483848" r:id="rId13"/>
    <p:sldLayoutId id="2147483849" r:id="rId14"/>
    <p:sldLayoutId id="2147483850" r:id="rId15"/>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5.xml"/><Relationship Id="rId1" Type="http://schemas.openxmlformats.org/officeDocument/2006/relationships/tags" Target="../tags/tag2.xml"/><Relationship Id="rId4" Type="http://schemas.openxmlformats.org/officeDocument/2006/relationships/hyperlink" Target="https://achieve.macmillanlearning.com/courses/cjg58a/mycourse"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7.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5.xml"/><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5.xml"/><Relationship Id="rId1" Type="http://schemas.openxmlformats.org/officeDocument/2006/relationships/tags" Target="../tags/tag4.xml"/><Relationship Id="rId6" Type="http://schemas.openxmlformats.org/officeDocument/2006/relationships/hyperlink" Target="https://camelcamelcamel.com/" TargetMode="External"/><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5.xml"/><Relationship Id="rId1" Type="http://schemas.openxmlformats.org/officeDocument/2006/relationships/tags" Target="../tags/tag5.xml"/><Relationship Id="rId5" Type="http://schemas.openxmlformats.org/officeDocument/2006/relationships/image" Target="../media/image26.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5.xml"/><Relationship Id="rId1" Type="http://schemas.openxmlformats.org/officeDocument/2006/relationships/tags" Target="../tags/tag6.xml"/><Relationship Id="rId5" Type="http://schemas.openxmlformats.org/officeDocument/2006/relationships/image" Target="../media/image140.png"/><Relationship Id="rId4" Type="http://schemas.openxmlformats.org/officeDocument/2006/relationships/image" Target="../media/image240.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0.xml"/><Relationship Id="rId1" Type="http://schemas.openxmlformats.org/officeDocument/2006/relationships/tags" Target="../tags/tag7.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5.xml"/><Relationship Id="rId1" Type="http://schemas.openxmlformats.org/officeDocument/2006/relationships/tags" Target="../tags/tag8.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5.xml"/><Relationship Id="rId1" Type="http://schemas.openxmlformats.org/officeDocument/2006/relationships/tags" Target="../tags/tag9.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15.xml"/><Relationship Id="rId5" Type="http://schemas.openxmlformats.org/officeDocument/2006/relationships/image" Target="../media/image34.jpg"/><Relationship Id="rId4" Type="http://schemas.openxmlformats.org/officeDocument/2006/relationships/image" Target="../media/image33.jpeg"/></Relationships>
</file>

<file path=ppt/slides/_rels/slide35.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3.xml"/><Relationship Id="rId7" Type="http://schemas.openxmlformats.org/officeDocument/2006/relationships/image" Target="../media/image40.png"/><Relationship Id="rId2" Type="http://schemas.openxmlformats.org/officeDocument/2006/relationships/slideLayout" Target="../slideLayouts/slideLayout15.xml"/><Relationship Id="rId1" Type="http://schemas.openxmlformats.org/officeDocument/2006/relationships/tags" Target="../tags/tag10.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5.xml"/><Relationship Id="rId1" Type="http://schemas.openxmlformats.org/officeDocument/2006/relationships/tags" Target="../tags/tag11.xml"/><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43.gif"/><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0.xml"/><Relationship Id="rId1" Type="http://schemas.openxmlformats.org/officeDocument/2006/relationships/tags" Target="../tags/tag12.xml"/><Relationship Id="rId4" Type="http://schemas.openxmlformats.org/officeDocument/2006/relationships/image" Target="../media/image44.png"/></Relationships>
</file>

<file path=ppt/slides/_rels/slide41.xml.rels><?xml version="1.0" encoding="UTF-8" standalone="yes"?>
<Relationships xmlns="http://schemas.openxmlformats.org/package/2006/relationships"><Relationship Id="rId3" Type="http://schemas.openxmlformats.org/officeDocument/2006/relationships/hyperlink" Target="https://finance.yahoo.com/news/airlines-introduce-economy-minus-class-210058085.html" TargetMode="External"/><Relationship Id="rId2" Type="http://schemas.openxmlformats.org/officeDocument/2006/relationships/notesSlide" Target="../notesSlides/notesSlide38.xml"/><Relationship Id="rId1" Type="http://schemas.openxmlformats.org/officeDocument/2006/relationships/slideLayout" Target="../slideLayouts/slideLayout15.xml"/><Relationship Id="rId6" Type="http://schemas.openxmlformats.org/officeDocument/2006/relationships/slide" Target="slide76.xml"/><Relationship Id="rId5" Type="http://schemas.openxmlformats.org/officeDocument/2006/relationships/slide" Target="slide15.xml"/><Relationship Id="rId4" Type="http://schemas.openxmlformats.org/officeDocument/2006/relationships/image" Target="../media/image45.png"/></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9.xml"/><Relationship Id="rId1" Type="http://schemas.openxmlformats.org/officeDocument/2006/relationships/slideLayout" Target="../slideLayouts/slideLayout15.xml"/><Relationship Id="rId5" Type="http://schemas.openxmlformats.org/officeDocument/2006/relationships/image" Target="../media/image48.png"/><Relationship Id="rId4" Type="http://schemas.openxmlformats.org/officeDocument/2006/relationships/image" Target="../media/image47.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5.xml"/><Relationship Id="rId1" Type="http://schemas.openxmlformats.org/officeDocument/2006/relationships/tags" Target="../tags/tag13.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5.xml"/><Relationship Id="rId1" Type="http://schemas.openxmlformats.org/officeDocument/2006/relationships/tags" Target="../tags/tag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4.xml"/><Relationship Id="rId1" Type="http://schemas.openxmlformats.org/officeDocument/2006/relationships/slideLayout" Target="../slideLayouts/slideLayout15.xml"/><Relationship Id="rId5" Type="http://schemas.openxmlformats.org/officeDocument/2006/relationships/image" Target="../media/image49.png"/><Relationship Id="rId4" Type="http://schemas.microsoft.com/office/2007/relationships/hdphoto" Target="../media/hdphoto1.wdp"/></Relationships>
</file>

<file path=ppt/slides/_rels/slide48.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45.xml"/><Relationship Id="rId1" Type="http://schemas.openxmlformats.org/officeDocument/2006/relationships/slideLayout" Target="../slideLayouts/slideLayout15.xml"/><Relationship Id="rId4" Type="http://schemas.openxmlformats.org/officeDocument/2006/relationships/image" Target="../media/image51.emf"/></Relationships>
</file>

<file path=ppt/slides/_rels/slide49.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notesSlide" Target="../notesSlides/notesSlide46.xml"/><Relationship Id="rId1" Type="http://schemas.openxmlformats.org/officeDocument/2006/relationships/slideLayout" Target="../slideLayouts/slideLayout15.xml"/><Relationship Id="rId4" Type="http://schemas.openxmlformats.org/officeDocument/2006/relationships/image" Target="../media/image52.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notesSlide" Target="../notesSlides/notesSlide50.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1.xml"/><Relationship Id="rId1" Type="http://schemas.openxmlformats.org/officeDocument/2006/relationships/slideLayout" Target="../slideLayouts/slideLayout15.xml"/><Relationship Id="rId4" Type="http://schemas.openxmlformats.org/officeDocument/2006/relationships/image" Target="../media/image53.jp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0.xml"/><Relationship Id="rId1" Type="http://schemas.openxmlformats.org/officeDocument/2006/relationships/tags" Target="../tags/tag15.xml"/><Relationship Id="rId4" Type="http://schemas.openxmlformats.org/officeDocument/2006/relationships/image" Target="../media/image54.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54.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3" Type="http://schemas.openxmlformats.org/officeDocument/2006/relationships/image" Target="../media/image540.png"/><Relationship Id="rId2" Type="http://schemas.openxmlformats.org/officeDocument/2006/relationships/notesSlide" Target="../notesSlides/notesSlide55.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3" Type="http://schemas.openxmlformats.org/officeDocument/2006/relationships/hyperlink" Target="https://www.wsj.com/video/behind-costco-treasure-hunt-shopping-strategy/9E8E4F54-6398-4A23-847E-2486F8571B0B.html?mod=hp_lead_pos13" TargetMode="External"/><Relationship Id="rId2" Type="http://schemas.openxmlformats.org/officeDocument/2006/relationships/image" Target="../media/image55.png"/><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9.xml"/><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3" Type="http://schemas.openxmlformats.org/officeDocument/2006/relationships/hyperlink" Target="https://www.themadoptimist.com/" TargetMode="External"/><Relationship Id="rId2" Type="http://schemas.openxmlformats.org/officeDocument/2006/relationships/notesSlide" Target="../notesSlides/notesSlide62.xml"/><Relationship Id="rId1" Type="http://schemas.openxmlformats.org/officeDocument/2006/relationships/slideLayout" Target="../slideLayouts/slideLayout15.xml"/><Relationship Id="rId4" Type="http://schemas.openxmlformats.org/officeDocument/2006/relationships/image" Target="../media/image57.png"/></Relationships>
</file>

<file path=ppt/slides/_rels/slide6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3.xml"/><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4.xml"/><Relationship Id="rId1" Type="http://schemas.openxmlformats.org/officeDocument/2006/relationships/slideLayout" Target="../slideLayouts/slideLayout15.xml"/></Relationships>
</file>

<file path=ppt/slides/_rels/slide6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5.xml"/><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6.xml"/><Relationship Id="rId1" Type="http://schemas.openxmlformats.org/officeDocument/2006/relationships/slideLayout" Target="../slideLayouts/slideLayout15.xml"/></Relationships>
</file>

<file path=ppt/slides/_rels/slide71.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7.xml"/><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_rels/slide7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9.xml"/><Relationship Id="rId1" Type="http://schemas.openxmlformats.org/officeDocument/2006/relationships/slideLayout" Target="../slideLayouts/slideLayout15.xml"/><Relationship Id="rId5" Type="http://schemas.openxmlformats.org/officeDocument/2006/relationships/image" Target="../media/image64.png"/><Relationship Id="rId4" Type="http://schemas.openxmlformats.org/officeDocument/2006/relationships/image" Target="../media/image63.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5.xml"/><Relationship Id="rId1" Type="http://schemas.openxmlformats.org/officeDocument/2006/relationships/tags" Target="../tags/tag16.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15.xml"/><Relationship Id="rId1" Type="http://schemas.openxmlformats.org/officeDocument/2006/relationships/tags" Target="../tags/tag17.xml"/></Relationships>
</file>

<file path=ppt/slides/_rels/slide76.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notesSlide" Target="../notesSlides/notesSlide72.xml"/><Relationship Id="rId1" Type="http://schemas.openxmlformats.org/officeDocument/2006/relationships/slideLayout" Target="../slideLayouts/slideLayout15.xml"/><Relationship Id="rId4" Type="http://schemas.openxmlformats.org/officeDocument/2006/relationships/image" Target="../media/image65.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115" y="4406901"/>
            <a:ext cx="7772400" cy="1362075"/>
          </a:xfrm>
        </p:spPr>
        <p:txBody>
          <a:bodyPr>
            <a:normAutofit/>
          </a:bodyPr>
          <a:lstStyle/>
          <a:p>
            <a:r>
              <a:rPr lang="en-US" dirty="0"/>
              <a:t>Complex Pricing</a:t>
            </a:r>
            <a:br>
              <a:rPr lang="en-US" dirty="0"/>
            </a:br>
            <a:endParaRPr lang="en-US" b="0" dirty="0"/>
          </a:p>
        </p:txBody>
      </p:sp>
      <p:sp>
        <p:nvSpPr>
          <p:cNvPr id="3" name="Text Placeholder 2"/>
          <p:cNvSpPr>
            <a:spLocks noGrp="1"/>
          </p:cNvSpPr>
          <p:nvPr>
            <p:ph type="body" idx="1"/>
          </p:nvPr>
        </p:nvSpPr>
        <p:spPr/>
        <p:txBody>
          <a:bodyPr>
            <a:normAutofit/>
          </a:bodyPr>
          <a:lstStyle/>
          <a:p>
            <a:r>
              <a:rPr lang="en-US" sz="2400" dirty="0"/>
              <a:t>Professor Nico Voigtländer</a:t>
            </a:r>
          </a:p>
          <a:p>
            <a:r>
              <a:rPr lang="en-US" sz="2400" dirty="0"/>
              <a:t>Management 405: Module 6</a:t>
            </a:r>
          </a:p>
        </p:txBody>
      </p:sp>
      <p:pic>
        <p:nvPicPr>
          <p:cNvPr id="4" name="Picture 4" descr="data:image/png;base64,iVBORw0KGgoAAAANSUhEUgAAAgQAAABiCAMAAAAY7jvKAAAAw1BMVEX///8Qe7YjHyAAdrQAAACEttYAcrLF3OsbFhcgHB0AeLUIAAAdGBkAdbNqaGkPCAr5+flbWVre3t4WEBH09PR6eHkchr0zLzCYl5hUUVI7ODlwbm9VncgUDg/T09MuKivAv8Dn5ufv9fmMiopMSEmlpKWwr69JlsREQUKCgIE3NDXb2tuLiYrDw8PNzMxsamuqqaptq9Dk8Pat0eWQutibxd7Q4+9opcwwjL+4z+PK4O7a7PSbxN4iib681eePttVssNPmOyI8AAAa7UlEQVR4nO2dB3ujPBKACdY6NJvqHgy4EFzjzbZs+XL3/3/VqUtgitfxnXO7nufuy9oSAjMvo5lRQfnw58hP5SbnSeuPkfb9te/l/63c/TFyg+BsubbqLic3CM6Wa6vucnKD4Gy5tuouJzcIzpZrq+5ycoPgbLm26i4nNwjOlmur7nJyg+BsubbqLic3CM6Wa6vucnKD4Gy5tuouJzcIzpZrq+5y0gRB0lthmTtvu2M70szyba28K7m26i4nTRAMQYgF7N92x5a4HXP0Rpbek1xbdZeTJggyS8USrt52x5Y2akVzbxC8Q2mAYK/qBAI9C950x24QvGNpgGAeqlT8+E137AbBO5Z6CIKxziB4Y39wg+AdSz0EO4C7AkwBeFN/cIPgHUs9BBMfMRBFGIL0LXfsBsE7lloIkjGKDcK5i/743bfcsRsE71hqIYix5sC0hw3C2nvDHbtB8I6lFgJXwxAoSxP9NQ8V1ZxpnKbxPil+H+yGPbc3jJEzUQKBM02HT6h8WnkByUY0utnFaVx2GtjSPp1P3Kdtuqv0W5IdOnhTeaYz5Nqqu5zUQRAAojjFw/+wRlLZYeQiGUINHEaRCQBQs3lOP8Fy4du+Bv+fHUogcFJ4GC43B+5OHLbF7Y6gA+LMR9kgCmhj7sCCJwGmOu7GeXPiDEcqbcnKtpK5GuKm3FhRvN4YHR0O3DcmPmW5tupqxfidynUQUAMA9RHhAAFISh4CDYrZVTwXaLhUt8xIeqa9EaDJRtUCkyMINiN6GDpSAy5vumujhsFS2WempuskJkl1k9XWLR/kVLlcmxZvybLNIbcGPRNf40E5WLbFzrS6WId0iiqIVBaUq8rodNCfTqdllB10kl77z4+nc1ADgYN7Az2CNnSOVWgPReEQf+NPgkhTuVg6144nf6+C7TDMQZCqcjF0PjPGT9cnXU9CGsAQrGw9V1sLY3aeYGVauTI9XDCgsCuj+mkqH+67F2LgBAj6TE4vMTrt/rfP31/v7++/f//40uoYxwedoNbOL+VD64R6RGog2ODnH+ttbxV7dAKBPiI649oZUwUkWe57VV3rcguxTzWn61Q/fuTJEIRD2jCCIAWkrh+GvkYPY7T1ALMBGrMHYebJEOhulEMIXGoks1kTn2jNH0VNv7A2Puc1Zdw9fHmWzzH78sAse+cL/e5rs1aNl5nytX0iArUQED3bcwXpFCvN3xcK4b3H/+V3mBmLLk0367CzBj6vQiGYmvSjGY3Hvk+fUGLGifL1jFoKCIFHlOhnve285xJVa2tynpVJGbKgj5LRZv2MoEYgUAln/Br1wVuiHEma7+0rrXlf1NEDa+NfMgRG++HHUWfl3L+0860VkSo78y9Y7xSL0QgBdQSm4n5K/QGFAOkDAPg/9mQPsCqn9Pk0B8v9fvcEmO0nEAQuUTQYxRvP2z8BciISfFALgL7StdCGEBxwY4C4ncEuwqcC2JdM6VWA7jQJgiRdE/YAuc4es0Z6iK6RIqKaQ+Ui0nxvv9KarwXL3PrI2vgmWXvjoWJd6KdOvrVO04mNPqr3ubFeMwR7kjKO5A86L+UQ+NhLi0f0hpN5B1STJp2KslloMgSpSRpjykjxs6oPEulQ1HLU3Q6HjjJCB/sTduYpBiTsKWhog7Dn82QmCWp1YrIYBLq+gg9/cCD4qNagQbsnSvO9ZZb9e0Ednc+0YPbAITDav6pc1mdsCjq8tUY730KG4BSL0QgBcQb9Hv4QELNg8v6AQWBPiBX36MQDbCw21IBzH8yz5O5gjavaYkSKjFWGWJUcArubkLuCq9uiJ3eBbdtgFHBDYPd4Ge23QowMg8Cnx8bRJUZBuDTf3BmtWXwmuWWfcRfeePlReaJ7onUGwa+mJxx5BFCck+ODSgiSDN+xkIbwPaKnLSumEFhj9sWOWGIMzYEaEZGbIUQRCEhfoYdCFY7GXVAOAeBGG9sJYQmUdD6EsgwUZ0E8koEUulInEuuZQiBooxcNSvJNZ0jjve0zCD4WuoMOU/jzC9WT0X+uOg3sDhAExj+sRqPb36Yu5Mn9QSUEO2Kzx9SLSvENtTJ2/+j9tGN+AHG9NDTCQIyyJg02eKqIDlh0KZ2MBKM20hyFwFrwQvJwa9sj1SVE4blB7oC4gTayKjQ6sLgjSJJeqrkrtnSWNN1a+kBCeSg+kqx7/9lnDNRtE4EffdHat4YH3Hih/crzqfFBJQREGVyRCZlZANj9oyHiWHjaCxpGKowHOa0QUC4QBBPqZAYJk4D0B7hxCoE0h4V+Y5vuPN15UsdJfAuicC6kdWyyevQncJPjUAhi5RLSCMEjU1vRLnOV/2QFX3MtO7PZ8/Nsxn4qfvSNh6rWjs7LYsnGmk0QBCTBIsYLuliL/hP9SCCwRsKmSxBQkyw/cCueLEqoEV9nYybZQFDTLZgcNqkBHW3b+iDrLhkIW9ID2bkRgYNJNO8wCEQXpjjUs4nLf/NvSiME35gW+4XM3wuz7DSWN37J7f74/PDSb7f7/W+/CBv40Ret/VOvWoP3Qs3eQwMEabH7pC59RL+og8Azj7veOU8bU5sCzbQQGt8jf6JggRRkRfgcN+joW5oJXPLssz4/10/EBCKUNjyKa/+3ELQ+sJoFrQkT8YohaH2TWr1/vOuQ1LBhtO4eEAa4NxGtNZyWp6ggYyemCiogcIhV1ceHlMqSmmlqe+sgSCgEshMuxg42Um4pL9iKHEMAsQkLFUMXdUPEOKl27spj7b1AwANBp9A3G1zpX/CjaojOwPmYHy9o9WEggb3H1r9YnfqeXvgOysn9QQUECdWUbjKhISENGU+CQI57JQhoptjSimJXQKAkXRDmRwjCdcD8z3cLQYsZ+Z9FCHiuiPT2n3mTz49FA25AlAgErLVZPQStT9IlfjnNNayAYGhWPK06Nb51EATUJ5D7aqk7ILFn5B4LcvPLIIBh5SoLTV8yIfbEKe8O0pBf2JUhMPjQQUEVwrJ/xE8qjwxmDyWduPGlT/7QSkWkCrX78iU+v8kSLPIPniR0quEpjmEsNUg9dQhBMEIV9fHUCY5EqYIAWoNp2h0D0w6pidI9lnywc3MEaAD65FwfApYS+lRQWyfnvoscsvKt1JEz8q3d10LQkQ1BczhZB8Hequq3VY1MLamFgDj7klvOQgIcIhLdWBXTO6ogILJJt2uakl6ysMGWhwXJ+DfR/JUhuGO39ksxYcgVhQx9h3sEtYMCBmutiFS+FvM56Z9Pb4CA5QN9WegoLpk5UgtBlz/2TKake5GSRXh0skSOIPCmWHhbCakBnZOANOpPJOeD+iM2Ck+vDQHT7ociBF+lJkSoMKt14wzWadTGfYyv53/Tv6cwUA5BQJN0k1SWlS09eLUQ0NytJm72SBMQJDRtLHXl8y2SFXb5ixD0ABZhOAKcZEYZCxLCqKFkVEg+QlfxkVeGgGUDPhaU255JTQiv/3ttOthgBxWRylViHsF9i/7jKFl5MgR0JFjLp1c94tZbC/Tg1ULgkf7AGtNSh61mI8ZhRPNO/NgYL1m2cWLhCAJyplAYDjKYhcKUmE4uEJmlmCYrcU90bQiq8rxt1gJ6Tnlf3xDPGaxa3dABDw0e2tRwvJ4SH5RCQJPuUf5bh032QQ9sLQTsEfUXMTpu32WxBoFgR+YL2i7NOcfUh8BjAEcQTMnFhJzI2KQ+AQwS6XlGdHLaTqX0JeJnXA0C7qcXn0ZegOYIGcxeNIR+d+ygGl+Pdy1f0fwyLM+n5IvKIKArEHNDPEiWtD">
            <a:extLst>
              <a:ext uri="{FF2B5EF4-FFF2-40B4-BE49-F238E27FC236}">
                <a16:creationId xmlns:a16="http://schemas.microsoft.com/office/drawing/2014/main" id="{E9C01BFD-953B-4576-ACA6-E6FE7DBA0C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925" y="5852606"/>
            <a:ext cx="2686050" cy="514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1087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6862" y="1480457"/>
            <a:ext cx="8118312" cy="5233492"/>
          </a:xfrm>
        </p:spPr>
        <p:txBody>
          <a:bodyPr>
            <a:noAutofit/>
          </a:bodyPr>
          <a:lstStyle/>
          <a:p>
            <a:r>
              <a:rPr lang="en-US" sz="2400" dirty="0"/>
              <a:t>Practice Final Exam now Online</a:t>
            </a:r>
          </a:p>
          <a:p>
            <a:pPr lvl="1"/>
            <a:r>
              <a:rPr lang="en-US" sz="2200" dirty="0"/>
              <a:t>Similar to actual final</a:t>
            </a:r>
          </a:p>
          <a:p>
            <a:r>
              <a:rPr lang="en-US" sz="2400" dirty="0"/>
              <a:t>Final exam: You will have 5 hours</a:t>
            </a:r>
          </a:p>
          <a:p>
            <a:r>
              <a:rPr lang="en-US" sz="2400" dirty="0"/>
              <a:t>We’ll have 2 windows with guaranteed TA availability on Zoom</a:t>
            </a:r>
          </a:p>
          <a:p>
            <a:pPr lvl="1"/>
            <a:r>
              <a:rPr lang="en-US" sz="2200" dirty="0"/>
              <a:t>Saturday, March 19: 9am-2pm</a:t>
            </a:r>
          </a:p>
          <a:p>
            <a:pPr lvl="1"/>
            <a:r>
              <a:rPr lang="en-US" sz="2200" dirty="0"/>
              <a:t>Sunday, March 20: 9am-2pm</a:t>
            </a:r>
          </a:p>
          <a:p>
            <a:pPr lvl="1"/>
            <a:endParaRPr lang="en-US" sz="2200" dirty="0"/>
          </a:p>
          <a:p>
            <a:r>
              <a:rPr lang="en-US" sz="2400" dirty="0"/>
              <a:t>Remember: Many practice problems on </a:t>
            </a:r>
            <a:r>
              <a:rPr lang="en-US" sz="2400" dirty="0">
                <a:hlinkClick r:id="rId4"/>
              </a:rPr>
              <a:t>Achieve</a:t>
            </a:r>
            <a:r>
              <a:rPr lang="en-US" sz="2400" dirty="0"/>
              <a:t>!</a:t>
            </a:r>
          </a:p>
          <a:p>
            <a:endParaRPr lang="en-US" sz="2400" dirty="0"/>
          </a:p>
        </p:txBody>
      </p:sp>
      <p:sp>
        <p:nvSpPr>
          <p:cNvPr id="5" name="Title 4"/>
          <p:cNvSpPr>
            <a:spLocks noGrp="1"/>
          </p:cNvSpPr>
          <p:nvPr>
            <p:ph type="title"/>
          </p:nvPr>
        </p:nvSpPr>
        <p:spPr>
          <a:xfrm>
            <a:off x="457200" y="20639"/>
            <a:ext cx="8229600" cy="1143000"/>
          </a:xfrm>
        </p:spPr>
        <p:txBody>
          <a:bodyPr>
            <a:normAutofit/>
          </a:bodyPr>
          <a:lstStyle/>
          <a:p>
            <a:r>
              <a:rPr lang="en-US" sz="3000" dirty="0"/>
              <a:t>announcements</a:t>
            </a:r>
          </a:p>
        </p:txBody>
      </p:sp>
      <p:sp>
        <p:nvSpPr>
          <p:cNvPr id="2" name="Slide Number Placeholder 1">
            <a:extLst>
              <a:ext uri="{FF2B5EF4-FFF2-40B4-BE49-F238E27FC236}">
                <a16:creationId xmlns:a16="http://schemas.microsoft.com/office/drawing/2014/main" id="{A4F83A1D-3EDB-AD46-8E68-8AFE6F1A437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4DDD2-D94C-1147-A389-2CD6A7EEF184}"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ustDataLst>
      <p:tags r:id="rId1"/>
    </p:custDataLst>
    <p:extLst>
      <p:ext uri="{BB962C8B-B14F-4D97-AF65-F5344CB8AC3E}">
        <p14:creationId xmlns:p14="http://schemas.microsoft.com/office/powerpoint/2010/main" val="6221767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3200" dirty="0">
                <a:cs typeface="Times New Roman" pitchFamily="18" charset="0"/>
              </a:rPr>
              <a:t>agenda for the class</a:t>
            </a:r>
            <a:endParaRPr lang="en-US" dirty="0"/>
          </a:p>
        </p:txBody>
      </p:sp>
      <p:sp>
        <p:nvSpPr>
          <p:cNvPr id="6" name="Rectangle 3"/>
          <p:cNvSpPr>
            <a:spLocks noChangeArrowheads="1"/>
          </p:cNvSpPr>
          <p:nvPr/>
        </p:nvSpPr>
        <p:spPr bwMode="auto">
          <a:xfrm>
            <a:off x="1240270" y="1870610"/>
            <a:ext cx="6561139" cy="4572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lIns="20047" tIns="28399" rIns="20047" bIns="28399" anchor="ctr">
            <a:flatTx/>
          </a:bodyPr>
          <a:lstStyle/>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r>
              <a:rPr kumimoji="0" lang="en-US" sz="1800" b="0" i="0" u="none" strike="noStrike" kern="1200" cap="none" spc="0" normalizeH="0" baseline="0" noProof="0" dirty="0">
                <a:ln>
                  <a:noFill/>
                </a:ln>
                <a:solidFill>
                  <a:prstClr val="black"/>
                </a:solidFill>
                <a:effectLst/>
                <a:uLnTx/>
                <a:uFillTx/>
                <a:latin typeface="Whitney-Book" pitchFamily="50" charset="0"/>
                <a:cs typeface="Times New Roman" pitchFamily="18" charset="0"/>
              </a:rPr>
              <a:t>1. The Economic Way of Thinking</a:t>
            </a:r>
            <a:endParaRPr kumimoji="0" lang="en-US" sz="1800" b="1" i="0" u="none" strike="noStrike" kern="1200" cap="none" spc="0" normalizeH="0" baseline="0" noProof="0" dirty="0">
              <a:ln>
                <a:noFill/>
              </a:ln>
              <a:solidFill>
                <a:prstClr val="black"/>
              </a:solidFill>
              <a:effectLst/>
              <a:uLnTx/>
              <a:uFillTx/>
              <a:latin typeface="Whitney-Book" pitchFamily="50" charset="0"/>
              <a:cs typeface="Times New Roman" pitchFamily="18" charset="0"/>
            </a:endParaRPr>
          </a:p>
        </p:txBody>
      </p:sp>
      <p:grpSp>
        <p:nvGrpSpPr>
          <p:cNvPr id="7" name="Group 6"/>
          <p:cNvGrpSpPr/>
          <p:nvPr/>
        </p:nvGrpSpPr>
        <p:grpSpPr>
          <a:xfrm>
            <a:off x="2275681" y="3603612"/>
            <a:ext cx="4592638" cy="1250239"/>
            <a:chOff x="2618581" y="4773364"/>
            <a:chExt cx="4592638" cy="1250239"/>
          </a:xfrm>
        </p:grpSpPr>
        <p:sp>
          <p:nvSpPr>
            <p:cNvPr id="8" name="Rectangle 6"/>
            <p:cNvSpPr>
              <a:spLocks noChangeArrowheads="1"/>
            </p:cNvSpPr>
            <p:nvPr/>
          </p:nvSpPr>
          <p:spPr bwMode="auto">
            <a:xfrm>
              <a:off x="2618581" y="5566403"/>
              <a:ext cx="4592638" cy="457200"/>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none" lIns="20047" tIns="28399" rIns="20047" bIns="28399" anchor="ctr">
              <a:flatTx/>
            </a:bodyPr>
            <a:lstStyle/>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r>
                <a:rPr kumimoji="0" lang="en-US" sz="1800" b="0" i="0" u="none" strike="noStrike" kern="1200" cap="none" spc="0" normalizeH="0" baseline="0" noProof="0" dirty="0">
                  <a:ln>
                    <a:noFill/>
                  </a:ln>
                  <a:solidFill>
                    <a:prstClr val="black"/>
                  </a:solidFill>
                  <a:effectLst/>
                  <a:uLnTx/>
                  <a:uFillTx/>
                  <a:latin typeface="Whitney-Book" pitchFamily="50" charset="0"/>
                  <a:cs typeface="Times New Roman" pitchFamily="18" charset="0"/>
                </a:rPr>
                <a:t>4. Markets, Pricing and Strategy</a:t>
              </a:r>
            </a:p>
          </p:txBody>
        </p:sp>
        <p:sp>
          <p:nvSpPr>
            <p:cNvPr id="9" name="Line 7"/>
            <p:cNvSpPr>
              <a:spLocks noChangeShapeType="1"/>
            </p:cNvSpPr>
            <p:nvPr/>
          </p:nvSpPr>
          <p:spPr bwMode="auto">
            <a:xfrm>
              <a:off x="3290021" y="4773364"/>
              <a:ext cx="1089222" cy="780338"/>
            </a:xfrm>
            <a:prstGeom prst="line">
              <a:avLst/>
            </a:prstGeom>
            <a:noFill/>
            <a:ln w="25400">
              <a:solidFill>
                <a:schemeClr val="tx1"/>
              </a:solidFill>
              <a:round/>
              <a:headEnd/>
              <a:tailEnd type="triangle" w="med" len="med"/>
            </a:ln>
            <a:effectLst/>
            <a:scene3d>
              <a:camera prst="orthographicFront"/>
              <a:lightRig rig="threePt" dir="t"/>
            </a:scene3d>
            <a:sp3d extrusionH="1905000"/>
          </p:spPr>
          <p:txBody>
            <a:bodyPr wrap="none" lIns="20047" tIns="28399" rIns="20047" bIns="28399"/>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Line 8"/>
            <p:cNvSpPr>
              <a:spLocks noChangeShapeType="1"/>
            </p:cNvSpPr>
            <p:nvPr/>
          </p:nvSpPr>
          <p:spPr bwMode="auto">
            <a:xfrm flipH="1">
              <a:off x="5105398" y="4800600"/>
              <a:ext cx="1089223" cy="761999"/>
            </a:xfrm>
            <a:prstGeom prst="line">
              <a:avLst/>
            </a:prstGeom>
            <a:noFill/>
            <a:ln w="25400">
              <a:solidFill>
                <a:schemeClr val="tx1"/>
              </a:solidFill>
              <a:round/>
              <a:headEnd/>
              <a:tailEnd type="triangle" w="med" len="med"/>
            </a:ln>
            <a:effectLst/>
            <a:scene3d>
              <a:camera prst="orthographicFront"/>
              <a:lightRig rig="threePt" dir="t"/>
            </a:scene3d>
            <a:sp3d extrusionH="1905000"/>
          </p:spPr>
          <p:txBody>
            <a:bodyPr wrap="none" lIns="20047" tIns="28399" rIns="20047" bIns="28399"/>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0"/>
          <p:cNvGrpSpPr/>
          <p:nvPr/>
        </p:nvGrpSpPr>
        <p:grpSpPr>
          <a:xfrm>
            <a:off x="327941" y="2340672"/>
            <a:ext cx="3844057" cy="1262940"/>
            <a:chOff x="325439" y="2640690"/>
            <a:chExt cx="4475161" cy="1470283"/>
          </a:xfrm>
        </p:grpSpPr>
        <p:sp>
          <p:nvSpPr>
            <p:cNvPr id="12" name="Rectangle 4"/>
            <p:cNvSpPr>
              <a:spLocks noChangeArrowheads="1"/>
            </p:cNvSpPr>
            <p:nvPr/>
          </p:nvSpPr>
          <p:spPr bwMode="auto">
            <a:xfrm>
              <a:off x="325439" y="3578712"/>
              <a:ext cx="4475161" cy="53226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none" lIns="20047" tIns="28399" rIns="20047" bIns="28399">
              <a:flatTx/>
            </a:bodyPr>
            <a:lstStyle/>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r>
                <a:rPr kumimoji="0" lang="en-US" sz="1800" b="0" i="0" u="none" strike="noStrike" kern="1200" cap="none" spc="0" normalizeH="0" baseline="0" noProof="0" dirty="0">
                  <a:ln>
                    <a:noFill/>
                  </a:ln>
                  <a:effectLst/>
                  <a:uLnTx/>
                  <a:uFillTx/>
                  <a:latin typeface="Whitney-Book" pitchFamily="50" charset="0"/>
                  <a:cs typeface="Times New Roman" pitchFamily="18" charset="0"/>
                </a:rPr>
                <a:t>2. </a:t>
              </a:r>
              <a:r>
                <a:rPr kumimoji="0" lang="en-US" sz="1800" i="0" u="none" strike="noStrike" kern="1200" normalizeH="0" baseline="0" noProof="0" dirty="0">
                  <a:uLnTx/>
                  <a:uFillTx/>
                  <a:latin typeface="Whitney-Book" pitchFamily="50" charset="0"/>
                  <a:cs typeface="Times New Roman" pitchFamily="18" charset="0"/>
                </a:rPr>
                <a:t>Value and Demand</a:t>
              </a:r>
            </a:p>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endParaRPr kumimoji="0" lang="fr-FR" sz="1800" b="1" i="0" u="none" strike="noStrike" kern="1200" cap="none" spc="0" normalizeH="0" baseline="0" noProof="0" dirty="0">
                <a:ln>
                  <a:noFill/>
                </a:ln>
                <a:effectLst/>
                <a:uLnTx/>
                <a:uFillTx/>
                <a:latin typeface="Whitney-Book" pitchFamily="50" charset="0"/>
                <a:cs typeface="Times New Roman" pitchFamily="18" charset="0"/>
              </a:endParaRPr>
            </a:p>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endParaRPr lang="fr-FR" b="1" dirty="0">
                <a:latin typeface="Whitney-Book" pitchFamily="50" charset="0"/>
                <a:cs typeface="Times New Roman" pitchFamily="18" charset="0"/>
              </a:endParaRPr>
            </a:p>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endParaRPr kumimoji="0" lang="en-US" sz="1800" b="1" i="0" u="none" strike="noStrike" kern="1200" cap="none" spc="0" normalizeH="0" baseline="0" noProof="0" dirty="0">
                <a:ln>
                  <a:noFill/>
                </a:ln>
                <a:effectLst/>
                <a:uLnTx/>
                <a:uFillTx/>
                <a:latin typeface="Whitney-Book" pitchFamily="50" charset="0"/>
                <a:cs typeface="Times New Roman" pitchFamily="18" charset="0"/>
              </a:endParaRPr>
            </a:p>
          </p:txBody>
        </p:sp>
        <p:sp>
          <p:nvSpPr>
            <p:cNvPr id="13" name="Line 7"/>
            <p:cNvSpPr>
              <a:spLocks noChangeShapeType="1"/>
            </p:cNvSpPr>
            <p:nvPr/>
          </p:nvSpPr>
          <p:spPr bwMode="auto">
            <a:xfrm flipH="1">
              <a:off x="3428997" y="2640690"/>
              <a:ext cx="1268048" cy="935949"/>
            </a:xfrm>
            <a:prstGeom prst="line">
              <a:avLst/>
            </a:prstGeom>
            <a:noFill/>
            <a:ln w="25400">
              <a:solidFill>
                <a:schemeClr val="tx1"/>
              </a:solidFill>
              <a:round/>
              <a:headEnd/>
              <a:tailEnd type="triangle" w="med" len="med"/>
            </a:ln>
            <a:effectLst/>
            <a:scene3d>
              <a:camera prst="orthographicFront"/>
              <a:lightRig rig="threePt" dir="t"/>
            </a:scene3d>
            <a:sp3d extrusionH="1905000"/>
          </p:spPr>
          <p:txBody>
            <a:bodyPr wrap="none" lIns="20047" tIns="28399" rIns="20047" bIns="28399"/>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3"/>
          <p:cNvGrpSpPr/>
          <p:nvPr/>
        </p:nvGrpSpPr>
        <p:grpSpPr>
          <a:xfrm>
            <a:off x="4848761" y="2340670"/>
            <a:ext cx="4021018" cy="1262940"/>
            <a:chOff x="4827952" y="2638613"/>
            <a:chExt cx="4681174" cy="1470287"/>
          </a:xfrm>
        </p:grpSpPr>
        <p:sp>
          <p:nvSpPr>
            <p:cNvPr id="15" name="Rectangle 9"/>
            <p:cNvSpPr>
              <a:spLocks noChangeArrowheads="1"/>
            </p:cNvSpPr>
            <p:nvPr/>
          </p:nvSpPr>
          <p:spPr bwMode="auto">
            <a:xfrm>
              <a:off x="4957763" y="3576638"/>
              <a:ext cx="4551363" cy="532262"/>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wrap="none" lIns="20047" tIns="28399" rIns="20047" bIns="28399">
              <a:flatTx/>
            </a:bodyPr>
            <a:lstStyle/>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r>
                <a:rPr kumimoji="0" lang="en-US" sz="1800" b="0" i="0" u="none" strike="noStrike" kern="1200" cap="none" spc="0" normalizeH="0" baseline="0" noProof="0" dirty="0">
                  <a:ln>
                    <a:noFill/>
                  </a:ln>
                  <a:effectLst/>
                  <a:uLnTx/>
                  <a:uFillTx/>
                  <a:latin typeface="Whitney-Book" pitchFamily="50" charset="0"/>
                  <a:cs typeface="Times New Roman" pitchFamily="18" charset="0"/>
                </a:rPr>
                <a:t>3</a:t>
              </a:r>
              <a:r>
                <a:rPr lang="en-US" dirty="0">
                  <a:latin typeface="Whitney-Book" pitchFamily="50" charset="0"/>
                  <a:cs typeface="Times New Roman" pitchFamily="18" charset="0"/>
                </a:rPr>
                <a:t>.</a:t>
              </a:r>
              <a:r>
                <a:rPr kumimoji="0" lang="en-US" sz="1800" b="0" i="0" u="none" strike="noStrike" kern="1200" cap="none" spc="0" normalizeH="0" baseline="0" noProof="0" dirty="0">
                  <a:ln>
                    <a:noFill/>
                  </a:ln>
                  <a:effectLst/>
                  <a:uLnTx/>
                  <a:uFillTx/>
                  <a:latin typeface="Whitney-Book" pitchFamily="50" charset="0"/>
                  <a:cs typeface="Times New Roman" pitchFamily="18" charset="0"/>
                </a:rPr>
                <a:t> Supply and Cost</a:t>
              </a:r>
            </a:p>
          </p:txBody>
        </p:sp>
        <p:sp>
          <p:nvSpPr>
            <p:cNvPr id="16" name="Line 7"/>
            <p:cNvSpPr>
              <a:spLocks noChangeShapeType="1"/>
            </p:cNvSpPr>
            <p:nvPr/>
          </p:nvSpPr>
          <p:spPr bwMode="auto">
            <a:xfrm>
              <a:off x="4827952" y="2638613"/>
              <a:ext cx="1268048" cy="938025"/>
            </a:xfrm>
            <a:prstGeom prst="line">
              <a:avLst/>
            </a:prstGeom>
            <a:noFill/>
            <a:ln w="25400">
              <a:solidFill>
                <a:schemeClr val="tx1"/>
              </a:solidFill>
              <a:round/>
              <a:headEnd/>
              <a:tailEnd type="triangle" w="med" len="med"/>
            </a:ln>
            <a:effectLst/>
            <a:scene3d>
              <a:camera prst="orthographicFront"/>
              <a:lightRig rig="threePt" dir="t"/>
            </a:scene3d>
            <a:sp3d extrusionH="1905000"/>
          </p:spPr>
          <p:txBody>
            <a:bodyPr wrap="none" lIns="20047" tIns="28399" rIns="20047" bIns="28399"/>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8" name="Right Arrow 16">
            <a:extLst>
              <a:ext uri="{FF2B5EF4-FFF2-40B4-BE49-F238E27FC236}">
                <a16:creationId xmlns:a16="http://schemas.microsoft.com/office/drawing/2014/main" id="{E2DFD23A-2E86-410D-B200-A0A82876E08C}"/>
              </a:ext>
            </a:extLst>
          </p:cNvPr>
          <p:cNvSpPr/>
          <p:nvPr/>
        </p:nvSpPr>
        <p:spPr bwMode="auto">
          <a:xfrm rot="13648161">
            <a:off x="6260016" y="4987619"/>
            <a:ext cx="1216609" cy="530221"/>
          </a:xfrm>
          <a:prstGeom prst="rightArrow">
            <a:avLst>
              <a:gd name="adj1" fmla="val 50000"/>
              <a:gd name="adj2" fmla="val 87117"/>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effectLst/>
              <a:latin typeface="+mn-lt"/>
            </a:endParaRPr>
          </a:p>
        </p:txBody>
      </p:sp>
    </p:spTree>
    <p:extLst>
      <p:ext uri="{BB962C8B-B14F-4D97-AF65-F5344CB8AC3E}">
        <p14:creationId xmlns:p14="http://schemas.microsoft.com/office/powerpoint/2010/main" val="26452545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OUTLINE of module 6</a:t>
            </a:r>
            <a:br>
              <a:rPr lang="en-US" dirty="0"/>
            </a:br>
            <a:endParaRPr lang="en-US" dirty="0"/>
          </a:p>
        </p:txBody>
      </p:sp>
      <p:sp>
        <p:nvSpPr>
          <p:cNvPr id="3" name="Content Placeholder 2"/>
          <p:cNvSpPr>
            <a:spLocks noGrp="1"/>
          </p:cNvSpPr>
          <p:nvPr>
            <p:ph idx="1"/>
          </p:nvPr>
        </p:nvSpPr>
        <p:spPr>
          <a:xfrm>
            <a:off x="457200" y="1094874"/>
            <a:ext cx="8229600" cy="5212407"/>
          </a:xfrm>
        </p:spPr>
        <p:txBody>
          <a:bodyPr>
            <a:normAutofit fontScale="92500" lnSpcReduction="10000"/>
          </a:bodyPr>
          <a:lstStyle/>
          <a:p>
            <a:pPr>
              <a:lnSpc>
                <a:spcPct val="120000"/>
              </a:lnSpc>
            </a:pPr>
            <a:r>
              <a:rPr lang="fr-FR" sz="2810" dirty="0"/>
              <a:t>Simple vs. </a:t>
            </a:r>
            <a:r>
              <a:rPr lang="fr-FR" sz="2810" dirty="0" err="1"/>
              <a:t>complex</a:t>
            </a:r>
            <a:r>
              <a:rPr lang="fr-FR" sz="2810" dirty="0"/>
              <a:t> </a:t>
            </a:r>
            <a:r>
              <a:rPr lang="fr-FR" sz="2810" dirty="0" err="1"/>
              <a:t>pricing</a:t>
            </a:r>
            <a:endParaRPr lang="fr-FR" sz="2810" dirty="0"/>
          </a:p>
          <a:p>
            <a:pPr>
              <a:lnSpc>
                <a:spcPct val="120000"/>
              </a:lnSpc>
            </a:pPr>
            <a:r>
              <a:rPr lang="fr-FR" sz="2810" dirty="0"/>
              <a:t>Direct </a:t>
            </a:r>
            <a:r>
              <a:rPr lang="fr-FR" sz="2810" dirty="0" err="1"/>
              <a:t>price</a:t>
            </a:r>
            <a:r>
              <a:rPr lang="fr-FR" sz="2810" dirty="0"/>
              <a:t> discrimination</a:t>
            </a:r>
          </a:p>
          <a:p>
            <a:pPr lvl="1">
              <a:lnSpc>
                <a:spcPct val="120000"/>
              </a:lnSpc>
              <a:spcBef>
                <a:spcPts val="0"/>
              </a:spcBef>
            </a:pPr>
            <a:r>
              <a:rPr lang="fr-FR" dirty="0" err="1">
                <a:latin typeface="Whitney-Book" pitchFamily="50" charset="0"/>
                <a:cs typeface="Whitney-Book" pitchFamily="50" charset="0"/>
              </a:rPr>
              <a:t>Perfect</a:t>
            </a:r>
            <a:r>
              <a:rPr lang="fr-FR" dirty="0">
                <a:latin typeface="Whitney-Book" pitchFamily="50" charset="0"/>
                <a:cs typeface="Whitney-Book" pitchFamily="50" charset="0"/>
              </a:rPr>
              <a:t> </a:t>
            </a:r>
            <a:r>
              <a:rPr lang="fr-FR" dirty="0" err="1">
                <a:latin typeface="Whitney-Book" pitchFamily="50" charset="0"/>
                <a:cs typeface="Whitney-Book" pitchFamily="50" charset="0"/>
              </a:rPr>
              <a:t>price</a:t>
            </a:r>
            <a:r>
              <a:rPr lang="fr-FR" dirty="0">
                <a:latin typeface="Whitney-Book" pitchFamily="50" charset="0"/>
                <a:cs typeface="Whitney-Book" pitchFamily="50" charset="0"/>
              </a:rPr>
              <a:t> discrimination (first </a:t>
            </a:r>
            <a:r>
              <a:rPr lang="fr-FR" dirty="0" err="1">
                <a:latin typeface="Whitney-Book" pitchFamily="50" charset="0"/>
                <a:cs typeface="Whitney-Book" pitchFamily="50" charset="0"/>
              </a:rPr>
              <a:t>degree</a:t>
            </a:r>
            <a:r>
              <a:rPr lang="fr-FR" dirty="0">
                <a:latin typeface="Whitney-Book" pitchFamily="50" charset="0"/>
                <a:cs typeface="Whitney-Book" pitchFamily="50" charset="0"/>
              </a:rPr>
              <a:t>)</a:t>
            </a:r>
          </a:p>
          <a:p>
            <a:pPr lvl="1">
              <a:lnSpc>
                <a:spcPct val="120000"/>
              </a:lnSpc>
              <a:spcBef>
                <a:spcPts val="0"/>
              </a:spcBef>
            </a:pPr>
            <a:r>
              <a:rPr lang="fr-FR" dirty="0">
                <a:latin typeface="Whitney-Book" pitchFamily="50" charset="0"/>
                <a:cs typeface="Whitney-Book" pitchFamily="50" charset="0"/>
              </a:rPr>
              <a:t>Segment </a:t>
            </a:r>
            <a:r>
              <a:rPr lang="fr-FR" dirty="0" err="1">
                <a:latin typeface="Whitney-Book" pitchFamily="50" charset="0"/>
                <a:cs typeface="Whitney-Book" pitchFamily="50" charset="0"/>
              </a:rPr>
              <a:t>pricing</a:t>
            </a:r>
            <a:r>
              <a:rPr lang="fr-FR" dirty="0">
                <a:latin typeface="Whitney-Book" pitchFamily="50" charset="0"/>
                <a:cs typeface="Whitney-Book" pitchFamily="50" charset="0"/>
              </a:rPr>
              <a:t> (</a:t>
            </a:r>
            <a:r>
              <a:rPr lang="fr-FR" dirty="0" err="1">
                <a:latin typeface="Whitney-Book" pitchFamily="50" charset="0"/>
                <a:cs typeface="Whitney-Book" pitchFamily="50" charset="0"/>
              </a:rPr>
              <a:t>third</a:t>
            </a:r>
            <a:r>
              <a:rPr lang="fr-FR" dirty="0">
                <a:latin typeface="Whitney-Book" pitchFamily="50" charset="0"/>
                <a:cs typeface="Whitney-Book" pitchFamily="50" charset="0"/>
              </a:rPr>
              <a:t> </a:t>
            </a:r>
            <a:r>
              <a:rPr lang="fr-FR" dirty="0" err="1">
                <a:latin typeface="Whitney-Book" pitchFamily="50" charset="0"/>
                <a:cs typeface="Whitney-Book" pitchFamily="50" charset="0"/>
              </a:rPr>
              <a:t>degree</a:t>
            </a:r>
            <a:r>
              <a:rPr lang="fr-FR" dirty="0">
                <a:latin typeface="Whitney-Book" pitchFamily="50" charset="0"/>
                <a:cs typeface="Whitney-Book" pitchFamily="50" charset="0"/>
              </a:rPr>
              <a:t>)</a:t>
            </a:r>
          </a:p>
          <a:p>
            <a:pPr>
              <a:lnSpc>
                <a:spcPct val="120000"/>
              </a:lnSpc>
            </a:pPr>
            <a:r>
              <a:rPr lang="fr-FR" sz="2810" dirty="0"/>
              <a:t>Indirect </a:t>
            </a:r>
            <a:r>
              <a:rPr lang="fr-FR" sz="2810" dirty="0" err="1"/>
              <a:t>price</a:t>
            </a:r>
            <a:r>
              <a:rPr lang="fr-FR" sz="2810" dirty="0"/>
              <a:t> discrimination (second </a:t>
            </a:r>
            <a:r>
              <a:rPr lang="fr-FR" sz="2810" dirty="0" err="1"/>
              <a:t>degree</a:t>
            </a:r>
            <a:r>
              <a:rPr lang="fr-FR" sz="2810" dirty="0"/>
              <a:t>)</a:t>
            </a:r>
          </a:p>
          <a:p>
            <a:pPr lvl="1">
              <a:lnSpc>
                <a:spcPct val="120000"/>
              </a:lnSpc>
              <a:spcBef>
                <a:spcPts val="0"/>
              </a:spcBef>
            </a:pPr>
            <a:r>
              <a:rPr lang="fr-FR" dirty="0">
                <a:latin typeface="Whitney-Book" pitchFamily="50" charset="0"/>
                <a:cs typeface="Whitney-Book" pitchFamily="50" charset="0"/>
              </a:rPr>
              <a:t>Versioning</a:t>
            </a:r>
          </a:p>
          <a:p>
            <a:pPr lvl="1">
              <a:lnSpc>
                <a:spcPct val="120000"/>
              </a:lnSpc>
              <a:spcBef>
                <a:spcPts val="0"/>
              </a:spcBef>
            </a:pPr>
            <a:r>
              <a:rPr lang="fr-FR" dirty="0"/>
              <a:t>Coupons</a:t>
            </a:r>
          </a:p>
          <a:p>
            <a:pPr>
              <a:lnSpc>
                <a:spcPct val="120000"/>
              </a:lnSpc>
            </a:pPr>
            <a:r>
              <a:rPr lang="fr-FR" sz="2810" dirty="0"/>
              <a:t>Advanced </a:t>
            </a:r>
            <a:r>
              <a:rPr lang="fr-FR" sz="2810" dirty="0" err="1"/>
              <a:t>pricing</a:t>
            </a:r>
            <a:r>
              <a:rPr lang="fr-FR" sz="2810" dirty="0"/>
              <a:t> </a:t>
            </a:r>
            <a:r>
              <a:rPr lang="fr-FR" sz="2810" dirty="0" err="1"/>
              <a:t>strategies</a:t>
            </a:r>
            <a:endParaRPr lang="fr-FR" sz="2810" dirty="0"/>
          </a:p>
          <a:p>
            <a:pPr lvl="1">
              <a:lnSpc>
                <a:spcPct val="120000"/>
              </a:lnSpc>
              <a:spcBef>
                <a:spcPts val="0"/>
              </a:spcBef>
            </a:pPr>
            <a:r>
              <a:rPr lang="fr-FR" dirty="0">
                <a:latin typeface="Whitney-Book" pitchFamily="50" charset="0"/>
                <a:cs typeface="Whitney-Book" pitchFamily="50" charset="0"/>
              </a:rPr>
              <a:t>Flat </a:t>
            </a:r>
            <a:r>
              <a:rPr lang="fr-FR" dirty="0" err="1">
                <a:latin typeface="Whitney-Book" pitchFamily="50" charset="0"/>
                <a:cs typeface="Whitney-Book" pitchFamily="50" charset="0"/>
              </a:rPr>
              <a:t>fee</a:t>
            </a:r>
            <a:r>
              <a:rPr lang="fr-FR" dirty="0">
                <a:latin typeface="Whitney-Book" pitchFamily="50" charset="0"/>
                <a:cs typeface="Whitney-Book" pitchFamily="50" charset="0"/>
              </a:rPr>
              <a:t> </a:t>
            </a:r>
            <a:r>
              <a:rPr lang="fr-FR" dirty="0" err="1">
                <a:latin typeface="Whitney-Book" pitchFamily="50" charset="0"/>
                <a:cs typeface="Whitney-Book" pitchFamily="50" charset="0"/>
              </a:rPr>
              <a:t>pricing</a:t>
            </a:r>
            <a:endParaRPr lang="fr-FR" dirty="0">
              <a:latin typeface="Whitney-Book" pitchFamily="50" charset="0"/>
              <a:cs typeface="Whitney-Book" pitchFamily="50" charset="0"/>
            </a:endParaRPr>
          </a:p>
          <a:p>
            <a:pPr lvl="1">
              <a:lnSpc>
                <a:spcPct val="120000"/>
              </a:lnSpc>
              <a:spcBef>
                <a:spcPts val="0"/>
              </a:spcBef>
            </a:pPr>
            <a:r>
              <a:rPr lang="fr-FR" dirty="0" err="1">
                <a:latin typeface="Whitney-Book" pitchFamily="50" charset="0"/>
                <a:cs typeface="Whitney-Book" pitchFamily="50" charset="0"/>
              </a:rPr>
              <a:t>Two</a:t>
            </a:r>
            <a:r>
              <a:rPr lang="fr-FR" dirty="0">
                <a:latin typeface="Whitney-Book" pitchFamily="50" charset="0"/>
                <a:cs typeface="Whitney-Book" pitchFamily="50" charset="0"/>
              </a:rPr>
              <a:t>-part </a:t>
            </a:r>
            <a:r>
              <a:rPr lang="fr-FR" dirty="0" err="1">
                <a:latin typeface="Whitney-Book" pitchFamily="50" charset="0"/>
                <a:cs typeface="Whitney-Book" pitchFamily="50" charset="0"/>
              </a:rPr>
              <a:t>tariff</a:t>
            </a:r>
            <a:endParaRPr lang="fr-FR" dirty="0">
              <a:latin typeface="Whitney-Book" pitchFamily="50" charset="0"/>
              <a:cs typeface="Whitney-Book" pitchFamily="50" charset="0"/>
            </a:endParaRPr>
          </a:p>
          <a:p>
            <a:pPr lvl="1">
              <a:lnSpc>
                <a:spcPct val="120000"/>
              </a:lnSpc>
              <a:spcBef>
                <a:spcPts val="0"/>
              </a:spcBef>
            </a:pPr>
            <a:r>
              <a:rPr lang="fr-FR" dirty="0">
                <a:latin typeface="Whitney-Book" pitchFamily="50" charset="0"/>
                <a:cs typeface="Whitney-Book" pitchFamily="50" charset="0"/>
              </a:rPr>
              <a:t>Block </a:t>
            </a:r>
            <a:r>
              <a:rPr lang="fr-FR" dirty="0" err="1">
                <a:latin typeface="Whitney-Book" pitchFamily="50" charset="0"/>
                <a:cs typeface="Whitney-Book" pitchFamily="50" charset="0"/>
              </a:rPr>
              <a:t>pricing</a:t>
            </a:r>
            <a:endParaRPr lang="fr-FR" dirty="0">
              <a:latin typeface="Whitney-Book" pitchFamily="50" charset="0"/>
              <a:cs typeface="Whitney-Book" pitchFamily="50" charset="0"/>
            </a:endParaRPr>
          </a:p>
          <a:p>
            <a:pPr marL="457200" lvl="1" indent="0">
              <a:buNone/>
            </a:pPr>
            <a:endParaRPr lang="fr-FR" dirty="0"/>
          </a:p>
          <a:p>
            <a:pPr lvl="1"/>
            <a:endParaRPr lang="en-US" dirty="0"/>
          </a:p>
          <a:p>
            <a:endParaRPr lang="en-US" dirty="0"/>
          </a:p>
        </p:txBody>
      </p:sp>
    </p:spTree>
    <p:extLst>
      <p:ext uri="{BB962C8B-B14F-4D97-AF65-F5344CB8AC3E}">
        <p14:creationId xmlns:p14="http://schemas.microsoft.com/office/powerpoint/2010/main" val="28382774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OUTLINE of module 6</a:t>
            </a:r>
            <a:br>
              <a:rPr lang="en-US" dirty="0"/>
            </a:br>
            <a:endParaRPr lang="en-US" dirty="0"/>
          </a:p>
        </p:txBody>
      </p:sp>
      <p:sp>
        <p:nvSpPr>
          <p:cNvPr id="3" name="Content Placeholder 2"/>
          <p:cNvSpPr>
            <a:spLocks noGrp="1"/>
          </p:cNvSpPr>
          <p:nvPr>
            <p:ph idx="1"/>
          </p:nvPr>
        </p:nvSpPr>
        <p:spPr>
          <a:xfrm>
            <a:off x="457200" y="1094874"/>
            <a:ext cx="8229600" cy="5212407"/>
          </a:xfrm>
        </p:spPr>
        <p:txBody>
          <a:bodyPr>
            <a:normAutofit fontScale="92500" lnSpcReduction="10000"/>
          </a:bodyPr>
          <a:lstStyle/>
          <a:p>
            <a:pPr>
              <a:lnSpc>
                <a:spcPct val="120000"/>
              </a:lnSpc>
            </a:pPr>
            <a:r>
              <a:rPr lang="fr-FR" sz="2810" b="1" dirty="0"/>
              <a:t>Simple vs. </a:t>
            </a:r>
            <a:r>
              <a:rPr lang="fr-FR" sz="2810" b="1" dirty="0" err="1"/>
              <a:t>complex</a:t>
            </a:r>
            <a:r>
              <a:rPr lang="fr-FR" sz="2810" b="1" dirty="0"/>
              <a:t> </a:t>
            </a:r>
            <a:r>
              <a:rPr lang="fr-FR" sz="2810" b="1" dirty="0" err="1"/>
              <a:t>pricing</a:t>
            </a:r>
            <a:endParaRPr lang="fr-FR" sz="2810" b="1" dirty="0"/>
          </a:p>
          <a:p>
            <a:pPr>
              <a:lnSpc>
                <a:spcPct val="120000"/>
              </a:lnSpc>
            </a:pPr>
            <a:r>
              <a:rPr lang="fr-FR" sz="2810" dirty="0">
                <a:solidFill>
                  <a:schemeClr val="bg1">
                    <a:lumMod val="65000"/>
                  </a:schemeClr>
                </a:solidFill>
              </a:rPr>
              <a:t>Direct </a:t>
            </a:r>
            <a:r>
              <a:rPr lang="fr-FR" sz="2810" dirty="0" err="1">
                <a:solidFill>
                  <a:schemeClr val="bg1">
                    <a:lumMod val="65000"/>
                  </a:schemeClr>
                </a:solidFill>
              </a:rPr>
              <a:t>price</a:t>
            </a:r>
            <a:r>
              <a:rPr lang="fr-FR" sz="2810" dirty="0">
                <a:solidFill>
                  <a:schemeClr val="bg1">
                    <a:lumMod val="65000"/>
                  </a:schemeClr>
                </a:solidFill>
              </a:rPr>
              <a:t> discrimination</a:t>
            </a:r>
          </a:p>
          <a:p>
            <a:pPr lvl="1">
              <a:lnSpc>
                <a:spcPct val="120000"/>
              </a:lnSpc>
              <a:spcBef>
                <a:spcPts val="0"/>
              </a:spcBef>
            </a:pPr>
            <a:r>
              <a:rPr lang="fr-FR" dirty="0" err="1">
                <a:solidFill>
                  <a:schemeClr val="bg1">
                    <a:lumMod val="65000"/>
                  </a:schemeClr>
                </a:solidFill>
                <a:latin typeface="Whitney-Book" pitchFamily="50" charset="0"/>
                <a:cs typeface="Whitney-Book" pitchFamily="50" charset="0"/>
              </a:rPr>
              <a:t>Perfect</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price</a:t>
            </a:r>
            <a:r>
              <a:rPr lang="fr-FR" dirty="0">
                <a:solidFill>
                  <a:schemeClr val="bg1">
                    <a:lumMod val="65000"/>
                  </a:schemeClr>
                </a:solidFill>
                <a:latin typeface="Whitney-Book" pitchFamily="50" charset="0"/>
                <a:cs typeface="Whitney-Book" pitchFamily="50" charset="0"/>
              </a:rPr>
              <a:t> discrimination (first </a:t>
            </a:r>
            <a:r>
              <a:rPr lang="fr-FR" dirty="0" err="1">
                <a:solidFill>
                  <a:schemeClr val="bg1">
                    <a:lumMod val="65000"/>
                  </a:schemeClr>
                </a:solidFill>
                <a:latin typeface="Whitney-Book" pitchFamily="50" charset="0"/>
                <a:cs typeface="Whitney-Book" pitchFamily="50" charset="0"/>
              </a:rPr>
              <a:t>degree</a:t>
            </a:r>
            <a:r>
              <a:rPr lang="fr-FR" dirty="0">
                <a:solidFill>
                  <a:schemeClr val="bg1">
                    <a:lumMod val="65000"/>
                  </a:schemeClr>
                </a:solidFill>
                <a:latin typeface="Whitney-Book" pitchFamily="50" charset="0"/>
                <a:cs typeface="Whitney-Book" pitchFamily="50" charset="0"/>
              </a:rPr>
              <a:t>)</a:t>
            </a: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Segment </a:t>
            </a:r>
            <a:r>
              <a:rPr lang="fr-FR" dirty="0" err="1">
                <a:solidFill>
                  <a:schemeClr val="bg1">
                    <a:lumMod val="65000"/>
                  </a:schemeClr>
                </a:solidFill>
                <a:latin typeface="Whitney-Book" pitchFamily="50" charset="0"/>
                <a:cs typeface="Whitney-Book" pitchFamily="50" charset="0"/>
              </a:rPr>
              <a:t>pricing</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third</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degree</a:t>
            </a:r>
            <a:r>
              <a:rPr lang="fr-FR" dirty="0">
                <a:solidFill>
                  <a:schemeClr val="bg1">
                    <a:lumMod val="65000"/>
                  </a:schemeClr>
                </a:solidFill>
                <a:latin typeface="Whitney-Book" pitchFamily="50" charset="0"/>
                <a:cs typeface="Whitney-Book" pitchFamily="50" charset="0"/>
              </a:rPr>
              <a:t>)</a:t>
            </a:r>
          </a:p>
          <a:p>
            <a:pPr>
              <a:lnSpc>
                <a:spcPct val="120000"/>
              </a:lnSpc>
            </a:pPr>
            <a:r>
              <a:rPr lang="fr-FR" sz="2810" dirty="0">
                <a:solidFill>
                  <a:schemeClr val="bg1">
                    <a:lumMod val="65000"/>
                  </a:schemeClr>
                </a:solidFill>
              </a:rPr>
              <a:t>Indirect </a:t>
            </a:r>
            <a:r>
              <a:rPr lang="fr-FR" sz="2810" dirty="0" err="1">
                <a:solidFill>
                  <a:schemeClr val="bg1">
                    <a:lumMod val="65000"/>
                  </a:schemeClr>
                </a:solidFill>
              </a:rPr>
              <a:t>price</a:t>
            </a:r>
            <a:r>
              <a:rPr lang="fr-FR" sz="2810" dirty="0">
                <a:solidFill>
                  <a:schemeClr val="bg1">
                    <a:lumMod val="65000"/>
                  </a:schemeClr>
                </a:solidFill>
              </a:rPr>
              <a:t> discrimination (second </a:t>
            </a:r>
            <a:r>
              <a:rPr lang="fr-FR" sz="2810" dirty="0" err="1">
                <a:solidFill>
                  <a:schemeClr val="bg1">
                    <a:lumMod val="65000"/>
                  </a:schemeClr>
                </a:solidFill>
              </a:rPr>
              <a:t>degree</a:t>
            </a:r>
            <a:r>
              <a:rPr lang="fr-FR" sz="2810" dirty="0">
                <a:solidFill>
                  <a:schemeClr val="bg1">
                    <a:lumMod val="65000"/>
                  </a:schemeClr>
                </a:solidFill>
              </a:rPr>
              <a:t>)</a:t>
            </a: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Versioning</a:t>
            </a:r>
          </a:p>
          <a:p>
            <a:pPr lvl="1">
              <a:lnSpc>
                <a:spcPct val="120000"/>
              </a:lnSpc>
              <a:spcBef>
                <a:spcPts val="0"/>
              </a:spcBef>
            </a:pPr>
            <a:r>
              <a:rPr lang="fr-FR" dirty="0">
                <a:solidFill>
                  <a:schemeClr val="bg1">
                    <a:lumMod val="65000"/>
                  </a:schemeClr>
                </a:solidFill>
              </a:rPr>
              <a:t>Coupons</a:t>
            </a:r>
          </a:p>
          <a:p>
            <a:pPr>
              <a:lnSpc>
                <a:spcPct val="120000"/>
              </a:lnSpc>
            </a:pPr>
            <a:r>
              <a:rPr lang="fr-FR" sz="2810" dirty="0">
                <a:solidFill>
                  <a:schemeClr val="bg1">
                    <a:lumMod val="65000"/>
                  </a:schemeClr>
                </a:solidFill>
              </a:rPr>
              <a:t>Advanced </a:t>
            </a:r>
            <a:r>
              <a:rPr lang="fr-FR" sz="2810" dirty="0" err="1">
                <a:solidFill>
                  <a:schemeClr val="bg1">
                    <a:lumMod val="65000"/>
                  </a:schemeClr>
                </a:solidFill>
              </a:rPr>
              <a:t>pricing</a:t>
            </a:r>
            <a:r>
              <a:rPr lang="fr-FR" sz="2810" dirty="0">
                <a:solidFill>
                  <a:schemeClr val="bg1">
                    <a:lumMod val="65000"/>
                  </a:schemeClr>
                </a:solidFill>
              </a:rPr>
              <a:t> </a:t>
            </a:r>
            <a:r>
              <a:rPr lang="fr-FR" sz="2810" dirty="0" err="1">
                <a:solidFill>
                  <a:schemeClr val="bg1">
                    <a:lumMod val="65000"/>
                  </a:schemeClr>
                </a:solidFill>
              </a:rPr>
              <a:t>strategies</a:t>
            </a:r>
            <a:endParaRPr lang="fr-FR" sz="2810" dirty="0">
              <a:solidFill>
                <a:schemeClr val="bg1">
                  <a:lumMod val="65000"/>
                </a:schemeClr>
              </a:solidFill>
            </a:endParaRP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Flat </a:t>
            </a:r>
            <a:r>
              <a:rPr lang="fr-FR" dirty="0" err="1">
                <a:solidFill>
                  <a:schemeClr val="bg1">
                    <a:lumMod val="65000"/>
                  </a:schemeClr>
                </a:solidFill>
                <a:latin typeface="Whitney-Book" pitchFamily="50" charset="0"/>
                <a:cs typeface="Whitney-Book" pitchFamily="50" charset="0"/>
              </a:rPr>
              <a:t>fee</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pricing</a:t>
            </a:r>
            <a:endParaRPr lang="fr-FR" dirty="0">
              <a:solidFill>
                <a:schemeClr val="bg1">
                  <a:lumMod val="65000"/>
                </a:schemeClr>
              </a:solidFill>
              <a:latin typeface="Whitney-Book" pitchFamily="50" charset="0"/>
              <a:cs typeface="Whitney-Book" pitchFamily="50" charset="0"/>
            </a:endParaRPr>
          </a:p>
          <a:p>
            <a:pPr lvl="1">
              <a:lnSpc>
                <a:spcPct val="120000"/>
              </a:lnSpc>
              <a:spcBef>
                <a:spcPts val="0"/>
              </a:spcBef>
            </a:pPr>
            <a:r>
              <a:rPr lang="fr-FR" dirty="0" err="1">
                <a:solidFill>
                  <a:schemeClr val="bg1">
                    <a:lumMod val="65000"/>
                  </a:schemeClr>
                </a:solidFill>
                <a:latin typeface="Whitney-Book" pitchFamily="50" charset="0"/>
                <a:cs typeface="Whitney-Book" pitchFamily="50" charset="0"/>
              </a:rPr>
              <a:t>Two</a:t>
            </a:r>
            <a:r>
              <a:rPr lang="fr-FR" dirty="0">
                <a:solidFill>
                  <a:schemeClr val="bg1">
                    <a:lumMod val="65000"/>
                  </a:schemeClr>
                </a:solidFill>
                <a:latin typeface="Whitney-Book" pitchFamily="50" charset="0"/>
                <a:cs typeface="Whitney-Book" pitchFamily="50" charset="0"/>
              </a:rPr>
              <a:t>-part </a:t>
            </a:r>
            <a:r>
              <a:rPr lang="fr-FR" dirty="0" err="1">
                <a:solidFill>
                  <a:schemeClr val="bg1">
                    <a:lumMod val="65000"/>
                  </a:schemeClr>
                </a:solidFill>
                <a:latin typeface="Whitney-Book" pitchFamily="50" charset="0"/>
                <a:cs typeface="Whitney-Book" pitchFamily="50" charset="0"/>
              </a:rPr>
              <a:t>tariff</a:t>
            </a:r>
            <a:endParaRPr lang="fr-FR" dirty="0">
              <a:solidFill>
                <a:schemeClr val="bg1">
                  <a:lumMod val="65000"/>
                </a:schemeClr>
              </a:solidFill>
              <a:latin typeface="Whitney-Book" pitchFamily="50" charset="0"/>
              <a:cs typeface="Whitney-Book" pitchFamily="50" charset="0"/>
            </a:endParaRP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Block </a:t>
            </a:r>
            <a:r>
              <a:rPr lang="fr-FR" dirty="0" err="1">
                <a:solidFill>
                  <a:schemeClr val="bg1">
                    <a:lumMod val="65000"/>
                  </a:schemeClr>
                </a:solidFill>
                <a:latin typeface="Whitney-Book" pitchFamily="50" charset="0"/>
                <a:cs typeface="Whitney-Book" pitchFamily="50" charset="0"/>
              </a:rPr>
              <a:t>pricing</a:t>
            </a:r>
            <a:endParaRPr lang="fr-FR" dirty="0">
              <a:solidFill>
                <a:schemeClr val="bg1">
                  <a:lumMod val="65000"/>
                </a:schemeClr>
              </a:solidFill>
              <a:latin typeface="Whitney-Book" pitchFamily="50" charset="0"/>
              <a:cs typeface="Whitney-Book" pitchFamily="50" charset="0"/>
            </a:endParaRPr>
          </a:p>
          <a:p>
            <a:pPr marL="457200" lvl="1" indent="0">
              <a:buNone/>
            </a:pPr>
            <a:endParaRPr lang="fr-FR" dirty="0"/>
          </a:p>
          <a:p>
            <a:pPr lvl="1"/>
            <a:endParaRPr lang="en-US" dirty="0"/>
          </a:p>
          <a:p>
            <a:endParaRPr lang="en-US" dirty="0"/>
          </a:p>
        </p:txBody>
      </p:sp>
    </p:spTree>
    <p:extLst>
      <p:ext uri="{BB962C8B-B14F-4D97-AF65-F5344CB8AC3E}">
        <p14:creationId xmlns:p14="http://schemas.microsoft.com/office/powerpoint/2010/main" val="9682452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310D7-2CAC-4F87-97CD-0E7DE9F4FF76}"/>
              </a:ext>
            </a:extLst>
          </p:cNvPr>
          <p:cNvSpPr>
            <a:spLocks noGrp="1"/>
          </p:cNvSpPr>
          <p:nvPr>
            <p:ph type="title"/>
          </p:nvPr>
        </p:nvSpPr>
        <p:spPr/>
        <p:txBody>
          <a:bodyPr/>
          <a:lstStyle/>
          <a:p>
            <a:r>
              <a:rPr lang="fr-FR" dirty="0" err="1"/>
              <a:t>Dilemma</a:t>
            </a:r>
            <a:r>
              <a:rPr lang="fr-FR" dirty="0"/>
              <a:t> of simple </a:t>
            </a:r>
            <a:r>
              <a:rPr lang="fr-FR" dirty="0" err="1"/>
              <a:t>pricing</a:t>
            </a:r>
            <a:endParaRPr lang="en-US" dirty="0"/>
          </a:p>
        </p:txBody>
      </p:sp>
      <p:sp>
        <p:nvSpPr>
          <p:cNvPr id="3" name="Content Placeholder 2">
            <a:extLst>
              <a:ext uri="{FF2B5EF4-FFF2-40B4-BE49-F238E27FC236}">
                <a16:creationId xmlns:a16="http://schemas.microsoft.com/office/drawing/2014/main" id="{6D7E7033-5FB6-468F-92E5-96893C6E0B32}"/>
              </a:ext>
            </a:extLst>
          </p:cNvPr>
          <p:cNvSpPr>
            <a:spLocks noGrp="1"/>
          </p:cNvSpPr>
          <p:nvPr>
            <p:ph idx="1"/>
          </p:nvPr>
        </p:nvSpPr>
        <p:spPr/>
        <p:txBody>
          <a:bodyPr/>
          <a:lstStyle/>
          <a:p>
            <a:r>
              <a:rPr lang="fr-FR" dirty="0"/>
              <a:t>Simple </a:t>
            </a:r>
            <a:r>
              <a:rPr lang="fr-FR" dirty="0" err="1"/>
              <a:t>pricing</a:t>
            </a:r>
            <a:r>
              <a:rPr lang="fr-FR" dirty="0"/>
              <a:t>: </a:t>
            </a:r>
            <a:r>
              <a:rPr lang="fr-FR" dirty="0" err="1"/>
              <a:t>same</a:t>
            </a:r>
            <a:r>
              <a:rPr lang="fr-FR" dirty="0"/>
              <a:t> </a:t>
            </a:r>
            <a:r>
              <a:rPr lang="fr-FR" dirty="0" err="1"/>
              <a:t>price</a:t>
            </a:r>
            <a:r>
              <a:rPr lang="fr-FR" dirty="0"/>
              <a:t> for all </a:t>
            </a:r>
            <a:r>
              <a:rPr lang="fr-FR" dirty="0" err="1"/>
              <a:t>customers</a:t>
            </a:r>
            <a:endParaRPr lang="fr-FR" dirty="0"/>
          </a:p>
          <a:p>
            <a:endParaRPr lang="fr-FR" dirty="0"/>
          </a:p>
          <a:p>
            <a:r>
              <a:rPr lang="fr-FR" dirty="0"/>
              <a:t>Limitations of simple </a:t>
            </a:r>
            <a:r>
              <a:rPr lang="fr-FR" dirty="0" err="1"/>
              <a:t>pricing</a:t>
            </a:r>
            <a:r>
              <a:rPr lang="fr-FR" dirty="0"/>
              <a:t>:</a:t>
            </a:r>
          </a:p>
          <a:p>
            <a:endParaRPr lang="fr-FR" sz="1200" dirty="0"/>
          </a:p>
          <a:p>
            <a:pPr marL="914400" lvl="1" indent="-514350">
              <a:buFont typeface="+mj-lt"/>
              <a:buAutoNum type="arabicPeriod"/>
            </a:pPr>
            <a:r>
              <a:rPr lang="en-US" dirty="0"/>
              <a:t>If you charge a high price, you prevent customers with relatively low willingness to pay (marginal personal value) from purchasing your product</a:t>
            </a:r>
          </a:p>
          <a:p>
            <a:pPr marL="914400" lvl="1" indent="-514350">
              <a:buFont typeface="+mj-lt"/>
              <a:buAutoNum type="arabicPeriod"/>
            </a:pPr>
            <a:r>
              <a:rPr lang="en-US" dirty="0"/>
              <a:t>If you charge a low price, you are too “generous” to those with high willingness to pay</a:t>
            </a:r>
          </a:p>
          <a:p>
            <a:endParaRPr lang="en-US" dirty="0"/>
          </a:p>
        </p:txBody>
      </p:sp>
    </p:spTree>
    <p:extLst>
      <p:ext uri="{BB962C8B-B14F-4D97-AF65-F5344CB8AC3E}">
        <p14:creationId xmlns:p14="http://schemas.microsoft.com/office/powerpoint/2010/main" val="3246695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Whitney Medium" pitchFamily="50" charset="0"/>
                <a:cs typeface="Whitney Medium" pitchFamily="50" charset="0"/>
              </a:rPr>
              <a:t>What if Netflix used Simple pricing per movie?    (assume </a:t>
            </a:r>
            <a:r>
              <a:rPr lang="en-US" i="1" dirty="0">
                <a:latin typeface="Whitney Medium" pitchFamily="50" charset="0"/>
                <a:cs typeface="Whitney Medium" pitchFamily="50" charset="0"/>
              </a:rPr>
              <a:t>MC</a:t>
            </a:r>
            <a:r>
              <a:rPr lang="en-US" dirty="0">
                <a:latin typeface="Whitney Medium" pitchFamily="50" charset="0"/>
                <a:cs typeface="Whitney Medium" pitchFamily="50" charset="0"/>
              </a:rPr>
              <a:t>=0) </a:t>
            </a:r>
          </a:p>
        </p:txBody>
      </p:sp>
      <p:sp>
        <p:nvSpPr>
          <p:cNvPr id="38" name="Line 3"/>
          <p:cNvSpPr>
            <a:spLocks noChangeShapeType="1"/>
          </p:cNvSpPr>
          <p:nvPr/>
        </p:nvSpPr>
        <p:spPr bwMode="auto">
          <a:xfrm>
            <a:off x="923610" y="1163003"/>
            <a:ext cx="0" cy="5156200"/>
          </a:xfrm>
          <a:prstGeom prst="line">
            <a:avLst/>
          </a:prstGeom>
          <a:noFill/>
          <a:ln w="38100">
            <a:solidFill>
              <a:schemeClr val="tx1"/>
            </a:solidFill>
            <a:round/>
            <a:headEnd type="triangle"/>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Whitney Book" pitchFamily="50" charset="0"/>
              <a:ea typeface="+mn-ea"/>
              <a:cs typeface="Whitney Book" pitchFamily="50" charset="0"/>
            </a:endParaRPr>
          </a:p>
        </p:txBody>
      </p:sp>
      <p:sp>
        <p:nvSpPr>
          <p:cNvPr id="39" name="Line 4"/>
          <p:cNvSpPr>
            <a:spLocks noChangeShapeType="1"/>
          </p:cNvSpPr>
          <p:nvPr/>
        </p:nvSpPr>
        <p:spPr bwMode="auto">
          <a:xfrm>
            <a:off x="923610" y="6319203"/>
            <a:ext cx="5757862" cy="0"/>
          </a:xfrm>
          <a:prstGeom prst="line">
            <a:avLst/>
          </a:prstGeom>
          <a:noFill/>
          <a:ln w="38100">
            <a:solidFill>
              <a:schemeClr val="tx1"/>
            </a:solidFill>
            <a:round/>
            <a:headEnd/>
            <a:tailEnd type="triangle"/>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Whitney Book" pitchFamily="50" charset="0"/>
              <a:ea typeface="+mn-ea"/>
              <a:cs typeface="Whitney Book" pitchFamily="50" charset="0"/>
            </a:endParaRPr>
          </a:p>
        </p:txBody>
      </p:sp>
      <p:sp>
        <p:nvSpPr>
          <p:cNvPr id="40" name="Text Box 5"/>
          <p:cNvSpPr txBox="1">
            <a:spLocks noChangeArrowheads="1"/>
          </p:cNvSpPr>
          <p:nvPr/>
        </p:nvSpPr>
        <p:spPr bwMode="auto">
          <a:xfrm>
            <a:off x="439422" y="1223125"/>
            <a:ext cx="638175" cy="375481"/>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Whitney Book" pitchFamily="50" charset="0"/>
                <a:ea typeface="+mn-ea"/>
                <a:cs typeface="Whitney Book" pitchFamily="50" charset="0"/>
              </a:rPr>
              <a:t>P</a:t>
            </a:r>
          </a:p>
        </p:txBody>
      </p:sp>
      <p:sp>
        <p:nvSpPr>
          <p:cNvPr id="41" name="Text Box 6"/>
          <p:cNvSpPr txBox="1">
            <a:spLocks noChangeArrowheads="1"/>
          </p:cNvSpPr>
          <p:nvPr/>
        </p:nvSpPr>
        <p:spPr bwMode="auto">
          <a:xfrm>
            <a:off x="5759134" y="6363653"/>
            <a:ext cx="1490663" cy="406259"/>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Whitney Book" pitchFamily="50" charset="0"/>
                <a:ea typeface="+mn-ea"/>
                <a:cs typeface="Whitney Book" pitchFamily="50" charset="0"/>
              </a:rPr>
              <a:t>Movies</a:t>
            </a:r>
          </a:p>
        </p:txBody>
      </p:sp>
      <p:sp>
        <p:nvSpPr>
          <p:cNvPr id="46" name="Line 12"/>
          <p:cNvSpPr>
            <a:spLocks noChangeShapeType="1"/>
          </p:cNvSpPr>
          <p:nvPr/>
        </p:nvSpPr>
        <p:spPr bwMode="auto">
          <a:xfrm>
            <a:off x="953772" y="2007553"/>
            <a:ext cx="2400300" cy="4341812"/>
          </a:xfrm>
          <a:prstGeom prst="line">
            <a:avLst/>
          </a:prstGeom>
          <a:noFill/>
          <a:ln w="38100">
            <a:solidFill>
              <a:srgbClr val="C00000"/>
            </a:solidFill>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Whitney Book" pitchFamily="50" charset="0"/>
              <a:ea typeface="+mn-ea"/>
              <a:cs typeface="Whitney Book" pitchFamily="50" charset="0"/>
            </a:endParaRPr>
          </a:p>
        </p:txBody>
      </p:sp>
      <p:sp>
        <p:nvSpPr>
          <p:cNvPr id="48" name="Line 14"/>
          <p:cNvSpPr>
            <a:spLocks noChangeShapeType="1"/>
          </p:cNvSpPr>
          <p:nvPr/>
        </p:nvSpPr>
        <p:spPr bwMode="auto">
          <a:xfrm>
            <a:off x="953772" y="2071054"/>
            <a:ext cx="1427017" cy="4693372"/>
          </a:xfrm>
          <a:prstGeom prst="line">
            <a:avLst/>
          </a:prstGeom>
          <a:noFill/>
          <a:ln w="25400">
            <a:solidFill>
              <a:srgbClr val="C00000"/>
            </a:solidFill>
            <a:prstDash val="dash"/>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Whitney Book" pitchFamily="50" charset="0"/>
              <a:ea typeface="+mn-ea"/>
              <a:cs typeface="Whitney Book" pitchFamily="50" charset="0"/>
            </a:endParaRPr>
          </a:p>
        </p:txBody>
      </p:sp>
      <p:sp>
        <p:nvSpPr>
          <p:cNvPr id="49" name="Text Box 15"/>
          <p:cNvSpPr txBox="1">
            <a:spLocks noChangeArrowheads="1"/>
          </p:cNvSpPr>
          <p:nvPr/>
        </p:nvSpPr>
        <p:spPr bwMode="auto">
          <a:xfrm>
            <a:off x="2329025" y="6382705"/>
            <a:ext cx="538405" cy="375481"/>
          </a:xfrm>
          <a:prstGeom prst="rect">
            <a:avLst/>
          </a:prstGeom>
          <a:noFill/>
          <a:ln w="9525">
            <a:noFill/>
            <a:miter lim="800000"/>
            <a:headEnd/>
            <a:tailEnd/>
          </a:ln>
          <a:effectLst/>
        </p:spPr>
        <p:txBody>
          <a:bodyPr wrap="none" lIns="97530" tIns="48765" rIns="97530" bIns="48765">
            <a:spAutoFit/>
          </a:bodyPr>
          <a:lstStyle/>
          <a:p>
            <a:pPr marL="0" marR="0" lvl="0" indent="0" algn="l" defTabSz="974725"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C00000"/>
                </a:solidFill>
                <a:effectLst/>
                <a:uLnTx/>
                <a:uFillTx/>
                <a:latin typeface="Whitney Book" pitchFamily="50" charset="0"/>
                <a:ea typeface="+mn-ea"/>
                <a:cs typeface="Whitney Book" pitchFamily="50" charset="0"/>
              </a:rPr>
              <a:t>MR</a:t>
            </a:r>
          </a:p>
        </p:txBody>
      </p:sp>
      <p:sp>
        <p:nvSpPr>
          <p:cNvPr id="50" name="Line 16"/>
          <p:cNvSpPr>
            <a:spLocks noChangeShapeType="1"/>
          </p:cNvSpPr>
          <p:nvPr/>
        </p:nvSpPr>
        <p:spPr bwMode="auto">
          <a:xfrm flipV="1">
            <a:off x="2230758" y="4364990"/>
            <a:ext cx="0" cy="1939925"/>
          </a:xfrm>
          <a:prstGeom prst="line">
            <a:avLst/>
          </a:prstGeom>
          <a:noFill/>
          <a:ln w="25400">
            <a:solidFill>
              <a:schemeClr val="tx1"/>
            </a:solidFill>
            <a:prstDash val="sysDot"/>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Whitney Book" pitchFamily="50" charset="0"/>
              <a:ea typeface="+mn-ea"/>
              <a:cs typeface="Whitney Book" pitchFamily="50" charset="0"/>
            </a:endParaRPr>
          </a:p>
        </p:txBody>
      </p:sp>
      <p:sp>
        <p:nvSpPr>
          <p:cNvPr id="51" name="Line 17"/>
          <p:cNvSpPr>
            <a:spLocks noChangeShapeType="1"/>
          </p:cNvSpPr>
          <p:nvPr/>
        </p:nvSpPr>
        <p:spPr bwMode="auto">
          <a:xfrm flipH="1">
            <a:off x="936310" y="4364990"/>
            <a:ext cx="1279525" cy="0"/>
          </a:xfrm>
          <a:prstGeom prst="line">
            <a:avLst/>
          </a:prstGeom>
          <a:noFill/>
          <a:ln w="25400">
            <a:solidFill>
              <a:schemeClr val="tx1"/>
            </a:solidFill>
            <a:prstDash val="sysDot"/>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Whitney Book" pitchFamily="50" charset="0"/>
              <a:ea typeface="+mn-ea"/>
              <a:cs typeface="Whitney Book" pitchFamily="50" charset="0"/>
            </a:endParaRPr>
          </a:p>
        </p:txBody>
      </p:sp>
      <p:sp>
        <p:nvSpPr>
          <p:cNvPr id="52" name="Text Box 18"/>
          <p:cNvSpPr txBox="1">
            <a:spLocks noChangeArrowheads="1"/>
          </p:cNvSpPr>
          <p:nvPr/>
        </p:nvSpPr>
        <p:spPr bwMode="auto">
          <a:xfrm>
            <a:off x="421958" y="4180840"/>
            <a:ext cx="780205" cy="375481"/>
          </a:xfrm>
          <a:prstGeom prst="rect">
            <a:avLst/>
          </a:prstGeom>
          <a:noFill/>
          <a:ln w="9525">
            <a:noFill/>
            <a:miter lim="800000"/>
            <a:headEnd/>
            <a:tailEnd/>
          </a:ln>
          <a:effectLst/>
        </p:spPr>
        <p:txBody>
          <a:bodyPr wrap="square"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Whitney Book" pitchFamily="50" charset="0"/>
                <a:ea typeface="+mn-ea"/>
                <a:cs typeface="Whitney Book" pitchFamily="50" charset="0"/>
              </a:rPr>
              <a:t>$1</a:t>
            </a:r>
          </a:p>
        </p:txBody>
      </p:sp>
      <p:sp>
        <p:nvSpPr>
          <p:cNvPr id="53" name="Text Box 19"/>
          <p:cNvSpPr txBox="1">
            <a:spLocks noChangeArrowheads="1"/>
          </p:cNvSpPr>
          <p:nvPr/>
        </p:nvSpPr>
        <p:spPr bwMode="auto">
          <a:xfrm>
            <a:off x="2004176" y="6319827"/>
            <a:ext cx="722313" cy="375481"/>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Whitney Book" pitchFamily="50" charset="0"/>
                <a:ea typeface="+mn-ea"/>
                <a:cs typeface="Whitney Book" pitchFamily="50" charset="0"/>
              </a:rPr>
              <a:t>8</a:t>
            </a:r>
          </a:p>
        </p:txBody>
      </p:sp>
      <p:grpSp>
        <p:nvGrpSpPr>
          <p:cNvPr id="5" name="Group 4">
            <a:extLst>
              <a:ext uri="{FF2B5EF4-FFF2-40B4-BE49-F238E27FC236}">
                <a16:creationId xmlns:a16="http://schemas.microsoft.com/office/drawing/2014/main" id="{4A4D363E-4F3B-40FE-81EB-279542198EA1}"/>
              </a:ext>
            </a:extLst>
          </p:cNvPr>
          <p:cNvGrpSpPr/>
          <p:nvPr/>
        </p:nvGrpSpPr>
        <p:grpSpPr>
          <a:xfrm>
            <a:off x="464136" y="1840349"/>
            <a:ext cx="3695790" cy="4843423"/>
            <a:chOff x="307539" y="1840349"/>
            <a:chExt cx="3695790" cy="4843423"/>
          </a:xfrm>
        </p:grpSpPr>
        <p:grpSp>
          <p:nvGrpSpPr>
            <p:cNvPr id="4" name="Group 3">
              <a:extLst>
                <a:ext uri="{FF2B5EF4-FFF2-40B4-BE49-F238E27FC236}">
                  <a16:creationId xmlns:a16="http://schemas.microsoft.com/office/drawing/2014/main" id="{89E4FCC4-3156-46D9-9919-F9A776ACA431}"/>
                </a:ext>
              </a:extLst>
            </p:cNvPr>
            <p:cNvGrpSpPr/>
            <p:nvPr/>
          </p:nvGrpSpPr>
          <p:grpSpPr>
            <a:xfrm>
              <a:off x="307539" y="1840349"/>
              <a:ext cx="3695790" cy="4354771"/>
              <a:chOff x="307539" y="1840349"/>
              <a:chExt cx="3695790" cy="4354771"/>
            </a:xfrm>
          </p:grpSpPr>
          <p:sp>
            <p:nvSpPr>
              <p:cNvPr id="45" name="Text Box 11"/>
              <p:cNvSpPr txBox="1">
                <a:spLocks noChangeArrowheads="1"/>
              </p:cNvSpPr>
              <p:nvPr/>
            </p:nvSpPr>
            <p:spPr bwMode="auto">
              <a:xfrm>
                <a:off x="3201642" y="5819639"/>
                <a:ext cx="801687" cy="375481"/>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b="0" i="1" u="none" strike="noStrike" kern="1200" cap="none" spc="0" normalizeH="0" baseline="0" noProof="0" dirty="0">
                    <a:ln>
                      <a:noFill/>
                    </a:ln>
                    <a:solidFill>
                      <a:srgbClr val="C00000"/>
                    </a:solidFill>
                    <a:effectLst/>
                    <a:uLnTx/>
                    <a:uFillTx/>
                    <a:latin typeface="Whitney Book" pitchFamily="50" charset="0"/>
                    <a:ea typeface="+mn-ea"/>
                    <a:cs typeface="Whitney Book" pitchFamily="50" charset="0"/>
                  </a:rPr>
                  <a:t>D</a:t>
                </a:r>
              </a:p>
            </p:txBody>
          </p:sp>
          <p:sp>
            <p:nvSpPr>
              <p:cNvPr id="56" name="TextBox 55"/>
              <p:cNvSpPr txBox="1"/>
              <p:nvPr/>
            </p:nvSpPr>
            <p:spPr>
              <a:xfrm>
                <a:off x="307539" y="1840349"/>
                <a:ext cx="70400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Whitney Book" pitchFamily="50" charset="0"/>
                    <a:ea typeface="+mn-ea"/>
                    <a:cs typeface="Whitney Book" pitchFamily="50" charset="0"/>
                  </a:rPr>
                  <a:t>$2</a:t>
                </a:r>
              </a:p>
            </p:txBody>
          </p:sp>
        </p:grpSp>
        <p:sp>
          <p:nvSpPr>
            <p:cNvPr id="57" name="TextBox 56"/>
            <p:cNvSpPr txBox="1"/>
            <p:nvPr/>
          </p:nvSpPr>
          <p:spPr>
            <a:xfrm>
              <a:off x="3170237" y="6314440"/>
              <a:ext cx="574360"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Whitney Book" pitchFamily="50" charset="0"/>
                  <a:ea typeface="+mn-ea"/>
                  <a:cs typeface="Whitney Book" pitchFamily="50" charset="0"/>
                </a:rPr>
                <a:t>16</a:t>
              </a:r>
            </a:p>
          </p:txBody>
        </p:sp>
      </p:grpSp>
      <p:grpSp>
        <p:nvGrpSpPr>
          <p:cNvPr id="12" name="Group 11">
            <a:extLst>
              <a:ext uri="{FF2B5EF4-FFF2-40B4-BE49-F238E27FC236}">
                <a16:creationId xmlns:a16="http://schemas.microsoft.com/office/drawing/2014/main" id="{23B721AE-A143-4571-A6C5-6A6C47033467}"/>
              </a:ext>
            </a:extLst>
          </p:cNvPr>
          <p:cNvGrpSpPr/>
          <p:nvPr/>
        </p:nvGrpSpPr>
        <p:grpSpPr>
          <a:xfrm>
            <a:off x="916183" y="4374516"/>
            <a:ext cx="1303161" cy="1918805"/>
            <a:chOff x="916183" y="4374516"/>
            <a:chExt cx="1303161" cy="1918805"/>
          </a:xfrm>
        </p:grpSpPr>
        <p:sp>
          <p:nvSpPr>
            <p:cNvPr id="54" name="Rectangle 25"/>
            <p:cNvSpPr>
              <a:spLocks noChangeArrowheads="1"/>
            </p:cNvSpPr>
            <p:nvPr/>
          </p:nvSpPr>
          <p:spPr bwMode="auto">
            <a:xfrm>
              <a:off x="916183" y="4374516"/>
              <a:ext cx="1303161" cy="1918805"/>
            </a:xfrm>
            <a:prstGeom prst="rect">
              <a:avLst/>
            </a:prstGeom>
            <a:solidFill>
              <a:srgbClr val="FFFF00"/>
            </a:solidFill>
            <a:ln w="9525">
              <a:solidFill>
                <a:schemeClr val="tx1"/>
              </a:solidFill>
              <a:miter lim="800000"/>
              <a:headEnd/>
              <a:tailEnd/>
            </a:ln>
            <a:effectLst/>
          </p:spPr>
          <p:txBody>
            <a:bodyPr wrap="none" lIns="104025" tIns="52013" rIns="104025" bIns="52013" anchor="ctr"/>
            <a:lstStyle/>
            <a:p>
              <a:pPr marL="0" marR="0" lvl="0" indent="0" algn="ctr" defTabSz="97472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black"/>
                </a:solidFill>
                <a:effectLst/>
                <a:uLnTx/>
                <a:uFillTx/>
                <a:latin typeface="Whitney Book" pitchFamily="50" charset="0"/>
                <a:ea typeface="+mn-ea"/>
                <a:cs typeface="Whitney Book" pitchFamily="50" charset="0"/>
              </a:endParaRPr>
            </a:p>
          </p:txBody>
        </p:sp>
        <p:sp>
          <p:nvSpPr>
            <p:cNvPr id="58" name="Rectangle 57"/>
            <p:cNvSpPr/>
            <p:nvPr/>
          </p:nvSpPr>
          <p:spPr>
            <a:xfrm>
              <a:off x="1056704" y="4837621"/>
              <a:ext cx="1071126" cy="707886"/>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Whitney Book" pitchFamily="50" charset="0"/>
                  <a:ea typeface="+mn-ea"/>
                  <a:cs typeface="Whitney Book" pitchFamily="50" charset="0"/>
                </a:rPr>
                <a:t>Max. TR</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Whitney Book" pitchFamily="50" charset="0"/>
                  <a:ea typeface="+mn-ea"/>
                  <a:cs typeface="Whitney Book" pitchFamily="50" charset="0"/>
                </a:rPr>
                <a:t>=$8</a:t>
              </a:r>
            </a:p>
          </p:txBody>
        </p:sp>
      </p:grpSp>
      <p:pic>
        <p:nvPicPr>
          <p:cNvPr id="59" name="Picture 2" descr="http://www.top10base.com/wp-content/uploads/2015/05/tips-to-enhance-Netflix.jpg"/>
          <p:cNvPicPr>
            <a:picLocks noChangeAspect="1" noChangeArrowheads="1"/>
          </p:cNvPicPr>
          <p:nvPr/>
        </p:nvPicPr>
        <p:blipFill>
          <a:blip r:embed="rId3" cstate="print">
            <a:extLst>
              <a:ext uri="{BEBA8EAE-BF5A-486C-A8C5-ECC9F3942E4B}">
                <a14:imgProps xmlns:a14="http://schemas.microsoft.com/office/drawing/2010/main">
                  <a14:imgLayer r:embed="rId4">
                    <a14:imgEffect>
                      <a14:backgroundRemoval t="0" b="100000" l="643" r="100000">
                        <a14:foregroundMark x1="27298" y1="27793" x2="50460" y2="34840"/>
                        <a14:foregroundMark x1="42096" y1="25133" x2="41820" y2="43750"/>
                      </a14:backgroundRemoval>
                    </a14:imgEffect>
                  </a14:imgLayer>
                </a14:imgProps>
              </a:ext>
              <a:ext uri="{28A0092B-C50C-407E-A947-70E740481C1C}">
                <a14:useLocalDpi xmlns:a14="http://schemas.microsoft.com/office/drawing/2010/main" val="0"/>
              </a:ext>
            </a:extLst>
          </a:blip>
          <a:srcRect/>
          <a:stretch>
            <a:fillRect/>
          </a:stretch>
        </p:blipFill>
        <p:spPr bwMode="auto">
          <a:xfrm>
            <a:off x="5083555" y="1543209"/>
            <a:ext cx="3773340" cy="2608044"/>
          </a:xfrm>
          <a:prstGeom prst="rect">
            <a:avLst/>
          </a:prstGeom>
          <a:noFill/>
          <a:extLst>
            <a:ext uri="{909E8E84-426E-40dd-AFC4-6F175D3DCCD1}">
              <a14:hiddenFill xmlns:a14="http://schemas.microsoft.com/office/drawing/2010/main" xmlns="">
                <a:solidFill>
                  <a:srgbClr val="FFFFFF"/>
                </a:solidFill>
              </a14:hiddenFill>
            </a:ext>
          </a:extLst>
        </p:spPr>
      </p:pic>
      <p:sp>
        <p:nvSpPr>
          <p:cNvPr id="3" name="Slide Number Placeholder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Whitney Book" pitchFamily="50" charset="0"/>
                <a:ea typeface="+mn-ea"/>
                <a:cs typeface="Whitney Book" pitchFamily="50" charset="0"/>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300" normalizeH="0" baseline="0" noProof="0">
              <a:ln>
                <a:noFill/>
              </a:ln>
              <a:solidFill>
                <a:prstClr val="black">
                  <a:lumMod val="65000"/>
                  <a:lumOff val="35000"/>
                </a:prstClr>
              </a:solidFill>
              <a:effectLst/>
              <a:uLnTx/>
              <a:uFillTx/>
              <a:latin typeface="Whitney Book" pitchFamily="50" charset="0"/>
              <a:ea typeface="+mn-ea"/>
              <a:cs typeface="Whitney Book" pitchFamily="50" charset="0"/>
            </a:endParaRPr>
          </a:p>
        </p:txBody>
      </p:sp>
      <p:sp>
        <p:nvSpPr>
          <p:cNvPr id="26" name="Text Box 11">
            <a:extLst>
              <a:ext uri="{FF2B5EF4-FFF2-40B4-BE49-F238E27FC236}">
                <a16:creationId xmlns:a16="http://schemas.microsoft.com/office/drawing/2014/main" id="{5DF16823-D5A2-3E4E-98CF-D47BAF60AD28}"/>
              </a:ext>
            </a:extLst>
          </p:cNvPr>
          <p:cNvSpPr txBox="1">
            <a:spLocks noChangeArrowheads="1"/>
          </p:cNvSpPr>
          <p:nvPr/>
        </p:nvSpPr>
        <p:spPr bwMode="auto">
          <a:xfrm>
            <a:off x="1208800" y="1925277"/>
            <a:ext cx="1968075" cy="467814"/>
          </a:xfrm>
          <a:prstGeom prst="rect">
            <a:avLst/>
          </a:prstGeom>
          <a:noFill/>
          <a:ln w="9525">
            <a:noFill/>
            <a:miter lim="800000"/>
            <a:headEnd/>
            <a:tailEnd/>
          </a:ln>
          <a:effectLst/>
        </p:spPr>
        <p:txBody>
          <a:bodyPr wrap="square"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400" b="0" i="1" u="none" strike="noStrike" kern="1200" cap="none" spc="0" normalizeH="0" baseline="0" noProof="0" dirty="0">
                <a:ln>
                  <a:noFill/>
                </a:ln>
                <a:solidFill>
                  <a:srgbClr val="C00000"/>
                </a:solidFill>
                <a:effectLst/>
                <a:uLnTx/>
                <a:uFillTx/>
                <a:latin typeface="Whitney Book" pitchFamily="50" charset="0"/>
                <a:ea typeface="+mn-ea"/>
                <a:cs typeface="Whitney Book" pitchFamily="50" charset="0"/>
              </a:rPr>
              <a:t>P=2-Q/8</a:t>
            </a:r>
          </a:p>
        </p:txBody>
      </p:sp>
      <p:sp>
        <p:nvSpPr>
          <p:cNvPr id="25" name="Rectangle 24">
            <a:extLst>
              <a:ext uri="{FF2B5EF4-FFF2-40B4-BE49-F238E27FC236}">
                <a16:creationId xmlns:a16="http://schemas.microsoft.com/office/drawing/2014/main" id="{E55B9D16-D3F1-4931-951C-37BCB7F5A2B6}"/>
              </a:ext>
            </a:extLst>
          </p:cNvPr>
          <p:cNvSpPr>
            <a:spLocks noChangeArrowheads="1"/>
          </p:cNvSpPr>
          <p:nvPr/>
        </p:nvSpPr>
        <p:spPr bwMode="auto">
          <a:xfrm>
            <a:off x="1932037" y="2705279"/>
            <a:ext cx="2553306" cy="740954"/>
          </a:xfrm>
          <a:prstGeom prst="rect">
            <a:avLst/>
          </a:prstGeom>
          <a:noFill/>
          <a:ln w="25400">
            <a:solidFill>
              <a:schemeClr val="tx2"/>
            </a:solidFill>
            <a:miter lim="800000"/>
            <a:headEnd/>
            <a:tailEnd/>
          </a:ln>
          <a:effectLst/>
        </p:spPr>
        <p:txBody>
          <a:bodyPr wrap="none" lIns="19050" tIns="26988" rIns="19050" bIns="26988" anchor="ctr"/>
          <a:lstStyle/>
          <a:p>
            <a:pPr marL="0" marR="0" lvl="0" indent="0" algn="ctr" defTabSz="457200" rtl="0" eaLnBrk="1" fontAlgn="auto" latinLnBrk="0" hangingPunct="1">
              <a:lnSpc>
                <a:spcPct val="100000"/>
              </a:lnSpc>
              <a:spcBef>
                <a:spcPts val="0"/>
              </a:spcBef>
              <a:buClrTx/>
              <a:buSzTx/>
              <a:buFontTx/>
              <a:buNone/>
              <a:tabLst>
                <a:tab pos="457200" algn="l"/>
                <a:tab pos="914400" algn="l"/>
                <a:tab pos="1371600" algn="l"/>
              </a:tabLst>
              <a:defRPr/>
            </a:pPr>
            <a:r>
              <a:rPr kumimoji="0" lang="en-US" sz="1800" b="0" i="0" u="none" strike="noStrike" kern="1200" cap="none" spc="0" normalizeH="0" baseline="0" noProof="0" dirty="0">
                <a:ln>
                  <a:noFill/>
                </a:ln>
                <a:solidFill>
                  <a:schemeClr val="accent1">
                    <a:lumMod val="75000"/>
                  </a:schemeClr>
                </a:solidFill>
                <a:effectLst/>
                <a:uLnTx/>
                <a:uFillTx/>
                <a:latin typeface="Whitney Book" pitchFamily="50" charset="0"/>
                <a:ea typeface="+mn-ea"/>
                <a:cs typeface="Whitney Book" pitchFamily="50" charset="0"/>
              </a:rPr>
              <a:t>Since MC = 0, profit max. </a:t>
            </a:r>
          </a:p>
          <a:p>
            <a:pPr marL="0" marR="0" lvl="0" indent="0" algn="ctr" defTabSz="457200" rtl="0" eaLnBrk="1" fontAlgn="auto" latinLnBrk="0" hangingPunct="1">
              <a:lnSpc>
                <a:spcPct val="100000"/>
              </a:lnSpc>
              <a:spcBef>
                <a:spcPts val="0"/>
              </a:spcBef>
              <a:buClrTx/>
              <a:buSzTx/>
              <a:buFontTx/>
              <a:buNone/>
              <a:tabLst>
                <a:tab pos="457200" algn="l"/>
                <a:tab pos="914400" algn="l"/>
                <a:tab pos="1371600" algn="l"/>
              </a:tabLst>
              <a:defRPr/>
            </a:pPr>
            <a:r>
              <a:rPr kumimoji="0" lang="en-US" sz="1800" b="0" i="0" u="none" strike="noStrike" kern="1200" cap="none" spc="0" normalizeH="0" baseline="0" noProof="0" dirty="0">
                <a:ln>
                  <a:noFill/>
                </a:ln>
                <a:solidFill>
                  <a:schemeClr val="accent1">
                    <a:lumMod val="75000"/>
                  </a:schemeClr>
                </a:solidFill>
                <a:effectLst/>
                <a:uLnTx/>
                <a:uFillTx/>
                <a:latin typeface="Whitney Book" pitchFamily="50" charset="0"/>
                <a:ea typeface="+mn-ea"/>
                <a:cs typeface="Whitney Book" pitchFamily="50" charset="0"/>
              </a:rPr>
              <a:t>implies:</a:t>
            </a:r>
            <a:r>
              <a:rPr kumimoji="0" lang="en-US" sz="1800" b="0" i="0" u="none" strike="noStrike" kern="1200" cap="none" spc="0" normalizeH="0" noProof="0" dirty="0">
                <a:ln>
                  <a:noFill/>
                </a:ln>
                <a:solidFill>
                  <a:schemeClr val="accent1">
                    <a:lumMod val="75000"/>
                  </a:schemeClr>
                </a:solidFill>
                <a:effectLst/>
                <a:uLnTx/>
                <a:uFillTx/>
                <a:latin typeface="Whitney Book" pitchFamily="50" charset="0"/>
                <a:ea typeface="+mn-ea"/>
                <a:cs typeface="Whitney Book" pitchFamily="50" charset="0"/>
              </a:rPr>
              <a:t> MR=MC=0</a:t>
            </a:r>
            <a:endParaRPr kumimoji="0" lang="en-US" sz="1800" b="0" i="0" u="none" strike="noStrike" kern="1200" cap="none" spc="0" normalizeH="0" baseline="0" noProof="0" dirty="0">
              <a:ln>
                <a:noFill/>
              </a:ln>
              <a:solidFill>
                <a:schemeClr val="accent1">
                  <a:lumMod val="75000"/>
                </a:schemeClr>
              </a:solidFill>
              <a:effectLst/>
              <a:uLnTx/>
              <a:uFillTx/>
              <a:latin typeface="Whitney Book" pitchFamily="50" charset="0"/>
              <a:ea typeface="+mn-ea"/>
              <a:cs typeface="Whitney Book" pitchFamily="50" charset="0"/>
            </a:endParaRPr>
          </a:p>
        </p:txBody>
      </p:sp>
      <p:grpSp>
        <p:nvGrpSpPr>
          <p:cNvPr id="11" name="Group 10">
            <a:extLst>
              <a:ext uri="{FF2B5EF4-FFF2-40B4-BE49-F238E27FC236}">
                <a16:creationId xmlns:a16="http://schemas.microsoft.com/office/drawing/2014/main" id="{247AB9BF-819B-4F93-AA8E-E1544C0D7189}"/>
              </a:ext>
            </a:extLst>
          </p:cNvPr>
          <p:cNvGrpSpPr/>
          <p:nvPr/>
        </p:nvGrpSpPr>
        <p:grpSpPr>
          <a:xfrm>
            <a:off x="2329026" y="3942329"/>
            <a:ext cx="2754529" cy="656487"/>
            <a:chOff x="2329026" y="3942329"/>
            <a:chExt cx="2754529" cy="656487"/>
          </a:xfrm>
        </p:grpSpPr>
        <p:sp>
          <p:nvSpPr>
            <p:cNvPr id="55" name="Rectangle 24"/>
            <p:cNvSpPr>
              <a:spLocks noChangeArrowheads="1"/>
            </p:cNvSpPr>
            <p:nvPr/>
          </p:nvSpPr>
          <p:spPr bwMode="auto">
            <a:xfrm>
              <a:off x="2530249" y="3942329"/>
              <a:ext cx="2553306" cy="656487"/>
            </a:xfrm>
            <a:prstGeom prst="rect">
              <a:avLst/>
            </a:prstGeom>
            <a:noFill/>
            <a:ln w="25400">
              <a:noFill/>
              <a:miter lim="800000"/>
              <a:headEnd/>
              <a:tailEnd/>
            </a:ln>
            <a:effectLst/>
          </p:spPr>
          <p:txBody>
            <a:bodyPr wrap="none" lIns="19050" tIns="26988" rIns="19050" bIns="26988" anchor="ctr"/>
            <a:lstStyle/>
            <a:p>
              <a:pPr marL="0" marR="0" lvl="0" indent="0" algn="ctr" defTabSz="457200" rtl="0" eaLnBrk="1" fontAlgn="auto" latinLnBrk="0" hangingPunct="1">
                <a:lnSpc>
                  <a:spcPct val="100000"/>
                </a:lnSpc>
                <a:spcBef>
                  <a:spcPts val="0"/>
                </a:spcBef>
                <a:buClrTx/>
                <a:buSzTx/>
                <a:buFontTx/>
                <a:buNone/>
                <a:tabLst>
                  <a:tab pos="457200" algn="l"/>
                  <a:tab pos="914400" algn="l"/>
                  <a:tab pos="1371600" algn="l"/>
                </a:tabLst>
                <a:defRPr/>
              </a:pPr>
              <a:r>
                <a:rPr kumimoji="0" lang="en-US" sz="1400" b="0" i="0" u="none" strike="noStrike" kern="1200" cap="none" spc="0" normalizeH="0" baseline="0" noProof="0" dirty="0">
                  <a:ln>
                    <a:noFill/>
                  </a:ln>
                  <a:effectLst/>
                  <a:uLnTx/>
                  <a:uFillTx/>
                  <a:latin typeface="Whitney Book" pitchFamily="50" charset="0"/>
                  <a:ea typeface="+mn-ea"/>
                  <a:cs typeface="Whitney Book" pitchFamily="50" charset="0"/>
                </a:rPr>
                <a:t>Under simple pricing, Netflix </a:t>
              </a:r>
            </a:p>
            <a:p>
              <a:pPr marL="0" marR="0" lvl="0" indent="0" algn="ctr" defTabSz="457200" rtl="0" eaLnBrk="1" fontAlgn="auto" latinLnBrk="0" hangingPunct="1">
                <a:lnSpc>
                  <a:spcPct val="100000"/>
                </a:lnSpc>
                <a:spcBef>
                  <a:spcPts val="0"/>
                </a:spcBef>
                <a:buClrTx/>
                <a:buSzTx/>
                <a:buFontTx/>
                <a:buNone/>
                <a:tabLst>
                  <a:tab pos="457200" algn="l"/>
                  <a:tab pos="914400" algn="l"/>
                  <a:tab pos="1371600" algn="l"/>
                </a:tabLst>
                <a:defRPr/>
              </a:pPr>
              <a:r>
                <a:rPr kumimoji="0" lang="en-US" sz="1400" b="0" i="0" u="none" strike="noStrike" kern="1200" cap="none" spc="0" normalizeH="0" baseline="0" noProof="0" dirty="0">
                  <a:ln>
                    <a:noFill/>
                  </a:ln>
                  <a:effectLst/>
                  <a:uLnTx/>
                  <a:uFillTx/>
                  <a:latin typeface="Whitney Book" pitchFamily="50" charset="0"/>
                  <a:ea typeface="+mn-ea"/>
                  <a:cs typeface="Whitney Book" pitchFamily="50" charset="0"/>
                </a:rPr>
                <a:t>would charge $1 per movie</a:t>
              </a:r>
            </a:p>
          </p:txBody>
        </p:sp>
        <p:cxnSp>
          <p:nvCxnSpPr>
            <p:cNvPr id="9" name="Straight Arrow Connector 8">
              <a:extLst>
                <a:ext uri="{FF2B5EF4-FFF2-40B4-BE49-F238E27FC236}">
                  <a16:creationId xmlns:a16="http://schemas.microsoft.com/office/drawing/2014/main" id="{5FB2CD88-64D1-4AA6-8758-C295B3DBFB98}"/>
                </a:ext>
              </a:extLst>
            </p:cNvPr>
            <p:cNvCxnSpPr>
              <a:cxnSpLocks/>
            </p:cNvCxnSpPr>
            <p:nvPr/>
          </p:nvCxnSpPr>
          <p:spPr>
            <a:xfrm flipH="1">
              <a:off x="2329026" y="4299282"/>
              <a:ext cx="399647" cy="7523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D0D12DDD-BD14-4664-A2F2-A013585A799A}"/>
              </a:ext>
            </a:extLst>
          </p:cNvPr>
          <p:cNvGrpSpPr/>
          <p:nvPr/>
        </p:nvGrpSpPr>
        <p:grpSpPr>
          <a:xfrm>
            <a:off x="936310" y="5899273"/>
            <a:ext cx="5606886" cy="375481"/>
            <a:chOff x="936310" y="5899273"/>
            <a:chExt cx="5606886" cy="375481"/>
          </a:xfrm>
        </p:grpSpPr>
        <p:cxnSp>
          <p:nvCxnSpPr>
            <p:cNvPr id="14" name="Straight Connector 13">
              <a:extLst>
                <a:ext uri="{FF2B5EF4-FFF2-40B4-BE49-F238E27FC236}">
                  <a16:creationId xmlns:a16="http://schemas.microsoft.com/office/drawing/2014/main" id="{14758F8C-814D-4FC2-9B3B-B4AB69EB2C78}"/>
                </a:ext>
              </a:extLst>
            </p:cNvPr>
            <p:cNvCxnSpPr/>
            <p:nvPr/>
          </p:nvCxnSpPr>
          <p:spPr>
            <a:xfrm flipH="1">
              <a:off x="936310" y="6261047"/>
              <a:ext cx="5120245"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5" name="Text Box 11">
              <a:extLst>
                <a:ext uri="{FF2B5EF4-FFF2-40B4-BE49-F238E27FC236}">
                  <a16:creationId xmlns:a16="http://schemas.microsoft.com/office/drawing/2014/main" id="{E7E82092-E71E-4A29-912C-6AB6FBC08E22}"/>
                </a:ext>
              </a:extLst>
            </p:cNvPr>
            <p:cNvSpPr txBox="1">
              <a:spLocks noChangeArrowheads="1"/>
            </p:cNvSpPr>
            <p:nvPr/>
          </p:nvSpPr>
          <p:spPr bwMode="auto">
            <a:xfrm>
              <a:off x="5741509" y="5899273"/>
              <a:ext cx="801687" cy="375481"/>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b="0" i="1" u="none" strike="noStrike" kern="1200" cap="none" spc="0" normalizeH="0" baseline="0" noProof="0" dirty="0">
                  <a:ln>
                    <a:noFill/>
                  </a:ln>
                  <a:solidFill>
                    <a:srgbClr val="0070C0"/>
                  </a:solidFill>
                  <a:effectLst/>
                  <a:uLnTx/>
                  <a:uFillTx/>
                  <a:latin typeface="Whitney Book" pitchFamily="50" charset="0"/>
                  <a:ea typeface="+mn-ea"/>
                  <a:cs typeface="Whitney Book" pitchFamily="50" charset="0"/>
                </a:rPr>
                <a:t>MC=0</a:t>
              </a:r>
            </a:p>
          </p:txBody>
        </p:sp>
      </p:grpSp>
    </p:spTree>
    <p:extLst>
      <p:ext uri="{BB962C8B-B14F-4D97-AF65-F5344CB8AC3E}">
        <p14:creationId xmlns:p14="http://schemas.microsoft.com/office/powerpoint/2010/main" val="32269357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p:bldP spid="41" grpId="0"/>
      <p:bldP spid="46" grpId="0" animBg="1"/>
      <p:bldP spid="48" grpId="0" animBg="1"/>
      <p:bldP spid="49" grpId="0"/>
      <p:bldP spid="50" grpId="0" animBg="1"/>
      <p:bldP spid="51" grpId="0" animBg="1"/>
      <p:bldP spid="52" grpId="0"/>
      <p:bldP spid="53" grpId="0"/>
      <p:bldP spid="26" grpId="0"/>
      <p:bldP spid="25"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a:xfrm>
            <a:off x="287196" y="138735"/>
            <a:ext cx="8229600" cy="1143000"/>
          </a:xfrm>
        </p:spPr>
        <p:txBody>
          <a:bodyPr/>
          <a:lstStyle/>
          <a:p>
            <a:r>
              <a:rPr lang="en-US" dirty="0"/>
              <a:t>Simple pricing:</a:t>
            </a:r>
            <a:br>
              <a:rPr lang="en-US" dirty="0"/>
            </a:br>
            <a:r>
              <a:rPr lang="en-US" dirty="0"/>
              <a:t>Netflix would ‘lose’ Revenues</a:t>
            </a:r>
          </a:p>
        </p:txBody>
      </p:sp>
      <p:sp>
        <p:nvSpPr>
          <p:cNvPr id="6" name="Content Placeholder 5"/>
          <p:cNvSpPr>
            <a:spLocks noGrp="1"/>
          </p:cNvSpPr>
          <p:nvPr>
            <p:ph idx="1"/>
          </p:nvPr>
        </p:nvSpPr>
        <p:spPr>
          <a:xfrm>
            <a:off x="5628640" y="1342711"/>
            <a:ext cx="3058160" cy="4525963"/>
          </a:xfrm>
        </p:spPr>
        <p:txBody>
          <a:bodyPr>
            <a:normAutofit/>
          </a:bodyPr>
          <a:lstStyle/>
          <a:p>
            <a:pPr defTabSz="914400"/>
            <a:r>
              <a:rPr lang="en-US" sz="2400" dirty="0"/>
              <a:t>Simplifying assumption: MC=0</a:t>
            </a:r>
          </a:p>
          <a:p>
            <a:pPr defTabSz="914400">
              <a:lnSpc>
                <a:spcPct val="90000"/>
              </a:lnSpc>
            </a:pPr>
            <a:endParaRPr lang="en-US" sz="2400" dirty="0"/>
          </a:p>
          <a:p>
            <a:pPr defTabSz="914400">
              <a:lnSpc>
                <a:spcPct val="90000"/>
              </a:lnSpc>
            </a:pPr>
            <a:r>
              <a:rPr lang="en-US" sz="2400" dirty="0"/>
              <a:t>“Wasted profits”: consumer surplus + unexploited markets</a:t>
            </a:r>
          </a:p>
          <a:p>
            <a:pPr defTabSz="914400">
              <a:lnSpc>
                <a:spcPct val="90000"/>
              </a:lnSpc>
            </a:pPr>
            <a:endParaRPr lang="en-US" sz="2400" dirty="0"/>
          </a:p>
          <a:p>
            <a:pPr defTabSz="914400">
              <a:lnSpc>
                <a:spcPct val="90000"/>
              </a:lnSpc>
            </a:pPr>
            <a:r>
              <a:rPr lang="en-US" sz="2400" dirty="0"/>
              <a:t>Can do better using complex pricing</a:t>
            </a:r>
          </a:p>
        </p:txBody>
      </p:sp>
      <p:sp>
        <p:nvSpPr>
          <p:cNvPr id="20" name="Line 34"/>
          <p:cNvSpPr>
            <a:spLocks noChangeShapeType="1"/>
          </p:cNvSpPr>
          <p:nvPr/>
        </p:nvSpPr>
        <p:spPr bwMode="auto">
          <a:xfrm flipH="1">
            <a:off x="1137932" y="1857557"/>
            <a:ext cx="1077748" cy="2159218"/>
          </a:xfrm>
          <a:prstGeom prst="line">
            <a:avLst/>
          </a:prstGeom>
          <a:noFill/>
          <a:ln w="12700">
            <a:solidFill>
              <a:schemeClr val="tx1"/>
            </a:solidFill>
            <a:round/>
            <a:headEnd type="none" w="sm" len="sm"/>
            <a:tailEnd type="stealth" w="med" len="lg"/>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21" name="Line 35"/>
          <p:cNvSpPr>
            <a:spLocks noChangeShapeType="1"/>
          </p:cNvSpPr>
          <p:nvPr/>
        </p:nvSpPr>
        <p:spPr bwMode="auto">
          <a:xfrm flipH="1">
            <a:off x="2267498" y="3455262"/>
            <a:ext cx="1077748" cy="2159218"/>
          </a:xfrm>
          <a:prstGeom prst="line">
            <a:avLst/>
          </a:prstGeom>
          <a:noFill/>
          <a:ln w="12700">
            <a:solidFill>
              <a:schemeClr val="tx1"/>
            </a:solidFill>
            <a:round/>
            <a:headEnd type="none" w="sm" len="sm"/>
            <a:tailEnd type="stealth" w="med" len="lg"/>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22" name="Rectangle 36"/>
          <p:cNvSpPr>
            <a:spLocks noChangeArrowheads="1"/>
          </p:cNvSpPr>
          <p:nvPr/>
        </p:nvSpPr>
        <p:spPr bwMode="auto">
          <a:xfrm>
            <a:off x="2126504" y="1574661"/>
            <a:ext cx="1891543"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a:ea typeface="+mn-ea"/>
                <a:cs typeface="Times New Roman" pitchFamily="18" charset="0"/>
              </a:rPr>
              <a:t>Consumer Surplus</a:t>
            </a:r>
          </a:p>
        </p:txBody>
      </p:sp>
      <p:sp>
        <p:nvSpPr>
          <p:cNvPr id="23" name="Rectangle 37"/>
          <p:cNvSpPr>
            <a:spLocks noChangeArrowheads="1"/>
          </p:cNvSpPr>
          <p:nvPr/>
        </p:nvSpPr>
        <p:spPr bwMode="auto">
          <a:xfrm>
            <a:off x="2970128" y="3054273"/>
            <a:ext cx="2123851"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a:ea typeface="+mn-ea"/>
                <a:cs typeface="Times New Roman" pitchFamily="18" charset="0"/>
              </a:rPr>
              <a:t>Unexploited Markets</a:t>
            </a:r>
          </a:p>
        </p:txBody>
      </p:sp>
      <p:sp>
        <p:nvSpPr>
          <p:cNvPr id="24" name="Line 38"/>
          <p:cNvSpPr>
            <a:spLocks noChangeShapeType="1"/>
          </p:cNvSpPr>
          <p:nvPr/>
        </p:nvSpPr>
        <p:spPr bwMode="auto">
          <a:xfrm flipH="1">
            <a:off x="1607611" y="2561735"/>
            <a:ext cx="1075119" cy="2159218"/>
          </a:xfrm>
          <a:prstGeom prst="line">
            <a:avLst/>
          </a:prstGeom>
          <a:noFill/>
          <a:ln w="12700">
            <a:solidFill>
              <a:schemeClr val="tx1"/>
            </a:solidFill>
            <a:round/>
            <a:headEnd type="none" w="sm" len="sm"/>
            <a:tailEnd type="stealth" w="med" len="lg"/>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25" name="Rectangle 39"/>
          <p:cNvSpPr>
            <a:spLocks noChangeArrowheads="1"/>
          </p:cNvSpPr>
          <p:nvPr/>
        </p:nvSpPr>
        <p:spPr bwMode="auto">
          <a:xfrm>
            <a:off x="2646666" y="2365464"/>
            <a:ext cx="1066895"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a:ea typeface="+mn-ea"/>
                <a:cs typeface="Times New Roman" pitchFamily="18" charset="0"/>
              </a:rPr>
              <a:t>Revenues</a:t>
            </a:r>
          </a:p>
        </p:txBody>
      </p:sp>
      <p:grpSp>
        <p:nvGrpSpPr>
          <p:cNvPr id="26" name="Group 25"/>
          <p:cNvGrpSpPr/>
          <p:nvPr/>
        </p:nvGrpSpPr>
        <p:grpSpPr>
          <a:xfrm>
            <a:off x="515911" y="1009953"/>
            <a:ext cx="5112729" cy="5398044"/>
            <a:chOff x="762000" y="1219200"/>
            <a:chExt cx="5112729" cy="5398044"/>
          </a:xfrm>
        </p:grpSpPr>
        <p:sp>
          <p:nvSpPr>
            <p:cNvPr id="27" name="Line 31"/>
            <p:cNvSpPr>
              <a:spLocks noChangeShapeType="1"/>
            </p:cNvSpPr>
            <p:nvPr/>
          </p:nvSpPr>
          <p:spPr bwMode="auto">
            <a:xfrm>
              <a:off x="762000" y="1219200"/>
              <a:ext cx="0" cy="5398044"/>
            </a:xfrm>
            <a:prstGeom prst="line">
              <a:avLst/>
            </a:prstGeom>
            <a:noFill/>
            <a:ln w="25400">
              <a:solidFill>
                <a:schemeClr val="tx1"/>
              </a:solidFill>
              <a:round/>
              <a:headEnd type="arrow" w="med" len="med"/>
              <a:tailEnd type="none" w="med" len="me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28" name="Line 32"/>
            <p:cNvSpPr>
              <a:spLocks noChangeShapeType="1"/>
            </p:cNvSpPr>
            <p:nvPr/>
          </p:nvSpPr>
          <p:spPr bwMode="auto">
            <a:xfrm>
              <a:off x="762000" y="6617244"/>
              <a:ext cx="5112729" cy="0"/>
            </a:xfrm>
            <a:prstGeom prst="line">
              <a:avLst/>
            </a:prstGeom>
            <a:noFill/>
            <a:ln w="25400">
              <a:solidFill>
                <a:schemeClr val="tx1"/>
              </a:solidFill>
              <a:round/>
              <a:headEnd type="none" w="sm" len="sm"/>
              <a:tailEnd type="arrow" w="med" len="me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grpSp>
      <p:sp>
        <p:nvSpPr>
          <p:cNvPr id="30" name="Rectangle 36"/>
          <p:cNvSpPr>
            <a:spLocks noChangeArrowheads="1"/>
          </p:cNvSpPr>
          <p:nvPr/>
        </p:nvSpPr>
        <p:spPr bwMode="auto">
          <a:xfrm>
            <a:off x="134911" y="933753"/>
            <a:ext cx="304571"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a:ea typeface="+mn-ea"/>
                <a:cs typeface="Times New Roman" pitchFamily="18" charset="0"/>
              </a:rPr>
              <a:t>P</a:t>
            </a:r>
          </a:p>
        </p:txBody>
      </p:sp>
      <p:sp>
        <p:nvSpPr>
          <p:cNvPr id="31" name="Rectangle 36"/>
          <p:cNvSpPr>
            <a:spLocks noChangeArrowheads="1"/>
          </p:cNvSpPr>
          <p:nvPr/>
        </p:nvSpPr>
        <p:spPr bwMode="auto">
          <a:xfrm>
            <a:off x="5293763" y="6417247"/>
            <a:ext cx="341440"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a:ea typeface="+mn-ea"/>
                <a:cs typeface="Times New Roman" pitchFamily="18" charset="0"/>
              </a:rPr>
              <a:t>Q</a:t>
            </a:r>
          </a:p>
        </p:txBody>
      </p:sp>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grpSp>
        <p:nvGrpSpPr>
          <p:cNvPr id="11" name="Group 10">
            <a:extLst>
              <a:ext uri="{FF2B5EF4-FFF2-40B4-BE49-F238E27FC236}">
                <a16:creationId xmlns:a16="http://schemas.microsoft.com/office/drawing/2014/main" id="{A143A374-8AE4-44F7-BD43-9EEC428F67C3}"/>
              </a:ext>
            </a:extLst>
          </p:cNvPr>
          <p:cNvGrpSpPr/>
          <p:nvPr/>
        </p:nvGrpSpPr>
        <p:grpSpPr>
          <a:xfrm>
            <a:off x="113728" y="4754779"/>
            <a:ext cx="1619895" cy="2120409"/>
            <a:chOff x="113728" y="4754779"/>
            <a:chExt cx="1619895" cy="2120409"/>
          </a:xfrm>
        </p:grpSpPr>
        <p:sp>
          <p:nvSpPr>
            <p:cNvPr id="32" name="Rectangle 36"/>
            <p:cNvSpPr>
              <a:spLocks noChangeArrowheads="1"/>
            </p:cNvSpPr>
            <p:nvPr/>
          </p:nvSpPr>
          <p:spPr bwMode="auto">
            <a:xfrm>
              <a:off x="113728" y="4754779"/>
              <a:ext cx="186013"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33" name="Rectangle 36"/>
            <p:cNvSpPr>
              <a:spLocks noChangeArrowheads="1"/>
            </p:cNvSpPr>
            <p:nvPr/>
          </p:nvSpPr>
          <p:spPr bwMode="auto">
            <a:xfrm>
              <a:off x="1430655" y="6505214"/>
              <a:ext cx="302968"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rPr>
                <a:t>8</a:t>
              </a:r>
            </a:p>
          </p:txBody>
        </p:sp>
        <p:cxnSp>
          <p:nvCxnSpPr>
            <p:cNvPr id="4" name="Straight Connector 3">
              <a:extLst>
                <a:ext uri="{FF2B5EF4-FFF2-40B4-BE49-F238E27FC236}">
                  <a16:creationId xmlns:a16="http://schemas.microsoft.com/office/drawing/2014/main" id="{4D3519D9-18A1-4EB7-B36F-544BFB0BE877}"/>
                </a:ext>
              </a:extLst>
            </p:cNvPr>
            <p:cNvCxnSpPr/>
            <p:nvPr/>
          </p:nvCxnSpPr>
          <p:spPr>
            <a:xfrm>
              <a:off x="515911" y="4877051"/>
              <a:ext cx="1103039"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 name="Straight Connector 8">
              <a:extLst>
                <a:ext uri="{FF2B5EF4-FFF2-40B4-BE49-F238E27FC236}">
                  <a16:creationId xmlns:a16="http://schemas.microsoft.com/office/drawing/2014/main" id="{FBAB9550-4E16-4366-9123-70849F7EC9CF}"/>
                </a:ext>
              </a:extLst>
            </p:cNvPr>
            <p:cNvCxnSpPr>
              <a:cxnSpLocks/>
            </p:cNvCxnSpPr>
            <p:nvPr/>
          </p:nvCxnSpPr>
          <p:spPr>
            <a:xfrm>
              <a:off x="1618950" y="4877051"/>
              <a:ext cx="0" cy="1530946"/>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pic>
        <p:nvPicPr>
          <p:cNvPr id="34" name="Picture 2" descr="http://www.top10base.com/wp-content/uploads/2015/05/tips-to-enhance-Netflix.jpg">
            <a:extLst>
              <a:ext uri="{FF2B5EF4-FFF2-40B4-BE49-F238E27FC236}">
                <a16:creationId xmlns:a16="http://schemas.microsoft.com/office/drawing/2014/main" id="{010773CF-1B82-4117-8785-D6782E2907D5}"/>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backgroundRemoval t="0" b="100000" l="643" r="100000">
                        <a14:foregroundMark x1="27298" y1="27793" x2="50460" y2="34840"/>
                        <a14:foregroundMark x1="42096" y1="25133" x2="41820" y2="43750"/>
                      </a14:backgroundRemoval>
                    </a14:imgEffect>
                  </a14:imgLayer>
                </a14:imgProps>
              </a:ext>
              <a:ext uri="{28A0092B-C50C-407E-A947-70E740481C1C}">
                <a14:useLocalDpi xmlns:a14="http://schemas.microsoft.com/office/drawing/2010/main" val="0"/>
              </a:ext>
            </a:extLst>
          </a:blip>
          <a:srcRect/>
          <a:stretch>
            <a:fillRect/>
          </a:stretch>
        </p:blipFill>
        <p:spPr bwMode="auto">
          <a:xfrm>
            <a:off x="3554356" y="4087147"/>
            <a:ext cx="1804767" cy="1247413"/>
          </a:xfrm>
          <a:prstGeom prst="rect">
            <a:avLst/>
          </a:prstGeom>
          <a:noFill/>
          <a:extLst>
            <a:ext uri="{909E8E84-426E-40dd-AFC4-6F175D3DCCD1}">
              <a14:hiddenFill xmlns:a14="http://schemas.microsoft.com/office/drawing/2010/main" xmlns="">
                <a:solidFill>
                  <a:srgbClr val="FFFFFF"/>
                </a:solidFill>
              </a14:hiddenFill>
            </a:ext>
          </a:extLst>
        </p:spPr>
      </p:pic>
      <p:cxnSp>
        <p:nvCxnSpPr>
          <p:cNvPr id="10" name="Straight Connector 9">
            <a:extLst>
              <a:ext uri="{FF2B5EF4-FFF2-40B4-BE49-F238E27FC236}">
                <a16:creationId xmlns:a16="http://schemas.microsoft.com/office/drawing/2014/main" id="{61F14F51-80E1-4710-80B2-6A09FF6BCB74}"/>
              </a:ext>
            </a:extLst>
          </p:cNvPr>
          <p:cNvCxnSpPr>
            <a:cxnSpLocks/>
          </p:cNvCxnSpPr>
          <p:nvPr/>
        </p:nvCxnSpPr>
        <p:spPr>
          <a:xfrm>
            <a:off x="515911" y="3159506"/>
            <a:ext cx="2140930" cy="3260647"/>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sp>
        <p:nvSpPr>
          <p:cNvPr id="35" name="Rectangle 25">
            <a:extLst>
              <a:ext uri="{FF2B5EF4-FFF2-40B4-BE49-F238E27FC236}">
                <a16:creationId xmlns:a16="http://schemas.microsoft.com/office/drawing/2014/main" id="{F9E3D4CA-EF31-4A52-85EA-90D73B621243}"/>
              </a:ext>
            </a:extLst>
          </p:cNvPr>
          <p:cNvSpPr>
            <a:spLocks noChangeArrowheads="1"/>
          </p:cNvSpPr>
          <p:nvPr/>
        </p:nvSpPr>
        <p:spPr bwMode="auto">
          <a:xfrm>
            <a:off x="531629" y="4833119"/>
            <a:ext cx="1087321" cy="1562723"/>
          </a:xfrm>
          <a:prstGeom prst="rect">
            <a:avLst/>
          </a:prstGeom>
          <a:solidFill>
            <a:srgbClr val="FFFF00"/>
          </a:solidFill>
          <a:ln w="9525">
            <a:solidFill>
              <a:schemeClr val="tx1"/>
            </a:solidFill>
            <a:miter lim="800000"/>
            <a:headEnd/>
            <a:tailEnd/>
          </a:ln>
          <a:effectLst/>
        </p:spPr>
        <p:txBody>
          <a:bodyPr wrap="none" lIns="104025" tIns="52013" rIns="104025" bIns="52013" anchor="ctr"/>
          <a:lstStyle/>
          <a:p>
            <a:pPr marL="0" marR="0" lvl="0" indent="0" algn="ctr" defTabSz="97472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black"/>
              </a:solidFill>
              <a:effectLst/>
              <a:uLnTx/>
              <a:uFillTx/>
              <a:latin typeface="Whitney Book" pitchFamily="50" charset="0"/>
              <a:ea typeface="+mn-ea"/>
              <a:cs typeface="Whitney Book" pitchFamily="50" charset="0"/>
            </a:endParaRPr>
          </a:p>
        </p:txBody>
      </p:sp>
      <p:sp>
        <p:nvSpPr>
          <p:cNvPr id="36" name="TextBox 35">
            <a:extLst>
              <a:ext uri="{FF2B5EF4-FFF2-40B4-BE49-F238E27FC236}">
                <a16:creationId xmlns:a16="http://schemas.microsoft.com/office/drawing/2014/main" id="{70536FBC-B9BF-4752-81B5-A3B624DEF61E}"/>
              </a:ext>
            </a:extLst>
          </p:cNvPr>
          <p:cNvSpPr txBox="1"/>
          <p:nvPr/>
        </p:nvSpPr>
        <p:spPr>
          <a:xfrm>
            <a:off x="769242" y="1411063"/>
            <a:ext cx="4572000" cy="369332"/>
          </a:xfrm>
          <a:prstGeom prst="rect">
            <a:avLst/>
          </a:prstGeom>
          <a:noFill/>
        </p:spPr>
        <p:txBody>
          <a:bodyPr wrap="square">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b="0" i="1" u="none" strike="noStrike" kern="1200" cap="none" spc="0" normalizeH="0" baseline="0" noProof="0" dirty="0">
                <a:ln>
                  <a:noFill/>
                </a:ln>
                <a:solidFill>
                  <a:srgbClr val="C00000"/>
                </a:solidFill>
                <a:effectLst/>
                <a:uLnTx/>
                <a:uFillTx/>
                <a:latin typeface="Whitney Book" pitchFamily="50" charset="0"/>
                <a:ea typeface="+mn-ea"/>
                <a:cs typeface="Whitney Book" pitchFamily="50" charset="0"/>
              </a:rPr>
              <a:t>P=2-Q/8</a:t>
            </a:r>
          </a:p>
        </p:txBody>
      </p:sp>
      <p:sp>
        <p:nvSpPr>
          <p:cNvPr id="38" name="TextBox 37">
            <a:extLst>
              <a:ext uri="{FF2B5EF4-FFF2-40B4-BE49-F238E27FC236}">
                <a16:creationId xmlns:a16="http://schemas.microsoft.com/office/drawing/2014/main" id="{7A552B51-E6A1-4636-8EFC-5576790AB090}"/>
              </a:ext>
            </a:extLst>
          </p:cNvPr>
          <p:cNvSpPr txBox="1"/>
          <p:nvPr/>
        </p:nvSpPr>
        <p:spPr>
          <a:xfrm>
            <a:off x="61082" y="3024335"/>
            <a:ext cx="70400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Whitney Book" pitchFamily="50" charset="0"/>
                <a:ea typeface="+mn-ea"/>
                <a:cs typeface="Whitney Book" pitchFamily="50" charset="0"/>
              </a:rPr>
              <a:t>$2</a:t>
            </a:r>
          </a:p>
        </p:txBody>
      </p:sp>
      <p:sp>
        <p:nvSpPr>
          <p:cNvPr id="39" name="TextBox 38">
            <a:extLst>
              <a:ext uri="{FF2B5EF4-FFF2-40B4-BE49-F238E27FC236}">
                <a16:creationId xmlns:a16="http://schemas.microsoft.com/office/drawing/2014/main" id="{8420CAA6-1BCF-42EB-95D9-E0C6AE26B2FF}"/>
              </a:ext>
            </a:extLst>
          </p:cNvPr>
          <p:cNvSpPr txBox="1"/>
          <p:nvPr/>
        </p:nvSpPr>
        <p:spPr>
          <a:xfrm>
            <a:off x="2578577" y="6422809"/>
            <a:ext cx="70400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Whitney Book" pitchFamily="50" charset="0"/>
                <a:ea typeface="+mn-ea"/>
                <a:cs typeface="Whitney Book" pitchFamily="50" charset="0"/>
              </a:rPr>
              <a:t>16</a:t>
            </a:r>
          </a:p>
        </p:txBody>
      </p:sp>
      <p:sp>
        <p:nvSpPr>
          <p:cNvPr id="13" name="Right Triangle 12">
            <a:extLst>
              <a:ext uri="{FF2B5EF4-FFF2-40B4-BE49-F238E27FC236}">
                <a16:creationId xmlns:a16="http://schemas.microsoft.com/office/drawing/2014/main" id="{FF4791A4-DF4F-41F3-8D6D-085282CA1304}"/>
              </a:ext>
            </a:extLst>
          </p:cNvPr>
          <p:cNvSpPr/>
          <p:nvPr/>
        </p:nvSpPr>
        <p:spPr>
          <a:xfrm>
            <a:off x="531629" y="3219846"/>
            <a:ext cx="1047464" cy="1642394"/>
          </a:xfrm>
          <a:prstGeom prst="rtTriangle">
            <a:avLst/>
          </a:prstGeom>
        </p:spPr>
        <p:style>
          <a:lnRef idx="1">
            <a:schemeClr val="accent3"/>
          </a:lnRef>
          <a:fillRef idx="3">
            <a:schemeClr val="accent3"/>
          </a:fillRef>
          <a:effectRef idx="2">
            <a:schemeClr val="accent3"/>
          </a:effectRef>
          <a:fontRef idx="minor">
            <a:schemeClr val="lt1"/>
          </a:fontRef>
        </p:style>
        <p:txBody>
          <a:bodyPr rtlCol="0" anchor="ctr"/>
          <a:lstStyle/>
          <a:p>
            <a:pPr lvl="0" algn="ctr">
              <a:defRPr/>
            </a:pPr>
            <a:endParaRPr lang="en-US" dirty="0">
              <a:solidFill>
                <a:prstClr val="black"/>
              </a:solidFill>
              <a:latin typeface="Whitney Book" pitchFamily="50" charset="0"/>
              <a:cs typeface="Whitney Book" pitchFamily="50" charset="0"/>
            </a:endParaRPr>
          </a:p>
        </p:txBody>
      </p:sp>
      <p:sp>
        <p:nvSpPr>
          <p:cNvPr id="14" name="Right Triangle 13">
            <a:extLst>
              <a:ext uri="{FF2B5EF4-FFF2-40B4-BE49-F238E27FC236}">
                <a16:creationId xmlns:a16="http://schemas.microsoft.com/office/drawing/2014/main" id="{F5C8F9D1-D465-4BF0-9F3B-A782EB092CD4}"/>
              </a:ext>
            </a:extLst>
          </p:cNvPr>
          <p:cNvSpPr/>
          <p:nvPr/>
        </p:nvSpPr>
        <p:spPr>
          <a:xfrm>
            <a:off x="1618949" y="4877051"/>
            <a:ext cx="986027" cy="1523749"/>
          </a:xfrm>
          <a:prstGeom prst="rtTriangle">
            <a:avLst/>
          </a:prstGeom>
        </p:spPr>
        <p:style>
          <a:lnRef idx="1">
            <a:schemeClr val="accent2"/>
          </a:lnRef>
          <a:fillRef idx="3">
            <a:schemeClr val="accent2"/>
          </a:fillRef>
          <a:effectRef idx="2">
            <a:schemeClr val="accent2"/>
          </a:effectRef>
          <a:fontRef idx="minor">
            <a:schemeClr val="lt1"/>
          </a:fontRef>
        </p:style>
        <p:txBody>
          <a:bodyPr rtlCol="0" anchor="ctr"/>
          <a:lstStyle/>
          <a:p>
            <a:pPr lvl="0" algn="ctr">
              <a:defRPr/>
            </a:pPr>
            <a:endParaRPr lang="en-US" dirty="0">
              <a:solidFill>
                <a:prstClr val="black"/>
              </a:solidFill>
              <a:latin typeface="Whitney Book" pitchFamily="50" charset="0"/>
              <a:cs typeface="Whitney Book" pitchFamily="50" charset="0"/>
            </a:endParaRPr>
          </a:p>
        </p:txBody>
      </p:sp>
    </p:spTree>
    <p:extLst>
      <p:ext uri="{BB962C8B-B14F-4D97-AF65-F5344CB8AC3E}">
        <p14:creationId xmlns:p14="http://schemas.microsoft.com/office/powerpoint/2010/main" val="2737791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p:bldP spid="23" grpId="0"/>
      <p:bldP spid="24" grpId="0" animBg="1"/>
      <p:bldP spid="25" grpId="0"/>
      <p:bldP spid="30" grpId="0"/>
      <p:bldP spid="31" grpId="0"/>
      <p:bldP spid="35" grpId="0" animBg="1"/>
      <p:bldP spid="36" grpId="0"/>
      <p:bldP spid="38" grpId="0"/>
      <p:bldP spid="39" grpId="0"/>
      <p:bldP spid="13"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a:xfrm>
            <a:off x="265043" y="127215"/>
            <a:ext cx="8719931" cy="1143000"/>
          </a:xfrm>
        </p:spPr>
        <p:txBody>
          <a:bodyPr/>
          <a:lstStyle/>
          <a:p>
            <a:r>
              <a:rPr lang="en-US" dirty="0"/>
              <a:t>Complex (non-uniform) pricing </a:t>
            </a:r>
          </a:p>
        </p:txBody>
      </p:sp>
      <p:sp>
        <p:nvSpPr>
          <p:cNvPr id="6" name="Content Placeholder 5"/>
          <p:cNvSpPr>
            <a:spLocks noGrp="1"/>
          </p:cNvSpPr>
          <p:nvPr>
            <p:ph idx="1"/>
          </p:nvPr>
        </p:nvSpPr>
        <p:spPr>
          <a:xfrm>
            <a:off x="566309" y="1366977"/>
            <a:ext cx="8007848" cy="4636258"/>
          </a:xfrm>
        </p:spPr>
        <p:txBody>
          <a:bodyPr>
            <a:normAutofit/>
          </a:bodyPr>
          <a:lstStyle/>
          <a:p>
            <a:pPr marL="0" indent="0">
              <a:lnSpc>
                <a:spcPct val="90000"/>
              </a:lnSpc>
              <a:spcBef>
                <a:spcPts val="563"/>
              </a:spcBef>
              <a:spcAft>
                <a:spcPts val="563"/>
              </a:spcAft>
              <a:buNone/>
            </a:pPr>
            <a:r>
              <a:rPr lang="en-US" sz="2400" dirty="0"/>
              <a:t>Requirements for complex pricing:</a:t>
            </a:r>
          </a:p>
          <a:p>
            <a:pPr marL="457200" indent="-457200">
              <a:lnSpc>
                <a:spcPct val="90000"/>
              </a:lnSpc>
              <a:spcBef>
                <a:spcPts val="563"/>
              </a:spcBef>
              <a:spcAft>
                <a:spcPts val="563"/>
              </a:spcAft>
              <a:buFont typeface="+mj-lt"/>
              <a:buAutoNum type="arabicPeriod"/>
            </a:pPr>
            <a:r>
              <a:rPr lang="en-US" sz="2400" dirty="0"/>
              <a:t>Market power</a:t>
            </a:r>
          </a:p>
          <a:p>
            <a:pPr lvl="1">
              <a:lnSpc>
                <a:spcPct val="90000"/>
              </a:lnSpc>
              <a:spcBef>
                <a:spcPts val="563"/>
              </a:spcBef>
              <a:spcAft>
                <a:spcPts val="563"/>
              </a:spcAft>
            </a:pPr>
            <a:r>
              <a:rPr lang="en-US" sz="2200" dirty="0"/>
              <a:t>Downward-sloping demand (i.e., price searcher)</a:t>
            </a:r>
          </a:p>
          <a:p>
            <a:pPr lvl="2">
              <a:lnSpc>
                <a:spcPct val="90000"/>
              </a:lnSpc>
              <a:spcBef>
                <a:spcPts val="563"/>
              </a:spcBef>
              <a:spcAft>
                <a:spcPts val="563"/>
              </a:spcAft>
            </a:pPr>
            <a:r>
              <a:rPr lang="en-US" sz="1800" dirty="0"/>
              <a:t>So far, we studied simple pricing of price searchers</a:t>
            </a:r>
          </a:p>
          <a:p>
            <a:pPr lvl="2">
              <a:lnSpc>
                <a:spcPct val="90000"/>
              </a:lnSpc>
              <a:spcBef>
                <a:spcPts val="0"/>
              </a:spcBef>
              <a:spcAft>
                <a:spcPts val="563"/>
              </a:spcAft>
            </a:pPr>
            <a:r>
              <a:rPr lang="en-US" sz="1800" dirty="0"/>
              <a:t>Now: Complex pricing</a:t>
            </a:r>
          </a:p>
          <a:p>
            <a:pPr marL="457200" indent="-457200">
              <a:lnSpc>
                <a:spcPct val="90000"/>
              </a:lnSpc>
              <a:spcBef>
                <a:spcPts val="563"/>
              </a:spcBef>
              <a:spcAft>
                <a:spcPts val="563"/>
              </a:spcAft>
              <a:buFont typeface="+mj-lt"/>
              <a:buAutoNum type="arabicPeriod"/>
            </a:pPr>
            <a:r>
              <a:rPr lang="en-US" sz="2400" dirty="0"/>
              <a:t>Capacity to prevent resale and arbitrage</a:t>
            </a:r>
          </a:p>
          <a:p>
            <a:pPr marL="857250" lvl="1" indent="-457200">
              <a:lnSpc>
                <a:spcPct val="90000"/>
              </a:lnSpc>
              <a:spcBef>
                <a:spcPts val="563"/>
              </a:spcBef>
              <a:spcAft>
                <a:spcPts val="563"/>
              </a:spcAft>
            </a:pPr>
            <a:r>
              <a:rPr lang="en-US" sz="2200" dirty="0"/>
              <a:t>Enables sellers to charge different prices for different volumes/packages, or to different customers</a:t>
            </a:r>
          </a:p>
          <a:p>
            <a:pPr>
              <a:lnSpc>
                <a:spcPct val="90000"/>
              </a:lnSpc>
              <a:spcBef>
                <a:spcPts val="563"/>
              </a:spcBef>
              <a:spcAft>
                <a:spcPts val="563"/>
              </a:spcAft>
            </a:pPr>
            <a:r>
              <a:rPr lang="en-US" sz="2400" dirty="0"/>
              <a:t>Complex pricing is usually more profitable than simple pricing.</a:t>
            </a:r>
          </a:p>
        </p:txBody>
      </p:sp>
      <p:sp>
        <p:nvSpPr>
          <p:cNvPr id="2" name="Slide Number Placeholder 1">
            <a:extLst>
              <a:ext uri="{FF2B5EF4-FFF2-40B4-BE49-F238E27FC236}">
                <a16:creationId xmlns:a16="http://schemas.microsoft.com/office/drawing/2014/main" id="{1D22DB0C-3F77-534A-95A5-1E3A0B539E0E}"/>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spTree>
    <p:extLst>
      <p:ext uri="{BB962C8B-B14F-4D97-AF65-F5344CB8AC3E}">
        <p14:creationId xmlns:p14="http://schemas.microsoft.com/office/powerpoint/2010/main" val="38870512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a:xfrm>
            <a:off x="210267" y="127215"/>
            <a:ext cx="8719931" cy="1143000"/>
          </a:xfrm>
        </p:spPr>
        <p:txBody>
          <a:bodyPr/>
          <a:lstStyle/>
          <a:p>
            <a:r>
              <a:rPr lang="en-US" dirty="0"/>
              <a:t>Three degrees of price discrimination </a:t>
            </a:r>
          </a:p>
        </p:txBody>
      </p:sp>
      <p:sp>
        <p:nvSpPr>
          <p:cNvPr id="6" name="Content Placeholder 5"/>
          <p:cNvSpPr>
            <a:spLocks noGrp="1"/>
          </p:cNvSpPr>
          <p:nvPr>
            <p:ph idx="1"/>
          </p:nvPr>
        </p:nvSpPr>
        <p:spPr>
          <a:xfrm>
            <a:off x="566308" y="1455115"/>
            <a:ext cx="8007848" cy="4636258"/>
          </a:xfrm>
        </p:spPr>
        <p:txBody>
          <a:bodyPr>
            <a:noAutofit/>
          </a:bodyPr>
          <a:lstStyle/>
          <a:p>
            <a:pPr>
              <a:spcAft>
                <a:spcPts val="563"/>
              </a:spcAft>
            </a:pPr>
            <a:r>
              <a:rPr lang="en-US" sz="2400" dirty="0"/>
              <a:t>First degree (direct):</a:t>
            </a:r>
          </a:p>
          <a:p>
            <a:pPr lvl="1">
              <a:spcAft>
                <a:spcPts val="563"/>
              </a:spcAft>
            </a:pPr>
            <a:r>
              <a:rPr lang="en-US" sz="2200" dirty="0"/>
              <a:t>“Dream world”: firm knows each customer’s willingness to pay (marginal personal value – </a:t>
            </a:r>
            <a:r>
              <a:rPr lang="en-US" sz="2200" dirty="0">
                <a:solidFill>
                  <a:srgbClr val="C00000"/>
                </a:solidFill>
              </a:rPr>
              <a:t>MPV</a:t>
            </a:r>
            <a:r>
              <a:rPr lang="en-US" sz="2200" dirty="0"/>
              <a:t>)</a:t>
            </a:r>
          </a:p>
          <a:p>
            <a:pPr>
              <a:spcAft>
                <a:spcPts val="563"/>
              </a:spcAft>
            </a:pPr>
            <a:r>
              <a:rPr lang="en-US" sz="2400" dirty="0"/>
              <a:t>Third degree (direct):</a:t>
            </a:r>
          </a:p>
          <a:p>
            <a:pPr lvl="1">
              <a:spcAft>
                <a:spcPts val="563"/>
              </a:spcAft>
            </a:pPr>
            <a:r>
              <a:rPr lang="en-US" sz="2200" dirty="0"/>
              <a:t>Firm can identify specific </a:t>
            </a:r>
            <a:r>
              <a:rPr lang="en-US" sz="2200" i="1" dirty="0"/>
              <a:t>groups </a:t>
            </a:r>
            <a:r>
              <a:rPr lang="en-US" sz="2200" dirty="0"/>
              <a:t>of customers with different </a:t>
            </a:r>
            <a:r>
              <a:rPr lang="en-US" sz="2200" dirty="0">
                <a:solidFill>
                  <a:srgbClr val="C00000"/>
                </a:solidFill>
              </a:rPr>
              <a:t>MPV </a:t>
            </a:r>
            <a:r>
              <a:rPr lang="en-US" sz="2200" dirty="0"/>
              <a:t>(students, seniors, tourists)</a:t>
            </a:r>
            <a:endParaRPr lang="en-US" sz="2200" i="1" dirty="0"/>
          </a:p>
          <a:p>
            <a:pPr>
              <a:spcAft>
                <a:spcPts val="563"/>
              </a:spcAft>
            </a:pPr>
            <a:r>
              <a:rPr lang="en-US" sz="2400" dirty="0"/>
              <a:t>Second degree (“indirect”):</a:t>
            </a:r>
          </a:p>
          <a:p>
            <a:pPr lvl="1">
              <a:spcAft>
                <a:spcPts val="563"/>
              </a:spcAft>
            </a:pPr>
            <a:r>
              <a:rPr lang="en-US" sz="2200" dirty="0"/>
              <a:t>Firm cannot directly identify the different customers’ </a:t>
            </a:r>
            <a:r>
              <a:rPr lang="en-US" sz="2200" dirty="0">
                <a:solidFill>
                  <a:srgbClr val="C00000"/>
                </a:solidFill>
              </a:rPr>
              <a:t>MPV</a:t>
            </a:r>
            <a:r>
              <a:rPr lang="en-US" sz="2200" dirty="0"/>
              <a:t>. Instead, the firm uses different purchase options to </a:t>
            </a:r>
            <a:r>
              <a:rPr lang="en-US" sz="2200" i="1" dirty="0"/>
              <a:t>infer </a:t>
            </a:r>
            <a:r>
              <a:rPr lang="en-US" sz="2200" dirty="0"/>
              <a:t>willingness to pay: versioning, quantity discounts, coupons</a:t>
            </a:r>
          </a:p>
        </p:txBody>
      </p:sp>
      <p:sp>
        <p:nvSpPr>
          <p:cNvPr id="2" name="Slide Number Placeholder 1">
            <a:extLst>
              <a:ext uri="{FF2B5EF4-FFF2-40B4-BE49-F238E27FC236}">
                <a16:creationId xmlns:a16="http://schemas.microsoft.com/office/drawing/2014/main" id="{1D22DB0C-3F77-534A-95A5-1E3A0B539E0E}"/>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spTree>
    <p:extLst>
      <p:ext uri="{BB962C8B-B14F-4D97-AF65-F5344CB8AC3E}">
        <p14:creationId xmlns:p14="http://schemas.microsoft.com/office/powerpoint/2010/main" val="17373969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OUTLINE of module 6</a:t>
            </a:r>
            <a:br>
              <a:rPr lang="en-US" dirty="0"/>
            </a:br>
            <a:endParaRPr lang="en-US" dirty="0"/>
          </a:p>
        </p:txBody>
      </p:sp>
      <p:sp>
        <p:nvSpPr>
          <p:cNvPr id="3" name="Content Placeholder 2"/>
          <p:cNvSpPr>
            <a:spLocks noGrp="1"/>
          </p:cNvSpPr>
          <p:nvPr>
            <p:ph idx="1"/>
          </p:nvPr>
        </p:nvSpPr>
        <p:spPr>
          <a:xfrm>
            <a:off x="457200" y="1094874"/>
            <a:ext cx="8229600" cy="5212407"/>
          </a:xfrm>
        </p:spPr>
        <p:txBody>
          <a:bodyPr>
            <a:normAutofit fontScale="92500" lnSpcReduction="10000"/>
          </a:bodyPr>
          <a:lstStyle/>
          <a:p>
            <a:pPr>
              <a:lnSpc>
                <a:spcPct val="120000"/>
              </a:lnSpc>
            </a:pPr>
            <a:r>
              <a:rPr lang="fr-FR" sz="2810" dirty="0">
                <a:solidFill>
                  <a:schemeClr val="bg1">
                    <a:lumMod val="65000"/>
                  </a:schemeClr>
                </a:solidFill>
              </a:rPr>
              <a:t>Simple vs. </a:t>
            </a:r>
            <a:r>
              <a:rPr lang="fr-FR" sz="2810" dirty="0" err="1">
                <a:solidFill>
                  <a:schemeClr val="bg1">
                    <a:lumMod val="65000"/>
                  </a:schemeClr>
                </a:solidFill>
              </a:rPr>
              <a:t>complex</a:t>
            </a:r>
            <a:r>
              <a:rPr lang="fr-FR" sz="2810" dirty="0">
                <a:solidFill>
                  <a:schemeClr val="bg1">
                    <a:lumMod val="65000"/>
                  </a:schemeClr>
                </a:solidFill>
              </a:rPr>
              <a:t> </a:t>
            </a:r>
            <a:r>
              <a:rPr lang="fr-FR" sz="2810" dirty="0" err="1">
                <a:solidFill>
                  <a:schemeClr val="bg1">
                    <a:lumMod val="65000"/>
                  </a:schemeClr>
                </a:solidFill>
              </a:rPr>
              <a:t>pricing</a:t>
            </a:r>
            <a:endParaRPr lang="fr-FR" sz="2810" dirty="0">
              <a:solidFill>
                <a:schemeClr val="bg1">
                  <a:lumMod val="65000"/>
                </a:schemeClr>
              </a:solidFill>
            </a:endParaRPr>
          </a:p>
          <a:p>
            <a:pPr>
              <a:lnSpc>
                <a:spcPct val="120000"/>
              </a:lnSpc>
            </a:pPr>
            <a:r>
              <a:rPr lang="fr-FR" sz="2810" b="1" dirty="0"/>
              <a:t>Direct </a:t>
            </a:r>
            <a:r>
              <a:rPr lang="fr-FR" sz="2810" b="1" dirty="0" err="1"/>
              <a:t>price</a:t>
            </a:r>
            <a:r>
              <a:rPr lang="fr-FR" sz="2810" b="1" dirty="0"/>
              <a:t> discrimination</a:t>
            </a:r>
          </a:p>
          <a:p>
            <a:pPr lvl="1">
              <a:lnSpc>
                <a:spcPct val="120000"/>
              </a:lnSpc>
              <a:spcBef>
                <a:spcPts val="0"/>
              </a:spcBef>
            </a:pPr>
            <a:r>
              <a:rPr lang="fr-FR" b="1" dirty="0" err="1">
                <a:latin typeface="Whitney-Book" pitchFamily="50" charset="0"/>
                <a:cs typeface="Whitney-Book" pitchFamily="50" charset="0"/>
              </a:rPr>
              <a:t>Perfect</a:t>
            </a:r>
            <a:r>
              <a:rPr lang="fr-FR" b="1" dirty="0">
                <a:latin typeface="Whitney-Book" pitchFamily="50" charset="0"/>
                <a:cs typeface="Whitney-Book" pitchFamily="50" charset="0"/>
              </a:rPr>
              <a:t> </a:t>
            </a:r>
            <a:r>
              <a:rPr lang="fr-FR" b="1" dirty="0" err="1">
                <a:latin typeface="Whitney-Book" pitchFamily="50" charset="0"/>
                <a:cs typeface="Whitney-Book" pitchFamily="50" charset="0"/>
              </a:rPr>
              <a:t>price</a:t>
            </a:r>
            <a:r>
              <a:rPr lang="fr-FR" b="1" dirty="0">
                <a:latin typeface="Whitney-Book" pitchFamily="50" charset="0"/>
                <a:cs typeface="Whitney-Book" pitchFamily="50" charset="0"/>
              </a:rPr>
              <a:t> discrimination (first </a:t>
            </a:r>
            <a:r>
              <a:rPr lang="fr-FR" b="1" dirty="0" err="1">
                <a:latin typeface="Whitney-Book" pitchFamily="50" charset="0"/>
                <a:cs typeface="Whitney-Book" pitchFamily="50" charset="0"/>
              </a:rPr>
              <a:t>degree</a:t>
            </a:r>
            <a:r>
              <a:rPr lang="fr-FR" b="1" dirty="0">
                <a:latin typeface="Whitney-Book" pitchFamily="50" charset="0"/>
                <a:cs typeface="Whitney-Book" pitchFamily="50" charset="0"/>
              </a:rPr>
              <a:t>)</a:t>
            </a:r>
          </a:p>
          <a:p>
            <a:pPr lvl="1">
              <a:lnSpc>
                <a:spcPct val="120000"/>
              </a:lnSpc>
              <a:spcBef>
                <a:spcPts val="0"/>
              </a:spcBef>
            </a:pPr>
            <a:r>
              <a:rPr lang="fr-FR" sz="2800" dirty="0">
                <a:solidFill>
                  <a:schemeClr val="bg1">
                    <a:lumMod val="65000"/>
                  </a:schemeClr>
                </a:solidFill>
              </a:rPr>
              <a:t>Segment </a:t>
            </a:r>
            <a:r>
              <a:rPr lang="fr-FR" sz="2800" dirty="0" err="1">
                <a:solidFill>
                  <a:schemeClr val="bg1">
                    <a:lumMod val="65000"/>
                  </a:schemeClr>
                </a:solidFill>
              </a:rPr>
              <a:t>pricing</a:t>
            </a:r>
            <a:r>
              <a:rPr lang="fr-FR" sz="2800" dirty="0">
                <a:solidFill>
                  <a:schemeClr val="bg1">
                    <a:lumMod val="65000"/>
                  </a:schemeClr>
                </a:solidFill>
              </a:rPr>
              <a:t> (</a:t>
            </a:r>
            <a:r>
              <a:rPr lang="fr-FR" sz="2800" dirty="0" err="1">
                <a:solidFill>
                  <a:schemeClr val="bg1">
                    <a:lumMod val="65000"/>
                  </a:schemeClr>
                </a:solidFill>
              </a:rPr>
              <a:t>third</a:t>
            </a:r>
            <a:r>
              <a:rPr lang="fr-FR" sz="2800" dirty="0">
                <a:solidFill>
                  <a:schemeClr val="bg1">
                    <a:lumMod val="65000"/>
                  </a:schemeClr>
                </a:solidFill>
              </a:rPr>
              <a:t> </a:t>
            </a:r>
            <a:r>
              <a:rPr lang="fr-FR" sz="2800" dirty="0" err="1">
                <a:solidFill>
                  <a:schemeClr val="bg1">
                    <a:lumMod val="65000"/>
                  </a:schemeClr>
                </a:solidFill>
              </a:rPr>
              <a:t>degree</a:t>
            </a:r>
            <a:r>
              <a:rPr lang="fr-FR" sz="2800" dirty="0">
                <a:solidFill>
                  <a:schemeClr val="bg1">
                    <a:lumMod val="65000"/>
                  </a:schemeClr>
                </a:solidFill>
              </a:rPr>
              <a:t>)</a:t>
            </a:r>
          </a:p>
          <a:p>
            <a:pPr>
              <a:lnSpc>
                <a:spcPct val="120000"/>
              </a:lnSpc>
            </a:pPr>
            <a:r>
              <a:rPr lang="fr-FR" sz="2810" dirty="0">
                <a:solidFill>
                  <a:schemeClr val="bg1">
                    <a:lumMod val="65000"/>
                  </a:schemeClr>
                </a:solidFill>
              </a:rPr>
              <a:t>Indirect </a:t>
            </a:r>
            <a:r>
              <a:rPr lang="fr-FR" sz="2810" dirty="0" err="1">
                <a:solidFill>
                  <a:schemeClr val="bg1">
                    <a:lumMod val="65000"/>
                  </a:schemeClr>
                </a:solidFill>
              </a:rPr>
              <a:t>price</a:t>
            </a:r>
            <a:r>
              <a:rPr lang="fr-FR" sz="2810" dirty="0">
                <a:solidFill>
                  <a:schemeClr val="bg1">
                    <a:lumMod val="65000"/>
                  </a:schemeClr>
                </a:solidFill>
              </a:rPr>
              <a:t> discrimination (second </a:t>
            </a:r>
            <a:r>
              <a:rPr lang="fr-FR" sz="2810" dirty="0" err="1">
                <a:solidFill>
                  <a:schemeClr val="bg1">
                    <a:lumMod val="65000"/>
                  </a:schemeClr>
                </a:solidFill>
              </a:rPr>
              <a:t>degree</a:t>
            </a:r>
            <a:r>
              <a:rPr lang="fr-FR" sz="2810" dirty="0">
                <a:solidFill>
                  <a:schemeClr val="bg1">
                    <a:lumMod val="65000"/>
                  </a:schemeClr>
                </a:solidFill>
              </a:rPr>
              <a:t>)</a:t>
            </a: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Versioning</a:t>
            </a:r>
          </a:p>
          <a:p>
            <a:pPr lvl="1">
              <a:lnSpc>
                <a:spcPct val="120000"/>
              </a:lnSpc>
              <a:spcBef>
                <a:spcPts val="0"/>
              </a:spcBef>
            </a:pPr>
            <a:r>
              <a:rPr lang="fr-FR" dirty="0">
                <a:solidFill>
                  <a:schemeClr val="bg1">
                    <a:lumMod val="65000"/>
                  </a:schemeClr>
                </a:solidFill>
              </a:rPr>
              <a:t>Coupons</a:t>
            </a:r>
          </a:p>
          <a:p>
            <a:pPr>
              <a:lnSpc>
                <a:spcPct val="120000"/>
              </a:lnSpc>
            </a:pPr>
            <a:r>
              <a:rPr lang="fr-FR" sz="2810" dirty="0">
                <a:solidFill>
                  <a:schemeClr val="bg1">
                    <a:lumMod val="65000"/>
                  </a:schemeClr>
                </a:solidFill>
              </a:rPr>
              <a:t>Advanced </a:t>
            </a:r>
            <a:r>
              <a:rPr lang="fr-FR" sz="2810" dirty="0" err="1">
                <a:solidFill>
                  <a:schemeClr val="bg1">
                    <a:lumMod val="65000"/>
                  </a:schemeClr>
                </a:solidFill>
              </a:rPr>
              <a:t>pricing</a:t>
            </a:r>
            <a:r>
              <a:rPr lang="fr-FR" sz="2810" dirty="0">
                <a:solidFill>
                  <a:schemeClr val="bg1">
                    <a:lumMod val="65000"/>
                  </a:schemeClr>
                </a:solidFill>
              </a:rPr>
              <a:t> </a:t>
            </a:r>
            <a:r>
              <a:rPr lang="fr-FR" sz="2810" dirty="0" err="1">
                <a:solidFill>
                  <a:schemeClr val="bg1">
                    <a:lumMod val="65000"/>
                  </a:schemeClr>
                </a:solidFill>
              </a:rPr>
              <a:t>strategies</a:t>
            </a:r>
            <a:endParaRPr lang="fr-FR" sz="2810" dirty="0">
              <a:solidFill>
                <a:schemeClr val="bg1">
                  <a:lumMod val="65000"/>
                </a:schemeClr>
              </a:solidFill>
            </a:endParaRP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Flat </a:t>
            </a:r>
            <a:r>
              <a:rPr lang="fr-FR" dirty="0" err="1">
                <a:solidFill>
                  <a:schemeClr val="bg1">
                    <a:lumMod val="65000"/>
                  </a:schemeClr>
                </a:solidFill>
                <a:latin typeface="Whitney-Book" pitchFamily="50" charset="0"/>
                <a:cs typeface="Whitney-Book" pitchFamily="50" charset="0"/>
              </a:rPr>
              <a:t>fee</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pricing</a:t>
            </a:r>
            <a:endParaRPr lang="fr-FR" dirty="0">
              <a:solidFill>
                <a:schemeClr val="bg1">
                  <a:lumMod val="65000"/>
                </a:schemeClr>
              </a:solidFill>
              <a:latin typeface="Whitney-Book" pitchFamily="50" charset="0"/>
              <a:cs typeface="Whitney-Book" pitchFamily="50" charset="0"/>
            </a:endParaRPr>
          </a:p>
          <a:p>
            <a:pPr lvl="1">
              <a:lnSpc>
                <a:spcPct val="120000"/>
              </a:lnSpc>
              <a:spcBef>
                <a:spcPts val="0"/>
              </a:spcBef>
            </a:pPr>
            <a:r>
              <a:rPr lang="fr-FR" dirty="0" err="1">
                <a:solidFill>
                  <a:schemeClr val="bg1">
                    <a:lumMod val="65000"/>
                  </a:schemeClr>
                </a:solidFill>
                <a:latin typeface="Whitney-Book" pitchFamily="50" charset="0"/>
                <a:cs typeface="Whitney-Book" pitchFamily="50" charset="0"/>
              </a:rPr>
              <a:t>Two</a:t>
            </a:r>
            <a:r>
              <a:rPr lang="fr-FR" dirty="0">
                <a:solidFill>
                  <a:schemeClr val="bg1">
                    <a:lumMod val="65000"/>
                  </a:schemeClr>
                </a:solidFill>
                <a:latin typeface="Whitney-Book" pitchFamily="50" charset="0"/>
                <a:cs typeface="Whitney-Book" pitchFamily="50" charset="0"/>
              </a:rPr>
              <a:t>-part </a:t>
            </a:r>
            <a:r>
              <a:rPr lang="fr-FR" dirty="0" err="1">
                <a:solidFill>
                  <a:schemeClr val="bg1">
                    <a:lumMod val="65000"/>
                  </a:schemeClr>
                </a:solidFill>
                <a:latin typeface="Whitney-Book" pitchFamily="50" charset="0"/>
                <a:cs typeface="Whitney-Book" pitchFamily="50" charset="0"/>
              </a:rPr>
              <a:t>tariff</a:t>
            </a:r>
            <a:endParaRPr lang="fr-FR" dirty="0">
              <a:solidFill>
                <a:schemeClr val="bg1">
                  <a:lumMod val="65000"/>
                </a:schemeClr>
              </a:solidFill>
              <a:latin typeface="Whitney-Book" pitchFamily="50" charset="0"/>
              <a:cs typeface="Whitney-Book" pitchFamily="50" charset="0"/>
            </a:endParaRP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Block </a:t>
            </a:r>
            <a:r>
              <a:rPr lang="fr-FR" dirty="0" err="1">
                <a:solidFill>
                  <a:schemeClr val="bg1">
                    <a:lumMod val="65000"/>
                  </a:schemeClr>
                </a:solidFill>
                <a:latin typeface="Whitney-Book" pitchFamily="50" charset="0"/>
                <a:cs typeface="Whitney-Book" pitchFamily="50" charset="0"/>
              </a:rPr>
              <a:t>pricing</a:t>
            </a:r>
            <a:endParaRPr lang="fr-FR" dirty="0">
              <a:solidFill>
                <a:schemeClr val="bg1">
                  <a:lumMod val="65000"/>
                </a:schemeClr>
              </a:solidFill>
              <a:latin typeface="Whitney-Book" pitchFamily="50" charset="0"/>
              <a:cs typeface="Whitney-Book" pitchFamily="50" charset="0"/>
            </a:endParaRPr>
          </a:p>
          <a:p>
            <a:pPr marL="457200" lvl="1" indent="0">
              <a:buNone/>
            </a:pPr>
            <a:endParaRPr lang="fr-FR" dirty="0"/>
          </a:p>
          <a:p>
            <a:pPr lvl="1"/>
            <a:endParaRPr lang="en-US" dirty="0"/>
          </a:p>
          <a:p>
            <a:endParaRPr lang="en-US" dirty="0"/>
          </a:p>
        </p:txBody>
      </p:sp>
    </p:spTree>
    <p:extLst>
      <p:ext uri="{BB962C8B-B14F-4D97-AF65-F5344CB8AC3E}">
        <p14:creationId xmlns:p14="http://schemas.microsoft.com/office/powerpoint/2010/main" val="27648690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35B08-8C1F-4D80-93E1-86DF9828E192}"/>
              </a:ext>
            </a:extLst>
          </p:cNvPr>
          <p:cNvSpPr>
            <a:spLocks noGrp="1"/>
          </p:cNvSpPr>
          <p:nvPr>
            <p:ph type="title"/>
          </p:nvPr>
        </p:nvSpPr>
        <p:spPr/>
        <p:txBody>
          <a:bodyPr/>
          <a:lstStyle/>
          <a:p>
            <a:r>
              <a:rPr lang="fr-FR" dirty="0"/>
              <a:t>First </a:t>
            </a:r>
            <a:r>
              <a:rPr lang="fr-FR" dirty="0" err="1"/>
              <a:t>degree</a:t>
            </a:r>
            <a:r>
              <a:rPr lang="fr-FR" dirty="0"/>
              <a:t> </a:t>
            </a:r>
            <a:r>
              <a:rPr lang="fr-FR" dirty="0" err="1"/>
              <a:t>price</a:t>
            </a:r>
            <a:r>
              <a:rPr lang="fr-FR" dirty="0"/>
              <a:t> discrimination</a:t>
            </a:r>
            <a:endParaRPr lang="en-US" dirty="0"/>
          </a:p>
        </p:txBody>
      </p:sp>
      <p:sp>
        <p:nvSpPr>
          <p:cNvPr id="3" name="Content Placeholder 2">
            <a:extLst>
              <a:ext uri="{FF2B5EF4-FFF2-40B4-BE49-F238E27FC236}">
                <a16:creationId xmlns:a16="http://schemas.microsoft.com/office/drawing/2014/main" id="{C4184160-A30F-4D2F-9517-7739EEBED42E}"/>
              </a:ext>
            </a:extLst>
          </p:cNvPr>
          <p:cNvSpPr>
            <a:spLocks noGrp="1"/>
          </p:cNvSpPr>
          <p:nvPr>
            <p:ph idx="1"/>
          </p:nvPr>
        </p:nvSpPr>
        <p:spPr>
          <a:xfrm>
            <a:off x="457200" y="1419985"/>
            <a:ext cx="8229600" cy="4862481"/>
          </a:xfrm>
        </p:spPr>
        <p:txBody>
          <a:bodyPr>
            <a:normAutofit lnSpcReduction="10000"/>
          </a:bodyPr>
          <a:lstStyle/>
          <a:p>
            <a:r>
              <a:rPr lang="fr-FR" dirty="0"/>
              <a:t>Charge </a:t>
            </a:r>
            <a:r>
              <a:rPr lang="fr-FR" dirty="0" err="1"/>
              <a:t>each</a:t>
            </a:r>
            <a:r>
              <a:rPr lang="fr-FR" dirty="0"/>
              <a:t> </a:t>
            </a:r>
            <a:r>
              <a:rPr lang="fr-FR" dirty="0" err="1"/>
              <a:t>customer</a:t>
            </a:r>
            <a:r>
              <a:rPr lang="fr-FR" dirty="0"/>
              <a:t> a </a:t>
            </a:r>
            <a:r>
              <a:rPr lang="fr-FR" dirty="0" err="1"/>
              <a:t>different</a:t>
            </a:r>
            <a:r>
              <a:rPr lang="fr-FR" dirty="0"/>
              <a:t> </a:t>
            </a:r>
            <a:r>
              <a:rPr lang="fr-FR" dirty="0" err="1"/>
              <a:t>price</a:t>
            </a:r>
            <a:endParaRPr lang="en-US" dirty="0"/>
          </a:p>
          <a:p>
            <a:r>
              <a:rPr lang="en-US" dirty="0"/>
              <a:t>Also known as </a:t>
            </a:r>
            <a:r>
              <a:rPr lang="en-US" u="sng" dirty="0"/>
              <a:t>perfect</a:t>
            </a:r>
            <a:r>
              <a:rPr lang="en-US" dirty="0"/>
              <a:t> price discrimination</a:t>
            </a:r>
          </a:p>
          <a:p>
            <a:endParaRPr lang="en-US" sz="1400" dirty="0"/>
          </a:p>
          <a:p>
            <a:r>
              <a:rPr lang="en-US" dirty="0"/>
              <a:t>Conditions:</a:t>
            </a:r>
          </a:p>
          <a:p>
            <a:pPr lvl="1"/>
            <a:r>
              <a:rPr lang="en-US" dirty="0"/>
              <a:t>Many consumers with different MPV for the firm’s product</a:t>
            </a:r>
          </a:p>
          <a:p>
            <a:pPr lvl="1"/>
            <a:r>
              <a:rPr lang="en-US" dirty="0"/>
              <a:t>Firm knows each consumer’s MPV (i.e., willingness to pay)</a:t>
            </a:r>
          </a:p>
          <a:p>
            <a:pPr lvl="1"/>
            <a:r>
              <a:rPr lang="en-US" dirty="0"/>
              <a:t>Firm can prevent resale</a:t>
            </a:r>
          </a:p>
          <a:p>
            <a:endParaRPr lang="en-US" dirty="0"/>
          </a:p>
          <a:p>
            <a:r>
              <a:rPr lang="en-US" dirty="0"/>
              <a:t>Note: This is (still) a hypothetical scenario!</a:t>
            </a:r>
          </a:p>
          <a:p>
            <a:endParaRPr lang="en-US" dirty="0"/>
          </a:p>
        </p:txBody>
      </p:sp>
    </p:spTree>
    <p:extLst>
      <p:ext uri="{BB962C8B-B14F-4D97-AF65-F5344CB8AC3E}">
        <p14:creationId xmlns:p14="http://schemas.microsoft.com/office/powerpoint/2010/main" val="11263820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B0BC2-D735-4F40-BF14-A1D42A8629BB}"/>
              </a:ext>
            </a:extLst>
          </p:cNvPr>
          <p:cNvSpPr>
            <a:spLocks noGrp="1"/>
          </p:cNvSpPr>
          <p:nvPr>
            <p:ph type="title"/>
          </p:nvPr>
        </p:nvSpPr>
        <p:spPr>
          <a:xfrm>
            <a:off x="457200" y="127215"/>
            <a:ext cx="8229600" cy="1143000"/>
          </a:xfrm>
        </p:spPr>
        <p:txBody>
          <a:bodyPr anchor="ctr">
            <a:normAutofit/>
          </a:bodyPr>
          <a:lstStyle/>
          <a:p>
            <a:r>
              <a:rPr lang="en-US" dirty="0"/>
              <a:t>The Dystopian Future of Price Discrimination</a:t>
            </a:r>
          </a:p>
        </p:txBody>
      </p:sp>
      <p:sp>
        <p:nvSpPr>
          <p:cNvPr id="3" name="Content Placeholder 2">
            <a:extLst>
              <a:ext uri="{FF2B5EF4-FFF2-40B4-BE49-F238E27FC236}">
                <a16:creationId xmlns:a16="http://schemas.microsoft.com/office/drawing/2014/main" id="{16ACAAF7-34BD-49D6-92A9-5CD2DF7E05E5}"/>
              </a:ext>
            </a:extLst>
          </p:cNvPr>
          <p:cNvSpPr>
            <a:spLocks noGrp="1"/>
          </p:cNvSpPr>
          <p:nvPr>
            <p:ph sz="half" idx="1"/>
          </p:nvPr>
        </p:nvSpPr>
        <p:spPr>
          <a:xfrm>
            <a:off x="457200" y="1600201"/>
            <a:ext cx="4038600" cy="4525963"/>
          </a:xfrm>
        </p:spPr>
        <p:txBody>
          <a:bodyPr>
            <a:normAutofit/>
          </a:bodyPr>
          <a:lstStyle/>
          <a:p>
            <a:pPr>
              <a:lnSpc>
                <a:spcPct val="90000"/>
              </a:lnSpc>
            </a:pPr>
            <a:r>
              <a:rPr lang="fr-FR" sz="2400" dirty="0" err="1"/>
              <a:t>Why</a:t>
            </a:r>
            <a:r>
              <a:rPr lang="fr-FR" sz="2400" dirty="0"/>
              <a:t> are </a:t>
            </a:r>
            <a:r>
              <a:rPr lang="fr-FR" sz="2400" dirty="0" err="1"/>
              <a:t>companies</a:t>
            </a:r>
            <a:r>
              <a:rPr lang="fr-FR" sz="2400" dirty="0"/>
              <a:t> </a:t>
            </a:r>
            <a:r>
              <a:rPr lang="fr-FR" sz="2400" dirty="0" err="1"/>
              <a:t>increasingly</a:t>
            </a:r>
            <a:r>
              <a:rPr lang="fr-FR" sz="2400" dirty="0"/>
              <a:t> able to use first-</a:t>
            </a:r>
            <a:r>
              <a:rPr lang="fr-FR" sz="2400" dirty="0" err="1"/>
              <a:t>degree</a:t>
            </a:r>
            <a:r>
              <a:rPr lang="fr-FR" sz="2400" dirty="0"/>
              <a:t> </a:t>
            </a:r>
            <a:r>
              <a:rPr lang="fr-FR" sz="2400" dirty="0" err="1"/>
              <a:t>price</a:t>
            </a:r>
            <a:r>
              <a:rPr lang="fr-FR" sz="2400" dirty="0"/>
              <a:t> discrimination (</a:t>
            </a:r>
            <a:r>
              <a:rPr lang="fr-FR" sz="2400" dirty="0" err="1"/>
              <a:t>personally</a:t>
            </a:r>
            <a:r>
              <a:rPr lang="fr-FR" sz="2400" dirty="0"/>
              <a:t> </a:t>
            </a:r>
            <a:r>
              <a:rPr lang="fr-FR" sz="2400" dirty="0" err="1"/>
              <a:t>tailored</a:t>
            </a:r>
            <a:r>
              <a:rPr lang="fr-FR" sz="2400" dirty="0"/>
              <a:t> </a:t>
            </a:r>
            <a:r>
              <a:rPr lang="fr-FR" sz="2400" dirty="0" err="1"/>
              <a:t>prices</a:t>
            </a:r>
            <a:r>
              <a:rPr lang="fr-FR" sz="2400" dirty="0"/>
              <a:t>)? </a:t>
            </a:r>
            <a:r>
              <a:rPr lang="fr-FR" sz="2400" dirty="0" err="1"/>
              <a:t>Any</a:t>
            </a:r>
            <a:r>
              <a:rPr lang="fr-FR" sz="2400" dirty="0"/>
              <a:t> </a:t>
            </a:r>
            <a:r>
              <a:rPr lang="fr-FR" sz="2400" dirty="0" err="1"/>
              <a:t>examples</a:t>
            </a:r>
            <a:r>
              <a:rPr lang="fr-FR" sz="2400" dirty="0"/>
              <a:t>?</a:t>
            </a:r>
          </a:p>
          <a:p>
            <a:pPr>
              <a:lnSpc>
                <a:spcPct val="90000"/>
              </a:lnSpc>
            </a:pPr>
            <a:endParaRPr lang="fr-FR" sz="2400" dirty="0"/>
          </a:p>
          <a:p>
            <a:pPr>
              <a:lnSpc>
                <a:spcPct val="90000"/>
              </a:lnSpc>
            </a:pPr>
            <a:r>
              <a:rPr lang="fr-FR" sz="2400" dirty="0"/>
              <a:t>Is the trend </a:t>
            </a:r>
            <a:r>
              <a:rPr lang="fr-FR" sz="2400" dirty="0" err="1"/>
              <a:t>towards</a:t>
            </a:r>
            <a:r>
              <a:rPr lang="fr-FR" sz="2400" dirty="0"/>
              <a:t> more </a:t>
            </a:r>
            <a:r>
              <a:rPr lang="fr-FR" sz="2400" dirty="0" err="1"/>
              <a:t>price</a:t>
            </a:r>
            <a:r>
              <a:rPr lang="fr-FR" sz="2400" dirty="0"/>
              <a:t> discrimination good or </a:t>
            </a:r>
            <a:r>
              <a:rPr lang="fr-FR" sz="2400" dirty="0" err="1"/>
              <a:t>bad</a:t>
            </a:r>
            <a:r>
              <a:rPr lang="fr-FR" sz="2400" dirty="0"/>
              <a:t> for </a:t>
            </a:r>
            <a:r>
              <a:rPr lang="fr-FR" sz="2400" dirty="0" err="1"/>
              <a:t>consumers</a:t>
            </a:r>
            <a:r>
              <a:rPr lang="fr-FR" sz="2400" dirty="0"/>
              <a:t>? </a:t>
            </a:r>
            <a:endParaRPr lang="en-US" sz="2400" dirty="0"/>
          </a:p>
        </p:txBody>
      </p:sp>
      <p:grpSp>
        <p:nvGrpSpPr>
          <p:cNvPr id="6" name="Group 5">
            <a:extLst>
              <a:ext uri="{FF2B5EF4-FFF2-40B4-BE49-F238E27FC236}">
                <a16:creationId xmlns:a16="http://schemas.microsoft.com/office/drawing/2014/main" id="{4BD0C456-9BCD-4A6D-9AA9-B1AB414EACE1}"/>
              </a:ext>
            </a:extLst>
          </p:cNvPr>
          <p:cNvGrpSpPr/>
          <p:nvPr/>
        </p:nvGrpSpPr>
        <p:grpSpPr>
          <a:xfrm>
            <a:off x="1393372" y="2520348"/>
            <a:ext cx="7543799" cy="4099979"/>
            <a:chOff x="1393372" y="2520348"/>
            <a:chExt cx="7543799" cy="4099979"/>
          </a:xfrm>
        </p:grpSpPr>
        <p:pic>
          <p:nvPicPr>
            <p:cNvPr id="5" name="Picture 4" descr="A picture containing text&#10;&#10;Description automatically generated">
              <a:extLst>
                <a:ext uri="{FF2B5EF4-FFF2-40B4-BE49-F238E27FC236}">
                  <a16:creationId xmlns:a16="http://schemas.microsoft.com/office/drawing/2014/main" id="{FA8FC4CC-06BE-4FFC-BD51-695F7FC41048}"/>
                </a:ext>
              </a:extLst>
            </p:cNvPr>
            <p:cNvPicPr>
              <a:picLocks noChangeAspect="1"/>
            </p:cNvPicPr>
            <p:nvPr/>
          </p:nvPicPr>
          <p:blipFill>
            <a:blip r:embed="rId3"/>
            <a:stretch>
              <a:fillRect/>
            </a:stretch>
          </p:blipFill>
          <p:spPr>
            <a:xfrm>
              <a:off x="4648200" y="2520348"/>
              <a:ext cx="4038600" cy="2685669"/>
            </a:xfrm>
            <a:prstGeom prst="rect">
              <a:avLst/>
            </a:prstGeom>
            <a:noFill/>
          </p:spPr>
        </p:pic>
        <p:pic>
          <p:nvPicPr>
            <p:cNvPr id="4" name="Picture 3">
              <a:extLst>
                <a:ext uri="{FF2B5EF4-FFF2-40B4-BE49-F238E27FC236}">
                  <a16:creationId xmlns:a16="http://schemas.microsoft.com/office/drawing/2014/main" id="{0F42E3C4-67B3-4579-8D7D-D64F1CFC64AA}"/>
                </a:ext>
              </a:extLst>
            </p:cNvPr>
            <p:cNvPicPr>
              <a:picLocks noChangeAspect="1"/>
            </p:cNvPicPr>
            <p:nvPr/>
          </p:nvPicPr>
          <p:blipFill>
            <a:blip r:embed="rId4"/>
            <a:stretch>
              <a:fillRect/>
            </a:stretch>
          </p:blipFill>
          <p:spPr>
            <a:xfrm>
              <a:off x="1393372" y="5342072"/>
              <a:ext cx="7543799" cy="1278255"/>
            </a:xfrm>
            <a:prstGeom prst="rect">
              <a:avLst/>
            </a:prstGeom>
          </p:spPr>
        </p:pic>
      </p:grpSp>
    </p:spTree>
    <p:extLst>
      <p:ext uri="{BB962C8B-B14F-4D97-AF65-F5344CB8AC3E}">
        <p14:creationId xmlns:p14="http://schemas.microsoft.com/office/powerpoint/2010/main" val="5303622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First degree price discrimination</a:t>
            </a:r>
          </a:p>
        </p:txBody>
      </p:sp>
      <p:sp>
        <p:nvSpPr>
          <p:cNvPr id="5" name="Content Placeholder 4"/>
          <p:cNvSpPr>
            <a:spLocks noGrp="1"/>
          </p:cNvSpPr>
          <p:nvPr>
            <p:ph idx="1"/>
          </p:nvPr>
        </p:nvSpPr>
        <p:spPr>
          <a:xfrm>
            <a:off x="5646335" y="1419985"/>
            <a:ext cx="3210560" cy="5201476"/>
          </a:xfrm>
        </p:spPr>
        <p:txBody>
          <a:bodyPr>
            <a:normAutofit fontScale="92500" lnSpcReduction="20000"/>
          </a:bodyPr>
          <a:lstStyle/>
          <a:p>
            <a:r>
              <a:rPr lang="en-US" dirty="0"/>
              <a:t>Assume MC=0</a:t>
            </a:r>
          </a:p>
          <a:p>
            <a:endParaRPr lang="en-US" dirty="0"/>
          </a:p>
          <a:p>
            <a:r>
              <a:rPr lang="en-US" dirty="0"/>
              <a:t>Charge </a:t>
            </a:r>
            <a:r>
              <a:rPr lang="en-US" dirty="0">
                <a:solidFill>
                  <a:srgbClr val="FF0000"/>
                </a:solidFill>
              </a:rPr>
              <a:t>each customer</a:t>
            </a:r>
            <a:r>
              <a:rPr lang="en-US" dirty="0"/>
              <a:t> a different price</a:t>
            </a:r>
          </a:p>
          <a:p>
            <a:endParaRPr lang="en-US" dirty="0"/>
          </a:p>
          <a:p>
            <a:r>
              <a:rPr lang="en-US" dirty="0"/>
              <a:t>The Holy Grail of complex pricing</a:t>
            </a:r>
          </a:p>
          <a:p>
            <a:endParaRPr lang="en-US" dirty="0"/>
          </a:p>
          <a:p>
            <a:r>
              <a:rPr lang="en-US" dirty="0"/>
              <a:t>Zero consumer surplus: everything is extracted!</a:t>
            </a:r>
          </a:p>
          <a:p>
            <a:endParaRPr lang="en-US" dirty="0"/>
          </a:p>
        </p:txBody>
      </p:sp>
      <p:sp>
        <p:nvSpPr>
          <p:cNvPr id="9" name="Line 31"/>
          <p:cNvSpPr>
            <a:spLocks noChangeShapeType="1"/>
          </p:cNvSpPr>
          <p:nvPr/>
        </p:nvSpPr>
        <p:spPr bwMode="auto">
          <a:xfrm>
            <a:off x="457200" y="1489364"/>
            <a:ext cx="0" cy="4910694"/>
          </a:xfrm>
          <a:prstGeom prst="line">
            <a:avLst/>
          </a:prstGeom>
          <a:noFill/>
          <a:ln w="25400">
            <a:solidFill>
              <a:schemeClr val="tx1"/>
            </a:solidFill>
            <a:round/>
            <a:headEnd type="arrow" w="med" len="med"/>
            <a:tailEnd type="none" w="med" len="me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10" name="Line 32"/>
          <p:cNvSpPr>
            <a:spLocks noChangeShapeType="1"/>
          </p:cNvSpPr>
          <p:nvPr/>
        </p:nvSpPr>
        <p:spPr bwMode="auto">
          <a:xfrm>
            <a:off x="457200" y="6400058"/>
            <a:ext cx="5112729" cy="0"/>
          </a:xfrm>
          <a:prstGeom prst="line">
            <a:avLst/>
          </a:prstGeom>
          <a:noFill/>
          <a:ln w="25400">
            <a:solidFill>
              <a:schemeClr val="tx1"/>
            </a:solidFill>
            <a:round/>
            <a:headEnd type="none" w="sm" len="sm"/>
            <a:tailEnd type="arrow" w="med" len="me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grpSp>
        <p:nvGrpSpPr>
          <p:cNvPr id="25" name="Group 24">
            <a:extLst>
              <a:ext uri="{FF2B5EF4-FFF2-40B4-BE49-F238E27FC236}">
                <a16:creationId xmlns:a16="http://schemas.microsoft.com/office/drawing/2014/main" id="{20668D98-B576-4871-AA17-27F4EA35469C}"/>
              </a:ext>
            </a:extLst>
          </p:cNvPr>
          <p:cNvGrpSpPr/>
          <p:nvPr/>
        </p:nvGrpSpPr>
        <p:grpSpPr>
          <a:xfrm>
            <a:off x="457200" y="1804128"/>
            <a:ext cx="3903537" cy="4595929"/>
            <a:chOff x="457200" y="1804128"/>
            <a:chExt cx="3903537" cy="4595929"/>
          </a:xfrm>
        </p:grpSpPr>
        <p:sp>
          <p:nvSpPr>
            <p:cNvPr id="6" name="Rectangle 5"/>
            <p:cNvSpPr/>
            <p:nvPr/>
          </p:nvSpPr>
          <p:spPr>
            <a:xfrm>
              <a:off x="457200" y="1804128"/>
              <a:ext cx="3903537" cy="4595929"/>
            </a:xfrm>
            <a:custGeom>
              <a:avLst/>
              <a:gdLst>
                <a:gd name="connsiteX0" fmla="*/ 0 w 1767010"/>
                <a:gd name="connsiteY0" fmla="*/ 0 h 2495279"/>
                <a:gd name="connsiteX1" fmla="*/ 1767010 w 1767010"/>
                <a:gd name="connsiteY1" fmla="*/ 0 h 2495279"/>
                <a:gd name="connsiteX2" fmla="*/ 1767010 w 1767010"/>
                <a:gd name="connsiteY2" fmla="*/ 2495279 h 2495279"/>
                <a:gd name="connsiteX3" fmla="*/ 0 w 1767010"/>
                <a:gd name="connsiteY3" fmla="*/ 2495279 h 2495279"/>
                <a:gd name="connsiteX4" fmla="*/ 0 w 1767010"/>
                <a:gd name="connsiteY4" fmla="*/ 0 h 2495279"/>
                <a:gd name="connsiteX0" fmla="*/ 12357 w 1767010"/>
                <a:gd name="connsiteY0" fmla="*/ 0 h 4595928"/>
                <a:gd name="connsiteX1" fmla="*/ 1767010 w 1767010"/>
                <a:gd name="connsiteY1" fmla="*/ 2100649 h 4595928"/>
                <a:gd name="connsiteX2" fmla="*/ 1767010 w 1767010"/>
                <a:gd name="connsiteY2" fmla="*/ 4595928 h 4595928"/>
                <a:gd name="connsiteX3" fmla="*/ 0 w 1767010"/>
                <a:gd name="connsiteY3" fmla="*/ 4595928 h 4595928"/>
                <a:gd name="connsiteX4" fmla="*/ 12357 w 1767010"/>
                <a:gd name="connsiteY4" fmla="*/ 0 h 4595928"/>
                <a:gd name="connsiteX0" fmla="*/ 12357 w 3867659"/>
                <a:gd name="connsiteY0" fmla="*/ 0 h 4595928"/>
                <a:gd name="connsiteX1" fmla="*/ 1767010 w 3867659"/>
                <a:gd name="connsiteY1" fmla="*/ 2100649 h 4595928"/>
                <a:gd name="connsiteX2" fmla="*/ 3867659 w 3867659"/>
                <a:gd name="connsiteY2" fmla="*/ 4571214 h 4595928"/>
                <a:gd name="connsiteX3" fmla="*/ 0 w 3867659"/>
                <a:gd name="connsiteY3" fmla="*/ 4595928 h 4595928"/>
                <a:gd name="connsiteX4" fmla="*/ 12357 w 3867659"/>
                <a:gd name="connsiteY4" fmla="*/ 0 h 4595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7659" h="4595928">
                  <a:moveTo>
                    <a:pt x="12357" y="0"/>
                  </a:moveTo>
                  <a:lnTo>
                    <a:pt x="1767010" y="2100649"/>
                  </a:lnTo>
                  <a:lnTo>
                    <a:pt x="3867659" y="4571214"/>
                  </a:lnTo>
                  <a:lnTo>
                    <a:pt x="0" y="4595928"/>
                  </a:lnTo>
                  <a:lnTo>
                    <a:pt x="12357"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39"/>
            <p:cNvSpPr>
              <a:spLocks noChangeArrowheads="1"/>
            </p:cNvSpPr>
            <p:nvPr/>
          </p:nvSpPr>
          <p:spPr bwMode="auto">
            <a:xfrm>
              <a:off x="533606" y="4263389"/>
              <a:ext cx="2085860" cy="923972"/>
            </a:xfrm>
            <a:prstGeom prst="rect">
              <a:avLst/>
            </a:prstGeom>
            <a:noFill/>
            <a:ln w="9525">
              <a:noFill/>
              <a:miter lim="800000"/>
              <a:headEnd/>
              <a:tailEnd/>
            </a:ln>
            <a:effectLst/>
          </p:spPr>
          <p:txBody>
            <a:bodyPr wrap="squar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Calibri"/>
                  <a:ea typeface="+mn-ea"/>
                  <a:cs typeface="Times New Roman" pitchFamily="18" charset="0"/>
                </a:rPr>
                <a:t>Revenues and Profits</a:t>
              </a:r>
              <a:endParaRPr kumimoji="0" lang="en-US" sz="1800" b="1" i="0" u="none" strike="noStrike" kern="1200" cap="none" spc="0" normalizeH="0" noProof="0" dirty="0">
                <a:ln>
                  <a:noFill/>
                </a:ln>
                <a:solidFill>
                  <a:schemeClr val="bg1"/>
                </a:solidFill>
                <a:effectLst/>
                <a:uLnTx/>
                <a:uFillTx/>
                <a:latin typeface="Calibri"/>
                <a:ea typeface="+mn-ea"/>
                <a:cs typeface="Times New Roman"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baseline="0" dirty="0">
                  <a:solidFill>
                    <a:schemeClr val="bg1"/>
                  </a:solidFill>
                  <a:latin typeface="Calibri"/>
                  <a:cs typeface="Times New Roman" pitchFamily="18" charset="0"/>
                </a:rPr>
                <a:t>(assume MC=0)</a:t>
              </a:r>
              <a:r>
                <a:rPr kumimoji="0" lang="en-US" sz="1800" b="1" i="0" u="none" strike="noStrike" kern="1200" cap="none" spc="0" normalizeH="0" baseline="0" noProof="0" dirty="0">
                  <a:ln>
                    <a:noFill/>
                  </a:ln>
                  <a:solidFill>
                    <a:schemeClr val="bg1"/>
                  </a:solidFill>
                  <a:effectLst/>
                  <a:uLnTx/>
                  <a:uFillTx/>
                  <a:latin typeface="Calibri"/>
                  <a:ea typeface="+mn-ea"/>
                  <a:cs typeface="Times New Roman" pitchFamily="18" charset="0"/>
                </a:rPr>
                <a:t> </a:t>
              </a:r>
            </a:p>
          </p:txBody>
        </p:sp>
      </p:grpSp>
      <p:grpSp>
        <p:nvGrpSpPr>
          <p:cNvPr id="26" name="Group 25">
            <a:extLst>
              <a:ext uri="{FF2B5EF4-FFF2-40B4-BE49-F238E27FC236}">
                <a16:creationId xmlns:a16="http://schemas.microsoft.com/office/drawing/2014/main" id="{B0B3369E-2524-4274-8E9D-A40B7B41E855}"/>
              </a:ext>
            </a:extLst>
          </p:cNvPr>
          <p:cNvGrpSpPr/>
          <p:nvPr/>
        </p:nvGrpSpPr>
        <p:grpSpPr>
          <a:xfrm>
            <a:off x="459829" y="1764014"/>
            <a:ext cx="5092991" cy="4636044"/>
            <a:chOff x="459829" y="1764014"/>
            <a:chExt cx="5092991" cy="4636044"/>
          </a:xfrm>
        </p:grpSpPr>
        <p:sp>
          <p:nvSpPr>
            <p:cNvPr id="11" name="Rectangle 41"/>
            <p:cNvSpPr>
              <a:spLocks noChangeArrowheads="1"/>
            </p:cNvSpPr>
            <p:nvPr/>
          </p:nvSpPr>
          <p:spPr bwMode="auto">
            <a:xfrm>
              <a:off x="3902881" y="5564239"/>
              <a:ext cx="1649939"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C00000"/>
                  </a:solidFill>
                  <a:effectLst/>
                  <a:uLnTx/>
                  <a:uFillTx/>
                  <a:latin typeface="Calibri"/>
                  <a:ea typeface="+mn-ea"/>
                  <a:cs typeface="Times New Roman" pitchFamily="18" charset="0"/>
                </a:rPr>
                <a:t>Demand = MPV</a:t>
              </a:r>
            </a:p>
          </p:txBody>
        </p:sp>
        <p:cxnSp>
          <p:nvCxnSpPr>
            <p:cNvPr id="14" name="Straight Connector 13">
              <a:extLst>
                <a:ext uri="{FF2B5EF4-FFF2-40B4-BE49-F238E27FC236}">
                  <a16:creationId xmlns:a16="http://schemas.microsoft.com/office/drawing/2014/main" id="{FE9F7361-97D1-4E8E-A5F7-37810957BDA1}"/>
                </a:ext>
              </a:extLst>
            </p:cNvPr>
            <p:cNvCxnSpPr/>
            <p:nvPr/>
          </p:nvCxnSpPr>
          <p:spPr>
            <a:xfrm>
              <a:off x="459829" y="1764014"/>
              <a:ext cx="3903549" cy="4636044"/>
            </a:xfrm>
            <a:prstGeom prst="line">
              <a:avLst/>
            </a:prstGeom>
          </p:spPr>
          <p:style>
            <a:lnRef idx="2">
              <a:schemeClr val="accent2"/>
            </a:lnRef>
            <a:fillRef idx="0">
              <a:schemeClr val="accent2"/>
            </a:fillRef>
            <a:effectRef idx="1">
              <a:schemeClr val="accent2"/>
            </a:effectRef>
            <a:fontRef idx="minor">
              <a:schemeClr val="tx1"/>
            </a:fontRef>
          </p:style>
        </p:cxnSp>
      </p:grpSp>
      <p:grpSp>
        <p:nvGrpSpPr>
          <p:cNvPr id="8" name="Group 7">
            <a:extLst>
              <a:ext uri="{FF2B5EF4-FFF2-40B4-BE49-F238E27FC236}">
                <a16:creationId xmlns:a16="http://schemas.microsoft.com/office/drawing/2014/main" id="{A4CA2A99-E023-4656-AE72-4432E23DDF66}"/>
              </a:ext>
            </a:extLst>
          </p:cNvPr>
          <p:cNvGrpSpPr/>
          <p:nvPr/>
        </p:nvGrpSpPr>
        <p:grpSpPr>
          <a:xfrm>
            <a:off x="533606" y="1652814"/>
            <a:ext cx="1905109" cy="462307"/>
            <a:chOff x="533606" y="1652814"/>
            <a:chExt cx="1905109" cy="462307"/>
          </a:xfrm>
        </p:grpSpPr>
        <p:sp>
          <p:nvSpPr>
            <p:cNvPr id="3" name="Oval 2">
              <a:extLst>
                <a:ext uri="{FF2B5EF4-FFF2-40B4-BE49-F238E27FC236}">
                  <a16:creationId xmlns:a16="http://schemas.microsoft.com/office/drawing/2014/main" id="{BDD8EDDA-6919-4691-A7C7-A9561C88CA93}"/>
                </a:ext>
              </a:extLst>
            </p:cNvPr>
            <p:cNvSpPr/>
            <p:nvPr/>
          </p:nvSpPr>
          <p:spPr>
            <a:xfrm>
              <a:off x="533606" y="1826288"/>
              <a:ext cx="99929" cy="115361"/>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5" name="Line 38">
              <a:extLst>
                <a:ext uri="{FF2B5EF4-FFF2-40B4-BE49-F238E27FC236}">
                  <a16:creationId xmlns:a16="http://schemas.microsoft.com/office/drawing/2014/main" id="{3692A397-EBA8-4616-BB79-1ABC14F6C754}"/>
                </a:ext>
              </a:extLst>
            </p:cNvPr>
            <p:cNvSpPr>
              <a:spLocks noChangeShapeType="1"/>
            </p:cNvSpPr>
            <p:nvPr/>
          </p:nvSpPr>
          <p:spPr bwMode="auto">
            <a:xfrm flipH="1">
              <a:off x="707129" y="1880078"/>
              <a:ext cx="347829" cy="0"/>
            </a:xfrm>
            <a:prstGeom prst="line">
              <a:avLst/>
            </a:prstGeom>
            <a:noFill/>
            <a:ln w="12700">
              <a:solidFill>
                <a:schemeClr val="tx1"/>
              </a:solidFill>
              <a:round/>
              <a:headEnd type="none" w="sm" len="sm"/>
              <a:tailEnd type="stealth" w="med" len="lg"/>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16" name="Rectangle 39">
              <a:extLst>
                <a:ext uri="{FF2B5EF4-FFF2-40B4-BE49-F238E27FC236}">
                  <a16:creationId xmlns:a16="http://schemas.microsoft.com/office/drawing/2014/main" id="{3BC0920F-9755-4B75-AB00-2645DB587E8A}"/>
                </a:ext>
              </a:extLst>
            </p:cNvPr>
            <p:cNvSpPr>
              <a:spLocks noChangeArrowheads="1"/>
            </p:cNvSpPr>
            <p:nvPr/>
          </p:nvSpPr>
          <p:spPr bwMode="auto">
            <a:xfrm>
              <a:off x="1011516" y="1652814"/>
              <a:ext cx="1427199" cy="462307"/>
            </a:xfrm>
            <a:prstGeom prst="rect">
              <a:avLst/>
            </a:prstGeom>
            <a:noFill/>
            <a:ln w="9525">
              <a:noFill/>
              <a:miter lim="800000"/>
              <a:headEnd/>
              <a:tailEnd/>
            </a:ln>
            <a:effectLst/>
          </p:spPr>
          <p:txBody>
            <a:bodyPr wrap="squar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Times New Roman" pitchFamily="18" charset="0"/>
                </a:rPr>
                <a:t>Price charged to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Times New Roman" pitchFamily="18" charset="0"/>
                </a:rPr>
                <a:t>high-MPV customer</a:t>
              </a:r>
            </a:p>
          </p:txBody>
        </p:sp>
      </p:grpSp>
      <p:grpSp>
        <p:nvGrpSpPr>
          <p:cNvPr id="17" name="Group 16">
            <a:extLst>
              <a:ext uri="{FF2B5EF4-FFF2-40B4-BE49-F238E27FC236}">
                <a16:creationId xmlns:a16="http://schemas.microsoft.com/office/drawing/2014/main" id="{0F424EED-F012-424C-969B-0206CCA82BFC}"/>
              </a:ext>
            </a:extLst>
          </p:cNvPr>
          <p:cNvGrpSpPr/>
          <p:nvPr/>
        </p:nvGrpSpPr>
        <p:grpSpPr>
          <a:xfrm>
            <a:off x="3701045" y="4867737"/>
            <a:ext cx="1761278" cy="859091"/>
            <a:chOff x="533606" y="1082558"/>
            <a:chExt cx="1761278" cy="859091"/>
          </a:xfrm>
        </p:grpSpPr>
        <p:sp>
          <p:nvSpPr>
            <p:cNvPr id="18" name="Oval 17">
              <a:extLst>
                <a:ext uri="{FF2B5EF4-FFF2-40B4-BE49-F238E27FC236}">
                  <a16:creationId xmlns:a16="http://schemas.microsoft.com/office/drawing/2014/main" id="{D2A29EC1-3D28-46B8-9D09-1B6E162F1CBA}"/>
                </a:ext>
              </a:extLst>
            </p:cNvPr>
            <p:cNvSpPr/>
            <p:nvPr/>
          </p:nvSpPr>
          <p:spPr>
            <a:xfrm>
              <a:off x="533606" y="1826288"/>
              <a:ext cx="99929" cy="115361"/>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9" name="Line 38">
              <a:extLst>
                <a:ext uri="{FF2B5EF4-FFF2-40B4-BE49-F238E27FC236}">
                  <a16:creationId xmlns:a16="http://schemas.microsoft.com/office/drawing/2014/main" id="{10B03026-85C5-415A-B218-5E087B001AAA}"/>
                </a:ext>
              </a:extLst>
            </p:cNvPr>
            <p:cNvSpPr>
              <a:spLocks noChangeShapeType="1"/>
            </p:cNvSpPr>
            <p:nvPr/>
          </p:nvSpPr>
          <p:spPr bwMode="auto">
            <a:xfrm flipH="1">
              <a:off x="664098" y="1538988"/>
              <a:ext cx="347829" cy="287300"/>
            </a:xfrm>
            <a:prstGeom prst="line">
              <a:avLst/>
            </a:prstGeom>
            <a:noFill/>
            <a:ln w="12700">
              <a:solidFill>
                <a:schemeClr val="tx1"/>
              </a:solidFill>
              <a:round/>
              <a:headEnd type="none" w="sm" len="sm"/>
              <a:tailEnd type="stealth" w="med" len="lg"/>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20" name="Rectangle 39">
              <a:extLst>
                <a:ext uri="{FF2B5EF4-FFF2-40B4-BE49-F238E27FC236}">
                  <a16:creationId xmlns:a16="http://schemas.microsoft.com/office/drawing/2014/main" id="{A4EEBE4E-59F0-42A1-9CA7-95BBC84B4DF9}"/>
                </a:ext>
              </a:extLst>
            </p:cNvPr>
            <p:cNvSpPr>
              <a:spLocks noChangeArrowheads="1"/>
            </p:cNvSpPr>
            <p:nvPr/>
          </p:nvSpPr>
          <p:spPr bwMode="auto">
            <a:xfrm>
              <a:off x="867685" y="1082558"/>
              <a:ext cx="1427199" cy="462307"/>
            </a:xfrm>
            <a:prstGeom prst="rect">
              <a:avLst/>
            </a:prstGeom>
            <a:noFill/>
            <a:ln w="9525">
              <a:noFill/>
              <a:miter lim="800000"/>
              <a:headEnd/>
              <a:tailEnd/>
            </a:ln>
            <a:effectLst/>
          </p:spPr>
          <p:txBody>
            <a:bodyPr wrap="squar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Times New Roman" pitchFamily="18" charset="0"/>
                </a:rPr>
                <a:t>Price charged to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Times New Roman" pitchFamily="18" charset="0"/>
                </a:rPr>
                <a:t>low-MPV customer</a:t>
              </a:r>
            </a:p>
          </p:txBody>
        </p:sp>
      </p:grpSp>
      <p:grpSp>
        <p:nvGrpSpPr>
          <p:cNvPr id="21" name="Group 20">
            <a:extLst>
              <a:ext uri="{FF2B5EF4-FFF2-40B4-BE49-F238E27FC236}">
                <a16:creationId xmlns:a16="http://schemas.microsoft.com/office/drawing/2014/main" id="{4DD5A8F5-DAFE-45CD-8B03-EB20DF51AD29}"/>
              </a:ext>
            </a:extLst>
          </p:cNvPr>
          <p:cNvGrpSpPr/>
          <p:nvPr/>
        </p:nvGrpSpPr>
        <p:grpSpPr>
          <a:xfrm>
            <a:off x="2340327" y="3243001"/>
            <a:ext cx="2038093" cy="859091"/>
            <a:chOff x="533606" y="1082558"/>
            <a:chExt cx="2038093" cy="859091"/>
          </a:xfrm>
        </p:grpSpPr>
        <p:sp>
          <p:nvSpPr>
            <p:cNvPr id="22" name="Oval 21">
              <a:extLst>
                <a:ext uri="{FF2B5EF4-FFF2-40B4-BE49-F238E27FC236}">
                  <a16:creationId xmlns:a16="http://schemas.microsoft.com/office/drawing/2014/main" id="{F431DD9A-D9B3-481E-98E7-6EC606935E3D}"/>
                </a:ext>
              </a:extLst>
            </p:cNvPr>
            <p:cNvSpPr/>
            <p:nvPr/>
          </p:nvSpPr>
          <p:spPr>
            <a:xfrm>
              <a:off x="533606" y="1826288"/>
              <a:ext cx="99929" cy="115361"/>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3" name="Line 38">
              <a:extLst>
                <a:ext uri="{FF2B5EF4-FFF2-40B4-BE49-F238E27FC236}">
                  <a16:creationId xmlns:a16="http://schemas.microsoft.com/office/drawing/2014/main" id="{C5359EF3-15E1-49E3-9878-E3E6D540FD1B}"/>
                </a:ext>
              </a:extLst>
            </p:cNvPr>
            <p:cNvSpPr>
              <a:spLocks noChangeShapeType="1"/>
            </p:cNvSpPr>
            <p:nvPr/>
          </p:nvSpPr>
          <p:spPr bwMode="auto">
            <a:xfrm flipH="1">
              <a:off x="664098" y="1538988"/>
              <a:ext cx="347829" cy="287300"/>
            </a:xfrm>
            <a:prstGeom prst="line">
              <a:avLst/>
            </a:prstGeom>
            <a:noFill/>
            <a:ln w="12700">
              <a:solidFill>
                <a:schemeClr val="tx1"/>
              </a:solidFill>
              <a:round/>
              <a:headEnd type="none" w="sm" len="sm"/>
              <a:tailEnd type="stealth" w="med" len="lg"/>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24" name="Rectangle 39">
              <a:extLst>
                <a:ext uri="{FF2B5EF4-FFF2-40B4-BE49-F238E27FC236}">
                  <a16:creationId xmlns:a16="http://schemas.microsoft.com/office/drawing/2014/main" id="{87E878C7-6117-4C3A-BA5A-49DF5A04CCAB}"/>
                </a:ext>
              </a:extLst>
            </p:cNvPr>
            <p:cNvSpPr>
              <a:spLocks noChangeArrowheads="1"/>
            </p:cNvSpPr>
            <p:nvPr/>
          </p:nvSpPr>
          <p:spPr bwMode="auto">
            <a:xfrm>
              <a:off x="812745" y="1082558"/>
              <a:ext cx="1758954" cy="462307"/>
            </a:xfrm>
            <a:prstGeom prst="rect">
              <a:avLst/>
            </a:prstGeom>
            <a:noFill/>
            <a:ln w="9525">
              <a:noFill/>
              <a:miter lim="800000"/>
              <a:headEnd/>
              <a:tailEnd/>
            </a:ln>
            <a:effectLst/>
          </p:spPr>
          <p:txBody>
            <a:bodyPr wrap="squar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Times New Roman" pitchFamily="18" charset="0"/>
                </a:rPr>
                <a:t>Price charged to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solidFill>
                    <a:prstClr val="black"/>
                  </a:solidFill>
                  <a:latin typeface="Calibri"/>
                  <a:cs typeface="Times New Roman" pitchFamily="18" charset="0"/>
                </a:rPr>
                <a:t>median</a:t>
              </a:r>
              <a:r>
                <a:rPr kumimoji="0" lang="en-US" sz="1200" b="0" i="0" u="none" strike="noStrike" kern="1200" cap="none" spc="0" normalizeH="0" baseline="0" noProof="0" dirty="0">
                  <a:ln>
                    <a:noFill/>
                  </a:ln>
                  <a:solidFill>
                    <a:prstClr val="black"/>
                  </a:solidFill>
                  <a:effectLst/>
                  <a:uLnTx/>
                  <a:uFillTx/>
                  <a:latin typeface="Calibri"/>
                  <a:ea typeface="+mn-ea"/>
                  <a:cs typeface="Times New Roman" pitchFamily="18" charset="0"/>
                </a:rPr>
                <a:t>-MPV customer</a:t>
              </a:r>
            </a:p>
          </p:txBody>
        </p:sp>
      </p:grpSp>
      <p:sp>
        <p:nvSpPr>
          <p:cNvPr id="27" name="Rectangle 41">
            <a:extLst>
              <a:ext uri="{FF2B5EF4-FFF2-40B4-BE49-F238E27FC236}">
                <a16:creationId xmlns:a16="http://schemas.microsoft.com/office/drawing/2014/main" id="{41F1FC35-E8C4-497F-8915-304061FC8940}"/>
              </a:ext>
            </a:extLst>
          </p:cNvPr>
          <p:cNvSpPr>
            <a:spLocks noChangeArrowheads="1"/>
          </p:cNvSpPr>
          <p:nvPr/>
        </p:nvSpPr>
        <p:spPr bwMode="auto">
          <a:xfrm>
            <a:off x="65639" y="1091540"/>
            <a:ext cx="1321259"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strike="noStrike" kern="1200" cap="none" spc="0" normalizeH="0" baseline="0" noProof="0" dirty="0">
                <a:ln>
                  <a:noFill/>
                </a:ln>
                <a:effectLst/>
                <a:uLnTx/>
                <a:uFillTx/>
                <a:latin typeface="Calibri"/>
                <a:ea typeface="+mn-ea"/>
                <a:cs typeface="Times New Roman" pitchFamily="18" charset="0"/>
              </a:rPr>
              <a:t>Price / MPV</a:t>
            </a:r>
          </a:p>
        </p:txBody>
      </p:sp>
    </p:spTree>
    <p:extLst>
      <p:ext uri="{BB962C8B-B14F-4D97-AF65-F5344CB8AC3E}">
        <p14:creationId xmlns:p14="http://schemas.microsoft.com/office/powerpoint/2010/main" val="28095075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First degree price discrimination</a:t>
            </a:r>
          </a:p>
        </p:txBody>
      </p:sp>
      <p:sp>
        <p:nvSpPr>
          <p:cNvPr id="5" name="Content Placeholder 4"/>
          <p:cNvSpPr>
            <a:spLocks noGrp="1"/>
          </p:cNvSpPr>
          <p:nvPr>
            <p:ph idx="1"/>
          </p:nvPr>
        </p:nvSpPr>
        <p:spPr>
          <a:xfrm>
            <a:off x="5646335" y="1419985"/>
            <a:ext cx="3210560" cy="5201476"/>
          </a:xfrm>
        </p:spPr>
        <p:txBody>
          <a:bodyPr>
            <a:normAutofit/>
          </a:bodyPr>
          <a:lstStyle/>
          <a:p>
            <a:r>
              <a:rPr lang="en-US" dirty="0"/>
              <a:t>Now: MC&gt;0</a:t>
            </a:r>
          </a:p>
          <a:p>
            <a:pPr>
              <a:spcBef>
                <a:spcPts val="1800"/>
              </a:spcBef>
            </a:pPr>
            <a:r>
              <a:rPr lang="en-US" dirty="0"/>
              <a:t>Can it work in the real world? </a:t>
            </a:r>
          </a:p>
        </p:txBody>
      </p:sp>
      <p:grpSp>
        <p:nvGrpSpPr>
          <p:cNvPr id="7" name="Group 6"/>
          <p:cNvGrpSpPr/>
          <p:nvPr/>
        </p:nvGrpSpPr>
        <p:grpSpPr>
          <a:xfrm>
            <a:off x="457199" y="1419984"/>
            <a:ext cx="5476938" cy="4980074"/>
            <a:chOff x="761999" y="1637170"/>
            <a:chExt cx="5476938" cy="4980074"/>
          </a:xfrm>
        </p:grpSpPr>
        <p:sp>
          <p:nvSpPr>
            <p:cNvPr id="9" name="Line 31"/>
            <p:cNvSpPr>
              <a:spLocks noChangeShapeType="1"/>
            </p:cNvSpPr>
            <p:nvPr/>
          </p:nvSpPr>
          <p:spPr bwMode="auto">
            <a:xfrm flipH="1">
              <a:off x="761999" y="1637170"/>
              <a:ext cx="2629" cy="4980073"/>
            </a:xfrm>
            <a:prstGeom prst="line">
              <a:avLst/>
            </a:prstGeom>
            <a:noFill/>
            <a:ln w="25400">
              <a:solidFill>
                <a:schemeClr val="tx1"/>
              </a:solidFill>
              <a:round/>
              <a:headEnd type="arrow" w="med" len="med"/>
              <a:tailEnd type="none" w="med" len="me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10" name="Line 32"/>
            <p:cNvSpPr>
              <a:spLocks noChangeShapeType="1"/>
            </p:cNvSpPr>
            <p:nvPr/>
          </p:nvSpPr>
          <p:spPr bwMode="auto">
            <a:xfrm>
              <a:off x="762000" y="6617244"/>
              <a:ext cx="5112729" cy="0"/>
            </a:xfrm>
            <a:prstGeom prst="line">
              <a:avLst/>
            </a:prstGeom>
            <a:noFill/>
            <a:ln w="25400">
              <a:solidFill>
                <a:schemeClr val="tx1"/>
              </a:solidFill>
              <a:round/>
              <a:headEnd type="none" w="sm" len="sm"/>
              <a:tailEnd type="arrow" w="med" len="me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11" name="Rectangle 41"/>
            <p:cNvSpPr>
              <a:spLocks noChangeArrowheads="1"/>
            </p:cNvSpPr>
            <p:nvPr/>
          </p:nvSpPr>
          <p:spPr bwMode="auto">
            <a:xfrm>
              <a:off x="4588998" y="6190663"/>
              <a:ext cx="1649939"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C00000"/>
                  </a:solidFill>
                  <a:effectLst/>
                  <a:uLnTx/>
                  <a:uFillTx/>
                  <a:latin typeface="Calibri"/>
                  <a:ea typeface="+mn-ea"/>
                  <a:cs typeface="Times New Roman" pitchFamily="18" charset="0"/>
                </a:rPr>
                <a:t>Demand = MPV</a:t>
              </a:r>
            </a:p>
          </p:txBody>
        </p:sp>
      </p:grpSp>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cxnSp>
        <p:nvCxnSpPr>
          <p:cNvPr id="14" name="Straight Connector 13">
            <a:extLst>
              <a:ext uri="{FF2B5EF4-FFF2-40B4-BE49-F238E27FC236}">
                <a16:creationId xmlns:a16="http://schemas.microsoft.com/office/drawing/2014/main" id="{FE9F7361-97D1-4E8E-A5F7-37810957BDA1}"/>
              </a:ext>
            </a:extLst>
          </p:cNvPr>
          <p:cNvCxnSpPr/>
          <p:nvPr/>
        </p:nvCxnSpPr>
        <p:spPr>
          <a:xfrm>
            <a:off x="459829" y="1764014"/>
            <a:ext cx="3903549" cy="4636044"/>
          </a:xfrm>
          <a:prstGeom prst="line">
            <a:avLst/>
          </a:prstGeom>
        </p:spPr>
        <p:style>
          <a:lnRef idx="2">
            <a:schemeClr val="accent2"/>
          </a:lnRef>
          <a:fillRef idx="0">
            <a:schemeClr val="accent2"/>
          </a:fillRef>
          <a:effectRef idx="1">
            <a:schemeClr val="accent2"/>
          </a:effectRef>
          <a:fontRef idx="minor">
            <a:schemeClr val="tx1"/>
          </a:fontRef>
        </p:style>
      </p:cxnSp>
      <p:grpSp>
        <p:nvGrpSpPr>
          <p:cNvPr id="3" name="Group 2">
            <a:extLst>
              <a:ext uri="{FF2B5EF4-FFF2-40B4-BE49-F238E27FC236}">
                <a16:creationId xmlns:a16="http://schemas.microsoft.com/office/drawing/2014/main" id="{6B28DE93-4DCC-4476-A3CA-107973C1FA1C}"/>
              </a:ext>
            </a:extLst>
          </p:cNvPr>
          <p:cNvGrpSpPr/>
          <p:nvPr/>
        </p:nvGrpSpPr>
        <p:grpSpPr>
          <a:xfrm>
            <a:off x="459829" y="5106801"/>
            <a:ext cx="4997695" cy="398951"/>
            <a:chOff x="459829" y="5106801"/>
            <a:chExt cx="4997695" cy="398951"/>
          </a:xfrm>
        </p:grpSpPr>
        <p:cxnSp>
          <p:nvCxnSpPr>
            <p:cNvPr id="17" name="Straight Connector 16">
              <a:extLst>
                <a:ext uri="{FF2B5EF4-FFF2-40B4-BE49-F238E27FC236}">
                  <a16:creationId xmlns:a16="http://schemas.microsoft.com/office/drawing/2014/main" id="{D0637DE4-4D10-488D-B0E8-461D6885ECE9}"/>
                </a:ext>
              </a:extLst>
            </p:cNvPr>
            <p:cNvCxnSpPr>
              <a:cxnSpLocks/>
            </p:cNvCxnSpPr>
            <p:nvPr/>
          </p:nvCxnSpPr>
          <p:spPr>
            <a:xfrm flipV="1">
              <a:off x="459829" y="5476775"/>
              <a:ext cx="4997695" cy="28977"/>
            </a:xfrm>
            <a:prstGeom prst="line">
              <a:avLst/>
            </a:prstGeom>
            <a:ln w="57150"/>
          </p:spPr>
          <p:style>
            <a:lnRef idx="2">
              <a:schemeClr val="accent3"/>
            </a:lnRef>
            <a:fillRef idx="0">
              <a:schemeClr val="accent3"/>
            </a:fillRef>
            <a:effectRef idx="1">
              <a:schemeClr val="accent3"/>
            </a:effectRef>
            <a:fontRef idx="minor">
              <a:schemeClr val="tx1"/>
            </a:fontRef>
          </p:style>
        </p:cxnSp>
        <p:sp>
          <p:nvSpPr>
            <p:cNvPr id="20" name="Rectangle 41">
              <a:extLst>
                <a:ext uri="{FF2B5EF4-FFF2-40B4-BE49-F238E27FC236}">
                  <a16:creationId xmlns:a16="http://schemas.microsoft.com/office/drawing/2014/main" id="{D08E15A5-7091-413F-A701-F7DA2DC503CC}"/>
                </a:ext>
              </a:extLst>
            </p:cNvPr>
            <p:cNvSpPr>
              <a:spLocks noChangeArrowheads="1"/>
            </p:cNvSpPr>
            <p:nvPr/>
          </p:nvSpPr>
          <p:spPr bwMode="auto">
            <a:xfrm>
              <a:off x="4931164" y="5106801"/>
              <a:ext cx="506549"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chemeClr val="accent3">
                      <a:lumMod val="75000"/>
                    </a:schemeClr>
                  </a:solidFill>
                  <a:effectLst/>
                  <a:uLnTx/>
                  <a:uFillTx/>
                  <a:latin typeface="Calibri"/>
                  <a:ea typeface="+mn-ea"/>
                  <a:cs typeface="Times New Roman" pitchFamily="18" charset="0"/>
                </a:rPr>
                <a:t>MC</a:t>
              </a:r>
            </a:p>
          </p:txBody>
        </p:sp>
      </p:grpSp>
      <p:grpSp>
        <p:nvGrpSpPr>
          <p:cNvPr id="8" name="Group 7">
            <a:extLst>
              <a:ext uri="{FF2B5EF4-FFF2-40B4-BE49-F238E27FC236}">
                <a16:creationId xmlns:a16="http://schemas.microsoft.com/office/drawing/2014/main" id="{88959C7A-EED4-4498-B6A3-D296EBAA7A81}"/>
              </a:ext>
            </a:extLst>
          </p:cNvPr>
          <p:cNvGrpSpPr/>
          <p:nvPr/>
        </p:nvGrpSpPr>
        <p:grpSpPr>
          <a:xfrm>
            <a:off x="457201" y="1804129"/>
            <a:ext cx="3106298" cy="3701622"/>
            <a:chOff x="457201" y="1804129"/>
            <a:chExt cx="3106298" cy="3701622"/>
          </a:xfrm>
        </p:grpSpPr>
        <p:sp>
          <p:nvSpPr>
            <p:cNvPr id="6" name="Rectangle 5"/>
            <p:cNvSpPr/>
            <p:nvPr/>
          </p:nvSpPr>
          <p:spPr>
            <a:xfrm>
              <a:off x="457201" y="1804129"/>
              <a:ext cx="3106298" cy="3701622"/>
            </a:xfrm>
            <a:custGeom>
              <a:avLst/>
              <a:gdLst>
                <a:gd name="connsiteX0" fmla="*/ 0 w 1767010"/>
                <a:gd name="connsiteY0" fmla="*/ 0 h 2495279"/>
                <a:gd name="connsiteX1" fmla="*/ 1767010 w 1767010"/>
                <a:gd name="connsiteY1" fmla="*/ 0 h 2495279"/>
                <a:gd name="connsiteX2" fmla="*/ 1767010 w 1767010"/>
                <a:gd name="connsiteY2" fmla="*/ 2495279 h 2495279"/>
                <a:gd name="connsiteX3" fmla="*/ 0 w 1767010"/>
                <a:gd name="connsiteY3" fmla="*/ 2495279 h 2495279"/>
                <a:gd name="connsiteX4" fmla="*/ 0 w 1767010"/>
                <a:gd name="connsiteY4" fmla="*/ 0 h 2495279"/>
                <a:gd name="connsiteX0" fmla="*/ 12357 w 1767010"/>
                <a:gd name="connsiteY0" fmla="*/ 0 h 4595928"/>
                <a:gd name="connsiteX1" fmla="*/ 1767010 w 1767010"/>
                <a:gd name="connsiteY1" fmla="*/ 2100649 h 4595928"/>
                <a:gd name="connsiteX2" fmla="*/ 1767010 w 1767010"/>
                <a:gd name="connsiteY2" fmla="*/ 4595928 h 4595928"/>
                <a:gd name="connsiteX3" fmla="*/ 0 w 1767010"/>
                <a:gd name="connsiteY3" fmla="*/ 4595928 h 4595928"/>
                <a:gd name="connsiteX4" fmla="*/ 12357 w 1767010"/>
                <a:gd name="connsiteY4" fmla="*/ 0 h 4595928"/>
                <a:gd name="connsiteX0" fmla="*/ 12357 w 3867659"/>
                <a:gd name="connsiteY0" fmla="*/ 0 h 4595928"/>
                <a:gd name="connsiteX1" fmla="*/ 1767010 w 3867659"/>
                <a:gd name="connsiteY1" fmla="*/ 2100649 h 4595928"/>
                <a:gd name="connsiteX2" fmla="*/ 3867659 w 3867659"/>
                <a:gd name="connsiteY2" fmla="*/ 4571214 h 4595928"/>
                <a:gd name="connsiteX3" fmla="*/ 0 w 3867659"/>
                <a:gd name="connsiteY3" fmla="*/ 4595928 h 4595928"/>
                <a:gd name="connsiteX4" fmla="*/ 12357 w 3867659"/>
                <a:gd name="connsiteY4" fmla="*/ 0 h 4595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7659" h="4595928">
                  <a:moveTo>
                    <a:pt x="12357" y="0"/>
                  </a:moveTo>
                  <a:lnTo>
                    <a:pt x="1767010" y="2100649"/>
                  </a:lnTo>
                  <a:lnTo>
                    <a:pt x="3867659" y="4571214"/>
                  </a:lnTo>
                  <a:lnTo>
                    <a:pt x="0" y="4595928"/>
                  </a:lnTo>
                  <a:lnTo>
                    <a:pt x="12357"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39">
              <a:extLst>
                <a:ext uri="{FF2B5EF4-FFF2-40B4-BE49-F238E27FC236}">
                  <a16:creationId xmlns:a16="http://schemas.microsoft.com/office/drawing/2014/main" id="{803F7E8C-3C71-4E52-92CD-084CA8BFC6AA}"/>
                </a:ext>
              </a:extLst>
            </p:cNvPr>
            <p:cNvSpPr>
              <a:spLocks noChangeArrowheads="1"/>
            </p:cNvSpPr>
            <p:nvPr/>
          </p:nvSpPr>
          <p:spPr bwMode="auto">
            <a:xfrm>
              <a:off x="533606" y="4263389"/>
              <a:ext cx="2085860" cy="369974"/>
            </a:xfrm>
            <a:prstGeom prst="rect">
              <a:avLst/>
            </a:prstGeom>
            <a:noFill/>
            <a:ln w="9525">
              <a:noFill/>
              <a:miter lim="800000"/>
              <a:headEnd/>
              <a:tailEnd/>
            </a:ln>
            <a:effectLst/>
          </p:spPr>
          <p:txBody>
            <a:bodyPr wrap="squar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Calibri"/>
                  <a:ea typeface="+mn-ea"/>
                  <a:cs typeface="Times New Roman" pitchFamily="18" charset="0"/>
                </a:rPr>
                <a:t>Profits (if TFC=0) </a:t>
              </a:r>
            </a:p>
          </p:txBody>
        </p:sp>
      </p:grpSp>
      <p:grpSp>
        <p:nvGrpSpPr>
          <p:cNvPr id="18" name="Group 17">
            <a:extLst>
              <a:ext uri="{FF2B5EF4-FFF2-40B4-BE49-F238E27FC236}">
                <a16:creationId xmlns:a16="http://schemas.microsoft.com/office/drawing/2014/main" id="{4201AA40-1015-44F6-AA19-673B3C2FB844}"/>
              </a:ext>
            </a:extLst>
          </p:cNvPr>
          <p:cNvGrpSpPr/>
          <p:nvPr/>
        </p:nvGrpSpPr>
        <p:grpSpPr>
          <a:xfrm>
            <a:off x="533606" y="1652814"/>
            <a:ext cx="1905109" cy="462307"/>
            <a:chOff x="533606" y="1652814"/>
            <a:chExt cx="1905109" cy="462307"/>
          </a:xfrm>
        </p:grpSpPr>
        <p:sp>
          <p:nvSpPr>
            <p:cNvPr id="19" name="Oval 18">
              <a:extLst>
                <a:ext uri="{FF2B5EF4-FFF2-40B4-BE49-F238E27FC236}">
                  <a16:creationId xmlns:a16="http://schemas.microsoft.com/office/drawing/2014/main" id="{823796BF-4E73-44BC-A4AE-44F556CD8CD2}"/>
                </a:ext>
              </a:extLst>
            </p:cNvPr>
            <p:cNvSpPr/>
            <p:nvPr/>
          </p:nvSpPr>
          <p:spPr>
            <a:xfrm>
              <a:off x="533606" y="1826288"/>
              <a:ext cx="99929" cy="115361"/>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1" name="Line 38">
              <a:extLst>
                <a:ext uri="{FF2B5EF4-FFF2-40B4-BE49-F238E27FC236}">
                  <a16:creationId xmlns:a16="http://schemas.microsoft.com/office/drawing/2014/main" id="{670912A2-576F-474D-A8A7-CD772C21E5FD}"/>
                </a:ext>
              </a:extLst>
            </p:cNvPr>
            <p:cNvSpPr>
              <a:spLocks noChangeShapeType="1"/>
            </p:cNvSpPr>
            <p:nvPr/>
          </p:nvSpPr>
          <p:spPr bwMode="auto">
            <a:xfrm flipH="1">
              <a:off x="707129" y="1880078"/>
              <a:ext cx="347829" cy="0"/>
            </a:xfrm>
            <a:prstGeom prst="line">
              <a:avLst/>
            </a:prstGeom>
            <a:noFill/>
            <a:ln w="12700">
              <a:solidFill>
                <a:schemeClr val="tx1"/>
              </a:solidFill>
              <a:round/>
              <a:headEnd type="none" w="sm" len="sm"/>
              <a:tailEnd type="stealth" w="med" len="lg"/>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22" name="Rectangle 39">
              <a:extLst>
                <a:ext uri="{FF2B5EF4-FFF2-40B4-BE49-F238E27FC236}">
                  <a16:creationId xmlns:a16="http://schemas.microsoft.com/office/drawing/2014/main" id="{7BA84DB2-6E5B-4B85-A652-E92C23268049}"/>
                </a:ext>
              </a:extLst>
            </p:cNvPr>
            <p:cNvSpPr>
              <a:spLocks noChangeArrowheads="1"/>
            </p:cNvSpPr>
            <p:nvPr/>
          </p:nvSpPr>
          <p:spPr bwMode="auto">
            <a:xfrm>
              <a:off x="1011516" y="1652814"/>
              <a:ext cx="1427199" cy="462307"/>
            </a:xfrm>
            <a:prstGeom prst="rect">
              <a:avLst/>
            </a:prstGeom>
            <a:noFill/>
            <a:ln w="9525">
              <a:noFill/>
              <a:miter lim="800000"/>
              <a:headEnd/>
              <a:tailEnd/>
            </a:ln>
            <a:effectLst/>
          </p:spPr>
          <p:txBody>
            <a:bodyPr wrap="squar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Times New Roman" pitchFamily="18" charset="0"/>
                </a:rPr>
                <a:t>Price charged to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Times New Roman" pitchFamily="18" charset="0"/>
                </a:rPr>
                <a:t>high-MPV customer</a:t>
              </a:r>
            </a:p>
          </p:txBody>
        </p:sp>
      </p:grpSp>
      <p:grpSp>
        <p:nvGrpSpPr>
          <p:cNvPr id="23" name="Group 22">
            <a:extLst>
              <a:ext uri="{FF2B5EF4-FFF2-40B4-BE49-F238E27FC236}">
                <a16:creationId xmlns:a16="http://schemas.microsoft.com/office/drawing/2014/main" id="{BA0ABE26-435C-4DB4-8792-BF85E6AA4F2C}"/>
              </a:ext>
            </a:extLst>
          </p:cNvPr>
          <p:cNvGrpSpPr/>
          <p:nvPr/>
        </p:nvGrpSpPr>
        <p:grpSpPr>
          <a:xfrm>
            <a:off x="3800974" y="4679208"/>
            <a:ext cx="1659483" cy="1144499"/>
            <a:chOff x="533606" y="797150"/>
            <a:chExt cx="1659483" cy="1144499"/>
          </a:xfrm>
        </p:grpSpPr>
        <p:sp>
          <p:nvSpPr>
            <p:cNvPr id="24" name="Oval 23">
              <a:extLst>
                <a:ext uri="{FF2B5EF4-FFF2-40B4-BE49-F238E27FC236}">
                  <a16:creationId xmlns:a16="http://schemas.microsoft.com/office/drawing/2014/main" id="{44140350-CB17-45D8-AEEF-C9EA69995C56}"/>
                </a:ext>
              </a:extLst>
            </p:cNvPr>
            <p:cNvSpPr/>
            <p:nvPr/>
          </p:nvSpPr>
          <p:spPr>
            <a:xfrm>
              <a:off x="533606" y="1826288"/>
              <a:ext cx="99929" cy="115361"/>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5" name="Line 38">
              <a:extLst>
                <a:ext uri="{FF2B5EF4-FFF2-40B4-BE49-F238E27FC236}">
                  <a16:creationId xmlns:a16="http://schemas.microsoft.com/office/drawing/2014/main" id="{4F293A70-4E50-40E0-84E7-96D970B2BBFC}"/>
                </a:ext>
              </a:extLst>
            </p:cNvPr>
            <p:cNvSpPr>
              <a:spLocks noChangeShapeType="1"/>
            </p:cNvSpPr>
            <p:nvPr/>
          </p:nvSpPr>
          <p:spPr bwMode="auto">
            <a:xfrm flipH="1">
              <a:off x="664097" y="1224743"/>
              <a:ext cx="203587" cy="601545"/>
            </a:xfrm>
            <a:prstGeom prst="line">
              <a:avLst/>
            </a:prstGeom>
            <a:noFill/>
            <a:ln w="12700">
              <a:solidFill>
                <a:schemeClr val="tx1"/>
              </a:solidFill>
              <a:round/>
              <a:headEnd type="none" w="sm" len="sm"/>
              <a:tailEnd type="stealth" w="med" len="lg"/>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26" name="Rectangle 39">
              <a:extLst>
                <a:ext uri="{FF2B5EF4-FFF2-40B4-BE49-F238E27FC236}">
                  <a16:creationId xmlns:a16="http://schemas.microsoft.com/office/drawing/2014/main" id="{211C3229-C80F-4D0C-8DFA-BC5DD4C75B4E}"/>
                </a:ext>
              </a:extLst>
            </p:cNvPr>
            <p:cNvSpPr>
              <a:spLocks noChangeArrowheads="1"/>
            </p:cNvSpPr>
            <p:nvPr/>
          </p:nvSpPr>
          <p:spPr bwMode="auto">
            <a:xfrm>
              <a:off x="765890" y="797150"/>
              <a:ext cx="1427199" cy="462307"/>
            </a:xfrm>
            <a:prstGeom prst="rect">
              <a:avLst/>
            </a:prstGeom>
            <a:noFill/>
            <a:ln w="9525">
              <a:noFill/>
              <a:miter lim="800000"/>
              <a:headEnd/>
              <a:tailEnd/>
            </a:ln>
            <a:effectLst/>
          </p:spPr>
          <p:txBody>
            <a:bodyPr wrap="squar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Times New Roman" pitchFamily="18" charset="0"/>
                </a:rPr>
                <a:t>Do </a:t>
              </a:r>
              <a:r>
                <a:rPr kumimoji="0" lang="en-US" sz="1200" b="0" i="0" u="sng" strike="noStrike" kern="1200" cap="none" spc="0" normalizeH="0" baseline="0" noProof="0" dirty="0">
                  <a:ln>
                    <a:noFill/>
                  </a:ln>
                  <a:solidFill>
                    <a:prstClr val="black"/>
                  </a:solidFill>
                  <a:effectLst/>
                  <a:uLnTx/>
                  <a:uFillTx/>
                  <a:latin typeface="Calibri"/>
                  <a:ea typeface="+mn-ea"/>
                  <a:cs typeface="Times New Roman" pitchFamily="18" charset="0"/>
                </a:rPr>
                <a:t>not</a:t>
              </a:r>
              <a:r>
                <a:rPr kumimoji="0" lang="en-US" sz="1200" b="0" i="0" u="none" strike="noStrike" kern="1200" cap="none" spc="0" normalizeH="0" baseline="0" noProof="0" dirty="0">
                  <a:ln>
                    <a:noFill/>
                  </a:ln>
                  <a:solidFill>
                    <a:prstClr val="black"/>
                  </a:solidFill>
                  <a:effectLst/>
                  <a:uLnTx/>
                  <a:uFillTx/>
                  <a:latin typeface="Calibri"/>
                  <a:ea typeface="+mn-ea"/>
                  <a:cs typeface="Times New Roman" pitchFamily="18" charset="0"/>
                </a:rPr>
                <a:t> sell to low-MPV customer</a:t>
              </a:r>
            </a:p>
          </p:txBody>
        </p:sp>
      </p:grpSp>
      <p:grpSp>
        <p:nvGrpSpPr>
          <p:cNvPr id="27" name="Group 26">
            <a:extLst>
              <a:ext uri="{FF2B5EF4-FFF2-40B4-BE49-F238E27FC236}">
                <a16:creationId xmlns:a16="http://schemas.microsoft.com/office/drawing/2014/main" id="{78D1791C-C1DD-4F7E-83D5-A64C6DFBE264}"/>
              </a:ext>
            </a:extLst>
          </p:cNvPr>
          <p:cNvGrpSpPr/>
          <p:nvPr/>
        </p:nvGrpSpPr>
        <p:grpSpPr>
          <a:xfrm>
            <a:off x="2340327" y="3243001"/>
            <a:ext cx="2038093" cy="859091"/>
            <a:chOff x="533606" y="1082558"/>
            <a:chExt cx="2038093" cy="859091"/>
          </a:xfrm>
        </p:grpSpPr>
        <p:sp>
          <p:nvSpPr>
            <p:cNvPr id="28" name="Oval 27">
              <a:extLst>
                <a:ext uri="{FF2B5EF4-FFF2-40B4-BE49-F238E27FC236}">
                  <a16:creationId xmlns:a16="http://schemas.microsoft.com/office/drawing/2014/main" id="{0FED28D3-61A8-489C-B9B4-D6CA116C9A15}"/>
                </a:ext>
              </a:extLst>
            </p:cNvPr>
            <p:cNvSpPr/>
            <p:nvPr/>
          </p:nvSpPr>
          <p:spPr>
            <a:xfrm>
              <a:off x="533606" y="1826288"/>
              <a:ext cx="99929" cy="115361"/>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9" name="Line 38">
              <a:extLst>
                <a:ext uri="{FF2B5EF4-FFF2-40B4-BE49-F238E27FC236}">
                  <a16:creationId xmlns:a16="http://schemas.microsoft.com/office/drawing/2014/main" id="{FAB334DF-8A5A-4CB7-953D-6A5EB86DD66F}"/>
                </a:ext>
              </a:extLst>
            </p:cNvPr>
            <p:cNvSpPr>
              <a:spLocks noChangeShapeType="1"/>
            </p:cNvSpPr>
            <p:nvPr/>
          </p:nvSpPr>
          <p:spPr bwMode="auto">
            <a:xfrm flipH="1">
              <a:off x="664098" y="1538988"/>
              <a:ext cx="347829" cy="287300"/>
            </a:xfrm>
            <a:prstGeom prst="line">
              <a:avLst/>
            </a:prstGeom>
            <a:noFill/>
            <a:ln w="12700">
              <a:solidFill>
                <a:schemeClr val="tx1"/>
              </a:solidFill>
              <a:round/>
              <a:headEnd type="none" w="sm" len="sm"/>
              <a:tailEnd type="stealth" w="med" len="lg"/>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30" name="Rectangle 39">
              <a:extLst>
                <a:ext uri="{FF2B5EF4-FFF2-40B4-BE49-F238E27FC236}">
                  <a16:creationId xmlns:a16="http://schemas.microsoft.com/office/drawing/2014/main" id="{50A0A42B-2E56-4150-A3BB-F4F54C113FFD}"/>
                </a:ext>
              </a:extLst>
            </p:cNvPr>
            <p:cNvSpPr>
              <a:spLocks noChangeArrowheads="1"/>
            </p:cNvSpPr>
            <p:nvPr/>
          </p:nvSpPr>
          <p:spPr bwMode="auto">
            <a:xfrm>
              <a:off x="812745" y="1082558"/>
              <a:ext cx="1758954" cy="462307"/>
            </a:xfrm>
            <a:prstGeom prst="rect">
              <a:avLst/>
            </a:prstGeom>
            <a:noFill/>
            <a:ln w="9525">
              <a:noFill/>
              <a:miter lim="800000"/>
              <a:headEnd/>
              <a:tailEnd/>
            </a:ln>
            <a:effectLst/>
          </p:spPr>
          <p:txBody>
            <a:bodyPr wrap="squar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Times New Roman" pitchFamily="18" charset="0"/>
                </a:rPr>
                <a:t>Price charged to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solidFill>
                    <a:prstClr val="black"/>
                  </a:solidFill>
                  <a:latin typeface="Calibri"/>
                  <a:cs typeface="Times New Roman" pitchFamily="18" charset="0"/>
                </a:rPr>
                <a:t>median</a:t>
              </a:r>
              <a:r>
                <a:rPr kumimoji="0" lang="en-US" sz="1200" b="0" i="0" u="none" strike="noStrike" kern="1200" cap="none" spc="0" normalizeH="0" baseline="0" noProof="0" dirty="0">
                  <a:ln>
                    <a:noFill/>
                  </a:ln>
                  <a:solidFill>
                    <a:prstClr val="black"/>
                  </a:solidFill>
                  <a:effectLst/>
                  <a:uLnTx/>
                  <a:uFillTx/>
                  <a:latin typeface="Calibri"/>
                  <a:ea typeface="+mn-ea"/>
                  <a:cs typeface="Times New Roman" pitchFamily="18" charset="0"/>
                </a:rPr>
                <a:t>-MPV customer</a:t>
              </a:r>
            </a:p>
          </p:txBody>
        </p:sp>
      </p:grpSp>
      <p:sp>
        <p:nvSpPr>
          <p:cNvPr id="31" name="Rectangle 41">
            <a:extLst>
              <a:ext uri="{FF2B5EF4-FFF2-40B4-BE49-F238E27FC236}">
                <a16:creationId xmlns:a16="http://schemas.microsoft.com/office/drawing/2014/main" id="{82F79085-3CA4-48A2-A73F-6EE2D410102E}"/>
              </a:ext>
            </a:extLst>
          </p:cNvPr>
          <p:cNvSpPr>
            <a:spLocks noChangeArrowheads="1"/>
          </p:cNvSpPr>
          <p:nvPr/>
        </p:nvSpPr>
        <p:spPr bwMode="auto">
          <a:xfrm>
            <a:off x="65639" y="1091540"/>
            <a:ext cx="1321259"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strike="noStrike" kern="1200" cap="none" spc="0" normalizeH="0" baseline="0" noProof="0" dirty="0">
                <a:ln>
                  <a:noFill/>
                </a:ln>
                <a:effectLst/>
                <a:uLnTx/>
                <a:uFillTx/>
                <a:latin typeface="Calibri"/>
                <a:ea typeface="+mn-ea"/>
                <a:cs typeface="Times New Roman" pitchFamily="18" charset="0"/>
              </a:rPr>
              <a:t>Price / MPV</a:t>
            </a:r>
          </a:p>
        </p:txBody>
      </p:sp>
      <p:grpSp>
        <p:nvGrpSpPr>
          <p:cNvPr id="34" name="Group 33">
            <a:extLst>
              <a:ext uri="{FF2B5EF4-FFF2-40B4-BE49-F238E27FC236}">
                <a16:creationId xmlns:a16="http://schemas.microsoft.com/office/drawing/2014/main" id="{C42FCA16-4724-4088-9D1A-2F1CE823B592}"/>
              </a:ext>
            </a:extLst>
          </p:cNvPr>
          <p:cNvGrpSpPr/>
          <p:nvPr/>
        </p:nvGrpSpPr>
        <p:grpSpPr>
          <a:xfrm>
            <a:off x="5651865" y="3046176"/>
            <a:ext cx="3428060" cy="2726252"/>
            <a:chOff x="5651865" y="3046176"/>
            <a:chExt cx="3428060" cy="2726252"/>
          </a:xfrm>
        </p:grpSpPr>
        <p:pic>
          <p:nvPicPr>
            <p:cNvPr id="32" name="Picture 31">
              <a:extLst>
                <a:ext uri="{FF2B5EF4-FFF2-40B4-BE49-F238E27FC236}">
                  <a16:creationId xmlns:a16="http://schemas.microsoft.com/office/drawing/2014/main" id="{FF288A3D-E649-40C5-B54E-4626931DEA01}"/>
                </a:ext>
              </a:extLst>
            </p:cNvPr>
            <p:cNvPicPr>
              <a:picLocks noChangeAspect="1"/>
            </p:cNvPicPr>
            <p:nvPr/>
          </p:nvPicPr>
          <p:blipFill>
            <a:blip r:embed="rId3"/>
            <a:stretch>
              <a:fillRect/>
            </a:stretch>
          </p:blipFill>
          <p:spPr>
            <a:xfrm>
              <a:off x="5651865" y="3046176"/>
              <a:ext cx="3428060" cy="2726252"/>
            </a:xfrm>
            <a:prstGeom prst="rect">
              <a:avLst/>
            </a:prstGeom>
          </p:spPr>
        </p:pic>
        <p:pic>
          <p:nvPicPr>
            <p:cNvPr id="33" name="Picture 32">
              <a:extLst>
                <a:ext uri="{FF2B5EF4-FFF2-40B4-BE49-F238E27FC236}">
                  <a16:creationId xmlns:a16="http://schemas.microsoft.com/office/drawing/2014/main" id="{7B2E4B9E-B26B-4FAD-9B3F-9DB86BA4BF52}"/>
                </a:ext>
              </a:extLst>
            </p:cNvPr>
            <p:cNvPicPr>
              <a:picLocks noChangeAspect="1"/>
            </p:cNvPicPr>
            <p:nvPr/>
          </p:nvPicPr>
          <p:blipFill>
            <a:blip r:embed="rId4"/>
            <a:stretch>
              <a:fillRect/>
            </a:stretch>
          </p:blipFill>
          <p:spPr>
            <a:xfrm>
              <a:off x="7672400" y="5275166"/>
              <a:ext cx="1348857" cy="480102"/>
            </a:xfrm>
            <a:prstGeom prst="rect">
              <a:avLst/>
            </a:prstGeom>
          </p:spPr>
        </p:pic>
      </p:grpSp>
    </p:spTree>
    <p:extLst>
      <p:ext uri="{BB962C8B-B14F-4D97-AF65-F5344CB8AC3E}">
        <p14:creationId xmlns:p14="http://schemas.microsoft.com/office/powerpoint/2010/main" val="21183004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a:fillRect/>
          </a:stretch>
        </p:blipFill>
        <p:spPr>
          <a:xfrm>
            <a:off x="5409779" y="1389647"/>
            <a:ext cx="3515560" cy="5021242"/>
          </a:xfrm>
          <a:prstGeom prst="rect">
            <a:avLst/>
          </a:prstGeom>
        </p:spPr>
      </p:pic>
      <p:sp>
        <p:nvSpPr>
          <p:cNvPr id="2" name="Title 1"/>
          <p:cNvSpPr>
            <a:spLocks noGrp="1"/>
          </p:cNvSpPr>
          <p:nvPr>
            <p:ph type="title"/>
          </p:nvPr>
        </p:nvSpPr>
        <p:spPr>
          <a:xfrm>
            <a:off x="695739" y="246647"/>
            <a:ext cx="8229600" cy="1143000"/>
          </a:xfrm>
        </p:spPr>
        <p:txBody>
          <a:bodyPr>
            <a:noAutofit/>
          </a:bodyPr>
          <a:lstStyle/>
          <a:p>
            <a:r>
              <a:rPr lang="en-US" sz="2800" dirty="0"/>
              <a:t>Uber Starts Charging What</a:t>
            </a:r>
            <a:br>
              <a:rPr lang="en-US" sz="2800" dirty="0"/>
            </a:br>
            <a:r>
              <a:rPr lang="en-US" sz="2800" dirty="0"/>
              <a:t>You’re Willing to Pay?</a:t>
            </a:r>
            <a:endParaRPr lang="en-US" sz="2800" b="1" dirty="0"/>
          </a:p>
        </p:txBody>
      </p:sp>
      <p:sp>
        <p:nvSpPr>
          <p:cNvPr id="4" name="Content Placeholder 3"/>
          <p:cNvSpPr>
            <a:spLocks noGrp="1"/>
          </p:cNvSpPr>
          <p:nvPr>
            <p:ph idx="1"/>
          </p:nvPr>
        </p:nvSpPr>
        <p:spPr>
          <a:xfrm>
            <a:off x="457199" y="1637286"/>
            <a:ext cx="4672739" cy="4525963"/>
          </a:xfrm>
        </p:spPr>
        <p:txBody>
          <a:bodyPr/>
          <a:lstStyle/>
          <a:p>
            <a:pPr>
              <a:buClr>
                <a:srgbClr val="1B8BD5"/>
              </a:buClr>
            </a:pPr>
            <a:r>
              <a:rPr lang="en-US" sz="2400" kern="1100" spc="50" dirty="0">
                <a:latin typeface="Whitney-Book"/>
              </a:rPr>
              <a:t>I need  10 volunteers (5 for Uber, 5 for Lyft).</a:t>
            </a:r>
          </a:p>
          <a:p>
            <a:pPr>
              <a:buClr>
                <a:srgbClr val="1B8BD5"/>
              </a:buClr>
            </a:pPr>
            <a:r>
              <a:rPr lang="en-US" sz="2400" kern="1100" spc="50" dirty="0">
                <a:latin typeface="Whitney-Book"/>
              </a:rPr>
              <a:t>Open your Uber/Lyft app.</a:t>
            </a:r>
          </a:p>
          <a:p>
            <a:pPr>
              <a:buClr>
                <a:srgbClr val="1B8BD5"/>
              </a:buClr>
            </a:pPr>
            <a:r>
              <a:rPr lang="en-US" sz="2400" kern="1100" spc="50" dirty="0">
                <a:latin typeface="Whitney-Book"/>
              </a:rPr>
              <a:t>Enter “LAX” in the destination address.</a:t>
            </a:r>
          </a:p>
          <a:p>
            <a:pPr>
              <a:buClr>
                <a:srgbClr val="1B8BD5"/>
              </a:buClr>
            </a:pPr>
            <a:r>
              <a:rPr lang="en-US" sz="2400" kern="1100" spc="50" dirty="0">
                <a:latin typeface="Whitney-Book"/>
              </a:rPr>
              <a:t>Do NOT hit request.</a:t>
            </a:r>
          </a:p>
          <a:p>
            <a:pPr>
              <a:buClr>
                <a:srgbClr val="1B8BD5"/>
              </a:buClr>
            </a:pPr>
            <a:r>
              <a:rPr lang="en-US" sz="2400" kern="1100" spc="50" dirty="0">
                <a:latin typeface="Whitney-Book"/>
              </a:rPr>
              <a:t>Just tell me the </a:t>
            </a:r>
            <a:r>
              <a:rPr lang="en-US" sz="2400" kern="1100" spc="50" dirty="0" err="1">
                <a:latin typeface="Whitney-Book"/>
              </a:rPr>
              <a:t>UberX</a:t>
            </a:r>
            <a:r>
              <a:rPr lang="en-US" sz="2400" kern="1100" spc="50" dirty="0">
                <a:latin typeface="Whitney-Book"/>
              </a:rPr>
              <a:t>/Lyft price.</a:t>
            </a:r>
          </a:p>
          <a:p>
            <a:endParaRPr lang="en-US" dirty="0">
              <a:latin typeface="Whitney-Book" pitchFamily="50" charset="0"/>
            </a:endParaRPr>
          </a:p>
          <a:p>
            <a:endParaRPr lang="en-US" dirty="0">
              <a:latin typeface="Whitney-Book" pitchFamily="50" charset="0"/>
            </a:endParaRPr>
          </a:p>
        </p:txBody>
      </p:sp>
    </p:spTree>
    <p:extLst>
      <p:ext uri="{BB962C8B-B14F-4D97-AF65-F5344CB8AC3E}">
        <p14:creationId xmlns:p14="http://schemas.microsoft.com/office/powerpoint/2010/main" val="1928081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OUTLINE of module 6</a:t>
            </a:r>
            <a:br>
              <a:rPr lang="en-US" dirty="0"/>
            </a:br>
            <a:endParaRPr lang="en-US" dirty="0"/>
          </a:p>
        </p:txBody>
      </p:sp>
      <p:sp>
        <p:nvSpPr>
          <p:cNvPr id="3" name="Content Placeholder 2"/>
          <p:cNvSpPr>
            <a:spLocks noGrp="1"/>
          </p:cNvSpPr>
          <p:nvPr>
            <p:ph idx="1"/>
          </p:nvPr>
        </p:nvSpPr>
        <p:spPr>
          <a:xfrm>
            <a:off x="457200" y="1094874"/>
            <a:ext cx="8229600" cy="5212407"/>
          </a:xfrm>
        </p:spPr>
        <p:txBody>
          <a:bodyPr>
            <a:normAutofit fontScale="92500" lnSpcReduction="10000"/>
          </a:bodyPr>
          <a:lstStyle/>
          <a:p>
            <a:pPr>
              <a:lnSpc>
                <a:spcPct val="120000"/>
              </a:lnSpc>
            </a:pPr>
            <a:r>
              <a:rPr lang="fr-FR" sz="2810" dirty="0">
                <a:solidFill>
                  <a:schemeClr val="bg1">
                    <a:lumMod val="65000"/>
                  </a:schemeClr>
                </a:solidFill>
              </a:rPr>
              <a:t>Simple vs. </a:t>
            </a:r>
            <a:r>
              <a:rPr lang="fr-FR" sz="2810" dirty="0" err="1">
                <a:solidFill>
                  <a:schemeClr val="bg1">
                    <a:lumMod val="65000"/>
                  </a:schemeClr>
                </a:solidFill>
              </a:rPr>
              <a:t>complex</a:t>
            </a:r>
            <a:r>
              <a:rPr lang="fr-FR" sz="2810" dirty="0">
                <a:solidFill>
                  <a:schemeClr val="bg1">
                    <a:lumMod val="65000"/>
                  </a:schemeClr>
                </a:solidFill>
              </a:rPr>
              <a:t> </a:t>
            </a:r>
            <a:r>
              <a:rPr lang="fr-FR" sz="2810" dirty="0" err="1">
                <a:solidFill>
                  <a:schemeClr val="bg1">
                    <a:lumMod val="65000"/>
                  </a:schemeClr>
                </a:solidFill>
              </a:rPr>
              <a:t>pricing</a:t>
            </a:r>
            <a:endParaRPr lang="fr-FR" sz="2810" dirty="0">
              <a:solidFill>
                <a:schemeClr val="bg1">
                  <a:lumMod val="65000"/>
                </a:schemeClr>
              </a:solidFill>
            </a:endParaRPr>
          </a:p>
          <a:p>
            <a:pPr>
              <a:lnSpc>
                <a:spcPct val="120000"/>
              </a:lnSpc>
            </a:pPr>
            <a:r>
              <a:rPr lang="fr-FR" sz="2810" b="1" dirty="0"/>
              <a:t>Direct </a:t>
            </a:r>
            <a:r>
              <a:rPr lang="fr-FR" sz="2810" b="1" dirty="0" err="1"/>
              <a:t>price</a:t>
            </a:r>
            <a:r>
              <a:rPr lang="fr-FR" sz="2810" b="1" dirty="0"/>
              <a:t> discrimination</a:t>
            </a:r>
          </a:p>
          <a:p>
            <a:pPr lvl="1">
              <a:lnSpc>
                <a:spcPct val="120000"/>
              </a:lnSpc>
              <a:spcBef>
                <a:spcPts val="0"/>
              </a:spcBef>
            </a:pPr>
            <a:r>
              <a:rPr lang="fr-FR" dirty="0" err="1">
                <a:solidFill>
                  <a:schemeClr val="bg1">
                    <a:lumMod val="65000"/>
                  </a:schemeClr>
                </a:solidFill>
                <a:latin typeface="Whitney-Book" pitchFamily="50" charset="0"/>
                <a:cs typeface="Whitney-Book" pitchFamily="50" charset="0"/>
              </a:rPr>
              <a:t>Perfect</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price</a:t>
            </a:r>
            <a:r>
              <a:rPr lang="fr-FR" dirty="0">
                <a:solidFill>
                  <a:schemeClr val="bg1">
                    <a:lumMod val="65000"/>
                  </a:schemeClr>
                </a:solidFill>
                <a:latin typeface="Whitney-Book" pitchFamily="50" charset="0"/>
                <a:cs typeface="Whitney-Book" pitchFamily="50" charset="0"/>
              </a:rPr>
              <a:t> discrimination (first </a:t>
            </a:r>
            <a:r>
              <a:rPr lang="fr-FR" dirty="0" err="1">
                <a:solidFill>
                  <a:schemeClr val="bg1">
                    <a:lumMod val="65000"/>
                  </a:schemeClr>
                </a:solidFill>
                <a:latin typeface="Whitney-Book" pitchFamily="50" charset="0"/>
                <a:cs typeface="Whitney-Book" pitchFamily="50" charset="0"/>
              </a:rPr>
              <a:t>degree</a:t>
            </a:r>
            <a:r>
              <a:rPr lang="fr-FR" dirty="0">
                <a:solidFill>
                  <a:schemeClr val="bg1">
                    <a:lumMod val="65000"/>
                  </a:schemeClr>
                </a:solidFill>
                <a:latin typeface="Whitney-Book" pitchFamily="50" charset="0"/>
                <a:cs typeface="Whitney-Book" pitchFamily="50" charset="0"/>
              </a:rPr>
              <a:t>)</a:t>
            </a:r>
          </a:p>
          <a:p>
            <a:pPr lvl="1">
              <a:lnSpc>
                <a:spcPct val="120000"/>
              </a:lnSpc>
              <a:spcBef>
                <a:spcPts val="0"/>
              </a:spcBef>
            </a:pPr>
            <a:r>
              <a:rPr lang="fr-FR" b="1" dirty="0">
                <a:latin typeface="Whitney-Book" pitchFamily="50" charset="0"/>
                <a:cs typeface="Whitney-Book" pitchFamily="50" charset="0"/>
              </a:rPr>
              <a:t>Segment </a:t>
            </a:r>
            <a:r>
              <a:rPr lang="fr-FR" b="1" dirty="0" err="1">
                <a:latin typeface="Whitney-Book" pitchFamily="50" charset="0"/>
                <a:cs typeface="Whitney-Book" pitchFamily="50" charset="0"/>
              </a:rPr>
              <a:t>pricing</a:t>
            </a:r>
            <a:r>
              <a:rPr lang="fr-FR" b="1" dirty="0">
                <a:latin typeface="Whitney-Book" pitchFamily="50" charset="0"/>
                <a:cs typeface="Whitney-Book" pitchFamily="50" charset="0"/>
              </a:rPr>
              <a:t> (</a:t>
            </a:r>
            <a:r>
              <a:rPr lang="fr-FR" b="1" dirty="0" err="1">
                <a:latin typeface="Whitney-Book" pitchFamily="50" charset="0"/>
                <a:cs typeface="Whitney-Book" pitchFamily="50" charset="0"/>
              </a:rPr>
              <a:t>third</a:t>
            </a:r>
            <a:r>
              <a:rPr lang="fr-FR" b="1" dirty="0">
                <a:latin typeface="Whitney-Book" pitchFamily="50" charset="0"/>
                <a:cs typeface="Whitney-Book" pitchFamily="50" charset="0"/>
              </a:rPr>
              <a:t> </a:t>
            </a:r>
            <a:r>
              <a:rPr lang="fr-FR" b="1" dirty="0" err="1">
                <a:latin typeface="Whitney-Book" pitchFamily="50" charset="0"/>
                <a:cs typeface="Whitney-Book" pitchFamily="50" charset="0"/>
              </a:rPr>
              <a:t>degree</a:t>
            </a:r>
            <a:r>
              <a:rPr lang="fr-FR" b="1" dirty="0">
                <a:latin typeface="Whitney-Book" pitchFamily="50" charset="0"/>
                <a:cs typeface="Whitney-Book" pitchFamily="50" charset="0"/>
              </a:rPr>
              <a:t>)</a:t>
            </a:r>
          </a:p>
          <a:p>
            <a:pPr>
              <a:lnSpc>
                <a:spcPct val="120000"/>
              </a:lnSpc>
            </a:pPr>
            <a:r>
              <a:rPr lang="fr-FR" sz="2810" dirty="0">
                <a:solidFill>
                  <a:schemeClr val="bg1">
                    <a:lumMod val="65000"/>
                  </a:schemeClr>
                </a:solidFill>
              </a:rPr>
              <a:t>Indirect </a:t>
            </a:r>
            <a:r>
              <a:rPr lang="fr-FR" sz="2810" dirty="0" err="1">
                <a:solidFill>
                  <a:schemeClr val="bg1">
                    <a:lumMod val="65000"/>
                  </a:schemeClr>
                </a:solidFill>
              </a:rPr>
              <a:t>price</a:t>
            </a:r>
            <a:r>
              <a:rPr lang="fr-FR" sz="2810" dirty="0">
                <a:solidFill>
                  <a:schemeClr val="bg1">
                    <a:lumMod val="65000"/>
                  </a:schemeClr>
                </a:solidFill>
              </a:rPr>
              <a:t> discrimination (second </a:t>
            </a:r>
            <a:r>
              <a:rPr lang="fr-FR" sz="2810" dirty="0" err="1">
                <a:solidFill>
                  <a:schemeClr val="bg1">
                    <a:lumMod val="65000"/>
                  </a:schemeClr>
                </a:solidFill>
              </a:rPr>
              <a:t>degree</a:t>
            </a:r>
            <a:r>
              <a:rPr lang="fr-FR" sz="2810" dirty="0">
                <a:solidFill>
                  <a:schemeClr val="bg1">
                    <a:lumMod val="65000"/>
                  </a:schemeClr>
                </a:solidFill>
              </a:rPr>
              <a:t>)</a:t>
            </a: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Versioning</a:t>
            </a:r>
          </a:p>
          <a:p>
            <a:pPr lvl="1">
              <a:lnSpc>
                <a:spcPct val="120000"/>
              </a:lnSpc>
              <a:spcBef>
                <a:spcPts val="0"/>
              </a:spcBef>
            </a:pPr>
            <a:r>
              <a:rPr lang="fr-FR" dirty="0">
                <a:solidFill>
                  <a:schemeClr val="bg1">
                    <a:lumMod val="65000"/>
                  </a:schemeClr>
                </a:solidFill>
              </a:rPr>
              <a:t>Coupons</a:t>
            </a:r>
          </a:p>
          <a:p>
            <a:pPr>
              <a:lnSpc>
                <a:spcPct val="120000"/>
              </a:lnSpc>
            </a:pPr>
            <a:r>
              <a:rPr lang="fr-FR" sz="2810" dirty="0">
                <a:solidFill>
                  <a:schemeClr val="bg1">
                    <a:lumMod val="65000"/>
                  </a:schemeClr>
                </a:solidFill>
              </a:rPr>
              <a:t>Advanced </a:t>
            </a:r>
            <a:r>
              <a:rPr lang="fr-FR" sz="2810" dirty="0" err="1">
                <a:solidFill>
                  <a:schemeClr val="bg1">
                    <a:lumMod val="65000"/>
                  </a:schemeClr>
                </a:solidFill>
              </a:rPr>
              <a:t>pricing</a:t>
            </a:r>
            <a:r>
              <a:rPr lang="fr-FR" sz="2810" dirty="0">
                <a:solidFill>
                  <a:schemeClr val="bg1">
                    <a:lumMod val="65000"/>
                  </a:schemeClr>
                </a:solidFill>
              </a:rPr>
              <a:t> </a:t>
            </a:r>
            <a:r>
              <a:rPr lang="fr-FR" sz="2810" dirty="0" err="1">
                <a:solidFill>
                  <a:schemeClr val="bg1">
                    <a:lumMod val="65000"/>
                  </a:schemeClr>
                </a:solidFill>
              </a:rPr>
              <a:t>strategies</a:t>
            </a:r>
            <a:endParaRPr lang="fr-FR" sz="2810" dirty="0">
              <a:solidFill>
                <a:schemeClr val="bg1">
                  <a:lumMod val="65000"/>
                </a:schemeClr>
              </a:solidFill>
            </a:endParaRP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Flat </a:t>
            </a:r>
            <a:r>
              <a:rPr lang="fr-FR" dirty="0" err="1">
                <a:solidFill>
                  <a:schemeClr val="bg1">
                    <a:lumMod val="65000"/>
                  </a:schemeClr>
                </a:solidFill>
                <a:latin typeface="Whitney-Book" pitchFamily="50" charset="0"/>
                <a:cs typeface="Whitney-Book" pitchFamily="50" charset="0"/>
              </a:rPr>
              <a:t>fee</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pricing</a:t>
            </a:r>
            <a:endParaRPr lang="fr-FR" dirty="0">
              <a:solidFill>
                <a:schemeClr val="bg1">
                  <a:lumMod val="65000"/>
                </a:schemeClr>
              </a:solidFill>
              <a:latin typeface="Whitney-Book" pitchFamily="50" charset="0"/>
              <a:cs typeface="Whitney-Book" pitchFamily="50" charset="0"/>
            </a:endParaRPr>
          </a:p>
          <a:p>
            <a:pPr lvl="1">
              <a:lnSpc>
                <a:spcPct val="120000"/>
              </a:lnSpc>
              <a:spcBef>
                <a:spcPts val="0"/>
              </a:spcBef>
            </a:pPr>
            <a:r>
              <a:rPr lang="fr-FR" dirty="0" err="1">
                <a:solidFill>
                  <a:schemeClr val="bg1">
                    <a:lumMod val="65000"/>
                  </a:schemeClr>
                </a:solidFill>
                <a:latin typeface="Whitney-Book" pitchFamily="50" charset="0"/>
                <a:cs typeface="Whitney-Book" pitchFamily="50" charset="0"/>
              </a:rPr>
              <a:t>Two</a:t>
            </a:r>
            <a:r>
              <a:rPr lang="fr-FR" dirty="0">
                <a:solidFill>
                  <a:schemeClr val="bg1">
                    <a:lumMod val="65000"/>
                  </a:schemeClr>
                </a:solidFill>
                <a:latin typeface="Whitney-Book" pitchFamily="50" charset="0"/>
                <a:cs typeface="Whitney-Book" pitchFamily="50" charset="0"/>
              </a:rPr>
              <a:t>-part </a:t>
            </a:r>
            <a:r>
              <a:rPr lang="fr-FR" dirty="0" err="1">
                <a:solidFill>
                  <a:schemeClr val="bg1">
                    <a:lumMod val="65000"/>
                  </a:schemeClr>
                </a:solidFill>
                <a:latin typeface="Whitney-Book" pitchFamily="50" charset="0"/>
                <a:cs typeface="Whitney-Book" pitchFamily="50" charset="0"/>
              </a:rPr>
              <a:t>tariff</a:t>
            </a:r>
            <a:endParaRPr lang="fr-FR" dirty="0">
              <a:solidFill>
                <a:schemeClr val="bg1">
                  <a:lumMod val="65000"/>
                </a:schemeClr>
              </a:solidFill>
              <a:latin typeface="Whitney-Book" pitchFamily="50" charset="0"/>
              <a:cs typeface="Whitney-Book" pitchFamily="50" charset="0"/>
            </a:endParaRP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Block </a:t>
            </a:r>
            <a:r>
              <a:rPr lang="fr-FR" dirty="0" err="1">
                <a:solidFill>
                  <a:schemeClr val="bg1">
                    <a:lumMod val="65000"/>
                  </a:schemeClr>
                </a:solidFill>
                <a:latin typeface="Whitney-Book" pitchFamily="50" charset="0"/>
                <a:cs typeface="Whitney-Book" pitchFamily="50" charset="0"/>
              </a:rPr>
              <a:t>pricing</a:t>
            </a:r>
            <a:endParaRPr lang="fr-FR" dirty="0">
              <a:solidFill>
                <a:schemeClr val="bg1">
                  <a:lumMod val="65000"/>
                </a:schemeClr>
              </a:solidFill>
              <a:latin typeface="Whitney-Book" pitchFamily="50" charset="0"/>
              <a:cs typeface="Whitney-Book" pitchFamily="50" charset="0"/>
            </a:endParaRPr>
          </a:p>
          <a:p>
            <a:pPr marL="457200" lvl="1" indent="0">
              <a:buNone/>
            </a:pPr>
            <a:endParaRPr lang="fr-FR" dirty="0"/>
          </a:p>
          <a:p>
            <a:pPr lvl="1"/>
            <a:endParaRPr lang="en-US" dirty="0"/>
          </a:p>
          <a:p>
            <a:endParaRPr lang="en-US" dirty="0"/>
          </a:p>
        </p:txBody>
      </p:sp>
    </p:spTree>
    <p:extLst>
      <p:ext uri="{BB962C8B-B14F-4D97-AF65-F5344CB8AC3E}">
        <p14:creationId xmlns:p14="http://schemas.microsoft.com/office/powerpoint/2010/main" val="7826856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27215"/>
            <a:ext cx="8229600" cy="1143000"/>
          </a:xfrm>
        </p:spPr>
        <p:txBody>
          <a:bodyPr anchor="ctr">
            <a:normAutofit/>
          </a:bodyPr>
          <a:lstStyle/>
          <a:p>
            <a:r>
              <a:rPr lang="en-US" dirty="0"/>
              <a:t>Third degree price discrimination:</a:t>
            </a:r>
            <a:br>
              <a:rPr lang="en-US" dirty="0"/>
            </a:br>
            <a:r>
              <a:rPr lang="en-US" dirty="0"/>
              <a:t>segment pricing (group pricing)</a:t>
            </a:r>
          </a:p>
        </p:txBody>
      </p:sp>
      <p:sp>
        <p:nvSpPr>
          <p:cNvPr id="5" name="Content Placeholder 4"/>
          <p:cNvSpPr>
            <a:spLocks noGrp="1"/>
          </p:cNvSpPr>
          <p:nvPr>
            <p:ph sz="half" idx="1"/>
          </p:nvPr>
        </p:nvSpPr>
        <p:spPr>
          <a:xfrm>
            <a:off x="248638" y="1600201"/>
            <a:ext cx="4038600" cy="4525963"/>
          </a:xfrm>
        </p:spPr>
        <p:txBody>
          <a:bodyPr>
            <a:normAutofit/>
          </a:bodyPr>
          <a:lstStyle/>
          <a:p>
            <a:pPr>
              <a:lnSpc>
                <a:spcPct val="90000"/>
              </a:lnSpc>
            </a:pPr>
            <a:r>
              <a:rPr lang="en-US" sz="2000" dirty="0"/>
              <a:t>Divide customers into different groups with </a:t>
            </a:r>
            <a:r>
              <a:rPr lang="en-US" sz="2000" i="1" dirty="0"/>
              <a:t>different </a:t>
            </a:r>
            <a:r>
              <a:rPr lang="en-US" sz="2000" dirty="0"/>
              <a:t>price sensitivities, and charge each group different prices</a:t>
            </a:r>
          </a:p>
          <a:p>
            <a:pPr>
              <a:lnSpc>
                <a:spcPct val="90000"/>
              </a:lnSpc>
            </a:pPr>
            <a:endParaRPr lang="en-US" sz="2000" dirty="0"/>
          </a:p>
          <a:p>
            <a:pPr>
              <a:lnSpc>
                <a:spcPct val="90000"/>
              </a:lnSpc>
            </a:pPr>
            <a:r>
              <a:rPr lang="en-US" sz="2000" dirty="0"/>
              <a:t>Conditions:</a:t>
            </a:r>
          </a:p>
          <a:p>
            <a:pPr lvl="1">
              <a:lnSpc>
                <a:spcPct val="90000"/>
              </a:lnSpc>
            </a:pPr>
            <a:r>
              <a:rPr lang="en-US" sz="2000" dirty="0"/>
              <a:t>Consumer groups with (on average) different MPV</a:t>
            </a:r>
          </a:p>
          <a:p>
            <a:pPr lvl="1">
              <a:lnSpc>
                <a:spcPct val="90000"/>
              </a:lnSpc>
            </a:pPr>
            <a:r>
              <a:rPr lang="en-US" sz="2000" dirty="0"/>
              <a:t>Firm </a:t>
            </a:r>
            <a:r>
              <a:rPr lang="en-US" sz="2000" u="sng" dirty="0"/>
              <a:t>can</a:t>
            </a:r>
            <a:r>
              <a:rPr lang="en-US" sz="2000" dirty="0"/>
              <a:t> identify these groups</a:t>
            </a:r>
          </a:p>
          <a:p>
            <a:pPr lvl="1">
              <a:lnSpc>
                <a:spcPct val="90000"/>
              </a:lnSpc>
            </a:pPr>
            <a:r>
              <a:rPr lang="en-US" sz="2000" dirty="0"/>
              <a:t>Firm has market power and can prevent resale</a:t>
            </a:r>
          </a:p>
          <a:p>
            <a:pPr marL="457200" lvl="1" indent="0">
              <a:lnSpc>
                <a:spcPct val="90000"/>
              </a:lnSpc>
              <a:buNone/>
            </a:pPr>
            <a:endParaRPr lang="en-US" sz="2000" dirty="0"/>
          </a:p>
          <a:p>
            <a:pPr>
              <a:lnSpc>
                <a:spcPct val="90000"/>
              </a:lnSpc>
            </a:pPr>
            <a:endParaRPr lang="en-US" sz="2000" dirty="0"/>
          </a:p>
        </p:txBody>
      </p:sp>
      <p:sp>
        <p:nvSpPr>
          <p:cNvPr id="2" name="Slide Number Placeholder 1" hidden="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60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600"/>
                </a:spcAft>
                <a:buClrTx/>
                <a:buSzTx/>
                <a:buFontTx/>
                <a:buNone/>
                <a:tabLst/>
                <a:defRPr/>
              </a:pPr>
              <a:t>18</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pic>
        <p:nvPicPr>
          <p:cNvPr id="11" name="Picture 10">
            <a:extLst>
              <a:ext uri="{FF2B5EF4-FFF2-40B4-BE49-F238E27FC236}">
                <a16:creationId xmlns:a16="http://schemas.microsoft.com/office/drawing/2014/main" id="{82D3506F-9CF1-4D09-ABA0-79B3065CE155}"/>
              </a:ext>
            </a:extLst>
          </p:cNvPr>
          <p:cNvPicPr>
            <a:picLocks noChangeAspect="1"/>
          </p:cNvPicPr>
          <p:nvPr/>
        </p:nvPicPr>
        <p:blipFill>
          <a:blip r:embed="rId3"/>
          <a:stretch>
            <a:fillRect/>
          </a:stretch>
        </p:blipFill>
        <p:spPr>
          <a:xfrm>
            <a:off x="4287238" y="1867300"/>
            <a:ext cx="4759099" cy="3307281"/>
          </a:xfrm>
          <a:prstGeom prst="rect">
            <a:avLst/>
          </a:prstGeom>
        </p:spPr>
      </p:pic>
    </p:spTree>
    <p:extLst>
      <p:ext uri="{BB962C8B-B14F-4D97-AF65-F5344CB8AC3E}">
        <p14:creationId xmlns:p14="http://schemas.microsoft.com/office/powerpoint/2010/main" val="3742464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a:xfrm>
            <a:off x="219225" y="168278"/>
            <a:ext cx="8686800" cy="1143000"/>
          </a:xfrm>
        </p:spPr>
        <p:txBody>
          <a:bodyPr>
            <a:normAutofit/>
          </a:bodyPr>
          <a:lstStyle/>
          <a:p>
            <a:pPr algn="ctr"/>
            <a:r>
              <a:rPr lang="en-US" dirty="0">
                <a:latin typeface="Whitney-Medium" pitchFamily="50" charset="0"/>
                <a:cs typeface="Whitney-Medium" pitchFamily="50" charset="0"/>
              </a:rPr>
              <a:t>SEGMENT </a:t>
            </a:r>
            <a:r>
              <a:rPr lang="en-US" dirty="0" err="1">
                <a:latin typeface="Whitney-Medium" pitchFamily="50" charset="0"/>
                <a:cs typeface="Whitney-Medium" pitchFamily="50" charset="0"/>
              </a:rPr>
              <a:t>PRicing</a:t>
            </a:r>
            <a:endParaRPr lang="en-US" dirty="0">
              <a:latin typeface="Whitney-Medium" pitchFamily="50" charset="0"/>
              <a:cs typeface="Whitney-Medium" pitchFamily="50" charset="0"/>
            </a:endParaRPr>
          </a:p>
        </p:txBody>
      </p:sp>
      <p:sp>
        <p:nvSpPr>
          <p:cNvPr id="183299" name="Rectangle 3"/>
          <p:cNvSpPr>
            <a:spLocks noGrp="1" noChangeArrowheads="1"/>
          </p:cNvSpPr>
          <p:nvPr>
            <p:ph idx="1"/>
          </p:nvPr>
        </p:nvSpPr>
        <p:spPr>
          <a:xfrm>
            <a:off x="4572000" y="2114550"/>
            <a:ext cx="4782955" cy="5114081"/>
          </a:xfrm>
        </p:spPr>
        <p:txBody>
          <a:bodyPr>
            <a:normAutofit/>
          </a:bodyPr>
          <a:lstStyle/>
          <a:p>
            <a:pPr lvl="1">
              <a:spcBef>
                <a:spcPts val="0"/>
              </a:spcBef>
              <a:spcAft>
                <a:spcPts val="563"/>
              </a:spcAft>
            </a:pPr>
            <a:endParaRPr lang="en-US" sz="1300" dirty="0">
              <a:latin typeface="Whitney-Book" pitchFamily="50" charset="0"/>
              <a:cs typeface="Whitney-Book" pitchFamily="50" charset="0"/>
            </a:endParaRPr>
          </a:p>
          <a:p>
            <a:pPr lvl="1">
              <a:lnSpc>
                <a:spcPts val="3000"/>
              </a:lnSpc>
              <a:spcBef>
                <a:spcPts val="0"/>
              </a:spcBef>
              <a:spcAft>
                <a:spcPts val="563"/>
              </a:spcAft>
            </a:pPr>
            <a:r>
              <a:rPr lang="en-US" sz="2400" dirty="0">
                <a:latin typeface="Whitney-Book" pitchFamily="50" charset="0"/>
                <a:cs typeface="Whitney-Book" pitchFamily="50" charset="0"/>
              </a:rPr>
              <a:t>Divide customers into different groups with different price sensitivities  </a:t>
            </a:r>
          </a:p>
          <a:p>
            <a:pPr lvl="1">
              <a:lnSpc>
                <a:spcPts val="3000"/>
              </a:lnSpc>
              <a:spcBef>
                <a:spcPts val="0"/>
              </a:spcBef>
              <a:spcAft>
                <a:spcPts val="563"/>
              </a:spcAft>
            </a:pPr>
            <a:r>
              <a:rPr lang="en-US" sz="2400" dirty="0">
                <a:latin typeface="Whitney-Book" pitchFamily="50" charset="0"/>
                <a:cs typeface="Whitney-Book" pitchFamily="50" charset="0"/>
              </a:rPr>
              <a:t>Charge </a:t>
            </a:r>
            <a:r>
              <a:rPr lang="en-US" sz="2400" dirty="0">
                <a:solidFill>
                  <a:srgbClr val="C00000"/>
                </a:solidFill>
                <a:latin typeface="Whitney-Book" pitchFamily="50" charset="0"/>
                <a:cs typeface="Whitney-Book" pitchFamily="50" charset="0"/>
              </a:rPr>
              <a:t>each group </a:t>
            </a:r>
            <a:r>
              <a:rPr lang="en-US" sz="2400" dirty="0">
                <a:latin typeface="Whitney-Book" pitchFamily="50" charset="0"/>
                <a:cs typeface="Whitney-Book" pitchFamily="50" charset="0"/>
              </a:rPr>
              <a:t>different prices (lower prices to more elastic groups)</a:t>
            </a:r>
            <a:endParaRPr lang="en-US" sz="1600" dirty="0">
              <a:latin typeface="Whitney-Book" pitchFamily="50" charset="0"/>
              <a:cs typeface="Whitney-Book" pitchFamily="50" charset="0"/>
            </a:endParaRPr>
          </a:p>
        </p:txBody>
      </p:sp>
      <p:sp>
        <p:nvSpPr>
          <p:cNvPr id="11" name="Line 3"/>
          <p:cNvSpPr>
            <a:spLocks noChangeShapeType="1"/>
          </p:cNvSpPr>
          <p:nvPr/>
        </p:nvSpPr>
        <p:spPr bwMode="auto">
          <a:xfrm>
            <a:off x="961656" y="1995786"/>
            <a:ext cx="0" cy="4342805"/>
          </a:xfrm>
          <a:prstGeom prst="line">
            <a:avLst/>
          </a:prstGeom>
          <a:noFill/>
          <a:ln w="38100">
            <a:solidFill>
              <a:schemeClr val="tx1"/>
            </a:solidFill>
            <a:round/>
            <a:headEnd type="triangle" w="med" len="med"/>
            <a:tailEnd type="none" w="sm" len="sm"/>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12" name="Line 4"/>
          <p:cNvSpPr>
            <a:spLocks noChangeShapeType="1"/>
          </p:cNvSpPr>
          <p:nvPr/>
        </p:nvSpPr>
        <p:spPr bwMode="auto">
          <a:xfrm flipV="1">
            <a:off x="961656" y="6304300"/>
            <a:ext cx="4352618" cy="20895"/>
          </a:xfrm>
          <a:prstGeom prst="line">
            <a:avLst/>
          </a:prstGeom>
          <a:noFill/>
          <a:ln w="38100">
            <a:solidFill>
              <a:schemeClr val="tx1"/>
            </a:solidFill>
            <a:round/>
            <a:headEnd type="none" w="sm" len="sm"/>
            <a:tailEnd type="triangle" w="med" len="me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grpSp>
        <p:nvGrpSpPr>
          <p:cNvPr id="3" name="Group 2">
            <a:extLst>
              <a:ext uri="{FF2B5EF4-FFF2-40B4-BE49-F238E27FC236}">
                <a16:creationId xmlns:a16="http://schemas.microsoft.com/office/drawing/2014/main" id="{C77759D2-5338-4308-A7FE-204E9504A52F}"/>
              </a:ext>
            </a:extLst>
          </p:cNvPr>
          <p:cNvGrpSpPr/>
          <p:nvPr/>
        </p:nvGrpSpPr>
        <p:grpSpPr>
          <a:xfrm>
            <a:off x="550892" y="4253509"/>
            <a:ext cx="1741291" cy="2065735"/>
            <a:chOff x="550892" y="4253509"/>
            <a:chExt cx="1741291" cy="2065735"/>
          </a:xfrm>
        </p:grpSpPr>
        <p:sp>
          <p:nvSpPr>
            <p:cNvPr id="15" name="Rectangle 7"/>
            <p:cNvSpPr>
              <a:spLocks noChangeArrowheads="1"/>
            </p:cNvSpPr>
            <p:nvPr/>
          </p:nvSpPr>
          <p:spPr bwMode="auto">
            <a:xfrm>
              <a:off x="967611" y="4427638"/>
              <a:ext cx="1300759" cy="1891606"/>
            </a:xfrm>
            <a:prstGeom prst="rect">
              <a:avLst/>
            </a:prstGeom>
            <a:solidFill>
              <a:schemeClr val="accent1">
                <a:lumMod val="25000"/>
                <a:lumOff val="75000"/>
              </a:schemeClr>
            </a:solidFill>
            <a:ln w="12700">
              <a:solidFill>
                <a:schemeClr val="tx1"/>
              </a:solidFill>
              <a:miter lim="800000"/>
              <a:headEnd/>
              <a:tailEnd/>
            </a:ln>
            <a:effectLst/>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endParaRPr>
            </a:p>
          </p:txBody>
        </p:sp>
        <p:sp>
          <p:nvSpPr>
            <p:cNvPr id="16" name="Rectangle 8"/>
            <p:cNvSpPr>
              <a:spLocks noChangeArrowheads="1"/>
            </p:cNvSpPr>
            <p:nvPr/>
          </p:nvSpPr>
          <p:spPr bwMode="auto">
            <a:xfrm>
              <a:off x="550892" y="4253509"/>
              <a:ext cx="340817" cy="346770"/>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a:t>
              </a:r>
              <a:r>
                <a:rPr kumimoji="0" lang="en-US" sz="1688" b="0" i="1" u="none" strike="noStrike" kern="1200" cap="none" spc="0" normalizeH="0" baseline="-25000" noProof="0" dirty="0">
                  <a:ln>
                    <a:noFill/>
                  </a:ln>
                  <a:solidFill>
                    <a:prstClr val="black"/>
                  </a:solidFill>
                  <a:effectLst/>
                  <a:uLnTx/>
                  <a:uFillTx/>
                  <a:latin typeface="Whitney-Book" pitchFamily="50" charset="0"/>
                  <a:ea typeface="+mn-ea"/>
                  <a:cs typeface="Whitney-Book" pitchFamily="50" charset="0"/>
                </a:rPr>
                <a:t>1</a:t>
              </a:r>
            </a:p>
          </p:txBody>
        </p:sp>
        <p:sp>
          <p:nvSpPr>
            <p:cNvPr id="14" name="Rectangle 6"/>
            <p:cNvSpPr>
              <a:spLocks noChangeArrowheads="1"/>
            </p:cNvSpPr>
            <p:nvPr/>
          </p:nvSpPr>
          <p:spPr bwMode="auto">
            <a:xfrm>
              <a:off x="1000353" y="4814591"/>
              <a:ext cx="1291830" cy="607219"/>
            </a:xfrm>
            <a:prstGeom prst="rect">
              <a:avLst/>
            </a:prstGeom>
            <a:noFill/>
            <a:ln w="9525">
              <a:noFill/>
              <a:miter lim="800000"/>
              <a:headEnd/>
              <a:tailEnd/>
            </a:ln>
            <a:effectLst/>
          </p:spPr>
          <p:txBody>
            <a:bodyPr wrap="none" lIns="86320" tIns="43161" rIns="86320" bIns="4316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Regular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movie-goers</a:t>
              </a:r>
            </a:p>
          </p:txBody>
        </p:sp>
      </p:grpSp>
      <p:sp>
        <p:nvSpPr>
          <p:cNvPr id="30" name="Rectangle 25"/>
          <p:cNvSpPr>
            <a:spLocks noChangeArrowheads="1"/>
          </p:cNvSpPr>
          <p:nvPr/>
        </p:nvSpPr>
        <p:spPr bwMode="auto">
          <a:xfrm>
            <a:off x="4054168" y="5773403"/>
            <a:ext cx="957393" cy="352924"/>
          </a:xfrm>
          <a:prstGeom prst="rect">
            <a:avLst/>
          </a:prstGeom>
          <a:noFill/>
          <a:ln w="9525">
            <a:noFill/>
            <a:miter lim="800000"/>
            <a:headEnd/>
            <a:tailEnd/>
          </a:ln>
          <a:effectLst/>
        </p:spPr>
        <p:txBody>
          <a:bodyPr wrap="none" lIns="92273" tIns="46136" rIns="92273" bIns="46136">
            <a:spAutoFit/>
          </a:bodyPr>
          <a:lstStyle/>
          <a:p>
            <a:pPr marL="0" marR="0" lvl="0" indent="0" algn="l" defTabSz="974825"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srgbClr val="C00000"/>
                </a:solidFill>
                <a:effectLst/>
                <a:uLnTx/>
                <a:uFillTx/>
                <a:latin typeface="Whitney-Book" pitchFamily="50" charset="0"/>
                <a:ea typeface="+mn-ea"/>
                <a:cs typeface="Whitney-Book" pitchFamily="50" charset="0"/>
              </a:rPr>
              <a:t>Demand</a:t>
            </a:r>
          </a:p>
        </p:txBody>
      </p:sp>
      <p:sp>
        <p:nvSpPr>
          <p:cNvPr id="31" name="Rectangle 26"/>
          <p:cNvSpPr>
            <a:spLocks noChangeArrowheads="1"/>
          </p:cNvSpPr>
          <p:nvPr/>
        </p:nvSpPr>
        <p:spPr bwMode="auto">
          <a:xfrm>
            <a:off x="513683" y="1571625"/>
            <a:ext cx="629483" cy="352924"/>
          </a:xfrm>
          <a:prstGeom prst="rect">
            <a:avLst/>
          </a:prstGeom>
          <a:noFill/>
          <a:ln w="9525">
            <a:noFill/>
            <a:miter lim="800000"/>
            <a:headEnd/>
            <a:tailEnd/>
          </a:ln>
          <a:effectLst/>
        </p:spPr>
        <p:txBody>
          <a:bodyPr wrap="none" lIns="92273" tIns="46136" rIns="92273" bIns="46136">
            <a:spAutoFit/>
          </a:bodyPr>
          <a:lstStyle/>
          <a:p>
            <a:pPr marL="0" marR="0" lvl="0" indent="0" algn="l" defTabSz="974825"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Price</a:t>
            </a:r>
          </a:p>
        </p:txBody>
      </p:sp>
      <p:sp>
        <p:nvSpPr>
          <p:cNvPr id="36" name="Rectangle 19"/>
          <p:cNvSpPr>
            <a:spLocks noChangeArrowheads="1"/>
          </p:cNvSpPr>
          <p:nvPr/>
        </p:nvSpPr>
        <p:spPr bwMode="auto">
          <a:xfrm>
            <a:off x="3002295" y="3409141"/>
            <a:ext cx="174129" cy="723035"/>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cxnSp>
        <p:nvCxnSpPr>
          <p:cNvPr id="4" name="Straight Connector 3">
            <a:extLst>
              <a:ext uri="{FF2B5EF4-FFF2-40B4-BE49-F238E27FC236}">
                <a16:creationId xmlns:a16="http://schemas.microsoft.com/office/drawing/2014/main" id="{479BD357-34E3-442D-A737-237294AFBDCE}"/>
              </a:ext>
            </a:extLst>
          </p:cNvPr>
          <p:cNvCxnSpPr>
            <a:cxnSpLocks/>
          </p:cNvCxnSpPr>
          <p:nvPr/>
        </p:nvCxnSpPr>
        <p:spPr>
          <a:xfrm>
            <a:off x="1000125" y="3249249"/>
            <a:ext cx="3260376" cy="3004709"/>
          </a:xfrm>
          <a:prstGeom prst="line">
            <a:avLst/>
          </a:prstGeom>
          <a:ln w="28575">
            <a:solidFill>
              <a:srgbClr val="C00000"/>
            </a:solidFill>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965C783A-1A2C-4E46-BCDB-887A3230AB2B}"/>
              </a:ext>
            </a:extLst>
          </p:cNvPr>
          <p:cNvGrpSpPr/>
          <p:nvPr/>
        </p:nvGrpSpPr>
        <p:grpSpPr>
          <a:xfrm>
            <a:off x="534303" y="5590416"/>
            <a:ext cx="3046511" cy="713884"/>
            <a:chOff x="534303" y="5590416"/>
            <a:chExt cx="3046511" cy="713884"/>
          </a:xfrm>
        </p:grpSpPr>
        <p:grpSp>
          <p:nvGrpSpPr>
            <p:cNvPr id="18" name="Group 9"/>
            <p:cNvGrpSpPr>
              <a:grpSpLocks/>
            </p:cNvGrpSpPr>
            <p:nvPr/>
          </p:nvGrpSpPr>
          <p:grpSpPr bwMode="auto">
            <a:xfrm>
              <a:off x="534303" y="5590416"/>
              <a:ext cx="3046511" cy="713884"/>
              <a:chOff x="479" y="3586"/>
              <a:chExt cx="2047" cy="383"/>
            </a:xfrm>
          </p:grpSpPr>
          <p:sp>
            <p:nvSpPr>
              <p:cNvPr id="19" name="Rectangle 10"/>
              <p:cNvSpPr>
                <a:spLocks noChangeArrowheads="1"/>
              </p:cNvSpPr>
              <p:nvPr/>
            </p:nvSpPr>
            <p:spPr bwMode="auto">
              <a:xfrm>
                <a:off x="1647" y="3604"/>
                <a:ext cx="879" cy="365"/>
              </a:xfrm>
              <a:prstGeom prst="rect">
                <a:avLst/>
              </a:prstGeom>
              <a:solidFill>
                <a:schemeClr val="accent2">
                  <a:lumMod val="40000"/>
                  <a:lumOff val="60000"/>
                </a:schemeClr>
              </a:solidFill>
              <a:ln w="12700">
                <a:solidFill>
                  <a:schemeClr val="tx1"/>
                </a:solidFill>
                <a:miter lim="800000"/>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21" name="Rectangle 12"/>
              <p:cNvSpPr>
                <a:spLocks noChangeArrowheads="1"/>
              </p:cNvSpPr>
              <p:nvPr/>
            </p:nvSpPr>
            <p:spPr bwMode="auto">
              <a:xfrm>
                <a:off x="479" y="3586"/>
                <a:ext cx="246" cy="186"/>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a:t>
                </a:r>
                <a:r>
                  <a:rPr kumimoji="0" lang="en-US" sz="1688" b="0" i="1" u="none" strike="noStrike" kern="1200" cap="none" spc="0" normalizeH="0" baseline="-25000" noProof="0" dirty="0">
                    <a:ln>
                      <a:noFill/>
                    </a:ln>
                    <a:solidFill>
                      <a:prstClr val="black"/>
                    </a:solidFill>
                    <a:effectLst/>
                    <a:uLnTx/>
                    <a:uFillTx/>
                    <a:latin typeface="Whitney-Book" pitchFamily="50" charset="0"/>
                    <a:ea typeface="+mn-ea"/>
                    <a:cs typeface="Whitney-Book" pitchFamily="50" charset="0"/>
                  </a:rPr>
                  <a:t>2</a:t>
                </a:r>
              </a:p>
            </p:txBody>
          </p:sp>
        </p:grpSp>
        <p:sp>
          <p:nvSpPr>
            <p:cNvPr id="38" name="Rectangle 6">
              <a:extLst>
                <a:ext uri="{FF2B5EF4-FFF2-40B4-BE49-F238E27FC236}">
                  <a16:creationId xmlns:a16="http://schemas.microsoft.com/office/drawing/2014/main" id="{D67621CF-AB23-4146-8124-EF9530CBC87B}"/>
                </a:ext>
              </a:extLst>
            </p:cNvPr>
            <p:cNvSpPr>
              <a:spLocks noChangeArrowheads="1"/>
            </p:cNvSpPr>
            <p:nvPr/>
          </p:nvSpPr>
          <p:spPr bwMode="auto">
            <a:xfrm>
              <a:off x="2544979" y="5843417"/>
              <a:ext cx="836046" cy="346916"/>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Seniors</a:t>
              </a:r>
            </a:p>
          </p:txBody>
        </p:sp>
      </p:grpSp>
    </p:spTree>
    <p:custDataLst>
      <p:tags r:id="rId1"/>
    </p:custDataLst>
    <p:extLst>
      <p:ext uri="{BB962C8B-B14F-4D97-AF65-F5344CB8AC3E}">
        <p14:creationId xmlns:p14="http://schemas.microsoft.com/office/powerpoint/2010/main" val="38017769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 y="127215"/>
            <a:ext cx="8951976" cy="1143000"/>
          </a:xfrm>
        </p:spPr>
        <p:txBody>
          <a:bodyPr/>
          <a:lstStyle/>
          <a:p>
            <a:r>
              <a:rPr lang="en-US" dirty="0"/>
              <a:t>Segment pricing: student discounts</a:t>
            </a:r>
          </a:p>
        </p:txBody>
      </p:sp>
      <p:pic>
        <p:nvPicPr>
          <p:cNvPr id="16" name="Picture 15"/>
          <p:cNvPicPr>
            <a:picLocks noChangeAspect="1"/>
          </p:cNvPicPr>
          <p:nvPr/>
        </p:nvPicPr>
        <p:blipFill>
          <a:blip r:embed="rId3"/>
          <a:stretch>
            <a:fillRect/>
          </a:stretch>
        </p:blipFill>
        <p:spPr>
          <a:xfrm>
            <a:off x="2228850" y="1148532"/>
            <a:ext cx="4494445" cy="5581516"/>
          </a:xfrm>
          <a:prstGeom prst="rect">
            <a:avLst/>
          </a:prstGeom>
        </p:spPr>
      </p:pic>
      <p:sp>
        <p:nvSpPr>
          <p:cNvPr id="3" name="Slide Number Placeholder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spTree>
    <p:extLst>
      <p:ext uri="{BB962C8B-B14F-4D97-AF65-F5344CB8AC3E}">
        <p14:creationId xmlns:p14="http://schemas.microsoft.com/office/powerpoint/2010/main" val="20145461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1305"/>
            <a:ext cx="8686800" cy="1143000"/>
          </a:xfrm>
        </p:spPr>
        <p:txBody>
          <a:bodyPr/>
          <a:lstStyle/>
          <a:p>
            <a:r>
              <a:rPr lang="en-US" dirty="0"/>
              <a:t>Segment pricing: discounts for locals</a:t>
            </a:r>
          </a:p>
        </p:txBody>
      </p:sp>
      <p:sp>
        <p:nvSpPr>
          <p:cNvPr id="3" name="Slide Number Placeholder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pic>
        <p:nvPicPr>
          <p:cNvPr id="7" name="Picture 6">
            <a:extLst>
              <a:ext uri="{FF2B5EF4-FFF2-40B4-BE49-F238E27FC236}">
                <a16:creationId xmlns:a16="http://schemas.microsoft.com/office/drawing/2014/main" id="{58814899-629D-4F7D-BA74-0D9F95A6784A}"/>
              </a:ext>
            </a:extLst>
          </p:cNvPr>
          <p:cNvPicPr>
            <a:picLocks noChangeAspect="1"/>
          </p:cNvPicPr>
          <p:nvPr/>
        </p:nvPicPr>
        <p:blipFill>
          <a:blip r:embed="rId3"/>
          <a:stretch>
            <a:fillRect/>
          </a:stretch>
        </p:blipFill>
        <p:spPr>
          <a:xfrm>
            <a:off x="4735191" y="1385520"/>
            <a:ext cx="3737453" cy="4983270"/>
          </a:xfrm>
          <a:prstGeom prst="rect">
            <a:avLst/>
          </a:prstGeom>
        </p:spPr>
      </p:pic>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l="48329"/>
          <a:stretch/>
        </p:blipFill>
        <p:spPr>
          <a:xfrm>
            <a:off x="287105" y="3822320"/>
            <a:ext cx="4005330" cy="2938502"/>
          </a:xfrm>
          <a:prstGeom prst="rect">
            <a:avLst/>
          </a:prstGeom>
        </p:spPr>
      </p:pic>
      <p:pic>
        <p:nvPicPr>
          <p:cNvPr id="8" name="Picture 7">
            <a:extLst>
              <a:ext uri="{FF2B5EF4-FFF2-40B4-BE49-F238E27FC236}">
                <a16:creationId xmlns:a16="http://schemas.microsoft.com/office/drawing/2014/main" id="{3942AAA4-F499-4BED-9D96-41DCDF68E4AC}"/>
              </a:ext>
            </a:extLst>
          </p:cNvPr>
          <p:cNvPicPr>
            <a:picLocks noChangeAspect="1"/>
          </p:cNvPicPr>
          <p:nvPr/>
        </p:nvPicPr>
        <p:blipFill rotWithShape="1">
          <a:blip r:embed="rId4">
            <a:extLst>
              <a:ext uri="{28A0092B-C50C-407E-A947-70E740481C1C}">
                <a14:useLocalDpi xmlns:a14="http://schemas.microsoft.com/office/drawing/2010/main" val="0"/>
              </a:ext>
            </a:extLst>
          </a:blip>
          <a:srcRect r="51785" b="9438"/>
          <a:stretch/>
        </p:blipFill>
        <p:spPr>
          <a:xfrm>
            <a:off x="327455" y="1154305"/>
            <a:ext cx="3964980" cy="2661161"/>
          </a:xfrm>
          <a:prstGeom prst="rect">
            <a:avLst/>
          </a:prstGeom>
        </p:spPr>
      </p:pic>
    </p:spTree>
    <p:extLst>
      <p:ext uri="{BB962C8B-B14F-4D97-AF65-F5344CB8AC3E}">
        <p14:creationId xmlns:p14="http://schemas.microsoft.com/office/powerpoint/2010/main" val="10885912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p:txBody>
          <a:bodyPr/>
          <a:lstStyle/>
          <a:p>
            <a:r>
              <a:rPr lang="en-US" dirty="0"/>
              <a:t>Segment Pricing: Timing</a:t>
            </a:r>
          </a:p>
        </p:txBody>
      </p:sp>
      <p:sp>
        <p:nvSpPr>
          <p:cNvPr id="4" name="Slide Number Placeholder 3"/>
          <p:cNvSpPr>
            <a:spLocks noGrp="1"/>
          </p:cNvSpPr>
          <p:nvPr>
            <p:ph type="sldNum" sz="quarter" idx="10"/>
          </p:nvPr>
        </p:nvSpPr>
        <p:spPr/>
        <p:txBody>
          <a:bodyPr/>
          <a:lstStyle/>
          <a:p>
            <a:fld id="{DBC38028-5B1C-49D3-BF22-2CE9385E6DA2}" type="slidenum">
              <a:rPr lang="en-US" smtClean="0"/>
              <a:pPr/>
              <a:t>22</a:t>
            </a:fld>
            <a:endParaRPr lang="en-US" dirty="0"/>
          </a:p>
        </p:txBody>
      </p:sp>
      <p:pic>
        <p:nvPicPr>
          <p:cNvPr id="2" name="Picture 1">
            <a:extLst>
              <a:ext uri="{FF2B5EF4-FFF2-40B4-BE49-F238E27FC236}">
                <a16:creationId xmlns:a16="http://schemas.microsoft.com/office/drawing/2014/main" id="{AC5A5EE5-9014-4C8E-B012-D4BBB94041B9}"/>
              </a:ext>
            </a:extLst>
          </p:cNvPr>
          <p:cNvPicPr>
            <a:picLocks noChangeAspect="1"/>
          </p:cNvPicPr>
          <p:nvPr/>
        </p:nvPicPr>
        <p:blipFill>
          <a:blip r:embed="rId4"/>
          <a:stretch>
            <a:fillRect/>
          </a:stretch>
        </p:blipFill>
        <p:spPr>
          <a:xfrm>
            <a:off x="554019" y="1167227"/>
            <a:ext cx="7221290" cy="1516214"/>
          </a:xfrm>
          <a:prstGeom prst="rect">
            <a:avLst/>
          </a:prstGeom>
        </p:spPr>
      </p:pic>
      <p:pic>
        <p:nvPicPr>
          <p:cNvPr id="3" name="Picture 2">
            <a:extLst>
              <a:ext uri="{FF2B5EF4-FFF2-40B4-BE49-F238E27FC236}">
                <a16:creationId xmlns:a16="http://schemas.microsoft.com/office/drawing/2014/main" id="{2C089C9A-E3AA-407D-B32B-8613D0DC1EF3}"/>
              </a:ext>
            </a:extLst>
          </p:cNvPr>
          <p:cNvPicPr>
            <a:picLocks noChangeAspect="1"/>
          </p:cNvPicPr>
          <p:nvPr/>
        </p:nvPicPr>
        <p:blipFill>
          <a:blip r:embed="rId5"/>
          <a:stretch>
            <a:fillRect/>
          </a:stretch>
        </p:blipFill>
        <p:spPr>
          <a:xfrm>
            <a:off x="934592" y="3044415"/>
            <a:ext cx="6398931" cy="3156520"/>
          </a:xfrm>
          <a:prstGeom prst="rect">
            <a:avLst/>
          </a:prstGeom>
        </p:spPr>
      </p:pic>
      <p:sp>
        <p:nvSpPr>
          <p:cNvPr id="8" name="Rectangle 25">
            <a:extLst>
              <a:ext uri="{FF2B5EF4-FFF2-40B4-BE49-F238E27FC236}">
                <a16:creationId xmlns:a16="http://schemas.microsoft.com/office/drawing/2014/main" id="{1C41CE2A-D06B-415D-B69C-626170CDED40}"/>
              </a:ext>
            </a:extLst>
          </p:cNvPr>
          <p:cNvSpPr>
            <a:spLocks noChangeArrowheads="1"/>
          </p:cNvSpPr>
          <p:nvPr/>
        </p:nvSpPr>
        <p:spPr bwMode="auto">
          <a:xfrm>
            <a:off x="4172833" y="6135031"/>
            <a:ext cx="3602476" cy="612674"/>
          </a:xfrm>
          <a:prstGeom prst="rect">
            <a:avLst/>
          </a:prstGeom>
          <a:noFill/>
          <a:ln w="9525">
            <a:noFill/>
            <a:miter lim="800000"/>
            <a:headEnd/>
            <a:tailEnd/>
          </a:ln>
          <a:effectLst/>
        </p:spPr>
        <p:txBody>
          <a:bodyPr wrap="none" lIns="92273" tIns="46136" rIns="92273" bIns="46136">
            <a:spAutoFit/>
          </a:bodyPr>
          <a:lstStyle/>
          <a:p>
            <a:pPr defTabSz="974825">
              <a:defRPr/>
            </a:pPr>
            <a:r>
              <a:rPr kumimoji="0" lang="en-US" sz="1688" b="0" u="none" strike="noStrike" kern="1200" cap="none" spc="0" normalizeH="0" baseline="0" noProof="0" dirty="0">
                <a:ln>
                  <a:noFill/>
                </a:ln>
                <a:effectLst/>
                <a:uLnTx/>
                <a:uFillTx/>
                <a:latin typeface="Whitney-Book" pitchFamily="50" charset="0"/>
                <a:ea typeface="+mn-ea"/>
                <a:cs typeface="Whitney-Book" pitchFamily="50" charset="0"/>
              </a:rPr>
              <a:t>Source:  </a:t>
            </a:r>
            <a:r>
              <a:rPr lang="en-US" sz="1600" dirty="0">
                <a:hlinkClick r:id="rId6"/>
              </a:rPr>
              <a:t>https://camelcamelcamel.com/</a:t>
            </a:r>
            <a:r>
              <a:rPr lang="en-US" sz="1600" dirty="0"/>
              <a:t> </a:t>
            </a:r>
          </a:p>
          <a:p>
            <a:pPr marL="0" marR="0" lvl="0" indent="0" algn="l" defTabSz="974825" rtl="0" eaLnBrk="1" fontAlgn="auto" latinLnBrk="0" hangingPunct="1">
              <a:lnSpc>
                <a:spcPct val="100000"/>
              </a:lnSpc>
              <a:spcBef>
                <a:spcPts val="0"/>
              </a:spcBef>
              <a:spcAft>
                <a:spcPts val="0"/>
              </a:spcAft>
              <a:buClrTx/>
              <a:buSzTx/>
              <a:buFontTx/>
              <a:buNone/>
              <a:tabLst/>
              <a:defRPr/>
            </a:pPr>
            <a:endParaRPr kumimoji="0" lang="en-US" sz="1688" b="0" i="1" u="none" strike="noStrike" kern="1200" cap="none" spc="0" normalizeH="0" baseline="0" noProof="0" dirty="0">
              <a:ln>
                <a:noFill/>
              </a:ln>
              <a:solidFill>
                <a:srgbClr val="C00000"/>
              </a:solidFill>
              <a:effectLst/>
              <a:uLnTx/>
              <a:uFillTx/>
              <a:latin typeface="Whitney-Book" pitchFamily="50" charset="0"/>
              <a:ea typeface="+mn-ea"/>
              <a:cs typeface="Whitney-Book" pitchFamily="50" charset="0"/>
            </a:endParaRPr>
          </a:p>
        </p:txBody>
      </p:sp>
    </p:spTree>
    <p:custDataLst>
      <p:tags r:id="rId1"/>
    </p:custDataLst>
    <p:extLst>
      <p:ext uri="{BB962C8B-B14F-4D97-AF65-F5344CB8AC3E}">
        <p14:creationId xmlns:p14="http://schemas.microsoft.com/office/powerpoint/2010/main" val="1760979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B9B4C-D39E-4778-BBDC-91385039EB74}"/>
              </a:ext>
            </a:extLst>
          </p:cNvPr>
          <p:cNvSpPr>
            <a:spLocks noGrp="1"/>
          </p:cNvSpPr>
          <p:nvPr>
            <p:ph type="title"/>
          </p:nvPr>
        </p:nvSpPr>
        <p:spPr/>
        <p:txBody>
          <a:bodyPr/>
          <a:lstStyle/>
          <a:p>
            <a:r>
              <a:rPr lang="en-US" dirty="0"/>
              <a:t>segment pricing: ways to segment consumers</a:t>
            </a:r>
          </a:p>
        </p:txBody>
      </p:sp>
      <p:sp>
        <p:nvSpPr>
          <p:cNvPr id="3" name="Content Placeholder 2">
            <a:extLst>
              <a:ext uri="{FF2B5EF4-FFF2-40B4-BE49-F238E27FC236}">
                <a16:creationId xmlns:a16="http://schemas.microsoft.com/office/drawing/2014/main" id="{2CED4F30-DC90-4FD2-BE3B-DF4833A129F7}"/>
              </a:ext>
            </a:extLst>
          </p:cNvPr>
          <p:cNvSpPr>
            <a:spLocks noGrp="1"/>
          </p:cNvSpPr>
          <p:nvPr>
            <p:ph idx="1"/>
          </p:nvPr>
        </p:nvSpPr>
        <p:spPr>
          <a:xfrm>
            <a:off x="457200" y="1640114"/>
            <a:ext cx="8229600" cy="5090670"/>
          </a:xfrm>
        </p:spPr>
        <p:txBody>
          <a:bodyPr>
            <a:normAutofit fontScale="32500" lnSpcReduction="20000"/>
          </a:bodyPr>
          <a:lstStyle/>
          <a:p>
            <a:pPr>
              <a:lnSpc>
                <a:spcPts val="3100"/>
              </a:lnSpc>
            </a:pPr>
            <a:r>
              <a:rPr lang="en-US" sz="9600" dirty="0"/>
              <a:t>By customer characteristics</a:t>
            </a:r>
          </a:p>
          <a:p>
            <a:pPr lvl="1">
              <a:lnSpc>
                <a:spcPct val="120000"/>
              </a:lnSpc>
              <a:spcBef>
                <a:spcPts val="0"/>
              </a:spcBef>
            </a:pPr>
            <a:r>
              <a:rPr lang="en-US" sz="8000" dirty="0"/>
              <a:t>Age, gender,… </a:t>
            </a:r>
          </a:p>
          <a:p>
            <a:pPr lvl="1">
              <a:lnSpc>
                <a:spcPct val="120000"/>
              </a:lnSpc>
              <a:spcBef>
                <a:spcPts val="0"/>
              </a:spcBef>
            </a:pPr>
            <a:r>
              <a:rPr lang="en-US" sz="8000" dirty="0"/>
              <a:t>But even by ‘customer’ species: Doctors and veterinarians sometimes use the same medicines.</a:t>
            </a:r>
          </a:p>
          <a:p>
            <a:pPr>
              <a:lnSpc>
                <a:spcPct val="120000"/>
              </a:lnSpc>
              <a:spcBef>
                <a:spcPts val="0"/>
              </a:spcBef>
            </a:pPr>
            <a:r>
              <a:rPr lang="en-US" sz="9500" dirty="0"/>
              <a:t>Discounts for new customers </a:t>
            </a:r>
            <a:r>
              <a:rPr lang="en-US" sz="6200" dirty="0"/>
              <a:t>(gym memberships)</a:t>
            </a:r>
          </a:p>
          <a:p>
            <a:pPr>
              <a:lnSpc>
                <a:spcPts val="3100"/>
              </a:lnSpc>
            </a:pPr>
            <a:r>
              <a:rPr lang="en-US" sz="9600" dirty="0"/>
              <a:t>By location</a:t>
            </a:r>
          </a:p>
          <a:p>
            <a:pPr lvl="1">
              <a:lnSpc>
                <a:spcPct val="120000"/>
              </a:lnSpc>
              <a:spcBef>
                <a:spcPts val="0"/>
              </a:spcBef>
            </a:pPr>
            <a:r>
              <a:rPr lang="fr-FR" sz="8000" dirty="0"/>
              <a:t>Pharmaceuticals in US v. </a:t>
            </a:r>
            <a:r>
              <a:rPr lang="fr-FR" sz="8000" dirty="0" err="1"/>
              <a:t>emerging</a:t>
            </a:r>
            <a:r>
              <a:rPr lang="fr-FR" sz="8000" dirty="0"/>
              <a:t> </a:t>
            </a:r>
            <a:r>
              <a:rPr lang="fr-FR" sz="8000" dirty="0" err="1"/>
              <a:t>economies</a:t>
            </a:r>
            <a:endParaRPr lang="fr-FR" sz="8000" dirty="0"/>
          </a:p>
          <a:p>
            <a:pPr>
              <a:lnSpc>
                <a:spcPts val="3100"/>
              </a:lnSpc>
            </a:pPr>
            <a:r>
              <a:rPr lang="fr-FR" sz="9600" dirty="0" err="1"/>
              <a:t>Intertemporal</a:t>
            </a:r>
            <a:r>
              <a:rPr lang="fr-FR" sz="9600" dirty="0"/>
              <a:t> </a:t>
            </a:r>
          </a:p>
          <a:p>
            <a:pPr lvl="1">
              <a:lnSpc>
                <a:spcPct val="120000"/>
              </a:lnSpc>
              <a:spcBef>
                <a:spcPts val="0"/>
              </a:spcBef>
            </a:pPr>
            <a:r>
              <a:rPr lang="fr-FR" sz="8000" dirty="0" err="1"/>
              <a:t>Electronic</a:t>
            </a:r>
            <a:r>
              <a:rPr lang="fr-FR" sz="8000" dirty="0"/>
              <a:t> gadgets: </a:t>
            </a:r>
            <a:r>
              <a:rPr lang="fr-FR" sz="8000" dirty="0" err="1"/>
              <a:t>Early</a:t>
            </a:r>
            <a:r>
              <a:rPr lang="fr-FR" sz="8000" dirty="0"/>
              <a:t> </a:t>
            </a:r>
            <a:r>
              <a:rPr lang="fr-FR" sz="8000" dirty="0" err="1"/>
              <a:t>adopters</a:t>
            </a:r>
            <a:r>
              <a:rPr lang="fr-FR" sz="8000" dirty="0"/>
              <a:t> vs. Mass </a:t>
            </a:r>
            <a:r>
              <a:rPr lang="fr-FR" sz="8000" dirty="0" err="1"/>
              <a:t>market</a:t>
            </a:r>
            <a:endParaRPr lang="fr-FR" sz="8000" dirty="0"/>
          </a:p>
          <a:p>
            <a:pPr lvl="1">
              <a:lnSpc>
                <a:spcPct val="120000"/>
              </a:lnSpc>
              <a:spcBef>
                <a:spcPts val="0"/>
              </a:spcBef>
            </a:pPr>
            <a:r>
              <a:rPr lang="en-US" sz="8000" dirty="0"/>
              <a:t>Pricing based on search history</a:t>
            </a:r>
            <a:endParaRPr lang="fr-FR" sz="8000" dirty="0"/>
          </a:p>
          <a:p>
            <a:pPr lvl="1">
              <a:lnSpc>
                <a:spcPct val="120000"/>
              </a:lnSpc>
              <a:spcBef>
                <a:spcPts val="0"/>
              </a:spcBef>
            </a:pPr>
            <a:r>
              <a:rPr lang="fr-FR" sz="8000" dirty="0"/>
              <a:t>Black Friday</a:t>
            </a:r>
          </a:p>
          <a:p>
            <a:endParaRPr lang="en-US" dirty="0"/>
          </a:p>
        </p:txBody>
      </p:sp>
    </p:spTree>
    <p:extLst>
      <p:ext uri="{BB962C8B-B14F-4D97-AF65-F5344CB8AC3E}">
        <p14:creationId xmlns:p14="http://schemas.microsoft.com/office/powerpoint/2010/main" val="3156629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BC38028-5B1C-49D3-BF22-2CE9385E6DA2}" type="slidenum">
              <a:rPr lang="en-US" smtClean="0"/>
              <a:pPr/>
              <a:t>24</a:t>
            </a:fld>
            <a:endParaRPr lang="en-US" dirty="0"/>
          </a:p>
        </p:txBody>
      </p:sp>
      <p:pic>
        <p:nvPicPr>
          <p:cNvPr id="15" name="Picture 14">
            <a:extLst>
              <a:ext uri="{FF2B5EF4-FFF2-40B4-BE49-F238E27FC236}">
                <a16:creationId xmlns:a16="http://schemas.microsoft.com/office/drawing/2014/main" id="{4F15CE7A-B183-4EAD-B7E5-B5B7B6C7BAA9}"/>
              </a:ext>
            </a:extLst>
          </p:cNvPr>
          <p:cNvPicPr>
            <a:picLocks noChangeAspect="1"/>
          </p:cNvPicPr>
          <p:nvPr/>
        </p:nvPicPr>
        <p:blipFill>
          <a:blip r:embed="rId4"/>
          <a:stretch>
            <a:fillRect/>
          </a:stretch>
        </p:blipFill>
        <p:spPr>
          <a:xfrm>
            <a:off x="-14598" y="3859967"/>
            <a:ext cx="9144000" cy="2998033"/>
          </a:xfrm>
          <a:prstGeom prst="rect">
            <a:avLst/>
          </a:prstGeom>
        </p:spPr>
      </p:pic>
      <p:sp>
        <p:nvSpPr>
          <p:cNvPr id="2" name="Title 1"/>
          <p:cNvSpPr>
            <a:spLocks noGrp="1"/>
          </p:cNvSpPr>
          <p:nvPr>
            <p:ph type="title"/>
          </p:nvPr>
        </p:nvSpPr>
        <p:spPr>
          <a:xfrm>
            <a:off x="457200" y="127215"/>
            <a:ext cx="8229600" cy="787038"/>
          </a:xfrm>
        </p:spPr>
        <p:txBody>
          <a:bodyPr>
            <a:normAutofit fontScale="90000"/>
          </a:bodyPr>
          <a:lstStyle/>
          <a:p>
            <a:r>
              <a:rPr lang="en-US" sz="3600" dirty="0">
                <a:latin typeface="Whitney-Medium" pitchFamily="50" charset="0"/>
                <a:cs typeface="Whitney-Medium" pitchFamily="50" charset="0"/>
              </a:rPr>
              <a:t>Airline Pricing: We can now Solve </a:t>
            </a:r>
            <a:r>
              <a:rPr lang="en-US" sz="3600" dirty="0" err="1">
                <a:latin typeface="Whitney-Medium" pitchFamily="50" charset="0"/>
                <a:cs typeface="Whitney-Medium" pitchFamily="50" charset="0"/>
              </a:rPr>
              <a:t>thE</a:t>
            </a:r>
            <a:r>
              <a:rPr lang="en-US" sz="3600" dirty="0">
                <a:latin typeface="Whitney-Medium" pitchFamily="50" charset="0"/>
                <a:cs typeface="Whitney-Medium" pitchFamily="50" charset="0"/>
              </a:rPr>
              <a:t> ‘Puzzle’ from Week 1:</a:t>
            </a:r>
            <a:endParaRPr lang="en-US" sz="3600" noProof="0" dirty="0">
              <a:latin typeface="Whitney-Medium" pitchFamily="50" charset="0"/>
              <a:cs typeface="Whitney-Medium" pitchFamily="50" charset="0"/>
            </a:endParaRPr>
          </a:p>
        </p:txBody>
      </p:sp>
      <p:pic>
        <p:nvPicPr>
          <p:cNvPr id="9" name="Picture 8">
            <a:extLst>
              <a:ext uri="{FF2B5EF4-FFF2-40B4-BE49-F238E27FC236}">
                <a16:creationId xmlns:a16="http://schemas.microsoft.com/office/drawing/2014/main" id="{2127A002-6E59-4091-9831-480AAA2B9DEB}"/>
              </a:ext>
            </a:extLst>
          </p:cNvPr>
          <p:cNvPicPr>
            <a:picLocks noChangeAspect="1"/>
          </p:cNvPicPr>
          <p:nvPr/>
        </p:nvPicPr>
        <p:blipFill>
          <a:blip r:embed="rId5"/>
          <a:stretch>
            <a:fillRect/>
          </a:stretch>
        </p:blipFill>
        <p:spPr>
          <a:xfrm>
            <a:off x="14598" y="1117489"/>
            <a:ext cx="8813409" cy="2828303"/>
          </a:xfrm>
          <a:prstGeom prst="rect">
            <a:avLst/>
          </a:prstGeom>
        </p:spPr>
      </p:pic>
      <p:sp>
        <p:nvSpPr>
          <p:cNvPr id="10" name="Oval 9">
            <a:extLst>
              <a:ext uri="{FF2B5EF4-FFF2-40B4-BE49-F238E27FC236}">
                <a16:creationId xmlns:a16="http://schemas.microsoft.com/office/drawing/2014/main" id="{87C40DE7-FC11-4001-808B-F6BEDA313432}"/>
              </a:ext>
            </a:extLst>
          </p:cNvPr>
          <p:cNvSpPr/>
          <p:nvPr/>
        </p:nvSpPr>
        <p:spPr>
          <a:xfrm>
            <a:off x="7344890" y="3571644"/>
            <a:ext cx="1626669" cy="394767"/>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71807EF2-1B63-44ED-9AC4-09B8F01873D2}"/>
              </a:ext>
            </a:extLst>
          </p:cNvPr>
          <p:cNvGrpSpPr/>
          <p:nvPr/>
        </p:nvGrpSpPr>
        <p:grpSpPr>
          <a:xfrm>
            <a:off x="367681" y="1474650"/>
            <a:ext cx="1632224" cy="1443506"/>
            <a:chOff x="402320" y="1186997"/>
            <a:chExt cx="1632224" cy="1443506"/>
          </a:xfrm>
        </p:grpSpPr>
        <p:sp>
          <p:nvSpPr>
            <p:cNvPr id="11" name="Oval 10">
              <a:extLst>
                <a:ext uri="{FF2B5EF4-FFF2-40B4-BE49-F238E27FC236}">
                  <a16:creationId xmlns:a16="http://schemas.microsoft.com/office/drawing/2014/main" id="{50AA02BF-6196-4E95-9D23-A19402B5C05D}"/>
                </a:ext>
              </a:extLst>
            </p:cNvPr>
            <p:cNvSpPr/>
            <p:nvPr/>
          </p:nvSpPr>
          <p:spPr>
            <a:xfrm>
              <a:off x="407875" y="2433119"/>
              <a:ext cx="1626669" cy="197384"/>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E9A4906-6360-4665-A8CD-C32DB072F4E9}"/>
                </a:ext>
              </a:extLst>
            </p:cNvPr>
            <p:cNvSpPr/>
            <p:nvPr/>
          </p:nvSpPr>
          <p:spPr>
            <a:xfrm>
              <a:off x="402320" y="1186997"/>
              <a:ext cx="1626669" cy="197384"/>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E9E4CD8-C757-42EF-BB5A-14F1C986AB55}"/>
              </a:ext>
            </a:extLst>
          </p:cNvPr>
          <p:cNvGrpSpPr/>
          <p:nvPr/>
        </p:nvGrpSpPr>
        <p:grpSpPr>
          <a:xfrm>
            <a:off x="2514488" y="1923603"/>
            <a:ext cx="306032" cy="1461132"/>
            <a:chOff x="2549127" y="1635950"/>
            <a:chExt cx="306032" cy="1461132"/>
          </a:xfrm>
        </p:grpSpPr>
        <p:sp>
          <p:nvSpPr>
            <p:cNvPr id="13" name="Oval 12">
              <a:extLst>
                <a:ext uri="{FF2B5EF4-FFF2-40B4-BE49-F238E27FC236}">
                  <a16:creationId xmlns:a16="http://schemas.microsoft.com/office/drawing/2014/main" id="{D157783C-E358-4838-BD58-1D1C839E3C8B}"/>
                </a:ext>
              </a:extLst>
            </p:cNvPr>
            <p:cNvSpPr/>
            <p:nvPr/>
          </p:nvSpPr>
          <p:spPr>
            <a:xfrm>
              <a:off x="2549127" y="1635950"/>
              <a:ext cx="306032" cy="197384"/>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070A22D-5616-43CB-9042-92F12AD17EC6}"/>
                </a:ext>
              </a:extLst>
            </p:cNvPr>
            <p:cNvSpPr/>
            <p:nvPr/>
          </p:nvSpPr>
          <p:spPr>
            <a:xfrm>
              <a:off x="2549127" y="2899698"/>
              <a:ext cx="306032" cy="197384"/>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1" name="Oval 20">
            <a:extLst>
              <a:ext uri="{FF2B5EF4-FFF2-40B4-BE49-F238E27FC236}">
                <a16:creationId xmlns:a16="http://schemas.microsoft.com/office/drawing/2014/main" id="{5CB0B71B-E015-4E73-AF32-B2783E38755E}"/>
              </a:ext>
            </a:extLst>
          </p:cNvPr>
          <p:cNvSpPr/>
          <p:nvPr/>
        </p:nvSpPr>
        <p:spPr>
          <a:xfrm>
            <a:off x="439457" y="1318585"/>
            <a:ext cx="1626669" cy="197384"/>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701430A-AF65-46C7-8973-E67ABDB018B6}"/>
              </a:ext>
            </a:extLst>
          </p:cNvPr>
          <p:cNvSpPr/>
          <p:nvPr/>
        </p:nvSpPr>
        <p:spPr>
          <a:xfrm>
            <a:off x="324947" y="3978421"/>
            <a:ext cx="1876647" cy="339283"/>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A8971087-3A18-4A4E-94F1-79533345CDA3}"/>
              </a:ext>
            </a:extLst>
          </p:cNvPr>
          <p:cNvGrpSpPr/>
          <p:nvPr/>
        </p:nvGrpSpPr>
        <p:grpSpPr>
          <a:xfrm>
            <a:off x="402320" y="4253146"/>
            <a:ext cx="1632224" cy="1499778"/>
            <a:chOff x="402320" y="1130725"/>
            <a:chExt cx="1632224" cy="1499778"/>
          </a:xfrm>
        </p:grpSpPr>
        <p:sp>
          <p:nvSpPr>
            <p:cNvPr id="24" name="Oval 23">
              <a:extLst>
                <a:ext uri="{FF2B5EF4-FFF2-40B4-BE49-F238E27FC236}">
                  <a16:creationId xmlns:a16="http://schemas.microsoft.com/office/drawing/2014/main" id="{94E2483F-1216-486F-B50A-48EDAA734CF6}"/>
                </a:ext>
              </a:extLst>
            </p:cNvPr>
            <p:cNvSpPr/>
            <p:nvPr/>
          </p:nvSpPr>
          <p:spPr>
            <a:xfrm>
              <a:off x="407875" y="2433119"/>
              <a:ext cx="1626669" cy="197384"/>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CCDDB0C-FE4B-4DF7-A486-1B4499EB7E0C}"/>
                </a:ext>
              </a:extLst>
            </p:cNvPr>
            <p:cNvSpPr/>
            <p:nvPr/>
          </p:nvSpPr>
          <p:spPr>
            <a:xfrm>
              <a:off x="402320" y="1130725"/>
              <a:ext cx="1626669" cy="197384"/>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6" name="Oval 25">
            <a:extLst>
              <a:ext uri="{FF2B5EF4-FFF2-40B4-BE49-F238E27FC236}">
                <a16:creationId xmlns:a16="http://schemas.microsoft.com/office/drawing/2014/main" id="{AB564A6D-4714-4DC6-87F5-EE2F0CBB4B1E}"/>
              </a:ext>
            </a:extLst>
          </p:cNvPr>
          <p:cNvSpPr/>
          <p:nvPr/>
        </p:nvSpPr>
        <p:spPr>
          <a:xfrm>
            <a:off x="7517331" y="6441351"/>
            <a:ext cx="1626669" cy="394767"/>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4B6BDD2D-2454-4E30-BFEF-D840A94A9C4D}"/>
              </a:ext>
            </a:extLst>
          </p:cNvPr>
          <p:cNvSpPr txBox="1"/>
          <p:nvPr/>
        </p:nvSpPr>
        <p:spPr>
          <a:xfrm>
            <a:off x="4087194" y="3305173"/>
            <a:ext cx="914400" cy="914400"/>
          </a:xfrm>
          <a:prstGeom prst="rect">
            <a:avLst/>
          </a:prstGeom>
          <a:noFill/>
        </p:spPr>
        <p:txBody>
          <a:bodyPr wrap="square" rtlCol="0">
            <a:spAutoFit/>
          </a:bodyPr>
          <a:lstStyle/>
          <a:p>
            <a:endParaRPr lang="en-US"/>
          </a:p>
        </p:txBody>
      </p:sp>
    </p:spTree>
    <p:custDataLst>
      <p:tags r:id="rId1"/>
    </p:custDataLst>
    <p:extLst>
      <p:ext uri="{BB962C8B-B14F-4D97-AF65-F5344CB8AC3E}">
        <p14:creationId xmlns:p14="http://schemas.microsoft.com/office/powerpoint/2010/main" val="3485344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grpId="1" nodeType="clickEffect">
                                  <p:stCondLst>
                                    <p:cond delay="0"/>
                                  </p:stCondLst>
                                  <p:childTnLst>
                                    <p:animEffect transition="out" filter="fade">
                                      <p:cBhvr>
                                        <p:cTn id="10" dur="500"/>
                                        <p:tgtEl>
                                          <p:spTgt spid="21"/>
                                        </p:tgtEl>
                                      </p:cBhvr>
                                    </p:animEffect>
                                    <p:set>
                                      <p:cBhvr>
                                        <p:cTn id="11" dur="1" fill="hold">
                                          <p:stCondLst>
                                            <p:cond delay="499"/>
                                          </p:stCondLst>
                                        </p:cTn>
                                        <p:tgtEl>
                                          <p:spTgt spid="21"/>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nodeType="clickEffect">
                                  <p:stCondLst>
                                    <p:cond delay="0"/>
                                  </p:stCondLst>
                                  <p:childTnLst>
                                    <p:animEffect transition="out" filter="fade">
                                      <p:cBhvr>
                                        <p:cTn id="23" dur="500"/>
                                        <p:tgtEl>
                                          <p:spTgt spid="17"/>
                                        </p:tgtEl>
                                      </p:cBhvr>
                                    </p:animEffect>
                                    <p:set>
                                      <p:cBhvr>
                                        <p:cTn id="24" dur="1" fill="hold">
                                          <p:stCondLst>
                                            <p:cond delay="499"/>
                                          </p:stCondLst>
                                        </p:cTn>
                                        <p:tgtEl>
                                          <p:spTgt spid="17"/>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grpId="1" nodeType="clickEffect">
                                  <p:stCondLst>
                                    <p:cond delay="0"/>
                                  </p:stCondLst>
                                  <p:childTnLst>
                                    <p:animEffect transition="out" filter="fade">
                                      <p:cBhvr>
                                        <p:cTn id="40" dur="500"/>
                                        <p:tgtEl>
                                          <p:spTgt spid="22"/>
                                        </p:tgtEl>
                                      </p:cBhvr>
                                    </p:animEffect>
                                    <p:set>
                                      <p:cBhvr>
                                        <p:cTn id="41" dur="1" fill="hold">
                                          <p:stCondLst>
                                            <p:cond delay="499"/>
                                          </p:stCondLst>
                                        </p:cTn>
                                        <p:tgtEl>
                                          <p:spTgt spid="22"/>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23"/>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500"/>
                                        <p:tgtEl>
                                          <p:spTgt spid="23"/>
                                        </p:tgtEl>
                                      </p:cBhvr>
                                    </p:animEffect>
                                    <p:set>
                                      <p:cBhvr>
                                        <p:cTn id="50" dur="1" fill="hold">
                                          <p:stCondLst>
                                            <p:cond delay="499"/>
                                          </p:stCondLst>
                                        </p:cTn>
                                        <p:tgtEl>
                                          <p:spTgt spid="23"/>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1" grpId="0" animBg="1"/>
      <p:bldP spid="21" grpId="1" animBg="1"/>
      <p:bldP spid="22" grpId="0" animBg="1"/>
      <p:bldP spid="22" grpId="1" animBg="1"/>
      <p:bldP spid="26"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0639"/>
            <a:ext cx="8229600" cy="1143000"/>
          </a:xfrm>
        </p:spPr>
        <p:txBody>
          <a:bodyPr>
            <a:normAutofit/>
          </a:bodyPr>
          <a:lstStyle/>
          <a:p>
            <a:r>
              <a:rPr lang="en-US" sz="3000" dirty="0"/>
              <a:t>Lufthansa Pricing: Solution</a:t>
            </a:r>
          </a:p>
        </p:txBody>
      </p:sp>
      <p:sp>
        <p:nvSpPr>
          <p:cNvPr id="2" name="Slide Number Placeholder 1">
            <a:extLst>
              <a:ext uri="{FF2B5EF4-FFF2-40B4-BE49-F238E27FC236}">
                <a16:creationId xmlns:a16="http://schemas.microsoft.com/office/drawing/2014/main" id="{A4F83A1D-3EDB-AD46-8E68-8AFE6F1A437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4DDD2-D94C-1147-A389-2CD6A7EEF184}"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extBox 6">
            <a:extLst>
              <a:ext uri="{FF2B5EF4-FFF2-40B4-BE49-F238E27FC236}">
                <a16:creationId xmlns:a16="http://schemas.microsoft.com/office/drawing/2014/main" id="{DF202E68-6772-49DB-B229-1823BF030956}"/>
              </a:ext>
            </a:extLst>
          </p:cNvPr>
          <p:cNvSpPr txBox="1"/>
          <p:nvPr/>
        </p:nvSpPr>
        <p:spPr>
          <a:xfrm>
            <a:off x="527127" y="1711625"/>
            <a:ext cx="3452610" cy="369332"/>
          </a:xfrm>
          <a:prstGeom prst="rect">
            <a:avLst/>
          </a:prstGeom>
          <a:noFill/>
        </p:spPr>
        <p:txBody>
          <a:bodyPr wrap="square">
            <a:spAutoFit/>
          </a:bodyPr>
          <a:lstStyle/>
          <a:p>
            <a:pPr algn="ctr">
              <a:tabLst>
                <a:tab pos="457200" algn="l"/>
                <a:tab pos="914400" algn="l"/>
                <a:tab pos="1371600" algn="l"/>
              </a:tabLst>
              <a:defRPr/>
            </a:pPr>
            <a:r>
              <a:rPr lang="en-US" b="0" dirty="0">
                <a:cs typeface="Times New Roman" pitchFamily="18" charset="0"/>
              </a:rPr>
              <a:t>Flight LAX - IST via FRA</a:t>
            </a:r>
            <a:endParaRPr lang="en-US" b="0" dirty="0">
              <a:latin typeface="+mn-lt"/>
              <a:cs typeface="Times New Roman" pitchFamily="18" charset="0"/>
            </a:endParaRPr>
          </a:p>
        </p:txBody>
      </p:sp>
      <p:grpSp>
        <p:nvGrpSpPr>
          <p:cNvPr id="8" name="Group 7">
            <a:extLst>
              <a:ext uri="{FF2B5EF4-FFF2-40B4-BE49-F238E27FC236}">
                <a16:creationId xmlns:a16="http://schemas.microsoft.com/office/drawing/2014/main" id="{D7AFC970-D460-4641-936F-EF903E227790}"/>
              </a:ext>
            </a:extLst>
          </p:cNvPr>
          <p:cNvGrpSpPr/>
          <p:nvPr/>
        </p:nvGrpSpPr>
        <p:grpSpPr>
          <a:xfrm>
            <a:off x="896121" y="3764123"/>
            <a:ext cx="3223317" cy="1850311"/>
            <a:chOff x="1421300" y="4651608"/>
            <a:chExt cx="2969610" cy="1296500"/>
          </a:xfrm>
        </p:grpSpPr>
        <p:cxnSp>
          <p:nvCxnSpPr>
            <p:cNvPr id="9" name="Straight Connector 8">
              <a:extLst>
                <a:ext uri="{FF2B5EF4-FFF2-40B4-BE49-F238E27FC236}">
                  <a16:creationId xmlns:a16="http://schemas.microsoft.com/office/drawing/2014/main" id="{42C585F0-E71F-4A98-BC00-DFAB86B2BA10}"/>
                </a:ext>
              </a:extLst>
            </p:cNvPr>
            <p:cNvCxnSpPr>
              <a:cxnSpLocks/>
            </p:cNvCxnSpPr>
            <p:nvPr/>
          </p:nvCxnSpPr>
          <p:spPr>
            <a:xfrm>
              <a:off x="1421300" y="4651608"/>
              <a:ext cx="2676148" cy="129650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Text Box 59">
              <a:extLst>
                <a:ext uri="{FF2B5EF4-FFF2-40B4-BE49-F238E27FC236}">
                  <a16:creationId xmlns:a16="http://schemas.microsoft.com/office/drawing/2014/main" id="{F3254F25-CB83-4A22-B0FF-09ADACD8FB61}"/>
                </a:ext>
              </a:extLst>
            </p:cNvPr>
            <p:cNvSpPr txBox="1"/>
            <p:nvPr/>
          </p:nvSpPr>
          <p:spPr>
            <a:xfrm>
              <a:off x="3970078" y="5694721"/>
              <a:ext cx="420832" cy="2286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400" i="1" dirty="0">
                  <a:solidFill>
                    <a:srgbClr val="C00000"/>
                  </a:solidFill>
                  <a:effectLst/>
                  <a:ea typeface="Calibri" panose="020F0502020204030204" pitchFamily="34" charset="0"/>
                  <a:cs typeface="Times New Roman" panose="02020603050405020304" pitchFamily="18" charset="0"/>
                </a:rPr>
                <a:t>D</a:t>
              </a:r>
              <a:endParaRPr lang="en-US" sz="1400" i="1" dirty="0">
                <a:effectLst/>
                <a:ea typeface="Calibri" panose="020F0502020204030204" pitchFamily="34" charset="0"/>
                <a:cs typeface="Times New Roman" panose="02020603050405020304" pitchFamily="18" charset="0"/>
              </a:endParaRPr>
            </a:p>
          </p:txBody>
        </p:sp>
      </p:grpSp>
      <p:grpSp>
        <p:nvGrpSpPr>
          <p:cNvPr id="11" name="Group 10">
            <a:extLst>
              <a:ext uri="{FF2B5EF4-FFF2-40B4-BE49-F238E27FC236}">
                <a16:creationId xmlns:a16="http://schemas.microsoft.com/office/drawing/2014/main" id="{563F1611-EFED-46D0-9ECD-DF1CB316A416}"/>
              </a:ext>
            </a:extLst>
          </p:cNvPr>
          <p:cNvGrpSpPr/>
          <p:nvPr/>
        </p:nvGrpSpPr>
        <p:grpSpPr>
          <a:xfrm>
            <a:off x="888950" y="3759502"/>
            <a:ext cx="2417926" cy="2423900"/>
            <a:chOff x="1383028" y="4602414"/>
            <a:chExt cx="2227612" cy="1698410"/>
          </a:xfrm>
        </p:grpSpPr>
        <p:cxnSp>
          <p:nvCxnSpPr>
            <p:cNvPr id="12" name="Straight Connector 11">
              <a:extLst>
                <a:ext uri="{FF2B5EF4-FFF2-40B4-BE49-F238E27FC236}">
                  <a16:creationId xmlns:a16="http://schemas.microsoft.com/office/drawing/2014/main" id="{C0EEF052-3413-42AD-BB28-CD1F14E6890D}"/>
                </a:ext>
              </a:extLst>
            </p:cNvPr>
            <p:cNvCxnSpPr>
              <a:cxnSpLocks/>
            </p:cNvCxnSpPr>
            <p:nvPr/>
          </p:nvCxnSpPr>
          <p:spPr>
            <a:xfrm>
              <a:off x="1383028" y="4602414"/>
              <a:ext cx="1699554" cy="1520385"/>
            </a:xfrm>
            <a:prstGeom prst="line">
              <a:avLst/>
            </a:prstGeom>
            <a:ln w="31750">
              <a:solidFill>
                <a:schemeClr val="accent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3" name="Text Box 60">
              <a:extLst>
                <a:ext uri="{FF2B5EF4-FFF2-40B4-BE49-F238E27FC236}">
                  <a16:creationId xmlns:a16="http://schemas.microsoft.com/office/drawing/2014/main" id="{90D95362-23C8-4D08-9ECC-660E2F594B7A}"/>
                </a:ext>
              </a:extLst>
            </p:cNvPr>
            <p:cNvSpPr txBox="1"/>
            <p:nvPr/>
          </p:nvSpPr>
          <p:spPr>
            <a:xfrm>
              <a:off x="3049531" y="6072224"/>
              <a:ext cx="561109" cy="2286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600" i="1" dirty="0">
                  <a:solidFill>
                    <a:srgbClr val="0070C0"/>
                  </a:solidFill>
                  <a:effectLst/>
                  <a:ea typeface="Calibri" panose="020F0502020204030204" pitchFamily="34" charset="0"/>
                  <a:cs typeface="Times New Roman" panose="02020603050405020304" pitchFamily="18" charset="0"/>
                </a:rPr>
                <a:t>MR</a:t>
              </a:r>
              <a:endParaRPr lang="en-US" sz="1600" i="1" dirty="0">
                <a:effectLst/>
                <a:ea typeface="Calibri" panose="020F0502020204030204" pitchFamily="34" charset="0"/>
                <a:cs typeface="Times New Roman" panose="02020603050405020304" pitchFamily="18" charset="0"/>
              </a:endParaRPr>
            </a:p>
          </p:txBody>
        </p:sp>
      </p:grpSp>
      <p:grpSp>
        <p:nvGrpSpPr>
          <p:cNvPr id="14" name="Group 13">
            <a:extLst>
              <a:ext uri="{FF2B5EF4-FFF2-40B4-BE49-F238E27FC236}">
                <a16:creationId xmlns:a16="http://schemas.microsoft.com/office/drawing/2014/main" id="{CE083BA2-AE87-42F2-B9BF-0EC633B9128C}"/>
              </a:ext>
            </a:extLst>
          </p:cNvPr>
          <p:cNvGrpSpPr/>
          <p:nvPr/>
        </p:nvGrpSpPr>
        <p:grpSpPr>
          <a:xfrm>
            <a:off x="527127" y="2161782"/>
            <a:ext cx="3804843" cy="4023734"/>
            <a:chOff x="-77932" y="0"/>
            <a:chExt cx="3505365" cy="2819402"/>
          </a:xfrm>
        </p:grpSpPr>
        <p:cxnSp>
          <p:nvCxnSpPr>
            <p:cNvPr id="15" name="Straight Arrow Connector 14">
              <a:extLst>
                <a:ext uri="{FF2B5EF4-FFF2-40B4-BE49-F238E27FC236}">
                  <a16:creationId xmlns:a16="http://schemas.microsoft.com/office/drawing/2014/main" id="{28299349-28A9-4676-A6FF-DDFBBF508492}"/>
                </a:ext>
              </a:extLst>
            </p:cNvPr>
            <p:cNvCxnSpPr>
              <a:cxnSpLocks/>
            </p:cNvCxnSpPr>
            <p:nvPr/>
          </p:nvCxnSpPr>
          <p:spPr>
            <a:xfrm>
              <a:off x="236220" y="2522220"/>
              <a:ext cx="291046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A732AE0-9649-46B4-8481-7CBB5C52396C}"/>
                </a:ext>
              </a:extLst>
            </p:cNvPr>
            <p:cNvCxnSpPr/>
            <p:nvPr/>
          </p:nvCxnSpPr>
          <p:spPr>
            <a:xfrm flipV="1">
              <a:off x="236220" y="68580"/>
              <a:ext cx="0" cy="24536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 Box 24579">
              <a:extLst>
                <a:ext uri="{FF2B5EF4-FFF2-40B4-BE49-F238E27FC236}">
                  <a16:creationId xmlns:a16="http://schemas.microsoft.com/office/drawing/2014/main" id="{BE197A23-0610-4BA7-AEB3-8CEE97B2B9FE}"/>
                </a:ext>
              </a:extLst>
            </p:cNvPr>
            <p:cNvSpPr txBox="1"/>
            <p:nvPr/>
          </p:nvSpPr>
          <p:spPr>
            <a:xfrm>
              <a:off x="-77932" y="0"/>
              <a:ext cx="420832" cy="2286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600" i="1" dirty="0">
                  <a:effectLst/>
                  <a:ea typeface="Calibri" panose="020F0502020204030204" pitchFamily="34" charset="0"/>
                  <a:cs typeface="Times New Roman" panose="02020603050405020304" pitchFamily="18" charset="0"/>
                </a:rPr>
                <a:t>P</a:t>
              </a:r>
            </a:p>
          </p:txBody>
        </p:sp>
        <p:sp>
          <p:nvSpPr>
            <p:cNvPr id="18" name="Text Box 24580">
              <a:extLst>
                <a:ext uri="{FF2B5EF4-FFF2-40B4-BE49-F238E27FC236}">
                  <a16:creationId xmlns:a16="http://schemas.microsoft.com/office/drawing/2014/main" id="{3E797A4B-F51E-43E5-B35A-A354000A6596}"/>
                </a:ext>
              </a:extLst>
            </p:cNvPr>
            <p:cNvSpPr txBox="1"/>
            <p:nvPr/>
          </p:nvSpPr>
          <p:spPr>
            <a:xfrm>
              <a:off x="2955166" y="2522222"/>
              <a:ext cx="472267" cy="29718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600" i="1" dirty="0">
                  <a:effectLst/>
                  <a:ea typeface="Calibri" panose="020F0502020204030204" pitchFamily="34" charset="0"/>
                  <a:cs typeface="Times New Roman" panose="02020603050405020304" pitchFamily="18" charset="0"/>
                </a:rPr>
                <a:t>Q</a:t>
              </a:r>
            </a:p>
          </p:txBody>
        </p:sp>
      </p:grpSp>
      <p:grpSp>
        <p:nvGrpSpPr>
          <p:cNvPr id="26" name="Group 25">
            <a:extLst>
              <a:ext uri="{FF2B5EF4-FFF2-40B4-BE49-F238E27FC236}">
                <a16:creationId xmlns:a16="http://schemas.microsoft.com/office/drawing/2014/main" id="{65F569EF-EB66-4EEF-8BE4-1BF442F1AAA2}"/>
              </a:ext>
            </a:extLst>
          </p:cNvPr>
          <p:cNvGrpSpPr/>
          <p:nvPr/>
        </p:nvGrpSpPr>
        <p:grpSpPr>
          <a:xfrm>
            <a:off x="871199" y="4211932"/>
            <a:ext cx="3294791" cy="326249"/>
            <a:chOff x="1327514" y="5009607"/>
            <a:chExt cx="3035459" cy="228600"/>
          </a:xfrm>
        </p:grpSpPr>
        <p:cxnSp>
          <p:nvCxnSpPr>
            <p:cNvPr id="27" name="Straight Connector 26">
              <a:extLst>
                <a:ext uri="{FF2B5EF4-FFF2-40B4-BE49-F238E27FC236}">
                  <a16:creationId xmlns:a16="http://schemas.microsoft.com/office/drawing/2014/main" id="{15942651-F9CF-433C-8F60-CECC530572E3}"/>
                </a:ext>
              </a:extLst>
            </p:cNvPr>
            <p:cNvCxnSpPr>
              <a:cxnSpLocks/>
            </p:cNvCxnSpPr>
            <p:nvPr/>
          </p:nvCxnSpPr>
          <p:spPr>
            <a:xfrm>
              <a:off x="1327514" y="5143500"/>
              <a:ext cx="2455032" cy="7620"/>
            </a:xfrm>
            <a:prstGeom prst="line">
              <a:avLst/>
            </a:prstGeom>
            <a:ln w="19050">
              <a:solidFill>
                <a:srgbClr val="00B050"/>
              </a:solidFill>
              <a:prstDash val="solid"/>
            </a:ln>
          </p:spPr>
          <p:style>
            <a:lnRef idx="1">
              <a:schemeClr val="accent1"/>
            </a:lnRef>
            <a:fillRef idx="0">
              <a:schemeClr val="accent1"/>
            </a:fillRef>
            <a:effectRef idx="0">
              <a:schemeClr val="accent1"/>
            </a:effectRef>
            <a:fontRef idx="minor">
              <a:schemeClr val="tx1"/>
            </a:fontRef>
          </p:style>
        </p:cxnSp>
        <p:sp>
          <p:nvSpPr>
            <p:cNvPr id="28" name="Text Box 60">
              <a:extLst>
                <a:ext uri="{FF2B5EF4-FFF2-40B4-BE49-F238E27FC236}">
                  <a16:creationId xmlns:a16="http://schemas.microsoft.com/office/drawing/2014/main" id="{1768EE5C-9A57-4F65-A7AD-CE4FB991DFF8}"/>
                </a:ext>
              </a:extLst>
            </p:cNvPr>
            <p:cNvSpPr txBox="1"/>
            <p:nvPr/>
          </p:nvSpPr>
          <p:spPr>
            <a:xfrm>
              <a:off x="3801864" y="5009607"/>
              <a:ext cx="561109" cy="2286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600" i="1" dirty="0">
                  <a:solidFill>
                    <a:srgbClr val="00B050"/>
                  </a:solidFill>
                  <a:effectLst/>
                  <a:ea typeface="Calibri" panose="020F0502020204030204" pitchFamily="34" charset="0"/>
                  <a:cs typeface="Times New Roman" panose="02020603050405020304" pitchFamily="18" charset="0"/>
                </a:rPr>
                <a:t>MC</a:t>
              </a:r>
            </a:p>
          </p:txBody>
        </p:sp>
      </p:grpSp>
      <p:grpSp>
        <p:nvGrpSpPr>
          <p:cNvPr id="76" name="Group 75">
            <a:extLst>
              <a:ext uri="{FF2B5EF4-FFF2-40B4-BE49-F238E27FC236}">
                <a16:creationId xmlns:a16="http://schemas.microsoft.com/office/drawing/2014/main" id="{8BB4F2B3-D43A-4ED9-A1DB-5CAB2815B8D1}"/>
              </a:ext>
            </a:extLst>
          </p:cNvPr>
          <p:cNvGrpSpPr/>
          <p:nvPr/>
        </p:nvGrpSpPr>
        <p:grpSpPr>
          <a:xfrm>
            <a:off x="504115" y="3945915"/>
            <a:ext cx="1814289" cy="2260766"/>
            <a:chOff x="504115" y="3945915"/>
            <a:chExt cx="1814289" cy="2260766"/>
          </a:xfrm>
        </p:grpSpPr>
        <p:cxnSp>
          <p:nvCxnSpPr>
            <p:cNvPr id="20" name="Straight Connector 19">
              <a:extLst>
                <a:ext uri="{FF2B5EF4-FFF2-40B4-BE49-F238E27FC236}">
                  <a16:creationId xmlns:a16="http://schemas.microsoft.com/office/drawing/2014/main" id="{97191E1F-8151-4356-81D2-A7BD7AD6980E}"/>
                </a:ext>
              </a:extLst>
            </p:cNvPr>
            <p:cNvCxnSpPr>
              <a:cxnSpLocks/>
            </p:cNvCxnSpPr>
            <p:nvPr/>
          </p:nvCxnSpPr>
          <p:spPr>
            <a:xfrm flipH="1">
              <a:off x="1447744" y="4103577"/>
              <a:ext cx="2911" cy="1725024"/>
            </a:xfrm>
            <a:prstGeom prst="line">
              <a:avLst/>
            </a:prstGeom>
            <a:ln w="12700">
              <a:solidFill>
                <a:srgbClr val="00B050"/>
              </a:solidFill>
              <a:prstDash val="dash"/>
            </a:ln>
          </p:spPr>
          <p:style>
            <a:lnRef idx="1">
              <a:schemeClr val="accent1"/>
            </a:lnRef>
            <a:fillRef idx="0">
              <a:schemeClr val="accent1"/>
            </a:fillRef>
            <a:effectRef idx="0">
              <a:schemeClr val="accent1"/>
            </a:effectRef>
            <a:fontRef idx="minor">
              <a:schemeClr val="tx1"/>
            </a:fontRef>
          </p:style>
        </p:cxnSp>
        <p:sp>
          <p:nvSpPr>
            <p:cNvPr id="21" name="Text Box 24590">
              <a:extLst>
                <a:ext uri="{FF2B5EF4-FFF2-40B4-BE49-F238E27FC236}">
                  <a16:creationId xmlns:a16="http://schemas.microsoft.com/office/drawing/2014/main" id="{6EDE5D7D-14E7-4814-9535-54815DAC8E32}"/>
                </a:ext>
              </a:extLst>
            </p:cNvPr>
            <p:cNvSpPr txBox="1"/>
            <p:nvPr/>
          </p:nvSpPr>
          <p:spPr>
            <a:xfrm>
              <a:off x="1262723" y="5815183"/>
              <a:ext cx="1055681" cy="391498"/>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400" i="1" dirty="0">
                  <a:solidFill>
                    <a:schemeClr val="tx1"/>
                  </a:solidFill>
                  <a:effectLst/>
                  <a:ea typeface="Calibri" panose="020F0502020204030204" pitchFamily="34" charset="0"/>
                  <a:cs typeface="Times New Roman" panose="02020603050405020304" pitchFamily="18" charset="0"/>
                </a:rPr>
                <a:t>Q*</a:t>
              </a:r>
            </a:p>
          </p:txBody>
        </p:sp>
        <p:cxnSp>
          <p:nvCxnSpPr>
            <p:cNvPr id="22" name="Straight Connector 21">
              <a:extLst>
                <a:ext uri="{FF2B5EF4-FFF2-40B4-BE49-F238E27FC236}">
                  <a16:creationId xmlns:a16="http://schemas.microsoft.com/office/drawing/2014/main" id="{4E121819-4815-492D-ABB6-89A596B35C3B}"/>
                </a:ext>
              </a:extLst>
            </p:cNvPr>
            <p:cNvCxnSpPr>
              <a:cxnSpLocks/>
            </p:cNvCxnSpPr>
            <p:nvPr/>
          </p:nvCxnSpPr>
          <p:spPr>
            <a:xfrm>
              <a:off x="858889" y="4103577"/>
              <a:ext cx="569861" cy="11223"/>
            </a:xfrm>
            <a:prstGeom prst="line">
              <a:avLst/>
            </a:prstGeom>
            <a:ln w="19050" cmpd="sng">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3" name="Text Box 24592">
              <a:extLst>
                <a:ext uri="{FF2B5EF4-FFF2-40B4-BE49-F238E27FC236}">
                  <a16:creationId xmlns:a16="http://schemas.microsoft.com/office/drawing/2014/main" id="{BD4909E3-8EE9-4C5C-AB43-7273D2979A2A}"/>
                </a:ext>
              </a:extLst>
            </p:cNvPr>
            <p:cNvSpPr txBox="1"/>
            <p:nvPr/>
          </p:nvSpPr>
          <p:spPr>
            <a:xfrm>
              <a:off x="504115" y="3945915"/>
              <a:ext cx="460026" cy="391498"/>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400" i="1" dirty="0">
                  <a:solidFill>
                    <a:schemeClr val="tx1"/>
                  </a:solidFill>
                  <a:effectLst/>
                  <a:ea typeface="Calibri" panose="020F0502020204030204" pitchFamily="34" charset="0"/>
                  <a:cs typeface="Times New Roman" panose="02020603050405020304" pitchFamily="18" charset="0"/>
                </a:rPr>
                <a:t>P*</a:t>
              </a:r>
            </a:p>
          </p:txBody>
        </p:sp>
        <p:grpSp>
          <p:nvGrpSpPr>
            <p:cNvPr id="29" name="Group 28">
              <a:extLst>
                <a:ext uri="{FF2B5EF4-FFF2-40B4-BE49-F238E27FC236}">
                  <a16:creationId xmlns:a16="http://schemas.microsoft.com/office/drawing/2014/main" id="{DC0BB07F-6F90-4436-8FBD-D4692F008125}"/>
                </a:ext>
              </a:extLst>
            </p:cNvPr>
            <p:cNvGrpSpPr/>
            <p:nvPr/>
          </p:nvGrpSpPr>
          <p:grpSpPr>
            <a:xfrm>
              <a:off x="516038" y="4449196"/>
              <a:ext cx="910064" cy="583974"/>
              <a:chOff x="1285803" y="4703013"/>
              <a:chExt cx="910064" cy="583974"/>
            </a:xfrm>
          </p:grpSpPr>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8AFB977-86F8-47EF-992C-980E08936D5D}"/>
                      </a:ext>
                    </a:extLst>
                  </p:cNvPr>
                  <p:cNvSpPr txBox="1"/>
                  <p:nvPr/>
                </p:nvSpPr>
                <p:spPr>
                  <a:xfrm>
                    <a:off x="1285803" y="5009988"/>
                    <a:ext cx="910064" cy="276999"/>
                  </a:xfrm>
                  <a:prstGeom prst="rect">
                    <a:avLst/>
                  </a:prstGeom>
                  <a:noFill/>
                  <a:ln w="19050">
                    <a:solidFill>
                      <a:srgbClr val="0070C0"/>
                    </a:solidFill>
                  </a:ln>
                </p:spPr>
                <p:txBody>
                  <a:bodyPr wrap="square">
                    <a:spAutoFit/>
                  </a:bodyPr>
                  <a:lstStyle/>
                  <a:p>
                    <a:pPr>
                      <a:tabLst>
                        <a:tab pos="457200" algn="l"/>
                        <a:tab pos="914400" algn="l"/>
                        <a:tab pos="1371600" algn="l"/>
                      </a:tabLst>
                      <a:defRPr/>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cs typeface="Times New Roman" pitchFamily="18" charset="0"/>
                            </a:rPr>
                            <m:t>𝑀𝑅</m:t>
                          </m:r>
                          <m:r>
                            <a:rPr lang="en-US" sz="1200" b="0" i="1" smtClean="0">
                              <a:latin typeface="Cambria Math" panose="02040503050406030204" pitchFamily="18" charset="0"/>
                              <a:cs typeface="Times New Roman" pitchFamily="18" charset="0"/>
                            </a:rPr>
                            <m:t>=</m:t>
                          </m:r>
                          <m:r>
                            <a:rPr lang="en-US" sz="1200" b="0" i="1" smtClean="0">
                              <a:latin typeface="Cambria Math" panose="02040503050406030204" pitchFamily="18" charset="0"/>
                              <a:cs typeface="Times New Roman" pitchFamily="18" charset="0"/>
                            </a:rPr>
                            <m:t>𝑀𝐶</m:t>
                          </m:r>
                        </m:oMath>
                      </m:oMathPara>
                    </a14:m>
                    <a:endParaRPr lang="en-US" sz="1200" b="0" dirty="0">
                      <a:cs typeface="Times New Roman" pitchFamily="18" charset="0"/>
                    </a:endParaRPr>
                  </a:p>
                </p:txBody>
              </p:sp>
            </mc:Choice>
            <mc:Fallback xmlns="">
              <p:sp>
                <p:nvSpPr>
                  <p:cNvPr id="30" name="TextBox 29">
                    <a:extLst>
                      <a:ext uri="{FF2B5EF4-FFF2-40B4-BE49-F238E27FC236}">
                        <a16:creationId xmlns:a16="http://schemas.microsoft.com/office/drawing/2014/main" id="{18AFB977-86F8-47EF-992C-980E08936D5D}"/>
                      </a:ext>
                    </a:extLst>
                  </p:cNvPr>
                  <p:cNvSpPr txBox="1">
                    <a:spLocks noRot="1" noChangeAspect="1" noMove="1" noResize="1" noEditPoints="1" noAdjustHandles="1" noChangeArrowheads="1" noChangeShapeType="1" noTextEdit="1"/>
                  </p:cNvSpPr>
                  <p:nvPr/>
                </p:nvSpPr>
                <p:spPr>
                  <a:xfrm>
                    <a:off x="1285803" y="5009988"/>
                    <a:ext cx="910064" cy="276999"/>
                  </a:xfrm>
                  <a:prstGeom prst="rect">
                    <a:avLst/>
                  </a:prstGeom>
                  <a:blipFill>
                    <a:blip r:embed="rId4"/>
                    <a:stretch>
                      <a:fillRect/>
                    </a:stretch>
                  </a:blipFill>
                  <a:ln w="19050">
                    <a:solidFill>
                      <a:srgbClr val="0070C0"/>
                    </a:solidFill>
                  </a:ln>
                </p:spPr>
                <p:txBody>
                  <a:bodyPr/>
                  <a:lstStyle/>
                  <a:p>
                    <a:r>
                      <a:rPr lang="en-US">
                        <a:noFill/>
                      </a:rPr>
                      <a:t> </a:t>
                    </a:r>
                  </a:p>
                </p:txBody>
              </p:sp>
            </mc:Fallback>
          </mc:AlternateContent>
          <p:cxnSp>
            <p:nvCxnSpPr>
              <p:cNvPr id="31" name="Straight Arrow Connector 30">
                <a:extLst>
                  <a:ext uri="{FF2B5EF4-FFF2-40B4-BE49-F238E27FC236}">
                    <a16:creationId xmlns:a16="http://schemas.microsoft.com/office/drawing/2014/main" id="{B5D16DB0-1360-41C0-A5DD-662257D1B3E2}"/>
                  </a:ext>
                </a:extLst>
              </p:cNvPr>
              <p:cNvCxnSpPr>
                <a:cxnSpLocks/>
              </p:cNvCxnSpPr>
              <p:nvPr/>
            </p:nvCxnSpPr>
            <p:spPr>
              <a:xfrm flipV="1">
                <a:off x="1884526" y="4703013"/>
                <a:ext cx="311341" cy="3069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sp>
        <p:nvSpPr>
          <p:cNvPr id="37" name="TextBox 36">
            <a:extLst>
              <a:ext uri="{FF2B5EF4-FFF2-40B4-BE49-F238E27FC236}">
                <a16:creationId xmlns:a16="http://schemas.microsoft.com/office/drawing/2014/main" id="{4821B22D-C12F-4849-8C50-3FAA2473EB85}"/>
              </a:ext>
            </a:extLst>
          </p:cNvPr>
          <p:cNvSpPr txBox="1"/>
          <p:nvPr/>
        </p:nvSpPr>
        <p:spPr>
          <a:xfrm>
            <a:off x="4646359" y="1716426"/>
            <a:ext cx="3452610" cy="369332"/>
          </a:xfrm>
          <a:prstGeom prst="rect">
            <a:avLst/>
          </a:prstGeom>
          <a:noFill/>
        </p:spPr>
        <p:txBody>
          <a:bodyPr wrap="square">
            <a:spAutoFit/>
          </a:bodyPr>
          <a:lstStyle/>
          <a:p>
            <a:pPr algn="ctr">
              <a:tabLst>
                <a:tab pos="457200" algn="l"/>
                <a:tab pos="914400" algn="l"/>
                <a:tab pos="1371600" algn="l"/>
              </a:tabLst>
              <a:defRPr/>
            </a:pPr>
            <a:r>
              <a:rPr lang="en-US" b="0" dirty="0">
                <a:cs typeface="Times New Roman" pitchFamily="18" charset="0"/>
              </a:rPr>
              <a:t>Direct Flight LAX - FRA</a:t>
            </a:r>
            <a:endParaRPr lang="en-US" b="0" dirty="0">
              <a:latin typeface="+mn-lt"/>
              <a:cs typeface="Times New Roman" pitchFamily="18" charset="0"/>
            </a:endParaRPr>
          </a:p>
        </p:txBody>
      </p:sp>
      <p:grpSp>
        <p:nvGrpSpPr>
          <p:cNvPr id="38" name="Group 37">
            <a:extLst>
              <a:ext uri="{FF2B5EF4-FFF2-40B4-BE49-F238E27FC236}">
                <a16:creationId xmlns:a16="http://schemas.microsoft.com/office/drawing/2014/main" id="{1F4C3057-2EEA-4884-BF1B-CF85DFBFF659}"/>
              </a:ext>
            </a:extLst>
          </p:cNvPr>
          <p:cNvGrpSpPr/>
          <p:nvPr/>
        </p:nvGrpSpPr>
        <p:grpSpPr>
          <a:xfrm>
            <a:off x="5236920" y="1994864"/>
            <a:ext cx="3132683" cy="3529276"/>
            <a:chOff x="1593762" y="3367672"/>
            <a:chExt cx="2886111" cy="2472939"/>
          </a:xfrm>
        </p:grpSpPr>
        <p:cxnSp>
          <p:nvCxnSpPr>
            <p:cNvPr id="39" name="Straight Connector 38">
              <a:extLst>
                <a:ext uri="{FF2B5EF4-FFF2-40B4-BE49-F238E27FC236}">
                  <a16:creationId xmlns:a16="http://schemas.microsoft.com/office/drawing/2014/main" id="{C57689F5-2B53-4E9E-B5DA-85F7601E4594}"/>
                </a:ext>
              </a:extLst>
            </p:cNvPr>
            <p:cNvCxnSpPr>
              <a:cxnSpLocks/>
            </p:cNvCxnSpPr>
            <p:nvPr/>
          </p:nvCxnSpPr>
          <p:spPr>
            <a:xfrm>
              <a:off x="1593762" y="3367672"/>
              <a:ext cx="2522583" cy="2472939"/>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sp>
          <p:nvSpPr>
            <p:cNvPr id="40" name="Text Box 59">
              <a:extLst>
                <a:ext uri="{FF2B5EF4-FFF2-40B4-BE49-F238E27FC236}">
                  <a16:creationId xmlns:a16="http://schemas.microsoft.com/office/drawing/2014/main" id="{1C83F272-FB2D-4363-B39B-647B9CFE2F96}"/>
                </a:ext>
              </a:extLst>
            </p:cNvPr>
            <p:cNvSpPr txBox="1"/>
            <p:nvPr/>
          </p:nvSpPr>
          <p:spPr>
            <a:xfrm>
              <a:off x="4059041" y="5597976"/>
              <a:ext cx="420832" cy="2286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400" i="1" dirty="0">
                  <a:solidFill>
                    <a:srgbClr val="C00000"/>
                  </a:solidFill>
                  <a:effectLst/>
                  <a:ea typeface="Calibri" panose="020F0502020204030204" pitchFamily="34" charset="0"/>
                  <a:cs typeface="Times New Roman" panose="02020603050405020304" pitchFamily="18" charset="0"/>
                </a:rPr>
                <a:t>D</a:t>
              </a:r>
              <a:endParaRPr lang="en-US" sz="1400" i="1" dirty="0">
                <a:effectLst/>
                <a:ea typeface="Calibri" panose="020F0502020204030204" pitchFamily="34" charset="0"/>
                <a:cs typeface="Times New Roman" panose="02020603050405020304" pitchFamily="18" charset="0"/>
              </a:endParaRPr>
            </a:p>
          </p:txBody>
        </p:sp>
      </p:grpSp>
      <p:grpSp>
        <p:nvGrpSpPr>
          <p:cNvPr id="41" name="Group 40">
            <a:extLst>
              <a:ext uri="{FF2B5EF4-FFF2-40B4-BE49-F238E27FC236}">
                <a16:creationId xmlns:a16="http://schemas.microsoft.com/office/drawing/2014/main" id="{38BC1E76-917D-4E1D-BD41-F4A563EC9A04}"/>
              </a:ext>
            </a:extLst>
          </p:cNvPr>
          <p:cNvGrpSpPr/>
          <p:nvPr/>
        </p:nvGrpSpPr>
        <p:grpSpPr>
          <a:xfrm>
            <a:off x="5086394" y="2132180"/>
            <a:ext cx="2245948" cy="4045494"/>
            <a:chOff x="1455084" y="3458795"/>
            <a:chExt cx="2069170" cy="2834649"/>
          </a:xfrm>
        </p:grpSpPr>
        <p:cxnSp>
          <p:nvCxnSpPr>
            <p:cNvPr id="42" name="Straight Connector 41">
              <a:extLst>
                <a:ext uri="{FF2B5EF4-FFF2-40B4-BE49-F238E27FC236}">
                  <a16:creationId xmlns:a16="http://schemas.microsoft.com/office/drawing/2014/main" id="{71F818F4-577E-4476-9B17-BC62AD1B70B4}"/>
                </a:ext>
              </a:extLst>
            </p:cNvPr>
            <p:cNvCxnSpPr>
              <a:cxnSpLocks/>
            </p:cNvCxnSpPr>
            <p:nvPr/>
          </p:nvCxnSpPr>
          <p:spPr>
            <a:xfrm>
              <a:off x="1455084" y="3458795"/>
              <a:ext cx="1507538" cy="2660639"/>
            </a:xfrm>
            <a:prstGeom prst="line">
              <a:avLst/>
            </a:prstGeom>
            <a:ln w="31750">
              <a:solidFill>
                <a:schemeClr val="accent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43" name="Text Box 60">
              <a:extLst>
                <a:ext uri="{FF2B5EF4-FFF2-40B4-BE49-F238E27FC236}">
                  <a16:creationId xmlns:a16="http://schemas.microsoft.com/office/drawing/2014/main" id="{EA53AA5E-2DA7-44FA-9471-6BD396A9F940}"/>
                </a:ext>
              </a:extLst>
            </p:cNvPr>
            <p:cNvSpPr txBox="1"/>
            <p:nvPr/>
          </p:nvSpPr>
          <p:spPr>
            <a:xfrm>
              <a:off x="2963145" y="6064844"/>
              <a:ext cx="561109" cy="2286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600" i="1" dirty="0">
                  <a:solidFill>
                    <a:srgbClr val="0070C0"/>
                  </a:solidFill>
                  <a:effectLst/>
                  <a:ea typeface="Calibri" panose="020F0502020204030204" pitchFamily="34" charset="0"/>
                  <a:cs typeface="Times New Roman" panose="02020603050405020304" pitchFamily="18" charset="0"/>
                </a:rPr>
                <a:t>MR</a:t>
              </a:r>
              <a:endParaRPr lang="en-US" sz="1600" i="1" dirty="0">
                <a:effectLst/>
                <a:ea typeface="Calibri" panose="020F0502020204030204" pitchFamily="34" charset="0"/>
                <a:cs typeface="Times New Roman" panose="02020603050405020304" pitchFamily="18" charset="0"/>
              </a:endParaRPr>
            </a:p>
          </p:txBody>
        </p:sp>
      </p:grpSp>
      <p:grpSp>
        <p:nvGrpSpPr>
          <p:cNvPr id="44" name="Group 43">
            <a:extLst>
              <a:ext uri="{FF2B5EF4-FFF2-40B4-BE49-F238E27FC236}">
                <a16:creationId xmlns:a16="http://schemas.microsoft.com/office/drawing/2014/main" id="{BC839CAB-180A-4083-A868-C6865E370595}"/>
              </a:ext>
            </a:extLst>
          </p:cNvPr>
          <p:cNvGrpSpPr/>
          <p:nvPr/>
        </p:nvGrpSpPr>
        <p:grpSpPr>
          <a:xfrm>
            <a:off x="4646359" y="2166583"/>
            <a:ext cx="3804843" cy="4023734"/>
            <a:chOff x="-77932" y="0"/>
            <a:chExt cx="3505365" cy="2819402"/>
          </a:xfrm>
        </p:grpSpPr>
        <p:cxnSp>
          <p:nvCxnSpPr>
            <p:cNvPr id="45" name="Straight Arrow Connector 44">
              <a:extLst>
                <a:ext uri="{FF2B5EF4-FFF2-40B4-BE49-F238E27FC236}">
                  <a16:creationId xmlns:a16="http://schemas.microsoft.com/office/drawing/2014/main" id="{BCB322F4-6A0C-432C-946D-C05FB52D4953}"/>
                </a:ext>
              </a:extLst>
            </p:cNvPr>
            <p:cNvCxnSpPr>
              <a:cxnSpLocks/>
            </p:cNvCxnSpPr>
            <p:nvPr/>
          </p:nvCxnSpPr>
          <p:spPr>
            <a:xfrm>
              <a:off x="236220" y="2522220"/>
              <a:ext cx="291046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424F28-9158-4C43-8F1D-D6BF1DBA665E}"/>
                </a:ext>
              </a:extLst>
            </p:cNvPr>
            <p:cNvCxnSpPr/>
            <p:nvPr/>
          </p:nvCxnSpPr>
          <p:spPr>
            <a:xfrm flipV="1">
              <a:off x="236220" y="68580"/>
              <a:ext cx="0" cy="24536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Text Box 24579">
              <a:extLst>
                <a:ext uri="{FF2B5EF4-FFF2-40B4-BE49-F238E27FC236}">
                  <a16:creationId xmlns:a16="http://schemas.microsoft.com/office/drawing/2014/main" id="{8AE93142-BFBB-4CDB-88EC-22D7DCFC77DE}"/>
                </a:ext>
              </a:extLst>
            </p:cNvPr>
            <p:cNvSpPr txBox="1"/>
            <p:nvPr/>
          </p:nvSpPr>
          <p:spPr>
            <a:xfrm>
              <a:off x="-77932" y="0"/>
              <a:ext cx="420832" cy="2286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600" i="1" dirty="0">
                  <a:effectLst/>
                  <a:ea typeface="Calibri" panose="020F0502020204030204" pitchFamily="34" charset="0"/>
                  <a:cs typeface="Times New Roman" panose="02020603050405020304" pitchFamily="18" charset="0"/>
                </a:rPr>
                <a:t>P</a:t>
              </a:r>
            </a:p>
          </p:txBody>
        </p:sp>
        <p:sp>
          <p:nvSpPr>
            <p:cNvPr id="48" name="Text Box 24580">
              <a:extLst>
                <a:ext uri="{FF2B5EF4-FFF2-40B4-BE49-F238E27FC236}">
                  <a16:creationId xmlns:a16="http://schemas.microsoft.com/office/drawing/2014/main" id="{4E1D579E-D0AB-40B8-A35E-C7291A301161}"/>
                </a:ext>
              </a:extLst>
            </p:cNvPr>
            <p:cNvSpPr txBox="1"/>
            <p:nvPr/>
          </p:nvSpPr>
          <p:spPr>
            <a:xfrm>
              <a:off x="2955166" y="2522222"/>
              <a:ext cx="472267" cy="29718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600" i="1" dirty="0">
                  <a:effectLst/>
                  <a:ea typeface="Calibri" panose="020F0502020204030204" pitchFamily="34" charset="0"/>
                  <a:cs typeface="Times New Roman" panose="02020603050405020304" pitchFamily="18" charset="0"/>
                </a:rPr>
                <a:t>Q</a:t>
              </a:r>
            </a:p>
          </p:txBody>
        </p:sp>
      </p:grpSp>
      <p:grpSp>
        <p:nvGrpSpPr>
          <p:cNvPr id="54" name="Group 53">
            <a:extLst>
              <a:ext uri="{FF2B5EF4-FFF2-40B4-BE49-F238E27FC236}">
                <a16:creationId xmlns:a16="http://schemas.microsoft.com/office/drawing/2014/main" id="{A890CE1E-F0FD-4731-A3B6-1962E4E57FAF}"/>
              </a:ext>
            </a:extLst>
          </p:cNvPr>
          <p:cNvGrpSpPr/>
          <p:nvPr/>
        </p:nvGrpSpPr>
        <p:grpSpPr>
          <a:xfrm>
            <a:off x="4981091" y="4578059"/>
            <a:ext cx="3294791" cy="326249"/>
            <a:chOff x="1327514" y="5009607"/>
            <a:chExt cx="3035459" cy="228600"/>
          </a:xfrm>
        </p:grpSpPr>
        <p:cxnSp>
          <p:nvCxnSpPr>
            <p:cNvPr id="55" name="Straight Connector 54">
              <a:extLst>
                <a:ext uri="{FF2B5EF4-FFF2-40B4-BE49-F238E27FC236}">
                  <a16:creationId xmlns:a16="http://schemas.microsoft.com/office/drawing/2014/main" id="{F9671B5D-2A3D-4D15-816D-5D3D9DC5AEF5}"/>
                </a:ext>
              </a:extLst>
            </p:cNvPr>
            <p:cNvCxnSpPr>
              <a:cxnSpLocks/>
            </p:cNvCxnSpPr>
            <p:nvPr/>
          </p:nvCxnSpPr>
          <p:spPr>
            <a:xfrm>
              <a:off x="1327514" y="5143500"/>
              <a:ext cx="2455032" cy="7620"/>
            </a:xfrm>
            <a:prstGeom prst="line">
              <a:avLst/>
            </a:prstGeom>
            <a:ln w="19050">
              <a:solidFill>
                <a:srgbClr val="00B050"/>
              </a:solidFill>
              <a:prstDash val="solid"/>
            </a:ln>
          </p:spPr>
          <p:style>
            <a:lnRef idx="1">
              <a:schemeClr val="accent1"/>
            </a:lnRef>
            <a:fillRef idx="0">
              <a:schemeClr val="accent1"/>
            </a:fillRef>
            <a:effectRef idx="0">
              <a:schemeClr val="accent1"/>
            </a:effectRef>
            <a:fontRef idx="minor">
              <a:schemeClr val="tx1"/>
            </a:fontRef>
          </p:style>
        </p:cxnSp>
        <p:sp>
          <p:nvSpPr>
            <p:cNvPr id="56" name="Text Box 60">
              <a:extLst>
                <a:ext uri="{FF2B5EF4-FFF2-40B4-BE49-F238E27FC236}">
                  <a16:creationId xmlns:a16="http://schemas.microsoft.com/office/drawing/2014/main" id="{3CBB2928-2A53-4563-BC1B-FCC35E1899B9}"/>
                </a:ext>
              </a:extLst>
            </p:cNvPr>
            <p:cNvSpPr txBox="1"/>
            <p:nvPr/>
          </p:nvSpPr>
          <p:spPr>
            <a:xfrm>
              <a:off x="3801864" y="5009607"/>
              <a:ext cx="561109" cy="2286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600" i="1" dirty="0">
                  <a:solidFill>
                    <a:srgbClr val="00B050"/>
                  </a:solidFill>
                  <a:effectLst/>
                  <a:ea typeface="Calibri" panose="020F0502020204030204" pitchFamily="34" charset="0"/>
                  <a:cs typeface="Times New Roman" panose="02020603050405020304" pitchFamily="18" charset="0"/>
                </a:rPr>
                <a:t>MC</a:t>
              </a:r>
            </a:p>
          </p:txBody>
        </p:sp>
      </p:grpSp>
      <p:grpSp>
        <p:nvGrpSpPr>
          <p:cNvPr id="78" name="Group 77">
            <a:extLst>
              <a:ext uri="{FF2B5EF4-FFF2-40B4-BE49-F238E27FC236}">
                <a16:creationId xmlns:a16="http://schemas.microsoft.com/office/drawing/2014/main" id="{0C6644B1-4BA2-4617-9279-073680525F19}"/>
              </a:ext>
            </a:extLst>
          </p:cNvPr>
          <p:cNvGrpSpPr/>
          <p:nvPr/>
        </p:nvGrpSpPr>
        <p:grpSpPr>
          <a:xfrm>
            <a:off x="4625800" y="3144052"/>
            <a:ext cx="2468949" cy="3054900"/>
            <a:chOff x="4625800" y="3144052"/>
            <a:chExt cx="2468949" cy="3054900"/>
          </a:xfrm>
        </p:grpSpPr>
        <p:grpSp>
          <p:nvGrpSpPr>
            <p:cNvPr id="49" name="Group 48">
              <a:extLst>
                <a:ext uri="{FF2B5EF4-FFF2-40B4-BE49-F238E27FC236}">
                  <a16:creationId xmlns:a16="http://schemas.microsoft.com/office/drawing/2014/main" id="{97555E64-F499-4A25-AEB3-F85B432E92BB}"/>
                </a:ext>
              </a:extLst>
            </p:cNvPr>
            <p:cNvGrpSpPr/>
            <p:nvPr/>
          </p:nvGrpSpPr>
          <p:grpSpPr>
            <a:xfrm>
              <a:off x="4625800" y="3144052"/>
              <a:ext cx="2468949" cy="3054900"/>
              <a:chOff x="893782" y="4092585"/>
              <a:chExt cx="2274619" cy="2140546"/>
            </a:xfrm>
          </p:grpSpPr>
          <p:cxnSp>
            <p:nvCxnSpPr>
              <p:cNvPr id="50" name="Straight Connector 49">
                <a:extLst>
                  <a:ext uri="{FF2B5EF4-FFF2-40B4-BE49-F238E27FC236}">
                    <a16:creationId xmlns:a16="http://schemas.microsoft.com/office/drawing/2014/main" id="{41D53881-0367-44C3-BB04-3C832855785E}"/>
                  </a:ext>
                </a:extLst>
              </p:cNvPr>
              <p:cNvCxnSpPr>
                <a:cxnSpLocks/>
              </p:cNvCxnSpPr>
              <p:nvPr/>
            </p:nvCxnSpPr>
            <p:spPr>
              <a:xfrm>
                <a:off x="2344792" y="4244989"/>
                <a:ext cx="0" cy="1677942"/>
              </a:xfrm>
              <a:prstGeom prst="line">
                <a:avLst/>
              </a:prstGeom>
              <a:ln w="12700">
                <a:solidFill>
                  <a:srgbClr val="00B050"/>
                </a:solidFill>
                <a:prstDash val="dash"/>
              </a:ln>
            </p:spPr>
            <p:style>
              <a:lnRef idx="1">
                <a:schemeClr val="accent1"/>
              </a:lnRef>
              <a:fillRef idx="0">
                <a:schemeClr val="accent1"/>
              </a:fillRef>
              <a:effectRef idx="0">
                <a:schemeClr val="accent1"/>
              </a:effectRef>
              <a:fontRef idx="minor">
                <a:schemeClr val="tx1"/>
              </a:fontRef>
            </p:style>
          </p:cxnSp>
          <p:sp>
            <p:nvSpPr>
              <p:cNvPr id="51" name="Text Box 24590">
                <a:extLst>
                  <a:ext uri="{FF2B5EF4-FFF2-40B4-BE49-F238E27FC236}">
                    <a16:creationId xmlns:a16="http://schemas.microsoft.com/office/drawing/2014/main" id="{7165A5F4-DFAD-456D-8C27-7EE69DB6B500}"/>
                  </a:ext>
                </a:extLst>
              </p:cNvPr>
              <p:cNvSpPr txBox="1"/>
              <p:nvPr/>
            </p:nvSpPr>
            <p:spPr>
              <a:xfrm>
                <a:off x="2195812" y="5958811"/>
                <a:ext cx="972589" cy="27432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400" i="1" dirty="0">
                    <a:solidFill>
                      <a:schemeClr val="tx1"/>
                    </a:solidFill>
                    <a:effectLst/>
                    <a:ea typeface="Calibri" panose="020F0502020204030204" pitchFamily="34" charset="0"/>
                    <a:cs typeface="Times New Roman" panose="02020603050405020304" pitchFamily="18" charset="0"/>
                  </a:rPr>
                  <a:t>Q*</a:t>
                </a:r>
              </a:p>
            </p:txBody>
          </p:sp>
          <p:cxnSp>
            <p:nvCxnSpPr>
              <p:cNvPr id="52" name="Straight Connector 51">
                <a:extLst>
                  <a:ext uri="{FF2B5EF4-FFF2-40B4-BE49-F238E27FC236}">
                    <a16:creationId xmlns:a16="http://schemas.microsoft.com/office/drawing/2014/main" id="{3415D0CB-4740-403B-BA33-D7BA9FA74771}"/>
                  </a:ext>
                </a:extLst>
              </p:cNvPr>
              <p:cNvCxnSpPr>
                <a:cxnSpLocks/>
              </p:cNvCxnSpPr>
              <p:nvPr/>
            </p:nvCxnSpPr>
            <p:spPr>
              <a:xfrm>
                <a:off x="1243558" y="4208595"/>
                <a:ext cx="1115053" cy="762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53" name="Text Box 24592">
                <a:extLst>
                  <a:ext uri="{FF2B5EF4-FFF2-40B4-BE49-F238E27FC236}">
                    <a16:creationId xmlns:a16="http://schemas.microsoft.com/office/drawing/2014/main" id="{68810B82-F563-4995-AC5B-4641B52689AF}"/>
                  </a:ext>
                </a:extLst>
              </p:cNvPr>
              <p:cNvSpPr txBox="1"/>
              <p:nvPr/>
            </p:nvSpPr>
            <p:spPr>
              <a:xfrm>
                <a:off x="893782" y="4092585"/>
                <a:ext cx="423818" cy="27432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400" i="1" dirty="0">
                    <a:solidFill>
                      <a:schemeClr val="tx1"/>
                    </a:solidFill>
                    <a:effectLst/>
                    <a:ea typeface="Calibri" panose="020F0502020204030204" pitchFamily="34" charset="0"/>
                    <a:cs typeface="Times New Roman" panose="02020603050405020304" pitchFamily="18" charset="0"/>
                  </a:rPr>
                  <a:t>P*</a:t>
                </a:r>
              </a:p>
            </p:txBody>
          </p:sp>
        </p:grpSp>
        <p:grpSp>
          <p:nvGrpSpPr>
            <p:cNvPr id="57" name="Group 56">
              <a:extLst>
                <a:ext uri="{FF2B5EF4-FFF2-40B4-BE49-F238E27FC236}">
                  <a16:creationId xmlns:a16="http://schemas.microsoft.com/office/drawing/2014/main" id="{FD0516C0-A6B4-48D2-BFEB-02A5AE332981}"/>
                </a:ext>
              </a:extLst>
            </p:cNvPr>
            <p:cNvGrpSpPr/>
            <p:nvPr/>
          </p:nvGrpSpPr>
          <p:grpSpPr>
            <a:xfrm>
              <a:off x="5269668" y="4831961"/>
              <a:ext cx="910064" cy="583974"/>
              <a:chOff x="1285803" y="4703013"/>
              <a:chExt cx="910064" cy="583974"/>
            </a:xfrm>
          </p:grpSpPr>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0FA900-419F-44CE-91C1-11411131CF31}"/>
                      </a:ext>
                    </a:extLst>
                  </p:cNvPr>
                  <p:cNvSpPr txBox="1"/>
                  <p:nvPr/>
                </p:nvSpPr>
                <p:spPr>
                  <a:xfrm>
                    <a:off x="1285803" y="5009988"/>
                    <a:ext cx="910064" cy="276999"/>
                  </a:xfrm>
                  <a:prstGeom prst="rect">
                    <a:avLst/>
                  </a:prstGeom>
                  <a:noFill/>
                  <a:ln w="19050">
                    <a:solidFill>
                      <a:srgbClr val="0070C0"/>
                    </a:solidFill>
                  </a:ln>
                </p:spPr>
                <p:txBody>
                  <a:bodyPr wrap="square">
                    <a:spAutoFit/>
                  </a:bodyPr>
                  <a:lstStyle/>
                  <a:p>
                    <a:pPr>
                      <a:tabLst>
                        <a:tab pos="457200" algn="l"/>
                        <a:tab pos="914400" algn="l"/>
                        <a:tab pos="1371600" algn="l"/>
                      </a:tabLst>
                      <a:defRPr/>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cs typeface="Times New Roman" pitchFamily="18" charset="0"/>
                            </a:rPr>
                            <m:t>𝑀𝑅</m:t>
                          </m:r>
                          <m:r>
                            <a:rPr lang="en-US" sz="1200" b="0" i="1" smtClean="0">
                              <a:latin typeface="Cambria Math" panose="02040503050406030204" pitchFamily="18" charset="0"/>
                              <a:cs typeface="Times New Roman" pitchFamily="18" charset="0"/>
                            </a:rPr>
                            <m:t>=</m:t>
                          </m:r>
                          <m:r>
                            <a:rPr lang="en-US" sz="1200" b="0" i="1" smtClean="0">
                              <a:latin typeface="Cambria Math" panose="02040503050406030204" pitchFamily="18" charset="0"/>
                              <a:cs typeface="Times New Roman" pitchFamily="18" charset="0"/>
                            </a:rPr>
                            <m:t>𝑀𝐶</m:t>
                          </m:r>
                        </m:oMath>
                      </m:oMathPara>
                    </a14:m>
                    <a:endParaRPr lang="en-US" sz="1200" b="0" dirty="0">
                      <a:cs typeface="Times New Roman" pitchFamily="18" charset="0"/>
                    </a:endParaRPr>
                  </a:p>
                </p:txBody>
              </p:sp>
            </mc:Choice>
            <mc:Fallback xmlns="">
              <p:sp>
                <p:nvSpPr>
                  <p:cNvPr id="37" name="TextBox 36">
                    <a:extLst>
                      <a:ext uri="{FF2B5EF4-FFF2-40B4-BE49-F238E27FC236}">
                        <a16:creationId xmlns:a16="http://schemas.microsoft.com/office/drawing/2014/main" id="{EFED87DA-F0F6-445E-9428-FF24713F76D2}"/>
                      </a:ext>
                    </a:extLst>
                  </p:cNvPr>
                  <p:cNvSpPr txBox="1">
                    <a:spLocks noRot="1" noChangeAspect="1" noMove="1" noResize="1" noEditPoints="1" noAdjustHandles="1" noChangeArrowheads="1" noChangeShapeType="1" noTextEdit="1"/>
                  </p:cNvSpPr>
                  <p:nvPr/>
                </p:nvSpPr>
                <p:spPr>
                  <a:xfrm>
                    <a:off x="1285803" y="5009988"/>
                    <a:ext cx="910064" cy="276999"/>
                  </a:xfrm>
                  <a:prstGeom prst="rect">
                    <a:avLst/>
                  </a:prstGeom>
                  <a:blipFill>
                    <a:blip r:embed="rId5"/>
                    <a:stretch>
                      <a:fillRect/>
                    </a:stretch>
                  </a:blipFill>
                  <a:ln w="19050">
                    <a:solidFill>
                      <a:srgbClr val="0070C0"/>
                    </a:solidFill>
                  </a:ln>
                </p:spPr>
                <p:txBody>
                  <a:bodyPr/>
                  <a:lstStyle/>
                  <a:p>
                    <a:r>
                      <a:rPr lang="en-US">
                        <a:noFill/>
                      </a:rPr>
                      <a:t> </a:t>
                    </a:r>
                  </a:p>
                </p:txBody>
              </p:sp>
            </mc:Fallback>
          </mc:AlternateContent>
          <p:cxnSp>
            <p:nvCxnSpPr>
              <p:cNvPr id="59" name="Straight Arrow Connector 58">
                <a:extLst>
                  <a:ext uri="{FF2B5EF4-FFF2-40B4-BE49-F238E27FC236}">
                    <a16:creationId xmlns:a16="http://schemas.microsoft.com/office/drawing/2014/main" id="{242316C4-2A02-4470-88AF-FF4DB854A899}"/>
                  </a:ext>
                </a:extLst>
              </p:cNvPr>
              <p:cNvCxnSpPr>
                <a:cxnSpLocks/>
              </p:cNvCxnSpPr>
              <p:nvPr/>
            </p:nvCxnSpPr>
            <p:spPr>
              <a:xfrm flipV="1">
                <a:off x="1884526" y="4703013"/>
                <a:ext cx="311341" cy="3069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grpSp>
        <p:nvGrpSpPr>
          <p:cNvPr id="82" name="Group 81">
            <a:extLst>
              <a:ext uri="{FF2B5EF4-FFF2-40B4-BE49-F238E27FC236}">
                <a16:creationId xmlns:a16="http://schemas.microsoft.com/office/drawing/2014/main" id="{AF734DDA-D578-49F5-BF54-C0D37DAF94B2}"/>
              </a:ext>
            </a:extLst>
          </p:cNvPr>
          <p:cNvGrpSpPr/>
          <p:nvPr/>
        </p:nvGrpSpPr>
        <p:grpSpPr>
          <a:xfrm>
            <a:off x="1903779" y="3339801"/>
            <a:ext cx="2875711" cy="524418"/>
            <a:chOff x="1903779" y="3339801"/>
            <a:chExt cx="2875711" cy="524418"/>
          </a:xfrm>
        </p:grpSpPr>
        <p:sp>
          <p:nvSpPr>
            <p:cNvPr id="79" name="TextBox 78">
              <a:extLst>
                <a:ext uri="{FF2B5EF4-FFF2-40B4-BE49-F238E27FC236}">
                  <a16:creationId xmlns:a16="http://schemas.microsoft.com/office/drawing/2014/main" id="{7AD55DCA-767D-4352-9392-C480A689ADD2}"/>
                </a:ext>
              </a:extLst>
            </p:cNvPr>
            <p:cNvSpPr txBox="1"/>
            <p:nvPr/>
          </p:nvSpPr>
          <p:spPr>
            <a:xfrm>
              <a:off x="1903779" y="3556442"/>
              <a:ext cx="2875711" cy="307777"/>
            </a:xfrm>
            <a:prstGeom prst="rect">
              <a:avLst/>
            </a:prstGeom>
            <a:solidFill>
              <a:schemeClr val="bg1">
                <a:lumMod val="75000"/>
              </a:schemeClr>
            </a:solidFill>
            <a:ln>
              <a:solidFill>
                <a:schemeClr val="tx1"/>
              </a:solidFill>
            </a:ln>
          </p:spPr>
          <p:txBody>
            <a:bodyPr wrap="square">
              <a:spAutoFit/>
            </a:bodyPr>
            <a:lstStyle/>
            <a:p>
              <a:pPr algn="ctr">
                <a:tabLst>
                  <a:tab pos="457200" algn="l"/>
                  <a:tab pos="914400" algn="l"/>
                  <a:tab pos="1371600" algn="l"/>
                </a:tabLst>
                <a:defRPr/>
              </a:pPr>
              <a:r>
                <a:rPr lang="en-US" sz="1400" b="0" dirty="0">
                  <a:cs typeface="Times New Roman" pitchFamily="18" charset="0"/>
                </a:rPr>
                <a:t>Higher price for shorter direct flight</a:t>
              </a:r>
              <a:endParaRPr lang="en-US" sz="1400" b="0" dirty="0">
                <a:latin typeface="+mn-lt"/>
                <a:cs typeface="Times New Roman" pitchFamily="18" charset="0"/>
              </a:endParaRPr>
            </a:p>
          </p:txBody>
        </p:sp>
        <p:cxnSp>
          <p:nvCxnSpPr>
            <p:cNvPr id="81" name="Straight Arrow Connector 80">
              <a:extLst>
                <a:ext uri="{FF2B5EF4-FFF2-40B4-BE49-F238E27FC236}">
                  <a16:creationId xmlns:a16="http://schemas.microsoft.com/office/drawing/2014/main" id="{A6325B93-B56B-4E3D-9A9B-087D6DA04BCE}"/>
                </a:ext>
              </a:extLst>
            </p:cNvPr>
            <p:cNvCxnSpPr>
              <a:endCxn id="53" idx="1"/>
            </p:cNvCxnSpPr>
            <p:nvPr/>
          </p:nvCxnSpPr>
          <p:spPr>
            <a:xfrm flipV="1">
              <a:off x="4175641" y="3339801"/>
              <a:ext cx="450159" cy="14235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Tree>
    <p:custDataLst>
      <p:tags r:id="rId1"/>
    </p:custDataLst>
    <p:extLst>
      <p:ext uri="{BB962C8B-B14F-4D97-AF65-F5344CB8AC3E}">
        <p14:creationId xmlns:p14="http://schemas.microsoft.com/office/powerpoint/2010/main" val="2689564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B9B4C-D39E-4778-BBDC-91385039EB74}"/>
              </a:ext>
            </a:extLst>
          </p:cNvPr>
          <p:cNvSpPr>
            <a:spLocks noGrp="1"/>
          </p:cNvSpPr>
          <p:nvPr>
            <p:ph type="title"/>
          </p:nvPr>
        </p:nvSpPr>
        <p:spPr/>
        <p:txBody>
          <a:bodyPr/>
          <a:lstStyle/>
          <a:p>
            <a:r>
              <a:rPr lang="en-US" dirty="0"/>
              <a:t>Consumer Segments in Medication</a:t>
            </a:r>
          </a:p>
        </p:txBody>
      </p:sp>
      <p:sp useBgFill="1">
        <p:nvSpPr>
          <p:cNvPr id="3" name="Content Placeholder 2">
            <a:extLst>
              <a:ext uri="{FF2B5EF4-FFF2-40B4-BE49-F238E27FC236}">
                <a16:creationId xmlns:a16="http://schemas.microsoft.com/office/drawing/2014/main" id="{2CED4F30-DC90-4FD2-BE3B-DF4833A129F7}"/>
              </a:ext>
            </a:extLst>
          </p:cNvPr>
          <p:cNvSpPr>
            <a:spLocks noGrp="1"/>
          </p:cNvSpPr>
          <p:nvPr>
            <p:ph idx="1"/>
          </p:nvPr>
        </p:nvSpPr>
        <p:spPr>
          <a:xfrm>
            <a:off x="457200" y="1640114"/>
            <a:ext cx="8229600" cy="1897743"/>
          </a:xfrm>
        </p:spPr>
        <p:txBody>
          <a:bodyPr>
            <a:normAutofit/>
          </a:bodyPr>
          <a:lstStyle/>
          <a:p>
            <a:r>
              <a:rPr lang="en-US" sz="3100" dirty="0" err="1"/>
              <a:t>Lodine</a:t>
            </a:r>
            <a:r>
              <a:rPr lang="en-US" sz="3100" dirty="0"/>
              <a:t>, a medication for arthritis, is used for both humans and dogs. </a:t>
            </a:r>
          </a:p>
          <a:p>
            <a:r>
              <a:rPr lang="en-US" sz="3100" dirty="0"/>
              <a:t>Which segment 'pays' a higher price?</a:t>
            </a:r>
          </a:p>
        </p:txBody>
      </p:sp>
      <p:sp>
        <p:nvSpPr>
          <p:cNvPr id="4" name="Parallelogram 3">
            <a:extLst>
              <a:ext uri="{FF2B5EF4-FFF2-40B4-BE49-F238E27FC236}">
                <a16:creationId xmlns:a16="http://schemas.microsoft.com/office/drawing/2014/main" id="{806E185C-4D44-4474-A2EB-8D3D5F5841AA}"/>
              </a:ext>
            </a:extLst>
          </p:cNvPr>
          <p:cNvSpPr/>
          <p:nvPr/>
        </p:nvSpPr>
        <p:spPr>
          <a:xfrm>
            <a:off x="4456686" y="6029465"/>
            <a:ext cx="4951882" cy="840025"/>
          </a:xfrm>
          <a:prstGeom prst="parallelogram">
            <a:avLst/>
          </a:prstGeom>
          <a:gradFill>
            <a:gsLst>
              <a:gs pos="0">
                <a:schemeClr val="accent2">
                  <a:tint val="100000"/>
                  <a:shade val="100000"/>
                  <a:satMod val="130000"/>
                  <a:alpha val="34000"/>
                </a:schemeClr>
              </a:gs>
              <a:gs pos="100000">
                <a:schemeClr val="accent2">
                  <a:tint val="50000"/>
                  <a:shade val="100000"/>
                  <a:satMod val="350000"/>
                  <a:alpha val="79000"/>
                </a:schemeClr>
              </a:gs>
            </a:gsLst>
          </a:gradFill>
          <a:ln>
            <a:noFill/>
          </a:ln>
        </p:spPr>
        <p:style>
          <a:lnRef idx="1">
            <a:schemeClr val="accent2"/>
          </a:lnRef>
          <a:fillRef idx="3">
            <a:schemeClr val="accent2"/>
          </a:fillRef>
          <a:effectRef idx="2">
            <a:schemeClr val="accent2"/>
          </a:effectRef>
          <a:fontRef idx="minor">
            <a:schemeClr val="lt1"/>
          </a:fontRef>
        </p:style>
        <p:txBody>
          <a:bodyPr rtlCol="0" anchor="ctr"/>
          <a:lstStyle/>
          <a:p>
            <a:r>
              <a:rPr lang="en-US" sz="3200" b="1" i="1" dirty="0"/>
              <a:t>Poll Everywhere Break</a:t>
            </a:r>
          </a:p>
        </p:txBody>
      </p:sp>
      <p:pic>
        <p:nvPicPr>
          <p:cNvPr id="5" name="Picture 4">
            <a:extLst>
              <a:ext uri="{FF2B5EF4-FFF2-40B4-BE49-F238E27FC236}">
                <a16:creationId xmlns:a16="http://schemas.microsoft.com/office/drawing/2014/main" id="{5F0AA482-87DE-46B8-B803-8EFF7560372A}"/>
              </a:ext>
            </a:extLst>
          </p:cNvPr>
          <p:cNvPicPr>
            <a:picLocks noChangeAspect="1"/>
          </p:cNvPicPr>
          <p:nvPr/>
        </p:nvPicPr>
        <p:blipFill>
          <a:blip r:embed="rId3"/>
          <a:stretch>
            <a:fillRect/>
          </a:stretch>
        </p:blipFill>
        <p:spPr>
          <a:xfrm>
            <a:off x="1534886" y="3697939"/>
            <a:ext cx="2394857" cy="2751538"/>
          </a:xfrm>
          <a:prstGeom prst="rect">
            <a:avLst/>
          </a:prstGeom>
        </p:spPr>
      </p:pic>
    </p:spTree>
    <p:extLst>
      <p:ext uri="{BB962C8B-B14F-4D97-AF65-F5344CB8AC3E}">
        <p14:creationId xmlns:p14="http://schemas.microsoft.com/office/powerpoint/2010/main" val="2913376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578279-AA28-4C67-B014-2D77393F3456}"/>
              </a:ext>
            </a:extLst>
          </p:cNvPr>
          <p:cNvPicPr>
            <a:picLocks/>
          </p:cNvPicPr>
          <p:nvPr>
            <p:custDataLst>
              <p:tags r:id="rId1"/>
            </p:custDataLst>
          </p:nvPr>
        </p:nvPicPr>
        <p:blipFill>
          <a:blip r:embed="rId4"/>
          <a:stretch>
            <a:fillRect/>
          </a:stretch>
        </p:blipFill>
        <p:spPr>
          <a:xfrm>
            <a:off x="190500" y="190500"/>
            <a:ext cx="8763000" cy="6477000"/>
          </a:xfrm>
          <a:prstGeom prst="rect">
            <a:avLst/>
          </a:prstGeom>
        </p:spPr>
      </p:pic>
    </p:spTree>
    <p:extLst>
      <p:ext uri="{BB962C8B-B14F-4D97-AF65-F5344CB8AC3E}">
        <p14:creationId xmlns:p14="http://schemas.microsoft.com/office/powerpoint/2010/main" val="3722190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B9B4C-D39E-4778-BBDC-91385039EB74}"/>
              </a:ext>
            </a:extLst>
          </p:cNvPr>
          <p:cNvSpPr>
            <a:spLocks noGrp="1"/>
          </p:cNvSpPr>
          <p:nvPr>
            <p:ph type="title"/>
          </p:nvPr>
        </p:nvSpPr>
        <p:spPr/>
        <p:txBody>
          <a:bodyPr/>
          <a:lstStyle/>
          <a:p>
            <a:r>
              <a:rPr lang="en-US" dirty="0"/>
              <a:t>Solution</a:t>
            </a:r>
          </a:p>
        </p:txBody>
      </p:sp>
      <p:sp useBgFill="1">
        <p:nvSpPr>
          <p:cNvPr id="3" name="Content Placeholder 2">
            <a:extLst>
              <a:ext uri="{FF2B5EF4-FFF2-40B4-BE49-F238E27FC236}">
                <a16:creationId xmlns:a16="http://schemas.microsoft.com/office/drawing/2014/main" id="{2CED4F30-DC90-4FD2-BE3B-DF4833A129F7}"/>
              </a:ext>
            </a:extLst>
          </p:cNvPr>
          <p:cNvSpPr>
            <a:spLocks noGrp="1"/>
          </p:cNvSpPr>
          <p:nvPr>
            <p:ph idx="1"/>
          </p:nvPr>
        </p:nvSpPr>
        <p:spPr>
          <a:xfrm>
            <a:off x="341886" y="1270215"/>
            <a:ext cx="8229600" cy="1897743"/>
          </a:xfrm>
        </p:spPr>
        <p:txBody>
          <a:bodyPr>
            <a:normAutofit/>
          </a:bodyPr>
          <a:lstStyle/>
          <a:p>
            <a:r>
              <a:rPr lang="en-US" sz="3100" dirty="0"/>
              <a:t>Higher price for humans!</a:t>
            </a:r>
          </a:p>
        </p:txBody>
      </p:sp>
      <p:sp>
        <p:nvSpPr>
          <p:cNvPr id="4" name="Parallelogram 3">
            <a:extLst>
              <a:ext uri="{FF2B5EF4-FFF2-40B4-BE49-F238E27FC236}">
                <a16:creationId xmlns:a16="http://schemas.microsoft.com/office/drawing/2014/main" id="{806E185C-4D44-4474-A2EB-8D3D5F5841AA}"/>
              </a:ext>
            </a:extLst>
          </p:cNvPr>
          <p:cNvSpPr/>
          <p:nvPr/>
        </p:nvSpPr>
        <p:spPr>
          <a:xfrm>
            <a:off x="4456686" y="6029465"/>
            <a:ext cx="4951882" cy="840025"/>
          </a:xfrm>
          <a:prstGeom prst="parallelogram">
            <a:avLst/>
          </a:prstGeom>
          <a:gradFill>
            <a:gsLst>
              <a:gs pos="0">
                <a:schemeClr val="accent2">
                  <a:tint val="100000"/>
                  <a:shade val="100000"/>
                  <a:satMod val="130000"/>
                  <a:alpha val="34000"/>
                </a:schemeClr>
              </a:gs>
              <a:gs pos="100000">
                <a:schemeClr val="accent2">
                  <a:tint val="50000"/>
                  <a:shade val="100000"/>
                  <a:satMod val="350000"/>
                  <a:alpha val="79000"/>
                </a:schemeClr>
              </a:gs>
            </a:gsLst>
          </a:gradFill>
          <a:ln>
            <a:noFill/>
          </a:ln>
        </p:spPr>
        <p:style>
          <a:lnRef idx="1">
            <a:schemeClr val="accent2"/>
          </a:lnRef>
          <a:fillRef idx="3">
            <a:schemeClr val="accent2"/>
          </a:fillRef>
          <a:effectRef idx="2">
            <a:schemeClr val="accent2"/>
          </a:effectRef>
          <a:fontRef idx="minor">
            <a:schemeClr val="lt1"/>
          </a:fontRef>
        </p:style>
        <p:txBody>
          <a:bodyPr rtlCol="0" anchor="ctr"/>
          <a:lstStyle/>
          <a:p>
            <a:r>
              <a:rPr lang="en-US" sz="3200" b="1" i="1" dirty="0"/>
              <a:t>Poll Everywhere Break</a:t>
            </a:r>
          </a:p>
        </p:txBody>
      </p:sp>
      <p:pic>
        <p:nvPicPr>
          <p:cNvPr id="5" name="Picture 4">
            <a:extLst>
              <a:ext uri="{FF2B5EF4-FFF2-40B4-BE49-F238E27FC236}">
                <a16:creationId xmlns:a16="http://schemas.microsoft.com/office/drawing/2014/main" id="{830196FF-4576-458C-BAA8-66216A816D82}"/>
              </a:ext>
            </a:extLst>
          </p:cNvPr>
          <p:cNvPicPr>
            <a:picLocks noChangeAspect="1"/>
          </p:cNvPicPr>
          <p:nvPr/>
        </p:nvPicPr>
        <p:blipFill>
          <a:blip r:embed="rId3"/>
          <a:stretch>
            <a:fillRect/>
          </a:stretch>
        </p:blipFill>
        <p:spPr>
          <a:xfrm>
            <a:off x="572514" y="2219086"/>
            <a:ext cx="5373567" cy="3978420"/>
          </a:xfrm>
          <a:prstGeom prst="rect">
            <a:avLst/>
          </a:prstGeom>
        </p:spPr>
      </p:pic>
    </p:spTree>
    <p:extLst>
      <p:ext uri="{BB962C8B-B14F-4D97-AF65-F5344CB8AC3E}">
        <p14:creationId xmlns:p14="http://schemas.microsoft.com/office/powerpoint/2010/main" val="3615104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a:xfrm>
            <a:off x="357188" y="357188"/>
            <a:ext cx="8343305" cy="1114719"/>
          </a:xfrm>
          <a:noFill/>
          <a:ln/>
        </p:spPr>
        <p:txBody>
          <a:bodyPr vert="horz" lIns="92273" tIns="46136" rIns="92273" bIns="46136" rtlCol="0" anchor="ctr">
            <a:normAutofit fontScale="90000"/>
          </a:bodyPr>
          <a:lstStyle/>
          <a:p>
            <a:r>
              <a:rPr lang="en-US" sz="4125" dirty="0"/>
              <a:t>Important: Segment Pricing Analytically</a:t>
            </a:r>
            <a:br>
              <a:rPr lang="en-US" sz="3375" dirty="0"/>
            </a:br>
            <a:endParaRPr lang="en-US" sz="4500" dirty="0"/>
          </a:p>
        </p:txBody>
      </p:sp>
      <p:sp>
        <p:nvSpPr>
          <p:cNvPr id="144387" name="Rectangle 3"/>
          <p:cNvSpPr>
            <a:spLocks noGrp="1" noChangeArrowheads="1"/>
          </p:cNvSpPr>
          <p:nvPr>
            <p:ph type="body" idx="1"/>
          </p:nvPr>
        </p:nvSpPr>
        <p:spPr>
          <a:xfrm>
            <a:off x="686098" y="1482327"/>
            <a:ext cx="7857538" cy="5001740"/>
          </a:xfrm>
          <a:noFill/>
          <a:ln/>
        </p:spPr>
        <p:txBody>
          <a:bodyPr vert="horz" lIns="92273" tIns="46136" rIns="92273" bIns="46136" rtlCol="0">
            <a:normAutofit/>
          </a:bodyPr>
          <a:lstStyle/>
          <a:p>
            <a:pPr>
              <a:lnSpc>
                <a:spcPct val="120000"/>
              </a:lnSpc>
            </a:pPr>
            <a:r>
              <a:rPr lang="en-US" sz="2400" dirty="0"/>
              <a:t>A firm produces the same product for two markets</a:t>
            </a:r>
          </a:p>
          <a:p>
            <a:pPr>
              <a:lnSpc>
                <a:spcPct val="120000"/>
              </a:lnSpc>
            </a:pPr>
            <a:r>
              <a:rPr lang="en-US" sz="2400" b="1" dirty="0"/>
              <a:t>Math:</a:t>
            </a:r>
            <a:endParaRPr lang="en-US" sz="3000" b="1" dirty="0"/>
          </a:p>
          <a:p>
            <a:pPr marL="0" indent="0" algn="ctr">
              <a:lnSpc>
                <a:spcPct val="90000"/>
              </a:lnSpc>
              <a:buNone/>
            </a:pPr>
            <a:r>
              <a:rPr lang="en-US" sz="3000" b="1" dirty="0"/>
              <a:t>Set </a:t>
            </a:r>
            <a:r>
              <a:rPr lang="en-US" sz="3000" b="1" i="1" dirty="0" err="1"/>
              <a:t>MR</a:t>
            </a:r>
            <a:r>
              <a:rPr lang="en-US" sz="3000" b="1" i="1" baseline="-25000" dirty="0" err="1"/>
              <a:t>i</a:t>
            </a:r>
            <a:r>
              <a:rPr lang="en-US" sz="3000" b="1" i="1" dirty="0"/>
              <a:t>=</a:t>
            </a:r>
            <a:r>
              <a:rPr lang="en-US" sz="3000" b="1" i="1" dirty="0" err="1"/>
              <a:t>MC</a:t>
            </a:r>
            <a:r>
              <a:rPr lang="en-US" sz="3000" b="1" i="1" baseline="-25000" dirty="0" err="1"/>
              <a:t>i</a:t>
            </a:r>
            <a:r>
              <a:rPr lang="en-US" sz="3000" b="1" dirty="0"/>
              <a:t> in each market </a:t>
            </a:r>
            <a:r>
              <a:rPr lang="en-US" sz="3000" b="1" i="1" dirty="0"/>
              <a:t>i</a:t>
            </a:r>
          </a:p>
        </p:txBody>
      </p:sp>
      <p:sp>
        <p:nvSpPr>
          <p:cNvPr id="5" name="Slide Number Placeholder 4"/>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BC38028-5B1C-49D3-BF22-2CE9385E6DA2}" type="slidenum">
              <a:rPr kumimoji="0" lang="en-US" sz="800" b="0" i="0" u="none" strike="noStrike" kern="800" cap="none" spc="400" normalizeH="0" baseline="0" noProof="0" smtClean="0">
                <a:ln>
                  <a:noFill/>
                </a:ln>
                <a:solidFill>
                  <a:prstClr val="black">
                    <a:lumMod val="75000"/>
                    <a:lumOff val="25000"/>
                  </a:prstClr>
                </a:solidFill>
                <a:effectLst/>
                <a:uLnTx/>
                <a:uFillTx/>
                <a:latin typeface=""/>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a:t>
            </a:fld>
            <a:endParaRPr kumimoji="0" lang="en-US" sz="800" b="0" i="0" u="none" strike="noStrike" kern="800" cap="none" spc="400" normalizeH="0" baseline="0" noProof="0" dirty="0">
              <a:ln>
                <a:noFill/>
              </a:ln>
              <a:solidFill>
                <a:prstClr val="black">
                  <a:lumMod val="75000"/>
                  <a:lumOff val="25000"/>
                </a:prstClr>
              </a:solidFill>
              <a:effectLst/>
              <a:uLnTx/>
              <a:uFillTx/>
              <a:latin typeface=""/>
              <a:ea typeface="+mn-ea"/>
              <a:cs typeface="+mn-cs"/>
            </a:endParaRPr>
          </a:p>
        </p:txBody>
      </p:sp>
      <p:grpSp>
        <p:nvGrpSpPr>
          <p:cNvPr id="7" name="Group 6">
            <a:extLst>
              <a:ext uri="{FF2B5EF4-FFF2-40B4-BE49-F238E27FC236}">
                <a16:creationId xmlns:a16="http://schemas.microsoft.com/office/drawing/2014/main" id="{89672A31-1AE8-4EC6-8AC6-42CA5C435889}"/>
              </a:ext>
            </a:extLst>
          </p:cNvPr>
          <p:cNvGrpSpPr/>
          <p:nvPr/>
        </p:nvGrpSpPr>
        <p:grpSpPr>
          <a:xfrm>
            <a:off x="5822552" y="3145756"/>
            <a:ext cx="3076636" cy="566487"/>
            <a:chOff x="62403" y="6168852"/>
            <a:chExt cx="2911737" cy="566487"/>
          </a:xfrm>
        </p:grpSpPr>
        <p:sp>
          <p:nvSpPr>
            <p:cNvPr id="8" name="Rectangle 3">
              <a:extLst>
                <a:ext uri="{FF2B5EF4-FFF2-40B4-BE49-F238E27FC236}">
                  <a16:creationId xmlns:a16="http://schemas.microsoft.com/office/drawing/2014/main" id="{0C84A886-BCAC-4FF7-B1C7-3A47E21F8992}"/>
                </a:ext>
              </a:extLst>
            </p:cNvPr>
            <p:cNvSpPr txBox="1">
              <a:spLocks noChangeArrowheads="1"/>
            </p:cNvSpPr>
            <p:nvPr/>
          </p:nvSpPr>
          <p:spPr>
            <a:xfrm>
              <a:off x="62403" y="6168852"/>
              <a:ext cx="2911737" cy="566487"/>
            </a:xfrm>
            <a:prstGeom prst="rect">
              <a:avLst/>
            </a:prstGeom>
            <a:gradFill>
              <a:gsLst>
                <a:gs pos="44000">
                  <a:schemeClr val="bg1">
                    <a:lumMod val="85000"/>
                  </a:schemeClr>
                </a:gs>
                <a:gs pos="0">
                  <a:schemeClr val="tx1">
                    <a:lumMod val="65000"/>
                    <a:lumOff val="35000"/>
                  </a:schemeClr>
                </a:gs>
                <a:gs pos="100000">
                  <a:schemeClr val="tx1">
                    <a:lumMod val="50000"/>
                    <a:lumOff val="50000"/>
                  </a:schemeClr>
                </a:gs>
              </a:gsLst>
              <a:lin ang="5400000" scaled="1"/>
            </a:gradFill>
            <a:ln w="15875">
              <a:noFill/>
            </a:ln>
            <a:effectLst>
              <a:outerShdw blurRad="50800" dist="38100" dir="2700000" algn="tl" rotWithShape="0">
                <a:prstClr val="black">
                  <a:alpha val="40000"/>
                </a:prstClr>
              </a:outerShdw>
              <a:softEdge rad="50800"/>
            </a:effectLst>
          </p:spPr>
          <p:txBody>
            <a:bodyPr vert="horz" lIns="92069" tIns="46035" rIns="92069" bIns="46035" rtlCol="0" anchor="ctr">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600"/>
                </a:spcBef>
                <a:spcAft>
                  <a:spcPts val="563"/>
                </a:spcAft>
                <a:buNone/>
              </a:pPr>
              <a:r>
                <a:rPr lang="en-US" sz="2400" dirty="0">
                  <a:cs typeface="Times New Roman" pitchFamily="18" charset="0"/>
                </a:rPr>
                <a:t>        </a:t>
              </a:r>
              <a:r>
                <a:rPr lang="en-US" sz="2400" dirty="0">
                  <a:ln>
                    <a:solidFill>
                      <a:schemeClr val="bg1">
                        <a:lumMod val="50000"/>
                      </a:schemeClr>
                    </a:solidFill>
                  </a:ln>
                  <a:solidFill>
                    <a:schemeClr val="tx1"/>
                  </a:solidFill>
                  <a:latin typeface="Calibri" panose="020F0502020204030204" pitchFamily="34" charset="0"/>
                  <a:cs typeface="Calibri" panose="020F0502020204030204" pitchFamily="34" charset="0"/>
                </a:rPr>
                <a:t>Practice Video! </a:t>
              </a:r>
            </a:p>
          </p:txBody>
        </p:sp>
        <p:sp>
          <p:nvSpPr>
            <p:cNvPr id="9" name="Right Arrow 1">
              <a:extLst>
                <a:ext uri="{FF2B5EF4-FFF2-40B4-BE49-F238E27FC236}">
                  <a16:creationId xmlns:a16="http://schemas.microsoft.com/office/drawing/2014/main" id="{47F6391E-3D36-4C3C-82C4-BBDE41F4AB8B}"/>
                </a:ext>
              </a:extLst>
            </p:cNvPr>
            <p:cNvSpPr/>
            <p:nvPr/>
          </p:nvSpPr>
          <p:spPr>
            <a:xfrm>
              <a:off x="208445" y="6315750"/>
              <a:ext cx="373445" cy="301998"/>
            </a:xfrm>
            <a:prstGeom prst="rightArrow">
              <a:avLst/>
            </a:prstGeom>
            <a:solidFill>
              <a:schemeClr val="accent2"/>
            </a:solidFill>
            <a:effectLst>
              <a:outerShdw blurRad="40000" dist="23000" dir="5400000" rotWithShape="0">
                <a:srgbClr val="000000">
                  <a:alpha val="35000"/>
                </a:srgbClr>
              </a:outerShdw>
              <a:softEdge rad="254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10" name="Rectangle 3">
            <a:extLst>
              <a:ext uri="{FF2B5EF4-FFF2-40B4-BE49-F238E27FC236}">
                <a16:creationId xmlns:a16="http://schemas.microsoft.com/office/drawing/2014/main" id="{3B169DEA-8ECC-4BEC-96F8-8B3FDFAE84B5}"/>
              </a:ext>
            </a:extLst>
          </p:cNvPr>
          <p:cNvSpPr txBox="1">
            <a:spLocks noChangeArrowheads="1"/>
          </p:cNvSpPr>
          <p:nvPr/>
        </p:nvSpPr>
        <p:spPr>
          <a:xfrm>
            <a:off x="196950" y="4536485"/>
            <a:ext cx="5380790" cy="204240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1">
              <a:spcBef>
                <a:spcPts val="0"/>
              </a:spcBef>
              <a:spcAft>
                <a:spcPts val="563"/>
              </a:spcAft>
            </a:pPr>
            <a:endParaRPr lang="en-US" sz="1300" dirty="0">
              <a:latin typeface="Whitney-Book" pitchFamily="50" charset="0"/>
              <a:cs typeface="Whitney-Book" pitchFamily="50" charset="0"/>
            </a:endParaRPr>
          </a:p>
          <a:p>
            <a:pPr lvl="1">
              <a:lnSpc>
                <a:spcPts val="3000"/>
              </a:lnSpc>
              <a:spcBef>
                <a:spcPts val="0"/>
              </a:spcBef>
              <a:spcAft>
                <a:spcPts val="563"/>
              </a:spcAft>
            </a:pPr>
            <a:r>
              <a:rPr lang="en-US" sz="2400" dirty="0">
                <a:latin typeface="Whitney-Book" pitchFamily="50" charset="0"/>
                <a:cs typeface="Whitney-Book" pitchFamily="50" charset="0"/>
              </a:rPr>
              <a:t>Prices different if demand (MR) and/or costs (MC) are different</a:t>
            </a:r>
          </a:p>
          <a:p>
            <a:pPr lvl="1">
              <a:lnSpc>
                <a:spcPts val="3000"/>
              </a:lnSpc>
              <a:spcBef>
                <a:spcPts val="0"/>
              </a:spcBef>
              <a:spcAft>
                <a:spcPts val="563"/>
              </a:spcAft>
            </a:pPr>
            <a:r>
              <a:rPr lang="en-US" sz="2400" u="sng" dirty="0">
                <a:solidFill>
                  <a:srgbClr val="C00000"/>
                </a:solidFill>
                <a:latin typeface="Whitney-Book" pitchFamily="50" charset="0"/>
                <a:cs typeface="Whitney-Book" pitchFamily="50" charset="0"/>
              </a:rPr>
              <a:t>Rule</a:t>
            </a:r>
            <a:r>
              <a:rPr lang="en-US" sz="2400" dirty="0">
                <a:latin typeface="Whitney-Book" pitchFamily="50" charset="0"/>
                <a:cs typeface="Whitney-Book" pitchFamily="50" charset="0"/>
              </a:rPr>
              <a:t>: Charge lower price in more elastic markets</a:t>
            </a:r>
            <a:endParaRPr lang="en-US" sz="1600" dirty="0">
              <a:latin typeface="Whitney-Book" pitchFamily="50" charset="0"/>
              <a:cs typeface="Whitney-Book" pitchFamily="50" charset="0"/>
            </a:endParaRPr>
          </a:p>
        </p:txBody>
      </p:sp>
      <p:sp>
        <p:nvSpPr>
          <p:cNvPr id="3" name="TextBox 2"/>
          <p:cNvSpPr txBox="1"/>
          <p:nvPr/>
        </p:nvSpPr>
        <p:spPr>
          <a:xfrm>
            <a:off x="5822552" y="3712243"/>
            <a:ext cx="3170619" cy="369332"/>
          </a:xfrm>
          <a:prstGeom prst="rect">
            <a:avLst/>
          </a:prstGeom>
          <a:noFill/>
        </p:spPr>
        <p:txBody>
          <a:bodyPr wrap="square" rtlCol="0">
            <a:spAutoFit/>
          </a:bodyPr>
          <a:lstStyle/>
          <a:p>
            <a:r>
              <a:rPr lang="en-US" dirty="0"/>
              <a:t>Optimal Pricing in two Markets</a:t>
            </a:r>
          </a:p>
        </p:txBody>
      </p:sp>
      <p:pic>
        <p:nvPicPr>
          <p:cNvPr id="11" name="Picture 10"/>
          <p:cNvPicPr>
            <a:picLocks noChangeAspect="1"/>
          </p:cNvPicPr>
          <p:nvPr/>
        </p:nvPicPr>
        <p:blipFill>
          <a:blip r:embed="rId4"/>
          <a:stretch>
            <a:fillRect/>
          </a:stretch>
        </p:blipFill>
        <p:spPr>
          <a:xfrm>
            <a:off x="5498754" y="4361063"/>
            <a:ext cx="3449274" cy="2240595"/>
          </a:xfrm>
          <a:prstGeom prst="rect">
            <a:avLst/>
          </a:prstGeom>
        </p:spPr>
      </p:pic>
    </p:spTree>
    <p:custDataLst>
      <p:tags r:id="rId1"/>
    </p:custDataLst>
    <p:extLst>
      <p:ext uri="{BB962C8B-B14F-4D97-AF65-F5344CB8AC3E}">
        <p14:creationId xmlns:p14="http://schemas.microsoft.com/office/powerpoint/2010/main" val="42116036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4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43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43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Challenges with segment pricing for BMW</a:t>
            </a:r>
            <a:endParaRPr lang="en-US" dirty="0"/>
          </a:p>
        </p:txBody>
      </p:sp>
      <p:sp>
        <p:nvSpPr>
          <p:cNvPr id="3" name="Content Placeholder 2"/>
          <p:cNvSpPr>
            <a:spLocks noGrp="1"/>
          </p:cNvSpPr>
          <p:nvPr>
            <p:ph idx="1"/>
          </p:nvPr>
        </p:nvSpPr>
        <p:spPr>
          <a:xfrm>
            <a:off x="457200" y="1667435"/>
            <a:ext cx="8514678" cy="5063350"/>
          </a:xfrm>
        </p:spPr>
        <p:txBody>
          <a:bodyPr>
            <a:normAutofit/>
          </a:bodyPr>
          <a:lstStyle/>
          <a:p>
            <a:pPr marL="344488" indent="-344488"/>
            <a:r>
              <a:rPr lang="en-US" sz="2400" dirty="0"/>
              <a:t>Suppose BMW sets very different prices in Germany vs. U.S.</a:t>
            </a:r>
          </a:p>
          <a:p>
            <a:pPr marL="344488" indent="-344488"/>
            <a:endParaRPr lang="en-US" sz="2400" dirty="0"/>
          </a:p>
          <a:p>
            <a:pPr marL="344488" indent="-344488"/>
            <a:r>
              <a:rPr lang="en-US" sz="2400" dirty="0"/>
              <a:t>Do you anticipate any problems?</a:t>
            </a:r>
          </a:p>
          <a:p>
            <a:pPr marL="744538" lvl="1" indent="-344488"/>
            <a:r>
              <a:rPr lang="en-US" sz="2400" dirty="0"/>
              <a:t>Arbitrage: re-importation from the cheaper market</a:t>
            </a:r>
          </a:p>
          <a:p>
            <a:pPr marL="1144588" lvl="2" indent="-344488"/>
            <a:r>
              <a:rPr lang="en-US" sz="2400" dirty="0"/>
              <a:t>Difficult in this particular case (e.g., miles vs kilometers; taxation).</a:t>
            </a:r>
          </a:p>
          <a:p>
            <a:pPr marL="1144588" lvl="2" indent="-344488"/>
            <a:r>
              <a:rPr lang="en-US" sz="2400" dirty="0"/>
              <a:t>However, easier in other cases (e.g., buying textbooks in India and reselling them in the US)</a:t>
            </a:r>
          </a:p>
          <a:p>
            <a:pPr marL="744538" lvl="1" indent="-344488"/>
            <a:r>
              <a:rPr lang="en-US" sz="2400" dirty="0"/>
              <a:t>Consumer backlash</a:t>
            </a:r>
          </a:p>
        </p:txBody>
      </p:sp>
      <p:sp>
        <p:nvSpPr>
          <p:cNvPr id="5" name="Slide Number Placeholder 4">
            <a:extLst>
              <a:ext uri="{FF2B5EF4-FFF2-40B4-BE49-F238E27FC236}">
                <a16:creationId xmlns:a16="http://schemas.microsoft.com/office/drawing/2014/main" id="{59A507EF-6F96-ED42-B3B6-6A6F22BDD55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spTree>
    <p:extLst>
      <p:ext uri="{BB962C8B-B14F-4D97-AF65-F5344CB8AC3E}">
        <p14:creationId xmlns:p14="http://schemas.microsoft.com/office/powerpoint/2010/main" val="1132081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fade">
                                      <p:cBhvr>
                                        <p:cTn id="20"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OUTLINE of module 6</a:t>
            </a:r>
            <a:br>
              <a:rPr lang="en-US" dirty="0"/>
            </a:br>
            <a:endParaRPr lang="en-US" dirty="0"/>
          </a:p>
        </p:txBody>
      </p:sp>
      <p:sp>
        <p:nvSpPr>
          <p:cNvPr id="3" name="Content Placeholder 2"/>
          <p:cNvSpPr>
            <a:spLocks noGrp="1"/>
          </p:cNvSpPr>
          <p:nvPr>
            <p:ph idx="1"/>
          </p:nvPr>
        </p:nvSpPr>
        <p:spPr>
          <a:xfrm>
            <a:off x="457200" y="1094874"/>
            <a:ext cx="8229600" cy="5212407"/>
          </a:xfrm>
        </p:spPr>
        <p:txBody>
          <a:bodyPr>
            <a:normAutofit fontScale="92500" lnSpcReduction="10000"/>
          </a:bodyPr>
          <a:lstStyle/>
          <a:p>
            <a:pPr>
              <a:lnSpc>
                <a:spcPct val="120000"/>
              </a:lnSpc>
            </a:pPr>
            <a:r>
              <a:rPr lang="fr-FR" sz="2810" dirty="0">
                <a:solidFill>
                  <a:schemeClr val="bg1">
                    <a:lumMod val="65000"/>
                  </a:schemeClr>
                </a:solidFill>
              </a:rPr>
              <a:t>Simple vs. </a:t>
            </a:r>
            <a:r>
              <a:rPr lang="fr-FR" sz="2810" dirty="0" err="1">
                <a:solidFill>
                  <a:schemeClr val="bg1">
                    <a:lumMod val="65000"/>
                  </a:schemeClr>
                </a:solidFill>
              </a:rPr>
              <a:t>complex</a:t>
            </a:r>
            <a:r>
              <a:rPr lang="fr-FR" sz="2810" dirty="0">
                <a:solidFill>
                  <a:schemeClr val="bg1">
                    <a:lumMod val="65000"/>
                  </a:schemeClr>
                </a:solidFill>
              </a:rPr>
              <a:t> </a:t>
            </a:r>
            <a:r>
              <a:rPr lang="fr-FR" sz="2810" dirty="0" err="1">
                <a:solidFill>
                  <a:schemeClr val="bg1">
                    <a:lumMod val="65000"/>
                  </a:schemeClr>
                </a:solidFill>
              </a:rPr>
              <a:t>pricing</a:t>
            </a:r>
            <a:endParaRPr lang="fr-FR" sz="2810" dirty="0">
              <a:solidFill>
                <a:schemeClr val="bg1">
                  <a:lumMod val="65000"/>
                </a:schemeClr>
              </a:solidFill>
            </a:endParaRPr>
          </a:p>
          <a:p>
            <a:pPr>
              <a:lnSpc>
                <a:spcPct val="120000"/>
              </a:lnSpc>
            </a:pPr>
            <a:r>
              <a:rPr lang="fr-FR" dirty="0">
                <a:solidFill>
                  <a:schemeClr val="bg1">
                    <a:lumMod val="65000"/>
                  </a:schemeClr>
                </a:solidFill>
              </a:rPr>
              <a:t>Direct </a:t>
            </a:r>
            <a:r>
              <a:rPr lang="fr-FR" dirty="0" err="1">
                <a:solidFill>
                  <a:schemeClr val="bg1">
                    <a:lumMod val="65000"/>
                  </a:schemeClr>
                </a:solidFill>
              </a:rPr>
              <a:t>price</a:t>
            </a:r>
            <a:r>
              <a:rPr lang="fr-FR" dirty="0">
                <a:solidFill>
                  <a:schemeClr val="bg1">
                    <a:lumMod val="65000"/>
                  </a:schemeClr>
                </a:solidFill>
              </a:rPr>
              <a:t> discrimination</a:t>
            </a:r>
          </a:p>
          <a:p>
            <a:pPr lvl="1">
              <a:lnSpc>
                <a:spcPct val="120000"/>
              </a:lnSpc>
              <a:spcBef>
                <a:spcPts val="0"/>
              </a:spcBef>
            </a:pPr>
            <a:r>
              <a:rPr lang="fr-FR" dirty="0" err="1">
                <a:solidFill>
                  <a:schemeClr val="bg1">
                    <a:lumMod val="65000"/>
                  </a:schemeClr>
                </a:solidFill>
                <a:latin typeface="Whitney-Book" pitchFamily="50" charset="0"/>
                <a:cs typeface="Whitney-Book" pitchFamily="50" charset="0"/>
              </a:rPr>
              <a:t>Perfect</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price</a:t>
            </a:r>
            <a:r>
              <a:rPr lang="fr-FR" dirty="0">
                <a:solidFill>
                  <a:schemeClr val="bg1">
                    <a:lumMod val="65000"/>
                  </a:schemeClr>
                </a:solidFill>
                <a:latin typeface="Whitney-Book" pitchFamily="50" charset="0"/>
                <a:cs typeface="Whitney-Book" pitchFamily="50" charset="0"/>
              </a:rPr>
              <a:t> discrimination (first </a:t>
            </a:r>
            <a:r>
              <a:rPr lang="fr-FR" dirty="0" err="1">
                <a:solidFill>
                  <a:schemeClr val="bg1">
                    <a:lumMod val="65000"/>
                  </a:schemeClr>
                </a:solidFill>
                <a:latin typeface="Whitney-Book" pitchFamily="50" charset="0"/>
                <a:cs typeface="Whitney-Book" pitchFamily="50" charset="0"/>
              </a:rPr>
              <a:t>degree</a:t>
            </a:r>
            <a:r>
              <a:rPr lang="fr-FR" dirty="0">
                <a:solidFill>
                  <a:schemeClr val="bg1">
                    <a:lumMod val="65000"/>
                  </a:schemeClr>
                </a:solidFill>
                <a:latin typeface="Whitney-Book" pitchFamily="50" charset="0"/>
                <a:cs typeface="Whitney-Book" pitchFamily="50" charset="0"/>
              </a:rPr>
              <a:t>)</a:t>
            </a: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Segment </a:t>
            </a:r>
            <a:r>
              <a:rPr lang="fr-FR" dirty="0" err="1">
                <a:solidFill>
                  <a:schemeClr val="bg1">
                    <a:lumMod val="65000"/>
                  </a:schemeClr>
                </a:solidFill>
                <a:latin typeface="Whitney-Book" pitchFamily="50" charset="0"/>
                <a:cs typeface="Whitney-Book" pitchFamily="50" charset="0"/>
              </a:rPr>
              <a:t>pricing</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third</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degree</a:t>
            </a:r>
            <a:r>
              <a:rPr lang="fr-FR" dirty="0">
                <a:solidFill>
                  <a:schemeClr val="bg1">
                    <a:lumMod val="65000"/>
                  </a:schemeClr>
                </a:solidFill>
                <a:latin typeface="Whitney-Book" pitchFamily="50" charset="0"/>
                <a:cs typeface="Whitney-Book" pitchFamily="50" charset="0"/>
              </a:rPr>
              <a:t>)</a:t>
            </a:r>
          </a:p>
          <a:p>
            <a:pPr>
              <a:lnSpc>
                <a:spcPct val="120000"/>
              </a:lnSpc>
            </a:pPr>
            <a:r>
              <a:rPr lang="fr-FR" b="1" dirty="0"/>
              <a:t>Indirect </a:t>
            </a:r>
            <a:r>
              <a:rPr lang="fr-FR" b="1" dirty="0" err="1"/>
              <a:t>price</a:t>
            </a:r>
            <a:r>
              <a:rPr lang="fr-FR" b="1" dirty="0"/>
              <a:t> discrimination (second </a:t>
            </a:r>
            <a:r>
              <a:rPr lang="fr-FR" b="1" dirty="0" err="1"/>
              <a:t>degree</a:t>
            </a:r>
            <a:r>
              <a:rPr lang="fr-FR" b="1" dirty="0"/>
              <a:t>)</a:t>
            </a:r>
          </a:p>
          <a:p>
            <a:pPr marL="742950" lvl="2" indent="-342900">
              <a:lnSpc>
                <a:spcPct val="120000"/>
              </a:lnSpc>
            </a:pPr>
            <a:r>
              <a:rPr lang="fr-FR" sz="2400" b="1" dirty="0"/>
              <a:t>Versioning</a:t>
            </a:r>
          </a:p>
          <a:p>
            <a:pPr lvl="1">
              <a:lnSpc>
                <a:spcPct val="120000"/>
              </a:lnSpc>
              <a:spcBef>
                <a:spcPts val="0"/>
              </a:spcBef>
            </a:pPr>
            <a:r>
              <a:rPr lang="fr-FR" sz="2400" b="1" dirty="0"/>
              <a:t>Coupons</a:t>
            </a:r>
          </a:p>
          <a:p>
            <a:pPr>
              <a:lnSpc>
                <a:spcPct val="120000"/>
              </a:lnSpc>
            </a:pPr>
            <a:r>
              <a:rPr lang="fr-FR" sz="2810" dirty="0">
                <a:solidFill>
                  <a:schemeClr val="bg1">
                    <a:lumMod val="65000"/>
                  </a:schemeClr>
                </a:solidFill>
              </a:rPr>
              <a:t>Advanced </a:t>
            </a:r>
            <a:r>
              <a:rPr lang="fr-FR" sz="2810" dirty="0" err="1">
                <a:solidFill>
                  <a:schemeClr val="bg1">
                    <a:lumMod val="65000"/>
                  </a:schemeClr>
                </a:solidFill>
              </a:rPr>
              <a:t>pricing</a:t>
            </a:r>
            <a:r>
              <a:rPr lang="fr-FR" sz="2810" dirty="0">
                <a:solidFill>
                  <a:schemeClr val="bg1">
                    <a:lumMod val="65000"/>
                  </a:schemeClr>
                </a:solidFill>
              </a:rPr>
              <a:t> </a:t>
            </a:r>
            <a:r>
              <a:rPr lang="fr-FR" sz="2810" dirty="0" err="1">
                <a:solidFill>
                  <a:schemeClr val="bg1">
                    <a:lumMod val="65000"/>
                  </a:schemeClr>
                </a:solidFill>
              </a:rPr>
              <a:t>strategies</a:t>
            </a:r>
            <a:endParaRPr lang="fr-FR" sz="2810" dirty="0">
              <a:solidFill>
                <a:schemeClr val="bg1">
                  <a:lumMod val="65000"/>
                </a:schemeClr>
              </a:solidFill>
            </a:endParaRP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Flat </a:t>
            </a:r>
            <a:r>
              <a:rPr lang="fr-FR" dirty="0" err="1">
                <a:solidFill>
                  <a:schemeClr val="bg1">
                    <a:lumMod val="65000"/>
                  </a:schemeClr>
                </a:solidFill>
                <a:latin typeface="Whitney-Book" pitchFamily="50" charset="0"/>
                <a:cs typeface="Whitney-Book" pitchFamily="50" charset="0"/>
              </a:rPr>
              <a:t>fee</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pricing</a:t>
            </a:r>
            <a:endParaRPr lang="fr-FR" dirty="0">
              <a:solidFill>
                <a:schemeClr val="bg1">
                  <a:lumMod val="65000"/>
                </a:schemeClr>
              </a:solidFill>
              <a:latin typeface="Whitney-Book" pitchFamily="50" charset="0"/>
              <a:cs typeface="Whitney-Book" pitchFamily="50" charset="0"/>
            </a:endParaRPr>
          </a:p>
          <a:p>
            <a:pPr lvl="1">
              <a:lnSpc>
                <a:spcPct val="120000"/>
              </a:lnSpc>
              <a:spcBef>
                <a:spcPts val="0"/>
              </a:spcBef>
            </a:pPr>
            <a:r>
              <a:rPr lang="fr-FR" dirty="0" err="1">
                <a:solidFill>
                  <a:schemeClr val="bg1">
                    <a:lumMod val="65000"/>
                  </a:schemeClr>
                </a:solidFill>
                <a:latin typeface="Whitney-Book" pitchFamily="50" charset="0"/>
                <a:cs typeface="Whitney-Book" pitchFamily="50" charset="0"/>
              </a:rPr>
              <a:t>Two</a:t>
            </a:r>
            <a:r>
              <a:rPr lang="fr-FR" dirty="0">
                <a:solidFill>
                  <a:schemeClr val="bg1">
                    <a:lumMod val="65000"/>
                  </a:schemeClr>
                </a:solidFill>
                <a:latin typeface="Whitney-Book" pitchFamily="50" charset="0"/>
                <a:cs typeface="Whitney-Book" pitchFamily="50" charset="0"/>
              </a:rPr>
              <a:t>-part </a:t>
            </a:r>
            <a:r>
              <a:rPr lang="fr-FR" dirty="0" err="1">
                <a:solidFill>
                  <a:schemeClr val="bg1">
                    <a:lumMod val="65000"/>
                  </a:schemeClr>
                </a:solidFill>
                <a:latin typeface="Whitney-Book" pitchFamily="50" charset="0"/>
                <a:cs typeface="Whitney-Book" pitchFamily="50" charset="0"/>
              </a:rPr>
              <a:t>tariff</a:t>
            </a:r>
            <a:endParaRPr lang="fr-FR" dirty="0">
              <a:solidFill>
                <a:schemeClr val="bg1">
                  <a:lumMod val="65000"/>
                </a:schemeClr>
              </a:solidFill>
              <a:latin typeface="Whitney-Book" pitchFamily="50" charset="0"/>
              <a:cs typeface="Whitney-Book" pitchFamily="50" charset="0"/>
            </a:endParaRP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Block </a:t>
            </a:r>
            <a:r>
              <a:rPr lang="fr-FR" dirty="0" err="1">
                <a:solidFill>
                  <a:schemeClr val="bg1">
                    <a:lumMod val="65000"/>
                  </a:schemeClr>
                </a:solidFill>
                <a:latin typeface="Whitney-Book" pitchFamily="50" charset="0"/>
                <a:cs typeface="Whitney-Book" pitchFamily="50" charset="0"/>
              </a:rPr>
              <a:t>pricing</a:t>
            </a:r>
            <a:endParaRPr lang="fr-FR" dirty="0">
              <a:solidFill>
                <a:schemeClr val="bg1">
                  <a:lumMod val="65000"/>
                </a:schemeClr>
              </a:solidFill>
              <a:latin typeface="Whitney-Book" pitchFamily="50" charset="0"/>
              <a:cs typeface="Whitney-Book" pitchFamily="50" charset="0"/>
            </a:endParaRPr>
          </a:p>
          <a:p>
            <a:pPr marL="457200" lvl="1" indent="0">
              <a:buNone/>
            </a:pPr>
            <a:endParaRPr lang="fr-FR" dirty="0"/>
          </a:p>
          <a:p>
            <a:pPr lvl="1"/>
            <a:endParaRPr lang="en-US" dirty="0"/>
          </a:p>
          <a:p>
            <a:endParaRPr lang="en-US" dirty="0"/>
          </a:p>
        </p:txBody>
      </p:sp>
    </p:spTree>
    <p:extLst>
      <p:ext uri="{BB962C8B-B14F-4D97-AF65-F5344CB8AC3E}">
        <p14:creationId xmlns:p14="http://schemas.microsoft.com/office/powerpoint/2010/main" val="7030398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238539" y="127215"/>
            <a:ext cx="8719931" cy="1143000"/>
          </a:xfrm>
        </p:spPr>
        <p:txBody>
          <a:bodyPr>
            <a:normAutofit/>
          </a:bodyPr>
          <a:lstStyle/>
          <a:p>
            <a:pPr algn="ctr"/>
            <a:r>
              <a:rPr lang="en-US" dirty="0">
                <a:latin typeface="Whitney-Medium" pitchFamily="50" charset="0"/>
                <a:cs typeface="Whitney-Medium" pitchFamily="50" charset="0"/>
              </a:rPr>
              <a:t>Second degree price discrimination:</a:t>
            </a:r>
            <a:br>
              <a:rPr lang="en-US" dirty="0">
                <a:latin typeface="Whitney-Medium" pitchFamily="50" charset="0"/>
                <a:cs typeface="Whitney-Medium" pitchFamily="50" charset="0"/>
              </a:rPr>
            </a:br>
            <a:r>
              <a:rPr lang="en-US" dirty="0">
                <a:latin typeface="Whitney-Medium" pitchFamily="50" charset="0"/>
                <a:cs typeface="Whitney-Medium" pitchFamily="50" charset="0"/>
              </a:rPr>
              <a:t>Versioning</a:t>
            </a:r>
          </a:p>
        </p:txBody>
      </p:sp>
      <p:sp>
        <p:nvSpPr>
          <p:cNvPr id="3" name="Content Placeholder 2"/>
          <p:cNvSpPr>
            <a:spLocks noGrp="1"/>
          </p:cNvSpPr>
          <p:nvPr>
            <p:ph idx="1"/>
          </p:nvPr>
        </p:nvSpPr>
        <p:spPr>
          <a:xfrm>
            <a:off x="354168" y="1357120"/>
            <a:ext cx="8501270" cy="5133215"/>
          </a:xfrm>
        </p:spPr>
        <p:txBody>
          <a:bodyPr>
            <a:normAutofit/>
          </a:bodyPr>
          <a:lstStyle/>
          <a:p>
            <a:r>
              <a:rPr lang="en-US" sz="2600" dirty="0"/>
              <a:t>Indirect price discrimination</a:t>
            </a:r>
          </a:p>
          <a:p>
            <a:r>
              <a:rPr lang="en-US" sz="2600" dirty="0"/>
              <a:t>Charge different price for </a:t>
            </a:r>
            <a:r>
              <a:rPr lang="en-US" sz="2600" i="1" dirty="0"/>
              <a:t>different versions</a:t>
            </a:r>
            <a:r>
              <a:rPr lang="en-US" sz="2600" dirty="0"/>
              <a:t> of the product</a:t>
            </a:r>
          </a:p>
          <a:p>
            <a:endParaRPr lang="en-US" sz="2600" dirty="0"/>
          </a:p>
          <a:p>
            <a:r>
              <a:rPr lang="en-US" sz="2600" dirty="0"/>
              <a:t>Conditions:</a:t>
            </a:r>
          </a:p>
          <a:p>
            <a:pPr lvl="1"/>
            <a:r>
              <a:rPr lang="en-US" dirty="0"/>
              <a:t>Firm has market power</a:t>
            </a:r>
          </a:p>
          <a:p>
            <a:pPr lvl="1"/>
            <a:r>
              <a:rPr lang="en-US" dirty="0"/>
              <a:t>Consumer groups with different willingness to pay for the product category (e.g., flights)</a:t>
            </a:r>
          </a:p>
          <a:p>
            <a:pPr lvl="1"/>
            <a:r>
              <a:rPr lang="en-US" dirty="0"/>
              <a:t>Firm </a:t>
            </a:r>
            <a:r>
              <a:rPr lang="en-US" u="sng" dirty="0"/>
              <a:t>cannot</a:t>
            </a:r>
            <a:r>
              <a:rPr lang="en-US" dirty="0"/>
              <a:t> identify the different groups of consumers </a:t>
            </a:r>
          </a:p>
        </p:txBody>
      </p:sp>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spTree>
    <p:extLst>
      <p:ext uri="{BB962C8B-B14F-4D97-AF65-F5344CB8AC3E}">
        <p14:creationId xmlns:p14="http://schemas.microsoft.com/office/powerpoint/2010/main" val="9912053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a:xfrm>
            <a:off x="125506" y="168278"/>
            <a:ext cx="8928847" cy="1143000"/>
          </a:xfrm>
        </p:spPr>
        <p:txBody>
          <a:bodyPr>
            <a:normAutofit/>
          </a:bodyPr>
          <a:lstStyle/>
          <a:p>
            <a:pPr algn="ctr"/>
            <a:r>
              <a:rPr lang="en-US" sz="3750" dirty="0" err="1">
                <a:latin typeface="Whitney-Medium" pitchFamily="50" charset="0"/>
                <a:cs typeface="Whitney-Medium" pitchFamily="50" charset="0"/>
              </a:rPr>
              <a:t>VErsioning</a:t>
            </a:r>
            <a:endParaRPr lang="en-US" sz="3750" dirty="0">
              <a:latin typeface="Whitney-Medium" pitchFamily="50" charset="0"/>
              <a:cs typeface="Whitney-Medium" pitchFamily="50" charset="0"/>
            </a:endParaRPr>
          </a:p>
        </p:txBody>
      </p:sp>
      <p:sp>
        <p:nvSpPr>
          <p:cNvPr id="183299" name="Rectangle 3"/>
          <p:cNvSpPr>
            <a:spLocks noGrp="1" noChangeArrowheads="1"/>
          </p:cNvSpPr>
          <p:nvPr>
            <p:ph idx="1"/>
          </p:nvPr>
        </p:nvSpPr>
        <p:spPr>
          <a:xfrm>
            <a:off x="5891454" y="1668985"/>
            <a:ext cx="3334218" cy="4525963"/>
          </a:xfrm>
        </p:spPr>
        <p:txBody>
          <a:bodyPr>
            <a:normAutofit/>
          </a:bodyPr>
          <a:lstStyle/>
          <a:p>
            <a:pPr lvl="1">
              <a:spcBef>
                <a:spcPts val="0"/>
              </a:spcBef>
              <a:spcAft>
                <a:spcPts val="563"/>
              </a:spcAft>
            </a:pPr>
            <a:r>
              <a:rPr lang="en-US" sz="2400" dirty="0">
                <a:latin typeface="Whitney-Book" pitchFamily="50" charset="0"/>
                <a:cs typeface="Whitney-Book" pitchFamily="50" charset="0"/>
              </a:rPr>
              <a:t>Create different “versions” of your product</a:t>
            </a:r>
          </a:p>
          <a:p>
            <a:pPr lvl="1">
              <a:spcBef>
                <a:spcPts val="0"/>
              </a:spcBef>
              <a:spcAft>
                <a:spcPts val="563"/>
              </a:spcAft>
            </a:pPr>
            <a:endParaRPr lang="en-US" sz="2400" dirty="0">
              <a:latin typeface="Whitney-Book" pitchFamily="50" charset="0"/>
              <a:cs typeface="Whitney-Book" pitchFamily="50" charset="0"/>
            </a:endParaRPr>
          </a:p>
          <a:p>
            <a:pPr lvl="1">
              <a:spcBef>
                <a:spcPts val="0"/>
              </a:spcBef>
              <a:spcAft>
                <a:spcPts val="563"/>
              </a:spcAft>
            </a:pPr>
            <a:r>
              <a:rPr lang="en-US" sz="2400" dirty="0">
                <a:latin typeface="Whitney-Book" pitchFamily="50" charset="0"/>
                <a:cs typeface="Whitney-Book" pitchFamily="50" charset="0"/>
              </a:rPr>
              <a:t>Design them such that customers with different MPV “self-select” into the desired version</a:t>
            </a:r>
          </a:p>
        </p:txBody>
      </p:sp>
      <p:sp>
        <p:nvSpPr>
          <p:cNvPr id="11" name="Line 3"/>
          <p:cNvSpPr>
            <a:spLocks noChangeShapeType="1"/>
          </p:cNvSpPr>
          <p:nvPr/>
        </p:nvSpPr>
        <p:spPr bwMode="auto">
          <a:xfrm>
            <a:off x="961656" y="1995786"/>
            <a:ext cx="0" cy="4342805"/>
          </a:xfrm>
          <a:prstGeom prst="line">
            <a:avLst/>
          </a:prstGeom>
          <a:noFill/>
          <a:ln w="38100">
            <a:solidFill>
              <a:schemeClr val="tx1"/>
            </a:solidFill>
            <a:round/>
            <a:headEnd type="triangle" w="med" len="med"/>
            <a:tailEnd type="none" w="sm" len="sm"/>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12" name="Line 4"/>
          <p:cNvSpPr>
            <a:spLocks noChangeShapeType="1"/>
          </p:cNvSpPr>
          <p:nvPr/>
        </p:nvSpPr>
        <p:spPr bwMode="auto">
          <a:xfrm>
            <a:off x="961656" y="6325195"/>
            <a:ext cx="6477000" cy="0"/>
          </a:xfrm>
          <a:prstGeom prst="line">
            <a:avLst/>
          </a:prstGeom>
          <a:noFill/>
          <a:ln w="38100">
            <a:solidFill>
              <a:schemeClr val="tx1"/>
            </a:solidFill>
            <a:round/>
            <a:headEnd type="none" w="sm" len="sm"/>
            <a:tailEnd type="triangle" w="med" len="me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grpSp>
        <p:nvGrpSpPr>
          <p:cNvPr id="13" name="Group 5"/>
          <p:cNvGrpSpPr>
            <a:grpSpLocks/>
          </p:cNvGrpSpPr>
          <p:nvPr/>
        </p:nvGrpSpPr>
        <p:grpSpPr bwMode="auto">
          <a:xfrm>
            <a:off x="550891" y="2899172"/>
            <a:ext cx="1403448" cy="3420071"/>
            <a:chOff x="697" y="1948"/>
            <a:chExt cx="943" cy="2298"/>
          </a:xfrm>
        </p:grpSpPr>
        <p:sp>
          <p:nvSpPr>
            <p:cNvPr id="14" name="Rectangle 6"/>
            <p:cNvSpPr>
              <a:spLocks noChangeArrowheads="1"/>
            </p:cNvSpPr>
            <p:nvPr/>
          </p:nvSpPr>
          <p:spPr bwMode="auto">
            <a:xfrm>
              <a:off x="980" y="1948"/>
              <a:ext cx="660"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Version 1</a:t>
              </a:r>
            </a:p>
          </p:txBody>
        </p:sp>
        <p:sp>
          <p:nvSpPr>
            <p:cNvPr id="15" name="Rectangle 7"/>
            <p:cNvSpPr>
              <a:spLocks noChangeArrowheads="1"/>
            </p:cNvSpPr>
            <p:nvPr/>
          </p:nvSpPr>
          <p:spPr bwMode="auto">
            <a:xfrm>
              <a:off x="977" y="2359"/>
              <a:ext cx="197" cy="1887"/>
            </a:xfrm>
            <a:prstGeom prst="rect">
              <a:avLst/>
            </a:prstGeom>
            <a:solidFill>
              <a:schemeClr val="accent1">
                <a:lumMod val="25000"/>
                <a:lumOff val="75000"/>
              </a:schemeClr>
            </a:solidFill>
            <a:ln w="12700">
              <a:solidFill>
                <a:schemeClr val="tx1"/>
              </a:solidFill>
              <a:miter lim="800000"/>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16" name="Rectangle 8"/>
            <p:cNvSpPr>
              <a:spLocks noChangeArrowheads="1"/>
            </p:cNvSpPr>
            <p:nvPr/>
          </p:nvSpPr>
          <p:spPr bwMode="auto">
            <a:xfrm>
              <a:off x="697" y="2213"/>
              <a:ext cx="229"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a:t>
              </a:r>
              <a:r>
                <a:rPr kumimoji="0" lang="en-US" sz="1688" b="0" i="1" u="none" strike="noStrike" kern="1200" cap="none" spc="0" normalizeH="0" baseline="-25000" noProof="0" dirty="0">
                  <a:ln>
                    <a:noFill/>
                  </a:ln>
                  <a:solidFill>
                    <a:prstClr val="black"/>
                  </a:solidFill>
                  <a:effectLst/>
                  <a:uLnTx/>
                  <a:uFillTx/>
                  <a:latin typeface="Whitney-Book" pitchFamily="50" charset="0"/>
                  <a:ea typeface="+mn-ea"/>
                  <a:cs typeface="Whitney-Book" pitchFamily="50" charset="0"/>
                </a:rPr>
                <a:t>1</a:t>
              </a:r>
            </a:p>
          </p:txBody>
        </p:sp>
      </p:grpSp>
      <p:grpSp>
        <p:nvGrpSpPr>
          <p:cNvPr id="18" name="Group 9"/>
          <p:cNvGrpSpPr>
            <a:grpSpLocks/>
          </p:cNvGrpSpPr>
          <p:nvPr/>
        </p:nvGrpSpPr>
        <p:grpSpPr bwMode="auto">
          <a:xfrm>
            <a:off x="524103" y="3308449"/>
            <a:ext cx="1869281" cy="3010793"/>
            <a:chOff x="692" y="2223"/>
            <a:chExt cx="1256" cy="2023"/>
          </a:xfrm>
        </p:grpSpPr>
        <p:sp>
          <p:nvSpPr>
            <p:cNvPr id="19" name="Rectangle 10"/>
            <p:cNvSpPr>
              <a:spLocks noChangeArrowheads="1"/>
            </p:cNvSpPr>
            <p:nvPr/>
          </p:nvSpPr>
          <p:spPr bwMode="auto">
            <a:xfrm>
              <a:off x="1182" y="2547"/>
              <a:ext cx="299" cy="1699"/>
            </a:xfrm>
            <a:prstGeom prst="rect">
              <a:avLst/>
            </a:prstGeom>
            <a:solidFill>
              <a:schemeClr val="accent2">
                <a:lumMod val="40000"/>
                <a:lumOff val="60000"/>
              </a:schemeClr>
            </a:solidFill>
            <a:ln w="12700">
              <a:solidFill>
                <a:schemeClr val="tx1"/>
              </a:solidFill>
              <a:miter lim="800000"/>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20" name="Rectangle 11"/>
            <p:cNvSpPr>
              <a:spLocks noChangeArrowheads="1"/>
            </p:cNvSpPr>
            <p:nvPr/>
          </p:nvSpPr>
          <p:spPr bwMode="auto">
            <a:xfrm>
              <a:off x="1262" y="2223"/>
              <a:ext cx="686"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Version 2</a:t>
              </a:r>
            </a:p>
          </p:txBody>
        </p:sp>
        <p:sp>
          <p:nvSpPr>
            <p:cNvPr id="21" name="Rectangle 12"/>
            <p:cNvSpPr>
              <a:spLocks noChangeArrowheads="1"/>
            </p:cNvSpPr>
            <p:nvPr/>
          </p:nvSpPr>
          <p:spPr bwMode="auto">
            <a:xfrm>
              <a:off x="692" y="2473"/>
              <a:ext cx="246"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a:t>
              </a:r>
              <a:r>
                <a:rPr kumimoji="0" lang="en-US" sz="1688" b="0" i="1" u="none" strike="noStrike" kern="1200" cap="none" spc="0" normalizeH="0" baseline="-25000" noProof="0" dirty="0">
                  <a:ln>
                    <a:noFill/>
                  </a:ln>
                  <a:solidFill>
                    <a:prstClr val="black"/>
                  </a:solidFill>
                  <a:effectLst/>
                  <a:uLnTx/>
                  <a:uFillTx/>
                  <a:latin typeface="Whitney-Book" pitchFamily="50" charset="0"/>
                  <a:ea typeface="+mn-ea"/>
                  <a:cs typeface="Whitney-Book" pitchFamily="50" charset="0"/>
                </a:rPr>
                <a:t>2</a:t>
              </a:r>
            </a:p>
          </p:txBody>
        </p:sp>
      </p:grpSp>
      <p:grpSp>
        <p:nvGrpSpPr>
          <p:cNvPr id="22" name="Group 13"/>
          <p:cNvGrpSpPr>
            <a:grpSpLocks/>
          </p:cNvGrpSpPr>
          <p:nvPr/>
        </p:nvGrpSpPr>
        <p:grpSpPr bwMode="auto">
          <a:xfrm>
            <a:off x="543451" y="3640337"/>
            <a:ext cx="2323207" cy="2678906"/>
            <a:chOff x="713" y="2446"/>
            <a:chExt cx="1561" cy="1800"/>
          </a:xfrm>
        </p:grpSpPr>
        <p:sp>
          <p:nvSpPr>
            <p:cNvPr id="23" name="Rectangle 14"/>
            <p:cNvSpPr>
              <a:spLocks noChangeArrowheads="1"/>
            </p:cNvSpPr>
            <p:nvPr/>
          </p:nvSpPr>
          <p:spPr bwMode="auto">
            <a:xfrm>
              <a:off x="1489" y="2933"/>
              <a:ext cx="504" cy="1313"/>
            </a:xfrm>
            <a:prstGeom prst="rect">
              <a:avLst/>
            </a:prstGeom>
            <a:solidFill>
              <a:schemeClr val="hlink"/>
            </a:solidFill>
            <a:ln w="12700">
              <a:solidFill>
                <a:schemeClr val="tx1"/>
              </a:solidFill>
              <a:miter lim="800000"/>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24" name="Rectangle 15"/>
            <p:cNvSpPr>
              <a:spLocks noChangeArrowheads="1"/>
            </p:cNvSpPr>
            <p:nvPr/>
          </p:nvSpPr>
          <p:spPr bwMode="auto">
            <a:xfrm>
              <a:off x="1589" y="2446"/>
              <a:ext cx="685"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Version 3</a:t>
              </a:r>
            </a:p>
          </p:txBody>
        </p:sp>
        <p:sp>
          <p:nvSpPr>
            <p:cNvPr id="25" name="Rectangle 16"/>
            <p:cNvSpPr>
              <a:spLocks noChangeArrowheads="1"/>
            </p:cNvSpPr>
            <p:nvPr/>
          </p:nvSpPr>
          <p:spPr bwMode="auto">
            <a:xfrm>
              <a:off x="713" y="2826"/>
              <a:ext cx="245"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a:t>
              </a:r>
              <a:r>
                <a:rPr kumimoji="0" lang="en-US" sz="1688" b="0" i="1" u="none" strike="noStrike" kern="1200" cap="none" spc="0" normalizeH="0" baseline="-25000" noProof="0" dirty="0">
                  <a:ln>
                    <a:noFill/>
                  </a:ln>
                  <a:solidFill>
                    <a:prstClr val="black"/>
                  </a:solidFill>
                  <a:effectLst/>
                  <a:uLnTx/>
                  <a:uFillTx/>
                  <a:latin typeface="Whitney-Book" pitchFamily="50" charset="0"/>
                  <a:ea typeface="+mn-ea"/>
                  <a:cs typeface="Whitney-Book" pitchFamily="50" charset="0"/>
                </a:rPr>
                <a:t>3</a:t>
              </a:r>
            </a:p>
          </p:txBody>
        </p:sp>
      </p:grpSp>
      <p:grpSp>
        <p:nvGrpSpPr>
          <p:cNvPr id="26" name="Group 21"/>
          <p:cNvGrpSpPr>
            <a:grpSpLocks/>
          </p:cNvGrpSpPr>
          <p:nvPr/>
        </p:nvGrpSpPr>
        <p:grpSpPr bwMode="auto">
          <a:xfrm>
            <a:off x="574258" y="4781850"/>
            <a:ext cx="3854648" cy="1537396"/>
            <a:chOff x="770" y="3213"/>
            <a:chExt cx="2590" cy="1033"/>
          </a:xfrm>
        </p:grpSpPr>
        <p:sp>
          <p:nvSpPr>
            <p:cNvPr id="27" name="Rectangle 22"/>
            <p:cNvSpPr>
              <a:spLocks noChangeArrowheads="1"/>
            </p:cNvSpPr>
            <p:nvPr/>
          </p:nvSpPr>
          <p:spPr bwMode="auto">
            <a:xfrm>
              <a:off x="2642" y="3905"/>
              <a:ext cx="718" cy="341"/>
            </a:xfrm>
            <a:prstGeom prst="rect">
              <a:avLst/>
            </a:prstGeom>
            <a:solidFill>
              <a:srgbClr val="00B7A5"/>
            </a:solidFill>
            <a:ln w="12700">
              <a:solidFill>
                <a:schemeClr val="tx1"/>
              </a:solidFill>
              <a:miter lim="800000"/>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28" name="Rectangle 23"/>
            <p:cNvSpPr>
              <a:spLocks noChangeArrowheads="1"/>
            </p:cNvSpPr>
            <p:nvPr/>
          </p:nvSpPr>
          <p:spPr bwMode="auto">
            <a:xfrm>
              <a:off x="2674" y="3213"/>
              <a:ext cx="686"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Version 5</a:t>
              </a:r>
            </a:p>
          </p:txBody>
        </p:sp>
        <p:sp>
          <p:nvSpPr>
            <p:cNvPr id="29" name="Rectangle 24"/>
            <p:cNvSpPr>
              <a:spLocks noChangeArrowheads="1"/>
            </p:cNvSpPr>
            <p:nvPr/>
          </p:nvSpPr>
          <p:spPr bwMode="auto">
            <a:xfrm>
              <a:off x="770" y="3778"/>
              <a:ext cx="246"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a:t>
              </a:r>
              <a:r>
                <a:rPr kumimoji="0" lang="en-US" sz="1688" b="0" i="1" u="none" strike="noStrike" kern="1200" cap="none" spc="0" normalizeH="0" baseline="-25000" noProof="0" dirty="0">
                  <a:ln>
                    <a:noFill/>
                  </a:ln>
                  <a:solidFill>
                    <a:prstClr val="black"/>
                  </a:solidFill>
                  <a:effectLst/>
                  <a:uLnTx/>
                  <a:uFillTx/>
                  <a:latin typeface="Whitney-Book" pitchFamily="50" charset="0"/>
                  <a:ea typeface="+mn-ea"/>
                  <a:cs typeface="Whitney-Book" pitchFamily="50" charset="0"/>
                </a:rPr>
                <a:t>5</a:t>
              </a:r>
            </a:p>
          </p:txBody>
        </p:sp>
      </p:grpSp>
      <p:sp>
        <p:nvSpPr>
          <p:cNvPr id="30" name="Rectangle 25"/>
          <p:cNvSpPr>
            <a:spLocks noChangeArrowheads="1"/>
          </p:cNvSpPr>
          <p:nvPr/>
        </p:nvSpPr>
        <p:spPr bwMode="auto">
          <a:xfrm>
            <a:off x="5052953" y="5917080"/>
            <a:ext cx="920524" cy="352924"/>
          </a:xfrm>
          <a:prstGeom prst="rect">
            <a:avLst/>
          </a:prstGeom>
          <a:noFill/>
          <a:ln w="9525">
            <a:noFill/>
            <a:miter lim="800000"/>
            <a:headEnd/>
            <a:tailEnd/>
          </a:ln>
          <a:effectLst/>
        </p:spPr>
        <p:txBody>
          <a:bodyPr wrap="none" lIns="92273" tIns="46136" rIns="92273" bIns="46136">
            <a:spAutoFit/>
          </a:bodyPr>
          <a:lstStyle/>
          <a:p>
            <a:pPr marL="0" marR="0" lvl="0" indent="0" algn="l" defTabSz="974825" rtl="0" eaLnBrk="1" fontAlgn="auto" latinLnBrk="0" hangingPunct="1">
              <a:lnSpc>
                <a:spcPct val="100000"/>
              </a:lnSpc>
              <a:spcBef>
                <a:spcPts val="0"/>
              </a:spcBef>
              <a:spcAft>
                <a:spcPts val="0"/>
              </a:spcAft>
              <a:buClrTx/>
              <a:buSzTx/>
              <a:buFontTx/>
              <a:buNone/>
              <a:tabLst/>
              <a:defRPr/>
            </a:pPr>
            <a:r>
              <a:rPr lang="en-US" sz="1688" dirty="0">
                <a:solidFill>
                  <a:srgbClr val="C00000"/>
                </a:solidFill>
                <a:latin typeface="Whitney-Book" pitchFamily="50" charset="0"/>
                <a:cs typeface="Whitney-Book" pitchFamily="50" charset="0"/>
              </a:rPr>
              <a:t>d</a:t>
            </a:r>
            <a:r>
              <a:rPr kumimoji="0" lang="en-US" sz="1688" b="0" i="0" u="none" strike="noStrike" kern="1200" cap="none" spc="0" normalizeH="0" baseline="0" noProof="0" dirty="0" err="1">
                <a:ln>
                  <a:noFill/>
                </a:ln>
                <a:solidFill>
                  <a:srgbClr val="C00000"/>
                </a:solidFill>
                <a:effectLst/>
                <a:uLnTx/>
                <a:uFillTx/>
                <a:latin typeface="Whitney-Book" pitchFamily="50" charset="0"/>
                <a:ea typeface="+mn-ea"/>
                <a:cs typeface="Whitney-Book" pitchFamily="50" charset="0"/>
              </a:rPr>
              <a:t>emand</a:t>
            </a:r>
            <a:endParaRPr kumimoji="0" lang="en-US" sz="1688" b="0" i="0" u="none" strike="noStrike" kern="1200" cap="none" spc="0" normalizeH="0" baseline="0" noProof="0" dirty="0">
              <a:ln>
                <a:noFill/>
              </a:ln>
              <a:solidFill>
                <a:srgbClr val="C00000"/>
              </a:solidFill>
              <a:effectLst/>
              <a:uLnTx/>
              <a:uFillTx/>
              <a:latin typeface="Whitney-Book" pitchFamily="50" charset="0"/>
              <a:ea typeface="+mn-ea"/>
              <a:cs typeface="Whitney-Book" pitchFamily="50" charset="0"/>
            </a:endParaRPr>
          </a:p>
        </p:txBody>
      </p:sp>
      <p:sp>
        <p:nvSpPr>
          <p:cNvPr id="31" name="Rectangle 26"/>
          <p:cNvSpPr>
            <a:spLocks noChangeArrowheads="1"/>
          </p:cNvSpPr>
          <p:nvPr/>
        </p:nvSpPr>
        <p:spPr bwMode="auto">
          <a:xfrm>
            <a:off x="550891" y="1608144"/>
            <a:ext cx="964855" cy="352924"/>
          </a:xfrm>
          <a:prstGeom prst="rect">
            <a:avLst/>
          </a:prstGeom>
          <a:noFill/>
          <a:ln w="9525">
            <a:noFill/>
            <a:miter lim="800000"/>
            <a:headEnd/>
            <a:tailEnd/>
          </a:ln>
          <a:effectLst/>
        </p:spPr>
        <p:txBody>
          <a:bodyPr wrap="square" lIns="92273" tIns="46136" rIns="92273" bIns="46136">
            <a:spAutoFit/>
          </a:bodyPr>
          <a:lstStyle/>
          <a:p>
            <a:pPr marL="0" marR="0" lvl="0" indent="0" algn="l" defTabSz="974825"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P/MPV</a:t>
            </a:r>
          </a:p>
        </p:txBody>
      </p:sp>
      <p:grpSp>
        <p:nvGrpSpPr>
          <p:cNvPr id="32" name="Group 31"/>
          <p:cNvGrpSpPr/>
          <p:nvPr/>
        </p:nvGrpSpPr>
        <p:grpSpPr>
          <a:xfrm>
            <a:off x="569867" y="4192291"/>
            <a:ext cx="4020061" cy="2141389"/>
            <a:chOff x="1169988" y="4472249"/>
            <a:chExt cx="4288064" cy="2284149"/>
          </a:xfrm>
        </p:grpSpPr>
        <p:grpSp>
          <p:nvGrpSpPr>
            <p:cNvPr id="33" name="Group 17"/>
            <p:cNvGrpSpPr>
              <a:grpSpLocks/>
            </p:cNvGrpSpPr>
            <p:nvPr/>
          </p:nvGrpSpPr>
          <p:grpSpPr bwMode="auto">
            <a:xfrm>
              <a:off x="1169988" y="5140324"/>
              <a:ext cx="2976563" cy="1616074"/>
              <a:chOff x="737" y="3238"/>
              <a:chExt cx="1875" cy="1018"/>
            </a:xfrm>
          </p:grpSpPr>
          <p:sp>
            <p:nvSpPr>
              <p:cNvPr id="35" name="Rectangle 18"/>
              <p:cNvSpPr>
                <a:spLocks noChangeArrowheads="1"/>
              </p:cNvSpPr>
              <p:nvPr/>
            </p:nvSpPr>
            <p:spPr bwMode="auto">
              <a:xfrm>
                <a:off x="2010" y="3330"/>
                <a:ext cx="602" cy="926"/>
              </a:xfrm>
              <a:prstGeom prst="rect">
                <a:avLst/>
              </a:prstGeom>
              <a:solidFill>
                <a:srgbClr val="FAFD00"/>
              </a:solidFill>
              <a:ln w="12700">
                <a:solidFill>
                  <a:schemeClr val="tx1"/>
                </a:solidFill>
                <a:miter lim="800000"/>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36" name="Rectangle 19"/>
              <p:cNvSpPr>
                <a:spLocks noChangeArrowheads="1"/>
              </p:cNvSpPr>
              <p:nvPr/>
            </p:nvSpPr>
            <p:spPr bwMode="auto">
              <a:xfrm>
                <a:off x="2345" y="3317"/>
                <a:ext cx="117"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37" name="Rectangle 20"/>
              <p:cNvSpPr>
                <a:spLocks noChangeArrowheads="1"/>
              </p:cNvSpPr>
              <p:nvPr/>
            </p:nvSpPr>
            <p:spPr bwMode="auto">
              <a:xfrm>
                <a:off x="737" y="3238"/>
                <a:ext cx="252" cy="233"/>
              </a:xfrm>
              <a:prstGeom prst="rect">
                <a:avLst/>
              </a:prstGeom>
              <a:noFill/>
              <a:ln w="9525">
                <a:noFill/>
                <a:miter lim="800000"/>
                <a:headEnd/>
                <a:tailEnd/>
              </a:ln>
              <a:effectLst/>
            </p:spPr>
            <p:txBody>
              <a:bodyPr wrap="squar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a:t>
                </a:r>
                <a:r>
                  <a:rPr kumimoji="0" lang="en-US" sz="1688" b="0" i="1" u="none" strike="noStrike" kern="1200" cap="none" spc="0" normalizeH="0" baseline="-25000" noProof="0" dirty="0">
                    <a:ln>
                      <a:noFill/>
                    </a:ln>
                    <a:solidFill>
                      <a:prstClr val="black"/>
                    </a:solidFill>
                    <a:effectLst/>
                    <a:uLnTx/>
                    <a:uFillTx/>
                    <a:latin typeface="Whitney-Book" pitchFamily="50" charset="0"/>
                    <a:ea typeface="+mn-ea"/>
                    <a:cs typeface="Whitney-Book" pitchFamily="50" charset="0"/>
                  </a:rPr>
                  <a:t>4</a:t>
                </a:r>
              </a:p>
            </p:txBody>
          </p:sp>
        </p:grpSp>
        <p:sp>
          <p:nvSpPr>
            <p:cNvPr id="34" name="Text Box 42"/>
            <p:cNvSpPr txBox="1">
              <a:spLocks noChangeArrowheads="1"/>
            </p:cNvSpPr>
            <p:nvPr/>
          </p:nvSpPr>
          <p:spPr bwMode="auto">
            <a:xfrm>
              <a:off x="3324452" y="4472249"/>
              <a:ext cx="2133600" cy="375556"/>
            </a:xfrm>
            <a:prstGeom prst="rect">
              <a:avLst/>
            </a:prstGeom>
            <a:noFill/>
            <a:ln w="12700">
              <a:noFill/>
              <a:miter lim="800000"/>
              <a:headEnd type="none" w="sm" len="sm"/>
              <a:tailEnd type="none" w="sm" len="sm"/>
            </a:ln>
            <a:effectLst/>
          </p:spPr>
          <p:txBody>
            <a:bodyPr>
              <a:spAutoFit/>
            </a:bodyPr>
            <a:lstStyle/>
            <a:p>
              <a:pPr marL="0" marR="0" lvl="0" indent="0" algn="l" defTabSz="457200" rtl="0" eaLnBrk="1" fontAlgn="auto" latinLnBrk="0" hangingPunct="1">
                <a:lnSpc>
                  <a:spcPct val="100000"/>
                </a:lnSpc>
                <a:spcBef>
                  <a:spcPct val="50000"/>
                </a:spcBef>
                <a:spcAft>
                  <a:spcPts val="0"/>
                </a:spcAft>
                <a:buClrTx/>
                <a:buSzTx/>
                <a:buFontTx/>
                <a:buNone/>
                <a:tabLst/>
                <a:defRPr/>
              </a:pPr>
              <a:r>
                <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Version 4</a:t>
              </a:r>
            </a:p>
          </p:txBody>
        </p:sp>
      </p:grpSp>
      <p:sp>
        <p:nvSpPr>
          <p:cNvPr id="2" name="Slide Number Placeholder 1">
            <a:extLst>
              <a:ext uri="{FF2B5EF4-FFF2-40B4-BE49-F238E27FC236}">
                <a16:creationId xmlns:a16="http://schemas.microsoft.com/office/drawing/2014/main" id="{B7E30FFA-213C-ED49-B585-283822FA9CAD}"/>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cxnSp>
        <p:nvCxnSpPr>
          <p:cNvPr id="4" name="Straight Connector 3">
            <a:extLst>
              <a:ext uri="{FF2B5EF4-FFF2-40B4-BE49-F238E27FC236}">
                <a16:creationId xmlns:a16="http://schemas.microsoft.com/office/drawing/2014/main" id="{5DB17963-918E-4811-AC09-D4DBF868BF97}"/>
              </a:ext>
            </a:extLst>
          </p:cNvPr>
          <p:cNvCxnSpPr>
            <a:cxnSpLocks/>
          </p:cNvCxnSpPr>
          <p:nvPr/>
        </p:nvCxnSpPr>
        <p:spPr>
          <a:xfrm>
            <a:off x="961656" y="3223476"/>
            <a:ext cx="4222649" cy="3088324"/>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E09D64DA-4BA7-4EEB-BB22-93DF72702621}"/>
              </a:ext>
            </a:extLst>
          </p:cNvPr>
          <p:cNvPicPr>
            <a:picLocks noChangeAspect="1"/>
          </p:cNvPicPr>
          <p:nvPr/>
        </p:nvPicPr>
        <p:blipFill>
          <a:blip r:embed="rId4"/>
          <a:stretch>
            <a:fillRect/>
          </a:stretch>
        </p:blipFill>
        <p:spPr>
          <a:xfrm>
            <a:off x="2028517" y="1018562"/>
            <a:ext cx="4234327" cy="2382649"/>
          </a:xfrm>
          <a:prstGeom prst="rect">
            <a:avLst/>
          </a:prstGeom>
        </p:spPr>
      </p:pic>
    </p:spTree>
    <p:custDataLst>
      <p:tags r:id="rId1"/>
    </p:custDataLst>
    <p:extLst>
      <p:ext uri="{BB962C8B-B14F-4D97-AF65-F5344CB8AC3E}">
        <p14:creationId xmlns:p14="http://schemas.microsoft.com/office/powerpoint/2010/main" val="2359576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32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132523" y="127215"/>
            <a:ext cx="8724372" cy="1143000"/>
          </a:xfrm>
        </p:spPr>
        <p:txBody>
          <a:bodyPr>
            <a:normAutofit/>
          </a:bodyPr>
          <a:lstStyle/>
          <a:p>
            <a:pPr algn="ctr"/>
            <a:r>
              <a:rPr lang="en-US" sz="3750" dirty="0" err="1">
                <a:latin typeface="Whitney-Medium" pitchFamily="50" charset="0"/>
                <a:cs typeface="Whitney-Medium" pitchFamily="50" charset="0"/>
              </a:rPr>
              <a:t>VErsioning</a:t>
            </a:r>
            <a:endParaRPr lang="en-US" sz="3750" dirty="0">
              <a:latin typeface="Whitney-Medium" pitchFamily="50" charset="0"/>
              <a:cs typeface="Whitney-Medium" pitchFamily="50" charset="0"/>
            </a:endParaRPr>
          </a:p>
        </p:txBody>
      </p:sp>
      <p:sp>
        <p:nvSpPr>
          <p:cNvPr id="2" name="Content Placeholder 1"/>
          <p:cNvSpPr>
            <a:spLocks noGrp="1"/>
          </p:cNvSpPr>
          <p:nvPr>
            <p:ph idx="1"/>
          </p:nvPr>
        </p:nvSpPr>
        <p:spPr>
          <a:xfrm>
            <a:off x="457200" y="1207951"/>
            <a:ext cx="8229600" cy="1973455"/>
          </a:xfrm>
        </p:spPr>
        <p:txBody>
          <a:bodyPr/>
          <a:lstStyle/>
          <a:p>
            <a:r>
              <a:rPr lang="en-US" dirty="0"/>
              <a:t>Offer a product line and let users sort themselves</a:t>
            </a:r>
          </a:p>
          <a:p>
            <a:endParaRPr lang="en-US" dirty="0"/>
          </a:p>
          <a:p>
            <a:endParaRPr lang="en-US" dirty="0"/>
          </a:p>
        </p:txBody>
      </p:sp>
      <p:sp>
        <p:nvSpPr>
          <p:cNvPr id="3" name="Slide Number Placeholder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pic>
        <p:nvPicPr>
          <p:cNvPr id="7" name="Picture 6">
            <a:extLst>
              <a:ext uri="{FF2B5EF4-FFF2-40B4-BE49-F238E27FC236}">
                <a16:creationId xmlns:a16="http://schemas.microsoft.com/office/drawing/2014/main" id="{EBB108AC-9F07-5A4F-9707-379ADEBBAA24}"/>
              </a:ext>
            </a:extLst>
          </p:cNvPr>
          <p:cNvPicPr>
            <a:picLocks noChangeAspect="1"/>
          </p:cNvPicPr>
          <p:nvPr/>
        </p:nvPicPr>
        <p:blipFill>
          <a:blip r:embed="rId3"/>
          <a:stretch>
            <a:fillRect/>
          </a:stretch>
        </p:blipFill>
        <p:spPr>
          <a:xfrm>
            <a:off x="214307" y="2088944"/>
            <a:ext cx="4673056" cy="2550049"/>
          </a:xfrm>
          <a:prstGeom prst="rect">
            <a:avLst/>
          </a:prstGeom>
          <a:effectLst>
            <a:outerShdw blurRad="50800" dist="38100" dir="10800000" algn="r" rotWithShape="0">
              <a:prstClr val="black">
                <a:alpha val="40000"/>
              </a:prstClr>
            </a:outerShdw>
          </a:effectLst>
        </p:spPr>
      </p:pic>
      <p:pic>
        <p:nvPicPr>
          <p:cNvPr id="8" name="Picture 7" descr="coke pepsi mini cans">
            <a:extLst>
              <a:ext uri="{FF2B5EF4-FFF2-40B4-BE49-F238E27FC236}">
                <a16:creationId xmlns:a16="http://schemas.microsoft.com/office/drawing/2014/main" id="{F911E25C-CFB5-4044-B000-3745F06C013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31987"/>
          <a:stretch/>
        </p:blipFill>
        <p:spPr bwMode="auto">
          <a:xfrm>
            <a:off x="5464085" y="2295545"/>
            <a:ext cx="3108325" cy="158555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4CE2D25-39D7-4333-A663-791953ABCB53}"/>
              </a:ext>
            </a:extLst>
          </p:cNvPr>
          <p:cNvPicPr>
            <a:picLocks noChangeAspect="1"/>
          </p:cNvPicPr>
          <p:nvPr/>
        </p:nvPicPr>
        <p:blipFill>
          <a:blip r:embed="rId5"/>
          <a:stretch>
            <a:fillRect/>
          </a:stretch>
        </p:blipFill>
        <p:spPr>
          <a:xfrm>
            <a:off x="5257800" y="4119973"/>
            <a:ext cx="3429000" cy="2571750"/>
          </a:xfrm>
          <a:prstGeom prst="rect">
            <a:avLst/>
          </a:prstGeom>
        </p:spPr>
      </p:pic>
    </p:spTree>
    <p:extLst>
      <p:ext uri="{BB962C8B-B14F-4D97-AF65-F5344CB8AC3E}">
        <p14:creationId xmlns:p14="http://schemas.microsoft.com/office/powerpoint/2010/main" val="28545615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1071F-613B-4262-8BC6-A5BF8400C2F8}"/>
              </a:ext>
            </a:extLst>
          </p:cNvPr>
          <p:cNvSpPr>
            <a:spLocks noGrp="1"/>
          </p:cNvSpPr>
          <p:nvPr>
            <p:ph type="title"/>
          </p:nvPr>
        </p:nvSpPr>
        <p:spPr/>
        <p:txBody>
          <a:bodyPr/>
          <a:lstStyle/>
          <a:p>
            <a:r>
              <a:rPr lang="en-US" dirty="0"/>
              <a:t>Versioning: AMC</a:t>
            </a:r>
          </a:p>
        </p:txBody>
      </p:sp>
      <p:pic>
        <p:nvPicPr>
          <p:cNvPr id="6" name="Picture 5"/>
          <p:cNvPicPr>
            <a:picLocks noChangeAspect="1"/>
          </p:cNvPicPr>
          <p:nvPr/>
        </p:nvPicPr>
        <p:blipFill>
          <a:blip r:embed="rId2"/>
          <a:stretch>
            <a:fillRect/>
          </a:stretch>
        </p:blipFill>
        <p:spPr>
          <a:xfrm>
            <a:off x="457200" y="1270215"/>
            <a:ext cx="8223603" cy="2329215"/>
          </a:xfrm>
          <a:prstGeom prst="rect">
            <a:avLst/>
          </a:prstGeom>
        </p:spPr>
      </p:pic>
      <p:pic>
        <p:nvPicPr>
          <p:cNvPr id="7" name="Picture 6"/>
          <p:cNvPicPr>
            <a:picLocks noChangeAspect="1"/>
          </p:cNvPicPr>
          <p:nvPr/>
        </p:nvPicPr>
        <p:blipFill>
          <a:blip r:embed="rId3"/>
          <a:stretch>
            <a:fillRect/>
          </a:stretch>
        </p:blipFill>
        <p:spPr>
          <a:xfrm>
            <a:off x="701335" y="4608672"/>
            <a:ext cx="8113430" cy="1452010"/>
          </a:xfrm>
          <a:prstGeom prst="rect">
            <a:avLst/>
          </a:prstGeom>
        </p:spPr>
      </p:pic>
    </p:spTree>
    <p:extLst>
      <p:ext uri="{BB962C8B-B14F-4D97-AF65-F5344CB8AC3E}">
        <p14:creationId xmlns:p14="http://schemas.microsoft.com/office/powerpoint/2010/main" val="37736002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a:xfrm>
            <a:off x="500063" y="285750"/>
            <a:ext cx="7771805" cy="729258"/>
          </a:xfrm>
        </p:spPr>
        <p:txBody>
          <a:bodyPr/>
          <a:lstStyle/>
          <a:p>
            <a:r>
              <a:rPr lang="en-US" dirty="0"/>
              <a:t>Versioning: Barbie</a:t>
            </a:r>
          </a:p>
        </p:txBody>
      </p:sp>
      <p:sp>
        <p:nvSpPr>
          <p:cNvPr id="5" name="Slide Number Placeholder 4"/>
          <p:cNvSpPr>
            <a:spLocks noGrp="1"/>
          </p:cNvSpPr>
          <p:nvPr>
            <p:ph type="sldNum" sz="quarter" idx="10"/>
          </p:nvPr>
        </p:nvSpPr>
        <p:spPr/>
        <p:txBody>
          <a:bodyPr/>
          <a:lstStyle/>
          <a:p>
            <a:fld id="{DBC38028-5B1C-49D3-BF22-2CE9385E6DA2}" type="slidenum">
              <a:rPr lang="en-US" smtClean="0"/>
              <a:pPr/>
              <a:t>36</a:t>
            </a:fld>
            <a:endParaRPr lang="en-US" dirty="0"/>
          </a:p>
        </p:txBody>
      </p:sp>
      <p:pic>
        <p:nvPicPr>
          <p:cNvPr id="7" name="Picture 6"/>
          <p:cNvPicPr>
            <a:picLocks noChangeAspect="1"/>
          </p:cNvPicPr>
          <p:nvPr/>
        </p:nvPicPr>
        <p:blipFill>
          <a:blip r:embed="rId4"/>
          <a:stretch>
            <a:fillRect/>
          </a:stretch>
        </p:blipFill>
        <p:spPr>
          <a:xfrm>
            <a:off x="285750" y="1785938"/>
            <a:ext cx="8557162" cy="3158112"/>
          </a:xfrm>
          <a:prstGeom prst="rect">
            <a:avLst/>
          </a:prstGeom>
        </p:spPr>
      </p:pic>
      <p:pic>
        <p:nvPicPr>
          <p:cNvPr id="8" name="Picture 7"/>
          <p:cNvPicPr>
            <a:picLocks noChangeAspect="1"/>
          </p:cNvPicPr>
          <p:nvPr/>
        </p:nvPicPr>
        <p:blipFill>
          <a:blip r:embed="rId5"/>
          <a:stretch>
            <a:fillRect/>
          </a:stretch>
        </p:blipFill>
        <p:spPr>
          <a:xfrm>
            <a:off x="1264830" y="5097064"/>
            <a:ext cx="830461" cy="794742"/>
          </a:xfrm>
          <a:prstGeom prst="rect">
            <a:avLst/>
          </a:prstGeom>
        </p:spPr>
      </p:pic>
      <p:pic>
        <p:nvPicPr>
          <p:cNvPr id="9" name="Picture 8"/>
          <p:cNvPicPr>
            <a:picLocks noChangeAspect="1"/>
          </p:cNvPicPr>
          <p:nvPr/>
        </p:nvPicPr>
        <p:blipFill>
          <a:blip r:embed="rId6"/>
          <a:stretch>
            <a:fillRect/>
          </a:stretch>
        </p:blipFill>
        <p:spPr>
          <a:xfrm>
            <a:off x="4008274" y="5097064"/>
            <a:ext cx="1214438" cy="812602"/>
          </a:xfrm>
          <a:prstGeom prst="rect">
            <a:avLst/>
          </a:prstGeom>
        </p:spPr>
      </p:pic>
      <p:pic>
        <p:nvPicPr>
          <p:cNvPr id="10" name="Picture 9"/>
          <p:cNvPicPr>
            <a:picLocks noChangeAspect="1"/>
          </p:cNvPicPr>
          <p:nvPr/>
        </p:nvPicPr>
        <p:blipFill>
          <a:blip r:embed="rId7"/>
          <a:stretch>
            <a:fillRect/>
          </a:stretch>
        </p:blipFill>
        <p:spPr>
          <a:xfrm>
            <a:off x="7086041" y="5110270"/>
            <a:ext cx="964406" cy="776883"/>
          </a:xfrm>
          <a:prstGeom prst="rect">
            <a:avLst/>
          </a:prstGeom>
        </p:spPr>
      </p:pic>
      <p:sp>
        <p:nvSpPr>
          <p:cNvPr id="11" name="TextBox 10"/>
          <p:cNvSpPr txBox="1"/>
          <p:nvPr/>
        </p:nvSpPr>
        <p:spPr>
          <a:xfrm>
            <a:off x="1074700" y="5494435"/>
            <a:ext cx="1140600" cy="352084"/>
          </a:xfrm>
          <a:prstGeom prst="rect">
            <a:avLst/>
          </a:prstGeom>
          <a:solidFill>
            <a:schemeClr val="bg1"/>
          </a:solidFill>
          <a:ln>
            <a:noFill/>
          </a:ln>
        </p:spPr>
        <p:txBody>
          <a:bodyPr wrap="square" rtlCol="0">
            <a:spAutoFit/>
          </a:bodyPr>
          <a:lstStyle/>
          <a:p>
            <a:endParaRPr lang="en-US" sz="1688" dirty="0">
              <a:solidFill>
                <a:schemeClr val="tx2">
                  <a:lumMod val="75000"/>
                </a:schemeClr>
              </a:solidFill>
            </a:endParaRPr>
          </a:p>
        </p:txBody>
      </p:sp>
      <p:sp>
        <p:nvSpPr>
          <p:cNvPr id="14" name="TextBox 13">
            <a:extLst>
              <a:ext uri="{FF2B5EF4-FFF2-40B4-BE49-F238E27FC236}">
                <a16:creationId xmlns:a16="http://schemas.microsoft.com/office/drawing/2014/main" id="{81336E35-1BC7-49A5-B935-14A3E36AC55A}"/>
              </a:ext>
            </a:extLst>
          </p:cNvPr>
          <p:cNvSpPr txBox="1"/>
          <p:nvPr/>
        </p:nvSpPr>
        <p:spPr>
          <a:xfrm>
            <a:off x="6997944" y="5535069"/>
            <a:ext cx="1140600" cy="352084"/>
          </a:xfrm>
          <a:prstGeom prst="rect">
            <a:avLst/>
          </a:prstGeom>
          <a:solidFill>
            <a:schemeClr val="bg1"/>
          </a:solidFill>
          <a:ln>
            <a:noFill/>
          </a:ln>
        </p:spPr>
        <p:txBody>
          <a:bodyPr wrap="square" rtlCol="0">
            <a:spAutoFit/>
          </a:bodyPr>
          <a:lstStyle/>
          <a:p>
            <a:endParaRPr lang="en-US" sz="1688" dirty="0">
              <a:solidFill>
                <a:schemeClr val="tx2">
                  <a:lumMod val="75000"/>
                </a:schemeClr>
              </a:solidFill>
            </a:endParaRPr>
          </a:p>
        </p:txBody>
      </p:sp>
      <p:sp>
        <p:nvSpPr>
          <p:cNvPr id="15" name="TextBox 14">
            <a:extLst>
              <a:ext uri="{FF2B5EF4-FFF2-40B4-BE49-F238E27FC236}">
                <a16:creationId xmlns:a16="http://schemas.microsoft.com/office/drawing/2014/main" id="{5C47A50B-145D-45F3-A184-EC5D5107584F}"/>
              </a:ext>
            </a:extLst>
          </p:cNvPr>
          <p:cNvSpPr txBox="1"/>
          <p:nvPr/>
        </p:nvSpPr>
        <p:spPr>
          <a:xfrm>
            <a:off x="3990532" y="5470793"/>
            <a:ext cx="1140600" cy="352084"/>
          </a:xfrm>
          <a:prstGeom prst="rect">
            <a:avLst/>
          </a:prstGeom>
          <a:solidFill>
            <a:schemeClr val="bg1"/>
          </a:solidFill>
          <a:ln>
            <a:noFill/>
          </a:ln>
        </p:spPr>
        <p:txBody>
          <a:bodyPr wrap="square" rtlCol="0">
            <a:spAutoFit/>
          </a:bodyPr>
          <a:lstStyle/>
          <a:p>
            <a:endParaRPr lang="en-US" sz="1688" dirty="0">
              <a:solidFill>
                <a:schemeClr val="tx2">
                  <a:lumMod val="75000"/>
                </a:schemeClr>
              </a:solidFill>
            </a:endParaRPr>
          </a:p>
        </p:txBody>
      </p:sp>
    </p:spTree>
    <p:custDataLst>
      <p:tags r:id="rId1"/>
    </p:custDataLst>
    <p:extLst>
      <p:ext uri="{BB962C8B-B14F-4D97-AF65-F5344CB8AC3E}">
        <p14:creationId xmlns:p14="http://schemas.microsoft.com/office/powerpoint/2010/main" val="9438718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14"/>
                                        </p:tgtEl>
                                      </p:cBhvr>
                                    </p:animEffect>
                                    <p:set>
                                      <p:cBhvr>
                                        <p:cTn id="12" dur="1" fill="hold">
                                          <p:stCondLst>
                                            <p:cond delay="499"/>
                                          </p:stCondLst>
                                        </p:cTn>
                                        <p:tgtEl>
                                          <p:spTgt spid="1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15"/>
                                        </p:tgtEl>
                                      </p:cBhvr>
                                    </p:animEffect>
                                    <p:set>
                                      <p:cBhvr>
                                        <p:cTn id="17"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5"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p:txBody>
          <a:bodyPr/>
          <a:lstStyle/>
          <a:p>
            <a:r>
              <a:rPr lang="en-US" dirty="0"/>
              <a:t>More Examples for Versioning</a:t>
            </a:r>
          </a:p>
        </p:txBody>
      </p:sp>
      <p:sp>
        <p:nvSpPr>
          <p:cNvPr id="222211" name="Rectangle 3"/>
          <p:cNvSpPr>
            <a:spLocks noGrp="1" noChangeArrowheads="1"/>
          </p:cNvSpPr>
          <p:nvPr>
            <p:ph type="body" idx="1"/>
          </p:nvPr>
        </p:nvSpPr>
        <p:spPr>
          <a:xfrm>
            <a:off x="571500" y="1428750"/>
            <a:ext cx="8405075" cy="5420442"/>
          </a:xfrm>
        </p:spPr>
        <p:txBody>
          <a:bodyPr>
            <a:normAutofit/>
          </a:bodyPr>
          <a:lstStyle/>
          <a:p>
            <a:r>
              <a:rPr lang="en-US" dirty="0"/>
              <a:t>Internet service: higher speed at a higher price</a:t>
            </a:r>
          </a:p>
          <a:p>
            <a:r>
              <a:rPr lang="en-US" dirty="0" err="1"/>
              <a:t>Fedex</a:t>
            </a:r>
            <a:r>
              <a:rPr lang="en-US" dirty="0"/>
              <a:t>/UPS: ground vs. same-day delivery</a:t>
            </a:r>
          </a:p>
          <a:p>
            <a:r>
              <a:rPr lang="en-US" dirty="0"/>
              <a:t>Airlines: Business / premium economy / economy</a:t>
            </a:r>
          </a:p>
          <a:p>
            <a:endParaRPr lang="fr-FR" dirty="0"/>
          </a:p>
          <a:p>
            <a:endParaRPr lang="fr-FR" dirty="0"/>
          </a:p>
          <a:p>
            <a:r>
              <a:rPr lang="fr-FR" b="1" dirty="0">
                <a:solidFill>
                  <a:srgbClr val="C00000"/>
                </a:solidFill>
              </a:rPr>
              <a:t>Important note on versioning</a:t>
            </a:r>
            <a:r>
              <a:rPr lang="fr-FR" dirty="0"/>
              <a:t>: </a:t>
            </a:r>
            <a:r>
              <a:rPr lang="fr-FR" dirty="0" err="1"/>
              <a:t>Keep</a:t>
            </a:r>
            <a:r>
              <a:rPr lang="fr-FR" dirty="0"/>
              <a:t> </a:t>
            </a:r>
            <a:r>
              <a:rPr lang="fr-FR" dirty="0" err="1"/>
              <a:t>low-quality</a:t>
            </a:r>
            <a:r>
              <a:rPr lang="fr-FR" dirty="0"/>
              <a:t> option </a:t>
            </a:r>
            <a:r>
              <a:rPr lang="fr-FR" dirty="0" err="1"/>
              <a:t>inferior</a:t>
            </a:r>
            <a:r>
              <a:rPr lang="fr-FR" dirty="0"/>
              <a:t> </a:t>
            </a:r>
            <a:r>
              <a:rPr lang="fr-FR" dirty="0" err="1"/>
              <a:t>enough</a:t>
            </a:r>
            <a:r>
              <a:rPr lang="fr-FR" dirty="0"/>
              <a:t> to </a:t>
            </a:r>
            <a:r>
              <a:rPr lang="fr-FR" dirty="0" err="1"/>
              <a:t>prevent</a:t>
            </a:r>
            <a:r>
              <a:rPr lang="fr-FR" dirty="0"/>
              <a:t> premium </a:t>
            </a:r>
            <a:r>
              <a:rPr lang="fr-FR" dirty="0" err="1"/>
              <a:t>customers</a:t>
            </a:r>
            <a:r>
              <a:rPr lang="fr-FR" dirty="0"/>
              <a:t> </a:t>
            </a:r>
            <a:r>
              <a:rPr lang="fr-FR" dirty="0" err="1"/>
              <a:t>from</a:t>
            </a:r>
            <a:r>
              <a:rPr lang="fr-FR" dirty="0"/>
              <a:t> </a:t>
            </a:r>
            <a:r>
              <a:rPr lang="fr-FR" dirty="0" err="1"/>
              <a:t>being</a:t>
            </a:r>
            <a:r>
              <a:rPr lang="fr-FR" dirty="0"/>
              <a:t> </a:t>
            </a:r>
            <a:r>
              <a:rPr lang="fr-FR" dirty="0" err="1"/>
              <a:t>tempted</a:t>
            </a:r>
            <a:endParaRPr lang="fr-FR" dirty="0"/>
          </a:p>
          <a:p>
            <a:pPr lvl="1"/>
            <a:r>
              <a:rPr lang="en-US" sz="2400" dirty="0"/>
              <a:t>This ensures “</a:t>
            </a:r>
            <a:r>
              <a:rPr lang="en-US" sz="2400" dirty="0">
                <a:solidFill>
                  <a:srgbClr val="C00000"/>
                </a:solidFill>
              </a:rPr>
              <a:t>incentive-compatibility</a:t>
            </a:r>
            <a:r>
              <a:rPr lang="en-US" sz="2400" dirty="0"/>
              <a:t>”</a:t>
            </a:r>
          </a:p>
          <a:p>
            <a:pPr lvl="1"/>
            <a:r>
              <a:rPr lang="en-US" sz="2400" dirty="0"/>
              <a:t>So you don’t need to worry about resales</a:t>
            </a:r>
          </a:p>
          <a:p>
            <a:pPr lvl="1"/>
            <a:endParaRPr lang="en-US" sz="2400" dirty="0"/>
          </a:p>
          <a:p>
            <a:pPr lvl="1"/>
            <a:endParaRPr lang="en-US" sz="2613" dirty="0"/>
          </a:p>
          <a:p>
            <a:pPr>
              <a:buNone/>
            </a:pPr>
            <a:endParaRPr lang="en-US" sz="2813" dirty="0"/>
          </a:p>
        </p:txBody>
      </p:sp>
      <p:sp>
        <p:nvSpPr>
          <p:cNvPr id="6" name="Slide Number Placeholder 5"/>
          <p:cNvSpPr>
            <a:spLocks noGrp="1"/>
          </p:cNvSpPr>
          <p:nvPr>
            <p:ph type="sldNum" sz="quarter" idx="10"/>
          </p:nvPr>
        </p:nvSpPr>
        <p:spPr/>
        <p:txBody>
          <a:bodyPr/>
          <a:lstStyle/>
          <a:p>
            <a:fld id="{DBC38028-5B1C-49D3-BF22-2CE9385E6DA2}" type="slidenum">
              <a:rPr lang="en-US" smtClean="0"/>
              <a:pPr/>
              <a:t>37</a:t>
            </a:fld>
            <a:endParaRPr lang="en-US" dirty="0"/>
          </a:p>
        </p:txBody>
      </p:sp>
      <p:pic>
        <p:nvPicPr>
          <p:cNvPr id="103425" name="Picture 1"/>
          <p:cNvPicPr>
            <a:picLocks noChangeAspect="1" noChangeArrowheads="1"/>
          </p:cNvPicPr>
          <p:nvPr/>
        </p:nvPicPr>
        <p:blipFill>
          <a:blip r:embed="rId4"/>
          <a:srcRect/>
          <a:stretch>
            <a:fillRect/>
          </a:stretch>
        </p:blipFill>
        <p:spPr bwMode="auto">
          <a:xfrm>
            <a:off x="4567536" y="3424536"/>
            <a:ext cx="8930" cy="893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19343087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22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22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22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2211">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2211">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22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1071F-613B-4262-8BC6-A5BF8400C2F8}"/>
              </a:ext>
            </a:extLst>
          </p:cNvPr>
          <p:cNvSpPr>
            <a:spLocks noGrp="1"/>
          </p:cNvSpPr>
          <p:nvPr>
            <p:ph type="title"/>
          </p:nvPr>
        </p:nvSpPr>
        <p:spPr>
          <a:xfrm>
            <a:off x="-84841" y="127215"/>
            <a:ext cx="9313682" cy="1143000"/>
          </a:xfrm>
        </p:spPr>
        <p:txBody>
          <a:bodyPr>
            <a:normAutofit/>
          </a:bodyPr>
          <a:lstStyle/>
          <a:p>
            <a:r>
              <a:rPr lang="en-US" sz="2800" dirty="0"/>
              <a:t>Wendy’s Failed Attempt at Dynamic Pricing</a:t>
            </a:r>
          </a:p>
        </p:txBody>
      </p:sp>
      <p:sp useBgFill="1">
        <p:nvSpPr>
          <p:cNvPr id="5" name="Content Placeholder 2">
            <a:extLst>
              <a:ext uri="{FF2B5EF4-FFF2-40B4-BE49-F238E27FC236}">
                <a16:creationId xmlns:a16="http://schemas.microsoft.com/office/drawing/2014/main" id="{2978BD3D-7C22-403F-B365-403F00036EB8}"/>
              </a:ext>
            </a:extLst>
          </p:cNvPr>
          <p:cNvSpPr>
            <a:spLocks noGrp="1"/>
          </p:cNvSpPr>
          <p:nvPr>
            <p:ph idx="1"/>
          </p:nvPr>
        </p:nvSpPr>
        <p:spPr>
          <a:xfrm>
            <a:off x="4940092" y="1640114"/>
            <a:ext cx="3746708" cy="4600430"/>
          </a:xfrm>
        </p:spPr>
        <p:txBody>
          <a:bodyPr>
            <a:normAutofit fontScale="70000" lnSpcReduction="20000"/>
          </a:bodyPr>
          <a:lstStyle/>
          <a:p>
            <a:r>
              <a:rPr lang="en-US" sz="3100" dirty="0"/>
              <a:t>Created immediate consumer backlash and PR disaster: “charge higher prices when consumers are hungry”</a:t>
            </a:r>
          </a:p>
          <a:p>
            <a:pPr>
              <a:spcBef>
                <a:spcPts val="1200"/>
              </a:spcBef>
            </a:pPr>
            <a:r>
              <a:rPr lang="en-US" sz="3100" dirty="0"/>
              <a:t>Wendy’s issued a correction: Now planning to introduce versioning (offer different menu options and discounts)</a:t>
            </a:r>
          </a:p>
          <a:p>
            <a:pPr>
              <a:spcBef>
                <a:spcPts val="1200"/>
              </a:spcBef>
            </a:pPr>
            <a:r>
              <a:rPr lang="en-US" sz="3100" dirty="0"/>
              <a:t>Shows that direct price discrimination creates more backlash than indirect price discrimination</a:t>
            </a:r>
          </a:p>
        </p:txBody>
      </p:sp>
      <p:pic>
        <p:nvPicPr>
          <p:cNvPr id="3" name="Picture 2">
            <a:extLst>
              <a:ext uri="{FF2B5EF4-FFF2-40B4-BE49-F238E27FC236}">
                <a16:creationId xmlns:a16="http://schemas.microsoft.com/office/drawing/2014/main" id="{4500BB4E-D755-4B26-BF45-D1044C7C4676}"/>
              </a:ext>
            </a:extLst>
          </p:cNvPr>
          <p:cNvPicPr>
            <a:picLocks noChangeAspect="1"/>
          </p:cNvPicPr>
          <p:nvPr/>
        </p:nvPicPr>
        <p:blipFill>
          <a:blip r:embed="rId3"/>
          <a:stretch>
            <a:fillRect/>
          </a:stretch>
        </p:blipFill>
        <p:spPr>
          <a:xfrm>
            <a:off x="292141" y="1270215"/>
            <a:ext cx="4520062" cy="5385109"/>
          </a:xfrm>
          <a:prstGeom prst="rect">
            <a:avLst/>
          </a:prstGeom>
        </p:spPr>
      </p:pic>
    </p:spTree>
    <p:extLst>
      <p:ext uri="{BB962C8B-B14F-4D97-AF65-F5344CB8AC3E}">
        <p14:creationId xmlns:p14="http://schemas.microsoft.com/office/powerpoint/2010/main" val="14611710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AC9FB78-E42F-4BA8-BA8A-9B177E123B2F}"/>
              </a:ext>
            </a:extLst>
          </p:cNvPr>
          <p:cNvPicPr>
            <a:picLocks noChangeAspect="1"/>
          </p:cNvPicPr>
          <p:nvPr/>
        </p:nvPicPr>
        <p:blipFill>
          <a:blip r:embed="rId3"/>
          <a:stretch>
            <a:fillRect/>
          </a:stretch>
        </p:blipFill>
        <p:spPr>
          <a:xfrm>
            <a:off x="96611" y="2854849"/>
            <a:ext cx="5314950" cy="3857625"/>
          </a:xfrm>
          <a:prstGeom prst="rect">
            <a:avLst/>
          </a:prstGeom>
        </p:spPr>
      </p:pic>
      <p:sp>
        <p:nvSpPr>
          <p:cNvPr id="2" name="Title 1">
            <a:extLst>
              <a:ext uri="{FF2B5EF4-FFF2-40B4-BE49-F238E27FC236}">
                <a16:creationId xmlns:a16="http://schemas.microsoft.com/office/drawing/2014/main" id="{00FB9B4C-D39E-4778-BBDC-91385039EB74}"/>
              </a:ext>
            </a:extLst>
          </p:cNvPr>
          <p:cNvSpPr>
            <a:spLocks noGrp="1"/>
          </p:cNvSpPr>
          <p:nvPr>
            <p:ph type="title"/>
          </p:nvPr>
        </p:nvSpPr>
        <p:spPr/>
        <p:txBody>
          <a:bodyPr/>
          <a:lstStyle/>
          <a:p>
            <a:r>
              <a:rPr lang="en-US" dirty="0"/>
              <a:t>Airline Response to low-Cost Carriers</a:t>
            </a:r>
          </a:p>
        </p:txBody>
      </p:sp>
      <p:sp useBgFill="1">
        <p:nvSpPr>
          <p:cNvPr id="3" name="Content Placeholder 2">
            <a:extLst>
              <a:ext uri="{FF2B5EF4-FFF2-40B4-BE49-F238E27FC236}">
                <a16:creationId xmlns:a16="http://schemas.microsoft.com/office/drawing/2014/main" id="{2CED4F30-DC90-4FD2-BE3B-DF4833A129F7}"/>
              </a:ext>
            </a:extLst>
          </p:cNvPr>
          <p:cNvSpPr>
            <a:spLocks noGrp="1"/>
          </p:cNvSpPr>
          <p:nvPr>
            <p:ph idx="1"/>
          </p:nvPr>
        </p:nvSpPr>
        <p:spPr>
          <a:xfrm>
            <a:off x="457200" y="1640114"/>
            <a:ext cx="8229600" cy="1143001"/>
          </a:xfrm>
        </p:spPr>
        <p:txBody>
          <a:bodyPr>
            <a:normAutofit/>
          </a:bodyPr>
          <a:lstStyle/>
          <a:p>
            <a:r>
              <a:rPr lang="en-US" sz="3100" dirty="0"/>
              <a:t>How should United respond to Southwest starting to offer flights on one of its routes?</a:t>
            </a:r>
          </a:p>
        </p:txBody>
      </p:sp>
      <p:sp>
        <p:nvSpPr>
          <p:cNvPr id="4" name="Parallelogram 3">
            <a:extLst>
              <a:ext uri="{FF2B5EF4-FFF2-40B4-BE49-F238E27FC236}">
                <a16:creationId xmlns:a16="http://schemas.microsoft.com/office/drawing/2014/main" id="{806E185C-4D44-4474-A2EB-8D3D5F5841AA}"/>
              </a:ext>
            </a:extLst>
          </p:cNvPr>
          <p:cNvSpPr/>
          <p:nvPr/>
        </p:nvSpPr>
        <p:spPr>
          <a:xfrm>
            <a:off x="4456686" y="6029465"/>
            <a:ext cx="4951882" cy="840025"/>
          </a:xfrm>
          <a:prstGeom prst="parallelogram">
            <a:avLst/>
          </a:prstGeom>
          <a:gradFill>
            <a:gsLst>
              <a:gs pos="0">
                <a:schemeClr val="accent2">
                  <a:tint val="100000"/>
                  <a:shade val="100000"/>
                  <a:satMod val="130000"/>
                  <a:alpha val="34000"/>
                </a:schemeClr>
              </a:gs>
              <a:gs pos="100000">
                <a:schemeClr val="accent2">
                  <a:tint val="50000"/>
                  <a:shade val="100000"/>
                  <a:satMod val="350000"/>
                  <a:alpha val="79000"/>
                </a:schemeClr>
              </a:gs>
            </a:gsLst>
          </a:gradFill>
          <a:ln>
            <a:noFill/>
          </a:ln>
        </p:spPr>
        <p:style>
          <a:lnRef idx="1">
            <a:schemeClr val="accent2"/>
          </a:lnRef>
          <a:fillRef idx="3">
            <a:schemeClr val="accent2"/>
          </a:fillRef>
          <a:effectRef idx="2">
            <a:schemeClr val="accent2"/>
          </a:effectRef>
          <a:fontRef idx="minor">
            <a:schemeClr val="lt1"/>
          </a:fontRef>
        </p:style>
        <p:txBody>
          <a:bodyPr rtlCol="0" anchor="ctr"/>
          <a:lstStyle/>
          <a:p>
            <a:r>
              <a:rPr lang="en-US" sz="3200" b="1" i="1" dirty="0"/>
              <a:t>Poll Everywhere Break</a:t>
            </a:r>
          </a:p>
        </p:txBody>
      </p:sp>
    </p:spTree>
    <p:extLst>
      <p:ext uri="{BB962C8B-B14F-4D97-AF65-F5344CB8AC3E}">
        <p14:creationId xmlns:p14="http://schemas.microsoft.com/office/powerpoint/2010/main" val="3466570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28A73D-DB3A-4850-A5B9-0501579F0677}"/>
              </a:ext>
            </a:extLst>
          </p:cNvPr>
          <p:cNvPicPr>
            <a:picLocks/>
          </p:cNvPicPr>
          <p:nvPr>
            <p:custDataLst>
              <p:tags r:id="rId1"/>
            </p:custDataLst>
          </p:nvPr>
        </p:nvPicPr>
        <p:blipFill>
          <a:blip r:embed="rId4"/>
          <a:stretch>
            <a:fillRect/>
          </a:stretch>
        </p:blipFill>
        <p:spPr>
          <a:xfrm>
            <a:off x="190500" y="190500"/>
            <a:ext cx="8763000" cy="6477000"/>
          </a:xfrm>
          <a:prstGeom prst="rect">
            <a:avLst/>
          </a:prstGeom>
        </p:spPr>
      </p:pic>
    </p:spTree>
    <p:extLst>
      <p:ext uri="{BB962C8B-B14F-4D97-AF65-F5344CB8AC3E}">
        <p14:creationId xmlns:p14="http://schemas.microsoft.com/office/powerpoint/2010/main" val="1679518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132523" y="127215"/>
            <a:ext cx="8724372" cy="1143000"/>
          </a:xfrm>
        </p:spPr>
        <p:txBody>
          <a:bodyPr>
            <a:normAutofit fontScale="90000"/>
          </a:bodyPr>
          <a:lstStyle/>
          <a:p>
            <a:pPr algn="ctr"/>
            <a:r>
              <a:rPr lang="en-US" sz="3750" dirty="0">
                <a:latin typeface="Whitney-Medium" pitchFamily="50" charset="0"/>
                <a:cs typeface="Whitney-Medium" pitchFamily="50" charset="0"/>
              </a:rPr>
              <a:t>Versioning in Response to Low-Price Competition</a:t>
            </a:r>
          </a:p>
        </p:txBody>
      </p:sp>
      <p:sp>
        <p:nvSpPr>
          <p:cNvPr id="2" name="Content Placeholder 1"/>
          <p:cNvSpPr>
            <a:spLocks noGrp="1"/>
          </p:cNvSpPr>
          <p:nvPr>
            <p:ph idx="1"/>
          </p:nvPr>
        </p:nvSpPr>
        <p:spPr>
          <a:xfrm>
            <a:off x="457200" y="1651518"/>
            <a:ext cx="8229600" cy="4637314"/>
          </a:xfrm>
        </p:spPr>
        <p:txBody>
          <a:bodyPr/>
          <a:lstStyle/>
          <a:p>
            <a:r>
              <a:rPr lang="en-US" dirty="0"/>
              <a:t>Response by major US airlines to low-cost carriers (Southwest, Spirit):</a:t>
            </a:r>
          </a:p>
          <a:p>
            <a:endParaRPr lang="en-US" dirty="0"/>
          </a:p>
          <a:p>
            <a:endParaRPr lang="en-US" dirty="0"/>
          </a:p>
          <a:p>
            <a:pPr lvl="1">
              <a:spcBef>
                <a:spcPts val="0"/>
              </a:spcBef>
            </a:pPr>
            <a:r>
              <a:rPr lang="en-US" sz="2000" dirty="0"/>
              <a:t>No “free” carry-on bag</a:t>
            </a:r>
          </a:p>
          <a:p>
            <a:pPr lvl="1">
              <a:spcBef>
                <a:spcPts val="0"/>
              </a:spcBef>
            </a:pPr>
            <a:r>
              <a:rPr lang="en-US" sz="2000" dirty="0"/>
              <a:t>No advance seat assignments</a:t>
            </a:r>
          </a:p>
          <a:p>
            <a:pPr lvl="1">
              <a:spcBef>
                <a:spcPts val="0"/>
              </a:spcBef>
            </a:pPr>
            <a:r>
              <a:rPr lang="en-US" sz="2000" dirty="0"/>
              <a:t>Don’t collect miles…</a:t>
            </a:r>
          </a:p>
          <a:p>
            <a:pPr lvl="8">
              <a:spcBef>
                <a:spcPts val="0"/>
              </a:spcBef>
            </a:pPr>
            <a:endParaRPr lang="en-US" sz="1400" dirty="0"/>
          </a:p>
          <a:p>
            <a:pPr>
              <a:spcBef>
                <a:spcPts val="0"/>
              </a:spcBef>
            </a:pPr>
            <a:endParaRPr lang="en-US" sz="2200" dirty="0"/>
          </a:p>
          <a:p>
            <a:pPr>
              <a:spcBef>
                <a:spcPts val="0"/>
              </a:spcBef>
            </a:pPr>
            <a:r>
              <a:rPr lang="en-US" sz="2200" dirty="0"/>
              <a:t>Compete with low-cost competitors by offering a low-cost / low-quality version of your own product</a:t>
            </a:r>
          </a:p>
          <a:p>
            <a:pPr>
              <a:spcBef>
                <a:spcPts val="600"/>
              </a:spcBef>
            </a:pPr>
            <a:r>
              <a:rPr lang="en-US" sz="2200" dirty="0"/>
              <a:t>Not a new strategy. E.g.: Kodak Gold vs. </a:t>
            </a:r>
            <a:r>
              <a:rPr lang="en-US" sz="2200" dirty="0" err="1"/>
              <a:t>FunFilm</a:t>
            </a:r>
            <a:r>
              <a:rPr lang="en-US" sz="2200" dirty="0"/>
              <a:t> in the 1990s</a:t>
            </a:r>
          </a:p>
          <a:p>
            <a:endParaRPr lang="en-US" dirty="0"/>
          </a:p>
          <a:p>
            <a:endParaRPr lang="en-US" dirty="0"/>
          </a:p>
          <a:p>
            <a:endParaRPr lang="en-US" dirty="0"/>
          </a:p>
          <a:p>
            <a:endParaRPr lang="en-US" dirty="0"/>
          </a:p>
          <a:p>
            <a:endParaRPr lang="en-US" dirty="0"/>
          </a:p>
          <a:p>
            <a:endParaRPr lang="en-US" dirty="0"/>
          </a:p>
        </p:txBody>
      </p:sp>
      <p:sp>
        <p:nvSpPr>
          <p:cNvPr id="3" name="Slide Number Placeholder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pic>
        <p:nvPicPr>
          <p:cNvPr id="5" name="Picture 4">
            <a:hlinkClick r:id="rId3"/>
            <a:extLst>
              <a:ext uri="{FF2B5EF4-FFF2-40B4-BE49-F238E27FC236}">
                <a16:creationId xmlns:a16="http://schemas.microsoft.com/office/drawing/2014/main" id="{B81E7773-AC36-4B2C-A9D1-83E6BFC1CEAD}"/>
              </a:ext>
            </a:extLst>
          </p:cNvPr>
          <p:cNvPicPr>
            <a:picLocks noChangeAspect="1"/>
          </p:cNvPicPr>
          <p:nvPr/>
        </p:nvPicPr>
        <p:blipFill>
          <a:blip r:embed="rId4"/>
          <a:stretch>
            <a:fillRect/>
          </a:stretch>
        </p:blipFill>
        <p:spPr>
          <a:xfrm>
            <a:off x="1228779" y="2647282"/>
            <a:ext cx="6835732" cy="701101"/>
          </a:xfrm>
          <a:prstGeom prst="rect">
            <a:avLst/>
          </a:prstGeom>
        </p:spPr>
      </p:pic>
      <p:sp>
        <p:nvSpPr>
          <p:cNvPr id="9" name="Text Box 11">
            <a:hlinkClick r:id="rId5" action="ppaction://hlinksldjump"/>
            <a:extLst>
              <a:ext uri="{FF2B5EF4-FFF2-40B4-BE49-F238E27FC236}">
                <a16:creationId xmlns:a16="http://schemas.microsoft.com/office/drawing/2014/main" id="{2BFB12FE-FE45-4A3B-BDE2-3C5662D750A0}"/>
              </a:ext>
            </a:extLst>
          </p:cNvPr>
          <p:cNvSpPr txBox="1">
            <a:spLocks noChangeArrowheads="1"/>
          </p:cNvSpPr>
          <p:nvPr/>
        </p:nvSpPr>
        <p:spPr bwMode="auto">
          <a:xfrm>
            <a:off x="6363479" y="4344147"/>
            <a:ext cx="2605678" cy="375481"/>
          </a:xfrm>
          <a:prstGeom prst="rect">
            <a:avLst/>
          </a:prstGeom>
          <a:noFill/>
          <a:ln w="9525">
            <a:noFill/>
            <a:miter lim="800000"/>
            <a:headEnd/>
            <a:tailEnd/>
          </a:ln>
          <a:effectLst/>
        </p:spPr>
        <p:txBody>
          <a:bodyPr wrap="square"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b="0" u="none" strike="noStrike" kern="1200" cap="none" spc="0" normalizeH="0" baseline="0" noProof="0" dirty="0">
                <a:ln>
                  <a:noFill/>
                </a:ln>
                <a:solidFill>
                  <a:srgbClr val="002060"/>
                </a:solidFill>
                <a:effectLst/>
                <a:uLnTx/>
                <a:uFillTx/>
                <a:latin typeface="Whitney Book" pitchFamily="50" charset="0"/>
                <a:ea typeface="+mn-ea"/>
                <a:cs typeface="Whitney Book" pitchFamily="50" charset="0"/>
                <a:hlinkClick r:id="rId6" action="ppaction://hlinksldjump"/>
              </a:rPr>
              <a:t>More seating versions…</a:t>
            </a:r>
            <a:r>
              <a:rPr kumimoji="0" lang="en-US" sz="1800" b="0" u="none" strike="noStrike" kern="1200" cap="none" spc="0" normalizeH="0" baseline="0" noProof="0" dirty="0">
                <a:ln>
                  <a:noFill/>
                </a:ln>
                <a:solidFill>
                  <a:srgbClr val="002060"/>
                </a:solidFill>
                <a:effectLst/>
                <a:uLnTx/>
                <a:uFillTx/>
                <a:latin typeface="Whitney Book" pitchFamily="50" charset="0"/>
                <a:ea typeface="+mn-ea"/>
                <a:cs typeface="Whitney Book" pitchFamily="50" charset="0"/>
              </a:rPr>
              <a:t> </a:t>
            </a:r>
          </a:p>
        </p:txBody>
      </p:sp>
    </p:spTree>
    <p:extLst>
      <p:ext uri="{BB962C8B-B14F-4D97-AF65-F5344CB8AC3E}">
        <p14:creationId xmlns:p14="http://schemas.microsoft.com/office/powerpoint/2010/main" val="36934839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Second-Degree price Discrimination: </a:t>
            </a:r>
            <a:br>
              <a:rPr lang="en-US" dirty="0"/>
            </a:br>
            <a:r>
              <a:rPr lang="en-US" dirty="0"/>
              <a:t>coupons</a:t>
            </a:r>
          </a:p>
        </p:txBody>
      </p:sp>
      <p:pic>
        <p:nvPicPr>
          <p:cNvPr id="3" name="Picture 2">
            <a:extLst>
              <a:ext uri="{FF2B5EF4-FFF2-40B4-BE49-F238E27FC236}">
                <a16:creationId xmlns:a16="http://schemas.microsoft.com/office/drawing/2014/main" id="{37248C6F-BDD8-4FEB-84D0-31AA8B78201D}"/>
              </a:ext>
            </a:extLst>
          </p:cNvPr>
          <p:cNvPicPr>
            <a:picLocks noChangeAspect="1"/>
          </p:cNvPicPr>
          <p:nvPr/>
        </p:nvPicPr>
        <p:blipFill>
          <a:blip r:embed="rId3"/>
          <a:stretch>
            <a:fillRect/>
          </a:stretch>
        </p:blipFill>
        <p:spPr>
          <a:xfrm>
            <a:off x="5573484" y="3790417"/>
            <a:ext cx="2941049" cy="1671967"/>
          </a:xfrm>
          <a:prstGeom prst="rect">
            <a:avLst/>
          </a:prstGeom>
        </p:spPr>
      </p:pic>
      <p:pic>
        <p:nvPicPr>
          <p:cNvPr id="5" name="Picture 4">
            <a:extLst>
              <a:ext uri="{FF2B5EF4-FFF2-40B4-BE49-F238E27FC236}">
                <a16:creationId xmlns:a16="http://schemas.microsoft.com/office/drawing/2014/main" id="{16F6B690-FE1A-4DD5-9930-C366A278ABBF}"/>
              </a:ext>
            </a:extLst>
          </p:cNvPr>
          <p:cNvPicPr>
            <a:picLocks noChangeAspect="1"/>
          </p:cNvPicPr>
          <p:nvPr/>
        </p:nvPicPr>
        <p:blipFill>
          <a:blip r:embed="rId4"/>
          <a:stretch>
            <a:fillRect/>
          </a:stretch>
        </p:blipFill>
        <p:spPr>
          <a:xfrm>
            <a:off x="745580" y="1942970"/>
            <a:ext cx="1986862" cy="1459277"/>
          </a:xfrm>
          <a:prstGeom prst="rect">
            <a:avLst/>
          </a:prstGeom>
        </p:spPr>
      </p:pic>
      <p:pic>
        <p:nvPicPr>
          <p:cNvPr id="6" name="Picture 5">
            <a:extLst>
              <a:ext uri="{FF2B5EF4-FFF2-40B4-BE49-F238E27FC236}">
                <a16:creationId xmlns:a16="http://schemas.microsoft.com/office/drawing/2014/main" id="{0F94A953-A9C1-4A72-9E44-299631717978}"/>
              </a:ext>
            </a:extLst>
          </p:cNvPr>
          <p:cNvPicPr>
            <a:picLocks noChangeAspect="1"/>
          </p:cNvPicPr>
          <p:nvPr/>
        </p:nvPicPr>
        <p:blipFill>
          <a:blip r:embed="rId5"/>
          <a:stretch>
            <a:fillRect/>
          </a:stretch>
        </p:blipFill>
        <p:spPr>
          <a:xfrm>
            <a:off x="745579" y="3896763"/>
            <a:ext cx="1929623" cy="1459277"/>
          </a:xfrm>
          <a:prstGeom prst="rect">
            <a:avLst/>
          </a:prstGeom>
        </p:spPr>
      </p:pic>
      <p:sp>
        <p:nvSpPr>
          <p:cNvPr id="7" name="Rectangle 3">
            <a:extLst>
              <a:ext uri="{FF2B5EF4-FFF2-40B4-BE49-F238E27FC236}">
                <a16:creationId xmlns:a16="http://schemas.microsoft.com/office/drawing/2014/main" id="{730F4166-6DF7-4FEC-BFAB-83F042557A9B}"/>
              </a:ext>
            </a:extLst>
          </p:cNvPr>
          <p:cNvSpPr txBox="1">
            <a:spLocks noChangeArrowheads="1"/>
          </p:cNvSpPr>
          <p:nvPr/>
        </p:nvSpPr>
        <p:spPr>
          <a:xfrm>
            <a:off x="396025" y="5103914"/>
            <a:ext cx="8405075" cy="1595019"/>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fr-FR" sz="3600" dirty="0"/>
          </a:p>
          <a:p>
            <a:r>
              <a:rPr lang="en-US" sz="3200" dirty="0"/>
              <a:t>Coupons ensure </a:t>
            </a:r>
            <a:r>
              <a:rPr lang="en-US" sz="3200" dirty="0">
                <a:solidFill>
                  <a:srgbClr val="C00000"/>
                </a:solidFill>
              </a:rPr>
              <a:t>incentive-compatibility</a:t>
            </a:r>
            <a:endParaRPr lang="en-US" sz="3200" dirty="0"/>
          </a:p>
          <a:p>
            <a:pPr lvl="1"/>
            <a:endParaRPr lang="en-US" sz="3200" dirty="0"/>
          </a:p>
          <a:p>
            <a:pPr>
              <a:buFont typeface="Lucida Grande"/>
              <a:buNone/>
            </a:pPr>
            <a:endParaRPr lang="en-US" sz="3600" dirty="0"/>
          </a:p>
        </p:txBody>
      </p:sp>
    </p:spTree>
    <p:extLst>
      <p:ext uri="{BB962C8B-B14F-4D97-AF65-F5344CB8AC3E}">
        <p14:creationId xmlns:p14="http://schemas.microsoft.com/office/powerpoint/2010/main" val="2176219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OUTLINE of module 6</a:t>
            </a:r>
            <a:br>
              <a:rPr lang="en-US" dirty="0"/>
            </a:br>
            <a:endParaRPr lang="en-US" dirty="0"/>
          </a:p>
        </p:txBody>
      </p:sp>
      <p:sp>
        <p:nvSpPr>
          <p:cNvPr id="3" name="Content Placeholder 2"/>
          <p:cNvSpPr>
            <a:spLocks noGrp="1"/>
          </p:cNvSpPr>
          <p:nvPr>
            <p:ph idx="1"/>
          </p:nvPr>
        </p:nvSpPr>
        <p:spPr>
          <a:xfrm>
            <a:off x="457200" y="1094874"/>
            <a:ext cx="8229600" cy="5212407"/>
          </a:xfrm>
        </p:spPr>
        <p:txBody>
          <a:bodyPr>
            <a:normAutofit fontScale="92500" lnSpcReduction="10000"/>
          </a:bodyPr>
          <a:lstStyle/>
          <a:p>
            <a:pPr>
              <a:lnSpc>
                <a:spcPct val="120000"/>
              </a:lnSpc>
            </a:pPr>
            <a:r>
              <a:rPr lang="fr-FR" sz="2810" dirty="0">
                <a:solidFill>
                  <a:schemeClr val="bg1">
                    <a:lumMod val="65000"/>
                  </a:schemeClr>
                </a:solidFill>
              </a:rPr>
              <a:t>Simple vs. </a:t>
            </a:r>
            <a:r>
              <a:rPr lang="fr-FR" sz="2810" dirty="0" err="1">
                <a:solidFill>
                  <a:schemeClr val="bg1">
                    <a:lumMod val="65000"/>
                  </a:schemeClr>
                </a:solidFill>
              </a:rPr>
              <a:t>complex</a:t>
            </a:r>
            <a:r>
              <a:rPr lang="fr-FR" sz="2810" dirty="0">
                <a:solidFill>
                  <a:schemeClr val="bg1">
                    <a:lumMod val="65000"/>
                  </a:schemeClr>
                </a:solidFill>
              </a:rPr>
              <a:t> </a:t>
            </a:r>
            <a:r>
              <a:rPr lang="fr-FR" sz="2810" dirty="0" err="1">
                <a:solidFill>
                  <a:schemeClr val="bg1">
                    <a:lumMod val="65000"/>
                  </a:schemeClr>
                </a:solidFill>
              </a:rPr>
              <a:t>pricing</a:t>
            </a:r>
            <a:endParaRPr lang="fr-FR" sz="2810" dirty="0">
              <a:solidFill>
                <a:schemeClr val="bg1">
                  <a:lumMod val="65000"/>
                </a:schemeClr>
              </a:solidFill>
            </a:endParaRPr>
          </a:p>
          <a:p>
            <a:pPr>
              <a:lnSpc>
                <a:spcPct val="120000"/>
              </a:lnSpc>
            </a:pPr>
            <a:r>
              <a:rPr lang="fr-FR" dirty="0">
                <a:solidFill>
                  <a:schemeClr val="bg1">
                    <a:lumMod val="65000"/>
                  </a:schemeClr>
                </a:solidFill>
              </a:rPr>
              <a:t>Direct </a:t>
            </a:r>
            <a:r>
              <a:rPr lang="fr-FR" dirty="0" err="1">
                <a:solidFill>
                  <a:schemeClr val="bg1">
                    <a:lumMod val="65000"/>
                  </a:schemeClr>
                </a:solidFill>
              </a:rPr>
              <a:t>price</a:t>
            </a:r>
            <a:r>
              <a:rPr lang="fr-FR" dirty="0">
                <a:solidFill>
                  <a:schemeClr val="bg1">
                    <a:lumMod val="65000"/>
                  </a:schemeClr>
                </a:solidFill>
              </a:rPr>
              <a:t> discrimination</a:t>
            </a:r>
          </a:p>
          <a:p>
            <a:pPr lvl="1">
              <a:lnSpc>
                <a:spcPct val="120000"/>
              </a:lnSpc>
              <a:spcBef>
                <a:spcPts val="0"/>
              </a:spcBef>
            </a:pPr>
            <a:r>
              <a:rPr lang="fr-FR" dirty="0" err="1">
                <a:solidFill>
                  <a:schemeClr val="bg1">
                    <a:lumMod val="65000"/>
                  </a:schemeClr>
                </a:solidFill>
                <a:latin typeface="Whitney-Book" pitchFamily="50" charset="0"/>
                <a:cs typeface="Whitney-Book" pitchFamily="50" charset="0"/>
              </a:rPr>
              <a:t>Perfect</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price</a:t>
            </a:r>
            <a:r>
              <a:rPr lang="fr-FR" dirty="0">
                <a:solidFill>
                  <a:schemeClr val="bg1">
                    <a:lumMod val="65000"/>
                  </a:schemeClr>
                </a:solidFill>
                <a:latin typeface="Whitney-Book" pitchFamily="50" charset="0"/>
                <a:cs typeface="Whitney-Book" pitchFamily="50" charset="0"/>
              </a:rPr>
              <a:t> discrimination (first </a:t>
            </a:r>
            <a:r>
              <a:rPr lang="fr-FR" dirty="0" err="1">
                <a:solidFill>
                  <a:schemeClr val="bg1">
                    <a:lumMod val="65000"/>
                  </a:schemeClr>
                </a:solidFill>
                <a:latin typeface="Whitney-Book" pitchFamily="50" charset="0"/>
                <a:cs typeface="Whitney-Book" pitchFamily="50" charset="0"/>
              </a:rPr>
              <a:t>degree</a:t>
            </a:r>
            <a:r>
              <a:rPr lang="fr-FR" dirty="0">
                <a:solidFill>
                  <a:schemeClr val="bg1">
                    <a:lumMod val="65000"/>
                  </a:schemeClr>
                </a:solidFill>
                <a:latin typeface="Whitney-Book" pitchFamily="50" charset="0"/>
                <a:cs typeface="Whitney-Book" pitchFamily="50" charset="0"/>
              </a:rPr>
              <a:t>)</a:t>
            </a: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Segment </a:t>
            </a:r>
            <a:r>
              <a:rPr lang="fr-FR" dirty="0" err="1">
                <a:solidFill>
                  <a:schemeClr val="bg1">
                    <a:lumMod val="65000"/>
                  </a:schemeClr>
                </a:solidFill>
                <a:latin typeface="Whitney-Book" pitchFamily="50" charset="0"/>
                <a:cs typeface="Whitney-Book" pitchFamily="50" charset="0"/>
              </a:rPr>
              <a:t>pricing</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third</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degree</a:t>
            </a:r>
            <a:r>
              <a:rPr lang="fr-FR" dirty="0">
                <a:solidFill>
                  <a:schemeClr val="bg1">
                    <a:lumMod val="65000"/>
                  </a:schemeClr>
                </a:solidFill>
                <a:latin typeface="Whitney-Book" pitchFamily="50" charset="0"/>
                <a:cs typeface="Whitney-Book" pitchFamily="50" charset="0"/>
              </a:rPr>
              <a:t>)</a:t>
            </a:r>
          </a:p>
          <a:p>
            <a:pPr>
              <a:lnSpc>
                <a:spcPct val="120000"/>
              </a:lnSpc>
            </a:pPr>
            <a:r>
              <a:rPr lang="fr-FR" dirty="0">
                <a:solidFill>
                  <a:schemeClr val="bg1">
                    <a:lumMod val="65000"/>
                  </a:schemeClr>
                </a:solidFill>
              </a:rPr>
              <a:t>Indirect </a:t>
            </a:r>
            <a:r>
              <a:rPr lang="fr-FR" dirty="0" err="1">
                <a:solidFill>
                  <a:schemeClr val="bg1">
                    <a:lumMod val="65000"/>
                  </a:schemeClr>
                </a:solidFill>
              </a:rPr>
              <a:t>price</a:t>
            </a:r>
            <a:r>
              <a:rPr lang="fr-FR" dirty="0">
                <a:solidFill>
                  <a:schemeClr val="bg1">
                    <a:lumMod val="65000"/>
                  </a:schemeClr>
                </a:solidFill>
              </a:rPr>
              <a:t> discrimination (second </a:t>
            </a:r>
            <a:r>
              <a:rPr lang="fr-FR" dirty="0" err="1">
                <a:solidFill>
                  <a:schemeClr val="bg1">
                    <a:lumMod val="65000"/>
                  </a:schemeClr>
                </a:solidFill>
              </a:rPr>
              <a:t>degree</a:t>
            </a:r>
            <a:r>
              <a:rPr lang="fr-FR" dirty="0">
                <a:solidFill>
                  <a:schemeClr val="bg1">
                    <a:lumMod val="65000"/>
                  </a:schemeClr>
                </a:solidFill>
              </a:rPr>
              <a:t>)</a:t>
            </a:r>
          </a:p>
          <a:p>
            <a:pPr marL="742950" lvl="2" indent="-342900">
              <a:lnSpc>
                <a:spcPct val="120000"/>
              </a:lnSpc>
            </a:pPr>
            <a:r>
              <a:rPr lang="fr-FR" sz="2600" dirty="0">
                <a:solidFill>
                  <a:schemeClr val="bg1">
                    <a:lumMod val="65000"/>
                  </a:schemeClr>
                </a:solidFill>
                <a:latin typeface="Whitney-Book" pitchFamily="50" charset="0"/>
              </a:rPr>
              <a:t>Versioning</a:t>
            </a:r>
          </a:p>
          <a:p>
            <a:pPr lvl="1">
              <a:lnSpc>
                <a:spcPct val="120000"/>
              </a:lnSpc>
              <a:spcBef>
                <a:spcPts val="0"/>
              </a:spcBef>
            </a:pPr>
            <a:r>
              <a:rPr lang="fr-FR" dirty="0">
                <a:solidFill>
                  <a:schemeClr val="bg1">
                    <a:lumMod val="65000"/>
                  </a:schemeClr>
                </a:solidFill>
                <a:latin typeface="Whitney-Book" pitchFamily="50" charset="0"/>
              </a:rPr>
              <a:t>Coupons</a:t>
            </a:r>
          </a:p>
          <a:p>
            <a:pPr>
              <a:lnSpc>
                <a:spcPct val="120000"/>
              </a:lnSpc>
            </a:pPr>
            <a:r>
              <a:rPr lang="fr-FR" b="1" dirty="0"/>
              <a:t>Advanced </a:t>
            </a:r>
            <a:r>
              <a:rPr lang="fr-FR" b="1" dirty="0" err="1"/>
              <a:t>pricing</a:t>
            </a:r>
            <a:r>
              <a:rPr lang="fr-FR" b="1" dirty="0"/>
              <a:t> </a:t>
            </a:r>
            <a:r>
              <a:rPr lang="fr-FR" b="1" dirty="0" err="1"/>
              <a:t>strategies</a:t>
            </a:r>
            <a:endParaRPr lang="fr-FR" b="1" dirty="0"/>
          </a:p>
          <a:p>
            <a:pPr lvl="1">
              <a:lnSpc>
                <a:spcPct val="120000"/>
              </a:lnSpc>
              <a:spcBef>
                <a:spcPts val="0"/>
              </a:spcBef>
            </a:pPr>
            <a:r>
              <a:rPr lang="fr-FR" b="1" dirty="0">
                <a:solidFill>
                  <a:srgbClr val="002060"/>
                </a:solidFill>
                <a:latin typeface="Whitney-Book" pitchFamily="50" charset="0"/>
                <a:cs typeface="Whitney-Book" pitchFamily="50" charset="0"/>
              </a:rPr>
              <a:t>Flat </a:t>
            </a:r>
            <a:r>
              <a:rPr lang="fr-FR" b="1" dirty="0" err="1">
                <a:solidFill>
                  <a:srgbClr val="002060"/>
                </a:solidFill>
                <a:latin typeface="Whitney-Book" pitchFamily="50" charset="0"/>
                <a:cs typeface="Whitney-Book" pitchFamily="50" charset="0"/>
              </a:rPr>
              <a:t>fee</a:t>
            </a:r>
            <a:r>
              <a:rPr lang="fr-FR" b="1" dirty="0">
                <a:solidFill>
                  <a:srgbClr val="002060"/>
                </a:solidFill>
                <a:latin typeface="Whitney-Book" pitchFamily="50" charset="0"/>
                <a:cs typeface="Whitney-Book" pitchFamily="50" charset="0"/>
              </a:rPr>
              <a:t> </a:t>
            </a:r>
            <a:r>
              <a:rPr lang="fr-FR" b="1" dirty="0" err="1">
                <a:solidFill>
                  <a:srgbClr val="002060"/>
                </a:solidFill>
                <a:latin typeface="Whitney-Book" pitchFamily="50" charset="0"/>
                <a:cs typeface="Whitney-Book" pitchFamily="50" charset="0"/>
              </a:rPr>
              <a:t>pricing</a:t>
            </a:r>
            <a:endParaRPr lang="fr-FR" b="1" dirty="0">
              <a:solidFill>
                <a:srgbClr val="002060"/>
              </a:solidFill>
              <a:latin typeface="Whitney-Book" pitchFamily="50" charset="0"/>
              <a:cs typeface="Whitney-Book" pitchFamily="50" charset="0"/>
            </a:endParaRPr>
          </a:p>
          <a:p>
            <a:pPr lvl="1">
              <a:lnSpc>
                <a:spcPct val="120000"/>
              </a:lnSpc>
              <a:spcBef>
                <a:spcPts val="0"/>
              </a:spcBef>
            </a:pPr>
            <a:r>
              <a:rPr lang="fr-FR" dirty="0" err="1">
                <a:solidFill>
                  <a:schemeClr val="bg1">
                    <a:lumMod val="65000"/>
                  </a:schemeClr>
                </a:solidFill>
                <a:latin typeface="Whitney-Book" pitchFamily="50" charset="0"/>
                <a:cs typeface="Whitney-Book" pitchFamily="50" charset="0"/>
              </a:rPr>
              <a:t>Two</a:t>
            </a:r>
            <a:r>
              <a:rPr lang="fr-FR" dirty="0">
                <a:solidFill>
                  <a:schemeClr val="bg1">
                    <a:lumMod val="65000"/>
                  </a:schemeClr>
                </a:solidFill>
                <a:latin typeface="Whitney-Book" pitchFamily="50" charset="0"/>
                <a:cs typeface="Whitney-Book" pitchFamily="50" charset="0"/>
              </a:rPr>
              <a:t>-part </a:t>
            </a:r>
            <a:r>
              <a:rPr lang="fr-FR" dirty="0" err="1">
                <a:solidFill>
                  <a:schemeClr val="bg1">
                    <a:lumMod val="65000"/>
                  </a:schemeClr>
                </a:solidFill>
                <a:latin typeface="Whitney-Book" pitchFamily="50" charset="0"/>
                <a:cs typeface="Whitney-Book" pitchFamily="50" charset="0"/>
              </a:rPr>
              <a:t>tariff</a:t>
            </a:r>
            <a:endParaRPr lang="fr-FR" dirty="0">
              <a:solidFill>
                <a:schemeClr val="bg1">
                  <a:lumMod val="65000"/>
                </a:schemeClr>
              </a:solidFill>
              <a:latin typeface="Whitney-Book" pitchFamily="50" charset="0"/>
              <a:cs typeface="Whitney-Book" pitchFamily="50" charset="0"/>
            </a:endParaRP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Block </a:t>
            </a:r>
            <a:r>
              <a:rPr lang="fr-FR" dirty="0" err="1">
                <a:solidFill>
                  <a:schemeClr val="bg1">
                    <a:lumMod val="65000"/>
                  </a:schemeClr>
                </a:solidFill>
                <a:latin typeface="Whitney-Book" pitchFamily="50" charset="0"/>
                <a:cs typeface="Whitney-Book" pitchFamily="50" charset="0"/>
              </a:rPr>
              <a:t>pricing</a:t>
            </a:r>
            <a:endParaRPr lang="fr-FR" dirty="0">
              <a:solidFill>
                <a:schemeClr val="bg1">
                  <a:lumMod val="65000"/>
                </a:schemeClr>
              </a:solidFill>
              <a:latin typeface="Whitney-Book" pitchFamily="50" charset="0"/>
              <a:cs typeface="Whitney-Book" pitchFamily="50" charset="0"/>
            </a:endParaRPr>
          </a:p>
          <a:p>
            <a:pPr marL="457200" lvl="1" indent="0">
              <a:buNone/>
            </a:pPr>
            <a:endParaRPr lang="fr-FR" dirty="0"/>
          </a:p>
          <a:p>
            <a:pPr lvl="1"/>
            <a:endParaRPr lang="en-US" dirty="0"/>
          </a:p>
          <a:p>
            <a:endParaRPr lang="en-US" dirty="0"/>
          </a:p>
        </p:txBody>
      </p:sp>
    </p:spTree>
    <p:extLst>
      <p:ext uri="{BB962C8B-B14F-4D97-AF65-F5344CB8AC3E}">
        <p14:creationId xmlns:p14="http://schemas.microsoft.com/office/powerpoint/2010/main" val="99706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a:noFill/>
          <a:ln/>
        </p:spPr>
        <p:txBody>
          <a:bodyPr vert="horz" lIns="92273" tIns="46136" rIns="92273" bIns="46136" rtlCol="0" anchor="ctr">
            <a:normAutofit/>
          </a:bodyPr>
          <a:lstStyle/>
          <a:p>
            <a:r>
              <a:rPr lang="en-US" dirty="0"/>
              <a:t>Context</a:t>
            </a:r>
          </a:p>
        </p:txBody>
      </p:sp>
      <p:sp>
        <p:nvSpPr>
          <p:cNvPr id="238595" name="Rectangle 3"/>
          <p:cNvSpPr>
            <a:spLocks noGrp="1" noChangeArrowheads="1"/>
          </p:cNvSpPr>
          <p:nvPr>
            <p:ph type="body" idx="1"/>
          </p:nvPr>
        </p:nvSpPr>
        <p:spPr>
          <a:xfrm>
            <a:off x="571500" y="1270216"/>
            <a:ext cx="8339587" cy="6225288"/>
          </a:xfrm>
          <a:noFill/>
          <a:ln/>
        </p:spPr>
        <p:txBody>
          <a:bodyPr vert="horz" lIns="92273" tIns="46136" rIns="92273" bIns="46136" rtlCol="0">
            <a:normAutofit/>
          </a:bodyPr>
          <a:lstStyle/>
          <a:p>
            <a:pPr>
              <a:spcBef>
                <a:spcPts val="0"/>
              </a:spcBef>
              <a:spcAft>
                <a:spcPts val="563"/>
              </a:spcAft>
            </a:pPr>
            <a:r>
              <a:rPr lang="fr-FR" sz="2625" dirty="0"/>
              <a:t>So far: </a:t>
            </a:r>
            <a:r>
              <a:rPr lang="fr-FR" sz="2625" dirty="0" err="1"/>
              <a:t>We</a:t>
            </a:r>
            <a:r>
              <a:rPr lang="fr-FR" sz="2625" dirty="0"/>
              <a:t> </a:t>
            </a:r>
            <a:r>
              <a:rPr lang="fr-FR" sz="2625" dirty="0" err="1"/>
              <a:t>had</a:t>
            </a:r>
            <a:r>
              <a:rPr lang="fr-FR" sz="2625" dirty="0"/>
              <a:t> </a:t>
            </a:r>
            <a:r>
              <a:rPr lang="fr-FR" sz="2625" u="sng" dirty="0" err="1"/>
              <a:t>different</a:t>
            </a:r>
            <a:r>
              <a:rPr lang="fr-FR" sz="2625" dirty="0"/>
              <a:t> </a:t>
            </a:r>
            <a:r>
              <a:rPr lang="fr-FR" sz="2625" dirty="0" err="1"/>
              <a:t>consumers</a:t>
            </a:r>
            <a:r>
              <a:rPr lang="fr-FR" sz="2625" dirty="0"/>
              <a:t> </a:t>
            </a:r>
            <a:r>
              <a:rPr lang="fr-FR" sz="2625" dirty="0" err="1"/>
              <a:t>with</a:t>
            </a:r>
            <a:r>
              <a:rPr lang="fr-FR" sz="2625" dirty="0"/>
              <a:t> </a:t>
            </a:r>
            <a:r>
              <a:rPr lang="fr-FR" sz="2625" dirty="0" err="1"/>
              <a:t>different</a:t>
            </a:r>
            <a:r>
              <a:rPr lang="fr-FR" sz="2625" dirty="0"/>
              <a:t> </a:t>
            </a:r>
            <a:r>
              <a:rPr lang="fr-FR" sz="2625" dirty="0" err="1"/>
              <a:t>demand</a:t>
            </a:r>
            <a:r>
              <a:rPr lang="fr-FR" sz="2625" dirty="0"/>
              <a:t> </a:t>
            </a:r>
            <a:r>
              <a:rPr lang="fr-FR" sz="2625" dirty="0" err="1"/>
              <a:t>curves</a:t>
            </a:r>
            <a:r>
              <a:rPr lang="fr-FR" sz="2625" dirty="0"/>
              <a:t> (marginal </a:t>
            </a:r>
            <a:r>
              <a:rPr lang="fr-FR" sz="2625" dirty="0" err="1"/>
              <a:t>personal</a:t>
            </a:r>
            <a:r>
              <a:rPr lang="fr-FR" sz="2625" dirty="0"/>
              <a:t> value)</a:t>
            </a:r>
          </a:p>
          <a:p>
            <a:pPr lvl="1">
              <a:spcBef>
                <a:spcPts val="0"/>
              </a:spcBef>
              <a:spcAft>
                <a:spcPts val="563"/>
              </a:spcAft>
            </a:pPr>
            <a:r>
              <a:rPr lang="fr-FR" sz="2425" dirty="0" err="1"/>
              <a:t>Extract</a:t>
            </a:r>
            <a:r>
              <a:rPr lang="fr-FR" sz="2425" dirty="0"/>
              <a:t> surplus via direct/indirect </a:t>
            </a:r>
            <a:r>
              <a:rPr lang="fr-FR" sz="2425" dirty="0" err="1"/>
              <a:t>price</a:t>
            </a:r>
            <a:r>
              <a:rPr lang="fr-FR" sz="2425" dirty="0"/>
              <a:t> discrimination</a:t>
            </a:r>
          </a:p>
          <a:p>
            <a:pPr>
              <a:spcBef>
                <a:spcPts val="0"/>
              </a:spcBef>
              <a:spcAft>
                <a:spcPts val="563"/>
              </a:spcAft>
            </a:pPr>
            <a:endParaRPr lang="fr-FR" sz="2625" dirty="0"/>
          </a:p>
          <a:p>
            <a:pPr>
              <a:spcBef>
                <a:spcPts val="0"/>
              </a:spcBef>
              <a:spcAft>
                <a:spcPts val="563"/>
              </a:spcAft>
            </a:pPr>
            <a:endParaRPr lang="fr-FR" sz="2625" dirty="0"/>
          </a:p>
          <a:p>
            <a:pPr>
              <a:spcBef>
                <a:spcPts val="0"/>
              </a:spcBef>
              <a:spcAft>
                <a:spcPts val="563"/>
              </a:spcAft>
            </a:pPr>
            <a:r>
              <a:rPr lang="fr-FR" sz="2625" dirty="0" err="1"/>
              <a:t>Now</a:t>
            </a:r>
            <a:r>
              <a:rPr lang="fr-FR" sz="2625" dirty="0"/>
              <a:t>: </a:t>
            </a:r>
            <a:r>
              <a:rPr lang="fr-FR" sz="2625" dirty="0" err="1"/>
              <a:t>Consumers</a:t>
            </a:r>
            <a:r>
              <a:rPr lang="fr-FR" sz="2625" dirty="0"/>
              <a:t> have </a:t>
            </a:r>
            <a:r>
              <a:rPr lang="fr-FR" sz="2625" u="sng" dirty="0" err="1"/>
              <a:t>identical</a:t>
            </a:r>
            <a:r>
              <a:rPr lang="fr-FR" sz="2625" dirty="0"/>
              <a:t> </a:t>
            </a:r>
            <a:r>
              <a:rPr lang="fr-FR" sz="2625" dirty="0" err="1"/>
              <a:t>demand</a:t>
            </a:r>
            <a:r>
              <a:rPr lang="fr-FR" sz="2625" dirty="0"/>
              <a:t> </a:t>
            </a:r>
            <a:r>
              <a:rPr lang="fr-FR" sz="2625" dirty="0" err="1"/>
              <a:t>curves</a:t>
            </a:r>
            <a:r>
              <a:rPr lang="fr-FR" sz="2625" dirty="0"/>
              <a:t>, but </a:t>
            </a:r>
            <a:r>
              <a:rPr lang="fr-FR" sz="2625" dirty="0" err="1"/>
              <a:t>each</a:t>
            </a:r>
            <a:r>
              <a:rPr lang="fr-FR" sz="2625" dirty="0"/>
              <a:t> of </a:t>
            </a:r>
            <a:r>
              <a:rPr lang="fr-FR" sz="2625" dirty="0" err="1"/>
              <a:t>them</a:t>
            </a:r>
            <a:r>
              <a:rPr lang="fr-FR" sz="2625" dirty="0"/>
              <a:t> </a:t>
            </a:r>
            <a:r>
              <a:rPr lang="fr-FR" sz="2625" dirty="0" err="1"/>
              <a:t>purchases</a:t>
            </a:r>
            <a:r>
              <a:rPr lang="fr-FR" sz="2625" dirty="0"/>
              <a:t> </a:t>
            </a:r>
            <a:r>
              <a:rPr lang="en-US" sz="2625" dirty="0">
                <a:solidFill>
                  <a:srgbClr val="C00000"/>
                </a:solidFill>
              </a:rPr>
              <a:t>multiple units</a:t>
            </a:r>
            <a:r>
              <a:rPr lang="en-US" sz="2625" dirty="0"/>
              <a:t> of the product</a:t>
            </a:r>
          </a:p>
          <a:p>
            <a:pPr lvl="1">
              <a:spcBef>
                <a:spcPts val="0"/>
              </a:spcBef>
              <a:spcAft>
                <a:spcPts val="563"/>
              </a:spcAft>
            </a:pPr>
            <a:r>
              <a:rPr lang="en-US" sz="2425" dirty="0"/>
              <a:t>We will focus on a “representative consumer”</a:t>
            </a:r>
          </a:p>
          <a:p>
            <a:pPr lvl="1">
              <a:lnSpc>
                <a:spcPct val="90000"/>
              </a:lnSpc>
              <a:buFontTx/>
              <a:buNone/>
            </a:pPr>
            <a:endParaRPr lang="en-US" sz="2531" dirty="0"/>
          </a:p>
          <a:p>
            <a:pPr lvl="1">
              <a:lnSpc>
                <a:spcPct val="90000"/>
              </a:lnSpc>
              <a:buFontTx/>
              <a:buNone/>
            </a:pPr>
            <a:r>
              <a:rPr lang="en-US" sz="2531" dirty="0"/>
              <a:t>					</a:t>
            </a:r>
            <a:endParaRPr lang="en-US" sz="1406" dirty="0"/>
          </a:p>
        </p:txBody>
      </p:sp>
      <p:sp>
        <p:nvSpPr>
          <p:cNvPr id="4" name="Slide Number Placeholder 3"/>
          <p:cNvSpPr>
            <a:spLocks noGrp="1"/>
          </p:cNvSpPr>
          <p:nvPr>
            <p:ph type="sldNum" sz="quarter" idx="10"/>
          </p:nvPr>
        </p:nvSpPr>
        <p:spPr/>
        <p:txBody>
          <a:bodyPr/>
          <a:lstStyle/>
          <a:p>
            <a:fld id="{DBC38028-5B1C-49D3-BF22-2CE9385E6DA2}" type="slidenum">
              <a:rPr lang="en-US" smtClean="0"/>
              <a:pPr/>
              <a:t>44</a:t>
            </a:fld>
            <a:endParaRPr lang="en-US" dirty="0"/>
          </a:p>
        </p:txBody>
      </p:sp>
    </p:spTree>
    <p:custDataLst>
      <p:tags r:id="rId1"/>
    </p:custDataLst>
    <p:extLst>
      <p:ext uri="{BB962C8B-B14F-4D97-AF65-F5344CB8AC3E}">
        <p14:creationId xmlns:p14="http://schemas.microsoft.com/office/powerpoint/2010/main" val="1367425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859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85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a:noFill/>
          <a:ln/>
        </p:spPr>
        <p:txBody>
          <a:bodyPr vert="horz" lIns="92273" tIns="46136" rIns="92273" bIns="46136" rtlCol="0" anchor="ctr">
            <a:normAutofit/>
          </a:bodyPr>
          <a:lstStyle/>
          <a:p>
            <a:r>
              <a:rPr lang="en-US" dirty="0"/>
              <a:t>Advanced Pricing</a:t>
            </a:r>
          </a:p>
        </p:txBody>
      </p:sp>
      <p:sp>
        <p:nvSpPr>
          <p:cNvPr id="238595" name="Rectangle 3"/>
          <p:cNvSpPr>
            <a:spLocks noGrp="1" noChangeArrowheads="1"/>
          </p:cNvSpPr>
          <p:nvPr>
            <p:ph type="body" idx="1"/>
          </p:nvPr>
        </p:nvSpPr>
        <p:spPr>
          <a:xfrm>
            <a:off x="571500" y="1270216"/>
            <a:ext cx="8339587" cy="4681548"/>
          </a:xfrm>
          <a:noFill/>
          <a:ln/>
        </p:spPr>
        <p:txBody>
          <a:bodyPr vert="horz" lIns="92273" tIns="46136" rIns="92273" bIns="46136" rtlCol="0">
            <a:normAutofit/>
          </a:bodyPr>
          <a:lstStyle/>
          <a:p>
            <a:pPr>
              <a:spcBef>
                <a:spcPts val="0"/>
              </a:spcBef>
              <a:spcAft>
                <a:spcPts val="563"/>
              </a:spcAft>
            </a:pPr>
            <a:r>
              <a:rPr lang="fr-FR" sz="2625" dirty="0"/>
              <a:t>How to </a:t>
            </a:r>
            <a:r>
              <a:rPr lang="fr-FR" sz="2625" dirty="0" err="1"/>
              <a:t>extract</a:t>
            </a:r>
            <a:r>
              <a:rPr lang="fr-FR" sz="2625" dirty="0"/>
              <a:t> consumer surplus </a:t>
            </a:r>
            <a:r>
              <a:rPr lang="fr-FR" sz="2625" dirty="0" err="1"/>
              <a:t>from</a:t>
            </a:r>
            <a:r>
              <a:rPr lang="fr-FR" sz="2625" dirty="0"/>
              <a:t> </a:t>
            </a:r>
            <a:r>
              <a:rPr lang="fr-FR" sz="2625" dirty="0">
                <a:solidFill>
                  <a:srgbClr val="C00000"/>
                </a:solidFill>
              </a:rPr>
              <a:t>a </a:t>
            </a:r>
            <a:r>
              <a:rPr lang="fr-FR" sz="2625" dirty="0" err="1">
                <a:solidFill>
                  <a:srgbClr val="C00000"/>
                </a:solidFill>
              </a:rPr>
              <a:t>given</a:t>
            </a:r>
            <a:r>
              <a:rPr lang="fr-FR" sz="2625" dirty="0">
                <a:solidFill>
                  <a:srgbClr val="C00000"/>
                </a:solidFill>
              </a:rPr>
              <a:t> consumer</a:t>
            </a:r>
            <a:r>
              <a:rPr lang="fr-FR" sz="2625" dirty="0"/>
              <a:t> </a:t>
            </a:r>
            <a:r>
              <a:rPr lang="fr-FR" sz="2625" dirty="0" err="1"/>
              <a:t>who</a:t>
            </a:r>
            <a:r>
              <a:rPr lang="fr-FR" sz="2625" dirty="0"/>
              <a:t> </a:t>
            </a:r>
            <a:r>
              <a:rPr lang="en-US" sz="2625" dirty="0"/>
              <a:t>is prepared to </a:t>
            </a:r>
            <a:r>
              <a:rPr lang="en-US" sz="2625" dirty="0">
                <a:solidFill>
                  <a:srgbClr val="C00000"/>
                </a:solidFill>
              </a:rPr>
              <a:t>buy multiple units</a:t>
            </a:r>
          </a:p>
          <a:p>
            <a:pPr>
              <a:lnSpc>
                <a:spcPct val="150000"/>
              </a:lnSpc>
              <a:spcBef>
                <a:spcPts val="0"/>
              </a:spcBef>
              <a:spcAft>
                <a:spcPts val="563"/>
              </a:spcAft>
            </a:pPr>
            <a:r>
              <a:rPr lang="en-US" sz="2625" dirty="0"/>
              <a:t>Diminishing marginal personal value comes into play</a:t>
            </a:r>
          </a:p>
          <a:p>
            <a:pPr>
              <a:lnSpc>
                <a:spcPct val="150000"/>
              </a:lnSpc>
              <a:spcBef>
                <a:spcPts val="0"/>
              </a:spcBef>
              <a:spcAft>
                <a:spcPts val="563"/>
              </a:spcAft>
            </a:pPr>
            <a:r>
              <a:rPr lang="en-US" sz="2625" dirty="0"/>
              <a:t>We will study three variants of advanced pricing</a:t>
            </a:r>
          </a:p>
          <a:p>
            <a:pPr lvl="1">
              <a:lnSpc>
                <a:spcPct val="150000"/>
              </a:lnSpc>
              <a:spcBef>
                <a:spcPts val="0"/>
              </a:spcBef>
              <a:spcAft>
                <a:spcPts val="563"/>
              </a:spcAft>
            </a:pPr>
            <a:r>
              <a:rPr lang="en-US" sz="2625" dirty="0"/>
              <a:t>All-or-none offers (flat fee)</a:t>
            </a:r>
          </a:p>
          <a:p>
            <a:pPr lvl="1">
              <a:lnSpc>
                <a:spcPct val="150000"/>
              </a:lnSpc>
              <a:spcBef>
                <a:spcPts val="0"/>
              </a:spcBef>
              <a:spcAft>
                <a:spcPts val="563"/>
              </a:spcAft>
            </a:pPr>
            <a:r>
              <a:rPr lang="en-US" sz="2625" dirty="0"/>
              <a:t>Two-part tariffs (flat fee + usage fee)</a:t>
            </a:r>
          </a:p>
          <a:p>
            <a:pPr lvl="1">
              <a:lnSpc>
                <a:spcPct val="150000"/>
              </a:lnSpc>
              <a:spcBef>
                <a:spcPts val="0"/>
              </a:spcBef>
              <a:spcAft>
                <a:spcPts val="563"/>
              </a:spcAft>
            </a:pPr>
            <a:r>
              <a:rPr lang="en-US" sz="2625" dirty="0"/>
              <a:t>Block pricing</a:t>
            </a:r>
            <a:r>
              <a:rPr lang="en-US" sz="2531" dirty="0"/>
              <a:t>					</a:t>
            </a:r>
            <a:endParaRPr lang="en-US" sz="1406" dirty="0"/>
          </a:p>
        </p:txBody>
      </p:sp>
      <p:sp>
        <p:nvSpPr>
          <p:cNvPr id="4" name="Slide Number Placeholder 3"/>
          <p:cNvSpPr>
            <a:spLocks noGrp="1"/>
          </p:cNvSpPr>
          <p:nvPr>
            <p:ph type="sldNum" sz="quarter" idx="10"/>
          </p:nvPr>
        </p:nvSpPr>
        <p:spPr/>
        <p:txBody>
          <a:bodyPr/>
          <a:lstStyle/>
          <a:p>
            <a:fld id="{DBC38028-5B1C-49D3-BF22-2CE9385E6DA2}" type="slidenum">
              <a:rPr lang="en-US" smtClean="0"/>
              <a:pPr/>
              <a:t>45</a:t>
            </a:fld>
            <a:endParaRPr lang="en-US" dirty="0"/>
          </a:p>
        </p:txBody>
      </p:sp>
    </p:spTree>
    <p:custDataLst>
      <p:tags r:id="rId1"/>
    </p:custDataLst>
    <p:extLst>
      <p:ext uri="{BB962C8B-B14F-4D97-AF65-F5344CB8AC3E}">
        <p14:creationId xmlns:p14="http://schemas.microsoft.com/office/powerpoint/2010/main" val="26303709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85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85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859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8595">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859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85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27215"/>
            <a:ext cx="8399695" cy="1143000"/>
          </a:xfrm>
        </p:spPr>
        <p:txBody>
          <a:bodyPr>
            <a:normAutofit/>
          </a:bodyPr>
          <a:lstStyle/>
          <a:p>
            <a:r>
              <a:rPr lang="en-US" sz="3200" dirty="0">
                <a:latin typeface="Whitney Medium" pitchFamily="50" charset="0"/>
                <a:cs typeface="Whitney Medium" pitchFamily="50" charset="0"/>
              </a:rPr>
              <a:t>Example: Netflix</a:t>
            </a:r>
            <a:br>
              <a:rPr lang="en-US" sz="3200" dirty="0">
                <a:latin typeface="Whitney Medium" pitchFamily="50" charset="0"/>
                <a:cs typeface="Whitney Medium" pitchFamily="50" charset="0"/>
              </a:rPr>
            </a:br>
            <a:r>
              <a:rPr lang="en-US" sz="3200" dirty="0">
                <a:latin typeface="Whitney Medium" pitchFamily="50" charset="0"/>
                <a:cs typeface="Whitney Medium" pitchFamily="50" charset="0"/>
              </a:rPr>
              <a:t>flat fee </a:t>
            </a:r>
            <a:r>
              <a:rPr lang="en-US" sz="2700" dirty="0">
                <a:latin typeface="Whitney Medium" pitchFamily="50" charset="0"/>
                <a:cs typeface="Whitney Medium" pitchFamily="50" charset="0"/>
              </a:rPr>
              <a:t>(assume MC=0)</a:t>
            </a:r>
            <a:endParaRPr lang="en-US" sz="2700" dirty="0"/>
          </a:p>
        </p:txBody>
      </p:sp>
      <p:sp>
        <p:nvSpPr>
          <p:cNvPr id="45" name="Text Box 11"/>
          <p:cNvSpPr txBox="1">
            <a:spLocks noChangeArrowheads="1"/>
          </p:cNvSpPr>
          <p:nvPr/>
        </p:nvSpPr>
        <p:spPr bwMode="auto">
          <a:xfrm>
            <a:off x="3201642" y="5819639"/>
            <a:ext cx="801687" cy="467814"/>
          </a:xfrm>
          <a:prstGeom prst="rect">
            <a:avLst/>
          </a:prstGeom>
          <a:noFill/>
          <a:ln w="9525">
            <a:noFill/>
            <a:miter lim="800000"/>
            <a:headEnd/>
            <a:tailEnd/>
          </a:ln>
          <a:effectLst/>
        </p:spPr>
        <p:txBody>
          <a:bodyPr lIns="97530" tIns="48765" rIns="97530" bIns="48765">
            <a:spAutoFit/>
          </a:bodyPr>
          <a:lstStyle/>
          <a:p>
            <a:pPr defTabSz="974725">
              <a:spcBef>
                <a:spcPct val="50000"/>
              </a:spcBef>
            </a:pPr>
            <a:r>
              <a:rPr lang="en-US" b="0" dirty="0">
                <a:solidFill>
                  <a:srgbClr val="C00000"/>
                </a:solidFill>
                <a:latin typeface="+mn-lt"/>
                <a:cs typeface="Times New Roman" pitchFamily="18" charset="0"/>
              </a:rPr>
              <a:t>D</a:t>
            </a:r>
          </a:p>
        </p:txBody>
      </p:sp>
      <p:sp>
        <p:nvSpPr>
          <p:cNvPr id="26" name="Right Triangle 25"/>
          <p:cNvSpPr/>
          <p:nvPr/>
        </p:nvSpPr>
        <p:spPr>
          <a:xfrm>
            <a:off x="953771" y="2058404"/>
            <a:ext cx="2361151" cy="4290961"/>
          </a:xfrm>
          <a:prstGeom prst="rtTriangl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88">
              <a:latin typeface="Whitney-Book" pitchFamily="50" charset="0"/>
              <a:cs typeface="Whitney-Book" pitchFamily="50" charset="0"/>
            </a:endParaRPr>
          </a:p>
        </p:txBody>
      </p:sp>
      <p:sp>
        <p:nvSpPr>
          <p:cNvPr id="27" name="Content Placeholder 3"/>
          <p:cNvSpPr>
            <a:spLocks noGrp="1"/>
          </p:cNvSpPr>
          <p:nvPr>
            <p:ph idx="1"/>
          </p:nvPr>
        </p:nvSpPr>
        <p:spPr>
          <a:xfrm>
            <a:off x="4049474" y="1437640"/>
            <a:ext cx="5111039" cy="4525963"/>
          </a:xfrm>
        </p:spPr>
        <p:txBody>
          <a:bodyPr>
            <a:noAutofit/>
          </a:bodyPr>
          <a:lstStyle/>
          <a:p>
            <a:r>
              <a:rPr lang="en-US" sz="2000" dirty="0"/>
              <a:t>Yellow area = total value of unlimited movies for the consumer = maximum fee Netflix can charge </a:t>
            </a:r>
          </a:p>
          <a:p>
            <a:r>
              <a:rPr lang="fr-FR" sz="2000" dirty="0"/>
              <a:t>Area = </a:t>
            </a:r>
            <a:r>
              <a:rPr lang="en-US" sz="2000" dirty="0"/>
              <a:t>(16x2)/2 = 16</a:t>
            </a:r>
          </a:p>
          <a:p>
            <a:r>
              <a:rPr lang="en-US" sz="2000" dirty="0"/>
              <a:t>With a $16 flat flee for unlimited access, Netflix can attain $16 revenue – twice as much as under simple pricing (see Module 6 – Video 1) </a:t>
            </a:r>
          </a:p>
          <a:p>
            <a:r>
              <a:rPr lang="fr-FR" sz="2000" dirty="0"/>
              <a:t>The consumer </a:t>
            </a:r>
            <a:r>
              <a:rPr lang="fr-FR" sz="2000" dirty="0" err="1"/>
              <a:t>will</a:t>
            </a:r>
            <a:r>
              <a:rPr lang="fr-FR" sz="2000" dirty="0"/>
              <a:t> </a:t>
            </a:r>
            <a:r>
              <a:rPr lang="fr-FR" sz="2000" dirty="0" err="1"/>
              <a:t>watch</a:t>
            </a:r>
            <a:r>
              <a:rPr lang="fr-FR" sz="2000" dirty="0"/>
              <a:t> 16 </a:t>
            </a:r>
            <a:r>
              <a:rPr lang="fr-FR" sz="2000" dirty="0" err="1"/>
              <a:t>movies</a:t>
            </a:r>
            <a:r>
              <a:rPr lang="fr-FR" sz="2000" dirty="0"/>
              <a:t> </a:t>
            </a:r>
            <a:r>
              <a:rPr lang="fr-FR" sz="2000" dirty="0" err="1"/>
              <a:t>under</a:t>
            </a:r>
            <a:r>
              <a:rPr lang="fr-FR" sz="2000" dirty="0"/>
              <a:t> </a:t>
            </a:r>
            <a:r>
              <a:rPr lang="fr-FR" sz="2000" dirty="0" err="1"/>
              <a:t>this</a:t>
            </a:r>
            <a:r>
              <a:rPr lang="fr-FR" sz="2000" dirty="0"/>
              <a:t> </a:t>
            </a:r>
            <a:r>
              <a:rPr lang="fr-FR" sz="2000" dirty="0" err="1"/>
              <a:t>fixed-fee-unlimited-access</a:t>
            </a:r>
            <a:r>
              <a:rPr lang="fr-FR" sz="2000" dirty="0"/>
              <a:t> system</a:t>
            </a:r>
          </a:p>
          <a:p>
            <a:r>
              <a:rPr lang="en-US" sz="2000" dirty="0"/>
              <a:t>Consumer surplus in this case = 0</a:t>
            </a:r>
          </a:p>
          <a:p>
            <a:r>
              <a:rPr lang="fr-FR" sz="2000" dirty="0"/>
              <a:t>Note: </a:t>
            </a:r>
            <a:r>
              <a:rPr lang="fr-FR" sz="2000" dirty="0" err="1"/>
              <a:t>only</a:t>
            </a:r>
            <a:r>
              <a:rPr lang="fr-FR" sz="2000" dirty="0"/>
              <a:t> </a:t>
            </a:r>
            <a:r>
              <a:rPr lang="fr-FR" sz="2000" dirty="0" err="1"/>
              <a:t>makes</a:t>
            </a:r>
            <a:r>
              <a:rPr lang="fr-FR" sz="2000" dirty="0"/>
              <a:t> </a:t>
            </a:r>
            <a:r>
              <a:rPr lang="fr-FR" sz="2000" dirty="0" err="1"/>
              <a:t>sense</a:t>
            </a:r>
            <a:r>
              <a:rPr lang="fr-FR" sz="2000" dirty="0"/>
              <a:t> </a:t>
            </a:r>
            <a:r>
              <a:rPr lang="fr-FR" sz="2000" dirty="0" err="1"/>
              <a:t>when</a:t>
            </a:r>
            <a:r>
              <a:rPr lang="fr-FR" sz="2000" dirty="0"/>
              <a:t> MC=0</a:t>
            </a:r>
            <a:endParaRPr lang="en-US" sz="2000" dirty="0"/>
          </a:p>
          <a:p>
            <a:pPr marL="0" indent="0">
              <a:buNone/>
            </a:pPr>
            <a:endParaRPr lang="en-US" sz="1400" dirty="0"/>
          </a:p>
        </p:txBody>
      </p:sp>
      <p:sp>
        <p:nvSpPr>
          <p:cNvPr id="3" name="Slide Number Placeholder 2"/>
          <p:cNvSpPr>
            <a:spLocks noGrp="1"/>
          </p:cNvSpPr>
          <p:nvPr>
            <p:ph type="sldNum" sz="quarter" idx="12"/>
          </p:nvPr>
        </p:nvSpPr>
        <p:spPr/>
        <p:txBody>
          <a:bodyPr/>
          <a:lstStyle/>
          <a:p>
            <a:fld id="{0F3206DB-9488-D04D-BDD1-A7C9D84C4579}" type="slidenum">
              <a:rPr lang="en-US" smtClean="0"/>
              <a:t>46</a:t>
            </a:fld>
            <a:endParaRPr lang="en-US"/>
          </a:p>
        </p:txBody>
      </p:sp>
      <p:sp>
        <p:nvSpPr>
          <p:cNvPr id="38" name="Line 3"/>
          <p:cNvSpPr>
            <a:spLocks noChangeShapeType="1"/>
          </p:cNvSpPr>
          <p:nvPr/>
        </p:nvSpPr>
        <p:spPr bwMode="auto">
          <a:xfrm>
            <a:off x="923610" y="1163003"/>
            <a:ext cx="0" cy="5156200"/>
          </a:xfrm>
          <a:prstGeom prst="line">
            <a:avLst/>
          </a:prstGeom>
          <a:noFill/>
          <a:ln w="38100">
            <a:solidFill>
              <a:schemeClr val="tx1"/>
            </a:solidFill>
            <a:round/>
            <a:headEnd type="triangle"/>
            <a:tailEnd/>
          </a:ln>
          <a:effectLst/>
        </p:spPr>
        <p:txBody>
          <a:bodyPr wrap="none" anchor="ctr"/>
          <a:lstStyle/>
          <a:p>
            <a:endParaRPr lang="en-US" b="0">
              <a:latin typeface="+mn-lt"/>
              <a:cs typeface="Times New Roman" pitchFamily="18" charset="0"/>
            </a:endParaRPr>
          </a:p>
        </p:txBody>
      </p:sp>
      <p:sp>
        <p:nvSpPr>
          <p:cNvPr id="39" name="Line 4"/>
          <p:cNvSpPr>
            <a:spLocks noChangeShapeType="1"/>
          </p:cNvSpPr>
          <p:nvPr/>
        </p:nvSpPr>
        <p:spPr bwMode="auto">
          <a:xfrm>
            <a:off x="923610" y="6319203"/>
            <a:ext cx="5757862" cy="0"/>
          </a:xfrm>
          <a:prstGeom prst="line">
            <a:avLst/>
          </a:prstGeom>
          <a:noFill/>
          <a:ln w="38100">
            <a:solidFill>
              <a:schemeClr val="tx1"/>
            </a:solidFill>
            <a:round/>
            <a:headEnd/>
            <a:tailEnd type="triangle"/>
          </a:ln>
          <a:effectLst/>
        </p:spPr>
        <p:txBody>
          <a:bodyPr wrap="none" anchor="ctr"/>
          <a:lstStyle/>
          <a:p>
            <a:endParaRPr lang="en-US" b="0">
              <a:latin typeface="+mn-lt"/>
              <a:cs typeface="Times New Roman" pitchFamily="18" charset="0"/>
            </a:endParaRPr>
          </a:p>
        </p:txBody>
      </p:sp>
      <p:sp>
        <p:nvSpPr>
          <p:cNvPr id="40" name="Text Box 5"/>
          <p:cNvSpPr txBox="1">
            <a:spLocks noChangeArrowheads="1"/>
          </p:cNvSpPr>
          <p:nvPr/>
        </p:nvSpPr>
        <p:spPr bwMode="auto">
          <a:xfrm>
            <a:off x="425664" y="985838"/>
            <a:ext cx="520384" cy="375481"/>
          </a:xfrm>
          <a:prstGeom prst="rect">
            <a:avLst/>
          </a:prstGeom>
          <a:noFill/>
          <a:ln w="9525">
            <a:noFill/>
            <a:miter lim="800000"/>
            <a:headEnd/>
            <a:tailEnd/>
          </a:ln>
          <a:effectLst/>
        </p:spPr>
        <p:txBody>
          <a:bodyPr wrap="square" lIns="97530" tIns="48765" rIns="97530" bIns="48765">
            <a:spAutoFit/>
          </a:bodyPr>
          <a:lstStyle/>
          <a:p>
            <a:pPr defTabSz="974725">
              <a:spcBef>
                <a:spcPct val="50000"/>
              </a:spcBef>
            </a:pPr>
            <a:r>
              <a:rPr lang="en-US" b="0" i="1" dirty="0">
                <a:latin typeface="+mn-lt"/>
                <a:cs typeface="Times New Roman" pitchFamily="18" charset="0"/>
              </a:rPr>
              <a:t>P</a:t>
            </a:r>
          </a:p>
        </p:txBody>
      </p:sp>
      <p:sp>
        <p:nvSpPr>
          <p:cNvPr id="41" name="Text Box 6"/>
          <p:cNvSpPr txBox="1">
            <a:spLocks noChangeArrowheads="1"/>
          </p:cNvSpPr>
          <p:nvPr/>
        </p:nvSpPr>
        <p:spPr bwMode="auto">
          <a:xfrm>
            <a:off x="5759134" y="6363653"/>
            <a:ext cx="1490663" cy="406259"/>
          </a:xfrm>
          <a:prstGeom prst="rect">
            <a:avLst/>
          </a:prstGeom>
          <a:noFill/>
          <a:ln w="9525">
            <a:noFill/>
            <a:miter lim="800000"/>
            <a:headEnd/>
            <a:tailEnd/>
          </a:ln>
          <a:effectLst/>
        </p:spPr>
        <p:txBody>
          <a:bodyPr lIns="97530" tIns="48765" rIns="97530" bIns="48765">
            <a:spAutoFit/>
          </a:bodyPr>
          <a:lstStyle/>
          <a:p>
            <a:pPr defTabSz="974725">
              <a:spcBef>
                <a:spcPct val="50000"/>
              </a:spcBef>
            </a:pPr>
            <a:r>
              <a:rPr lang="en-US" sz="2000" b="0" i="1" dirty="0">
                <a:latin typeface="+mn-lt"/>
                <a:cs typeface="Times New Roman" pitchFamily="18" charset="0"/>
              </a:rPr>
              <a:t>Movies</a:t>
            </a:r>
          </a:p>
        </p:txBody>
      </p:sp>
      <p:sp>
        <p:nvSpPr>
          <p:cNvPr id="46" name="Line 12"/>
          <p:cNvSpPr>
            <a:spLocks noChangeShapeType="1"/>
          </p:cNvSpPr>
          <p:nvPr/>
        </p:nvSpPr>
        <p:spPr bwMode="auto">
          <a:xfrm>
            <a:off x="953772" y="2007553"/>
            <a:ext cx="2400300" cy="4341812"/>
          </a:xfrm>
          <a:prstGeom prst="line">
            <a:avLst/>
          </a:prstGeom>
          <a:noFill/>
          <a:ln w="38100">
            <a:solidFill>
              <a:srgbClr val="C00000"/>
            </a:solidFill>
            <a:round/>
            <a:headEnd/>
            <a:tailEnd/>
          </a:ln>
          <a:effectLst/>
        </p:spPr>
        <p:txBody>
          <a:bodyPr wrap="none" anchor="ctr"/>
          <a:lstStyle/>
          <a:p>
            <a:endParaRPr lang="en-US" b="0" dirty="0">
              <a:latin typeface="+mn-lt"/>
              <a:cs typeface="Times New Roman" pitchFamily="18" charset="0"/>
            </a:endParaRPr>
          </a:p>
        </p:txBody>
      </p:sp>
      <p:sp>
        <p:nvSpPr>
          <p:cNvPr id="56" name="TextBox 55"/>
          <p:cNvSpPr txBox="1"/>
          <p:nvPr/>
        </p:nvSpPr>
        <p:spPr>
          <a:xfrm>
            <a:off x="402772" y="1793240"/>
            <a:ext cx="704005" cy="369332"/>
          </a:xfrm>
          <a:prstGeom prst="rect">
            <a:avLst/>
          </a:prstGeom>
          <a:noFill/>
        </p:spPr>
        <p:txBody>
          <a:bodyPr wrap="square" rtlCol="0">
            <a:spAutoFit/>
          </a:bodyPr>
          <a:lstStyle/>
          <a:p>
            <a:r>
              <a:rPr lang="en-US" b="0" dirty="0">
                <a:latin typeface="+mn-lt"/>
              </a:rPr>
              <a:t>$2</a:t>
            </a:r>
          </a:p>
        </p:txBody>
      </p:sp>
      <p:sp>
        <p:nvSpPr>
          <p:cNvPr id="57" name="TextBox 56"/>
          <p:cNvSpPr txBox="1"/>
          <p:nvPr/>
        </p:nvSpPr>
        <p:spPr>
          <a:xfrm>
            <a:off x="3170237" y="6314440"/>
            <a:ext cx="574360" cy="369332"/>
          </a:xfrm>
          <a:prstGeom prst="rect">
            <a:avLst/>
          </a:prstGeom>
          <a:noFill/>
        </p:spPr>
        <p:txBody>
          <a:bodyPr wrap="square" rtlCol="0">
            <a:spAutoFit/>
          </a:bodyPr>
          <a:lstStyle/>
          <a:p>
            <a:r>
              <a:rPr lang="en-US" b="0" dirty="0">
                <a:latin typeface="+mn-lt"/>
              </a:rPr>
              <a:t>16</a:t>
            </a:r>
          </a:p>
        </p:txBody>
      </p:sp>
      <p:sp>
        <p:nvSpPr>
          <p:cNvPr id="58" name="Rectangle 57"/>
          <p:cNvSpPr/>
          <p:nvPr/>
        </p:nvSpPr>
        <p:spPr>
          <a:xfrm>
            <a:off x="1001397" y="4684641"/>
            <a:ext cx="1186287" cy="707886"/>
          </a:xfrm>
          <a:prstGeom prst="rect">
            <a:avLst/>
          </a:prstGeom>
        </p:spPr>
        <p:txBody>
          <a:bodyPr wrap="none">
            <a:spAutoFit/>
          </a:bodyPr>
          <a:lstStyle/>
          <a:p>
            <a:pPr algn="ctr"/>
            <a:r>
              <a:rPr lang="en-US" sz="2000" b="0" dirty="0">
                <a:latin typeface="+mn-lt"/>
                <a:cs typeface="Times New Roman" pitchFamily="18" charset="0"/>
              </a:rPr>
              <a:t>Revenues</a:t>
            </a:r>
          </a:p>
          <a:p>
            <a:pPr algn="ctr"/>
            <a:r>
              <a:rPr lang="en-US" sz="2000" b="0" dirty="0">
                <a:latin typeface="+mn-lt"/>
                <a:cs typeface="Times New Roman" pitchFamily="18" charset="0"/>
              </a:rPr>
              <a:t>=$16</a:t>
            </a:r>
            <a:endParaRPr lang="en-US" sz="2000" dirty="0">
              <a:latin typeface="+mn-lt"/>
            </a:endParaRPr>
          </a:p>
        </p:txBody>
      </p:sp>
      <p:sp>
        <p:nvSpPr>
          <p:cNvPr id="23" name="Text Box 11">
            <a:extLst>
              <a:ext uri="{FF2B5EF4-FFF2-40B4-BE49-F238E27FC236}">
                <a16:creationId xmlns:a16="http://schemas.microsoft.com/office/drawing/2014/main" id="{3DA96C58-4671-5844-8121-6F4E638935FC}"/>
              </a:ext>
            </a:extLst>
          </p:cNvPr>
          <p:cNvSpPr txBox="1">
            <a:spLocks noChangeArrowheads="1"/>
          </p:cNvSpPr>
          <p:nvPr/>
        </p:nvSpPr>
        <p:spPr bwMode="auto">
          <a:xfrm>
            <a:off x="1145300" y="1772877"/>
            <a:ext cx="1968075" cy="467814"/>
          </a:xfrm>
          <a:prstGeom prst="rect">
            <a:avLst/>
          </a:prstGeom>
          <a:noFill/>
          <a:ln w="9525">
            <a:noFill/>
            <a:miter lim="800000"/>
            <a:headEnd/>
            <a:tailEnd/>
          </a:ln>
          <a:effectLst/>
        </p:spPr>
        <p:txBody>
          <a:bodyPr wrap="square" lIns="97530" tIns="48765" rIns="97530" bIns="48765">
            <a:spAutoFit/>
          </a:bodyPr>
          <a:lstStyle/>
          <a:p>
            <a:pPr defTabSz="974725">
              <a:spcBef>
                <a:spcPct val="50000"/>
              </a:spcBef>
            </a:pPr>
            <a:r>
              <a:rPr lang="en-US" sz="2400" b="0" i="1" dirty="0">
                <a:solidFill>
                  <a:srgbClr val="C00000"/>
                </a:solidFill>
                <a:latin typeface="+mn-lt"/>
                <a:cs typeface="Times New Roman" pitchFamily="18" charset="0"/>
              </a:rPr>
              <a:t>P=2-Q/8</a:t>
            </a:r>
          </a:p>
        </p:txBody>
      </p:sp>
    </p:spTree>
    <p:extLst>
      <p:ext uri="{BB962C8B-B14F-4D97-AF65-F5344CB8AC3E}">
        <p14:creationId xmlns:p14="http://schemas.microsoft.com/office/powerpoint/2010/main" val="6123392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7">
                                            <p:txEl>
                                              <p:pRg st="3" end="3"/>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7">
                                            <p:txEl>
                                              <p:pRg st="4" end="4"/>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26" grpId="0" animBg="1"/>
      <p:bldP spid="38" grpId="0" animBg="1"/>
      <p:bldP spid="39" grpId="0" animBg="1"/>
      <p:bldP spid="40" grpId="0"/>
      <p:bldP spid="41" grpId="0"/>
      <p:bldP spid="46" grpId="0" animBg="1"/>
      <p:bldP spid="56" grpId="0"/>
      <p:bldP spid="57" grpId="0"/>
      <p:bldP spid="58" grpId="0"/>
      <p:bldP spid="23"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D9419-9C96-406B-860C-8268561CC51B}"/>
              </a:ext>
            </a:extLst>
          </p:cNvPr>
          <p:cNvSpPr>
            <a:spLocks noGrp="1"/>
          </p:cNvSpPr>
          <p:nvPr>
            <p:ph type="title"/>
          </p:nvPr>
        </p:nvSpPr>
        <p:spPr/>
        <p:txBody>
          <a:bodyPr/>
          <a:lstStyle/>
          <a:p>
            <a:r>
              <a:rPr lang="en-US" dirty="0"/>
              <a:t>Netflix pricing strategy</a:t>
            </a:r>
          </a:p>
        </p:txBody>
      </p:sp>
      <p:pic>
        <p:nvPicPr>
          <p:cNvPr id="8" name="Picture 2" descr="http://www.top10base.com/wp-content/uploads/2015/05/tips-to-enhance-Netflix.jpg">
            <a:extLst>
              <a:ext uri="{FF2B5EF4-FFF2-40B4-BE49-F238E27FC236}">
                <a16:creationId xmlns:a16="http://schemas.microsoft.com/office/drawing/2014/main" id="{EE7D7327-09E0-42A5-93A1-D983C70359B4}"/>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backgroundRemoval t="0" b="100000" l="643" r="100000">
                        <a14:foregroundMark x1="27298" y1="27793" x2="50460" y2="34840"/>
                        <a14:foregroundMark x1="42096" y1="25133" x2="41820" y2="43750"/>
                      </a14:backgroundRemoval>
                    </a14:imgEffect>
                  </a14:imgLayer>
                </a14:imgProps>
              </a:ext>
              <a:ext uri="{28A0092B-C50C-407E-A947-70E740481C1C}">
                <a14:useLocalDpi xmlns:a14="http://schemas.microsoft.com/office/drawing/2010/main" val="0"/>
              </a:ext>
            </a:extLst>
          </a:blip>
          <a:srcRect/>
          <a:stretch>
            <a:fillRect/>
          </a:stretch>
        </p:blipFill>
        <p:spPr bwMode="auto">
          <a:xfrm>
            <a:off x="457200" y="4286509"/>
            <a:ext cx="3773340" cy="2608044"/>
          </a:xfrm>
          <a:prstGeom prst="rect">
            <a:avLst/>
          </a:prstGeom>
          <a:noFill/>
          <a:extLst>
            <a:ext uri="{909E8E84-426E-40dd-AFC4-6F175D3DCCD1}">
              <a14:hiddenFill xmlns=""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B93A56F-13FA-4087-AE8D-35FDCCECFA17}"/>
              </a:ext>
            </a:extLst>
          </p:cNvPr>
          <p:cNvPicPr>
            <a:picLocks noChangeAspect="1"/>
          </p:cNvPicPr>
          <p:nvPr/>
        </p:nvPicPr>
        <p:blipFill>
          <a:blip r:embed="rId5"/>
          <a:stretch>
            <a:fillRect/>
          </a:stretch>
        </p:blipFill>
        <p:spPr>
          <a:xfrm>
            <a:off x="739934" y="1087453"/>
            <a:ext cx="7664132" cy="3049649"/>
          </a:xfrm>
          <a:prstGeom prst="rect">
            <a:avLst/>
          </a:prstGeom>
        </p:spPr>
      </p:pic>
      <p:sp>
        <p:nvSpPr>
          <p:cNvPr id="9" name="Rectangle 3">
            <a:extLst>
              <a:ext uri="{FF2B5EF4-FFF2-40B4-BE49-F238E27FC236}">
                <a16:creationId xmlns:a16="http://schemas.microsoft.com/office/drawing/2014/main" id="{C0D216F7-F3DF-4B22-96F2-390B6F1316F8}"/>
              </a:ext>
            </a:extLst>
          </p:cNvPr>
          <p:cNvSpPr>
            <a:spLocks noGrp="1" noChangeArrowheads="1"/>
          </p:cNvSpPr>
          <p:nvPr>
            <p:ph idx="1"/>
          </p:nvPr>
        </p:nvSpPr>
        <p:spPr>
          <a:xfrm>
            <a:off x="4128628" y="4585322"/>
            <a:ext cx="4653672" cy="2123691"/>
          </a:xfrm>
        </p:spPr>
        <p:txBody>
          <a:bodyPr>
            <a:normAutofit/>
          </a:bodyPr>
          <a:lstStyle/>
          <a:p>
            <a:pPr lvl="1">
              <a:spcBef>
                <a:spcPts val="0"/>
              </a:spcBef>
              <a:spcAft>
                <a:spcPts val="563"/>
              </a:spcAft>
            </a:pPr>
            <a:r>
              <a:rPr lang="en-US" sz="2400" dirty="0">
                <a:latin typeface="Whitney-Book" pitchFamily="50" charset="0"/>
                <a:cs typeface="Whitney-Book" pitchFamily="50" charset="0"/>
              </a:rPr>
              <a:t>Note that this pricing strategy is a mix of flat fee and versioning</a:t>
            </a:r>
          </a:p>
        </p:txBody>
      </p:sp>
    </p:spTree>
    <p:extLst>
      <p:ext uri="{BB962C8B-B14F-4D97-AF65-F5344CB8AC3E}">
        <p14:creationId xmlns:p14="http://schemas.microsoft.com/office/powerpoint/2010/main" val="4181957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D9419-9C96-406B-860C-8268561CC51B}"/>
              </a:ext>
            </a:extLst>
          </p:cNvPr>
          <p:cNvSpPr>
            <a:spLocks noGrp="1"/>
          </p:cNvSpPr>
          <p:nvPr>
            <p:ph type="title"/>
          </p:nvPr>
        </p:nvSpPr>
        <p:spPr/>
        <p:txBody>
          <a:bodyPr/>
          <a:lstStyle/>
          <a:p>
            <a:r>
              <a:rPr lang="en-US" dirty="0"/>
              <a:t>WSJ Article on Netflix</a:t>
            </a:r>
          </a:p>
        </p:txBody>
      </p:sp>
      <p:sp>
        <p:nvSpPr>
          <p:cNvPr id="9" name="Rectangle 3">
            <a:extLst>
              <a:ext uri="{FF2B5EF4-FFF2-40B4-BE49-F238E27FC236}">
                <a16:creationId xmlns:a16="http://schemas.microsoft.com/office/drawing/2014/main" id="{C0D216F7-F3DF-4B22-96F2-390B6F1316F8}"/>
              </a:ext>
            </a:extLst>
          </p:cNvPr>
          <p:cNvSpPr>
            <a:spLocks noGrp="1" noChangeArrowheads="1"/>
          </p:cNvSpPr>
          <p:nvPr>
            <p:ph idx="1"/>
          </p:nvPr>
        </p:nvSpPr>
        <p:spPr>
          <a:xfrm>
            <a:off x="-112860" y="5209495"/>
            <a:ext cx="8229600" cy="490483"/>
          </a:xfrm>
        </p:spPr>
        <p:txBody>
          <a:bodyPr>
            <a:normAutofit/>
          </a:bodyPr>
          <a:lstStyle/>
          <a:p>
            <a:pPr lvl="1">
              <a:spcBef>
                <a:spcPts val="0"/>
              </a:spcBef>
              <a:spcAft>
                <a:spcPts val="563"/>
              </a:spcAft>
            </a:pPr>
            <a:r>
              <a:rPr lang="en-US" sz="2400" dirty="0">
                <a:latin typeface="Whitney-Book" pitchFamily="50" charset="0"/>
                <a:cs typeface="Whitney-Book" pitchFamily="50" charset="0"/>
              </a:rPr>
              <a:t>What’s wrong with the following statement?</a:t>
            </a:r>
          </a:p>
        </p:txBody>
      </p:sp>
      <p:pic>
        <p:nvPicPr>
          <p:cNvPr id="3" name="Picture 2">
            <a:extLst>
              <a:ext uri="{FF2B5EF4-FFF2-40B4-BE49-F238E27FC236}">
                <a16:creationId xmlns:a16="http://schemas.microsoft.com/office/drawing/2014/main" id="{B4065C1C-96D7-4F12-A9AC-5B079B51C8F1}"/>
              </a:ext>
            </a:extLst>
          </p:cNvPr>
          <p:cNvPicPr>
            <a:picLocks noChangeAspect="1"/>
          </p:cNvPicPr>
          <p:nvPr/>
        </p:nvPicPr>
        <p:blipFill>
          <a:blip r:embed="rId3"/>
          <a:stretch>
            <a:fillRect/>
          </a:stretch>
        </p:blipFill>
        <p:spPr>
          <a:xfrm>
            <a:off x="773621" y="5699978"/>
            <a:ext cx="7990114" cy="708801"/>
          </a:xfrm>
          <a:prstGeom prst="rect">
            <a:avLst/>
          </a:prstGeom>
        </p:spPr>
      </p:pic>
      <p:pic>
        <p:nvPicPr>
          <p:cNvPr id="4" name="Picture 3">
            <a:extLst>
              <a:ext uri="{FF2B5EF4-FFF2-40B4-BE49-F238E27FC236}">
                <a16:creationId xmlns:a16="http://schemas.microsoft.com/office/drawing/2014/main" id="{7109F533-FD4D-4569-B3F0-311C1EE521CB}"/>
              </a:ext>
            </a:extLst>
          </p:cNvPr>
          <p:cNvPicPr>
            <a:picLocks noChangeAspect="1"/>
          </p:cNvPicPr>
          <p:nvPr/>
        </p:nvPicPr>
        <p:blipFill>
          <a:blip r:embed="rId4"/>
          <a:stretch>
            <a:fillRect/>
          </a:stretch>
        </p:blipFill>
        <p:spPr>
          <a:xfrm>
            <a:off x="586195" y="1158022"/>
            <a:ext cx="5683975" cy="3951815"/>
          </a:xfrm>
          <a:prstGeom prst="rect">
            <a:avLst/>
          </a:prstGeom>
        </p:spPr>
      </p:pic>
    </p:spTree>
    <p:extLst>
      <p:ext uri="{BB962C8B-B14F-4D97-AF65-F5344CB8AC3E}">
        <p14:creationId xmlns:p14="http://schemas.microsoft.com/office/powerpoint/2010/main" val="1720147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D9419-9C96-406B-860C-8268561CC51B}"/>
              </a:ext>
            </a:extLst>
          </p:cNvPr>
          <p:cNvSpPr>
            <a:spLocks noGrp="1"/>
          </p:cNvSpPr>
          <p:nvPr>
            <p:ph type="title"/>
          </p:nvPr>
        </p:nvSpPr>
        <p:spPr>
          <a:xfrm>
            <a:off x="119743" y="23359"/>
            <a:ext cx="8904514" cy="1143000"/>
          </a:xfrm>
        </p:spPr>
        <p:txBody>
          <a:bodyPr/>
          <a:lstStyle/>
          <a:p>
            <a:r>
              <a:rPr lang="en-US" dirty="0"/>
              <a:t>What can Go Wrong with Flat Rates…</a:t>
            </a:r>
          </a:p>
        </p:txBody>
      </p:sp>
      <mc:AlternateContent xmlns:mc="http://schemas.openxmlformats.org/markup-compatibility/2006" xmlns:a14="http://schemas.microsoft.com/office/drawing/2010/main">
        <mc:Choice Requires="a14">
          <p:sp>
            <p:nvSpPr>
              <p:cNvPr id="9" name="Rectangle 3">
                <a:extLst>
                  <a:ext uri="{FF2B5EF4-FFF2-40B4-BE49-F238E27FC236}">
                    <a16:creationId xmlns:a16="http://schemas.microsoft.com/office/drawing/2014/main" id="{C0D216F7-F3DF-4B22-96F2-390B6F1316F8}"/>
                  </a:ext>
                </a:extLst>
              </p:cNvPr>
              <p:cNvSpPr>
                <a:spLocks noGrp="1" noChangeArrowheads="1"/>
              </p:cNvSpPr>
              <p:nvPr>
                <p:ph idx="1"/>
              </p:nvPr>
            </p:nvSpPr>
            <p:spPr>
              <a:xfrm>
                <a:off x="119743" y="2477148"/>
                <a:ext cx="8662557" cy="4249655"/>
              </a:xfrm>
            </p:spPr>
            <p:txBody>
              <a:bodyPr>
                <a:normAutofit fontScale="92500" lnSpcReduction="20000"/>
              </a:bodyPr>
              <a:lstStyle/>
              <a:p>
                <a:pPr marL="457200" lvl="1" indent="0">
                  <a:spcBef>
                    <a:spcPts val="0"/>
                  </a:spcBef>
                  <a:spcAft>
                    <a:spcPts val="563"/>
                  </a:spcAft>
                  <a:buNone/>
                </a:pPr>
                <a:r>
                  <a:rPr lang="en-US" sz="2400" dirty="0">
                    <a:solidFill>
                      <a:schemeClr val="tx1"/>
                    </a:solidFill>
                    <a:latin typeface="Times New Roman" panose="02020603050405020304" pitchFamily="18" charset="0"/>
                    <a:cs typeface="Times New Roman" panose="02020603050405020304" pitchFamily="18" charset="0"/>
                  </a:rPr>
                  <a:t>Lifetime first class flat rate sold in the 1980-90s: “Each had paid American more than $350,000 for an unlimited </a:t>
                </a:r>
                <a:r>
                  <a:rPr lang="en-US" sz="2400" dirty="0" err="1">
                    <a:solidFill>
                      <a:schemeClr val="tx1"/>
                    </a:solidFill>
                    <a:latin typeface="Times New Roman" panose="02020603050405020304" pitchFamily="18" charset="0"/>
                    <a:cs typeface="Times New Roman" panose="02020603050405020304" pitchFamily="18" charset="0"/>
                  </a:rPr>
                  <a:t>AAirpass</a:t>
                </a:r>
                <a:r>
                  <a:rPr lang="en-US" sz="2400" dirty="0">
                    <a:solidFill>
                      <a:schemeClr val="tx1"/>
                    </a:solidFill>
                    <a:latin typeface="Times New Roman" panose="02020603050405020304" pitchFamily="18" charset="0"/>
                    <a:cs typeface="Times New Roman" panose="02020603050405020304" pitchFamily="18" charset="0"/>
                  </a:rPr>
                  <a:t> and a companion ticket that allowed them to take someone along on their adventures.</a:t>
                </a:r>
              </a:p>
              <a:p>
                <a:pPr marL="457200" lvl="1" indent="0">
                  <a:spcBef>
                    <a:spcPts val="0"/>
                  </a:spcBef>
                  <a:spcAft>
                    <a:spcPts val="563"/>
                  </a:spcAft>
                  <a:buNone/>
                </a:pPr>
                <a:r>
                  <a:rPr lang="en-US" sz="2400" dirty="0">
                    <a:solidFill>
                      <a:schemeClr val="tx1"/>
                    </a:solidFill>
                    <a:latin typeface="Times New Roman" panose="02020603050405020304" pitchFamily="18" charset="0"/>
                    <a:cs typeface="Times New Roman" panose="02020603050405020304" pitchFamily="18" charset="0"/>
                  </a:rPr>
                  <a:t>Both agree it was the best purchase they ever made, one that completely redefined their lives.”</a:t>
                </a:r>
              </a:p>
              <a:p>
                <a:pPr lvl="1">
                  <a:spcBef>
                    <a:spcPts val="600"/>
                  </a:spcBef>
                </a:pPr>
                <a:r>
                  <a:rPr lang="en-US" sz="2400" dirty="0">
                    <a:latin typeface="Whitney Book" pitchFamily="50" charset="0"/>
                  </a:rPr>
                  <a:t>How many customers bought it?</a:t>
                </a:r>
              </a:p>
              <a:p>
                <a:pPr lvl="1">
                  <a:spcBef>
                    <a:spcPts val="600"/>
                  </a:spcBef>
                </a:pPr>
                <a:r>
                  <a:rPr lang="en-US" sz="2400" dirty="0">
                    <a:latin typeface="Whitney Book" pitchFamily="50" charset="0"/>
                  </a:rPr>
                  <a:t>How did they behave?	</a:t>
                </a:r>
                <a:endParaRPr lang="en-US" sz="2400" dirty="0">
                  <a:latin typeface="Whitney-Book" pitchFamily="50" charset="0"/>
                  <a:cs typeface="Whitney-Book" pitchFamily="50" charset="0"/>
                </a:endParaRPr>
              </a:p>
              <a:p>
                <a:pPr lvl="1">
                  <a:spcBef>
                    <a:spcPts val="0"/>
                  </a:spcBef>
                  <a:spcAft>
                    <a:spcPts val="563"/>
                  </a:spcAft>
                </a:pPr>
                <a:endParaRPr lang="en-US" sz="2400" dirty="0">
                  <a:latin typeface="Whitney-Book" pitchFamily="50" charset="0"/>
                  <a:cs typeface="Whitney-Book" pitchFamily="50" charset="0"/>
                </a:endParaRPr>
              </a:p>
              <a:p>
                <a:pPr lvl="1">
                  <a:spcBef>
                    <a:spcPts val="0"/>
                  </a:spcBef>
                  <a:spcAft>
                    <a:spcPts val="563"/>
                  </a:spcAft>
                </a:pPr>
                <a:r>
                  <a:rPr lang="en-US" sz="2400" dirty="0">
                    <a:latin typeface="Whitney-Book" pitchFamily="50" charset="0"/>
                    <a:cs typeface="Whitney-Book" pitchFamily="50" charset="0"/>
                  </a:rPr>
                  <a:t>If </a:t>
                </a:r>
                <a14:m>
                  <m:oMath xmlns:m="http://schemas.openxmlformats.org/officeDocument/2006/math">
                    <m:r>
                      <a:rPr lang="en-US" sz="2400" i="1">
                        <a:latin typeface="Cambria Math" panose="02040503050406030204" pitchFamily="18" charset="0"/>
                      </a:rPr>
                      <m:t>𝑀𝐶</m:t>
                    </m:r>
                    <m:r>
                      <a:rPr lang="en-US" sz="2400" b="0" i="0" smtClean="0">
                        <a:latin typeface="Cambria Math" panose="02040503050406030204" pitchFamily="18" charset="0"/>
                      </a:rPr>
                      <m:t>&gt;0</m:t>
                    </m:r>
                  </m:oMath>
                </a14:m>
                <a:r>
                  <a:rPr lang="en-US" sz="2400" dirty="0">
                    <a:latin typeface="Whitney-Book" pitchFamily="50" charset="0"/>
                    <a:cs typeface="Whitney-Book" pitchFamily="50" charset="0"/>
                  </a:rPr>
                  <a:t>, offering a flat rate with unlimited access is a bad idea: Consumers will use ‘too much’ of the service</a:t>
                </a:r>
              </a:p>
              <a:p>
                <a:pPr lvl="1">
                  <a:spcBef>
                    <a:spcPts val="0"/>
                  </a:spcBef>
                  <a:spcAft>
                    <a:spcPts val="563"/>
                  </a:spcAft>
                </a:pPr>
                <a:endParaRPr lang="en-US" sz="2400" dirty="0">
                  <a:latin typeface="Whitney-Book" pitchFamily="50" charset="0"/>
                  <a:cs typeface="Whitney-Book" pitchFamily="50" charset="0"/>
                </a:endParaRPr>
              </a:p>
              <a:p>
                <a:pPr lvl="1">
                  <a:spcBef>
                    <a:spcPts val="0"/>
                  </a:spcBef>
                  <a:spcAft>
                    <a:spcPts val="563"/>
                  </a:spcAft>
                </a:pPr>
                <a:r>
                  <a:rPr lang="en-US" sz="2400" dirty="0">
                    <a:latin typeface="Whitney-Book" pitchFamily="50" charset="0"/>
                    <a:cs typeface="Whitney-Book" pitchFamily="50" charset="0"/>
                  </a:rPr>
                  <a:t>This can be solved by two-part tariffs </a:t>
                </a:r>
              </a:p>
            </p:txBody>
          </p:sp>
        </mc:Choice>
        <mc:Fallback xmlns="">
          <p:sp>
            <p:nvSpPr>
              <p:cNvPr id="9" name="Rectangle 3">
                <a:extLst>
                  <a:ext uri="{FF2B5EF4-FFF2-40B4-BE49-F238E27FC236}">
                    <a16:creationId xmlns:a16="http://schemas.microsoft.com/office/drawing/2014/main" id="{C0D216F7-F3DF-4B22-96F2-390B6F1316F8}"/>
                  </a:ext>
                </a:extLst>
              </p:cNvPr>
              <p:cNvSpPr>
                <a:spLocks noGrp="1" noRot="1" noChangeAspect="1" noMove="1" noResize="1" noEditPoints="1" noAdjustHandles="1" noChangeArrowheads="1" noChangeShapeType="1" noTextEdit="1"/>
              </p:cNvSpPr>
              <p:nvPr>
                <p:ph idx="1"/>
              </p:nvPr>
            </p:nvSpPr>
            <p:spPr>
              <a:xfrm>
                <a:off x="119743" y="2477148"/>
                <a:ext cx="8662557" cy="4249655"/>
              </a:xfrm>
              <a:blipFill>
                <a:blip r:embed="rId3"/>
                <a:stretch>
                  <a:fillRect t="-2439" r="-633"/>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155237A2-B1A7-4F85-B654-75E5D752A65C}"/>
              </a:ext>
            </a:extLst>
          </p:cNvPr>
          <p:cNvPicPr>
            <a:picLocks noChangeAspect="1"/>
          </p:cNvPicPr>
          <p:nvPr/>
        </p:nvPicPr>
        <p:blipFill>
          <a:blip r:embed="rId4"/>
          <a:stretch>
            <a:fillRect/>
          </a:stretch>
        </p:blipFill>
        <p:spPr>
          <a:xfrm>
            <a:off x="951420" y="857672"/>
            <a:ext cx="7735380" cy="1619476"/>
          </a:xfrm>
          <a:prstGeom prst="rect">
            <a:avLst/>
          </a:prstGeom>
        </p:spPr>
      </p:pic>
    </p:spTree>
    <p:extLst>
      <p:ext uri="{BB962C8B-B14F-4D97-AF65-F5344CB8AC3E}">
        <p14:creationId xmlns:p14="http://schemas.microsoft.com/office/powerpoint/2010/main" val="2356415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OUTLINE of module 6</a:t>
            </a:r>
            <a:br>
              <a:rPr lang="en-US" dirty="0"/>
            </a:br>
            <a:endParaRPr lang="en-US" dirty="0"/>
          </a:p>
        </p:txBody>
      </p:sp>
      <p:sp>
        <p:nvSpPr>
          <p:cNvPr id="3" name="Content Placeholder 2"/>
          <p:cNvSpPr>
            <a:spLocks noGrp="1"/>
          </p:cNvSpPr>
          <p:nvPr>
            <p:ph idx="1"/>
          </p:nvPr>
        </p:nvSpPr>
        <p:spPr>
          <a:xfrm>
            <a:off x="457200" y="1094874"/>
            <a:ext cx="8229600" cy="5212407"/>
          </a:xfrm>
        </p:spPr>
        <p:txBody>
          <a:bodyPr>
            <a:normAutofit fontScale="92500" lnSpcReduction="10000"/>
          </a:bodyPr>
          <a:lstStyle/>
          <a:p>
            <a:pPr>
              <a:lnSpc>
                <a:spcPct val="120000"/>
              </a:lnSpc>
            </a:pPr>
            <a:r>
              <a:rPr lang="fr-FR" sz="2810" dirty="0">
                <a:solidFill>
                  <a:schemeClr val="bg1">
                    <a:lumMod val="65000"/>
                  </a:schemeClr>
                </a:solidFill>
              </a:rPr>
              <a:t>Simple vs. </a:t>
            </a:r>
            <a:r>
              <a:rPr lang="fr-FR" sz="2810" dirty="0" err="1">
                <a:solidFill>
                  <a:schemeClr val="bg1">
                    <a:lumMod val="65000"/>
                  </a:schemeClr>
                </a:solidFill>
              </a:rPr>
              <a:t>complex</a:t>
            </a:r>
            <a:r>
              <a:rPr lang="fr-FR" sz="2810" dirty="0">
                <a:solidFill>
                  <a:schemeClr val="bg1">
                    <a:lumMod val="65000"/>
                  </a:schemeClr>
                </a:solidFill>
              </a:rPr>
              <a:t> </a:t>
            </a:r>
            <a:r>
              <a:rPr lang="fr-FR" sz="2810" dirty="0" err="1">
                <a:solidFill>
                  <a:schemeClr val="bg1">
                    <a:lumMod val="65000"/>
                  </a:schemeClr>
                </a:solidFill>
              </a:rPr>
              <a:t>pricing</a:t>
            </a:r>
            <a:endParaRPr lang="fr-FR" sz="2810" dirty="0">
              <a:solidFill>
                <a:schemeClr val="bg1">
                  <a:lumMod val="65000"/>
                </a:schemeClr>
              </a:solidFill>
            </a:endParaRPr>
          </a:p>
          <a:p>
            <a:pPr>
              <a:lnSpc>
                <a:spcPct val="120000"/>
              </a:lnSpc>
            </a:pPr>
            <a:r>
              <a:rPr lang="fr-FR" dirty="0">
                <a:solidFill>
                  <a:schemeClr val="bg1">
                    <a:lumMod val="65000"/>
                  </a:schemeClr>
                </a:solidFill>
              </a:rPr>
              <a:t>Direct </a:t>
            </a:r>
            <a:r>
              <a:rPr lang="fr-FR" dirty="0" err="1">
                <a:solidFill>
                  <a:schemeClr val="bg1">
                    <a:lumMod val="65000"/>
                  </a:schemeClr>
                </a:solidFill>
              </a:rPr>
              <a:t>price</a:t>
            </a:r>
            <a:r>
              <a:rPr lang="fr-FR" dirty="0">
                <a:solidFill>
                  <a:schemeClr val="bg1">
                    <a:lumMod val="65000"/>
                  </a:schemeClr>
                </a:solidFill>
              </a:rPr>
              <a:t> discrimination</a:t>
            </a:r>
          </a:p>
          <a:p>
            <a:pPr lvl="1">
              <a:lnSpc>
                <a:spcPct val="120000"/>
              </a:lnSpc>
              <a:spcBef>
                <a:spcPts val="0"/>
              </a:spcBef>
            </a:pPr>
            <a:r>
              <a:rPr lang="fr-FR" dirty="0" err="1">
                <a:solidFill>
                  <a:schemeClr val="bg1">
                    <a:lumMod val="65000"/>
                  </a:schemeClr>
                </a:solidFill>
                <a:latin typeface="Whitney-Book" pitchFamily="50" charset="0"/>
                <a:cs typeface="Whitney-Book" pitchFamily="50" charset="0"/>
              </a:rPr>
              <a:t>Perfect</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price</a:t>
            </a:r>
            <a:r>
              <a:rPr lang="fr-FR" dirty="0">
                <a:solidFill>
                  <a:schemeClr val="bg1">
                    <a:lumMod val="65000"/>
                  </a:schemeClr>
                </a:solidFill>
                <a:latin typeface="Whitney-Book" pitchFamily="50" charset="0"/>
                <a:cs typeface="Whitney-Book" pitchFamily="50" charset="0"/>
              </a:rPr>
              <a:t> discrimination (first </a:t>
            </a:r>
            <a:r>
              <a:rPr lang="fr-FR" dirty="0" err="1">
                <a:solidFill>
                  <a:schemeClr val="bg1">
                    <a:lumMod val="65000"/>
                  </a:schemeClr>
                </a:solidFill>
                <a:latin typeface="Whitney-Book" pitchFamily="50" charset="0"/>
                <a:cs typeface="Whitney-Book" pitchFamily="50" charset="0"/>
              </a:rPr>
              <a:t>degree</a:t>
            </a:r>
            <a:r>
              <a:rPr lang="fr-FR" dirty="0">
                <a:solidFill>
                  <a:schemeClr val="bg1">
                    <a:lumMod val="65000"/>
                  </a:schemeClr>
                </a:solidFill>
                <a:latin typeface="Whitney-Book" pitchFamily="50" charset="0"/>
                <a:cs typeface="Whitney-Book" pitchFamily="50" charset="0"/>
              </a:rPr>
              <a:t>)</a:t>
            </a: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Segment </a:t>
            </a:r>
            <a:r>
              <a:rPr lang="fr-FR" dirty="0" err="1">
                <a:solidFill>
                  <a:schemeClr val="bg1">
                    <a:lumMod val="65000"/>
                  </a:schemeClr>
                </a:solidFill>
                <a:latin typeface="Whitney-Book" pitchFamily="50" charset="0"/>
                <a:cs typeface="Whitney-Book" pitchFamily="50" charset="0"/>
              </a:rPr>
              <a:t>pricing</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third</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degree</a:t>
            </a:r>
            <a:r>
              <a:rPr lang="fr-FR" dirty="0">
                <a:solidFill>
                  <a:schemeClr val="bg1">
                    <a:lumMod val="65000"/>
                  </a:schemeClr>
                </a:solidFill>
                <a:latin typeface="Whitney-Book" pitchFamily="50" charset="0"/>
                <a:cs typeface="Whitney-Book" pitchFamily="50" charset="0"/>
              </a:rPr>
              <a:t>)</a:t>
            </a:r>
          </a:p>
          <a:p>
            <a:pPr>
              <a:lnSpc>
                <a:spcPct val="120000"/>
              </a:lnSpc>
            </a:pPr>
            <a:r>
              <a:rPr lang="fr-FR" dirty="0">
                <a:solidFill>
                  <a:schemeClr val="bg1">
                    <a:lumMod val="65000"/>
                  </a:schemeClr>
                </a:solidFill>
              </a:rPr>
              <a:t>Indirect </a:t>
            </a:r>
            <a:r>
              <a:rPr lang="fr-FR" dirty="0" err="1">
                <a:solidFill>
                  <a:schemeClr val="bg1">
                    <a:lumMod val="65000"/>
                  </a:schemeClr>
                </a:solidFill>
              </a:rPr>
              <a:t>price</a:t>
            </a:r>
            <a:r>
              <a:rPr lang="fr-FR" dirty="0">
                <a:solidFill>
                  <a:schemeClr val="bg1">
                    <a:lumMod val="65000"/>
                  </a:schemeClr>
                </a:solidFill>
              </a:rPr>
              <a:t> discrimination (second </a:t>
            </a:r>
            <a:r>
              <a:rPr lang="fr-FR" dirty="0" err="1">
                <a:solidFill>
                  <a:schemeClr val="bg1">
                    <a:lumMod val="65000"/>
                  </a:schemeClr>
                </a:solidFill>
              </a:rPr>
              <a:t>degree</a:t>
            </a:r>
            <a:r>
              <a:rPr lang="fr-FR" dirty="0">
                <a:solidFill>
                  <a:schemeClr val="bg1">
                    <a:lumMod val="65000"/>
                  </a:schemeClr>
                </a:solidFill>
              </a:rPr>
              <a:t>)</a:t>
            </a:r>
          </a:p>
          <a:p>
            <a:pPr marL="742950" lvl="2" indent="-342900">
              <a:lnSpc>
                <a:spcPct val="120000"/>
              </a:lnSpc>
            </a:pPr>
            <a:r>
              <a:rPr lang="fr-FR" sz="2600" dirty="0">
                <a:solidFill>
                  <a:schemeClr val="bg1">
                    <a:lumMod val="65000"/>
                  </a:schemeClr>
                </a:solidFill>
                <a:latin typeface="Whitney-Book" pitchFamily="50" charset="0"/>
              </a:rPr>
              <a:t>Versioning</a:t>
            </a:r>
          </a:p>
          <a:p>
            <a:pPr lvl="1">
              <a:lnSpc>
                <a:spcPct val="120000"/>
              </a:lnSpc>
              <a:spcBef>
                <a:spcPts val="0"/>
              </a:spcBef>
            </a:pPr>
            <a:r>
              <a:rPr lang="fr-FR" dirty="0">
                <a:solidFill>
                  <a:schemeClr val="bg1">
                    <a:lumMod val="65000"/>
                  </a:schemeClr>
                </a:solidFill>
                <a:latin typeface="Whitney-Book" pitchFamily="50" charset="0"/>
              </a:rPr>
              <a:t>Coupons</a:t>
            </a:r>
          </a:p>
          <a:p>
            <a:pPr>
              <a:lnSpc>
                <a:spcPct val="120000"/>
              </a:lnSpc>
            </a:pPr>
            <a:r>
              <a:rPr lang="fr-FR" b="1" dirty="0"/>
              <a:t>Advanced </a:t>
            </a:r>
            <a:r>
              <a:rPr lang="fr-FR" b="1" dirty="0" err="1"/>
              <a:t>pricing</a:t>
            </a:r>
            <a:r>
              <a:rPr lang="fr-FR" b="1" dirty="0"/>
              <a:t> </a:t>
            </a:r>
            <a:r>
              <a:rPr lang="fr-FR" b="1" dirty="0" err="1"/>
              <a:t>strategies</a:t>
            </a:r>
            <a:endParaRPr lang="fr-FR" b="1" dirty="0"/>
          </a:p>
          <a:p>
            <a:pPr lvl="1">
              <a:lnSpc>
                <a:spcPct val="120000"/>
              </a:lnSpc>
              <a:spcBef>
                <a:spcPts val="0"/>
              </a:spcBef>
            </a:pPr>
            <a:r>
              <a:rPr lang="fr-FR" dirty="0">
                <a:solidFill>
                  <a:schemeClr val="bg1">
                    <a:lumMod val="65000"/>
                  </a:schemeClr>
                </a:solidFill>
                <a:latin typeface="Whitney-Book" pitchFamily="50" charset="0"/>
              </a:rPr>
              <a:t>Flat </a:t>
            </a:r>
            <a:r>
              <a:rPr lang="fr-FR" dirty="0" err="1">
                <a:solidFill>
                  <a:schemeClr val="bg1">
                    <a:lumMod val="65000"/>
                  </a:schemeClr>
                </a:solidFill>
                <a:latin typeface="Whitney-Book" pitchFamily="50" charset="0"/>
              </a:rPr>
              <a:t>fee</a:t>
            </a:r>
            <a:r>
              <a:rPr lang="fr-FR" dirty="0">
                <a:solidFill>
                  <a:schemeClr val="bg1">
                    <a:lumMod val="65000"/>
                  </a:schemeClr>
                </a:solidFill>
                <a:latin typeface="Whitney-Book" pitchFamily="50" charset="0"/>
              </a:rPr>
              <a:t> </a:t>
            </a:r>
            <a:r>
              <a:rPr lang="fr-FR" dirty="0" err="1">
                <a:solidFill>
                  <a:schemeClr val="bg1">
                    <a:lumMod val="65000"/>
                  </a:schemeClr>
                </a:solidFill>
                <a:latin typeface="Whitney-Book" pitchFamily="50" charset="0"/>
              </a:rPr>
              <a:t>pricing</a:t>
            </a:r>
            <a:endParaRPr lang="fr-FR" dirty="0">
              <a:solidFill>
                <a:schemeClr val="bg1">
                  <a:lumMod val="65000"/>
                </a:schemeClr>
              </a:solidFill>
              <a:latin typeface="Whitney-Book" pitchFamily="50" charset="0"/>
            </a:endParaRPr>
          </a:p>
          <a:p>
            <a:pPr lvl="1">
              <a:lnSpc>
                <a:spcPct val="120000"/>
              </a:lnSpc>
              <a:spcBef>
                <a:spcPts val="0"/>
              </a:spcBef>
            </a:pPr>
            <a:r>
              <a:rPr lang="fr-FR" b="1" dirty="0" err="1">
                <a:solidFill>
                  <a:srgbClr val="002060"/>
                </a:solidFill>
                <a:latin typeface="Whitney-Book" pitchFamily="50" charset="0"/>
              </a:rPr>
              <a:t>Two</a:t>
            </a:r>
            <a:r>
              <a:rPr lang="fr-FR" b="1" dirty="0">
                <a:solidFill>
                  <a:srgbClr val="002060"/>
                </a:solidFill>
                <a:latin typeface="Whitney-Book" pitchFamily="50" charset="0"/>
              </a:rPr>
              <a:t>-part </a:t>
            </a:r>
            <a:r>
              <a:rPr lang="fr-FR" b="1" dirty="0" err="1">
                <a:solidFill>
                  <a:srgbClr val="002060"/>
                </a:solidFill>
                <a:latin typeface="Whitney-Book" pitchFamily="50" charset="0"/>
              </a:rPr>
              <a:t>tariff</a:t>
            </a:r>
            <a:endParaRPr lang="fr-FR" b="1" dirty="0">
              <a:solidFill>
                <a:srgbClr val="002060"/>
              </a:solidFill>
              <a:latin typeface="Whitney-Book" pitchFamily="50" charset="0"/>
            </a:endParaRP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Block </a:t>
            </a:r>
            <a:r>
              <a:rPr lang="fr-FR" dirty="0" err="1">
                <a:solidFill>
                  <a:schemeClr val="bg1">
                    <a:lumMod val="65000"/>
                  </a:schemeClr>
                </a:solidFill>
                <a:latin typeface="Whitney-Book" pitchFamily="50" charset="0"/>
                <a:cs typeface="Whitney-Book" pitchFamily="50" charset="0"/>
              </a:rPr>
              <a:t>pricing</a:t>
            </a:r>
            <a:endParaRPr lang="fr-FR" dirty="0">
              <a:solidFill>
                <a:schemeClr val="bg1">
                  <a:lumMod val="65000"/>
                </a:schemeClr>
              </a:solidFill>
              <a:latin typeface="Whitney-Book" pitchFamily="50" charset="0"/>
              <a:cs typeface="Whitney-Book" pitchFamily="50" charset="0"/>
            </a:endParaRPr>
          </a:p>
          <a:p>
            <a:pPr marL="457200" lvl="1" indent="0">
              <a:buNone/>
            </a:pPr>
            <a:endParaRPr lang="fr-FR" dirty="0"/>
          </a:p>
          <a:p>
            <a:pPr lvl="1"/>
            <a:endParaRPr lang="en-US" dirty="0"/>
          </a:p>
          <a:p>
            <a:endParaRPr lang="en-US" dirty="0"/>
          </a:p>
        </p:txBody>
      </p:sp>
    </p:spTree>
    <p:extLst>
      <p:ext uri="{BB962C8B-B14F-4D97-AF65-F5344CB8AC3E}">
        <p14:creationId xmlns:p14="http://schemas.microsoft.com/office/powerpoint/2010/main" val="20163998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27215"/>
            <a:ext cx="8399695" cy="1143000"/>
          </a:xfrm>
        </p:spPr>
        <p:txBody>
          <a:bodyPr>
            <a:normAutofit/>
          </a:bodyPr>
          <a:lstStyle/>
          <a:p>
            <a:r>
              <a:rPr lang="en-US" sz="3200" dirty="0">
                <a:latin typeface="Whitney Medium" pitchFamily="50" charset="0"/>
                <a:cs typeface="Whitney Medium" pitchFamily="50" charset="0"/>
              </a:rPr>
              <a:t>Two part-Tariff</a:t>
            </a:r>
            <a:br>
              <a:rPr lang="en-US" sz="3200" dirty="0">
                <a:latin typeface="Whitney Medium" pitchFamily="50" charset="0"/>
                <a:cs typeface="Whitney Medium" pitchFamily="50" charset="0"/>
              </a:rPr>
            </a:br>
            <a:r>
              <a:rPr lang="en-US" sz="3200" dirty="0">
                <a:latin typeface="Whitney Medium" pitchFamily="50" charset="0"/>
                <a:cs typeface="Whitney Medium" pitchFamily="50" charset="0"/>
              </a:rPr>
              <a:t>Now: </a:t>
            </a:r>
            <a:r>
              <a:rPr lang="en-US" sz="3200" i="1" dirty="0">
                <a:solidFill>
                  <a:srgbClr val="C00000"/>
                </a:solidFill>
                <a:latin typeface="Whitney Medium" pitchFamily="50" charset="0"/>
                <a:cs typeface="Whitney Medium" pitchFamily="50" charset="0"/>
              </a:rPr>
              <a:t>MC</a:t>
            </a:r>
            <a:r>
              <a:rPr lang="en-US" sz="3200" dirty="0">
                <a:solidFill>
                  <a:srgbClr val="C00000"/>
                </a:solidFill>
                <a:latin typeface="Whitney Medium" pitchFamily="50" charset="0"/>
                <a:cs typeface="Whitney Medium" pitchFamily="50" charset="0"/>
              </a:rPr>
              <a:t>&gt;0</a:t>
            </a:r>
            <a:endParaRPr lang="en-US" sz="2700" dirty="0">
              <a:solidFill>
                <a:srgbClr val="C00000"/>
              </a:solidFill>
            </a:endParaRPr>
          </a:p>
        </p:txBody>
      </p:sp>
      <p:sp>
        <p:nvSpPr>
          <p:cNvPr id="45" name="Text Box 11"/>
          <p:cNvSpPr txBox="1">
            <a:spLocks noChangeArrowheads="1"/>
          </p:cNvSpPr>
          <p:nvPr/>
        </p:nvSpPr>
        <p:spPr bwMode="auto">
          <a:xfrm>
            <a:off x="3290494" y="5771063"/>
            <a:ext cx="801687" cy="375481"/>
          </a:xfrm>
          <a:prstGeom prst="rect">
            <a:avLst/>
          </a:prstGeom>
          <a:noFill/>
          <a:ln w="9525">
            <a:noFill/>
            <a:miter lim="800000"/>
            <a:headEnd/>
            <a:tailEnd/>
          </a:ln>
          <a:effectLst/>
        </p:spPr>
        <p:txBody>
          <a:bodyPr lIns="97530" tIns="48765" rIns="97530" bIns="48765">
            <a:spAutoFit/>
          </a:bodyPr>
          <a:lstStyle/>
          <a:p>
            <a:pPr defTabSz="974725">
              <a:spcBef>
                <a:spcPct val="50000"/>
              </a:spcBef>
            </a:pPr>
            <a:r>
              <a:rPr lang="en-US" b="0" i="1" dirty="0">
                <a:solidFill>
                  <a:srgbClr val="C00000"/>
                </a:solidFill>
                <a:latin typeface="+mn-lt"/>
                <a:cs typeface="Times New Roman" pitchFamily="18" charset="0"/>
              </a:rPr>
              <a:t>D</a:t>
            </a:r>
          </a:p>
        </p:txBody>
      </p:sp>
      <p:sp>
        <p:nvSpPr>
          <p:cNvPr id="26" name="Right Triangle 25"/>
          <p:cNvSpPr/>
          <p:nvPr/>
        </p:nvSpPr>
        <p:spPr>
          <a:xfrm>
            <a:off x="953771" y="2058405"/>
            <a:ext cx="1693886" cy="3078048"/>
          </a:xfrm>
          <a:custGeom>
            <a:avLst/>
            <a:gdLst>
              <a:gd name="connsiteX0" fmla="*/ 0 w 2361151"/>
              <a:gd name="connsiteY0" fmla="*/ 3053334 h 3053334"/>
              <a:gd name="connsiteX1" fmla="*/ 0 w 2361151"/>
              <a:gd name="connsiteY1" fmla="*/ 0 h 3053334"/>
              <a:gd name="connsiteX2" fmla="*/ 2361151 w 2361151"/>
              <a:gd name="connsiteY2" fmla="*/ 3053334 h 3053334"/>
              <a:gd name="connsiteX3" fmla="*/ 0 w 2361151"/>
              <a:gd name="connsiteY3" fmla="*/ 3053334 h 3053334"/>
              <a:gd name="connsiteX0" fmla="*/ 0 w 1706243"/>
              <a:gd name="connsiteY0" fmla="*/ 3053334 h 3090404"/>
              <a:gd name="connsiteX1" fmla="*/ 0 w 1706243"/>
              <a:gd name="connsiteY1" fmla="*/ 0 h 3090404"/>
              <a:gd name="connsiteX2" fmla="*/ 1706243 w 1706243"/>
              <a:gd name="connsiteY2" fmla="*/ 3090404 h 3090404"/>
              <a:gd name="connsiteX3" fmla="*/ 0 w 1706243"/>
              <a:gd name="connsiteY3" fmla="*/ 3053334 h 3090404"/>
              <a:gd name="connsiteX0" fmla="*/ 0 w 1693886"/>
              <a:gd name="connsiteY0" fmla="*/ 3053334 h 3078048"/>
              <a:gd name="connsiteX1" fmla="*/ 0 w 1693886"/>
              <a:gd name="connsiteY1" fmla="*/ 0 h 3078048"/>
              <a:gd name="connsiteX2" fmla="*/ 1693886 w 1693886"/>
              <a:gd name="connsiteY2" fmla="*/ 3078048 h 3078048"/>
              <a:gd name="connsiteX3" fmla="*/ 0 w 1693886"/>
              <a:gd name="connsiteY3" fmla="*/ 3053334 h 3078048"/>
            </a:gdLst>
            <a:ahLst/>
            <a:cxnLst>
              <a:cxn ang="0">
                <a:pos x="connsiteX0" y="connsiteY0"/>
              </a:cxn>
              <a:cxn ang="0">
                <a:pos x="connsiteX1" y="connsiteY1"/>
              </a:cxn>
              <a:cxn ang="0">
                <a:pos x="connsiteX2" y="connsiteY2"/>
              </a:cxn>
              <a:cxn ang="0">
                <a:pos x="connsiteX3" y="connsiteY3"/>
              </a:cxn>
            </a:cxnLst>
            <a:rect l="l" t="t" r="r" b="b"/>
            <a:pathLst>
              <a:path w="1693886" h="3078048">
                <a:moveTo>
                  <a:pt x="0" y="3053334"/>
                </a:moveTo>
                <a:lnTo>
                  <a:pt x="0" y="0"/>
                </a:lnTo>
                <a:lnTo>
                  <a:pt x="1693886" y="3078048"/>
                </a:lnTo>
                <a:lnTo>
                  <a:pt x="0" y="3053334"/>
                </a:lnTo>
                <a:close/>
              </a:path>
            </a:pathLst>
          </a:cu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88">
              <a:latin typeface="Whitney-Book" pitchFamily="50" charset="0"/>
              <a:cs typeface="Whitney-Book" pitchFamily="50" charset="0"/>
            </a:endParaRPr>
          </a:p>
        </p:txBody>
      </p:sp>
      <p:sp>
        <p:nvSpPr>
          <p:cNvPr id="27" name="Content Placeholder 3"/>
          <p:cNvSpPr>
            <a:spLocks noGrp="1"/>
          </p:cNvSpPr>
          <p:nvPr>
            <p:ph idx="1"/>
          </p:nvPr>
        </p:nvSpPr>
        <p:spPr>
          <a:xfrm>
            <a:off x="4830292" y="2204659"/>
            <a:ext cx="2942108" cy="1367344"/>
          </a:xfrm>
        </p:spPr>
        <p:txBody>
          <a:bodyPr>
            <a:noAutofit/>
          </a:bodyPr>
          <a:lstStyle/>
          <a:p>
            <a:pPr marL="0" indent="0">
              <a:spcAft>
                <a:spcPts val="563"/>
              </a:spcAft>
              <a:buNone/>
            </a:pPr>
            <a:r>
              <a:rPr lang="en-US" sz="2000" dirty="0"/>
              <a:t>Flat fee ,</a:t>
            </a:r>
            <a:r>
              <a:rPr lang="en-US" sz="2000" i="1" dirty="0"/>
              <a:t>F*, </a:t>
            </a:r>
            <a:r>
              <a:rPr lang="en-US" sz="2000" dirty="0"/>
              <a:t>is equal to the entire consumer surplus. Usage fee, </a:t>
            </a:r>
            <a:r>
              <a:rPr lang="en-US" sz="2000" i="1" dirty="0"/>
              <a:t>P*,</a:t>
            </a:r>
            <a:r>
              <a:rPr lang="en-US" sz="2000" dirty="0"/>
              <a:t> is set equal to </a:t>
            </a:r>
            <a:r>
              <a:rPr lang="en-US" sz="2000" i="1" dirty="0"/>
              <a:t>MC</a:t>
            </a:r>
            <a:r>
              <a:rPr lang="en-US" sz="2000" dirty="0"/>
              <a:t>. </a:t>
            </a:r>
            <a:endParaRPr lang="en-US" sz="2000" i="1" dirty="0"/>
          </a:p>
          <a:p>
            <a:pPr marL="0" indent="0">
              <a:spcAft>
                <a:spcPts val="563"/>
              </a:spcAft>
              <a:buNone/>
            </a:pPr>
            <a:endParaRPr lang="en-US" sz="1400" dirty="0"/>
          </a:p>
        </p:txBody>
      </p:sp>
      <p:sp>
        <p:nvSpPr>
          <p:cNvPr id="3" name="Slide Number Placeholder 2"/>
          <p:cNvSpPr>
            <a:spLocks noGrp="1"/>
          </p:cNvSpPr>
          <p:nvPr>
            <p:ph type="sldNum" sz="quarter" idx="12"/>
          </p:nvPr>
        </p:nvSpPr>
        <p:spPr/>
        <p:txBody>
          <a:bodyPr/>
          <a:lstStyle/>
          <a:p>
            <a:fld id="{0F3206DB-9488-D04D-BDD1-A7C9D84C4579}" type="slidenum">
              <a:rPr lang="en-US" smtClean="0"/>
              <a:t>51</a:t>
            </a:fld>
            <a:endParaRPr lang="en-US"/>
          </a:p>
        </p:txBody>
      </p:sp>
      <p:sp>
        <p:nvSpPr>
          <p:cNvPr id="38" name="Line 3"/>
          <p:cNvSpPr>
            <a:spLocks noChangeShapeType="1"/>
          </p:cNvSpPr>
          <p:nvPr/>
        </p:nvSpPr>
        <p:spPr bwMode="auto">
          <a:xfrm>
            <a:off x="923610" y="1163003"/>
            <a:ext cx="0" cy="5156200"/>
          </a:xfrm>
          <a:prstGeom prst="line">
            <a:avLst/>
          </a:prstGeom>
          <a:noFill/>
          <a:ln w="38100">
            <a:solidFill>
              <a:schemeClr val="tx1"/>
            </a:solidFill>
            <a:round/>
            <a:headEnd type="triangle"/>
            <a:tailEnd/>
          </a:ln>
          <a:effectLst/>
        </p:spPr>
        <p:txBody>
          <a:bodyPr wrap="none" anchor="ctr"/>
          <a:lstStyle/>
          <a:p>
            <a:endParaRPr lang="en-US" b="0">
              <a:latin typeface="+mn-lt"/>
              <a:cs typeface="Times New Roman" pitchFamily="18" charset="0"/>
            </a:endParaRPr>
          </a:p>
        </p:txBody>
      </p:sp>
      <p:sp>
        <p:nvSpPr>
          <p:cNvPr id="39" name="Line 4"/>
          <p:cNvSpPr>
            <a:spLocks noChangeShapeType="1"/>
          </p:cNvSpPr>
          <p:nvPr/>
        </p:nvSpPr>
        <p:spPr bwMode="auto">
          <a:xfrm>
            <a:off x="923610" y="6319203"/>
            <a:ext cx="5757862" cy="0"/>
          </a:xfrm>
          <a:prstGeom prst="line">
            <a:avLst/>
          </a:prstGeom>
          <a:noFill/>
          <a:ln w="38100">
            <a:solidFill>
              <a:schemeClr val="tx1"/>
            </a:solidFill>
            <a:round/>
            <a:headEnd/>
            <a:tailEnd type="triangle"/>
          </a:ln>
          <a:effectLst/>
        </p:spPr>
        <p:txBody>
          <a:bodyPr wrap="none" anchor="ctr"/>
          <a:lstStyle/>
          <a:p>
            <a:endParaRPr lang="en-US" b="0">
              <a:latin typeface="+mn-lt"/>
              <a:cs typeface="Times New Roman" pitchFamily="18" charset="0"/>
            </a:endParaRPr>
          </a:p>
        </p:txBody>
      </p:sp>
      <p:sp>
        <p:nvSpPr>
          <p:cNvPr id="40" name="Text Box 5"/>
          <p:cNvSpPr txBox="1">
            <a:spLocks noChangeArrowheads="1"/>
          </p:cNvSpPr>
          <p:nvPr/>
        </p:nvSpPr>
        <p:spPr bwMode="auto">
          <a:xfrm>
            <a:off x="604522" y="1068058"/>
            <a:ext cx="638175" cy="375481"/>
          </a:xfrm>
          <a:prstGeom prst="rect">
            <a:avLst/>
          </a:prstGeom>
          <a:noFill/>
          <a:ln w="9525">
            <a:noFill/>
            <a:miter lim="800000"/>
            <a:headEnd/>
            <a:tailEnd/>
          </a:ln>
          <a:effectLst/>
        </p:spPr>
        <p:txBody>
          <a:bodyPr lIns="97530" tIns="48765" rIns="97530" bIns="48765">
            <a:spAutoFit/>
          </a:bodyPr>
          <a:lstStyle/>
          <a:p>
            <a:pPr defTabSz="974725">
              <a:spcBef>
                <a:spcPct val="50000"/>
              </a:spcBef>
            </a:pPr>
            <a:r>
              <a:rPr lang="en-US" b="0" i="1" dirty="0">
                <a:latin typeface="+mn-lt"/>
                <a:cs typeface="Times New Roman" pitchFamily="18" charset="0"/>
              </a:rPr>
              <a:t>P</a:t>
            </a:r>
          </a:p>
        </p:txBody>
      </p:sp>
      <p:sp>
        <p:nvSpPr>
          <p:cNvPr id="41" name="Text Box 6"/>
          <p:cNvSpPr txBox="1">
            <a:spLocks noChangeArrowheads="1"/>
          </p:cNvSpPr>
          <p:nvPr/>
        </p:nvSpPr>
        <p:spPr bwMode="auto">
          <a:xfrm>
            <a:off x="6382609" y="6363653"/>
            <a:ext cx="1490663" cy="406259"/>
          </a:xfrm>
          <a:prstGeom prst="rect">
            <a:avLst/>
          </a:prstGeom>
          <a:noFill/>
          <a:ln w="9525">
            <a:noFill/>
            <a:miter lim="800000"/>
            <a:headEnd/>
            <a:tailEnd/>
          </a:ln>
          <a:effectLst/>
        </p:spPr>
        <p:txBody>
          <a:bodyPr lIns="97530" tIns="48765" rIns="97530" bIns="48765">
            <a:spAutoFit/>
          </a:bodyPr>
          <a:lstStyle/>
          <a:p>
            <a:pPr defTabSz="974725">
              <a:spcBef>
                <a:spcPct val="50000"/>
              </a:spcBef>
            </a:pPr>
            <a:r>
              <a:rPr lang="en-US" sz="2000" b="0" i="1" dirty="0">
                <a:latin typeface="+mn-lt"/>
                <a:cs typeface="Times New Roman" pitchFamily="18" charset="0"/>
              </a:rPr>
              <a:t>Q</a:t>
            </a:r>
          </a:p>
        </p:txBody>
      </p:sp>
      <p:sp>
        <p:nvSpPr>
          <p:cNvPr id="46" name="Line 12"/>
          <p:cNvSpPr>
            <a:spLocks noChangeShapeType="1"/>
          </p:cNvSpPr>
          <p:nvPr/>
        </p:nvSpPr>
        <p:spPr bwMode="auto">
          <a:xfrm>
            <a:off x="953772" y="2007553"/>
            <a:ext cx="2400300" cy="4341812"/>
          </a:xfrm>
          <a:prstGeom prst="line">
            <a:avLst/>
          </a:prstGeom>
          <a:noFill/>
          <a:ln w="38100">
            <a:solidFill>
              <a:srgbClr val="C00000"/>
            </a:solidFill>
            <a:round/>
            <a:headEnd/>
            <a:tailEnd/>
          </a:ln>
          <a:effectLst/>
        </p:spPr>
        <p:txBody>
          <a:bodyPr wrap="none" anchor="ctr"/>
          <a:lstStyle/>
          <a:p>
            <a:endParaRPr lang="en-US" b="0" dirty="0">
              <a:latin typeface="+mn-lt"/>
              <a:cs typeface="Times New Roman" pitchFamily="18" charset="0"/>
            </a:endParaRPr>
          </a:p>
        </p:txBody>
      </p:sp>
      <p:sp>
        <p:nvSpPr>
          <p:cNvPr id="58" name="Rectangle 57"/>
          <p:cNvSpPr/>
          <p:nvPr/>
        </p:nvSpPr>
        <p:spPr>
          <a:xfrm>
            <a:off x="1337628" y="3779779"/>
            <a:ext cx="437941" cy="400110"/>
          </a:xfrm>
          <a:prstGeom prst="rect">
            <a:avLst/>
          </a:prstGeom>
        </p:spPr>
        <p:txBody>
          <a:bodyPr wrap="none">
            <a:spAutoFit/>
          </a:bodyPr>
          <a:lstStyle/>
          <a:p>
            <a:pPr algn="ctr"/>
            <a:r>
              <a:rPr lang="en-US" sz="2000" b="0" i="1" dirty="0">
                <a:latin typeface="+mn-lt"/>
                <a:cs typeface="Times New Roman" pitchFamily="18" charset="0"/>
              </a:rPr>
              <a:t>F*</a:t>
            </a:r>
            <a:endParaRPr lang="en-US" sz="2000" i="1" dirty="0">
              <a:latin typeface="+mn-lt"/>
            </a:endParaRPr>
          </a:p>
        </p:txBody>
      </p:sp>
      <p:grpSp>
        <p:nvGrpSpPr>
          <p:cNvPr id="4" name="Group 3">
            <a:extLst>
              <a:ext uri="{FF2B5EF4-FFF2-40B4-BE49-F238E27FC236}">
                <a16:creationId xmlns:a16="http://schemas.microsoft.com/office/drawing/2014/main" id="{84032609-D29D-4C4B-9A72-AEFE6C6ACB8F}"/>
              </a:ext>
            </a:extLst>
          </p:cNvPr>
          <p:cNvGrpSpPr/>
          <p:nvPr/>
        </p:nvGrpSpPr>
        <p:grpSpPr>
          <a:xfrm>
            <a:off x="923610" y="4936398"/>
            <a:ext cx="5458999" cy="400110"/>
            <a:chOff x="923610" y="4936398"/>
            <a:chExt cx="5458999" cy="400110"/>
          </a:xfrm>
        </p:grpSpPr>
        <p:cxnSp>
          <p:nvCxnSpPr>
            <p:cNvPr id="7" name="Straight Connector 6">
              <a:extLst>
                <a:ext uri="{FF2B5EF4-FFF2-40B4-BE49-F238E27FC236}">
                  <a16:creationId xmlns:a16="http://schemas.microsoft.com/office/drawing/2014/main" id="{C419A6A8-ABEB-4D66-82BE-6985A51455D7}"/>
                </a:ext>
              </a:extLst>
            </p:cNvPr>
            <p:cNvCxnSpPr/>
            <p:nvPr/>
          </p:nvCxnSpPr>
          <p:spPr>
            <a:xfrm>
              <a:off x="923610" y="5136453"/>
              <a:ext cx="4835524" cy="0"/>
            </a:xfrm>
            <a:prstGeom prst="line">
              <a:avLst/>
            </a:prstGeom>
            <a:ln>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4D12EF66-5BE1-42F2-BE97-7FA7E138F322}"/>
                </a:ext>
              </a:extLst>
            </p:cNvPr>
            <p:cNvSpPr/>
            <p:nvPr/>
          </p:nvSpPr>
          <p:spPr>
            <a:xfrm>
              <a:off x="5842075" y="4936398"/>
              <a:ext cx="540534" cy="400110"/>
            </a:xfrm>
            <a:prstGeom prst="rect">
              <a:avLst/>
            </a:prstGeom>
          </p:spPr>
          <p:txBody>
            <a:bodyPr wrap="none">
              <a:spAutoFit/>
            </a:bodyPr>
            <a:lstStyle/>
            <a:p>
              <a:pPr algn="ctr"/>
              <a:r>
                <a:rPr lang="en-US" sz="2000" b="0" i="1" dirty="0">
                  <a:latin typeface="+mn-lt"/>
                  <a:cs typeface="Times New Roman" pitchFamily="18" charset="0"/>
                </a:rPr>
                <a:t>MC</a:t>
              </a:r>
              <a:endParaRPr lang="en-US" sz="2000" i="1" dirty="0">
                <a:latin typeface="+mn-lt"/>
              </a:endParaRPr>
            </a:p>
          </p:txBody>
        </p:sp>
      </p:grpSp>
      <p:sp>
        <p:nvSpPr>
          <p:cNvPr id="21" name="Rectangle 20">
            <a:extLst>
              <a:ext uri="{FF2B5EF4-FFF2-40B4-BE49-F238E27FC236}">
                <a16:creationId xmlns:a16="http://schemas.microsoft.com/office/drawing/2014/main" id="{197F0A8E-450E-4C7A-B43B-CD25C9969F37}"/>
              </a:ext>
            </a:extLst>
          </p:cNvPr>
          <p:cNvSpPr/>
          <p:nvPr/>
        </p:nvSpPr>
        <p:spPr>
          <a:xfrm>
            <a:off x="466581" y="4926772"/>
            <a:ext cx="445956" cy="400110"/>
          </a:xfrm>
          <a:prstGeom prst="rect">
            <a:avLst/>
          </a:prstGeom>
        </p:spPr>
        <p:txBody>
          <a:bodyPr wrap="none">
            <a:spAutoFit/>
          </a:bodyPr>
          <a:lstStyle/>
          <a:p>
            <a:pPr algn="ctr"/>
            <a:r>
              <a:rPr lang="en-US" sz="2000" b="0" i="1" dirty="0">
                <a:latin typeface="+mn-lt"/>
                <a:cs typeface="Times New Roman" pitchFamily="18" charset="0"/>
              </a:rPr>
              <a:t>P*</a:t>
            </a:r>
            <a:endParaRPr lang="en-US" sz="2000" i="1" dirty="0">
              <a:latin typeface="+mn-lt"/>
            </a:endParaRPr>
          </a:p>
        </p:txBody>
      </p:sp>
    </p:spTree>
    <p:extLst>
      <p:ext uri="{BB962C8B-B14F-4D97-AF65-F5344CB8AC3E}">
        <p14:creationId xmlns:p14="http://schemas.microsoft.com/office/powerpoint/2010/main" val="2182432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26" grpId="0" animBg="1"/>
      <p:bldP spid="38" grpId="0" animBg="1"/>
      <p:bldP spid="39" grpId="0" animBg="1"/>
      <p:bldP spid="40" grpId="0"/>
      <p:bldP spid="41" grpId="0"/>
      <p:bldP spid="46" grpId="0" animBg="1"/>
      <p:bldP spid="58" grpId="0"/>
      <p:bldP spid="21" grpId="0"/>
    </p:bld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019B4-8F99-41F5-A65F-5BC41610269C}"/>
              </a:ext>
            </a:extLst>
          </p:cNvPr>
          <p:cNvSpPr>
            <a:spLocks noGrp="1"/>
          </p:cNvSpPr>
          <p:nvPr>
            <p:ph type="title"/>
          </p:nvPr>
        </p:nvSpPr>
        <p:spPr/>
        <p:txBody>
          <a:bodyPr/>
          <a:lstStyle/>
          <a:p>
            <a:r>
              <a:rPr lang="fr-FR" dirty="0" err="1"/>
              <a:t>Two</a:t>
            </a:r>
            <a:r>
              <a:rPr lang="fr-FR" dirty="0"/>
              <a:t>-part </a:t>
            </a:r>
            <a:r>
              <a:rPr lang="fr-FR" dirty="0" err="1"/>
              <a:t>tariff</a:t>
            </a:r>
            <a:br>
              <a:rPr lang="fr-FR" dirty="0"/>
            </a:br>
            <a:r>
              <a:rPr lang="fr-FR" dirty="0" err="1"/>
              <a:t>Summary</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8C7CC97-897F-4381-AAC8-132F0C317D09}"/>
                  </a:ext>
                </a:extLst>
              </p:cNvPr>
              <p:cNvSpPr>
                <a:spLocks noGrp="1"/>
              </p:cNvSpPr>
              <p:nvPr>
                <p:ph idx="1"/>
              </p:nvPr>
            </p:nvSpPr>
            <p:spPr>
              <a:xfrm>
                <a:off x="333683" y="1719943"/>
                <a:ext cx="8229600" cy="4680857"/>
              </a:xfrm>
            </p:spPr>
            <p:txBody>
              <a:bodyPr>
                <a:normAutofit/>
              </a:bodyPr>
              <a:lstStyle/>
              <a:p>
                <a:r>
                  <a:rPr lang="en-US" dirty="0"/>
                  <a:t>Pricing decision is setting the flat fee (</a:t>
                </a:r>
                <a14:m>
                  <m:oMath xmlns:m="http://schemas.openxmlformats.org/officeDocument/2006/math">
                    <m:r>
                      <a:rPr lang="en-US" b="0" i="1" smtClean="0">
                        <a:latin typeface="Cambria Math" panose="02040503050406030204" pitchFamily="18" charset="0"/>
                      </a:rPr>
                      <m:t>𝐹</m:t>
                    </m:r>
                  </m:oMath>
                </a14:m>
                <a:r>
                  <a:rPr lang="en-US" dirty="0"/>
                  <a:t>) and the per-unit usage fee (</a:t>
                </a:r>
                <a14:m>
                  <m:oMath xmlns:m="http://schemas.openxmlformats.org/officeDocument/2006/math">
                    <m:r>
                      <a:rPr lang="en-US" b="0" i="1" smtClean="0">
                        <a:latin typeface="Cambria Math" panose="02040503050406030204" pitchFamily="18" charset="0"/>
                      </a:rPr>
                      <m:t>𝑃</m:t>
                    </m:r>
                  </m:oMath>
                </a14:m>
                <a:r>
                  <a:rPr lang="en-US" dirty="0"/>
                  <a:t>)</a:t>
                </a:r>
              </a:p>
              <a:p>
                <a:pPr lvl="1"/>
                <a:r>
                  <a:rPr lang="en-US" sz="2400" dirty="0"/>
                  <a:t>Zipcar: annual membership (fixed fee), hourly rental fee (per-unit price)</a:t>
                </a:r>
              </a:p>
              <a:p>
                <a:pPr lvl="1"/>
                <a:r>
                  <a:rPr lang="en-US" sz="2400" dirty="0"/>
                  <a:t>Amazon prime: yearly charge (fixed fee), any purchase (per-unit price)</a:t>
                </a:r>
              </a:p>
              <a:p>
                <a:r>
                  <a:rPr lang="fr-FR" dirty="0"/>
                  <a:t>S</a:t>
                </a:r>
                <a:r>
                  <a:rPr lang="en-US" dirty="0"/>
                  <a:t>et the usage fee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𝑀𝐶</m:t>
                    </m:r>
                  </m:oMath>
                </a14:m>
                <a:endParaRPr lang="en-US" dirty="0"/>
              </a:p>
              <a:p>
                <a:pPr lvl="1"/>
                <a:r>
                  <a:rPr lang="fr-FR" sz="2400" dirty="0"/>
                  <a:t>A</a:t>
                </a:r>
                <a:r>
                  <a:rPr lang="en-US" sz="2400" dirty="0"/>
                  <a:t>voids excessive use</a:t>
                </a:r>
              </a:p>
              <a:p>
                <a:r>
                  <a:rPr lang="fr-FR" dirty="0"/>
                  <a:t>S</a:t>
                </a:r>
                <a:r>
                  <a:rPr lang="en-US" dirty="0"/>
                  <a:t>et the flat fee </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𝐹</m:t>
                        </m:r>
                      </m:e>
                      <m:sup>
                        <m:r>
                          <a:rPr lang="en-US" i="1">
                            <a:latin typeface="Cambria Math" panose="02040503050406030204" pitchFamily="18" charset="0"/>
                          </a:rPr>
                          <m:t>∗</m:t>
                        </m:r>
                      </m:sup>
                    </m:sSup>
                  </m:oMath>
                </a14:m>
                <a:r>
                  <a:rPr lang="en-US" dirty="0"/>
                  <a:t> = entire consumer surplus</a:t>
                </a:r>
              </a:p>
            </p:txBody>
          </p:sp>
        </mc:Choice>
        <mc:Fallback xmlns="">
          <p:sp>
            <p:nvSpPr>
              <p:cNvPr id="3" name="Content Placeholder 2">
                <a:extLst>
                  <a:ext uri="{FF2B5EF4-FFF2-40B4-BE49-F238E27FC236}">
                    <a16:creationId xmlns:a16="http://schemas.microsoft.com/office/drawing/2014/main" id="{D8C7CC97-897F-4381-AAC8-132F0C317D09}"/>
                  </a:ext>
                </a:extLst>
              </p:cNvPr>
              <p:cNvSpPr>
                <a:spLocks noGrp="1" noRot="1" noChangeAspect="1" noMove="1" noResize="1" noEditPoints="1" noAdjustHandles="1" noChangeArrowheads="1" noChangeShapeType="1" noTextEdit="1"/>
              </p:cNvSpPr>
              <p:nvPr>
                <p:ph idx="1"/>
              </p:nvPr>
            </p:nvSpPr>
            <p:spPr>
              <a:xfrm>
                <a:off x="333683" y="1719943"/>
                <a:ext cx="8229600" cy="4680857"/>
              </a:xfrm>
              <a:blipFill>
                <a:blip r:embed="rId3"/>
                <a:stretch>
                  <a:fillRect l="-1852" t="-2474" r="-741"/>
                </a:stretch>
              </a:blipFill>
            </p:spPr>
            <p:txBody>
              <a:bodyPr/>
              <a:lstStyle/>
              <a:p>
                <a:r>
                  <a:rPr lang="en-US">
                    <a:noFill/>
                  </a:rPr>
                  <a:t> </a:t>
                </a:r>
              </a:p>
            </p:txBody>
          </p:sp>
        </mc:Fallback>
      </mc:AlternateContent>
    </p:spTree>
    <p:extLst>
      <p:ext uri="{BB962C8B-B14F-4D97-AF65-F5344CB8AC3E}">
        <p14:creationId xmlns:p14="http://schemas.microsoft.com/office/powerpoint/2010/main" val="35310225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Whitney-Medium" pitchFamily="50" charset="0"/>
                <a:cs typeface="Whitney-Medium" pitchFamily="50" charset="0"/>
              </a:rPr>
              <a:t>Two-Part Tariff: </a:t>
            </a:r>
            <a:r>
              <a:rPr lang="en-US" sz="3200" dirty="0" err="1">
                <a:latin typeface="Whitney-Medium" pitchFamily="50" charset="0"/>
                <a:cs typeface="Whitney-Medium" pitchFamily="50" charset="0"/>
              </a:rPr>
              <a:t>ZipCar</a:t>
            </a:r>
            <a:endParaRPr lang="en-US" dirty="0"/>
          </a:p>
        </p:txBody>
      </p:sp>
      <p:sp>
        <p:nvSpPr>
          <p:cNvPr id="38" name="Line 3"/>
          <p:cNvSpPr>
            <a:spLocks noChangeShapeType="1"/>
          </p:cNvSpPr>
          <p:nvPr/>
        </p:nvSpPr>
        <p:spPr bwMode="auto">
          <a:xfrm>
            <a:off x="923610" y="1163003"/>
            <a:ext cx="0" cy="5156200"/>
          </a:xfrm>
          <a:prstGeom prst="line">
            <a:avLst/>
          </a:prstGeom>
          <a:noFill/>
          <a:ln w="38100">
            <a:solidFill>
              <a:schemeClr val="tx1"/>
            </a:solidFill>
            <a:round/>
            <a:headEnd type="triangle"/>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39" name="Line 4"/>
          <p:cNvSpPr>
            <a:spLocks noChangeShapeType="1"/>
          </p:cNvSpPr>
          <p:nvPr/>
        </p:nvSpPr>
        <p:spPr bwMode="auto">
          <a:xfrm>
            <a:off x="923610" y="6319203"/>
            <a:ext cx="5757862" cy="0"/>
          </a:xfrm>
          <a:prstGeom prst="line">
            <a:avLst/>
          </a:prstGeom>
          <a:noFill/>
          <a:ln w="38100">
            <a:solidFill>
              <a:schemeClr val="tx1"/>
            </a:solidFill>
            <a:round/>
            <a:headEnd/>
            <a:tailEnd type="triangle"/>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40" name="Text Box 5"/>
          <p:cNvSpPr txBox="1">
            <a:spLocks noChangeArrowheads="1"/>
          </p:cNvSpPr>
          <p:nvPr/>
        </p:nvSpPr>
        <p:spPr bwMode="auto">
          <a:xfrm>
            <a:off x="604522" y="938521"/>
            <a:ext cx="638175" cy="406259"/>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Calibri"/>
                <a:ea typeface="+mn-ea"/>
                <a:cs typeface="Times New Roman" pitchFamily="18" charset="0"/>
              </a:rPr>
              <a:t>P</a:t>
            </a:r>
          </a:p>
        </p:txBody>
      </p:sp>
      <p:sp>
        <p:nvSpPr>
          <p:cNvPr id="41" name="Text Box 6"/>
          <p:cNvSpPr txBox="1">
            <a:spLocks noChangeArrowheads="1"/>
          </p:cNvSpPr>
          <p:nvPr/>
        </p:nvSpPr>
        <p:spPr bwMode="auto">
          <a:xfrm>
            <a:off x="6198714" y="6363653"/>
            <a:ext cx="2183285" cy="406259"/>
          </a:xfrm>
          <a:prstGeom prst="rect">
            <a:avLst/>
          </a:prstGeom>
          <a:noFill/>
          <a:ln w="9525">
            <a:noFill/>
            <a:miter lim="800000"/>
            <a:headEnd/>
            <a:tailEnd/>
          </a:ln>
          <a:effectLst/>
        </p:spPr>
        <p:txBody>
          <a:bodyPr wrap="square"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Calibri"/>
                <a:ea typeface="+mn-ea"/>
                <a:cs typeface="Times New Roman" pitchFamily="18" charset="0"/>
              </a:rPr>
              <a:t>Q</a:t>
            </a: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 </a:t>
            </a:r>
            <a:r>
              <a:rPr kumimoji="0" lang="en-US" b="0" i="0" u="none" strike="noStrike" kern="1200" cap="none" spc="0" normalizeH="0" baseline="0" noProof="0" dirty="0">
                <a:ln>
                  <a:noFill/>
                </a:ln>
                <a:solidFill>
                  <a:prstClr val="black"/>
                </a:solidFill>
                <a:effectLst/>
                <a:uLnTx/>
                <a:uFillTx/>
                <a:latin typeface="Calibri"/>
                <a:ea typeface="+mn-ea"/>
                <a:cs typeface="Times New Roman" pitchFamily="18" charset="0"/>
              </a:rPr>
              <a:t>(miles per year)</a:t>
            </a:r>
            <a:endPar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45" name="Text Box 11"/>
          <p:cNvSpPr txBox="1">
            <a:spLocks noChangeArrowheads="1"/>
          </p:cNvSpPr>
          <p:nvPr/>
        </p:nvSpPr>
        <p:spPr bwMode="auto">
          <a:xfrm>
            <a:off x="4489528" y="4118196"/>
            <a:ext cx="801687" cy="406259"/>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srgbClr val="0070C0"/>
                </a:solidFill>
                <a:effectLst/>
                <a:uLnTx/>
                <a:uFillTx/>
                <a:latin typeface="Calibri"/>
                <a:ea typeface="+mn-ea"/>
                <a:cs typeface="Times New Roman" pitchFamily="18" charset="0"/>
              </a:rPr>
              <a:t>MC</a:t>
            </a:r>
          </a:p>
        </p:txBody>
      </p:sp>
      <p:sp>
        <p:nvSpPr>
          <p:cNvPr id="46" name="Line 12"/>
          <p:cNvSpPr>
            <a:spLocks noChangeShapeType="1"/>
          </p:cNvSpPr>
          <p:nvPr/>
        </p:nvSpPr>
        <p:spPr bwMode="auto">
          <a:xfrm>
            <a:off x="953771" y="2007553"/>
            <a:ext cx="4718895" cy="4341812"/>
          </a:xfrm>
          <a:prstGeom prst="line">
            <a:avLst/>
          </a:prstGeom>
          <a:noFill/>
          <a:ln w="38100">
            <a:solidFill>
              <a:srgbClr val="C00000"/>
            </a:solidFill>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56" name="TextBox 55"/>
          <p:cNvSpPr txBox="1"/>
          <p:nvPr/>
        </p:nvSpPr>
        <p:spPr>
          <a:xfrm>
            <a:off x="133997" y="1822887"/>
            <a:ext cx="70400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$1.50</a:t>
            </a:r>
          </a:p>
        </p:txBody>
      </p:sp>
      <p:sp>
        <p:nvSpPr>
          <p:cNvPr id="57" name="TextBox 56"/>
          <p:cNvSpPr txBox="1"/>
          <p:nvPr/>
        </p:nvSpPr>
        <p:spPr>
          <a:xfrm>
            <a:off x="3422113" y="6334701"/>
            <a:ext cx="674253"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a:rPr>
              <a:t>10</a:t>
            </a:r>
            <a:r>
              <a:rPr kumimoji="0" lang="en-US" sz="1800" b="0" i="0" u="none" strike="noStrike" kern="1200" cap="none" spc="0" normalizeH="0" baseline="0" noProof="0" dirty="0">
                <a:ln>
                  <a:noFill/>
                </a:ln>
                <a:solidFill>
                  <a:prstClr val="black"/>
                </a:solidFill>
                <a:effectLst/>
                <a:uLnTx/>
                <a:uFillTx/>
                <a:latin typeface="Calibri"/>
                <a:ea typeface="+mn-ea"/>
                <a:cs typeface="+mn-cs"/>
              </a:rPr>
              <a:t>0</a:t>
            </a:r>
          </a:p>
        </p:txBody>
      </p:sp>
      <p:sp>
        <p:nvSpPr>
          <p:cNvPr id="23" name="Content Placeholder 1"/>
          <p:cNvSpPr txBox="1">
            <a:spLocks/>
          </p:cNvSpPr>
          <p:nvPr/>
        </p:nvSpPr>
        <p:spPr>
          <a:xfrm>
            <a:off x="5026555" y="1419985"/>
            <a:ext cx="4131846"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66403" marR="0" lvl="0"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r>
              <a:rPr kumimoji="0" lang="en-US" sz="2625" b="0" i="0" u="none" strike="noStrike" kern="1100" cap="none" spc="50" normalizeH="0" baseline="0" noProof="0" dirty="0">
                <a:ln>
                  <a:noFill/>
                </a:ln>
                <a:solidFill>
                  <a:srgbClr val="1F497D">
                    <a:lumMod val="75000"/>
                  </a:srgbClr>
                </a:solidFill>
                <a:effectLst/>
                <a:uLnTx/>
                <a:uFillTx/>
                <a:latin typeface="Whitney-Book"/>
                <a:ea typeface="+mn-ea"/>
                <a:cs typeface="+mn-cs"/>
              </a:rPr>
              <a:t>Two-part tariff:</a:t>
            </a:r>
          </a:p>
          <a:p>
            <a:pPr marL="666453" marR="0" lvl="1"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r>
              <a:rPr kumimoji="0" lang="en-US" sz="2425" b="0" i="0" u="none" strike="noStrike" kern="1100" cap="none" spc="50" normalizeH="0" baseline="0" noProof="0" dirty="0">
                <a:ln>
                  <a:noFill/>
                </a:ln>
                <a:solidFill>
                  <a:srgbClr val="C0504D"/>
                </a:solidFill>
                <a:effectLst/>
                <a:uLnTx/>
                <a:uFillTx/>
                <a:latin typeface="Whitney-Book"/>
                <a:ea typeface="+mn-ea"/>
                <a:cs typeface="+mn-cs"/>
              </a:rPr>
              <a:t>Flat fee: </a:t>
            </a:r>
            <a:r>
              <a:rPr lang="en-US" sz="2425" i="1" dirty="0">
                <a:solidFill>
                  <a:srgbClr val="1F497D">
                    <a:lumMod val="75000"/>
                  </a:srgbClr>
                </a:solidFill>
              </a:rPr>
              <a:t>F </a:t>
            </a:r>
            <a:r>
              <a:rPr kumimoji="0" lang="en-US" sz="2425" b="0" i="0" u="none" strike="noStrike" kern="1100" cap="none" spc="50" normalizeH="0" baseline="0" noProof="0" dirty="0">
                <a:ln>
                  <a:noFill/>
                </a:ln>
                <a:solidFill>
                  <a:srgbClr val="1F497D">
                    <a:lumMod val="75000"/>
                  </a:srgbClr>
                </a:solidFill>
                <a:effectLst/>
                <a:uLnTx/>
                <a:uFillTx/>
                <a:latin typeface="Whitney-Book"/>
                <a:ea typeface="+mn-ea"/>
                <a:cs typeface="+mn-cs"/>
              </a:rPr>
              <a:t>=$50 </a:t>
            </a:r>
          </a:p>
          <a:p>
            <a:pPr marL="666453" marR="0" lvl="1"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r>
              <a:rPr kumimoji="0" lang="en-US" sz="2425" b="0" i="0" u="none" strike="noStrike" kern="1100" cap="none" spc="50" normalizeH="0" baseline="0" noProof="0" dirty="0">
                <a:ln>
                  <a:noFill/>
                </a:ln>
                <a:solidFill>
                  <a:srgbClr val="C0504D"/>
                </a:solidFill>
                <a:effectLst/>
                <a:uLnTx/>
                <a:uFillTx/>
                <a:latin typeface="Whitney-Book"/>
                <a:ea typeface="+mn-ea"/>
                <a:cs typeface="+mn-cs"/>
              </a:rPr>
              <a:t>Usage fee: </a:t>
            </a:r>
            <a:r>
              <a:rPr lang="en-US" sz="2425" i="1" dirty="0">
                <a:solidFill>
                  <a:srgbClr val="1F497D">
                    <a:lumMod val="75000"/>
                  </a:srgbClr>
                </a:solidFill>
              </a:rPr>
              <a:t>P </a:t>
            </a:r>
            <a:r>
              <a:rPr kumimoji="0" lang="en-US" sz="2425" b="0" i="0" u="none" strike="noStrike" kern="1100" cap="none" spc="50" normalizeH="0" baseline="0" noProof="0" dirty="0">
                <a:ln>
                  <a:noFill/>
                </a:ln>
                <a:solidFill>
                  <a:srgbClr val="1F497D">
                    <a:lumMod val="75000"/>
                  </a:srgbClr>
                </a:solidFill>
                <a:effectLst/>
                <a:uLnTx/>
                <a:uFillTx/>
                <a:latin typeface="Whitney-Book"/>
                <a:ea typeface="+mn-ea"/>
                <a:cs typeface="+mn-cs"/>
              </a:rPr>
              <a:t>=$0.5/mile</a:t>
            </a:r>
          </a:p>
          <a:p>
            <a:pPr marL="666453" marR="0" lvl="1"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endParaRPr lang="en-US" sz="2425" dirty="0">
              <a:solidFill>
                <a:srgbClr val="1F497D">
                  <a:lumMod val="75000"/>
                </a:srgbClr>
              </a:solidFill>
            </a:endParaRPr>
          </a:p>
          <a:p>
            <a:pPr lvl="0">
              <a:defRPr/>
            </a:pPr>
            <a:r>
              <a:rPr lang="en-US" sz="2625" dirty="0">
                <a:solidFill>
                  <a:srgbClr val="1F497D">
                    <a:lumMod val="75000"/>
                  </a:srgbClr>
                </a:solidFill>
              </a:rPr>
              <a:t>Would a flat fee without usage fee (</a:t>
            </a:r>
            <a:r>
              <a:rPr lang="en-US" sz="2625" i="1" dirty="0">
                <a:solidFill>
                  <a:srgbClr val="1F497D">
                    <a:lumMod val="75000"/>
                  </a:srgbClr>
                </a:solidFill>
              </a:rPr>
              <a:t>P </a:t>
            </a:r>
            <a:r>
              <a:rPr lang="en-US" sz="2625" dirty="0">
                <a:solidFill>
                  <a:srgbClr val="1F497D">
                    <a:lumMod val="75000"/>
                  </a:srgbClr>
                </a:solidFill>
              </a:rPr>
              <a:t>=0) be a good idea?</a:t>
            </a:r>
          </a:p>
          <a:p>
            <a:pPr marL="609303" lvl="1" indent="-266403">
              <a:spcBef>
                <a:spcPts val="0"/>
              </a:spcBef>
              <a:spcAft>
                <a:spcPts val="563"/>
              </a:spcAft>
              <a:defRPr/>
            </a:pPr>
            <a:r>
              <a:rPr lang="en-US" sz="2325" dirty="0">
                <a:solidFill>
                  <a:srgbClr val="1F497D">
                    <a:lumMod val="75000"/>
                  </a:srgbClr>
                </a:solidFill>
              </a:rPr>
              <a:t>No, it would lead to </a:t>
            </a:r>
            <a:r>
              <a:rPr lang="en-US" sz="2325" dirty="0">
                <a:solidFill>
                  <a:srgbClr val="C0504D"/>
                </a:solidFill>
              </a:rPr>
              <a:t>excessive use</a:t>
            </a:r>
          </a:p>
          <a:p>
            <a:pPr marL="266403" indent="-266403">
              <a:spcBef>
                <a:spcPts val="0"/>
              </a:spcBef>
              <a:spcAft>
                <a:spcPts val="563"/>
              </a:spcAft>
              <a:defRPr/>
            </a:pPr>
            <a:endParaRPr kumimoji="0" lang="en-US" sz="2625" b="0" i="0" u="none" strike="noStrike" kern="1100" cap="none" spc="50" normalizeH="0" baseline="0" noProof="0" dirty="0">
              <a:ln>
                <a:noFill/>
              </a:ln>
              <a:solidFill>
                <a:srgbClr val="1F497D">
                  <a:lumMod val="75000"/>
                </a:srgbClr>
              </a:solidFill>
              <a:effectLst/>
              <a:uLnTx/>
              <a:uFillTx/>
              <a:latin typeface="Whitney-Book"/>
              <a:ea typeface="+mn-ea"/>
              <a:cs typeface="+mn-cs"/>
            </a:endParaRPr>
          </a:p>
          <a:p>
            <a:pPr marL="666453" marR="0" lvl="1"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endParaRPr kumimoji="0" lang="en-US" sz="2425" b="0" i="0" u="none" strike="noStrike" kern="1100" cap="none" spc="50" normalizeH="0" baseline="0" noProof="0" dirty="0">
              <a:ln>
                <a:noFill/>
              </a:ln>
              <a:solidFill>
                <a:srgbClr val="1F497D">
                  <a:lumMod val="75000"/>
                </a:srgbClr>
              </a:solidFill>
              <a:effectLst/>
              <a:uLnTx/>
              <a:uFillTx/>
              <a:latin typeface="Whitney-Book"/>
              <a:ea typeface="+mn-ea"/>
              <a:cs typeface="+mn-cs"/>
            </a:endParaRPr>
          </a:p>
        </p:txBody>
      </p:sp>
      <p:sp>
        <p:nvSpPr>
          <p:cNvPr id="28" name="Line 9"/>
          <p:cNvSpPr>
            <a:spLocks noChangeShapeType="1"/>
          </p:cNvSpPr>
          <p:nvPr/>
        </p:nvSpPr>
        <p:spPr bwMode="auto">
          <a:xfrm>
            <a:off x="907735" y="4536768"/>
            <a:ext cx="3799732" cy="39067"/>
          </a:xfrm>
          <a:prstGeom prst="line">
            <a:avLst/>
          </a:prstGeom>
          <a:noFill/>
          <a:ln w="57150">
            <a:solidFill>
              <a:schemeClr val="accent1">
                <a:lumMod val="75000"/>
              </a:schemeClr>
            </a:solidFill>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grpSp>
        <p:nvGrpSpPr>
          <p:cNvPr id="15" name="Group 14">
            <a:extLst>
              <a:ext uri="{FF2B5EF4-FFF2-40B4-BE49-F238E27FC236}">
                <a16:creationId xmlns:a16="http://schemas.microsoft.com/office/drawing/2014/main" id="{79E972BD-FBAF-44AB-BC3A-88A487DA49DC}"/>
              </a:ext>
            </a:extLst>
          </p:cNvPr>
          <p:cNvGrpSpPr/>
          <p:nvPr/>
        </p:nvGrpSpPr>
        <p:grpSpPr>
          <a:xfrm>
            <a:off x="3704405" y="4554910"/>
            <a:ext cx="1968261" cy="1741010"/>
            <a:chOff x="3704405" y="4554910"/>
            <a:chExt cx="1968261" cy="1741010"/>
          </a:xfrm>
        </p:grpSpPr>
        <p:sp>
          <p:nvSpPr>
            <p:cNvPr id="29" name="Right Triangle 28"/>
            <p:cNvSpPr/>
            <p:nvPr/>
          </p:nvSpPr>
          <p:spPr>
            <a:xfrm>
              <a:off x="3704405" y="4554910"/>
              <a:ext cx="1858194" cy="174101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white"/>
                </a:solidFill>
                <a:effectLst/>
                <a:uLnTx/>
                <a:uFillTx/>
                <a:latin typeface="Whitney-Book" pitchFamily="50" charset="0"/>
                <a:ea typeface="+mn-ea"/>
                <a:cs typeface="Whitney-Book" pitchFamily="50" charset="0"/>
              </a:endParaRPr>
            </a:p>
          </p:txBody>
        </p:sp>
        <p:cxnSp>
          <p:nvCxnSpPr>
            <p:cNvPr id="30" name="Straight Arrow Connector 29"/>
            <p:cNvCxnSpPr>
              <a:cxnSpLocks/>
            </p:cNvCxnSpPr>
            <p:nvPr/>
          </p:nvCxnSpPr>
          <p:spPr>
            <a:xfrm flipH="1">
              <a:off x="4284133" y="5168348"/>
              <a:ext cx="1388533" cy="639785"/>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grpSp>
      <p:grpSp>
        <p:nvGrpSpPr>
          <p:cNvPr id="14" name="Group 13">
            <a:extLst>
              <a:ext uri="{FF2B5EF4-FFF2-40B4-BE49-F238E27FC236}">
                <a16:creationId xmlns:a16="http://schemas.microsoft.com/office/drawing/2014/main" id="{166AF710-4C66-4BD8-B0FE-FBC9ADDEB9C9}"/>
              </a:ext>
            </a:extLst>
          </p:cNvPr>
          <p:cNvGrpSpPr/>
          <p:nvPr/>
        </p:nvGrpSpPr>
        <p:grpSpPr>
          <a:xfrm>
            <a:off x="734743" y="2007553"/>
            <a:ext cx="2882854" cy="2491716"/>
            <a:chOff x="734743" y="2007553"/>
            <a:chExt cx="2882854" cy="2491716"/>
          </a:xfrm>
        </p:grpSpPr>
        <p:sp>
          <p:nvSpPr>
            <p:cNvPr id="17" name="Right Triangle 16"/>
            <p:cNvSpPr/>
            <p:nvPr/>
          </p:nvSpPr>
          <p:spPr>
            <a:xfrm>
              <a:off x="953771" y="2007553"/>
              <a:ext cx="2663826" cy="2491716"/>
            </a:xfrm>
            <a:prstGeom prst="rtTriangl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white"/>
                </a:solidFill>
                <a:effectLst/>
                <a:uLnTx/>
                <a:uFillTx/>
                <a:latin typeface="Whitney-Book" pitchFamily="50" charset="0"/>
                <a:ea typeface="+mn-ea"/>
                <a:cs typeface="Whitney-Book" pitchFamily="50" charset="0"/>
              </a:endParaRPr>
            </a:p>
          </p:txBody>
        </p:sp>
        <p:sp>
          <p:nvSpPr>
            <p:cNvPr id="18" name="Rectangle 17"/>
            <p:cNvSpPr/>
            <p:nvPr/>
          </p:nvSpPr>
          <p:spPr>
            <a:xfrm>
              <a:off x="734743" y="3296457"/>
              <a:ext cx="2287857" cy="1015663"/>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Flat fee</a:t>
              </a:r>
            </a:p>
            <a:p>
              <a:pPr lvl="0" algn="ctr">
                <a:defRPr/>
              </a:pP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a:t>
              </a:r>
              <a:r>
                <a:rPr lang="en-US" sz="2000" dirty="0">
                  <a:solidFill>
                    <a:prstClr val="black"/>
                  </a:solidFill>
                  <a:cs typeface="Times New Roman" pitchFamily="18" charset="0"/>
                </a:rPr>
                <a:t>1.5-0.5) ∙100/2</a:t>
              </a:r>
            </a:p>
            <a:p>
              <a:pPr lvl="0" algn="ctr">
                <a:defRPr/>
              </a:pP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=$50</a:t>
              </a: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19" name="TextBox 18"/>
          <p:cNvSpPr txBox="1"/>
          <p:nvPr/>
        </p:nvSpPr>
        <p:spPr>
          <a:xfrm>
            <a:off x="5471954" y="6343581"/>
            <a:ext cx="574360"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150</a:t>
            </a:r>
          </a:p>
        </p:txBody>
      </p:sp>
      <p:sp>
        <p:nvSpPr>
          <p:cNvPr id="20" name="TextBox 19"/>
          <p:cNvSpPr txBox="1"/>
          <p:nvPr/>
        </p:nvSpPr>
        <p:spPr>
          <a:xfrm>
            <a:off x="185130" y="4352103"/>
            <a:ext cx="70400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$0.50</a:t>
            </a:r>
          </a:p>
        </p:txBody>
      </p:sp>
      <p:cxnSp>
        <p:nvCxnSpPr>
          <p:cNvPr id="25" name="Straight Arrow Connector 24"/>
          <p:cNvCxnSpPr>
            <a:cxnSpLocks/>
          </p:cNvCxnSpPr>
          <p:nvPr/>
        </p:nvCxnSpPr>
        <p:spPr>
          <a:xfrm flipH="1">
            <a:off x="2424408" y="2192219"/>
            <a:ext cx="3047546" cy="1341773"/>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xmlns:a14="http://schemas.microsoft.com/office/drawing/2010/main">
        <mc:Choice Requires="a14">
          <p:sp>
            <p:nvSpPr>
              <p:cNvPr id="24" name="Text Box 11"/>
              <p:cNvSpPr txBox="1">
                <a:spLocks noChangeArrowheads="1"/>
              </p:cNvSpPr>
              <p:nvPr/>
            </p:nvSpPr>
            <p:spPr bwMode="auto">
              <a:xfrm>
                <a:off x="1201056" y="1857783"/>
                <a:ext cx="2446700" cy="467814"/>
              </a:xfrm>
              <a:prstGeom prst="rect">
                <a:avLst/>
              </a:prstGeom>
              <a:noFill/>
              <a:ln w="9525">
                <a:noFill/>
                <a:miter lim="800000"/>
                <a:headEnd/>
                <a:tailEnd/>
              </a:ln>
              <a:effectLst/>
            </p:spPr>
            <p:txBody>
              <a:bodyPr wrap="square" lIns="97530" tIns="48765" rIns="97530" bIns="48765">
                <a:spAutoFit/>
              </a:bodyPr>
              <a:lstStyle/>
              <a:p>
                <a:pPr lvl="0" defTabSz="974725">
                  <a:spcBef>
                    <a:spcPct val="50000"/>
                  </a:spcBef>
                  <a:defRPr/>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𝑃</m:t>
                      </m:r>
                      <m:r>
                        <a:rPr lang="en-US" sz="2400" b="0" i="1" smtClean="0">
                          <a:solidFill>
                            <a:srgbClr val="C00000"/>
                          </a:solidFill>
                          <a:latin typeface="Cambria Math" panose="02040503050406030204" pitchFamily="18" charset="0"/>
                        </a:rPr>
                        <m:t>=1.5−0.01</m:t>
                      </m:r>
                      <m:r>
                        <a:rPr lang="en-US" sz="2400" b="0" i="1" smtClean="0">
                          <a:solidFill>
                            <a:srgbClr val="C00000"/>
                          </a:solidFill>
                          <a:latin typeface="Cambria Math" panose="02040503050406030204" pitchFamily="18" charset="0"/>
                        </a:rPr>
                        <m:t>𝑄</m:t>
                      </m:r>
                    </m:oMath>
                  </m:oMathPara>
                </a14:m>
                <a:endParaRPr kumimoji="0" lang="en-US" sz="2400" b="0" i="0" u="none" strike="noStrike" kern="1200" cap="none" spc="0" normalizeH="0" baseline="0" noProof="0" dirty="0">
                  <a:ln>
                    <a:noFill/>
                  </a:ln>
                  <a:solidFill>
                    <a:srgbClr val="C00000"/>
                  </a:solidFill>
                  <a:effectLst/>
                  <a:uLnTx/>
                  <a:uFillTx/>
                  <a:latin typeface="Calibri"/>
                  <a:ea typeface="+mn-ea"/>
                  <a:cs typeface="Times New Roman" pitchFamily="18" charset="0"/>
                </a:endParaRPr>
              </a:p>
            </p:txBody>
          </p:sp>
        </mc:Choice>
        <mc:Fallback xmlns="">
          <p:sp>
            <p:nvSpPr>
              <p:cNvPr id="24" name="Text Box 11"/>
              <p:cNvSpPr txBox="1">
                <a:spLocks noRot="1" noChangeAspect="1" noMove="1" noResize="1" noEditPoints="1" noAdjustHandles="1" noChangeArrowheads="1" noChangeShapeType="1" noTextEdit="1"/>
              </p:cNvSpPr>
              <p:nvPr/>
            </p:nvSpPr>
            <p:spPr bwMode="auto">
              <a:xfrm>
                <a:off x="1201056" y="1857783"/>
                <a:ext cx="2446700" cy="467814"/>
              </a:xfrm>
              <a:prstGeom prst="rect">
                <a:avLst/>
              </a:prstGeom>
              <a:blipFill>
                <a:blip r:embed="rId3"/>
                <a:stretch>
                  <a:fillRect b="-13158"/>
                </a:stretch>
              </a:blipFill>
              <a:ln w="9525">
                <a:noFill/>
                <a:miter lim="800000"/>
                <a:headEnd/>
                <a:tailEnd/>
              </a:ln>
              <a:effectLst/>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69F43414-A1D0-41B5-80D9-D96775895BDF}"/>
              </a:ext>
            </a:extLst>
          </p:cNvPr>
          <p:cNvGrpSpPr/>
          <p:nvPr/>
        </p:nvGrpSpPr>
        <p:grpSpPr>
          <a:xfrm>
            <a:off x="907735" y="4554911"/>
            <a:ext cx="2788184" cy="1750866"/>
            <a:chOff x="907735" y="4554911"/>
            <a:chExt cx="2788184" cy="1750866"/>
          </a:xfrm>
        </p:grpSpPr>
        <p:sp>
          <p:nvSpPr>
            <p:cNvPr id="9" name="Rectangle 8"/>
            <p:cNvSpPr/>
            <p:nvPr/>
          </p:nvSpPr>
          <p:spPr>
            <a:xfrm>
              <a:off x="907735" y="4554911"/>
              <a:ext cx="2788184" cy="175086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Rectangle 31"/>
            <p:cNvSpPr/>
            <p:nvPr/>
          </p:nvSpPr>
          <p:spPr>
            <a:xfrm>
              <a:off x="1126069" y="4982256"/>
              <a:ext cx="2110642" cy="707886"/>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Per-mile usage fee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=$0.5∙100</a:t>
              </a:r>
              <a:r>
                <a:rPr lang="en-US" sz="2000" dirty="0">
                  <a:solidFill>
                    <a:prstClr val="black"/>
                  </a:solidFill>
                  <a:latin typeface="Calibri"/>
                  <a:cs typeface="Times New Roman" pitchFamily="18" charset="0"/>
                </a:rPr>
                <a:t> </a:t>
              </a: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 $50</a:t>
              </a: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33" name="Text Box 11"/>
          <p:cNvSpPr txBox="1">
            <a:spLocks noChangeArrowheads="1"/>
          </p:cNvSpPr>
          <p:nvPr/>
        </p:nvSpPr>
        <p:spPr bwMode="auto">
          <a:xfrm>
            <a:off x="5487028" y="5898000"/>
            <a:ext cx="801687" cy="406259"/>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srgbClr val="C00000"/>
                </a:solidFill>
                <a:effectLst/>
                <a:uLnTx/>
                <a:uFillTx/>
                <a:latin typeface="Calibri"/>
                <a:ea typeface="+mn-ea"/>
                <a:cs typeface="Times New Roman" pitchFamily="18" charset="0"/>
              </a:rPr>
              <a:t>D</a:t>
            </a:r>
          </a:p>
        </p:txBody>
      </p:sp>
      <p:sp>
        <p:nvSpPr>
          <p:cNvPr id="3" name="Slide Number Placeholder 2">
            <a:extLst>
              <a:ext uri="{FF2B5EF4-FFF2-40B4-BE49-F238E27FC236}">
                <a16:creationId xmlns:a16="http://schemas.microsoft.com/office/drawing/2014/main" id="{1B6FB30B-5944-E44F-A6CE-5420AE9B4159}"/>
              </a:ext>
            </a:extLst>
          </p:cNvPr>
          <p:cNvSpPr>
            <a:spLocks noGrp="1"/>
          </p:cNvSpPr>
          <p:nvPr>
            <p:ph type="sldNum" sz="quarter" idx="12"/>
          </p:nvPr>
        </p:nvSpPr>
        <p:spPr>
          <a:xfrm>
            <a:off x="8381999" y="6490335"/>
            <a:ext cx="474896"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53</a:t>
            </a:fld>
            <a:endParaRPr kumimoji="0" lang="en-US" sz="1000" b="0" i="0" u="none" strike="noStrike" kern="1200" cap="none" spc="300" normalizeH="0" baseline="0" noProof="0" dirty="0">
              <a:ln>
                <a:noFill/>
              </a:ln>
              <a:solidFill>
                <a:prstClr val="black">
                  <a:lumMod val="65000"/>
                  <a:lumOff val="35000"/>
                </a:prstClr>
              </a:solidFill>
              <a:effectLst/>
              <a:uLnTx/>
              <a:uFillTx/>
              <a:latin typeface="Trebuchet MS"/>
              <a:ea typeface="+mn-ea"/>
              <a:cs typeface="+mn-cs"/>
            </a:endParaRPr>
          </a:p>
        </p:txBody>
      </p:sp>
      <p:cxnSp>
        <p:nvCxnSpPr>
          <p:cNvPr id="31" name="Straight Arrow Connector 30"/>
          <p:cNvCxnSpPr>
            <a:cxnSpLocks/>
          </p:cNvCxnSpPr>
          <p:nvPr/>
        </p:nvCxnSpPr>
        <p:spPr>
          <a:xfrm flipH="1">
            <a:off x="3211468" y="2645229"/>
            <a:ext cx="2260486" cy="2198894"/>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372457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B9B4C-D39E-4778-BBDC-91385039EB74}"/>
              </a:ext>
            </a:extLst>
          </p:cNvPr>
          <p:cNvSpPr>
            <a:spLocks noGrp="1"/>
          </p:cNvSpPr>
          <p:nvPr>
            <p:ph type="title"/>
          </p:nvPr>
        </p:nvSpPr>
        <p:spPr/>
        <p:txBody>
          <a:bodyPr/>
          <a:lstStyle/>
          <a:p>
            <a:r>
              <a:rPr lang="en-US" dirty="0"/>
              <a:t>Pricing at a Local Zoo</a:t>
            </a:r>
          </a:p>
        </p:txBody>
      </p:sp>
      <mc:AlternateContent xmlns:mc="http://schemas.openxmlformats.org/markup-compatibility/2006" xmlns:a14="http://schemas.microsoft.com/office/drawing/2010/main">
        <mc:Choice Requires="a14">
          <p:sp useBgFill="1">
            <p:nvSpPr>
              <p:cNvPr id="3" name="Content Placeholder 2">
                <a:extLst>
                  <a:ext uri="{FF2B5EF4-FFF2-40B4-BE49-F238E27FC236}">
                    <a16:creationId xmlns:a16="http://schemas.microsoft.com/office/drawing/2014/main" id="{2CED4F30-DC90-4FD2-BE3B-DF4833A129F7}"/>
                  </a:ext>
                </a:extLst>
              </p:cNvPr>
              <p:cNvSpPr>
                <a:spLocks noGrp="1"/>
              </p:cNvSpPr>
              <p:nvPr>
                <p:ph idx="1"/>
              </p:nvPr>
            </p:nvSpPr>
            <p:spPr>
              <a:xfrm>
                <a:off x="457200" y="1640113"/>
                <a:ext cx="8686800" cy="1984829"/>
              </a:xfrm>
            </p:spPr>
            <p:txBody>
              <a:bodyPr>
                <a:normAutofit fontScale="92500" lnSpcReduction="10000"/>
              </a:bodyPr>
              <a:lstStyle/>
              <a:p>
                <a:r>
                  <a:rPr lang="en-US" sz="3100" dirty="0"/>
                  <a:t>Demand by average customer is: </a:t>
                </a:r>
                <a14:m>
                  <m:oMath xmlns:m="http://schemas.openxmlformats.org/officeDocument/2006/math">
                    <m:r>
                      <a:rPr lang="en-US" sz="3100" b="0" i="1" smtClean="0">
                        <a:latin typeface="Cambria Math" panose="02040503050406030204" pitchFamily="18" charset="0"/>
                      </a:rPr>
                      <m:t>𝑃</m:t>
                    </m:r>
                    <m:r>
                      <a:rPr lang="en-US" sz="3100" i="1">
                        <a:latin typeface="Cambria Math" panose="02040503050406030204" pitchFamily="18" charset="0"/>
                      </a:rPr>
                      <m:t>=</m:t>
                    </m:r>
                    <m:r>
                      <a:rPr lang="en-US" sz="3100" b="0" i="1" smtClean="0">
                        <a:latin typeface="Cambria Math" panose="02040503050406030204" pitchFamily="18" charset="0"/>
                      </a:rPr>
                      <m:t>20−4</m:t>
                    </m:r>
                    <m:r>
                      <a:rPr lang="en-US" sz="3100" b="0" i="1" smtClean="0">
                        <a:latin typeface="Cambria Math" panose="02040503050406030204" pitchFamily="18" charset="0"/>
                      </a:rPr>
                      <m:t>𝑄</m:t>
                    </m:r>
                  </m:oMath>
                </a14:m>
                <a:endParaRPr lang="en-US" sz="3100" dirty="0"/>
              </a:p>
              <a:p>
                <a:pPr lvl="1"/>
                <a14:m>
                  <m:oMath xmlns:m="http://schemas.openxmlformats.org/officeDocument/2006/math">
                    <m:r>
                      <a:rPr lang="en-US" sz="2900" i="1" dirty="0" smtClean="0">
                        <a:latin typeface="Cambria Math" panose="02040503050406030204" pitchFamily="18" charset="0"/>
                      </a:rPr>
                      <m:t>𝑄</m:t>
                    </m:r>
                  </m:oMath>
                </a14:m>
                <a:r>
                  <a:rPr lang="en-US" sz="2900" dirty="0"/>
                  <a:t>: Visits per year</a:t>
                </a:r>
              </a:p>
              <a:p>
                <a:r>
                  <a:rPr lang="en-US" sz="3100" dirty="0"/>
                  <a:t>Marginal cost per visit:  </a:t>
                </a:r>
                <a14:m>
                  <m:oMath xmlns:m="http://schemas.openxmlformats.org/officeDocument/2006/math">
                    <m:r>
                      <a:rPr lang="en-US" sz="3100" b="0" i="1" smtClean="0">
                        <a:latin typeface="Cambria Math" panose="02040503050406030204" pitchFamily="18" charset="0"/>
                      </a:rPr>
                      <m:t>𝑀𝐶</m:t>
                    </m:r>
                    <m:r>
                      <a:rPr lang="en-US" sz="3100" b="0" i="1" smtClean="0">
                        <a:latin typeface="Cambria Math" panose="02040503050406030204" pitchFamily="18" charset="0"/>
                      </a:rPr>
                      <m:t>=0</m:t>
                    </m:r>
                  </m:oMath>
                </a14:m>
                <a:endParaRPr lang="en-US" sz="3100" dirty="0"/>
              </a:p>
              <a:p>
                <a:r>
                  <a:rPr lang="en-US" sz="3100" dirty="0"/>
                  <a:t>What is the optimal pricing strategy?</a:t>
                </a:r>
              </a:p>
            </p:txBody>
          </p:sp>
        </mc:Choice>
        <mc:Fallback xmlns="">
          <p:sp useBgFill="1">
            <p:nvSpPr>
              <p:cNvPr id="3" name="Content Placeholder 2">
                <a:extLst>
                  <a:ext uri="{FF2B5EF4-FFF2-40B4-BE49-F238E27FC236}">
                    <a16:creationId xmlns:a16="http://schemas.microsoft.com/office/drawing/2014/main" id="{2CED4F30-DC90-4FD2-BE3B-DF4833A129F7}"/>
                  </a:ext>
                </a:extLst>
              </p:cNvPr>
              <p:cNvSpPr>
                <a:spLocks noGrp="1" noRot="1" noChangeAspect="1" noMove="1" noResize="1" noEditPoints="1" noAdjustHandles="1" noChangeArrowheads="1" noChangeShapeType="1" noTextEdit="1"/>
              </p:cNvSpPr>
              <p:nvPr>
                <p:ph idx="1"/>
              </p:nvPr>
            </p:nvSpPr>
            <p:spPr>
              <a:xfrm>
                <a:off x="457200" y="1640113"/>
                <a:ext cx="8686800" cy="1984829"/>
              </a:xfrm>
              <a:blipFill>
                <a:blip r:embed="rId3"/>
                <a:stretch>
                  <a:fillRect l="-1754" t="-8282" b="-6748"/>
                </a:stretch>
              </a:blipFill>
            </p:spPr>
            <p:txBody>
              <a:bodyPr/>
              <a:lstStyle/>
              <a:p>
                <a:r>
                  <a:rPr lang="en-US">
                    <a:noFill/>
                  </a:rPr>
                  <a:t> </a:t>
                </a:r>
              </a:p>
            </p:txBody>
          </p:sp>
        </mc:Fallback>
      </mc:AlternateContent>
      <p:sp>
        <p:nvSpPr>
          <p:cNvPr id="4" name="Parallelogram 3">
            <a:extLst>
              <a:ext uri="{FF2B5EF4-FFF2-40B4-BE49-F238E27FC236}">
                <a16:creationId xmlns:a16="http://schemas.microsoft.com/office/drawing/2014/main" id="{806E185C-4D44-4474-A2EB-8D3D5F5841AA}"/>
              </a:ext>
            </a:extLst>
          </p:cNvPr>
          <p:cNvSpPr/>
          <p:nvPr/>
        </p:nvSpPr>
        <p:spPr>
          <a:xfrm>
            <a:off x="4456686" y="6029465"/>
            <a:ext cx="4951882" cy="840025"/>
          </a:xfrm>
          <a:prstGeom prst="parallelogram">
            <a:avLst/>
          </a:prstGeom>
          <a:gradFill>
            <a:gsLst>
              <a:gs pos="0">
                <a:schemeClr val="accent2">
                  <a:tint val="100000"/>
                  <a:shade val="100000"/>
                  <a:satMod val="130000"/>
                  <a:alpha val="34000"/>
                </a:schemeClr>
              </a:gs>
              <a:gs pos="100000">
                <a:schemeClr val="accent2">
                  <a:tint val="50000"/>
                  <a:shade val="100000"/>
                  <a:satMod val="350000"/>
                  <a:alpha val="79000"/>
                </a:schemeClr>
              </a:gs>
            </a:gsLst>
          </a:gradFill>
          <a:ln>
            <a:noFill/>
          </a:ln>
        </p:spPr>
        <p:style>
          <a:lnRef idx="1">
            <a:schemeClr val="accent2"/>
          </a:lnRef>
          <a:fillRef idx="3">
            <a:schemeClr val="accent2"/>
          </a:fillRef>
          <a:effectRef idx="2">
            <a:schemeClr val="accent2"/>
          </a:effectRef>
          <a:fontRef idx="minor">
            <a:schemeClr val="lt1"/>
          </a:fontRef>
        </p:style>
        <p:txBody>
          <a:bodyPr rtlCol="0" anchor="ctr"/>
          <a:lstStyle/>
          <a:p>
            <a:r>
              <a:rPr lang="en-US" sz="3200" b="1" i="1" dirty="0"/>
              <a:t>Poll Everywhere Break</a:t>
            </a:r>
          </a:p>
        </p:txBody>
      </p:sp>
      <p:pic>
        <p:nvPicPr>
          <p:cNvPr id="6" name="Picture 5">
            <a:extLst>
              <a:ext uri="{FF2B5EF4-FFF2-40B4-BE49-F238E27FC236}">
                <a16:creationId xmlns:a16="http://schemas.microsoft.com/office/drawing/2014/main" id="{B419FB0D-C16A-4F1D-8009-43B54191F2E3}"/>
              </a:ext>
            </a:extLst>
          </p:cNvPr>
          <p:cNvPicPr>
            <a:picLocks noChangeAspect="1"/>
          </p:cNvPicPr>
          <p:nvPr/>
        </p:nvPicPr>
        <p:blipFill>
          <a:blip r:embed="rId4"/>
          <a:stretch>
            <a:fillRect/>
          </a:stretch>
        </p:blipFill>
        <p:spPr>
          <a:xfrm>
            <a:off x="261256" y="3737536"/>
            <a:ext cx="4138836" cy="2757499"/>
          </a:xfrm>
          <a:prstGeom prst="rect">
            <a:avLst/>
          </a:prstGeom>
        </p:spPr>
      </p:pic>
    </p:spTree>
    <p:extLst>
      <p:ext uri="{BB962C8B-B14F-4D97-AF65-F5344CB8AC3E}">
        <p14:creationId xmlns:p14="http://schemas.microsoft.com/office/powerpoint/2010/main" val="4005211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183328-752B-45DF-B7B5-58C9E94DB225}"/>
              </a:ext>
            </a:extLst>
          </p:cNvPr>
          <p:cNvPicPr>
            <a:picLocks/>
          </p:cNvPicPr>
          <p:nvPr>
            <p:custDataLst>
              <p:tags r:id="rId1"/>
            </p:custDataLst>
          </p:nvPr>
        </p:nvPicPr>
        <p:blipFill>
          <a:blip r:embed="rId4"/>
          <a:stretch>
            <a:fillRect/>
          </a:stretch>
        </p:blipFill>
        <p:spPr>
          <a:xfrm>
            <a:off x="190500" y="190500"/>
            <a:ext cx="8763000" cy="6477000"/>
          </a:xfrm>
          <a:prstGeom prst="rect">
            <a:avLst/>
          </a:prstGeom>
        </p:spPr>
      </p:pic>
    </p:spTree>
    <p:extLst>
      <p:ext uri="{BB962C8B-B14F-4D97-AF65-F5344CB8AC3E}">
        <p14:creationId xmlns:p14="http://schemas.microsoft.com/office/powerpoint/2010/main" val="4061233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60865"/>
            <a:ext cx="8229600" cy="1143000"/>
          </a:xfrm>
        </p:spPr>
        <p:txBody>
          <a:bodyPr/>
          <a:lstStyle/>
          <a:p>
            <a:r>
              <a:rPr lang="en-US" sz="3200" dirty="0">
                <a:latin typeface="Whitney-Medium" pitchFamily="50" charset="0"/>
                <a:cs typeface="Whitney-Medium" pitchFamily="50" charset="0"/>
              </a:rPr>
              <a:t>Zoo Pricing – Solution</a:t>
            </a:r>
            <a:endParaRPr lang="en-US" dirty="0"/>
          </a:p>
        </p:txBody>
      </p:sp>
      <p:sp>
        <p:nvSpPr>
          <p:cNvPr id="3" name="Slide Number Placeholder 2">
            <a:extLst>
              <a:ext uri="{FF2B5EF4-FFF2-40B4-BE49-F238E27FC236}">
                <a16:creationId xmlns:a16="http://schemas.microsoft.com/office/drawing/2014/main" id="{1B6FB30B-5944-E44F-A6CE-5420AE9B4159}"/>
              </a:ext>
            </a:extLst>
          </p:cNvPr>
          <p:cNvSpPr>
            <a:spLocks noGrp="1"/>
          </p:cNvSpPr>
          <p:nvPr>
            <p:ph type="sldNum" sz="quarter" idx="12"/>
          </p:nvPr>
        </p:nvSpPr>
        <p:spPr>
          <a:xfrm>
            <a:off x="8381999" y="6490335"/>
            <a:ext cx="474896"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56</a:t>
            </a:fld>
            <a:endParaRPr kumimoji="0" lang="en-US" sz="1000" b="0" i="0" u="none" strike="noStrike" kern="1200" cap="none" spc="300" normalizeH="0" baseline="0" noProof="0" dirty="0">
              <a:ln>
                <a:noFill/>
              </a:ln>
              <a:solidFill>
                <a:prstClr val="black">
                  <a:lumMod val="65000"/>
                  <a:lumOff val="35000"/>
                </a:prstClr>
              </a:solidFill>
              <a:effectLst/>
              <a:uLnTx/>
              <a:uFillTx/>
              <a:latin typeface="Trebuchet MS"/>
              <a:ea typeface="+mn-ea"/>
              <a:cs typeface="+mn-cs"/>
            </a:endParaRPr>
          </a:p>
        </p:txBody>
      </p:sp>
    </p:spTree>
    <p:extLst>
      <p:ext uri="{BB962C8B-B14F-4D97-AF65-F5344CB8AC3E}">
        <p14:creationId xmlns:p14="http://schemas.microsoft.com/office/powerpoint/2010/main" val="3719680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Whitney-Medium" pitchFamily="50" charset="0"/>
                <a:cs typeface="Whitney-Medium" pitchFamily="50" charset="0"/>
              </a:rPr>
              <a:t>Zoo Pricing – Flat Fee Pricing</a:t>
            </a:r>
            <a:endParaRPr lang="en-US" dirty="0"/>
          </a:p>
        </p:txBody>
      </p:sp>
      <p:sp>
        <p:nvSpPr>
          <p:cNvPr id="38" name="Line 3"/>
          <p:cNvSpPr>
            <a:spLocks noChangeShapeType="1"/>
          </p:cNvSpPr>
          <p:nvPr/>
        </p:nvSpPr>
        <p:spPr bwMode="auto">
          <a:xfrm>
            <a:off x="923610" y="1163003"/>
            <a:ext cx="0" cy="5156200"/>
          </a:xfrm>
          <a:prstGeom prst="line">
            <a:avLst/>
          </a:prstGeom>
          <a:noFill/>
          <a:ln w="38100">
            <a:solidFill>
              <a:schemeClr val="tx1"/>
            </a:solidFill>
            <a:round/>
            <a:headEnd type="triangle"/>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39" name="Line 4"/>
          <p:cNvSpPr>
            <a:spLocks noChangeShapeType="1"/>
          </p:cNvSpPr>
          <p:nvPr/>
        </p:nvSpPr>
        <p:spPr bwMode="auto">
          <a:xfrm>
            <a:off x="923610" y="6319203"/>
            <a:ext cx="5757862" cy="0"/>
          </a:xfrm>
          <a:prstGeom prst="line">
            <a:avLst/>
          </a:prstGeom>
          <a:noFill/>
          <a:ln w="38100">
            <a:solidFill>
              <a:schemeClr val="tx1"/>
            </a:solidFill>
            <a:round/>
            <a:headEnd/>
            <a:tailEnd type="triangle"/>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40" name="Text Box 5"/>
          <p:cNvSpPr txBox="1">
            <a:spLocks noChangeArrowheads="1"/>
          </p:cNvSpPr>
          <p:nvPr/>
        </p:nvSpPr>
        <p:spPr bwMode="auto">
          <a:xfrm>
            <a:off x="604522" y="938521"/>
            <a:ext cx="638175" cy="406259"/>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Calibri"/>
                <a:ea typeface="+mn-ea"/>
                <a:cs typeface="Times New Roman" pitchFamily="18" charset="0"/>
              </a:rPr>
              <a:t>P</a:t>
            </a:r>
          </a:p>
        </p:txBody>
      </p:sp>
      <p:sp>
        <p:nvSpPr>
          <p:cNvPr id="41" name="Text Box 6"/>
          <p:cNvSpPr txBox="1">
            <a:spLocks noChangeArrowheads="1"/>
          </p:cNvSpPr>
          <p:nvPr/>
        </p:nvSpPr>
        <p:spPr bwMode="auto">
          <a:xfrm>
            <a:off x="6198714" y="6363653"/>
            <a:ext cx="2183285" cy="406259"/>
          </a:xfrm>
          <a:prstGeom prst="rect">
            <a:avLst/>
          </a:prstGeom>
          <a:noFill/>
          <a:ln w="9525">
            <a:noFill/>
            <a:miter lim="800000"/>
            <a:headEnd/>
            <a:tailEnd/>
          </a:ln>
          <a:effectLst/>
        </p:spPr>
        <p:txBody>
          <a:bodyPr wrap="square"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Calibri"/>
                <a:ea typeface="+mn-ea"/>
                <a:cs typeface="Times New Roman" pitchFamily="18" charset="0"/>
              </a:rPr>
              <a:t>Q</a:t>
            </a: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 </a:t>
            </a:r>
            <a:r>
              <a:rPr kumimoji="0" lang="en-US" b="0" i="0" u="none" strike="noStrike" kern="1200" cap="none" spc="0" normalizeH="0" baseline="0" noProof="0" dirty="0">
                <a:ln>
                  <a:noFill/>
                </a:ln>
                <a:solidFill>
                  <a:prstClr val="black"/>
                </a:solidFill>
                <a:effectLst/>
                <a:uLnTx/>
                <a:uFillTx/>
                <a:latin typeface="Calibri"/>
                <a:ea typeface="+mn-ea"/>
                <a:cs typeface="Times New Roman" pitchFamily="18" charset="0"/>
              </a:rPr>
              <a:t>(visits per year)</a:t>
            </a:r>
            <a:endPar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46" name="Line 12"/>
          <p:cNvSpPr>
            <a:spLocks noChangeShapeType="1"/>
          </p:cNvSpPr>
          <p:nvPr/>
        </p:nvSpPr>
        <p:spPr bwMode="auto">
          <a:xfrm>
            <a:off x="953771" y="2007553"/>
            <a:ext cx="4718895" cy="4341812"/>
          </a:xfrm>
          <a:prstGeom prst="line">
            <a:avLst/>
          </a:prstGeom>
          <a:noFill/>
          <a:ln w="38100">
            <a:solidFill>
              <a:srgbClr val="C00000"/>
            </a:solidFill>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56" name="TextBox 55"/>
          <p:cNvSpPr txBox="1"/>
          <p:nvPr/>
        </p:nvSpPr>
        <p:spPr>
          <a:xfrm>
            <a:off x="307396" y="1763320"/>
            <a:ext cx="63817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$20</a:t>
            </a:r>
          </a:p>
        </p:txBody>
      </p:sp>
      <p:sp>
        <p:nvSpPr>
          <p:cNvPr id="23" name="Content Placeholder 1"/>
          <p:cNvSpPr txBox="1">
            <a:spLocks/>
          </p:cNvSpPr>
          <p:nvPr/>
        </p:nvSpPr>
        <p:spPr>
          <a:xfrm>
            <a:off x="4956593" y="1419985"/>
            <a:ext cx="4201808"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66403" marR="0" lvl="0"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r>
              <a:rPr kumimoji="0" lang="en-US" sz="2625" b="0" i="0" u="none" strike="noStrike" kern="1100" cap="none" spc="50" normalizeH="0" baseline="0" noProof="0" dirty="0">
                <a:ln>
                  <a:noFill/>
                </a:ln>
                <a:solidFill>
                  <a:srgbClr val="1F497D">
                    <a:lumMod val="75000"/>
                  </a:srgbClr>
                </a:solidFill>
                <a:effectLst/>
                <a:uLnTx/>
                <a:uFillTx/>
                <a:latin typeface="Whitney-Book"/>
                <a:ea typeface="+mn-ea"/>
                <a:cs typeface="+mn-cs"/>
              </a:rPr>
              <a:t>Flat-Fee Pricing:</a:t>
            </a:r>
          </a:p>
          <a:p>
            <a:pPr marL="666453" marR="0" lvl="1"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r>
              <a:rPr kumimoji="0" lang="en-US" sz="2425" b="0" i="0" u="none" strike="noStrike" kern="1100" cap="none" spc="50" normalizeH="0" baseline="0" noProof="0" dirty="0">
                <a:ln>
                  <a:noFill/>
                </a:ln>
                <a:solidFill>
                  <a:srgbClr val="C0504D"/>
                </a:solidFill>
                <a:effectLst/>
                <a:uLnTx/>
                <a:uFillTx/>
                <a:latin typeface="Whitney-Book"/>
                <a:ea typeface="+mn-ea"/>
                <a:cs typeface="+mn-cs"/>
              </a:rPr>
              <a:t>Flat fee: </a:t>
            </a:r>
            <a:r>
              <a:rPr lang="en-US" sz="2425" i="1" dirty="0">
                <a:solidFill>
                  <a:srgbClr val="1F497D">
                    <a:lumMod val="75000"/>
                  </a:srgbClr>
                </a:solidFill>
              </a:rPr>
              <a:t>F </a:t>
            </a:r>
            <a:r>
              <a:rPr kumimoji="0" lang="en-US" sz="2425" b="0" i="0" u="none" strike="noStrike" kern="1100" cap="none" spc="50" normalizeH="0" baseline="0" noProof="0" dirty="0">
                <a:ln>
                  <a:noFill/>
                </a:ln>
                <a:solidFill>
                  <a:srgbClr val="1F497D">
                    <a:lumMod val="75000"/>
                  </a:srgbClr>
                </a:solidFill>
                <a:effectLst/>
                <a:uLnTx/>
                <a:uFillTx/>
                <a:latin typeface="Whitney-Book"/>
                <a:ea typeface="+mn-ea"/>
                <a:cs typeface="+mn-cs"/>
              </a:rPr>
              <a:t>=$50 </a:t>
            </a:r>
          </a:p>
          <a:p>
            <a:pPr marL="266403" indent="-266403">
              <a:spcBef>
                <a:spcPts val="0"/>
              </a:spcBef>
              <a:spcAft>
                <a:spcPts val="563"/>
              </a:spcAft>
              <a:defRPr/>
            </a:pPr>
            <a:r>
              <a:rPr lang="en-US" sz="2625" dirty="0">
                <a:solidFill>
                  <a:srgbClr val="1F497D">
                    <a:lumMod val="75000"/>
                  </a:srgbClr>
                </a:solidFill>
              </a:rPr>
              <a:t>Profit: </a:t>
            </a:r>
            <a:r>
              <a:rPr lang="en-US" sz="2625" dirty="0">
                <a:solidFill>
                  <a:srgbClr val="1F497D">
                    <a:lumMod val="75000"/>
                  </a:srgbClr>
                </a:solidFill>
                <a:highlight>
                  <a:srgbClr val="C0C0C0"/>
                </a:highlight>
              </a:rPr>
              <a:t>$50</a:t>
            </a:r>
            <a:r>
              <a:rPr lang="en-US" sz="2625" dirty="0">
                <a:solidFill>
                  <a:srgbClr val="1F497D">
                    <a:lumMod val="75000"/>
                  </a:srgbClr>
                </a:solidFill>
              </a:rPr>
              <a:t> per customer</a:t>
            </a:r>
          </a:p>
          <a:p>
            <a:pPr marL="0" indent="0">
              <a:spcBef>
                <a:spcPts val="0"/>
              </a:spcBef>
              <a:spcAft>
                <a:spcPts val="563"/>
              </a:spcAft>
              <a:buNone/>
              <a:defRPr/>
            </a:pPr>
            <a:r>
              <a:rPr lang="en-US" sz="2400" dirty="0">
                <a:solidFill>
                  <a:srgbClr val="1F497D">
                    <a:lumMod val="75000"/>
                  </a:srgbClr>
                </a:solidFill>
              </a:rPr>
              <a:t>    (assuming zero fixed cost)</a:t>
            </a:r>
            <a:endParaRPr kumimoji="0" lang="en-US" sz="2400" b="0" i="0" u="none" strike="noStrike" kern="1100" cap="none" spc="50" normalizeH="0" baseline="0" noProof="0" dirty="0">
              <a:ln>
                <a:noFill/>
              </a:ln>
              <a:solidFill>
                <a:srgbClr val="1F497D">
                  <a:lumMod val="75000"/>
                </a:srgbClr>
              </a:solidFill>
              <a:effectLst/>
              <a:uLnTx/>
              <a:uFillTx/>
            </a:endParaRPr>
          </a:p>
          <a:p>
            <a:pPr marL="666453" marR="0" lvl="1"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endParaRPr kumimoji="0" lang="en-US" sz="2425" b="0" i="0" u="none" strike="noStrike" kern="1100" cap="none" spc="50" normalizeH="0" baseline="0" noProof="0" dirty="0">
              <a:ln>
                <a:noFill/>
              </a:ln>
              <a:solidFill>
                <a:srgbClr val="1F497D">
                  <a:lumMod val="75000"/>
                </a:srgbClr>
              </a:solidFill>
              <a:effectLst/>
              <a:uLnTx/>
              <a:uFillTx/>
              <a:latin typeface="Whitney-Book"/>
              <a:ea typeface="+mn-ea"/>
              <a:cs typeface="+mn-cs"/>
            </a:endParaRPr>
          </a:p>
        </p:txBody>
      </p:sp>
      <p:grpSp>
        <p:nvGrpSpPr>
          <p:cNvPr id="14" name="Group 13">
            <a:extLst>
              <a:ext uri="{FF2B5EF4-FFF2-40B4-BE49-F238E27FC236}">
                <a16:creationId xmlns:a16="http://schemas.microsoft.com/office/drawing/2014/main" id="{166AF710-4C66-4BD8-B0FE-FBC9ADDEB9C9}"/>
              </a:ext>
            </a:extLst>
          </p:cNvPr>
          <p:cNvGrpSpPr/>
          <p:nvPr/>
        </p:nvGrpSpPr>
        <p:grpSpPr>
          <a:xfrm>
            <a:off x="-5565" y="2007551"/>
            <a:ext cx="5570246" cy="4274827"/>
            <a:chOff x="335595" y="2007553"/>
            <a:chExt cx="3241623" cy="2470435"/>
          </a:xfrm>
        </p:grpSpPr>
        <p:sp>
          <p:nvSpPr>
            <p:cNvPr id="17" name="Right Triangle 16"/>
            <p:cNvSpPr/>
            <p:nvPr/>
          </p:nvSpPr>
          <p:spPr>
            <a:xfrm>
              <a:off x="889111" y="2007553"/>
              <a:ext cx="2688107" cy="2470435"/>
            </a:xfrm>
            <a:prstGeom prst="rtTriangl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white"/>
                </a:solidFill>
                <a:effectLst/>
                <a:uLnTx/>
                <a:uFillTx/>
                <a:latin typeface="Whitney-Book" pitchFamily="50" charset="0"/>
                <a:ea typeface="+mn-ea"/>
                <a:cs typeface="Whitney-Book" pitchFamily="50" charset="0"/>
              </a:endParaRPr>
            </a:p>
          </p:txBody>
        </p:sp>
        <p:sp>
          <p:nvSpPr>
            <p:cNvPr id="18" name="Rectangle 17"/>
            <p:cNvSpPr/>
            <p:nvPr/>
          </p:nvSpPr>
          <p:spPr>
            <a:xfrm>
              <a:off x="335595" y="2903870"/>
              <a:ext cx="2287857" cy="812262"/>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Flat fee</a:t>
              </a:r>
            </a:p>
            <a:p>
              <a:pPr lvl="0" algn="ctr">
                <a:defRPr/>
              </a:pP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a:t>
              </a:r>
              <a:r>
                <a:rPr lang="en-US" sz="2000" dirty="0">
                  <a:solidFill>
                    <a:prstClr val="black"/>
                  </a:solidFill>
                  <a:cs typeface="Times New Roman" pitchFamily="18" charset="0"/>
                </a:rPr>
                <a:t>20∙5/2</a:t>
              </a:r>
            </a:p>
            <a:p>
              <a:pPr lvl="0" algn="ctr">
                <a:defRPr/>
              </a:pP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=$50</a:t>
              </a: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19" name="TextBox 18"/>
          <p:cNvSpPr txBox="1"/>
          <p:nvPr/>
        </p:nvSpPr>
        <p:spPr>
          <a:xfrm>
            <a:off x="5564684" y="6300534"/>
            <a:ext cx="574360" cy="369332"/>
          </a:xfrm>
          <a:prstGeom prst="rect">
            <a:avLst/>
          </a:prstGeom>
          <a:noFill/>
        </p:spPr>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5</a:t>
            </a:r>
          </a:p>
        </p:txBody>
      </p:sp>
      <p:cxnSp>
        <p:nvCxnSpPr>
          <p:cNvPr id="25" name="Straight Arrow Connector 24"/>
          <p:cNvCxnSpPr>
            <a:cxnSpLocks/>
          </p:cNvCxnSpPr>
          <p:nvPr/>
        </p:nvCxnSpPr>
        <p:spPr>
          <a:xfrm flipH="1">
            <a:off x="2424408" y="2231286"/>
            <a:ext cx="2887231" cy="1302706"/>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xmlns:a14="http://schemas.microsoft.com/office/drawing/2010/main">
        <mc:Choice Requires="a14">
          <p:sp>
            <p:nvSpPr>
              <p:cNvPr id="24" name="Text Box 11"/>
              <p:cNvSpPr txBox="1">
                <a:spLocks noChangeArrowheads="1"/>
              </p:cNvSpPr>
              <p:nvPr/>
            </p:nvSpPr>
            <p:spPr bwMode="auto">
              <a:xfrm>
                <a:off x="837585" y="1756759"/>
                <a:ext cx="2512114" cy="467814"/>
              </a:xfrm>
              <a:prstGeom prst="rect">
                <a:avLst/>
              </a:prstGeom>
              <a:noFill/>
              <a:ln w="9525">
                <a:noFill/>
                <a:miter lim="800000"/>
                <a:headEnd/>
                <a:tailEnd/>
              </a:ln>
              <a:effectLst/>
            </p:spPr>
            <p:txBody>
              <a:bodyPr wrap="square" lIns="97530" tIns="48765" rIns="97530" bIns="48765">
                <a:spAutoFit/>
              </a:bodyPr>
              <a:lstStyle/>
              <a:p>
                <a:pPr lvl="0" defTabSz="974725">
                  <a:spcBef>
                    <a:spcPct val="50000"/>
                  </a:spcBef>
                  <a:defRPr/>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𝑃</m:t>
                      </m:r>
                      <m:r>
                        <a:rPr lang="en-US" sz="2400" b="0" i="1" smtClean="0">
                          <a:solidFill>
                            <a:srgbClr val="C00000"/>
                          </a:solidFill>
                          <a:latin typeface="Cambria Math" panose="02040503050406030204" pitchFamily="18" charset="0"/>
                        </a:rPr>
                        <m:t>=20−4</m:t>
                      </m:r>
                      <m:r>
                        <a:rPr lang="en-US" sz="2400" b="0" i="1" smtClean="0">
                          <a:solidFill>
                            <a:srgbClr val="C00000"/>
                          </a:solidFill>
                          <a:latin typeface="Cambria Math" panose="02040503050406030204" pitchFamily="18" charset="0"/>
                        </a:rPr>
                        <m:t>𝑄</m:t>
                      </m:r>
                    </m:oMath>
                  </m:oMathPara>
                </a14:m>
                <a:endParaRPr lang="en-US" sz="2400" b="0" i="0" dirty="0">
                  <a:solidFill>
                    <a:srgbClr val="C00000"/>
                  </a:solidFill>
                  <a:latin typeface="Calibri"/>
                </a:endParaRPr>
              </a:p>
            </p:txBody>
          </p:sp>
        </mc:Choice>
        <mc:Fallback xmlns="">
          <p:sp>
            <p:nvSpPr>
              <p:cNvPr id="24" name="Text Box 11"/>
              <p:cNvSpPr txBox="1">
                <a:spLocks noRot="1" noChangeAspect="1" noMove="1" noResize="1" noEditPoints="1" noAdjustHandles="1" noChangeArrowheads="1" noChangeShapeType="1" noTextEdit="1"/>
              </p:cNvSpPr>
              <p:nvPr/>
            </p:nvSpPr>
            <p:spPr bwMode="auto">
              <a:xfrm>
                <a:off x="837585" y="1756759"/>
                <a:ext cx="2512114" cy="467814"/>
              </a:xfrm>
              <a:prstGeom prst="rect">
                <a:avLst/>
              </a:prstGeom>
              <a:blipFill>
                <a:blip r:embed="rId3"/>
                <a:stretch>
                  <a:fillRect b="-11688"/>
                </a:stretch>
              </a:blipFill>
              <a:ln w="9525">
                <a:noFill/>
                <a:miter lim="800000"/>
                <a:headEnd/>
                <a:tailEnd/>
              </a:ln>
              <a:effectLst/>
            </p:spPr>
            <p:txBody>
              <a:bodyPr/>
              <a:lstStyle/>
              <a:p>
                <a:r>
                  <a:rPr lang="en-US">
                    <a:noFill/>
                  </a:rPr>
                  <a:t> </a:t>
                </a:r>
              </a:p>
            </p:txBody>
          </p:sp>
        </mc:Fallback>
      </mc:AlternateContent>
      <p:sp>
        <p:nvSpPr>
          <p:cNvPr id="33" name="Text Box 11"/>
          <p:cNvSpPr txBox="1">
            <a:spLocks noChangeArrowheads="1"/>
          </p:cNvSpPr>
          <p:nvPr/>
        </p:nvSpPr>
        <p:spPr bwMode="auto">
          <a:xfrm>
            <a:off x="5163036" y="5592443"/>
            <a:ext cx="801687" cy="406259"/>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srgbClr val="C00000"/>
                </a:solidFill>
                <a:effectLst/>
                <a:uLnTx/>
                <a:uFillTx/>
                <a:latin typeface="Calibri"/>
                <a:ea typeface="+mn-ea"/>
                <a:cs typeface="Times New Roman" pitchFamily="18" charset="0"/>
              </a:rPr>
              <a:t>D</a:t>
            </a:r>
          </a:p>
        </p:txBody>
      </p:sp>
      <p:sp>
        <p:nvSpPr>
          <p:cNvPr id="3" name="Slide Number Placeholder 2">
            <a:extLst>
              <a:ext uri="{FF2B5EF4-FFF2-40B4-BE49-F238E27FC236}">
                <a16:creationId xmlns:a16="http://schemas.microsoft.com/office/drawing/2014/main" id="{1B6FB30B-5944-E44F-A6CE-5420AE9B4159}"/>
              </a:ext>
            </a:extLst>
          </p:cNvPr>
          <p:cNvSpPr>
            <a:spLocks noGrp="1"/>
          </p:cNvSpPr>
          <p:nvPr>
            <p:ph type="sldNum" sz="quarter" idx="12"/>
          </p:nvPr>
        </p:nvSpPr>
        <p:spPr>
          <a:xfrm>
            <a:off x="8381999" y="6490335"/>
            <a:ext cx="474896"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57</a:t>
            </a:fld>
            <a:endParaRPr kumimoji="0" lang="en-US" sz="1000" b="0" i="0" u="none" strike="noStrike" kern="1200" cap="none" spc="300" normalizeH="0" baseline="0" noProof="0" dirty="0">
              <a:ln>
                <a:noFill/>
              </a:ln>
              <a:solidFill>
                <a:prstClr val="black">
                  <a:lumMod val="65000"/>
                  <a:lumOff val="35000"/>
                </a:prstClr>
              </a:solidFill>
              <a:effectLst/>
              <a:uLnTx/>
              <a:uFillTx/>
              <a:latin typeface="Trebuchet MS"/>
              <a:ea typeface="+mn-ea"/>
              <a:cs typeface="+mn-cs"/>
            </a:endParaRPr>
          </a:p>
        </p:txBody>
      </p:sp>
      <p:sp>
        <p:nvSpPr>
          <p:cNvPr id="29" name="Content Placeholder 3">
            <a:extLst>
              <a:ext uri="{FF2B5EF4-FFF2-40B4-BE49-F238E27FC236}">
                <a16:creationId xmlns:a16="http://schemas.microsoft.com/office/drawing/2014/main" id="{063DE096-5BE8-40FE-A532-293F9D87CBA0}"/>
              </a:ext>
            </a:extLst>
          </p:cNvPr>
          <p:cNvSpPr>
            <a:spLocks noGrp="1"/>
          </p:cNvSpPr>
          <p:nvPr>
            <p:ph idx="1"/>
          </p:nvPr>
        </p:nvSpPr>
        <p:spPr>
          <a:xfrm>
            <a:off x="6775720" y="4741387"/>
            <a:ext cx="2368280" cy="1082470"/>
          </a:xfrm>
        </p:spPr>
        <p:txBody>
          <a:bodyPr>
            <a:noAutofit/>
          </a:bodyPr>
          <a:lstStyle/>
          <a:p>
            <a:pPr marL="0" indent="0">
              <a:spcAft>
                <a:spcPts val="563"/>
              </a:spcAft>
              <a:buNone/>
            </a:pPr>
            <a:r>
              <a:rPr lang="en-US" sz="2000" dirty="0"/>
              <a:t>Overall 5 visits since price paid per visit is zero</a:t>
            </a:r>
            <a:endParaRPr lang="en-US" sz="2000" i="1" dirty="0"/>
          </a:p>
        </p:txBody>
      </p:sp>
      <p:cxnSp>
        <p:nvCxnSpPr>
          <p:cNvPr id="30" name="Straight Arrow Connector 29">
            <a:extLst>
              <a:ext uri="{FF2B5EF4-FFF2-40B4-BE49-F238E27FC236}">
                <a16:creationId xmlns:a16="http://schemas.microsoft.com/office/drawing/2014/main" id="{077966E6-5FBE-4A4C-B67C-E8405392B0FC}"/>
              </a:ext>
            </a:extLst>
          </p:cNvPr>
          <p:cNvCxnSpPr>
            <a:cxnSpLocks/>
            <a:stCxn id="29" idx="1"/>
          </p:cNvCxnSpPr>
          <p:nvPr/>
        </p:nvCxnSpPr>
        <p:spPr>
          <a:xfrm flipH="1">
            <a:off x="5624350" y="5282622"/>
            <a:ext cx="1151370" cy="995688"/>
          </a:xfrm>
          <a:prstGeom prst="straightConnector1">
            <a:avLst/>
          </a:prstGeom>
          <a:ln w="38100">
            <a:solidFill>
              <a:schemeClr val="accent1">
                <a:lumMod val="75000"/>
              </a:schemeClr>
            </a:solidFill>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489832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Whitney-Medium" pitchFamily="50" charset="0"/>
                <a:cs typeface="Whitney-Medium" pitchFamily="50" charset="0"/>
              </a:rPr>
              <a:t>Zoo Pricing – Comparison to Simple Pricing</a:t>
            </a:r>
            <a:endParaRPr lang="en-US" dirty="0"/>
          </a:p>
        </p:txBody>
      </p:sp>
      <p:sp>
        <p:nvSpPr>
          <p:cNvPr id="38" name="Line 3"/>
          <p:cNvSpPr>
            <a:spLocks noChangeShapeType="1"/>
          </p:cNvSpPr>
          <p:nvPr/>
        </p:nvSpPr>
        <p:spPr bwMode="auto">
          <a:xfrm>
            <a:off x="923610" y="1163003"/>
            <a:ext cx="0" cy="5156200"/>
          </a:xfrm>
          <a:prstGeom prst="line">
            <a:avLst/>
          </a:prstGeom>
          <a:noFill/>
          <a:ln w="38100">
            <a:solidFill>
              <a:schemeClr val="tx1"/>
            </a:solidFill>
            <a:round/>
            <a:headEnd type="triangle"/>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39" name="Line 4"/>
          <p:cNvSpPr>
            <a:spLocks noChangeShapeType="1"/>
          </p:cNvSpPr>
          <p:nvPr/>
        </p:nvSpPr>
        <p:spPr bwMode="auto">
          <a:xfrm>
            <a:off x="923610" y="6319203"/>
            <a:ext cx="5757862" cy="0"/>
          </a:xfrm>
          <a:prstGeom prst="line">
            <a:avLst/>
          </a:prstGeom>
          <a:noFill/>
          <a:ln w="38100">
            <a:solidFill>
              <a:schemeClr val="tx1"/>
            </a:solidFill>
            <a:round/>
            <a:headEnd/>
            <a:tailEnd type="triangle"/>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40" name="Text Box 5"/>
          <p:cNvSpPr txBox="1">
            <a:spLocks noChangeArrowheads="1"/>
          </p:cNvSpPr>
          <p:nvPr/>
        </p:nvSpPr>
        <p:spPr bwMode="auto">
          <a:xfrm>
            <a:off x="604522" y="938521"/>
            <a:ext cx="638175" cy="406259"/>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Calibri"/>
                <a:ea typeface="+mn-ea"/>
                <a:cs typeface="Times New Roman" pitchFamily="18" charset="0"/>
              </a:rPr>
              <a:t>P</a:t>
            </a:r>
          </a:p>
        </p:txBody>
      </p:sp>
      <p:sp>
        <p:nvSpPr>
          <p:cNvPr id="41" name="Text Box 6"/>
          <p:cNvSpPr txBox="1">
            <a:spLocks noChangeArrowheads="1"/>
          </p:cNvSpPr>
          <p:nvPr/>
        </p:nvSpPr>
        <p:spPr bwMode="auto">
          <a:xfrm>
            <a:off x="6198714" y="6363653"/>
            <a:ext cx="2183285" cy="406259"/>
          </a:xfrm>
          <a:prstGeom prst="rect">
            <a:avLst/>
          </a:prstGeom>
          <a:noFill/>
          <a:ln w="9525">
            <a:noFill/>
            <a:miter lim="800000"/>
            <a:headEnd/>
            <a:tailEnd/>
          </a:ln>
          <a:effectLst/>
        </p:spPr>
        <p:txBody>
          <a:bodyPr wrap="square"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Calibri"/>
                <a:ea typeface="+mn-ea"/>
                <a:cs typeface="Times New Roman" pitchFamily="18" charset="0"/>
              </a:rPr>
              <a:t>Q</a:t>
            </a: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 </a:t>
            </a:r>
            <a:r>
              <a:rPr kumimoji="0" lang="en-US" b="0" i="0" u="none" strike="noStrike" kern="1200" cap="none" spc="0" normalizeH="0" baseline="0" noProof="0" dirty="0">
                <a:ln>
                  <a:noFill/>
                </a:ln>
                <a:solidFill>
                  <a:prstClr val="black"/>
                </a:solidFill>
                <a:effectLst/>
                <a:uLnTx/>
                <a:uFillTx/>
                <a:latin typeface="Calibri"/>
                <a:ea typeface="+mn-ea"/>
                <a:cs typeface="Times New Roman" pitchFamily="18" charset="0"/>
              </a:rPr>
              <a:t>(visits per year)</a:t>
            </a:r>
            <a:endPar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45" name="Text Box 11"/>
          <p:cNvSpPr txBox="1">
            <a:spLocks noChangeArrowheads="1"/>
          </p:cNvSpPr>
          <p:nvPr/>
        </p:nvSpPr>
        <p:spPr bwMode="auto">
          <a:xfrm>
            <a:off x="4080496" y="5900738"/>
            <a:ext cx="801687" cy="406259"/>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srgbClr val="0070C0"/>
                </a:solidFill>
                <a:effectLst/>
                <a:uLnTx/>
                <a:uFillTx/>
                <a:latin typeface="Calibri"/>
                <a:ea typeface="+mn-ea"/>
                <a:cs typeface="Times New Roman" pitchFamily="18" charset="0"/>
              </a:rPr>
              <a:t>MC=0</a:t>
            </a:r>
          </a:p>
        </p:txBody>
      </p:sp>
      <p:sp>
        <p:nvSpPr>
          <p:cNvPr id="46" name="Line 12"/>
          <p:cNvSpPr>
            <a:spLocks noChangeShapeType="1"/>
          </p:cNvSpPr>
          <p:nvPr/>
        </p:nvSpPr>
        <p:spPr bwMode="auto">
          <a:xfrm>
            <a:off x="953771" y="2007553"/>
            <a:ext cx="4718895" cy="4341812"/>
          </a:xfrm>
          <a:prstGeom prst="line">
            <a:avLst/>
          </a:prstGeom>
          <a:noFill/>
          <a:ln w="38100">
            <a:solidFill>
              <a:srgbClr val="C00000"/>
            </a:solidFill>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56" name="TextBox 55"/>
          <p:cNvSpPr txBox="1"/>
          <p:nvPr/>
        </p:nvSpPr>
        <p:spPr>
          <a:xfrm>
            <a:off x="307396" y="1763320"/>
            <a:ext cx="63817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$20</a:t>
            </a:r>
          </a:p>
        </p:txBody>
      </p:sp>
      <p:sp>
        <p:nvSpPr>
          <p:cNvPr id="23" name="Content Placeholder 1"/>
          <p:cNvSpPr txBox="1">
            <a:spLocks/>
          </p:cNvSpPr>
          <p:nvPr/>
        </p:nvSpPr>
        <p:spPr>
          <a:xfrm>
            <a:off x="5026555" y="1419985"/>
            <a:ext cx="4131846"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66403" marR="0" lvl="0"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r>
              <a:rPr kumimoji="0" lang="en-US" sz="2625" b="0" i="0" u="none" strike="noStrike" kern="1100" cap="none" spc="50" normalizeH="0" baseline="0" noProof="0" dirty="0">
                <a:ln>
                  <a:noFill/>
                </a:ln>
                <a:solidFill>
                  <a:srgbClr val="1F497D">
                    <a:lumMod val="75000"/>
                  </a:srgbClr>
                </a:solidFill>
                <a:effectLst/>
                <a:uLnTx/>
                <a:uFillTx/>
                <a:latin typeface="Whitney-Book"/>
                <a:ea typeface="+mn-ea"/>
                <a:cs typeface="+mn-cs"/>
              </a:rPr>
              <a:t>Simple Pricing:</a:t>
            </a:r>
          </a:p>
          <a:p>
            <a:pPr marL="666453" marR="0" lvl="1"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r>
              <a:rPr kumimoji="0" lang="en-US" sz="2425" b="0" i="0" u="none" strike="noStrike" kern="1100" cap="none" spc="50" normalizeH="0" baseline="0" noProof="0" dirty="0">
                <a:ln>
                  <a:noFill/>
                </a:ln>
                <a:solidFill>
                  <a:srgbClr val="C0504D"/>
                </a:solidFill>
                <a:effectLst/>
                <a:uLnTx/>
                <a:uFillTx/>
                <a:latin typeface="Whitney-Book"/>
                <a:ea typeface="+mn-ea"/>
                <a:cs typeface="+mn-cs"/>
              </a:rPr>
              <a:t>Profit: </a:t>
            </a:r>
            <a:r>
              <a:rPr lang="en-US" sz="2425" dirty="0">
                <a:solidFill>
                  <a:srgbClr val="1F497D">
                    <a:lumMod val="75000"/>
                  </a:srgbClr>
                </a:solidFill>
                <a:highlight>
                  <a:srgbClr val="C0C0C0"/>
                </a:highlight>
              </a:rPr>
              <a:t>$25</a:t>
            </a:r>
            <a:r>
              <a:rPr lang="en-US" sz="2425" dirty="0">
                <a:solidFill>
                  <a:srgbClr val="1F497D">
                    <a:lumMod val="75000"/>
                  </a:srgbClr>
                </a:solidFill>
              </a:rPr>
              <a:t> per customer </a:t>
            </a:r>
            <a:r>
              <a:rPr lang="en-US" sz="2000" dirty="0">
                <a:solidFill>
                  <a:srgbClr val="1F497D">
                    <a:lumMod val="75000"/>
                  </a:srgbClr>
                </a:solidFill>
              </a:rPr>
              <a:t>(assuming zero fixed cost)</a:t>
            </a:r>
            <a:endParaRPr kumimoji="0" lang="en-US" sz="2625" b="0" i="0" u="none" strike="noStrike" kern="1100" cap="none" spc="50" normalizeH="0" baseline="0" noProof="0" dirty="0">
              <a:ln>
                <a:noFill/>
              </a:ln>
              <a:solidFill>
                <a:srgbClr val="1F497D">
                  <a:lumMod val="75000"/>
                </a:srgbClr>
              </a:solidFill>
              <a:effectLst/>
              <a:uLnTx/>
              <a:uFillTx/>
              <a:latin typeface="Whitney-Book"/>
              <a:ea typeface="+mn-ea"/>
              <a:cs typeface="+mn-cs"/>
            </a:endParaRPr>
          </a:p>
          <a:p>
            <a:pPr marL="666453" marR="0" lvl="1"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endParaRPr kumimoji="0" lang="en-US" sz="2425" b="0" i="0" u="none" strike="noStrike" kern="1100" cap="none" spc="50" normalizeH="0" baseline="0" noProof="0" dirty="0">
              <a:ln>
                <a:noFill/>
              </a:ln>
              <a:solidFill>
                <a:srgbClr val="1F497D">
                  <a:lumMod val="75000"/>
                </a:srgbClr>
              </a:solidFill>
              <a:effectLst/>
              <a:uLnTx/>
              <a:uFillTx/>
              <a:latin typeface="Whitney-Book"/>
              <a:ea typeface="+mn-ea"/>
              <a:cs typeface="+mn-cs"/>
            </a:endParaRPr>
          </a:p>
        </p:txBody>
      </p:sp>
      <p:sp>
        <p:nvSpPr>
          <p:cNvPr id="28" name="Line 9"/>
          <p:cNvSpPr>
            <a:spLocks noChangeShapeType="1"/>
          </p:cNvSpPr>
          <p:nvPr/>
        </p:nvSpPr>
        <p:spPr bwMode="auto">
          <a:xfrm>
            <a:off x="897141" y="6289058"/>
            <a:ext cx="5170271" cy="17552"/>
          </a:xfrm>
          <a:prstGeom prst="line">
            <a:avLst/>
          </a:prstGeom>
          <a:noFill/>
          <a:ln w="57150">
            <a:solidFill>
              <a:schemeClr val="accent1">
                <a:lumMod val="75000"/>
              </a:schemeClr>
            </a:solidFill>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19" name="TextBox 18"/>
          <p:cNvSpPr txBox="1"/>
          <p:nvPr/>
        </p:nvSpPr>
        <p:spPr>
          <a:xfrm>
            <a:off x="5564684" y="6300534"/>
            <a:ext cx="574360"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5</a:t>
            </a:r>
          </a:p>
        </p:txBody>
      </p:sp>
      <mc:AlternateContent xmlns:mc="http://schemas.openxmlformats.org/markup-compatibility/2006" xmlns:a14="http://schemas.microsoft.com/office/drawing/2010/main">
        <mc:Choice Requires="a14">
          <p:sp>
            <p:nvSpPr>
              <p:cNvPr id="24" name="Text Box 11"/>
              <p:cNvSpPr txBox="1">
                <a:spLocks noChangeArrowheads="1"/>
              </p:cNvSpPr>
              <p:nvPr/>
            </p:nvSpPr>
            <p:spPr bwMode="auto">
              <a:xfrm>
                <a:off x="1685799" y="1604343"/>
                <a:ext cx="2724706" cy="1329589"/>
              </a:xfrm>
              <a:prstGeom prst="rect">
                <a:avLst/>
              </a:prstGeom>
              <a:noFill/>
              <a:ln w="9525">
                <a:noFill/>
                <a:miter lim="800000"/>
                <a:headEnd/>
                <a:tailEnd/>
              </a:ln>
              <a:effectLst/>
            </p:spPr>
            <p:txBody>
              <a:bodyPr wrap="square" lIns="97530" tIns="48765" rIns="97530" bIns="48765">
                <a:spAutoFit/>
              </a:bodyPr>
              <a:lstStyle/>
              <a:p>
                <a:pPr lvl="0" defTabSz="974725">
                  <a:spcBef>
                    <a:spcPct val="50000"/>
                  </a:spcBef>
                  <a:defRPr/>
                </a:pPr>
                <a14:m>
                  <m:oMathPara xmlns:m="http://schemas.openxmlformats.org/officeDocument/2006/math">
                    <m:oMathParaPr>
                      <m:jc m:val="centerGroup"/>
                    </m:oMathParaPr>
                    <m:oMath xmlns:m="http://schemas.openxmlformats.org/officeDocument/2006/math">
                      <m:r>
                        <a:rPr lang="en-US" sz="2000" b="0" i="1" smtClean="0">
                          <a:solidFill>
                            <a:schemeClr val="accent3">
                              <a:lumMod val="75000"/>
                            </a:schemeClr>
                          </a:solidFill>
                          <a:latin typeface="Cambria Math" panose="02040503050406030204" pitchFamily="18" charset="0"/>
                        </a:rPr>
                        <m:t>𝑃</m:t>
                      </m:r>
                      <m:r>
                        <a:rPr lang="en-US" sz="2000" b="0" i="1" smtClean="0">
                          <a:solidFill>
                            <a:schemeClr val="accent3">
                              <a:lumMod val="75000"/>
                            </a:schemeClr>
                          </a:solidFill>
                          <a:latin typeface="Cambria Math" panose="02040503050406030204" pitchFamily="18" charset="0"/>
                        </a:rPr>
                        <m:t>=20−4</m:t>
                      </m:r>
                      <m:r>
                        <a:rPr lang="en-US" sz="2000" b="0" i="1" smtClean="0">
                          <a:solidFill>
                            <a:schemeClr val="accent3">
                              <a:lumMod val="75000"/>
                            </a:schemeClr>
                          </a:solidFill>
                          <a:latin typeface="Cambria Math" panose="02040503050406030204" pitchFamily="18" charset="0"/>
                        </a:rPr>
                        <m:t>𝑄</m:t>
                      </m:r>
                    </m:oMath>
                  </m:oMathPara>
                </a14:m>
                <a:endParaRPr lang="en-US" sz="2000" b="0" i="1" dirty="0">
                  <a:solidFill>
                    <a:schemeClr val="accent3">
                      <a:lumMod val="75000"/>
                    </a:schemeClr>
                  </a:solidFill>
                  <a:latin typeface="Cambria Math" panose="02040503050406030204" pitchFamily="18" charset="0"/>
                </a:endParaRPr>
              </a:p>
              <a:p>
                <a:pPr lvl="0" defTabSz="974725">
                  <a:spcBef>
                    <a:spcPct val="50000"/>
                  </a:spcBef>
                  <a:defRPr/>
                </a:pPr>
                <a14:m>
                  <m:oMathPara xmlns:m="http://schemas.openxmlformats.org/officeDocument/2006/math">
                    <m:oMathParaPr>
                      <m:jc m:val="centerGroup"/>
                    </m:oMathParaPr>
                    <m:oMath xmlns:m="http://schemas.openxmlformats.org/officeDocument/2006/math">
                      <m:r>
                        <a:rPr lang="en-US" sz="2000" b="0" i="1" smtClean="0">
                          <a:solidFill>
                            <a:schemeClr val="accent3">
                              <a:lumMod val="75000"/>
                            </a:schemeClr>
                          </a:solidFill>
                          <a:latin typeface="Cambria Math" panose="02040503050406030204" pitchFamily="18" charset="0"/>
                        </a:rPr>
                        <m:t>⇒</m:t>
                      </m:r>
                      <m:r>
                        <a:rPr lang="en-US" sz="2000" b="0" i="1" smtClean="0">
                          <a:solidFill>
                            <a:schemeClr val="accent3">
                              <a:lumMod val="75000"/>
                            </a:schemeClr>
                          </a:solidFill>
                          <a:latin typeface="Cambria Math" panose="02040503050406030204" pitchFamily="18" charset="0"/>
                        </a:rPr>
                        <m:t>𝑀𝑅</m:t>
                      </m:r>
                      <m:r>
                        <a:rPr lang="en-US" sz="2000" b="0" i="1" smtClean="0">
                          <a:solidFill>
                            <a:schemeClr val="accent3">
                              <a:lumMod val="75000"/>
                            </a:schemeClr>
                          </a:solidFill>
                          <a:latin typeface="Cambria Math" panose="02040503050406030204" pitchFamily="18" charset="0"/>
                        </a:rPr>
                        <m:t>=20−8</m:t>
                      </m:r>
                      <m:r>
                        <a:rPr lang="en-US" sz="2000" b="0" i="1" smtClean="0">
                          <a:solidFill>
                            <a:schemeClr val="accent3">
                              <a:lumMod val="75000"/>
                            </a:schemeClr>
                          </a:solidFill>
                          <a:latin typeface="Cambria Math" panose="02040503050406030204" pitchFamily="18" charset="0"/>
                        </a:rPr>
                        <m:t>𝑄</m:t>
                      </m:r>
                    </m:oMath>
                  </m:oMathPara>
                </a14:m>
                <a:endParaRPr lang="en-US" sz="2000" b="0" i="1" dirty="0">
                  <a:solidFill>
                    <a:schemeClr val="accent3">
                      <a:lumMod val="75000"/>
                    </a:schemeClr>
                  </a:solidFill>
                  <a:latin typeface="Cambria Math" panose="02040503050406030204" pitchFamily="18" charset="0"/>
                </a:endParaRPr>
              </a:p>
              <a:p>
                <a:pPr lvl="0" defTabSz="974725">
                  <a:spcBef>
                    <a:spcPct val="50000"/>
                  </a:spcBef>
                  <a:defRPr/>
                </a:pPr>
                <a14:m>
                  <m:oMathPara xmlns:m="http://schemas.openxmlformats.org/officeDocument/2006/math">
                    <m:oMathParaPr>
                      <m:jc m:val="centerGroup"/>
                    </m:oMathParaPr>
                    <m:oMath xmlns:m="http://schemas.openxmlformats.org/officeDocument/2006/math">
                      <m:r>
                        <a:rPr lang="en-US" sz="2000" b="0" i="1" smtClean="0">
                          <a:solidFill>
                            <a:schemeClr val="accent3">
                              <a:lumMod val="75000"/>
                            </a:schemeClr>
                          </a:solidFill>
                          <a:latin typeface="Cambria Math" panose="02040503050406030204" pitchFamily="18" charset="0"/>
                        </a:rPr>
                        <m:t>𝑀𝑅</m:t>
                      </m:r>
                      <m:r>
                        <a:rPr lang="en-US" sz="2000" b="0" i="1" smtClean="0">
                          <a:solidFill>
                            <a:schemeClr val="accent3">
                              <a:lumMod val="75000"/>
                            </a:schemeClr>
                          </a:solidFill>
                          <a:latin typeface="Cambria Math" panose="02040503050406030204" pitchFamily="18" charset="0"/>
                        </a:rPr>
                        <m:t>=</m:t>
                      </m:r>
                      <m:r>
                        <a:rPr lang="en-US" sz="2000" b="0" i="1" smtClean="0">
                          <a:solidFill>
                            <a:schemeClr val="accent3">
                              <a:lumMod val="75000"/>
                            </a:schemeClr>
                          </a:solidFill>
                          <a:latin typeface="Cambria Math" panose="02040503050406030204" pitchFamily="18" charset="0"/>
                        </a:rPr>
                        <m:t>𝑀𝐶</m:t>
                      </m:r>
                      <m:r>
                        <a:rPr lang="en-US" sz="2000" b="0" i="1" smtClean="0">
                          <a:solidFill>
                            <a:schemeClr val="accent3">
                              <a:lumMod val="75000"/>
                            </a:schemeClr>
                          </a:solidFill>
                          <a:latin typeface="Cambria Math" panose="02040503050406030204" pitchFamily="18" charset="0"/>
                        </a:rPr>
                        <m:t>=0</m:t>
                      </m:r>
                    </m:oMath>
                  </m:oMathPara>
                </a14:m>
                <a:endParaRPr lang="en-US" sz="2000" b="0" i="1" dirty="0">
                  <a:solidFill>
                    <a:schemeClr val="accent3">
                      <a:lumMod val="75000"/>
                    </a:schemeClr>
                  </a:solidFill>
                  <a:latin typeface="Cambria Math" panose="02040503050406030204" pitchFamily="18" charset="0"/>
                </a:endParaRPr>
              </a:p>
              <a:p>
                <a:pPr lvl="0" defTabSz="974725">
                  <a:spcBef>
                    <a:spcPct val="50000"/>
                  </a:spcBef>
                  <a:defRPr/>
                </a:pPr>
                <a14:m>
                  <m:oMathPara xmlns:m="http://schemas.openxmlformats.org/officeDocument/2006/math">
                    <m:oMathParaPr>
                      <m:jc m:val="centerGroup"/>
                    </m:oMathParaPr>
                    <m:oMath xmlns:m="http://schemas.openxmlformats.org/officeDocument/2006/math">
                      <m:r>
                        <a:rPr lang="en-US" sz="2000" b="0" i="1" smtClean="0">
                          <a:solidFill>
                            <a:schemeClr val="accent3">
                              <a:lumMod val="75000"/>
                            </a:schemeClr>
                          </a:solidFill>
                          <a:latin typeface="Cambria Math" panose="02040503050406030204" pitchFamily="18" charset="0"/>
                        </a:rPr>
                        <m:t>⇒</m:t>
                      </m:r>
                      <m:sSup>
                        <m:sSupPr>
                          <m:ctrlPr>
                            <a:rPr lang="en-US" sz="2000" b="0" i="1" smtClean="0">
                              <a:solidFill>
                                <a:schemeClr val="accent3">
                                  <a:lumMod val="75000"/>
                                </a:schemeClr>
                              </a:solidFill>
                              <a:latin typeface="Cambria Math" panose="02040503050406030204" pitchFamily="18" charset="0"/>
                            </a:rPr>
                          </m:ctrlPr>
                        </m:sSupPr>
                        <m:e>
                          <m:r>
                            <a:rPr lang="en-US" sz="2000" b="0" i="1" smtClean="0">
                              <a:solidFill>
                                <a:schemeClr val="accent3">
                                  <a:lumMod val="75000"/>
                                </a:schemeClr>
                              </a:solidFill>
                              <a:latin typeface="Cambria Math" panose="02040503050406030204" pitchFamily="18" charset="0"/>
                            </a:rPr>
                            <m:t>𝑄</m:t>
                          </m:r>
                        </m:e>
                        <m:sup>
                          <m:r>
                            <a:rPr lang="en-US" sz="2000" b="0" i="1" smtClean="0">
                              <a:solidFill>
                                <a:schemeClr val="accent3">
                                  <a:lumMod val="75000"/>
                                </a:schemeClr>
                              </a:solidFill>
                              <a:latin typeface="Cambria Math" panose="02040503050406030204" pitchFamily="18" charset="0"/>
                            </a:rPr>
                            <m:t>∗</m:t>
                          </m:r>
                        </m:sup>
                      </m:sSup>
                      <m:r>
                        <a:rPr lang="en-US" sz="2000" b="0" i="1" smtClean="0">
                          <a:solidFill>
                            <a:schemeClr val="accent3">
                              <a:lumMod val="75000"/>
                            </a:schemeClr>
                          </a:solidFill>
                          <a:latin typeface="Cambria Math" panose="02040503050406030204" pitchFamily="18" charset="0"/>
                        </a:rPr>
                        <m:t>=2.5;</m:t>
                      </m:r>
                      <m:sSup>
                        <m:sSupPr>
                          <m:ctrlPr>
                            <a:rPr lang="en-US" sz="2000" b="0" i="1" smtClean="0">
                              <a:solidFill>
                                <a:schemeClr val="accent3">
                                  <a:lumMod val="75000"/>
                                </a:schemeClr>
                              </a:solidFill>
                              <a:latin typeface="Cambria Math" panose="02040503050406030204" pitchFamily="18" charset="0"/>
                            </a:rPr>
                          </m:ctrlPr>
                        </m:sSupPr>
                        <m:e>
                          <m:r>
                            <a:rPr lang="en-US" sz="2000" b="0" i="1" smtClean="0">
                              <a:solidFill>
                                <a:schemeClr val="accent3">
                                  <a:lumMod val="75000"/>
                                </a:schemeClr>
                              </a:solidFill>
                              <a:latin typeface="Cambria Math" panose="02040503050406030204" pitchFamily="18" charset="0"/>
                            </a:rPr>
                            <m:t>𝑃</m:t>
                          </m:r>
                        </m:e>
                        <m:sup>
                          <m:r>
                            <a:rPr lang="en-US" sz="2000" b="0" i="1" smtClean="0">
                              <a:solidFill>
                                <a:schemeClr val="accent3">
                                  <a:lumMod val="75000"/>
                                </a:schemeClr>
                              </a:solidFill>
                              <a:latin typeface="Cambria Math" panose="02040503050406030204" pitchFamily="18" charset="0"/>
                            </a:rPr>
                            <m:t>∗</m:t>
                          </m:r>
                        </m:sup>
                      </m:sSup>
                      <m:r>
                        <a:rPr lang="en-US" sz="2000" b="0" i="1" smtClean="0">
                          <a:solidFill>
                            <a:schemeClr val="accent3">
                              <a:lumMod val="75000"/>
                            </a:schemeClr>
                          </a:solidFill>
                          <a:latin typeface="Cambria Math" panose="02040503050406030204" pitchFamily="18" charset="0"/>
                        </a:rPr>
                        <m:t>=10</m:t>
                      </m:r>
                    </m:oMath>
                  </m:oMathPara>
                </a14:m>
                <a:endParaRPr lang="en-US" sz="2000" b="0" i="0" dirty="0">
                  <a:solidFill>
                    <a:schemeClr val="accent3">
                      <a:lumMod val="75000"/>
                    </a:schemeClr>
                  </a:solidFill>
                  <a:latin typeface="Calibri"/>
                </a:endParaRPr>
              </a:p>
            </p:txBody>
          </p:sp>
        </mc:Choice>
        <mc:Fallback xmlns="">
          <p:sp>
            <p:nvSpPr>
              <p:cNvPr id="24" name="Text Box 11"/>
              <p:cNvSpPr txBox="1">
                <a:spLocks noRot="1" noChangeAspect="1" noMove="1" noResize="1" noEditPoints="1" noAdjustHandles="1" noChangeArrowheads="1" noChangeShapeType="1" noTextEdit="1"/>
              </p:cNvSpPr>
              <p:nvPr/>
            </p:nvSpPr>
            <p:spPr bwMode="auto">
              <a:xfrm>
                <a:off x="1685799" y="1604343"/>
                <a:ext cx="2724706" cy="1329589"/>
              </a:xfrm>
              <a:prstGeom prst="rect">
                <a:avLst/>
              </a:prstGeom>
              <a:blipFill>
                <a:blip r:embed="rId3"/>
                <a:stretch>
                  <a:fillRect b="-1835"/>
                </a:stretch>
              </a:blipFill>
              <a:ln w="9525">
                <a:noFill/>
                <a:miter lim="800000"/>
                <a:headEnd/>
                <a:tailEnd/>
              </a:ln>
              <a:effectLst/>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69F43414-A1D0-41B5-80D9-D96775895BDF}"/>
              </a:ext>
            </a:extLst>
          </p:cNvPr>
          <p:cNvGrpSpPr/>
          <p:nvPr/>
        </p:nvGrpSpPr>
        <p:grpSpPr>
          <a:xfrm>
            <a:off x="960794" y="4065723"/>
            <a:ext cx="2175031" cy="2183144"/>
            <a:chOff x="907735" y="4554911"/>
            <a:chExt cx="2788184" cy="1750866"/>
          </a:xfrm>
        </p:grpSpPr>
        <p:sp>
          <p:nvSpPr>
            <p:cNvPr id="9" name="Rectangle 8"/>
            <p:cNvSpPr/>
            <p:nvPr/>
          </p:nvSpPr>
          <p:spPr>
            <a:xfrm>
              <a:off x="907735" y="4554911"/>
              <a:ext cx="2788184" cy="1750866"/>
            </a:xfrm>
            <a:prstGeom prst="rect">
              <a:avLst/>
            </a:prstGeom>
            <a:gradFill>
              <a:gsLst>
                <a:gs pos="0">
                  <a:schemeClr val="accent3">
                    <a:lumMod val="75000"/>
                  </a:schemeClr>
                </a:gs>
                <a:gs pos="100000">
                  <a:schemeClr val="accent3">
                    <a:lumMod val="40000"/>
                    <a:lumOff val="6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Rectangle 31"/>
            <p:cNvSpPr/>
            <p:nvPr/>
          </p:nvSpPr>
          <p:spPr>
            <a:xfrm>
              <a:off x="1167096" y="4982256"/>
              <a:ext cx="2028595" cy="814555"/>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Calibri"/>
                  <a:cs typeface="Times New Roman" pitchFamily="18" charset="0"/>
                </a:rPr>
                <a:t>Under simple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Pricing: </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Calibri"/>
                  <a:cs typeface="Times New Roman" pitchFamily="18" charset="0"/>
                </a:rPr>
                <a:t>$25</a:t>
              </a: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33" name="Text Box 11"/>
          <p:cNvSpPr txBox="1">
            <a:spLocks noChangeArrowheads="1"/>
          </p:cNvSpPr>
          <p:nvPr/>
        </p:nvSpPr>
        <p:spPr bwMode="auto">
          <a:xfrm>
            <a:off x="5487028" y="5898000"/>
            <a:ext cx="801687" cy="406259"/>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srgbClr val="C00000"/>
                </a:solidFill>
                <a:effectLst/>
                <a:uLnTx/>
                <a:uFillTx/>
                <a:latin typeface="Calibri"/>
                <a:ea typeface="+mn-ea"/>
                <a:cs typeface="Times New Roman" pitchFamily="18" charset="0"/>
              </a:rPr>
              <a:t>D</a:t>
            </a:r>
          </a:p>
        </p:txBody>
      </p:sp>
      <p:sp>
        <p:nvSpPr>
          <p:cNvPr id="3" name="Slide Number Placeholder 2">
            <a:extLst>
              <a:ext uri="{FF2B5EF4-FFF2-40B4-BE49-F238E27FC236}">
                <a16:creationId xmlns:a16="http://schemas.microsoft.com/office/drawing/2014/main" id="{1B6FB30B-5944-E44F-A6CE-5420AE9B4159}"/>
              </a:ext>
            </a:extLst>
          </p:cNvPr>
          <p:cNvSpPr>
            <a:spLocks noGrp="1"/>
          </p:cNvSpPr>
          <p:nvPr>
            <p:ph type="sldNum" sz="quarter" idx="12"/>
          </p:nvPr>
        </p:nvSpPr>
        <p:spPr>
          <a:xfrm>
            <a:off x="8381999" y="6490335"/>
            <a:ext cx="474896"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58</a:t>
            </a:fld>
            <a:endParaRPr kumimoji="0" lang="en-US" sz="1000" b="0" i="0" u="none" strike="noStrike" kern="1200" cap="none" spc="300" normalizeH="0" baseline="0" noProof="0" dirty="0">
              <a:ln>
                <a:noFill/>
              </a:ln>
              <a:solidFill>
                <a:prstClr val="black">
                  <a:lumMod val="65000"/>
                  <a:lumOff val="35000"/>
                </a:prstClr>
              </a:solidFill>
              <a:effectLst/>
              <a:uLnTx/>
              <a:uFillTx/>
              <a:latin typeface="Trebuchet MS"/>
              <a:ea typeface="+mn-ea"/>
              <a:cs typeface="+mn-cs"/>
            </a:endParaRPr>
          </a:p>
        </p:txBody>
      </p:sp>
      <p:sp>
        <p:nvSpPr>
          <p:cNvPr id="29" name="Line 12">
            <a:extLst>
              <a:ext uri="{FF2B5EF4-FFF2-40B4-BE49-F238E27FC236}">
                <a16:creationId xmlns:a16="http://schemas.microsoft.com/office/drawing/2014/main" id="{014B4A97-9BE0-4473-865A-6D9C323216CC}"/>
              </a:ext>
            </a:extLst>
          </p:cNvPr>
          <p:cNvSpPr>
            <a:spLocks noChangeShapeType="1"/>
          </p:cNvSpPr>
          <p:nvPr/>
        </p:nvSpPr>
        <p:spPr bwMode="auto">
          <a:xfrm>
            <a:off x="983281" y="2064616"/>
            <a:ext cx="2363248" cy="4525963"/>
          </a:xfrm>
          <a:prstGeom prst="line">
            <a:avLst/>
          </a:prstGeom>
          <a:noFill/>
          <a:ln w="38100">
            <a:solidFill>
              <a:srgbClr val="C00000"/>
            </a:solidFill>
            <a:prstDash val="sysDash"/>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30" name="Text Box 11">
            <a:extLst>
              <a:ext uri="{FF2B5EF4-FFF2-40B4-BE49-F238E27FC236}">
                <a16:creationId xmlns:a16="http://schemas.microsoft.com/office/drawing/2014/main" id="{2653D4F7-A08C-454A-A379-F70D67899194}"/>
              </a:ext>
            </a:extLst>
          </p:cNvPr>
          <p:cNvSpPr txBox="1">
            <a:spLocks noChangeArrowheads="1"/>
          </p:cNvSpPr>
          <p:nvPr/>
        </p:nvSpPr>
        <p:spPr bwMode="auto">
          <a:xfrm>
            <a:off x="3321530" y="6311718"/>
            <a:ext cx="801687" cy="406259"/>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srgbClr val="C00000"/>
                </a:solidFill>
                <a:effectLst/>
                <a:uLnTx/>
                <a:uFillTx/>
                <a:latin typeface="Calibri"/>
                <a:ea typeface="+mn-ea"/>
                <a:cs typeface="Times New Roman" pitchFamily="18" charset="0"/>
              </a:rPr>
              <a:t>MR</a:t>
            </a:r>
          </a:p>
        </p:txBody>
      </p:sp>
      <p:grpSp>
        <p:nvGrpSpPr>
          <p:cNvPr id="11" name="Group 10">
            <a:extLst>
              <a:ext uri="{FF2B5EF4-FFF2-40B4-BE49-F238E27FC236}">
                <a16:creationId xmlns:a16="http://schemas.microsoft.com/office/drawing/2014/main" id="{3272D398-3121-4283-AA81-F52C81CC3A60}"/>
              </a:ext>
            </a:extLst>
          </p:cNvPr>
          <p:cNvGrpSpPr/>
          <p:nvPr/>
        </p:nvGrpSpPr>
        <p:grpSpPr>
          <a:xfrm>
            <a:off x="361122" y="3846017"/>
            <a:ext cx="4165814" cy="2853496"/>
            <a:chOff x="361122" y="3846017"/>
            <a:chExt cx="4165814" cy="2853496"/>
          </a:xfrm>
        </p:grpSpPr>
        <p:grpSp>
          <p:nvGrpSpPr>
            <p:cNvPr id="7" name="Group 6">
              <a:extLst>
                <a:ext uri="{FF2B5EF4-FFF2-40B4-BE49-F238E27FC236}">
                  <a16:creationId xmlns:a16="http://schemas.microsoft.com/office/drawing/2014/main" id="{289DB82F-3B1C-4E33-A30A-997EFA92CB46}"/>
                </a:ext>
              </a:extLst>
            </p:cNvPr>
            <p:cNvGrpSpPr/>
            <p:nvPr/>
          </p:nvGrpSpPr>
          <p:grpSpPr>
            <a:xfrm>
              <a:off x="2853318" y="4076700"/>
              <a:ext cx="1673618" cy="2622813"/>
              <a:chOff x="4672258" y="4097941"/>
              <a:chExt cx="1673618" cy="2622813"/>
            </a:xfrm>
          </p:grpSpPr>
          <p:sp>
            <p:nvSpPr>
              <p:cNvPr id="57" name="TextBox 56"/>
              <p:cNvSpPr txBox="1"/>
              <p:nvPr/>
            </p:nvSpPr>
            <p:spPr>
              <a:xfrm>
                <a:off x="4672258" y="6351422"/>
                <a:ext cx="167361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accent3">
                        <a:lumMod val="75000"/>
                      </a:schemeClr>
                    </a:solidFill>
                    <a:effectLst/>
                    <a:uLnTx/>
                    <a:uFillTx/>
                    <a:latin typeface="Calibri"/>
                    <a:ea typeface="+mn-ea"/>
                    <a:cs typeface="+mn-cs"/>
                  </a:rPr>
                  <a:t>2.5</a:t>
                </a:r>
              </a:p>
            </p:txBody>
          </p:sp>
          <p:cxnSp>
            <p:nvCxnSpPr>
              <p:cNvPr id="6" name="Straight Connector 5">
                <a:extLst>
                  <a:ext uri="{FF2B5EF4-FFF2-40B4-BE49-F238E27FC236}">
                    <a16:creationId xmlns:a16="http://schemas.microsoft.com/office/drawing/2014/main" id="{4CB679D2-FB63-4604-B2E6-2CAD211AE8AD}"/>
                  </a:ext>
                </a:extLst>
              </p:cNvPr>
              <p:cNvCxnSpPr>
                <a:cxnSpLocks/>
              </p:cNvCxnSpPr>
              <p:nvPr/>
            </p:nvCxnSpPr>
            <p:spPr>
              <a:xfrm>
                <a:off x="5007106" y="4097941"/>
                <a:ext cx="0" cy="2212358"/>
              </a:xfrm>
              <a:prstGeom prst="line">
                <a:avLst/>
              </a:prstGeom>
              <a:ln w="38100">
                <a:solidFill>
                  <a:schemeClr val="accent3">
                    <a:lumMod val="75000"/>
                  </a:schemeClr>
                </a:solidFill>
                <a:prstDash val="sysDash"/>
              </a:ln>
            </p:spPr>
            <p:style>
              <a:lnRef idx="2">
                <a:schemeClr val="accent1"/>
              </a:lnRef>
              <a:fillRef idx="0">
                <a:schemeClr val="accent1"/>
              </a:fillRef>
              <a:effectRef idx="1">
                <a:schemeClr val="accent1"/>
              </a:effectRef>
              <a:fontRef idx="minor">
                <a:schemeClr val="tx1"/>
              </a:fontRef>
            </p:style>
          </p:cxnSp>
        </p:grpSp>
        <p:cxnSp>
          <p:nvCxnSpPr>
            <p:cNvPr id="34" name="Straight Connector 33">
              <a:extLst>
                <a:ext uri="{FF2B5EF4-FFF2-40B4-BE49-F238E27FC236}">
                  <a16:creationId xmlns:a16="http://schemas.microsoft.com/office/drawing/2014/main" id="{E1F4AA7A-0150-4F7C-9FD6-B30DD5333D03}"/>
                </a:ext>
              </a:extLst>
            </p:cNvPr>
            <p:cNvCxnSpPr>
              <a:cxnSpLocks/>
            </p:cNvCxnSpPr>
            <p:nvPr/>
          </p:nvCxnSpPr>
          <p:spPr>
            <a:xfrm flipH="1">
              <a:off x="945571" y="4055144"/>
              <a:ext cx="2242595" cy="0"/>
            </a:xfrm>
            <a:prstGeom prst="line">
              <a:avLst/>
            </a:prstGeom>
            <a:ln w="38100">
              <a:solidFill>
                <a:schemeClr val="accent3">
                  <a:lumMod val="75000"/>
                </a:schemeClr>
              </a:solidFill>
              <a:prstDash val="sysDash"/>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EAC1A905-BF6E-43A6-86E7-434188D5FF25}"/>
                </a:ext>
              </a:extLst>
            </p:cNvPr>
            <p:cNvSpPr txBox="1"/>
            <p:nvPr/>
          </p:nvSpPr>
          <p:spPr>
            <a:xfrm>
              <a:off x="361122" y="3846017"/>
              <a:ext cx="710460"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accent3">
                      <a:lumMod val="75000"/>
                    </a:schemeClr>
                  </a:solidFill>
                  <a:effectLst/>
                  <a:uLnTx/>
                  <a:uFillTx/>
                  <a:latin typeface="Calibri"/>
                  <a:ea typeface="+mn-ea"/>
                  <a:cs typeface="+mn-cs"/>
                </a:rPr>
                <a:t>$10</a:t>
              </a:r>
            </a:p>
          </p:txBody>
        </p:sp>
      </p:grpSp>
      <p:cxnSp>
        <p:nvCxnSpPr>
          <p:cNvPr id="25" name="Straight Arrow Connector 24"/>
          <p:cNvCxnSpPr>
            <a:cxnSpLocks/>
          </p:cNvCxnSpPr>
          <p:nvPr/>
        </p:nvCxnSpPr>
        <p:spPr>
          <a:xfrm flipH="1">
            <a:off x="2264230" y="2192219"/>
            <a:ext cx="3207725" cy="1753991"/>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sp>
        <p:nvSpPr>
          <p:cNvPr id="36" name="Title 1">
            <a:extLst>
              <a:ext uri="{FF2B5EF4-FFF2-40B4-BE49-F238E27FC236}">
                <a16:creationId xmlns:a16="http://schemas.microsoft.com/office/drawing/2014/main" id="{73FCEA20-1AED-46F5-975E-0DB2A4BEF170}"/>
              </a:ext>
            </a:extLst>
          </p:cNvPr>
          <p:cNvSpPr txBox="1">
            <a:spLocks/>
          </p:cNvSpPr>
          <p:nvPr/>
        </p:nvSpPr>
        <p:spPr>
          <a:xfrm>
            <a:off x="5583413" y="4102259"/>
            <a:ext cx="3431588" cy="1080872"/>
          </a:xfrm>
          <a:prstGeom prst="rect">
            <a:avLst/>
          </a:prstGeom>
          <a:ln>
            <a:solidFill>
              <a:schemeClr val="accent1"/>
            </a:solidFill>
          </a:ln>
        </p:spPr>
        <p:txBody>
          <a:bodyPr vert="horz" lIns="91440" tIns="45720" rIns="91440" bIns="45720" rtlCol="0" anchor="ctr">
            <a:normAutofit/>
          </a:bodyPr>
          <a:lst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a:lstStyle>
          <a:p>
            <a:pPr algn="l"/>
            <a:r>
              <a:rPr lang="fr-FR" sz="2000" u="sng" cap="none" dirty="0"/>
              <a:t>Note</a:t>
            </a:r>
            <a:r>
              <a:rPr lang="fr-FR" sz="2000" cap="none" dirty="0"/>
              <a:t>: For </a:t>
            </a:r>
            <a:r>
              <a:rPr lang="fr-FR" sz="2000" cap="none" dirty="0" err="1"/>
              <a:t>Two</a:t>
            </a:r>
            <a:r>
              <a:rPr lang="fr-FR" sz="2000" cap="none" dirty="0"/>
              <a:t>-Part </a:t>
            </a:r>
            <a:r>
              <a:rPr lang="fr-FR" sz="2000" cap="none" dirty="0" err="1"/>
              <a:t>Tariff</a:t>
            </a:r>
            <a:r>
              <a:rPr lang="fr-FR" sz="2000" cap="none" dirty="0"/>
              <a:t>, </a:t>
            </a:r>
            <a:r>
              <a:rPr lang="fr-FR" sz="2000" cap="none" dirty="0" err="1"/>
              <a:t>see</a:t>
            </a:r>
            <a:r>
              <a:rPr lang="fr-FR" sz="2000" cap="none" dirty="0"/>
              <a:t> </a:t>
            </a:r>
            <a:r>
              <a:rPr lang="fr-FR" sz="2000" cap="none" dirty="0" err="1"/>
              <a:t>Problem</a:t>
            </a:r>
            <a:r>
              <a:rPr lang="fr-FR" sz="2000" cap="none" dirty="0"/>
              <a:t> Set 5, </a:t>
            </a:r>
            <a:r>
              <a:rPr lang="fr-FR" sz="2000" cap="none" dirty="0" err="1"/>
              <a:t>Problem</a:t>
            </a:r>
            <a:r>
              <a:rPr lang="fr-FR" sz="2000" cap="none" dirty="0"/>
              <a:t> 2</a:t>
            </a:r>
            <a:endParaRPr lang="en-US" sz="2000" cap="none" dirty="0"/>
          </a:p>
        </p:txBody>
      </p:sp>
    </p:spTree>
    <p:extLst>
      <p:ext uri="{BB962C8B-B14F-4D97-AF65-F5344CB8AC3E}">
        <p14:creationId xmlns:p14="http://schemas.microsoft.com/office/powerpoint/2010/main" val="200436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 name="Title 1">
            <a:extLst>
              <a:ext uri="{FF2B5EF4-FFF2-40B4-BE49-F238E27FC236}">
                <a16:creationId xmlns:a16="http://schemas.microsoft.com/office/drawing/2014/main" id="{E9D1071F-613B-4262-8BC6-A5BF8400C2F8}"/>
              </a:ext>
            </a:extLst>
          </p:cNvPr>
          <p:cNvSpPr>
            <a:spLocks noGrp="1"/>
          </p:cNvSpPr>
          <p:nvPr>
            <p:ph type="title"/>
          </p:nvPr>
        </p:nvSpPr>
        <p:spPr/>
        <p:txBody>
          <a:bodyPr/>
          <a:lstStyle/>
          <a:p>
            <a:r>
              <a:rPr lang="en-US" dirty="0" err="1"/>
              <a:t>CostcO</a:t>
            </a:r>
            <a:r>
              <a:rPr lang="en-US" dirty="0"/>
              <a:t>: Combination of Versioning and Two-Part Pricing</a:t>
            </a:r>
          </a:p>
        </p:txBody>
      </p:sp>
      <p:pic>
        <p:nvPicPr>
          <p:cNvPr id="4" name="Content Placeholder 3">
            <a:extLst>
              <a:ext uri="{FF2B5EF4-FFF2-40B4-BE49-F238E27FC236}">
                <a16:creationId xmlns:a16="http://schemas.microsoft.com/office/drawing/2014/main" id="{84427F15-C013-4FE5-A1DC-9A71B92DC682}"/>
              </a:ext>
            </a:extLst>
          </p:cNvPr>
          <p:cNvPicPr>
            <a:picLocks noGrp="1" noChangeAspect="1"/>
          </p:cNvPicPr>
          <p:nvPr>
            <p:ph idx="1"/>
          </p:nvPr>
        </p:nvPicPr>
        <p:blipFill rotWithShape="1">
          <a:blip r:embed="rId2"/>
          <a:srcRect l="13637" t="14219" r="68855" b="53857"/>
          <a:stretch/>
        </p:blipFill>
        <p:spPr>
          <a:xfrm>
            <a:off x="1828801" y="1270215"/>
            <a:ext cx="5218544" cy="2676176"/>
          </a:xfrm>
          <a:prstGeom prst="rect">
            <a:avLst/>
          </a:prstGeom>
        </p:spPr>
      </p:pic>
      <p:sp>
        <p:nvSpPr>
          <p:cNvPr id="5" name="Content Placeholder 2">
            <a:extLst>
              <a:ext uri="{FF2B5EF4-FFF2-40B4-BE49-F238E27FC236}">
                <a16:creationId xmlns:a16="http://schemas.microsoft.com/office/drawing/2014/main" id="{91500FB3-7614-4FCA-B1B5-BE8C40E0629E}"/>
              </a:ext>
            </a:extLst>
          </p:cNvPr>
          <p:cNvSpPr txBox="1">
            <a:spLocks/>
          </p:cNvSpPr>
          <p:nvPr/>
        </p:nvSpPr>
        <p:spPr>
          <a:xfrm>
            <a:off x="354168" y="4193309"/>
            <a:ext cx="8501270" cy="2174362"/>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Business model</a:t>
            </a:r>
          </a:p>
          <a:p>
            <a:pPr lvl="1"/>
            <a:r>
              <a:rPr lang="en-US" dirty="0"/>
              <a:t>Make money on the memberships</a:t>
            </a:r>
          </a:p>
          <a:p>
            <a:pPr lvl="1"/>
            <a:r>
              <a:rPr lang="en-US" dirty="0"/>
              <a:t>Sell goods at the cheapest price possible</a:t>
            </a:r>
          </a:p>
          <a:p>
            <a:pPr lvl="1"/>
            <a:r>
              <a:rPr lang="en-US" dirty="0">
                <a:hlinkClick r:id="rId3"/>
              </a:rPr>
              <a:t>WSJ video</a:t>
            </a:r>
            <a:r>
              <a:rPr lang="en-US" dirty="0"/>
              <a:t> on the strategic layout of Costco stores</a:t>
            </a:r>
          </a:p>
        </p:txBody>
      </p:sp>
    </p:spTree>
    <p:extLst>
      <p:ext uri="{BB962C8B-B14F-4D97-AF65-F5344CB8AC3E}">
        <p14:creationId xmlns:p14="http://schemas.microsoft.com/office/powerpoint/2010/main" val="16730019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OUTLINE of module 6</a:t>
            </a:r>
            <a:br>
              <a:rPr lang="en-US" dirty="0"/>
            </a:br>
            <a:endParaRPr lang="en-US" dirty="0"/>
          </a:p>
        </p:txBody>
      </p:sp>
      <p:sp>
        <p:nvSpPr>
          <p:cNvPr id="3" name="Content Placeholder 2"/>
          <p:cNvSpPr>
            <a:spLocks noGrp="1"/>
          </p:cNvSpPr>
          <p:nvPr>
            <p:ph idx="1"/>
          </p:nvPr>
        </p:nvSpPr>
        <p:spPr>
          <a:xfrm>
            <a:off x="457200" y="1094874"/>
            <a:ext cx="8229600" cy="5212407"/>
          </a:xfrm>
        </p:spPr>
        <p:txBody>
          <a:bodyPr>
            <a:normAutofit fontScale="92500" lnSpcReduction="10000"/>
          </a:bodyPr>
          <a:lstStyle/>
          <a:p>
            <a:pPr>
              <a:lnSpc>
                <a:spcPct val="120000"/>
              </a:lnSpc>
            </a:pPr>
            <a:r>
              <a:rPr lang="fr-FR" sz="2810" dirty="0">
                <a:solidFill>
                  <a:schemeClr val="bg1">
                    <a:lumMod val="65000"/>
                  </a:schemeClr>
                </a:solidFill>
              </a:rPr>
              <a:t>Simple vs. </a:t>
            </a:r>
            <a:r>
              <a:rPr lang="fr-FR" sz="2810" dirty="0" err="1">
                <a:solidFill>
                  <a:schemeClr val="bg1">
                    <a:lumMod val="65000"/>
                  </a:schemeClr>
                </a:solidFill>
              </a:rPr>
              <a:t>complex</a:t>
            </a:r>
            <a:r>
              <a:rPr lang="fr-FR" sz="2810" dirty="0">
                <a:solidFill>
                  <a:schemeClr val="bg1">
                    <a:lumMod val="65000"/>
                  </a:schemeClr>
                </a:solidFill>
              </a:rPr>
              <a:t> </a:t>
            </a:r>
            <a:r>
              <a:rPr lang="fr-FR" sz="2810" dirty="0" err="1">
                <a:solidFill>
                  <a:schemeClr val="bg1">
                    <a:lumMod val="65000"/>
                  </a:schemeClr>
                </a:solidFill>
              </a:rPr>
              <a:t>pricing</a:t>
            </a:r>
            <a:endParaRPr lang="fr-FR" sz="2810" dirty="0">
              <a:solidFill>
                <a:schemeClr val="bg1">
                  <a:lumMod val="65000"/>
                </a:schemeClr>
              </a:solidFill>
            </a:endParaRPr>
          </a:p>
          <a:p>
            <a:pPr>
              <a:lnSpc>
                <a:spcPct val="120000"/>
              </a:lnSpc>
            </a:pPr>
            <a:r>
              <a:rPr lang="fr-FR" dirty="0">
                <a:solidFill>
                  <a:schemeClr val="bg1">
                    <a:lumMod val="65000"/>
                  </a:schemeClr>
                </a:solidFill>
              </a:rPr>
              <a:t>Direct </a:t>
            </a:r>
            <a:r>
              <a:rPr lang="fr-FR" dirty="0" err="1">
                <a:solidFill>
                  <a:schemeClr val="bg1">
                    <a:lumMod val="65000"/>
                  </a:schemeClr>
                </a:solidFill>
              </a:rPr>
              <a:t>price</a:t>
            </a:r>
            <a:r>
              <a:rPr lang="fr-FR" dirty="0">
                <a:solidFill>
                  <a:schemeClr val="bg1">
                    <a:lumMod val="65000"/>
                  </a:schemeClr>
                </a:solidFill>
              </a:rPr>
              <a:t> discrimination</a:t>
            </a:r>
          </a:p>
          <a:p>
            <a:pPr lvl="1">
              <a:lnSpc>
                <a:spcPct val="120000"/>
              </a:lnSpc>
              <a:spcBef>
                <a:spcPts val="0"/>
              </a:spcBef>
            </a:pPr>
            <a:r>
              <a:rPr lang="fr-FR" dirty="0" err="1">
                <a:solidFill>
                  <a:schemeClr val="bg1">
                    <a:lumMod val="65000"/>
                  </a:schemeClr>
                </a:solidFill>
                <a:latin typeface="Whitney-Book" pitchFamily="50" charset="0"/>
                <a:cs typeface="Whitney-Book" pitchFamily="50" charset="0"/>
              </a:rPr>
              <a:t>Perfect</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price</a:t>
            </a:r>
            <a:r>
              <a:rPr lang="fr-FR" dirty="0">
                <a:solidFill>
                  <a:schemeClr val="bg1">
                    <a:lumMod val="65000"/>
                  </a:schemeClr>
                </a:solidFill>
                <a:latin typeface="Whitney-Book" pitchFamily="50" charset="0"/>
                <a:cs typeface="Whitney-Book" pitchFamily="50" charset="0"/>
              </a:rPr>
              <a:t> discrimination (first </a:t>
            </a:r>
            <a:r>
              <a:rPr lang="fr-FR" dirty="0" err="1">
                <a:solidFill>
                  <a:schemeClr val="bg1">
                    <a:lumMod val="65000"/>
                  </a:schemeClr>
                </a:solidFill>
                <a:latin typeface="Whitney-Book" pitchFamily="50" charset="0"/>
                <a:cs typeface="Whitney-Book" pitchFamily="50" charset="0"/>
              </a:rPr>
              <a:t>degree</a:t>
            </a:r>
            <a:r>
              <a:rPr lang="fr-FR" dirty="0">
                <a:solidFill>
                  <a:schemeClr val="bg1">
                    <a:lumMod val="65000"/>
                  </a:schemeClr>
                </a:solidFill>
                <a:latin typeface="Whitney-Book" pitchFamily="50" charset="0"/>
                <a:cs typeface="Whitney-Book" pitchFamily="50" charset="0"/>
              </a:rPr>
              <a:t>)</a:t>
            </a: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Segment </a:t>
            </a:r>
            <a:r>
              <a:rPr lang="fr-FR" dirty="0" err="1">
                <a:solidFill>
                  <a:schemeClr val="bg1">
                    <a:lumMod val="65000"/>
                  </a:schemeClr>
                </a:solidFill>
                <a:latin typeface="Whitney-Book" pitchFamily="50" charset="0"/>
                <a:cs typeface="Whitney-Book" pitchFamily="50" charset="0"/>
              </a:rPr>
              <a:t>pricing</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third</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degree</a:t>
            </a:r>
            <a:r>
              <a:rPr lang="fr-FR" dirty="0">
                <a:solidFill>
                  <a:schemeClr val="bg1">
                    <a:lumMod val="65000"/>
                  </a:schemeClr>
                </a:solidFill>
                <a:latin typeface="Whitney-Book" pitchFamily="50" charset="0"/>
                <a:cs typeface="Whitney-Book" pitchFamily="50" charset="0"/>
              </a:rPr>
              <a:t>)</a:t>
            </a:r>
          </a:p>
          <a:p>
            <a:pPr>
              <a:lnSpc>
                <a:spcPct val="120000"/>
              </a:lnSpc>
            </a:pPr>
            <a:r>
              <a:rPr lang="fr-FR" dirty="0">
                <a:solidFill>
                  <a:schemeClr val="bg1">
                    <a:lumMod val="65000"/>
                  </a:schemeClr>
                </a:solidFill>
              </a:rPr>
              <a:t>Indirect </a:t>
            </a:r>
            <a:r>
              <a:rPr lang="fr-FR" dirty="0" err="1">
                <a:solidFill>
                  <a:schemeClr val="bg1">
                    <a:lumMod val="65000"/>
                  </a:schemeClr>
                </a:solidFill>
              </a:rPr>
              <a:t>price</a:t>
            </a:r>
            <a:r>
              <a:rPr lang="fr-FR" dirty="0">
                <a:solidFill>
                  <a:schemeClr val="bg1">
                    <a:lumMod val="65000"/>
                  </a:schemeClr>
                </a:solidFill>
              </a:rPr>
              <a:t> discrimination (second </a:t>
            </a:r>
            <a:r>
              <a:rPr lang="fr-FR" dirty="0" err="1">
                <a:solidFill>
                  <a:schemeClr val="bg1">
                    <a:lumMod val="65000"/>
                  </a:schemeClr>
                </a:solidFill>
              </a:rPr>
              <a:t>degree</a:t>
            </a:r>
            <a:r>
              <a:rPr lang="fr-FR" dirty="0">
                <a:solidFill>
                  <a:schemeClr val="bg1">
                    <a:lumMod val="65000"/>
                  </a:schemeClr>
                </a:solidFill>
              </a:rPr>
              <a:t>)</a:t>
            </a:r>
          </a:p>
          <a:p>
            <a:pPr marL="742950" lvl="2" indent="-342900">
              <a:lnSpc>
                <a:spcPct val="120000"/>
              </a:lnSpc>
            </a:pPr>
            <a:r>
              <a:rPr lang="fr-FR" sz="2600" dirty="0">
                <a:solidFill>
                  <a:schemeClr val="bg1">
                    <a:lumMod val="65000"/>
                  </a:schemeClr>
                </a:solidFill>
                <a:latin typeface="Whitney-Book" pitchFamily="50" charset="0"/>
              </a:rPr>
              <a:t>Versioning</a:t>
            </a:r>
          </a:p>
          <a:p>
            <a:pPr lvl="1">
              <a:lnSpc>
                <a:spcPct val="120000"/>
              </a:lnSpc>
              <a:spcBef>
                <a:spcPts val="0"/>
              </a:spcBef>
            </a:pPr>
            <a:r>
              <a:rPr lang="fr-FR" dirty="0">
                <a:solidFill>
                  <a:schemeClr val="bg1">
                    <a:lumMod val="65000"/>
                  </a:schemeClr>
                </a:solidFill>
                <a:latin typeface="Whitney-Book" pitchFamily="50" charset="0"/>
              </a:rPr>
              <a:t>Coupons</a:t>
            </a:r>
          </a:p>
          <a:p>
            <a:pPr>
              <a:lnSpc>
                <a:spcPct val="120000"/>
              </a:lnSpc>
            </a:pPr>
            <a:r>
              <a:rPr lang="fr-FR" b="1" dirty="0"/>
              <a:t>Advanced </a:t>
            </a:r>
            <a:r>
              <a:rPr lang="fr-FR" b="1" dirty="0" err="1"/>
              <a:t>pricing</a:t>
            </a:r>
            <a:r>
              <a:rPr lang="fr-FR" b="1" dirty="0"/>
              <a:t> </a:t>
            </a:r>
            <a:r>
              <a:rPr lang="fr-FR" b="1" dirty="0" err="1"/>
              <a:t>strategies</a:t>
            </a:r>
            <a:endParaRPr lang="fr-FR" b="1" dirty="0"/>
          </a:p>
          <a:p>
            <a:pPr lvl="1">
              <a:lnSpc>
                <a:spcPct val="120000"/>
              </a:lnSpc>
              <a:spcBef>
                <a:spcPts val="0"/>
              </a:spcBef>
            </a:pPr>
            <a:r>
              <a:rPr lang="fr-FR" dirty="0">
                <a:solidFill>
                  <a:schemeClr val="bg1">
                    <a:lumMod val="65000"/>
                  </a:schemeClr>
                </a:solidFill>
                <a:latin typeface="Whitney-Book" pitchFamily="50" charset="0"/>
              </a:rPr>
              <a:t>Flat </a:t>
            </a:r>
            <a:r>
              <a:rPr lang="fr-FR" dirty="0" err="1">
                <a:solidFill>
                  <a:schemeClr val="bg1">
                    <a:lumMod val="65000"/>
                  </a:schemeClr>
                </a:solidFill>
                <a:latin typeface="Whitney-Book" pitchFamily="50" charset="0"/>
              </a:rPr>
              <a:t>fee</a:t>
            </a:r>
            <a:r>
              <a:rPr lang="fr-FR" dirty="0">
                <a:solidFill>
                  <a:schemeClr val="bg1">
                    <a:lumMod val="65000"/>
                  </a:schemeClr>
                </a:solidFill>
                <a:latin typeface="Whitney-Book" pitchFamily="50" charset="0"/>
              </a:rPr>
              <a:t> </a:t>
            </a:r>
            <a:r>
              <a:rPr lang="fr-FR" dirty="0" err="1">
                <a:solidFill>
                  <a:schemeClr val="bg1">
                    <a:lumMod val="65000"/>
                  </a:schemeClr>
                </a:solidFill>
                <a:latin typeface="Whitney-Book" pitchFamily="50" charset="0"/>
              </a:rPr>
              <a:t>pricing</a:t>
            </a:r>
            <a:endParaRPr lang="fr-FR" dirty="0">
              <a:solidFill>
                <a:schemeClr val="bg1">
                  <a:lumMod val="65000"/>
                </a:schemeClr>
              </a:solidFill>
              <a:latin typeface="Whitney-Book" pitchFamily="50" charset="0"/>
            </a:endParaRPr>
          </a:p>
          <a:p>
            <a:pPr lvl="1">
              <a:lnSpc>
                <a:spcPct val="120000"/>
              </a:lnSpc>
              <a:spcBef>
                <a:spcPts val="0"/>
              </a:spcBef>
            </a:pPr>
            <a:r>
              <a:rPr lang="fr-FR" dirty="0" err="1">
                <a:solidFill>
                  <a:schemeClr val="bg1">
                    <a:lumMod val="65000"/>
                  </a:schemeClr>
                </a:solidFill>
                <a:latin typeface="Whitney-Book" pitchFamily="50" charset="0"/>
              </a:rPr>
              <a:t>Two</a:t>
            </a:r>
            <a:r>
              <a:rPr lang="fr-FR" dirty="0">
                <a:solidFill>
                  <a:schemeClr val="bg1">
                    <a:lumMod val="65000"/>
                  </a:schemeClr>
                </a:solidFill>
                <a:latin typeface="Whitney-Book" pitchFamily="50" charset="0"/>
              </a:rPr>
              <a:t>-part </a:t>
            </a:r>
            <a:r>
              <a:rPr lang="fr-FR" dirty="0" err="1">
                <a:solidFill>
                  <a:schemeClr val="bg1">
                    <a:lumMod val="65000"/>
                  </a:schemeClr>
                </a:solidFill>
                <a:latin typeface="Whitney-Book" pitchFamily="50" charset="0"/>
              </a:rPr>
              <a:t>tariff</a:t>
            </a:r>
            <a:endParaRPr lang="fr-FR" dirty="0">
              <a:solidFill>
                <a:schemeClr val="bg1">
                  <a:lumMod val="65000"/>
                </a:schemeClr>
              </a:solidFill>
              <a:latin typeface="Whitney-Book" pitchFamily="50" charset="0"/>
            </a:endParaRPr>
          </a:p>
          <a:p>
            <a:pPr lvl="1">
              <a:lnSpc>
                <a:spcPct val="120000"/>
              </a:lnSpc>
              <a:spcBef>
                <a:spcPts val="0"/>
              </a:spcBef>
            </a:pPr>
            <a:r>
              <a:rPr lang="fr-FR" b="1" dirty="0">
                <a:solidFill>
                  <a:srgbClr val="002060"/>
                </a:solidFill>
                <a:latin typeface="Whitney-Book" pitchFamily="50" charset="0"/>
              </a:rPr>
              <a:t>Block </a:t>
            </a:r>
            <a:r>
              <a:rPr lang="fr-FR" b="1" dirty="0" err="1">
                <a:solidFill>
                  <a:srgbClr val="002060"/>
                </a:solidFill>
                <a:latin typeface="Whitney-Book" pitchFamily="50" charset="0"/>
              </a:rPr>
              <a:t>pricing</a:t>
            </a:r>
            <a:endParaRPr lang="fr-FR" b="1" dirty="0">
              <a:solidFill>
                <a:srgbClr val="002060"/>
              </a:solidFill>
              <a:latin typeface="Whitney-Book" pitchFamily="50" charset="0"/>
            </a:endParaRPr>
          </a:p>
          <a:p>
            <a:pPr marL="457200" lvl="1" indent="0">
              <a:buNone/>
            </a:pPr>
            <a:endParaRPr lang="fr-FR" dirty="0"/>
          </a:p>
          <a:p>
            <a:pPr lvl="1"/>
            <a:endParaRPr lang="en-US" dirty="0"/>
          </a:p>
          <a:p>
            <a:endParaRPr lang="en-US" dirty="0"/>
          </a:p>
        </p:txBody>
      </p:sp>
    </p:spTree>
    <p:extLst>
      <p:ext uri="{BB962C8B-B14F-4D97-AF65-F5344CB8AC3E}">
        <p14:creationId xmlns:p14="http://schemas.microsoft.com/office/powerpoint/2010/main" val="10136722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019B4-8F99-41F5-A65F-5BC41610269C}"/>
              </a:ext>
            </a:extLst>
          </p:cNvPr>
          <p:cNvSpPr>
            <a:spLocks noGrp="1"/>
          </p:cNvSpPr>
          <p:nvPr>
            <p:ph type="title"/>
          </p:nvPr>
        </p:nvSpPr>
        <p:spPr/>
        <p:txBody>
          <a:bodyPr/>
          <a:lstStyle/>
          <a:p>
            <a:r>
              <a:rPr lang="fr-FR" dirty="0"/>
              <a:t>Block Pricing</a:t>
            </a:r>
            <a:endParaRPr lang="en-US" dirty="0"/>
          </a:p>
        </p:txBody>
      </p:sp>
      <p:sp>
        <p:nvSpPr>
          <p:cNvPr id="3" name="Content Placeholder 2">
            <a:extLst>
              <a:ext uri="{FF2B5EF4-FFF2-40B4-BE49-F238E27FC236}">
                <a16:creationId xmlns:a16="http://schemas.microsoft.com/office/drawing/2014/main" id="{D8C7CC97-897F-4381-AAC8-132F0C317D09}"/>
              </a:ext>
            </a:extLst>
          </p:cNvPr>
          <p:cNvSpPr>
            <a:spLocks noGrp="1"/>
          </p:cNvSpPr>
          <p:nvPr>
            <p:ph idx="1"/>
          </p:nvPr>
        </p:nvSpPr>
        <p:spPr>
          <a:xfrm>
            <a:off x="333683" y="1719943"/>
            <a:ext cx="8229600" cy="4466155"/>
          </a:xfrm>
        </p:spPr>
        <p:txBody>
          <a:bodyPr>
            <a:normAutofit/>
          </a:bodyPr>
          <a:lstStyle/>
          <a:p>
            <a:r>
              <a:rPr lang="en-US" sz="2400" dirty="0"/>
              <a:t>Block pricing is the practice of reducing the price of a good when the </a:t>
            </a:r>
            <a:r>
              <a:rPr lang="en-US" sz="2400" u="sng" dirty="0">
                <a:solidFill>
                  <a:srgbClr val="C00000"/>
                </a:solidFill>
              </a:rPr>
              <a:t>same</a:t>
            </a:r>
            <a:r>
              <a:rPr lang="en-US" sz="2400" dirty="0">
                <a:solidFill>
                  <a:srgbClr val="C00000"/>
                </a:solidFill>
              </a:rPr>
              <a:t> customer </a:t>
            </a:r>
            <a:r>
              <a:rPr lang="en-US" sz="2400" dirty="0"/>
              <a:t>buys more of it</a:t>
            </a:r>
          </a:p>
          <a:p>
            <a:endParaRPr lang="en-US" sz="2400" dirty="0"/>
          </a:p>
          <a:p>
            <a:pPr marL="0" indent="0">
              <a:buNone/>
            </a:pPr>
            <a:endParaRPr lang="en-US" dirty="0"/>
          </a:p>
        </p:txBody>
      </p:sp>
    </p:spTree>
    <p:extLst>
      <p:ext uri="{BB962C8B-B14F-4D97-AF65-F5344CB8AC3E}">
        <p14:creationId xmlns:p14="http://schemas.microsoft.com/office/powerpoint/2010/main" val="42487332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Whitney-Medium" pitchFamily="50" charset="0"/>
                <a:cs typeface="Whitney-Medium" pitchFamily="50" charset="0"/>
              </a:rPr>
              <a:t>Block pricing: Photo cards at </a:t>
            </a:r>
            <a:r>
              <a:rPr lang="en-US" sz="3200" dirty="0" err="1">
                <a:latin typeface="Whitney-Medium" pitchFamily="50" charset="0"/>
                <a:cs typeface="Whitney-Medium" pitchFamily="50" charset="0"/>
              </a:rPr>
              <a:t>walmart</a:t>
            </a:r>
            <a:endParaRPr lang="en-US" dirty="0"/>
          </a:p>
        </p:txBody>
      </p:sp>
      <p:sp>
        <p:nvSpPr>
          <p:cNvPr id="38" name="Line 3"/>
          <p:cNvSpPr>
            <a:spLocks noChangeShapeType="1"/>
          </p:cNvSpPr>
          <p:nvPr/>
        </p:nvSpPr>
        <p:spPr bwMode="auto">
          <a:xfrm>
            <a:off x="923610" y="1163003"/>
            <a:ext cx="0" cy="5156200"/>
          </a:xfrm>
          <a:prstGeom prst="line">
            <a:avLst/>
          </a:prstGeom>
          <a:noFill/>
          <a:ln w="38100">
            <a:solidFill>
              <a:schemeClr val="tx1"/>
            </a:solidFill>
            <a:round/>
            <a:headEnd type="triangle"/>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39" name="Line 4"/>
          <p:cNvSpPr>
            <a:spLocks noChangeShapeType="1"/>
          </p:cNvSpPr>
          <p:nvPr/>
        </p:nvSpPr>
        <p:spPr bwMode="auto">
          <a:xfrm>
            <a:off x="923610" y="6319203"/>
            <a:ext cx="5757862" cy="0"/>
          </a:xfrm>
          <a:prstGeom prst="line">
            <a:avLst/>
          </a:prstGeom>
          <a:noFill/>
          <a:ln w="38100">
            <a:solidFill>
              <a:schemeClr val="tx1"/>
            </a:solidFill>
            <a:round/>
            <a:headEnd/>
            <a:tailEnd type="triangle"/>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40" name="Text Box 5"/>
          <p:cNvSpPr txBox="1">
            <a:spLocks noChangeArrowheads="1"/>
          </p:cNvSpPr>
          <p:nvPr/>
        </p:nvSpPr>
        <p:spPr bwMode="auto">
          <a:xfrm>
            <a:off x="-31438" y="990440"/>
            <a:ext cx="1030069" cy="929479"/>
          </a:xfrm>
          <a:prstGeom prst="rect">
            <a:avLst/>
          </a:prstGeom>
          <a:noFill/>
          <a:ln w="9525">
            <a:noFill/>
            <a:miter lim="800000"/>
            <a:headEnd/>
            <a:tailEnd/>
          </a:ln>
          <a:effectLst/>
        </p:spPr>
        <p:txBody>
          <a:bodyPr wrap="square"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a:ea typeface="+mn-ea"/>
                <a:cs typeface="Times New Roman" pitchFamily="18" charset="0"/>
              </a:rPr>
              <a:t>Price ($/photo card) </a:t>
            </a:r>
            <a:endParaRPr kumimoji="0" lang="en-US" sz="1800" b="0" i="1" u="sng"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41" name="Text Box 6"/>
          <p:cNvSpPr txBox="1">
            <a:spLocks noChangeArrowheads="1"/>
          </p:cNvSpPr>
          <p:nvPr/>
        </p:nvSpPr>
        <p:spPr bwMode="auto">
          <a:xfrm>
            <a:off x="6411066" y="6363653"/>
            <a:ext cx="1869739" cy="406259"/>
          </a:xfrm>
          <a:prstGeom prst="rect">
            <a:avLst/>
          </a:prstGeom>
          <a:noFill/>
          <a:ln w="9525">
            <a:noFill/>
            <a:miter lim="800000"/>
            <a:headEnd/>
            <a:tailEnd/>
          </a:ln>
          <a:effectLst/>
        </p:spPr>
        <p:txBody>
          <a:bodyPr wrap="square"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Calibri"/>
                <a:ea typeface="+mn-ea"/>
                <a:cs typeface="Times New Roman" pitchFamily="18" charset="0"/>
              </a:rPr>
              <a:t>Q (photo cards)</a:t>
            </a:r>
          </a:p>
        </p:txBody>
      </p:sp>
      <p:sp>
        <p:nvSpPr>
          <p:cNvPr id="45" name="Text Box 11"/>
          <p:cNvSpPr txBox="1">
            <a:spLocks noChangeArrowheads="1"/>
          </p:cNvSpPr>
          <p:nvPr/>
        </p:nvSpPr>
        <p:spPr bwMode="auto">
          <a:xfrm>
            <a:off x="4676481" y="4944330"/>
            <a:ext cx="801687" cy="375481"/>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i="1" u="none" strike="noStrike" kern="1200" cap="none" spc="0" normalizeH="0" baseline="0" noProof="0" dirty="0">
                <a:ln>
                  <a:noFill/>
                </a:ln>
                <a:solidFill>
                  <a:schemeClr val="accent6">
                    <a:lumMod val="50000"/>
                  </a:schemeClr>
                </a:solidFill>
                <a:effectLst/>
                <a:uLnTx/>
                <a:uFillTx/>
                <a:latin typeface="Calibri"/>
                <a:ea typeface="+mn-ea"/>
                <a:cs typeface="Times New Roman" pitchFamily="18" charset="0"/>
              </a:rPr>
              <a:t>MC</a:t>
            </a:r>
          </a:p>
        </p:txBody>
      </p:sp>
      <p:sp>
        <p:nvSpPr>
          <p:cNvPr id="46" name="Line 12"/>
          <p:cNvSpPr>
            <a:spLocks noChangeShapeType="1"/>
          </p:cNvSpPr>
          <p:nvPr/>
        </p:nvSpPr>
        <p:spPr bwMode="auto">
          <a:xfrm>
            <a:off x="953772" y="2007553"/>
            <a:ext cx="4286830" cy="3956117"/>
          </a:xfrm>
          <a:prstGeom prst="line">
            <a:avLst/>
          </a:prstGeom>
          <a:noFill/>
          <a:ln w="38100">
            <a:solidFill>
              <a:srgbClr val="C00000"/>
            </a:solidFill>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56" name="TextBox 55"/>
          <p:cNvSpPr txBox="1"/>
          <p:nvPr/>
        </p:nvSpPr>
        <p:spPr>
          <a:xfrm>
            <a:off x="200600" y="3388414"/>
            <a:ext cx="70400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$0.25</a:t>
            </a:r>
          </a:p>
        </p:txBody>
      </p:sp>
      <p:sp>
        <p:nvSpPr>
          <p:cNvPr id="23" name="Content Placeholder 1"/>
          <p:cNvSpPr txBox="1">
            <a:spLocks/>
          </p:cNvSpPr>
          <p:nvPr/>
        </p:nvSpPr>
        <p:spPr>
          <a:xfrm>
            <a:off x="5334628" y="1419985"/>
            <a:ext cx="3823772"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666453" marR="0" lvl="1"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endParaRPr kumimoji="0" lang="en-US" sz="2425" b="0" i="0" u="none" strike="noStrike" kern="1100" cap="none" spc="50" normalizeH="0" baseline="0" noProof="0" dirty="0">
              <a:ln>
                <a:noFill/>
              </a:ln>
              <a:solidFill>
                <a:srgbClr val="1F497D">
                  <a:lumMod val="75000"/>
                </a:srgbClr>
              </a:solidFill>
              <a:effectLst/>
              <a:uLnTx/>
              <a:uFillTx/>
              <a:latin typeface="Whitney-Book"/>
              <a:ea typeface="+mn-ea"/>
              <a:cs typeface="+mn-cs"/>
            </a:endParaRPr>
          </a:p>
        </p:txBody>
      </p:sp>
      <p:sp>
        <p:nvSpPr>
          <p:cNvPr id="28" name="Line 9"/>
          <p:cNvSpPr>
            <a:spLocks noChangeShapeType="1"/>
          </p:cNvSpPr>
          <p:nvPr/>
        </p:nvSpPr>
        <p:spPr bwMode="auto">
          <a:xfrm>
            <a:off x="931312" y="5325980"/>
            <a:ext cx="4316988" cy="0"/>
          </a:xfrm>
          <a:prstGeom prst="line">
            <a:avLst/>
          </a:prstGeom>
          <a:noFill/>
          <a:ln w="57150">
            <a:solidFill>
              <a:schemeClr val="accent2">
                <a:lumMod val="60000"/>
                <a:lumOff val="40000"/>
              </a:schemeClr>
            </a:solidFill>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20" name="TextBox 19"/>
          <p:cNvSpPr txBox="1"/>
          <p:nvPr/>
        </p:nvSpPr>
        <p:spPr>
          <a:xfrm>
            <a:off x="238851" y="5052447"/>
            <a:ext cx="74741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$0.05</a:t>
            </a:r>
          </a:p>
        </p:txBody>
      </p:sp>
      <p:sp>
        <p:nvSpPr>
          <p:cNvPr id="33" name="Text Box 11"/>
          <p:cNvSpPr txBox="1">
            <a:spLocks noChangeArrowheads="1"/>
          </p:cNvSpPr>
          <p:nvPr/>
        </p:nvSpPr>
        <p:spPr bwMode="auto">
          <a:xfrm>
            <a:off x="5225499" y="5772330"/>
            <a:ext cx="801687" cy="375481"/>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b="0" i="1" u="none" strike="noStrike" kern="1200" cap="none" spc="0" normalizeH="0" baseline="0" noProof="0" dirty="0">
                <a:ln>
                  <a:noFill/>
                </a:ln>
                <a:solidFill>
                  <a:srgbClr val="C00000"/>
                </a:solidFill>
                <a:effectLst/>
                <a:uLnTx/>
                <a:uFillTx/>
                <a:latin typeface="Calibri"/>
                <a:ea typeface="+mn-ea"/>
                <a:cs typeface="Times New Roman" pitchFamily="18" charset="0"/>
              </a:rPr>
              <a:t>D</a:t>
            </a:r>
          </a:p>
        </p:txBody>
      </p:sp>
      <p:sp>
        <p:nvSpPr>
          <p:cNvPr id="3" name="Slide Number Placeholder 2">
            <a:extLst>
              <a:ext uri="{FF2B5EF4-FFF2-40B4-BE49-F238E27FC236}">
                <a16:creationId xmlns:a16="http://schemas.microsoft.com/office/drawing/2014/main" id="{1B6FB30B-5944-E44F-A6CE-5420AE9B4159}"/>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62</a:t>
            </a:fld>
            <a:endParaRPr kumimoji="0" lang="en-US" sz="1000" b="0" i="0" u="none" strike="noStrike" kern="1200" cap="none" spc="300" normalizeH="0" baseline="0" noProof="0" dirty="0">
              <a:ln>
                <a:noFill/>
              </a:ln>
              <a:solidFill>
                <a:prstClr val="black">
                  <a:lumMod val="65000"/>
                  <a:lumOff val="35000"/>
                </a:prstClr>
              </a:solidFill>
              <a:effectLst/>
              <a:uLnTx/>
              <a:uFillTx/>
              <a:latin typeface="Trebuchet MS"/>
              <a:ea typeface="+mn-ea"/>
              <a:cs typeface="+mn-cs"/>
            </a:endParaRPr>
          </a:p>
        </p:txBody>
      </p:sp>
      <p:cxnSp>
        <p:nvCxnSpPr>
          <p:cNvPr id="7" name="Straight Connector 6">
            <a:extLst>
              <a:ext uri="{FF2B5EF4-FFF2-40B4-BE49-F238E27FC236}">
                <a16:creationId xmlns:a16="http://schemas.microsoft.com/office/drawing/2014/main" id="{FCA90C9D-C308-4C15-9A9F-CE65720705EE}"/>
              </a:ext>
            </a:extLst>
          </p:cNvPr>
          <p:cNvCxnSpPr>
            <a:cxnSpLocks/>
          </p:cNvCxnSpPr>
          <p:nvPr/>
        </p:nvCxnSpPr>
        <p:spPr>
          <a:xfrm flipV="1">
            <a:off x="2654652" y="3545305"/>
            <a:ext cx="0" cy="1748719"/>
          </a:xfrm>
          <a:prstGeom prst="line">
            <a:avLst/>
          </a:prstGeom>
          <a:ln/>
        </p:spPr>
        <p:style>
          <a:lnRef idx="3">
            <a:schemeClr val="dk1"/>
          </a:lnRef>
          <a:fillRef idx="0">
            <a:schemeClr val="dk1"/>
          </a:fillRef>
          <a:effectRef idx="2">
            <a:schemeClr val="dk1"/>
          </a:effectRef>
          <a:fontRef idx="minor">
            <a:schemeClr val="tx1"/>
          </a:fontRef>
        </p:style>
      </p:cxnSp>
      <p:cxnSp>
        <p:nvCxnSpPr>
          <p:cNvPr id="10" name="Straight Connector 9">
            <a:extLst>
              <a:ext uri="{FF2B5EF4-FFF2-40B4-BE49-F238E27FC236}">
                <a16:creationId xmlns:a16="http://schemas.microsoft.com/office/drawing/2014/main" id="{B90DE855-7A7B-45A5-AA0C-DEC628A0A86C}"/>
              </a:ext>
            </a:extLst>
          </p:cNvPr>
          <p:cNvCxnSpPr>
            <a:cxnSpLocks/>
          </p:cNvCxnSpPr>
          <p:nvPr/>
        </p:nvCxnSpPr>
        <p:spPr>
          <a:xfrm>
            <a:off x="923610" y="3550190"/>
            <a:ext cx="1731042" cy="0"/>
          </a:xfrm>
          <a:prstGeom prst="line">
            <a:avLst/>
          </a:prstGeom>
          <a:ln/>
        </p:spPr>
        <p:style>
          <a:lnRef idx="3">
            <a:schemeClr val="dk1"/>
          </a:lnRef>
          <a:fillRef idx="0">
            <a:schemeClr val="dk1"/>
          </a:fillRef>
          <a:effectRef idx="2">
            <a:schemeClr val="dk1"/>
          </a:effectRef>
          <a:fontRef idx="minor">
            <a:schemeClr val="tx1"/>
          </a:fontRef>
        </p:style>
      </p:cxnSp>
      <p:sp>
        <p:nvSpPr>
          <p:cNvPr id="36" name="TextBox 35">
            <a:extLst>
              <a:ext uri="{FF2B5EF4-FFF2-40B4-BE49-F238E27FC236}">
                <a16:creationId xmlns:a16="http://schemas.microsoft.com/office/drawing/2014/main" id="{B6A0DBB4-762A-4A56-A2CF-AB003CA811D4}"/>
              </a:ext>
            </a:extLst>
          </p:cNvPr>
          <p:cNvSpPr txBox="1"/>
          <p:nvPr/>
        </p:nvSpPr>
        <p:spPr>
          <a:xfrm>
            <a:off x="213958" y="3762472"/>
            <a:ext cx="70400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$0.20</a:t>
            </a:r>
          </a:p>
        </p:txBody>
      </p:sp>
      <p:sp>
        <p:nvSpPr>
          <p:cNvPr id="37" name="TextBox 36">
            <a:extLst>
              <a:ext uri="{FF2B5EF4-FFF2-40B4-BE49-F238E27FC236}">
                <a16:creationId xmlns:a16="http://schemas.microsoft.com/office/drawing/2014/main" id="{645312AF-E7CA-4117-A22F-21D4F6AD70B3}"/>
              </a:ext>
            </a:extLst>
          </p:cNvPr>
          <p:cNvSpPr txBox="1"/>
          <p:nvPr/>
        </p:nvSpPr>
        <p:spPr>
          <a:xfrm>
            <a:off x="229313" y="4713781"/>
            <a:ext cx="70400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$0.10</a:t>
            </a:r>
          </a:p>
        </p:txBody>
      </p:sp>
      <p:sp>
        <p:nvSpPr>
          <p:cNvPr id="15" name="Rectangle 14">
            <a:extLst>
              <a:ext uri="{FF2B5EF4-FFF2-40B4-BE49-F238E27FC236}">
                <a16:creationId xmlns:a16="http://schemas.microsoft.com/office/drawing/2014/main" id="{5E92E22D-04A1-426F-A7F3-59C15F3DBCBE}"/>
              </a:ext>
            </a:extLst>
          </p:cNvPr>
          <p:cNvSpPr/>
          <p:nvPr/>
        </p:nvSpPr>
        <p:spPr>
          <a:xfrm>
            <a:off x="949323" y="3553157"/>
            <a:ext cx="1685478" cy="1743834"/>
          </a:xfrm>
          <a:prstGeom prst="rect">
            <a:avLst/>
          </a:prstGeom>
          <a:solidFill>
            <a:schemeClr val="accent3">
              <a:alpha val="42000"/>
            </a:schemeClr>
          </a:solidFill>
          <a:ln>
            <a:solidFill>
              <a:schemeClr val="accent1">
                <a:shade val="95000"/>
                <a:satMod val="105000"/>
                <a:alpha val="5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1" name="Straight Connector 20">
            <a:extLst>
              <a:ext uri="{FF2B5EF4-FFF2-40B4-BE49-F238E27FC236}">
                <a16:creationId xmlns:a16="http://schemas.microsoft.com/office/drawing/2014/main" id="{C673EA9B-9B36-4DC4-B7F5-6465293B298B}"/>
              </a:ext>
            </a:extLst>
          </p:cNvPr>
          <p:cNvCxnSpPr>
            <a:cxnSpLocks/>
            <a:stCxn id="36" idx="3"/>
          </p:cNvCxnSpPr>
          <p:nvPr/>
        </p:nvCxnSpPr>
        <p:spPr>
          <a:xfrm>
            <a:off x="917963" y="3947138"/>
            <a:ext cx="1706528" cy="2328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4" name="Straight Connector 33">
            <a:extLst>
              <a:ext uri="{FF2B5EF4-FFF2-40B4-BE49-F238E27FC236}">
                <a16:creationId xmlns:a16="http://schemas.microsoft.com/office/drawing/2014/main" id="{18D2EEF9-198C-4A93-A4C1-413EB488B66C}"/>
              </a:ext>
            </a:extLst>
          </p:cNvPr>
          <p:cNvCxnSpPr/>
          <p:nvPr/>
        </p:nvCxnSpPr>
        <p:spPr>
          <a:xfrm>
            <a:off x="2654652" y="3970421"/>
            <a:ext cx="46553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C6B4E6E5-321D-4CC0-91D2-9C229549FDF2}"/>
              </a:ext>
            </a:extLst>
          </p:cNvPr>
          <p:cNvCxnSpPr>
            <a:cxnSpLocks/>
          </p:cNvCxnSpPr>
          <p:nvPr/>
        </p:nvCxnSpPr>
        <p:spPr>
          <a:xfrm>
            <a:off x="3105208" y="3963313"/>
            <a:ext cx="0" cy="1362667"/>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B21B3DA5-E094-4F5F-9FB1-3C35951AEE2E}"/>
              </a:ext>
            </a:extLst>
          </p:cNvPr>
          <p:cNvCxnSpPr>
            <a:cxnSpLocks/>
          </p:cNvCxnSpPr>
          <p:nvPr/>
        </p:nvCxnSpPr>
        <p:spPr>
          <a:xfrm flipV="1">
            <a:off x="931312" y="4934598"/>
            <a:ext cx="2211337" cy="598"/>
          </a:xfrm>
          <a:prstGeom prst="line">
            <a:avLst/>
          </a:prstGeom>
          <a:ln w="1905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7B849621-D5E4-4C3D-BA45-4C1872087A4E}"/>
              </a:ext>
            </a:extLst>
          </p:cNvPr>
          <p:cNvCxnSpPr>
            <a:cxnSpLocks/>
          </p:cNvCxnSpPr>
          <p:nvPr/>
        </p:nvCxnSpPr>
        <p:spPr>
          <a:xfrm>
            <a:off x="3105208" y="4934506"/>
            <a:ext cx="1001571" cy="69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C5A9074B-DE45-42C2-951B-C3D577DB5E95}"/>
              </a:ext>
            </a:extLst>
          </p:cNvPr>
          <p:cNvCxnSpPr>
            <a:cxnSpLocks/>
          </p:cNvCxnSpPr>
          <p:nvPr/>
        </p:nvCxnSpPr>
        <p:spPr>
          <a:xfrm>
            <a:off x="4098757" y="4905581"/>
            <a:ext cx="0" cy="388443"/>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D0130EBA-0EBD-450A-9780-B4949999157F}"/>
              </a:ext>
            </a:extLst>
          </p:cNvPr>
          <p:cNvCxnSpPr/>
          <p:nvPr/>
        </p:nvCxnSpPr>
        <p:spPr>
          <a:xfrm>
            <a:off x="2654652" y="5365043"/>
            <a:ext cx="0" cy="1016277"/>
          </a:xfrm>
          <a:prstGeom prst="line">
            <a:avLst/>
          </a:prstGeom>
          <a:ln w="1905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8D8012BF-ECD3-4BBD-A2CE-2F0CDD2F8699}"/>
              </a:ext>
            </a:extLst>
          </p:cNvPr>
          <p:cNvCxnSpPr/>
          <p:nvPr/>
        </p:nvCxnSpPr>
        <p:spPr>
          <a:xfrm>
            <a:off x="3120189" y="5359421"/>
            <a:ext cx="0" cy="1016277"/>
          </a:xfrm>
          <a:prstGeom prst="line">
            <a:avLst/>
          </a:prstGeom>
          <a:ln w="19050">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2D50636F-C3A6-45AF-BAE8-85A9E4074F1E}"/>
              </a:ext>
            </a:extLst>
          </p:cNvPr>
          <p:cNvSpPr/>
          <p:nvPr/>
        </p:nvSpPr>
        <p:spPr>
          <a:xfrm>
            <a:off x="2675446" y="3999411"/>
            <a:ext cx="407152" cy="1300840"/>
          </a:xfrm>
          <a:prstGeom prst="rect">
            <a:avLst/>
          </a:prstGeom>
          <a:solidFill>
            <a:schemeClr val="accent3">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F68E86D3-1CD3-408E-BD86-5682745CABED}"/>
              </a:ext>
            </a:extLst>
          </p:cNvPr>
          <p:cNvSpPr/>
          <p:nvPr/>
        </p:nvSpPr>
        <p:spPr>
          <a:xfrm>
            <a:off x="2740600" y="4379010"/>
            <a:ext cx="328936" cy="400110"/>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Times New Roman" pitchFamily="18" charset="0"/>
              </a:rPr>
              <a:t>B</a:t>
            </a:r>
          </a:p>
        </p:txBody>
      </p:sp>
      <p:sp>
        <p:nvSpPr>
          <p:cNvPr id="75" name="Rectangle 74">
            <a:extLst>
              <a:ext uri="{FF2B5EF4-FFF2-40B4-BE49-F238E27FC236}">
                <a16:creationId xmlns:a16="http://schemas.microsoft.com/office/drawing/2014/main" id="{8C2FC802-1C59-4A36-B820-B0656704E565}"/>
              </a:ext>
            </a:extLst>
          </p:cNvPr>
          <p:cNvSpPr/>
          <p:nvPr/>
        </p:nvSpPr>
        <p:spPr>
          <a:xfrm>
            <a:off x="1431588" y="4190498"/>
            <a:ext cx="340158" cy="400110"/>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Times New Roman" pitchFamily="18" charset="0"/>
              </a:rPr>
              <a:t>A</a:t>
            </a:r>
          </a:p>
        </p:txBody>
      </p:sp>
      <p:sp>
        <p:nvSpPr>
          <p:cNvPr id="76" name="Rectangle 75">
            <a:extLst>
              <a:ext uri="{FF2B5EF4-FFF2-40B4-BE49-F238E27FC236}">
                <a16:creationId xmlns:a16="http://schemas.microsoft.com/office/drawing/2014/main" id="{8F83A56B-BDF6-4C9A-96F3-D63F767174DF}"/>
              </a:ext>
            </a:extLst>
          </p:cNvPr>
          <p:cNvSpPr/>
          <p:nvPr/>
        </p:nvSpPr>
        <p:spPr>
          <a:xfrm>
            <a:off x="3121835" y="4946874"/>
            <a:ext cx="938147" cy="350117"/>
          </a:xfrm>
          <a:prstGeom prst="rect">
            <a:avLst/>
          </a:prstGeom>
          <a:solidFill>
            <a:schemeClr val="accent3">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0B08CB8B-BAFF-498D-92C8-123CFCD02716}"/>
              </a:ext>
            </a:extLst>
          </p:cNvPr>
          <p:cNvSpPr/>
          <p:nvPr/>
        </p:nvSpPr>
        <p:spPr>
          <a:xfrm>
            <a:off x="3390200" y="4943769"/>
            <a:ext cx="320922" cy="400110"/>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Times New Roman" pitchFamily="18" charset="0"/>
              </a:rPr>
              <a:t>C</a:t>
            </a:r>
          </a:p>
        </p:txBody>
      </p:sp>
      <p:sp>
        <p:nvSpPr>
          <p:cNvPr id="82" name="TextBox 81">
            <a:extLst>
              <a:ext uri="{FF2B5EF4-FFF2-40B4-BE49-F238E27FC236}">
                <a16:creationId xmlns:a16="http://schemas.microsoft.com/office/drawing/2014/main" id="{5CF6E0E5-D764-4A5F-8FC3-E0424800FEEA}"/>
              </a:ext>
            </a:extLst>
          </p:cNvPr>
          <p:cNvSpPr txBox="1"/>
          <p:nvPr/>
        </p:nvSpPr>
        <p:spPr>
          <a:xfrm>
            <a:off x="2381701" y="6360617"/>
            <a:ext cx="74741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100</a:t>
            </a:r>
          </a:p>
        </p:txBody>
      </p:sp>
      <p:cxnSp>
        <p:nvCxnSpPr>
          <p:cNvPr id="83" name="Straight Connector 82">
            <a:extLst>
              <a:ext uri="{FF2B5EF4-FFF2-40B4-BE49-F238E27FC236}">
                <a16:creationId xmlns:a16="http://schemas.microsoft.com/office/drawing/2014/main" id="{D18297F5-D94F-4B44-86CA-B6598C52659A}"/>
              </a:ext>
            </a:extLst>
          </p:cNvPr>
          <p:cNvCxnSpPr>
            <a:cxnSpLocks/>
          </p:cNvCxnSpPr>
          <p:nvPr/>
        </p:nvCxnSpPr>
        <p:spPr>
          <a:xfrm flipH="1">
            <a:off x="4098758" y="5318934"/>
            <a:ext cx="8021" cy="1025719"/>
          </a:xfrm>
          <a:prstGeom prst="line">
            <a:avLst/>
          </a:prstGeom>
          <a:ln w="19050">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85" name="TextBox 84">
            <a:extLst>
              <a:ext uri="{FF2B5EF4-FFF2-40B4-BE49-F238E27FC236}">
                <a16:creationId xmlns:a16="http://schemas.microsoft.com/office/drawing/2014/main" id="{C3DE71B5-A600-4B66-B71F-0F1A2CD4E139}"/>
              </a:ext>
            </a:extLst>
          </p:cNvPr>
          <p:cNvSpPr txBox="1"/>
          <p:nvPr/>
        </p:nvSpPr>
        <p:spPr>
          <a:xfrm>
            <a:off x="2941061" y="6328595"/>
            <a:ext cx="74741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125</a:t>
            </a:r>
          </a:p>
        </p:txBody>
      </p:sp>
      <p:sp>
        <p:nvSpPr>
          <p:cNvPr id="86" name="TextBox 85">
            <a:extLst>
              <a:ext uri="{FF2B5EF4-FFF2-40B4-BE49-F238E27FC236}">
                <a16:creationId xmlns:a16="http://schemas.microsoft.com/office/drawing/2014/main" id="{80708D52-1E82-447E-BF83-08F95F5A142A}"/>
              </a:ext>
            </a:extLst>
          </p:cNvPr>
          <p:cNvSpPr txBox="1"/>
          <p:nvPr/>
        </p:nvSpPr>
        <p:spPr>
          <a:xfrm>
            <a:off x="3824582" y="6344653"/>
            <a:ext cx="74741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175</a:t>
            </a:r>
          </a:p>
        </p:txBody>
      </p:sp>
      <p:sp>
        <p:nvSpPr>
          <p:cNvPr id="88" name="Content Placeholder 2">
            <a:extLst>
              <a:ext uri="{FF2B5EF4-FFF2-40B4-BE49-F238E27FC236}">
                <a16:creationId xmlns:a16="http://schemas.microsoft.com/office/drawing/2014/main" id="{11BBEC44-E7FD-48EA-8F5D-58428B13EB1E}"/>
              </a:ext>
            </a:extLst>
          </p:cNvPr>
          <p:cNvSpPr>
            <a:spLocks noGrp="1"/>
          </p:cNvSpPr>
          <p:nvPr>
            <p:ph idx="1"/>
          </p:nvPr>
        </p:nvSpPr>
        <p:spPr>
          <a:xfrm>
            <a:off x="5392426" y="1320740"/>
            <a:ext cx="3590592" cy="5161119"/>
          </a:xfrm>
        </p:spPr>
        <p:txBody>
          <a:bodyPr>
            <a:normAutofit/>
          </a:bodyPr>
          <a:lstStyle/>
          <a:p>
            <a:r>
              <a:rPr lang="en-US" sz="1700" dirty="0"/>
              <a:t>Marginal cost of printing photo cards: </a:t>
            </a:r>
            <a:r>
              <a:rPr lang="en-US" sz="1700" i="1" dirty="0"/>
              <a:t>MC </a:t>
            </a:r>
            <a:r>
              <a:rPr lang="en-US" sz="1700" dirty="0"/>
              <a:t>=$0.05</a:t>
            </a:r>
          </a:p>
          <a:p>
            <a:r>
              <a:rPr lang="en-US" sz="1700" dirty="0"/>
              <a:t>Assume zero fixed costs</a:t>
            </a:r>
          </a:p>
          <a:p>
            <a:r>
              <a:rPr lang="en-US" sz="1700" dirty="0"/>
              <a:t>The first option is 100 cards at $0.25</a:t>
            </a:r>
          </a:p>
          <a:p>
            <a:pPr lvl="1"/>
            <a:r>
              <a:rPr lang="en-US" sz="1500" dirty="0"/>
              <a:t>Profits are A (since </a:t>
            </a:r>
            <a:r>
              <a:rPr lang="en-US" sz="1500" i="1" dirty="0"/>
              <a:t>TFC </a:t>
            </a:r>
            <a:r>
              <a:rPr lang="en-US" sz="1500" dirty="0"/>
              <a:t>=0)</a:t>
            </a:r>
          </a:p>
          <a:p>
            <a:r>
              <a:rPr lang="en-US" sz="1700" dirty="0"/>
              <a:t>Sell </a:t>
            </a:r>
            <a:r>
              <a:rPr lang="en-US" sz="1700" i="1" dirty="0"/>
              <a:t>additional</a:t>
            </a:r>
            <a:r>
              <a:rPr lang="en-US" sz="1700" dirty="0"/>
              <a:t> 25 cards at $0.20</a:t>
            </a:r>
            <a:r>
              <a:rPr lang="en-US" sz="1400" dirty="0"/>
              <a:t> ($5 extra for 25 cards)</a:t>
            </a:r>
            <a:endParaRPr lang="en-US" sz="1700" dirty="0"/>
          </a:p>
          <a:p>
            <a:pPr lvl="1"/>
            <a:r>
              <a:rPr lang="en-US" sz="1500" dirty="0"/>
              <a:t>Additional profits B</a:t>
            </a:r>
          </a:p>
          <a:p>
            <a:r>
              <a:rPr lang="en-US" sz="1700" dirty="0"/>
              <a:t>Sell yet additional 50 cards at $0.10 </a:t>
            </a:r>
            <a:r>
              <a:rPr lang="en-US" sz="1400" dirty="0"/>
              <a:t>($5 extra for 50 cards)</a:t>
            </a:r>
            <a:endParaRPr lang="en-US" sz="1700" dirty="0"/>
          </a:p>
          <a:p>
            <a:pPr lvl="1"/>
            <a:r>
              <a:rPr lang="en-US" sz="1500" dirty="0"/>
              <a:t>Additional profits C</a:t>
            </a:r>
          </a:p>
          <a:p>
            <a:pPr marL="0" indent="0">
              <a:buNone/>
            </a:pPr>
            <a:endParaRPr lang="en-US" sz="2400" dirty="0"/>
          </a:p>
          <a:p>
            <a:endParaRPr lang="en-US" dirty="0"/>
          </a:p>
        </p:txBody>
      </p:sp>
      <p:sp>
        <p:nvSpPr>
          <p:cNvPr id="44" name="Content Placeholder 1">
            <a:extLst>
              <a:ext uri="{FF2B5EF4-FFF2-40B4-BE49-F238E27FC236}">
                <a16:creationId xmlns:a16="http://schemas.microsoft.com/office/drawing/2014/main" id="{89622697-4636-4849-B30F-5F3B873420BA}"/>
              </a:ext>
            </a:extLst>
          </p:cNvPr>
          <p:cNvSpPr txBox="1">
            <a:spLocks/>
          </p:cNvSpPr>
          <p:nvPr/>
        </p:nvSpPr>
        <p:spPr>
          <a:xfrm>
            <a:off x="1412127" y="1474332"/>
            <a:ext cx="4131846" cy="1025719"/>
          </a:xfrm>
          <a:prstGeom prst="rect">
            <a:avLst/>
          </a:prstGeom>
        </p:spPr>
        <p:txBody>
          <a:bodyPr vert="horz" lIns="91440" tIns="45720" rIns="91440" bIns="45720" rtlCol="0">
            <a:normAutofit fontScale="85000" lnSpcReduction="20000"/>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300"/>
              </a:spcAft>
              <a:buNone/>
              <a:defRPr/>
            </a:pPr>
            <a:r>
              <a:rPr kumimoji="0" lang="en-US" sz="2000" b="0" i="0" u="none" strike="noStrike" kern="1100" cap="none" spc="50" normalizeH="0" baseline="0" noProof="0" dirty="0">
                <a:ln>
                  <a:noFill/>
                </a:ln>
                <a:solidFill>
                  <a:srgbClr val="1F497D">
                    <a:lumMod val="75000"/>
                  </a:srgbClr>
                </a:solidFill>
                <a:effectLst/>
                <a:uLnTx/>
                <a:uFillTx/>
                <a:latin typeface="Whitney-Book"/>
                <a:ea typeface="+mn-ea"/>
                <a:cs typeface="+mn-cs"/>
              </a:rPr>
              <a:t>Three</a:t>
            </a:r>
            <a:r>
              <a:rPr kumimoji="0" lang="en-US" sz="2000" b="0" i="0" u="none" strike="noStrike" kern="1100" cap="none" spc="50" normalizeH="0" noProof="0" dirty="0">
                <a:ln>
                  <a:noFill/>
                </a:ln>
                <a:solidFill>
                  <a:srgbClr val="1F497D">
                    <a:lumMod val="75000"/>
                  </a:srgbClr>
                </a:solidFill>
                <a:effectLst/>
                <a:uLnTx/>
                <a:uFillTx/>
                <a:latin typeface="Whitney-Book"/>
                <a:ea typeface="+mn-ea"/>
                <a:cs typeface="+mn-cs"/>
              </a:rPr>
              <a:t> purchase options:</a:t>
            </a:r>
          </a:p>
          <a:p>
            <a:pPr>
              <a:spcBef>
                <a:spcPts val="0"/>
              </a:spcBef>
              <a:defRPr/>
            </a:pPr>
            <a:r>
              <a:rPr lang="en-US" sz="2000" baseline="0" dirty="0">
                <a:solidFill>
                  <a:srgbClr val="1F497D">
                    <a:lumMod val="75000"/>
                  </a:srgbClr>
                </a:solidFill>
              </a:rPr>
              <a:t>100 cards at $25</a:t>
            </a:r>
          </a:p>
          <a:p>
            <a:pPr>
              <a:spcBef>
                <a:spcPts val="0"/>
              </a:spcBef>
              <a:defRPr/>
            </a:pPr>
            <a:r>
              <a:rPr kumimoji="0" lang="en-US" sz="2000" b="0" i="0" u="none" strike="noStrike" kern="1100" cap="none" spc="50" normalizeH="0" noProof="0" dirty="0">
                <a:ln>
                  <a:noFill/>
                </a:ln>
                <a:solidFill>
                  <a:srgbClr val="1F497D">
                    <a:lumMod val="75000"/>
                  </a:srgbClr>
                </a:solidFill>
                <a:effectLst/>
                <a:uLnTx/>
                <a:uFillTx/>
                <a:latin typeface="Whitney-Book"/>
                <a:ea typeface="+mn-ea"/>
                <a:cs typeface="+mn-cs"/>
              </a:rPr>
              <a:t>125 cards at $30</a:t>
            </a:r>
          </a:p>
          <a:p>
            <a:pPr>
              <a:spcBef>
                <a:spcPts val="0"/>
              </a:spcBef>
              <a:defRPr/>
            </a:pPr>
            <a:r>
              <a:rPr lang="en-US" sz="2000" baseline="0" dirty="0">
                <a:solidFill>
                  <a:srgbClr val="1F497D">
                    <a:lumMod val="75000"/>
                  </a:srgbClr>
                </a:solidFill>
              </a:rPr>
              <a:t>175 cards at $35</a:t>
            </a:r>
            <a:endParaRPr kumimoji="0" lang="en-US" sz="2000" b="0" i="0" u="none" strike="noStrike" kern="1100" cap="none" spc="50" normalizeH="0" baseline="0" noProof="0" dirty="0">
              <a:ln>
                <a:noFill/>
              </a:ln>
              <a:solidFill>
                <a:srgbClr val="1F497D">
                  <a:lumMod val="75000"/>
                </a:srgbClr>
              </a:solidFill>
              <a:effectLst/>
              <a:uLnTx/>
              <a:uFillTx/>
              <a:latin typeface="Whitney-Book"/>
              <a:ea typeface="+mn-ea"/>
              <a:cs typeface="+mn-cs"/>
            </a:endParaRPr>
          </a:p>
          <a:p>
            <a:pPr marL="666453" marR="0" lvl="1"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endParaRPr kumimoji="0" lang="en-US" sz="2000" b="0" i="0" u="none" strike="noStrike" kern="1100" cap="none" spc="50" normalizeH="0" baseline="0" noProof="0" dirty="0">
              <a:ln>
                <a:noFill/>
              </a:ln>
              <a:solidFill>
                <a:srgbClr val="1F497D">
                  <a:lumMod val="75000"/>
                </a:srgbClr>
              </a:solidFill>
              <a:effectLst/>
              <a:uLnTx/>
              <a:uFillTx/>
              <a:latin typeface="Whitney-Book"/>
              <a:ea typeface="+mn-ea"/>
              <a:cs typeface="+mn-cs"/>
            </a:endParaRPr>
          </a:p>
        </p:txBody>
      </p:sp>
    </p:spTree>
    <p:extLst>
      <p:ext uri="{BB962C8B-B14F-4D97-AF65-F5344CB8AC3E}">
        <p14:creationId xmlns:p14="http://schemas.microsoft.com/office/powerpoint/2010/main" val="57703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4">
                                            <p:txEl>
                                              <p:pRg st="0" end="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4">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4">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4">
                                            <p:txEl>
                                              <p:pRg st="3" end="3"/>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8">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88">
                                            <p:txEl>
                                              <p:pRg st="3" end="3"/>
                                            </p:tx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88">
                                            <p:txEl>
                                              <p:pRg st="4" end="4"/>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21"/>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42"/>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34"/>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6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85"/>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88">
                                            <p:txEl>
                                              <p:pRg st="5" end="5"/>
                                            </p:txEl>
                                          </p:spTgt>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67"/>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68"/>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88">
                                            <p:txEl>
                                              <p:pRg st="6" end="6"/>
                                            </p:txEl>
                                          </p:spTgt>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76"/>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88">
                                            <p:txEl>
                                              <p:pRg st="7" end="7"/>
                                            </p:txEl>
                                          </p:spTgt>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81"/>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37"/>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83"/>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58"/>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86"/>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47"/>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p:bldP spid="41" grpId="0"/>
      <p:bldP spid="45" grpId="0"/>
      <p:bldP spid="46" grpId="0" animBg="1"/>
      <p:bldP spid="56" grpId="0"/>
      <p:bldP spid="28" grpId="0" animBg="1"/>
      <p:bldP spid="20" grpId="0"/>
      <p:bldP spid="33" grpId="0"/>
      <p:bldP spid="36" grpId="0"/>
      <p:bldP spid="37" grpId="0"/>
      <p:bldP spid="15" grpId="0" animBg="1"/>
      <p:bldP spid="67" grpId="0" animBg="1"/>
      <p:bldP spid="68" grpId="0"/>
      <p:bldP spid="75" grpId="0"/>
      <p:bldP spid="76" grpId="0" animBg="1"/>
      <p:bldP spid="81" grpId="0"/>
      <p:bldP spid="82" grpId="0"/>
      <p:bldP spid="85" grpId="0"/>
      <p:bldP spid="86" grpId="0"/>
    </p:bld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Whitney-Medium" pitchFamily="50" charset="0"/>
                <a:cs typeface="Whitney-Medium" pitchFamily="50" charset="0"/>
              </a:rPr>
              <a:t>Block pricing: Ice Cream</a:t>
            </a:r>
            <a:endParaRPr lang="en-US" dirty="0"/>
          </a:p>
        </p:txBody>
      </p:sp>
      <p:sp>
        <p:nvSpPr>
          <p:cNvPr id="38" name="Line 3"/>
          <p:cNvSpPr>
            <a:spLocks noChangeShapeType="1"/>
          </p:cNvSpPr>
          <p:nvPr/>
        </p:nvSpPr>
        <p:spPr bwMode="auto">
          <a:xfrm>
            <a:off x="923610" y="1163003"/>
            <a:ext cx="0" cy="5156200"/>
          </a:xfrm>
          <a:prstGeom prst="line">
            <a:avLst/>
          </a:prstGeom>
          <a:noFill/>
          <a:ln w="38100">
            <a:solidFill>
              <a:schemeClr val="tx1"/>
            </a:solidFill>
            <a:round/>
            <a:headEnd type="triangle"/>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39" name="Line 4"/>
          <p:cNvSpPr>
            <a:spLocks noChangeShapeType="1"/>
          </p:cNvSpPr>
          <p:nvPr/>
        </p:nvSpPr>
        <p:spPr bwMode="auto">
          <a:xfrm>
            <a:off x="923610" y="6319203"/>
            <a:ext cx="5757862" cy="0"/>
          </a:xfrm>
          <a:prstGeom prst="line">
            <a:avLst/>
          </a:prstGeom>
          <a:noFill/>
          <a:ln w="38100">
            <a:solidFill>
              <a:schemeClr val="tx1"/>
            </a:solidFill>
            <a:round/>
            <a:headEnd/>
            <a:tailEnd type="triangle"/>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40" name="Text Box 5"/>
          <p:cNvSpPr txBox="1">
            <a:spLocks noChangeArrowheads="1"/>
          </p:cNvSpPr>
          <p:nvPr/>
        </p:nvSpPr>
        <p:spPr bwMode="auto">
          <a:xfrm>
            <a:off x="0" y="1015810"/>
            <a:ext cx="1129260" cy="652480"/>
          </a:xfrm>
          <a:prstGeom prst="rect">
            <a:avLst/>
          </a:prstGeom>
          <a:noFill/>
          <a:ln w="9525">
            <a:noFill/>
            <a:miter lim="800000"/>
            <a:headEnd/>
            <a:tailEnd/>
          </a:ln>
          <a:effectLst/>
        </p:spPr>
        <p:txBody>
          <a:bodyPr wrap="square"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a:ea typeface="+mn-ea"/>
                <a:cs typeface="Times New Roman" pitchFamily="18" charset="0"/>
              </a:rPr>
              <a:t>Price </a:t>
            </a:r>
            <a:r>
              <a:rPr kumimoji="0" lang="en-US" sz="1600" b="0" i="1" u="none" strike="noStrike" kern="1200" cap="none" spc="0" normalizeH="0" baseline="0" noProof="0" dirty="0">
                <a:ln>
                  <a:noFill/>
                </a:ln>
                <a:solidFill>
                  <a:prstClr val="black"/>
                </a:solidFill>
                <a:effectLst/>
                <a:uLnTx/>
                <a:uFillTx/>
                <a:latin typeface="Calibri"/>
                <a:ea typeface="+mn-ea"/>
                <a:cs typeface="Times New Roman" pitchFamily="18" charset="0"/>
              </a:rPr>
              <a:t>($/</a:t>
            </a:r>
            <a:r>
              <a:rPr lang="en-US" sz="1600" i="1" dirty="0">
                <a:solidFill>
                  <a:prstClr val="black"/>
                </a:solidFill>
                <a:latin typeface="Calibri"/>
                <a:cs typeface="Times New Roman" pitchFamily="18" charset="0"/>
              </a:rPr>
              <a:t>scoop</a:t>
            </a:r>
            <a:r>
              <a:rPr kumimoji="0" lang="en-US" sz="1600" b="0" i="1" u="none" strike="noStrike" kern="1200" cap="none" spc="0" normalizeH="0" baseline="0" noProof="0" dirty="0">
                <a:ln>
                  <a:noFill/>
                </a:ln>
                <a:solidFill>
                  <a:prstClr val="black"/>
                </a:solidFill>
                <a:effectLst/>
                <a:uLnTx/>
                <a:uFillTx/>
                <a:latin typeface="Calibri"/>
                <a:ea typeface="+mn-ea"/>
                <a:cs typeface="Times New Roman" pitchFamily="18" charset="0"/>
              </a:rPr>
              <a:t>)</a:t>
            </a:r>
            <a:r>
              <a:rPr kumimoji="0" lang="en-US" sz="1800" b="0" i="1" u="none" strike="noStrike" kern="1200" cap="none" spc="0" normalizeH="0" baseline="0" noProof="0" dirty="0">
                <a:ln>
                  <a:noFill/>
                </a:ln>
                <a:solidFill>
                  <a:prstClr val="black"/>
                </a:solidFill>
                <a:effectLst/>
                <a:uLnTx/>
                <a:uFillTx/>
                <a:latin typeface="Calibri"/>
                <a:ea typeface="+mn-ea"/>
                <a:cs typeface="Times New Roman" pitchFamily="18" charset="0"/>
              </a:rPr>
              <a:t> </a:t>
            </a:r>
            <a:endParaRPr kumimoji="0" lang="en-US" sz="1800" b="0" i="1" u="sng"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41" name="Text Box 6"/>
          <p:cNvSpPr txBox="1">
            <a:spLocks noChangeArrowheads="1"/>
          </p:cNvSpPr>
          <p:nvPr/>
        </p:nvSpPr>
        <p:spPr bwMode="auto">
          <a:xfrm>
            <a:off x="6411066" y="6363653"/>
            <a:ext cx="1869739" cy="406259"/>
          </a:xfrm>
          <a:prstGeom prst="rect">
            <a:avLst/>
          </a:prstGeom>
          <a:noFill/>
          <a:ln w="9525">
            <a:noFill/>
            <a:miter lim="800000"/>
            <a:headEnd/>
            <a:tailEnd/>
          </a:ln>
          <a:effectLst/>
        </p:spPr>
        <p:txBody>
          <a:bodyPr wrap="square"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Calibri"/>
                <a:ea typeface="+mn-ea"/>
                <a:cs typeface="Times New Roman" pitchFamily="18" charset="0"/>
              </a:rPr>
              <a:t>Q </a:t>
            </a:r>
            <a:r>
              <a:rPr kumimoji="0" lang="en-US" sz="1200" b="0" i="1" u="none" strike="noStrike" kern="1200" cap="none" spc="0" normalizeH="0" baseline="0" noProof="0" dirty="0">
                <a:ln>
                  <a:noFill/>
                </a:ln>
                <a:solidFill>
                  <a:prstClr val="black"/>
                </a:solidFill>
                <a:effectLst/>
                <a:uLnTx/>
                <a:uFillTx/>
                <a:latin typeface="Calibri"/>
                <a:ea typeface="+mn-ea"/>
                <a:cs typeface="Times New Roman" pitchFamily="18" charset="0"/>
              </a:rPr>
              <a:t>(scoops</a:t>
            </a:r>
            <a:r>
              <a:rPr kumimoji="0" lang="en-US" sz="1200" b="0" i="1" u="none" strike="noStrike" kern="1200" cap="none" spc="0" normalizeH="0" noProof="0" dirty="0">
                <a:ln>
                  <a:noFill/>
                </a:ln>
                <a:solidFill>
                  <a:prstClr val="black"/>
                </a:solidFill>
                <a:effectLst/>
                <a:uLnTx/>
                <a:uFillTx/>
                <a:latin typeface="Calibri"/>
                <a:ea typeface="+mn-ea"/>
                <a:cs typeface="Times New Roman" pitchFamily="18" charset="0"/>
              </a:rPr>
              <a:t> per customer</a:t>
            </a:r>
            <a:r>
              <a:rPr kumimoji="0" lang="en-US" sz="1200" b="0" i="1" u="none" strike="noStrike" kern="1200" cap="none" spc="0" normalizeH="0" baseline="0" noProof="0" dirty="0">
                <a:ln>
                  <a:noFill/>
                </a:ln>
                <a:solidFill>
                  <a:prstClr val="black"/>
                </a:solidFill>
                <a:effectLst/>
                <a:uLnTx/>
                <a:uFillTx/>
                <a:latin typeface="Calibri"/>
                <a:ea typeface="+mn-ea"/>
                <a:cs typeface="Times New Roman" pitchFamily="18" charset="0"/>
              </a:rPr>
              <a:t>)</a:t>
            </a:r>
            <a:endParaRPr kumimoji="0" lang="en-US" sz="2000" b="0" i="1"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23" name="Content Placeholder 1"/>
          <p:cNvSpPr txBox="1">
            <a:spLocks/>
          </p:cNvSpPr>
          <p:nvPr/>
        </p:nvSpPr>
        <p:spPr>
          <a:xfrm>
            <a:off x="5334628" y="1419985"/>
            <a:ext cx="3823772"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666453" marR="0" lvl="1"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endParaRPr kumimoji="0" lang="en-US" sz="2425" b="0" i="0" u="none" strike="noStrike" kern="1100" cap="none" spc="50" normalizeH="0" baseline="0" noProof="0" dirty="0">
              <a:ln>
                <a:noFill/>
              </a:ln>
              <a:solidFill>
                <a:srgbClr val="1F497D">
                  <a:lumMod val="75000"/>
                </a:srgbClr>
              </a:solidFill>
              <a:effectLst/>
              <a:uLnTx/>
              <a:uFillTx/>
              <a:latin typeface="Whitney-Book"/>
              <a:ea typeface="+mn-ea"/>
              <a:cs typeface="+mn-cs"/>
            </a:endParaRPr>
          </a:p>
        </p:txBody>
      </p:sp>
      <p:grpSp>
        <p:nvGrpSpPr>
          <p:cNvPr id="17" name="Group 16">
            <a:extLst>
              <a:ext uri="{FF2B5EF4-FFF2-40B4-BE49-F238E27FC236}">
                <a16:creationId xmlns:a16="http://schemas.microsoft.com/office/drawing/2014/main" id="{66F5A197-6AD9-4932-9549-D416B84297B5}"/>
              </a:ext>
            </a:extLst>
          </p:cNvPr>
          <p:cNvGrpSpPr/>
          <p:nvPr/>
        </p:nvGrpSpPr>
        <p:grpSpPr>
          <a:xfrm>
            <a:off x="238851" y="4944330"/>
            <a:ext cx="5239317" cy="551504"/>
            <a:chOff x="238851" y="4944330"/>
            <a:chExt cx="5239317" cy="551504"/>
          </a:xfrm>
        </p:grpSpPr>
        <p:grpSp>
          <p:nvGrpSpPr>
            <p:cNvPr id="16" name="Group 15">
              <a:extLst>
                <a:ext uri="{FF2B5EF4-FFF2-40B4-BE49-F238E27FC236}">
                  <a16:creationId xmlns:a16="http://schemas.microsoft.com/office/drawing/2014/main" id="{1654183A-3390-46EF-B7DA-3AFFD51EE59D}"/>
                </a:ext>
              </a:extLst>
            </p:cNvPr>
            <p:cNvGrpSpPr/>
            <p:nvPr/>
          </p:nvGrpSpPr>
          <p:grpSpPr>
            <a:xfrm>
              <a:off x="931312" y="4944330"/>
              <a:ext cx="4546856" cy="381650"/>
              <a:chOff x="931312" y="4944330"/>
              <a:chExt cx="4546856" cy="381650"/>
            </a:xfrm>
          </p:grpSpPr>
          <p:sp>
            <p:nvSpPr>
              <p:cNvPr id="45" name="Text Box 11"/>
              <p:cNvSpPr txBox="1">
                <a:spLocks noChangeArrowheads="1"/>
              </p:cNvSpPr>
              <p:nvPr/>
            </p:nvSpPr>
            <p:spPr bwMode="auto">
              <a:xfrm>
                <a:off x="4676481" y="4944330"/>
                <a:ext cx="801687" cy="375481"/>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i="1" u="none" strike="noStrike" kern="1200" cap="none" spc="0" normalizeH="0" baseline="0" noProof="0" dirty="0">
                    <a:ln>
                      <a:noFill/>
                    </a:ln>
                    <a:solidFill>
                      <a:schemeClr val="accent6">
                        <a:lumMod val="50000"/>
                      </a:schemeClr>
                    </a:solidFill>
                    <a:effectLst/>
                    <a:uLnTx/>
                    <a:uFillTx/>
                    <a:latin typeface="Calibri"/>
                    <a:ea typeface="+mn-ea"/>
                    <a:cs typeface="Times New Roman" pitchFamily="18" charset="0"/>
                  </a:rPr>
                  <a:t>MC</a:t>
                </a:r>
              </a:p>
            </p:txBody>
          </p:sp>
          <p:sp>
            <p:nvSpPr>
              <p:cNvPr id="28" name="Line 9"/>
              <p:cNvSpPr>
                <a:spLocks noChangeShapeType="1"/>
              </p:cNvSpPr>
              <p:nvPr/>
            </p:nvSpPr>
            <p:spPr bwMode="auto">
              <a:xfrm>
                <a:off x="931312" y="5325980"/>
                <a:ext cx="4316988" cy="0"/>
              </a:xfrm>
              <a:prstGeom prst="line">
                <a:avLst/>
              </a:prstGeom>
              <a:noFill/>
              <a:ln w="57150">
                <a:solidFill>
                  <a:schemeClr val="accent2">
                    <a:lumMod val="60000"/>
                    <a:lumOff val="40000"/>
                  </a:schemeClr>
                </a:solidFill>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grpSp>
        <p:sp>
          <p:nvSpPr>
            <p:cNvPr id="20" name="TextBox 19"/>
            <p:cNvSpPr txBox="1"/>
            <p:nvPr/>
          </p:nvSpPr>
          <p:spPr>
            <a:xfrm>
              <a:off x="238851" y="5126502"/>
              <a:ext cx="74741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$1.00</a:t>
              </a:r>
            </a:p>
          </p:txBody>
        </p:sp>
      </p:grpSp>
      <p:grpSp>
        <p:nvGrpSpPr>
          <p:cNvPr id="14" name="Group 13">
            <a:extLst>
              <a:ext uri="{FF2B5EF4-FFF2-40B4-BE49-F238E27FC236}">
                <a16:creationId xmlns:a16="http://schemas.microsoft.com/office/drawing/2014/main" id="{2EC0C82E-FE9D-4F7F-8373-3C99D3B72346}"/>
              </a:ext>
            </a:extLst>
          </p:cNvPr>
          <p:cNvGrpSpPr/>
          <p:nvPr/>
        </p:nvGrpSpPr>
        <p:grpSpPr>
          <a:xfrm>
            <a:off x="953772" y="2007553"/>
            <a:ext cx="5073414" cy="4140258"/>
            <a:chOff x="953772" y="2007553"/>
            <a:chExt cx="5073414" cy="4140258"/>
          </a:xfrm>
        </p:grpSpPr>
        <p:sp>
          <p:nvSpPr>
            <p:cNvPr id="46" name="Line 12"/>
            <p:cNvSpPr>
              <a:spLocks noChangeShapeType="1"/>
            </p:cNvSpPr>
            <p:nvPr/>
          </p:nvSpPr>
          <p:spPr bwMode="auto">
            <a:xfrm>
              <a:off x="953772" y="2007553"/>
              <a:ext cx="4286830" cy="3956117"/>
            </a:xfrm>
            <a:prstGeom prst="line">
              <a:avLst/>
            </a:prstGeom>
            <a:noFill/>
            <a:ln w="38100">
              <a:solidFill>
                <a:srgbClr val="C00000"/>
              </a:solidFill>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33" name="Text Box 11"/>
            <p:cNvSpPr txBox="1">
              <a:spLocks noChangeArrowheads="1"/>
            </p:cNvSpPr>
            <p:nvPr/>
          </p:nvSpPr>
          <p:spPr bwMode="auto">
            <a:xfrm>
              <a:off x="5225499" y="5772330"/>
              <a:ext cx="801687" cy="375481"/>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b="0" i="1" u="none" strike="noStrike" kern="1200" cap="none" spc="0" normalizeH="0" baseline="0" noProof="0" dirty="0">
                  <a:ln>
                    <a:noFill/>
                  </a:ln>
                  <a:solidFill>
                    <a:srgbClr val="C00000"/>
                  </a:solidFill>
                  <a:effectLst/>
                  <a:uLnTx/>
                  <a:uFillTx/>
                  <a:latin typeface="Calibri"/>
                  <a:ea typeface="+mn-ea"/>
                  <a:cs typeface="Times New Roman" pitchFamily="18" charset="0"/>
                </a:rPr>
                <a:t>D</a:t>
              </a:r>
            </a:p>
          </p:txBody>
        </p:sp>
      </p:grpSp>
      <p:sp>
        <p:nvSpPr>
          <p:cNvPr id="3" name="Slide Number Placeholder 2">
            <a:extLst>
              <a:ext uri="{FF2B5EF4-FFF2-40B4-BE49-F238E27FC236}">
                <a16:creationId xmlns:a16="http://schemas.microsoft.com/office/drawing/2014/main" id="{1B6FB30B-5944-E44F-A6CE-5420AE9B4159}"/>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63</a:t>
            </a:fld>
            <a:endParaRPr kumimoji="0" lang="en-US" sz="1000" b="0" i="0" u="none" strike="noStrike" kern="1200" cap="none" spc="300" normalizeH="0" baseline="0" noProof="0" dirty="0">
              <a:ln>
                <a:noFill/>
              </a:ln>
              <a:solidFill>
                <a:prstClr val="black">
                  <a:lumMod val="65000"/>
                  <a:lumOff val="35000"/>
                </a:prstClr>
              </a:solidFill>
              <a:effectLst/>
              <a:uLnTx/>
              <a:uFillTx/>
              <a:latin typeface="Trebuchet MS"/>
              <a:ea typeface="+mn-ea"/>
              <a:cs typeface="+mn-cs"/>
            </a:endParaRPr>
          </a:p>
        </p:txBody>
      </p:sp>
      <p:grpSp>
        <p:nvGrpSpPr>
          <p:cNvPr id="24" name="Group 23">
            <a:extLst>
              <a:ext uri="{FF2B5EF4-FFF2-40B4-BE49-F238E27FC236}">
                <a16:creationId xmlns:a16="http://schemas.microsoft.com/office/drawing/2014/main" id="{D048EBED-E244-4234-81CF-36D73CF22C96}"/>
              </a:ext>
            </a:extLst>
          </p:cNvPr>
          <p:cNvGrpSpPr/>
          <p:nvPr/>
        </p:nvGrpSpPr>
        <p:grpSpPr>
          <a:xfrm>
            <a:off x="212943" y="2859001"/>
            <a:ext cx="2524842" cy="3813896"/>
            <a:chOff x="202598" y="2883160"/>
            <a:chExt cx="2524842" cy="3813896"/>
          </a:xfrm>
        </p:grpSpPr>
        <p:cxnSp>
          <p:nvCxnSpPr>
            <p:cNvPr id="7" name="Straight Connector 6">
              <a:extLst>
                <a:ext uri="{FF2B5EF4-FFF2-40B4-BE49-F238E27FC236}">
                  <a16:creationId xmlns:a16="http://schemas.microsoft.com/office/drawing/2014/main" id="{FCA90C9D-C308-4C15-9A9F-CE65720705EE}"/>
                </a:ext>
              </a:extLst>
            </p:cNvPr>
            <p:cNvCxnSpPr>
              <a:cxnSpLocks/>
            </p:cNvCxnSpPr>
            <p:nvPr/>
          </p:nvCxnSpPr>
          <p:spPr>
            <a:xfrm flipV="1">
              <a:off x="2133600" y="3096063"/>
              <a:ext cx="0" cy="2197961"/>
            </a:xfrm>
            <a:prstGeom prst="line">
              <a:avLst/>
            </a:prstGeom>
            <a:ln/>
          </p:spPr>
          <p:style>
            <a:lnRef idx="3">
              <a:schemeClr val="dk1"/>
            </a:lnRef>
            <a:fillRef idx="0">
              <a:schemeClr val="dk1"/>
            </a:fillRef>
            <a:effectRef idx="2">
              <a:schemeClr val="dk1"/>
            </a:effectRef>
            <a:fontRef idx="minor">
              <a:schemeClr val="tx1"/>
            </a:fontRef>
          </p:style>
        </p:cxnSp>
        <p:cxnSp>
          <p:nvCxnSpPr>
            <p:cNvPr id="10" name="Straight Connector 9">
              <a:extLst>
                <a:ext uri="{FF2B5EF4-FFF2-40B4-BE49-F238E27FC236}">
                  <a16:creationId xmlns:a16="http://schemas.microsoft.com/office/drawing/2014/main" id="{B90DE855-7A7B-45A5-AA0C-DEC628A0A86C}"/>
                </a:ext>
              </a:extLst>
            </p:cNvPr>
            <p:cNvCxnSpPr>
              <a:cxnSpLocks/>
            </p:cNvCxnSpPr>
            <p:nvPr/>
          </p:nvCxnSpPr>
          <p:spPr>
            <a:xfrm>
              <a:off x="914989" y="3082041"/>
              <a:ext cx="1218611" cy="0"/>
            </a:xfrm>
            <a:prstGeom prst="line">
              <a:avLst/>
            </a:prstGeom>
            <a:ln/>
          </p:spPr>
          <p:style>
            <a:lnRef idx="3">
              <a:schemeClr val="dk1"/>
            </a:lnRef>
            <a:fillRef idx="0">
              <a:schemeClr val="dk1"/>
            </a:fillRef>
            <a:effectRef idx="2">
              <a:schemeClr val="dk1"/>
            </a:effectRef>
            <a:fontRef idx="minor">
              <a:schemeClr val="tx1"/>
            </a:fontRef>
          </p:style>
        </p:cxnSp>
        <p:grpSp>
          <p:nvGrpSpPr>
            <p:cNvPr id="22" name="Group 21">
              <a:extLst>
                <a:ext uri="{FF2B5EF4-FFF2-40B4-BE49-F238E27FC236}">
                  <a16:creationId xmlns:a16="http://schemas.microsoft.com/office/drawing/2014/main" id="{F2AD45B3-200F-4DC8-A9B8-A192A8792FD0}"/>
                </a:ext>
              </a:extLst>
            </p:cNvPr>
            <p:cNvGrpSpPr/>
            <p:nvPr/>
          </p:nvGrpSpPr>
          <p:grpSpPr>
            <a:xfrm>
              <a:off x="202598" y="2883160"/>
              <a:ext cx="2524842" cy="3813896"/>
              <a:chOff x="202598" y="2883160"/>
              <a:chExt cx="2524842" cy="3813896"/>
            </a:xfrm>
          </p:grpSpPr>
          <p:sp>
            <p:nvSpPr>
              <p:cNvPr id="56" name="TextBox 55"/>
              <p:cNvSpPr txBox="1"/>
              <p:nvPr/>
            </p:nvSpPr>
            <p:spPr>
              <a:xfrm>
                <a:off x="202598" y="2883160"/>
                <a:ext cx="744362"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t>
                </a:r>
                <a:r>
                  <a:rPr lang="en-US" dirty="0">
                    <a:solidFill>
                      <a:prstClr val="black"/>
                    </a:solidFill>
                    <a:latin typeface="Calibri"/>
                  </a:rPr>
                  <a:t>4.00</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5E92E22D-04A1-426F-A7F3-59C15F3DBCBE}"/>
                  </a:ext>
                </a:extLst>
              </p:cNvPr>
              <p:cNvSpPr/>
              <p:nvPr/>
            </p:nvSpPr>
            <p:spPr>
              <a:xfrm>
                <a:off x="977121" y="3125431"/>
                <a:ext cx="1103528" cy="2167108"/>
              </a:xfrm>
              <a:prstGeom prst="rect">
                <a:avLst/>
              </a:prstGeom>
              <a:solidFill>
                <a:schemeClr val="accent3">
                  <a:alpha val="42000"/>
                </a:schemeClr>
              </a:solidFill>
              <a:ln>
                <a:solidFill>
                  <a:schemeClr val="accent1">
                    <a:shade val="95000"/>
                    <a:satMod val="105000"/>
                    <a:alpha val="5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59" name="Straight Connector 58">
                <a:extLst>
                  <a:ext uri="{FF2B5EF4-FFF2-40B4-BE49-F238E27FC236}">
                    <a16:creationId xmlns:a16="http://schemas.microsoft.com/office/drawing/2014/main" id="{D0130EBA-0EBD-450A-9780-B4949999157F}"/>
                  </a:ext>
                </a:extLst>
              </p:cNvPr>
              <p:cNvCxnSpPr/>
              <p:nvPr/>
            </p:nvCxnSpPr>
            <p:spPr>
              <a:xfrm>
                <a:off x="2133600" y="5332150"/>
                <a:ext cx="0" cy="1016277"/>
              </a:xfrm>
              <a:prstGeom prst="line">
                <a:avLst/>
              </a:prstGeom>
              <a:ln w="19050">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82" name="TextBox 81">
                <a:extLst>
                  <a:ext uri="{FF2B5EF4-FFF2-40B4-BE49-F238E27FC236}">
                    <a16:creationId xmlns:a16="http://schemas.microsoft.com/office/drawing/2014/main" id="{5CF6E0E5-D764-4A5F-8FC3-E0424800FEEA}"/>
                  </a:ext>
                </a:extLst>
              </p:cNvPr>
              <p:cNvSpPr txBox="1"/>
              <p:nvPr/>
            </p:nvSpPr>
            <p:spPr>
              <a:xfrm>
                <a:off x="1980022" y="6327724"/>
                <a:ext cx="74741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1</a:t>
                </a:r>
              </a:p>
            </p:txBody>
          </p:sp>
        </p:grpSp>
      </p:grpSp>
      <p:grpSp>
        <p:nvGrpSpPr>
          <p:cNvPr id="35" name="Group 34">
            <a:extLst>
              <a:ext uri="{FF2B5EF4-FFF2-40B4-BE49-F238E27FC236}">
                <a16:creationId xmlns:a16="http://schemas.microsoft.com/office/drawing/2014/main" id="{A47C344F-575A-4BB3-83E4-879A343AFA22}"/>
              </a:ext>
            </a:extLst>
          </p:cNvPr>
          <p:cNvGrpSpPr/>
          <p:nvPr/>
        </p:nvGrpSpPr>
        <p:grpSpPr>
          <a:xfrm>
            <a:off x="191681" y="3765553"/>
            <a:ext cx="3542020" cy="2935455"/>
            <a:chOff x="200888" y="3762472"/>
            <a:chExt cx="3542020" cy="2935455"/>
          </a:xfrm>
        </p:grpSpPr>
        <p:sp>
          <p:nvSpPr>
            <p:cNvPr id="67" name="Rectangle 66">
              <a:extLst>
                <a:ext uri="{FF2B5EF4-FFF2-40B4-BE49-F238E27FC236}">
                  <a16:creationId xmlns:a16="http://schemas.microsoft.com/office/drawing/2014/main" id="{2D50636F-C3A6-45AF-BAE8-85A9E4074F1E}"/>
                </a:ext>
              </a:extLst>
            </p:cNvPr>
            <p:cNvSpPr/>
            <p:nvPr/>
          </p:nvSpPr>
          <p:spPr>
            <a:xfrm>
              <a:off x="2189917" y="3991683"/>
              <a:ext cx="892681" cy="1308567"/>
            </a:xfrm>
            <a:prstGeom prst="rect">
              <a:avLst/>
            </a:prstGeom>
            <a:solidFill>
              <a:schemeClr val="accent3">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C673EA9B-9B36-4DC4-B7F5-6465293B298B}"/>
                </a:ext>
              </a:extLst>
            </p:cNvPr>
            <p:cNvCxnSpPr>
              <a:cxnSpLocks/>
            </p:cNvCxnSpPr>
            <p:nvPr/>
          </p:nvCxnSpPr>
          <p:spPr>
            <a:xfrm>
              <a:off x="946960" y="3963313"/>
              <a:ext cx="1677531" cy="7109"/>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6" name="TextBox 35">
              <a:extLst>
                <a:ext uri="{FF2B5EF4-FFF2-40B4-BE49-F238E27FC236}">
                  <a16:creationId xmlns:a16="http://schemas.microsoft.com/office/drawing/2014/main" id="{B6A0DBB4-762A-4A56-A2CF-AB003CA811D4}"/>
                </a:ext>
              </a:extLst>
            </p:cNvPr>
            <p:cNvSpPr txBox="1"/>
            <p:nvPr/>
          </p:nvSpPr>
          <p:spPr>
            <a:xfrm>
              <a:off x="200888" y="3762472"/>
              <a:ext cx="717076"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$3.00</a:t>
              </a:r>
            </a:p>
          </p:txBody>
        </p:sp>
        <p:cxnSp>
          <p:nvCxnSpPr>
            <p:cNvPr id="34" name="Straight Connector 33">
              <a:extLst>
                <a:ext uri="{FF2B5EF4-FFF2-40B4-BE49-F238E27FC236}">
                  <a16:creationId xmlns:a16="http://schemas.microsoft.com/office/drawing/2014/main" id="{18D2EEF9-198C-4A93-A4C1-413EB488B66C}"/>
                </a:ext>
              </a:extLst>
            </p:cNvPr>
            <p:cNvCxnSpPr>
              <a:cxnSpLocks/>
            </p:cNvCxnSpPr>
            <p:nvPr/>
          </p:nvCxnSpPr>
          <p:spPr>
            <a:xfrm>
              <a:off x="2133600" y="3963313"/>
              <a:ext cx="986589" cy="7108"/>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C6B4E6E5-321D-4CC0-91D2-9C229549FDF2}"/>
                </a:ext>
              </a:extLst>
            </p:cNvPr>
            <p:cNvCxnSpPr>
              <a:cxnSpLocks/>
            </p:cNvCxnSpPr>
            <p:nvPr/>
          </p:nvCxnSpPr>
          <p:spPr>
            <a:xfrm>
              <a:off x="3105208" y="3963313"/>
              <a:ext cx="0" cy="1362667"/>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8D8012BF-ECD3-4BBD-A2CE-2F0CDD2F8699}"/>
                </a:ext>
              </a:extLst>
            </p:cNvPr>
            <p:cNvCxnSpPr/>
            <p:nvPr/>
          </p:nvCxnSpPr>
          <p:spPr>
            <a:xfrm>
              <a:off x="3120189" y="5359421"/>
              <a:ext cx="0" cy="1016277"/>
            </a:xfrm>
            <a:prstGeom prst="line">
              <a:avLst/>
            </a:prstGeom>
            <a:ln w="19050">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85" name="TextBox 84">
              <a:extLst>
                <a:ext uri="{FF2B5EF4-FFF2-40B4-BE49-F238E27FC236}">
                  <a16:creationId xmlns:a16="http://schemas.microsoft.com/office/drawing/2014/main" id="{C3DE71B5-A600-4B66-B71F-0F1A2CD4E139}"/>
                </a:ext>
              </a:extLst>
            </p:cNvPr>
            <p:cNvSpPr txBox="1"/>
            <p:nvPr/>
          </p:nvSpPr>
          <p:spPr>
            <a:xfrm>
              <a:off x="2995490" y="6328595"/>
              <a:ext cx="74741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a:rPr>
                <a:t>2</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48" name="Group 47">
            <a:extLst>
              <a:ext uri="{FF2B5EF4-FFF2-40B4-BE49-F238E27FC236}">
                <a16:creationId xmlns:a16="http://schemas.microsoft.com/office/drawing/2014/main" id="{277EFEC1-4238-4FA2-A3F6-5AB84D5EEED9}"/>
              </a:ext>
            </a:extLst>
          </p:cNvPr>
          <p:cNvGrpSpPr/>
          <p:nvPr/>
        </p:nvGrpSpPr>
        <p:grpSpPr>
          <a:xfrm>
            <a:off x="254447" y="4707662"/>
            <a:ext cx="4141042" cy="2005656"/>
            <a:chOff x="228674" y="4708329"/>
            <a:chExt cx="4141042" cy="2005656"/>
          </a:xfrm>
        </p:grpSpPr>
        <p:cxnSp>
          <p:nvCxnSpPr>
            <p:cNvPr id="54" name="Straight Connector 53">
              <a:extLst>
                <a:ext uri="{FF2B5EF4-FFF2-40B4-BE49-F238E27FC236}">
                  <a16:creationId xmlns:a16="http://schemas.microsoft.com/office/drawing/2014/main" id="{7B849621-D5E4-4C3D-BA45-4C1872087A4E}"/>
                </a:ext>
              </a:extLst>
            </p:cNvPr>
            <p:cNvCxnSpPr>
              <a:cxnSpLocks/>
            </p:cNvCxnSpPr>
            <p:nvPr/>
          </p:nvCxnSpPr>
          <p:spPr>
            <a:xfrm>
              <a:off x="3105208" y="4934506"/>
              <a:ext cx="1001571" cy="69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nvGrpSpPr>
            <p:cNvPr id="43" name="Group 42">
              <a:extLst>
                <a:ext uri="{FF2B5EF4-FFF2-40B4-BE49-F238E27FC236}">
                  <a16:creationId xmlns:a16="http://schemas.microsoft.com/office/drawing/2014/main" id="{310B8D54-FDA7-4AA7-922A-E4BAF86CF554}"/>
                </a:ext>
              </a:extLst>
            </p:cNvPr>
            <p:cNvGrpSpPr/>
            <p:nvPr/>
          </p:nvGrpSpPr>
          <p:grpSpPr>
            <a:xfrm>
              <a:off x="228674" y="4708329"/>
              <a:ext cx="4141042" cy="2005656"/>
              <a:chOff x="228674" y="4708329"/>
              <a:chExt cx="4141042" cy="2005656"/>
            </a:xfrm>
          </p:grpSpPr>
          <p:cxnSp>
            <p:nvCxnSpPr>
              <p:cNvPr id="47" name="Straight Connector 46">
                <a:extLst>
                  <a:ext uri="{FF2B5EF4-FFF2-40B4-BE49-F238E27FC236}">
                    <a16:creationId xmlns:a16="http://schemas.microsoft.com/office/drawing/2014/main" id="{B21B3DA5-E094-4F5F-9FB1-3C35951AEE2E}"/>
                  </a:ext>
                </a:extLst>
              </p:cNvPr>
              <p:cNvCxnSpPr>
                <a:cxnSpLocks/>
              </p:cNvCxnSpPr>
              <p:nvPr/>
            </p:nvCxnSpPr>
            <p:spPr>
              <a:xfrm flipV="1">
                <a:off x="931312" y="4934598"/>
                <a:ext cx="2211337" cy="598"/>
              </a:xfrm>
              <a:prstGeom prst="line">
                <a:avLst/>
              </a:prstGeom>
              <a:ln w="1905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C5A9074B-DE45-42C2-951B-C3D577DB5E95}"/>
                  </a:ext>
                </a:extLst>
              </p:cNvPr>
              <p:cNvCxnSpPr>
                <a:cxnSpLocks/>
              </p:cNvCxnSpPr>
              <p:nvPr/>
            </p:nvCxnSpPr>
            <p:spPr>
              <a:xfrm>
                <a:off x="4098757" y="4905581"/>
                <a:ext cx="0" cy="388443"/>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76" name="Rectangle 75">
                <a:extLst>
                  <a:ext uri="{FF2B5EF4-FFF2-40B4-BE49-F238E27FC236}">
                    <a16:creationId xmlns:a16="http://schemas.microsoft.com/office/drawing/2014/main" id="{8F83A56B-BDF6-4C9A-96F3-D63F767174DF}"/>
                  </a:ext>
                </a:extLst>
              </p:cNvPr>
              <p:cNvSpPr/>
              <p:nvPr/>
            </p:nvSpPr>
            <p:spPr>
              <a:xfrm>
                <a:off x="3133946" y="4968765"/>
                <a:ext cx="948377" cy="350117"/>
              </a:xfrm>
              <a:prstGeom prst="rect">
                <a:avLst/>
              </a:prstGeom>
              <a:solidFill>
                <a:schemeClr val="accent3">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645312AF-E7CA-4117-A22F-21D4F6AD70B3}"/>
                  </a:ext>
                </a:extLst>
              </p:cNvPr>
              <p:cNvSpPr txBox="1"/>
              <p:nvPr/>
            </p:nvSpPr>
            <p:spPr>
              <a:xfrm>
                <a:off x="228674" y="4708329"/>
                <a:ext cx="717077"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$1.50</a:t>
                </a:r>
              </a:p>
            </p:txBody>
          </p:sp>
          <p:cxnSp>
            <p:nvCxnSpPr>
              <p:cNvPr id="83" name="Straight Connector 82">
                <a:extLst>
                  <a:ext uri="{FF2B5EF4-FFF2-40B4-BE49-F238E27FC236}">
                    <a16:creationId xmlns:a16="http://schemas.microsoft.com/office/drawing/2014/main" id="{D18297F5-D94F-4B44-86CA-B6598C52659A}"/>
                  </a:ext>
                </a:extLst>
              </p:cNvPr>
              <p:cNvCxnSpPr>
                <a:cxnSpLocks/>
              </p:cNvCxnSpPr>
              <p:nvPr/>
            </p:nvCxnSpPr>
            <p:spPr>
              <a:xfrm flipH="1">
                <a:off x="4098758" y="5318934"/>
                <a:ext cx="8021" cy="1025719"/>
              </a:xfrm>
              <a:prstGeom prst="line">
                <a:avLst/>
              </a:prstGeom>
              <a:ln w="19050">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86" name="TextBox 85">
                <a:extLst>
                  <a:ext uri="{FF2B5EF4-FFF2-40B4-BE49-F238E27FC236}">
                    <a16:creationId xmlns:a16="http://schemas.microsoft.com/office/drawing/2014/main" id="{80708D52-1E82-447E-BF83-08F95F5A142A}"/>
                  </a:ext>
                </a:extLst>
              </p:cNvPr>
              <p:cNvSpPr txBox="1"/>
              <p:nvPr/>
            </p:nvSpPr>
            <p:spPr>
              <a:xfrm>
                <a:off x="3970641" y="6344653"/>
                <a:ext cx="39907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3</a:t>
                </a:r>
              </a:p>
            </p:txBody>
          </p:sp>
        </p:grpSp>
      </p:grpSp>
      <p:sp>
        <p:nvSpPr>
          <p:cNvPr id="44" name="Content Placeholder 1">
            <a:extLst>
              <a:ext uri="{FF2B5EF4-FFF2-40B4-BE49-F238E27FC236}">
                <a16:creationId xmlns:a16="http://schemas.microsoft.com/office/drawing/2014/main" id="{89622697-4636-4849-B30F-5F3B873420BA}"/>
              </a:ext>
            </a:extLst>
          </p:cNvPr>
          <p:cNvSpPr txBox="1">
            <a:spLocks/>
          </p:cNvSpPr>
          <p:nvPr/>
        </p:nvSpPr>
        <p:spPr>
          <a:xfrm>
            <a:off x="1412127" y="1474332"/>
            <a:ext cx="2647854" cy="1025719"/>
          </a:xfrm>
          <a:prstGeom prst="rect">
            <a:avLst/>
          </a:prstGeom>
        </p:spPr>
        <p:txBody>
          <a:bodyPr vert="horz" lIns="91440" tIns="45720" rIns="91440" bIns="45720" rtlCol="0">
            <a:normAutofit fontScale="85000" lnSpcReduction="20000"/>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300"/>
              </a:spcAft>
              <a:buNone/>
              <a:defRPr/>
            </a:pPr>
            <a:r>
              <a:rPr kumimoji="0" lang="en-US" sz="2000" b="0" i="0" u="none" strike="noStrike" kern="1100" cap="none" spc="50" normalizeH="0" noProof="0" dirty="0">
                <a:ln>
                  <a:noFill/>
                </a:ln>
                <a:solidFill>
                  <a:srgbClr val="1F497D">
                    <a:lumMod val="75000"/>
                  </a:srgbClr>
                </a:solidFill>
                <a:effectLst/>
                <a:uLnTx/>
                <a:uFillTx/>
                <a:latin typeface="Whitney-Book"/>
                <a:ea typeface="+mn-ea"/>
                <a:cs typeface="+mn-cs"/>
              </a:rPr>
              <a:t>Purchase options:</a:t>
            </a:r>
          </a:p>
          <a:p>
            <a:pPr>
              <a:spcBef>
                <a:spcPts val="0"/>
              </a:spcBef>
              <a:defRPr/>
            </a:pPr>
            <a:r>
              <a:rPr lang="en-US" sz="2000" baseline="0" dirty="0">
                <a:solidFill>
                  <a:srgbClr val="1F497D">
                    <a:lumMod val="75000"/>
                  </a:srgbClr>
                </a:solidFill>
              </a:rPr>
              <a:t>1 scoop for $4</a:t>
            </a:r>
          </a:p>
          <a:p>
            <a:pPr>
              <a:spcBef>
                <a:spcPts val="0"/>
              </a:spcBef>
              <a:defRPr/>
            </a:pPr>
            <a:r>
              <a:rPr kumimoji="0" lang="en-US" sz="2000" b="0" i="0" u="none" strike="noStrike" kern="1100" cap="none" spc="50" normalizeH="0" noProof="0" dirty="0">
                <a:ln>
                  <a:noFill/>
                </a:ln>
                <a:solidFill>
                  <a:srgbClr val="1F497D">
                    <a:lumMod val="75000"/>
                  </a:srgbClr>
                </a:solidFill>
                <a:effectLst/>
                <a:uLnTx/>
                <a:uFillTx/>
                <a:latin typeface="Whitney-Book"/>
                <a:ea typeface="+mn-ea"/>
                <a:cs typeface="+mn-cs"/>
              </a:rPr>
              <a:t>2 scoops for $7</a:t>
            </a:r>
          </a:p>
          <a:p>
            <a:pPr>
              <a:spcBef>
                <a:spcPts val="0"/>
              </a:spcBef>
              <a:defRPr/>
            </a:pPr>
            <a:r>
              <a:rPr lang="en-US" sz="2000" baseline="0" dirty="0">
                <a:solidFill>
                  <a:srgbClr val="1F497D">
                    <a:lumMod val="75000"/>
                  </a:srgbClr>
                </a:solidFill>
              </a:rPr>
              <a:t>3 scoops</a:t>
            </a:r>
            <a:r>
              <a:rPr lang="en-US" sz="2000" dirty="0">
                <a:solidFill>
                  <a:srgbClr val="1F497D">
                    <a:lumMod val="75000"/>
                  </a:srgbClr>
                </a:solidFill>
              </a:rPr>
              <a:t> for $8.50</a:t>
            </a:r>
            <a:endParaRPr kumimoji="0" lang="en-US" sz="2000" b="0" i="0" u="none" strike="noStrike" kern="1100" cap="none" spc="50" normalizeH="0" baseline="0" noProof="0" dirty="0">
              <a:ln>
                <a:noFill/>
              </a:ln>
              <a:solidFill>
                <a:srgbClr val="1F497D">
                  <a:lumMod val="75000"/>
                </a:srgbClr>
              </a:solidFill>
              <a:effectLst/>
              <a:uLnTx/>
              <a:uFillTx/>
              <a:latin typeface="Whitney-Book"/>
              <a:ea typeface="+mn-ea"/>
              <a:cs typeface="+mn-cs"/>
            </a:endParaRPr>
          </a:p>
          <a:p>
            <a:pPr marL="666453" marR="0" lvl="1"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endParaRPr kumimoji="0" lang="en-US" sz="2000" b="0" i="0" u="none" strike="noStrike" kern="1100" cap="none" spc="50" normalizeH="0" baseline="0" noProof="0" dirty="0">
              <a:ln>
                <a:noFill/>
              </a:ln>
              <a:solidFill>
                <a:srgbClr val="1F497D">
                  <a:lumMod val="75000"/>
                </a:srgbClr>
              </a:solidFill>
              <a:effectLst/>
              <a:uLnTx/>
              <a:uFillTx/>
              <a:latin typeface="Whitney-Book"/>
              <a:ea typeface="+mn-ea"/>
              <a:cs typeface="+mn-cs"/>
            </a:endParaRPr>
          </a:p>
        </p:txBody>
      </p:sp>
      <p:pic>
        <p:nvPicPr>
          <p:cNvPr id="13" name="Picture 12">
            <a:extLst>
              <a:ext uri="{FF2B5EF4-FFF2-40B4-BE49-F238E27FC236}">
                <a16:creationId xmlns:a16="http://schemas.microsoft.com/office/drawing/2014/main" id="{0C0963B7-07C4-4576-B75D-544745DC20EA}"/>
              </a:ext>
            </a:extLst>
          </p:cNvPr>
          <p:cNvPicPr>
            <a:picLocks noChangeAspect="1"/>
          </p:cNvPicPr>
          <p:nvPr/>
        </p:nvPicPr>
        <p:blipFill>
          <a:blip r:embed="rId3"/>
          <a:stretch>
            <a:fillRect/>
          </a:stretch>
        </p:blipFill>
        <p:spPr>
          <a:xfrm>
            <a:off x="4998668" y="1469693"/>
            <a:ext cx="3932389" cy="3134716"/>
          </a:xfrm>
          <a:prstGeom prst="rect">
            <a:avLst/>
          </a:prstGeom>
        </p:spPr>
      </p:pic>
      <p:grpSp>
        <p:nvGrpSpPr>
          <p:cNvPr id="49" name="Group 48">
            <a:extLst>
              <a:ext uri="{FF2B5EF4-FFF2-40B4-BE49-F238E27FC236}">
                <a16:creationId xmlns:a16="http://schemas.microsoft.com/office/drawing/2014/main" id="{EEEBB02B-1D2F-4086-82DA-8CF540293FB1}"/>
              </a:ext>
            </a:extLst>
          </p:cNvPr>
          <p:cNvGrpSpPr/>
          <p:nvPr/>
        </p:nvGrpSpPr>
        <p:grpSpPr>
          <a:xfrm>
            <a:off x="1364397" y="4109630"/>
            <a:ext cx="2346725" cy="1234249"/>
            <a:chOff x="1364397" y="4109630"/>
            <a:chExt cx="2346725" cy="1234249"/>
          </a:xfrm>
        </p:grpSpPr>
        <p:sp>
          <p:nvSpPr>
            <p:cNvPr id="68" name="Rectangle 67">
              <a:extLst>
                <a:ext uri="{FF2B5EF4-FFF2-40B4-BE49-F238E27FC236}">
                  <a16:creationId xmlns:a16="http://schemas.microsoft.com/office/drawing/2014/main" id="{F68E86D3-1CD3-408E-BD86-5682745CABED}"/>
                </a:ext>
              </a:extLst>
            </p:cNvPr>
            <p:cNvSpPr/>
            <p:nvPr/>
          </p:nvSpPr>
          <p:spPr>
            <a:xfrm>
              <a:off x="2469561" y="4411147"/>
              <a:ext cx="328936" cy="400110"/>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Times New Roman" pitchFamily="18" charset="0"/>
                </a:rPr>
                <a:t>B</a:t>
              </a:r>
            </a:p>
          </p:txBody>
        </p:sp>
        <p:sp>
          <p:nvSpPr>
            <p:cNvPr id="75" name="Rectangle 74">
              <a:extLst>
                <a:ext uri="{FF2B5EF4-FFF2-40B4-BE49-F238E27FC236}">
                  <a16:creationId xmlns:a16="http://schemas.microsoft.com/office/drawing/2014/main" id="{8C2FC802-1C59-4A36-B820-B0656704E565}"/>
                </a:ext>
              </a:extLst>
            </p:cNvPr>
            <p:cNvSpPr/>
            <p:nvPr/>
          </p:nvSpPr>
          <p:spPr>
            <a:xfrm>
              <a:off x="1364397" y="4109630"/>
              <a:ext cx="340158" cy="400110"/>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Times New Roman" pitchFamily="18" charset="0"/>
                </a:rPr>
                <a:t>A</a:t>
              </a:r>
            </a:p>
          </p:txBody>
        </p:sp>
        <p:sp>
          <p:nvSpPr>
            <p:cNvPr id="81" name="Rectangle 80">
              <a:extLst>
                <a:ext uri="{FF2B5EF4-FFF2-40B4-BE49-F238E27FC236}">
                  <a16:creationId xmlns:a16="http://schemas.microsoft.com/office/drawing/2014/main" id="{0B08CB8B-BAFF-498D-92C8-123CFCD02716}"/>
                </a:ext>
              </a:extLst>
            </p:cNvPr>
            <p:cNvSpPr/>
            <p:nvPr/>
          </p:nvSpPr>
          <p:spPr>
            <a:xfrm>
              <a:off x="3390200" y="4943769"/>
              <a:ext cx="320922" cy="400110"/>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Times New Roman" pitchFamily="18" charset="0"/>
                </a:rPr>
                <a:t>C</a:t>
              </a:r>
            </a:p>
          </p:txBody>
        </p:sp>
      </p:grpSp>
      <p:sp>
        <p:nvSpPr>
          <p:cNvPr id="50" name="Content Placeholder 3">
            <a:extLst>
              <a:ext uri="{FF2B5EF4-FFF2-40B4-BE49-F238E27FC236}">
                <a16:creationId xmlns:a16="http://schemas.microsoft.com/office/drawing/2014/main" id="{95DE109D-31EB-483C-9F32-49B82AC7B4F1}"/>
              </a:ext>
            </a:extLst>
          </p:cNvPr>
          <p:cNvSpPr>
            <a:spLocks noGrp="1"/>
          </p:cNvSpPr>
          <p:nvPr>
            <p:ph idx="1"/>
          </p:nvPr>
        </p:nvSpPr>
        <p:spPr>
          <a:xfrm>
            <a:off x="2906179" y="3254110"/>
            <a:ext cx="1685095" cy="568439"/>
          </a:xfrm>
        </p:spPr>
        <p:txBody>
          <a:bodyPr>
            <a:noAutofit/>
          </a:bodyPr>
          <a:lstStyle/>
          <a:p>
            <a:pPr marL="0" indent="0">
              <a:spcAft>
                <a:spcPts val="563"/>
              </a:spcAft>
              <a:buNone/>
            </a:pPr>
            <a:r>
              <a:rPr lang="en-US" sz="1400" dirty="0"/>
              <a:t>Price of the 2</a:t>
            </a:r>
            <a:r>
              <a:rPr lang="en-US" sz="1400" baseline="30000" dirty="0"/>
              <a:t>nd</a:t>
            </a:r>
            <a:r>
              <a:rPr lang="en-US" sz="1400" dirty="0"/>
              <a:t> scoop is $7-$4=$3</a:t>
            </a:r>
            <a:endParaRPr lang="en-US" sz="1400" i="1" dirty="0"/>
          </a:p>
        </p:txBody>
      </p:sp>
      <p:cxnSp>
        <p:nvCxnSpPr>
          <p:cNvPr id="5" name="Straight Arrow Connector 4">
            <a:extLst>
              <a:ext uri="{FF2B5EF4-FFF2-40B4-BE49-F238E27FC236}">
                <a16:creationId xmlns:a16="http://schemas.microsoft.com/office/drawing/2014/main" id="{568994D6-3F70-4BB2-9BAB-896C6A07D63E}"/>
              </a:ext>
            </a:extLst>
          </p:cNvPr>
          <p:cNvCxnSpPr>
            <a:cxnSpLocks/>
          </p:cNvCxnSpPr>
          <p:nvPr/>
        </p:nvCxnSpPr>
        <p:spPr>
          <a:xfrm flipH="1">
            <a:off x="2221417" y="3460479"/>
            <a:ext cx="743012" cy="4811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43796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0">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50" grpId="0" build="p"/>
    </p:bld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92977" y="809598"/>
            <a:ext cx="3154194" cy="1901688"/>
          </a:xfrm>
        </p:spPr>
        <p:txBody>
          <a:bodyPr>
            <a:normAutofit fontScale="90000"/>
          </a:bodyPr>
          <a:lstStyle/>
          <a:p>
            <a:pPr algn="l"/>
            <a:r>
              <a:rPr lang="en-US" dirty="0"/>
              <a:t>How to extract consumer surplus?</a:t>
            </a:r>
            <a:br>
              <a:rPr lang="en-US" dirty="0"/>
            </a:br>
            <a:br>
              <a:rPr lang="en-US" dirty="0"/>
            </a:br>
            <a:r>
              <a:rPr lang="en-US" dirty="0"/>
              <a:t>A summary</a:t>
            </a:r>
            <a:br>
              <a:rPr lang="en-US" dirty="0"/>
            </a:br>
            <a:r>
              <a:rPr lang="en-US" dirty="0"/>
              <a:t>of pricing strategies</a:t>
            </a:r>
          </a:p>
        </p:txBody>
      </p:sp>
      <p:sp>
        <p:nvSpPr>
          <p:cNvPr id="9" name="Rounded Rectangle 8"/>
          <p:cNvSpPr/>
          <p:nvPr/>
        </p:nvSpPr>
        <p:spPr>
          <a:xfrm>
            <a:off x="4041427" y="936761"/>
            <a:ext cx="1619749" cy="565537"/>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a:ea typeface="+mn-ea"/>
                <a:cs typeface="+mn-cs"/>
              </a:rPr>
              <a:t>Does the firm have market power?</a:t>
            </a:r>
          </a:p>
        </p:txBody>
      </p:sp>
      <p:sp>
        <p:nvSpPr>
          <p:cNvPr id="10" name="Rounded Rectangle 9"/>
          <p:cNvSpPr/>
          <p:nvPr/>
        </p:nvSpPr>
        <p:spPr>
          <a:xfrm>
            <a:off x="4041427" y="1980956"/>
            <a:ext cx="1619749" cy="565537"/>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Can the firm prevent resale and arbitrage?</a:t>
            </a:r>
          </a:p>
        </p:txBody>
      </p:sp>
      <p:sp>
        <p:nvSpPr>
          <p:cNvPr id="11" name="Rounded Rectangle 10"/>
          <p:cNvSpPr/>
          <p:nvPr/>
        </p:nvSpPr>
        <p:spPr>
          <a:xfrm>
            <a:off x="4041426" y="3031381"/>
            <a:ext cx="1619750" cy="565537"/>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 the firm's customers have different demand curves?</a:t>
            </a:r>
          </a:p>
        </p:txBody>
      </p:sp>
      <p:sp>
        <p:nvSpPr>
          <p:cNvPr id="12" name="Rounded Rectangle 11"/>
          <p:cNvSpPr/>
          <p:nvPr/>
        </p:nvSpPr>
        <p:spPr>
          <a:xfrm>
            <a:off x="4035083" y="4034153"/>
            <a:ext cx="1626093" cy="709906"/>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normAutofit fontScale="70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Can the firm directly identify different customers?</a:t>
            </a:r>
          </a:p>
        </p:txBody>
      </p:sp>
      <p:sp>
        <p:nvSpPr>
          <p:cNvPr id="13" name="Rounded Rectangle 12"/>
          <p:cNvSpPr/>
          <p:nvPr/>
        </p:nvSpPr>
        <p:spPr>
          <a:xfrm>
            <a:off x="6566470" y="936761"/>
            <a:ext cx="1914921" cy="565537"/>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Perfect competition produces quantity at which </a:t>
            </a:r>
            <a:r>
              <a:rPr kumimoji="0" lang="en-US" sz="1800" b="0" i="1" u="none" strike="noStrike" kern="1200" cap="none" spc="0" normalizeH="0" baseline="0" noProof="0" dirty="0">
                <a:ln>
                  <a:noFill/>
                </a:ln>
                <a:solidFill>
                  <a:prstClr val="black"/>
                </a:solidFill>
                <a:effectLst/>
                <a:uLnTx/>
                <a:uFillTx/>
                <a:latin typeface="Calibri"/>
                <a:ea typeface="+mn-ea"/>
                <a:cs typeface="+mn-cs"/>
              </a:rPr>
              <a:t>MR = P = MC</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4" name="Rounded Rectangle 13"/>
          <p:cNvSpPr/>
          <p:nvPr/>
        </p:nvSpPr>
        <p:spPr>
          <a:xfrm>
            <a:off x="6566470" y="1980955"/>
            <a:ext cx="1914921" cy="661034"/>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Firm produces quantity (</a:t>
            </a:r>
            <a:r>
              <a:rPr kumimoji="0" lang="en-US" sz="1800" b="0" i="1" u="none" strike="noStrike" kern="1200" cap="none" spc="0" normalizeH="0" baseline="0" noProof="0" dirty="0">
                <a:ln>
                  <a:noFill/>
                </a:ln>
                <a:solidFill>
                  <a:prstClr val="black"/>
                </a:solidFill>
                <a:effectLst/>
                <a:uLnTx/>
                <a:uFillTx/>
                <a:latin typeface="Calibri"/>
                <a:ea typeface="+mn-ea"/>
                <a:cs typeface="+mn-cs"/>
              </a:rPr>
              <a:t>Q</a:t>
            </a:r>
            <a:r>
              <a:rPr kumimoji="0" lang="en-US" sz="1800" b="0" i="0" u="none" strike="noStrike" kern="1200" cap="none" spc="0" normalizeH="0" baseline="0" noProof="0" dirty="0">
                <a:ln>
                  <a:noFill/>
                </a:ln>
                <a:solidFill>
                  <a:prstClr val="black"/>
                </a:solidFill>
                <a:effectLst/>
                <a:uLnTx/>
                <a:uFillTx/>
                <a:latin typeface="Calibri"/>
                <a:ea typeface="+mn-ea"/>
                <a:cs typeface="+mn-cs"/>
              </a:rPr>
              <a:t>*) at which </a:t>
            </a:r>
            <a:r>
              <a:rPr kumimoji="0" lang="en-US" sz="1800" b="0" i="1" u="none" strike="noStrike" kern="1200" cap="none" spc="0" normalizeH="0" baseline="0" noProof="0" dirty="0">
                <a:ln>
                  <a:noFill/>
                </a:ln>
                <a:solidFill>
                  <a:prstClr val="black"/>
                </a:solidFill>
                <a:effectLst/>
                <a:uLnTx/>
                <a:uFillTx/>
                <a:latin typeface="Calibri"/>
                <a:ea typeface="+mn-ea"/>
                <a:cs typeface="+mn-cs"/>
              </a:rPr>
              <a:t>MR = MC</a:t>
            </a:r>
            <a:r>
              <a:rPr kumimoji="0" lang="en-US" sz="1800" b="0" i="0" u="none" strike="noStrike" kern="1200" cap="none" spc="0" normalizeH="0" baseline="0" noProof="0" dirty="0">
                <a:ln>
                  <a:noFill/>
                </a:ln>
                <a:solidFill>
                  <a:prstClr val="black"/>
                </a:solidFill>
                <a:effectLst/>
                <a:uLnTx/>
                <a:uFillTx/>
                <a:latin typeface="Calibri"/>
                <a:ea typeface="+mn-ea"/>
                <a:cs typeface="+mn-cs"/>
              </a:rPr>
              <a:t>, sets price </a:t>
            </a:r>
            <a:r>
              <a:rPr kumimoji="0" lang="en-US" sz="1800" b="0" i="1" u="none" strike="noStrike" kern="1200" cap="none" spc="0" normalizeH="0" baseline="0" noProof="0" dirty="0">
                <a:ln>
                  <a:noFill/>
                </a:ln>
                <a:solidFill>
                  <a:prstClr val="black"/>
                </a:solidFill>
                <a:effectLst/>
                <a:uLnTx/>
                <a:uFillTx/>
                <a:latin typeface="Calibri"/>
                <a:ea typeface="+mn-ea"/>
                <a:cs typeface="+mn-cs"/>
              </a:rPr>
              <a:t>P*</a:t>
            </a:r>
            <a:r>
              <a:rPr kumimoji="0" lang="en-US" sz="1800" b="0" i="0" u="none" strike="noStrike" kern="1200" cap="none" spc="0" normalizeH="0" baseline="0" noProof="0" dirty="0">
                <a:ln>
                  <a:noFill/>
                </a:ln>
                <a:solidFill>
                  <a:prstClr val="black"/>
                </a:solidFill>
                <a:effectLst/>
                <a:uLnTx/>
                <a:uFillTx/>
                <a:latin typeface="Calibri"/>
                <a:ea typeface="+mn-ea"/>
                <a:cs typeface="+mn-cs"/>
              </a:rPr>
              <a:t> where </a:t>
            </a:r>
            <a:r>
              <a:rPr kumimoji="0" lang="en-US" sz="1800" b="0" i="1" u="none" strike="noStrike" kern="1200" cap="none" spc="0" normalizeH="0" baseline="0" noProof="0" dirty="0">
                <a:ln>
                  <a:noFill/>
                </a:ln>
                <a:solidFill>
                  <a:prstClr val="black"/>
                </a:solidFill>
                <a:effectLst/>
                <a:uLnTx/>
                <a:uFillTx/>
                <a:latin typeface="Calibri"/>
                <a:ea typeface="+mn-ea"/>
                <a:cs typeface="+mn-cs"/>
              </a:rPr>
              <a:t>Q* = D(P*)</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Rounded Rectangle 14"/>
          <p:cNvSpPr/>
          <p:nvPr/>
        </p:nvSpPr>
        <p:spPr>
          <a:xfrm>
            <a:off x="6568972" y="2890162"/>
            <a:ext cx="2022578" cy="82838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4400" b="0" i="0" u="none" strike="noStrike" kern="1200" cap="none" spc="0" normalizeH="0" baseline="0" noProof="0" dirty="0">
              <a:ln>
                <a:noFill/>
              </a:ln>
              <a:solidFill>
                <a:prstClr val="black"/>
              </a:solidFill>
              <a:effectLst/>
              <a:uLnTx/>
              <a:uFillTx/>
              <a:latin typeface="Calibri"/>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Calibri"/>
              </a:rPr>
              <a:t>Advanced pricing strategies</a:t>
            </a:r>
          </a:p>
          <a:p>
            <a:pPr marL="0" marR="0" lvl="0" indent="0" algn="l" defTabSz="457200" rtl="0" eaLnBrk="1" fontAlgn="auto" latinLnBrk="0" hangingPunct="1">
              <a:lnSpc>
                <a:spcPct val="100000"/>
              </a:lnSpc>
              <a:spcBef>
                <a:spcPts val="0"/>
              </a:spcBef>
              <a:spcAft>
                <a:spcPts val="0"/>
              </a:spcAft>
              <a:buClrTx/>
              <a:buSzTx/>
              <a:buFontTx/>
              <a:buNone/>
              <a:tabLst/>
              <a:defRPr/>
            </a:pPr>
            <a:br>
              <a:rPr kumimoji="0" lang="en-US" sz="4400" b="0" i="0" u="none" strike="noStrike" kern="1200" cap="none" spc="0" normalizeH="0" baseline="0" noProof="0" dirty="0">
                <a:ln>
                  <a:noFill/>
                </a:ln>
                <a:solidFill>
                  <a:prstClr val="black"/>
                </a:solidFill>
                <a:effectLst/>
                <a:uLnTx/>
                <a:uFillTx/>
                <a:latin typeface="Calibri"/>
              </a:rPr>
            </a:br>
            <a:r>
              <a:rPr kumimoji="0" lang="en-US" sz="4400" b="0" i="0" u="none" strike="noStrike" kern="1200" cap="none" spc="0" normalizeH="0" baseline="0" noProof="0" dirty="0">
                <a:ln>
                  <a:noFill/>
                </a:ln>
                <a:solidFill>
                  <a:prstClr val="black"/>
                </a:solidFill>
                <a:effectLst/>
                <a:uLnTx/>
                <a:uFillTx/>
                <a:latin typeface="Calibri"/>
              </a:rPr>
              <a:t>•  Flat-fee</a:t>
            </a:r>
            <a:endParaRPr lang="en-US" sz="4400" dirty="0">
              <a:solidFill>
                <a:prstClr val="black"/>
              </a:solidFill>
              <a:latin typeface="Calibri"/>
            </a:endParaRPr>
          </a:p>
          <a:p>
            <a:pPr>
              <a:defRPr/>
            </a:pPr>
            <a:r>
              <a:rPr lang="en-US" sz="4400" dirty="0">
                <a:solidFill>
                  <a:prstClr val="black"/>
                </a:solidFill>
              </a:rPr>
              <a:t>•  Two-part tariff</a:t>
            </a:r>
          </a:p>
          <a:p>
            <a:pPr>
              <a:defRPr/>
            </a:pPr>
            <a:r>
              <a:rPr lang="en-US" sz="4400" dirty="0">
                <a:solidFill>
                  <a:prstClr val="black"/>
                </a:solidFill>
              </a:rPr>
              <a:t>•  Block pricing</a:t>
            </a:r>
            <a:endParaRPr lang="en-US" sz="4400" dirty="0">
              <a:solidFill>
                <a:prstClr val="black"/>
              </a:solidFill>
              <a:latin typeface="Calibri"/>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 name="Rounded Rectangle 15"/>
          <p:cNvSpPr/>
          <p:nvPr/>
        </p:nvSpPr>
        <p:spPr>
          <a:xfrm>
            <a:off x="6566470" y="4034153"/>
            <a:ext cx="1914921" cy="109776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normAutofit fontScale="62500" lnSpcReduction="20000"/>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Indirect (second-degree) price discrimination</a:t>
            </a:r>
            <a:br>
              <a:rPr kumimoji="0" lang="en-US" sz="1800" b="0" i="0" u="none" strike="noStrike" kern="1200" cap="none" spc="0" normalizeH="0" baseline="0" noProof="0" dirty="0">
                <a:ln>
                  <a:noFill/>
                </a:ln>
                <a:solidFill>
                  <a:prstClr val="black"/>
                </a:solidFill>
                <a:effectLst/>
                <a:uLnTx/>
                <a:uFillTx/>
                <a:latin typeface="Calibri"/>
                <a:ea typeface="+mn-ea"/>
                <a:cs typeface="+mn-cs"/>
              </a:rPr>
            </a:b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Versioning</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Coupons</a:t>
            </a:r>
          </a:p>
        </p:txBody>
      </p:sp>
      <p:sp>
        <p:nvSpPr>
          <p:cNvPr id="18" name="Rounded Rectangle 17"/>
          <p:cNvSpPr/>
          <p:nvPr/>
        </p:nvSpPr>
        <p:spPr>
          <a:xfrm>
            <a:off x="1954698" y="4375703"/>
            <a:ext cx="1068080" cy="42298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a:ea typeface="+mn-ea"/>
                <a:cs typeface="+mn-cs"/>
              </a:rPr>
              <a:t>Direct price discrimination</a:t>
            </a:r>
          </a:p>
        </p:txBody>
      </p:sp>
      <p:sp>
        <p:nvSpPr>
          <p:cNvPr id="20" name="Rounded Rectangle 19"/>
          <p:cNvSpPr/>
          <p:nvPr/>
        </p:nvSpPr>
        <p:spPr>
          <a:xfrm>
            <a:off x="384314" y="5040152"/>
            <a:ext cx="2067163" cy="91258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a:ea typeface="+mn-ea"/>
                <a:cs typeface="+mn-cs"/>
              </a:rPr>
              <a:t>Firm has complete information about every customer</a:t>
            </a:r>
            <a:br>
              <a:rPr kumimoji="0" lang="en-US" sz="1100" b="0" i="0" u="none" strike="noStrike" kern="1200" cap="none" spc="0" normalizeH="0" baseline="0" noProof="0" dirty="0">
                <a:ln>
                  <a:noFill/>
                </a:ln>
                <a:solidFill>
                  <a:prstClr val="black"/>
                </a:solidFill>
                <a:effectLst/>
                <a:uLnTx/>
                <a:uFillTx/>
                <a:latin typeface="Calibri"/>
                <a:ea typeface="+mn-ea"/>
                <a:cs typeface="+mn-cs"/>
              </a:rPr>
            </a:br>
            <a:r>
              <a:rPr kumimoji="0" lang="en-US" sz="1100" b="0" i="0" u="none" strike="noStrike" kern="1200" cap="none" spc="0" normalizeH="0" baseline="0" noProof="0" dirty="0">
                <a:ln>
                  <a:noFill/>
                </a:ln>
                <a:solidFill>
                  <a:prstClr val="black"/>
                </a:solidFill>
                <a:effectLst/>
                <a:uLnTx/>
                <a:uFillTx/>
                <a:latin typeface="Calibri"/>
                <a:ea typeface="+mn-ea"/>
                <a:cs typeface="+mn-cs"/>
              </a:rPr>
              <a:t>-----------------------------------------</a:t>
            </a:r>
            <a:br>
              <a:rPr kumimoji="0" lang="en-US" sz="1100" b="0" i="0" u="none" strike="noStrike" kern="1200" cap="none" spc="0" normalizeH="0" baseline="0" noProof="0" dirty="0">
                <a:ln>
                  <a:noFill/>
                </a:ln>
                <a:solidFill>
                  <a:prstClr val="black"/>
                </a:solidFill>
                <a:effectLst/>
                <a:uLnTx/>
                <a:uFillTx/>
                <a:latin typeface="Calibri"/>
                <a:ea typeface="+mn-ea"/>
                <a:cs typeface="+mn-cs"/>
              </a:rPr>
            </a:br>
            <a:r>
              <a:rPr kumimoji="0" lang="en-US" sz="1100" b="0" i="0" u="none" strike="noStrike" kern="1200" cap="none" spc="0" normalizeH="0" baseline="0" noProof="0" dirty="0">
                <a:ln>
                  <a:noFill/>
                </a:ln>
                <a:solidFill>
                  <a:prstClr val="black"/>
                </a:solidFill>
                <a:effectLst/>
                <a:uLnTx/>
                <a:uFillTx/>
                <a:latin typeface="Calibri"/>
                <a:ea typeface="+mn-ea"/>
                <a:cs typeface="+mn-cs"/>
              </a:rPr>
              <a:t>Perfect (first-degree) price discrimination</a:t>
            </a:r>
          </a:p>
        </p:txBody>
      </p:sp>
      <p:sp>
        <p:nvSpPr>
          <p:cNvPr id="22" name="Rounded Rectangle 21"/>
          <p:cNvSpPr/>
          <p:nvPr/>
        </p:nvSpPr>
        <p:spPr>
          <a:xfrm>
            <a:off x="2544465" y="5040150"/>
            <a:ext cx="2047413" cy="91258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Firm has information on groups of customers</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none" strike="noStrike" kern="1200" cap="none" spc="0" normalizeH="0" baseline="0" noProof="0" dirty="0">
                <a:ln>
                  <a:noFill/>
                </a:ln>
                <a:solidFill>
                  <a:prstClr val="black"/>
                </a:solidFill>
                <a:effectLst/>
                <a:uLnTx/>
                <a:uFillTx/>
                <a:latin typeface="Calibri"/>
                <a:ea typeface="+mn-ea"/>
                <a:cs typeface="+mn-cs"/>
              </a:rPr>
              <a:t>-----------------------------------------</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none" strike="noStrike" kern="1200" cap="none" spc="0" normalizeH="0" baseline="0" noProof="0" dirty="0">
                <a:ln>
                  <a:noFill/>
                </a:ln>
                <a:solidFill>
                  <a:prstClr val="black"/>
                </a:solidFill>
                <a:effectLst/>
                <a:uLnTx/>
                <a:uFillTx/>
                <a:latin typeface="Calibri"/>
                <a:ea typeface="+mn-ea"/>
                <a:cs typeface="+mn-cs"/>
              </a:rPr>
              <a:t>Segmenting (third-degree) price discrimination</a:t>
            </a:r>
          </a:p>
        </p:txBody>
      </p:sp>
      <p:cxnSp>
        <p:nvCxnSpPr>
          <p:cNvPr id="25" name="Straight Arrow Connector 24"/>
          <p:cNvCxnSpPr>
            <a:stCxn id="9" idx="3"/>
            <a:endCxn id="13" idx="1"/>
          </p:cNvCxnSpPr>
          <p:nvPr/>
        </p:nvCxnSpPr>
        <p:spPr>
          <a:xfrm>
            <a:off x="5661175" y="1219529"/>
            <a:ext cx="905294" cy="0"/>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7" name="Straight Arrow Connector 26"/>
          <p:cNvCxnSpPr/>
          <p:nvPr/>
        </p:nvCxnSpPr>
        <p:spPr>
          <a:xfrm>
            <a:off x="5661174" y="3305805"/>
            <a:ext cx="898670" cy="0"/>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7" name="Straight Arrow Connector 36"/>
          <p:cNvCxnSpPr/>
          <p:nvPr/>
        </p:nvCxnSpPr>
        <p:spPr>
          <a:xfrm>
            <a:off x="2092235" y="4798692"/>
            <a:ext cx="1099" cy="241461"/>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Straight Arrow Connector 38"/>
          <p:cNvCxnSpPr/>
          <p:nvPr/>
        </p:nvCxnSpPr>
        <p:spPr>
          <a:xfrm>
            <a:off x="2824119" y="4798692"/>
            <a:ext cx="1099" cy="241461"/>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2" name="TextBox 41"/>
          <p:cNvSpPr txBox="1"/>
          <p:nvPr/>
        </p:nvSpPr>
        <p:spPr>
          <a:xfrm>
            <a:off x="5863173" y="1022462"/>
            <a:ext cx="352982" cy="2616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a:ea typeface="+mn-ea"/>
                <a:cs typeface="+mn-cs"/>
              </a:rPr>
              <a:t>No</a:t>
            </a:r>
            <a:endParaRPr kumimoji="0" lang="en-US" sz="1100" b="1" i="0" u="none" strike="noStrike" kern="1200" cap="none" spc="0" normalizeH="0" baseline="0" noProof="0" dirty="0">
              <a:ln>
                <a:noFill/>
              </a:ln>
              <a:solidFill>
                <a:prstClr val="black"/>
              </a:solidFill>
              <a:effectLst/>
              <a:uLnTx/>
              <a:uFillTx/>
              <a:latin typeface="Calibri"/>
              <a:ea typeface="+mn-ea"/>
              <a:cs typeface="+mn-cs"/>
            </a:endParaRPr>
          </a:p>
        </p:txBody>
      </p:sp>
      <p:sp>
        <p:nvSpPr>
          <p:cNvPr id="46" name="TextBox 45"/>
          <p:cNvSpPr txBox="1"/>
          <p:nvPr/>
        </p:nvSpPr>
        <p:spPr>
          <a:xfrm>
            <a:off x="5864040" y="3092691"/>
            <a:ext cx="352982" cy="2616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a:ea typeface="+mn-ea"/>
                <a:cs typeface="+mn-cs"/>
              </a:rPr>
              <a:t>No</a:t>
            </a:r>
            <a:endParaRPr kumimoji="0" lang="en-US" sz="1100" b="1" i="0" u="none" strike="noStrike" kern="1200" cap="none" spc="0" normalizeH="0" baseline="0" noProof="0" dirty="0">
              <a:ln>
                <a:noFill/>
              </a:ln>
              <a:solidFill>
                <a:prstClr val="black"/>
              </a:solidFill>
              <a:effectLst/>
              <a:uLnTx/>
              <a:uFillTx/>
              <a:latin typeface="Calibri"/>
              <a:ea typeface="+mn-ea"/>
              <a:cs typeface="+mn-cs"/>
            </a:endParaRPr>
          </a:p>
        </p:txBody>
      </p:sp>
      <p:grpSp>
        <p:nvGrpSpPr>
          <p:cNvPr id="55" name="Group 54"/>
          <p:cNvGrpSpPr/>
          <p:nvPr/>
        </p:nvGrpSpPr>
        <p:grpSpPr>
          <a:xfrm>
            <a:off x="4639225" y="1502297"/>
            <a:ext cx="385042" cy="477412"/>
            <a:chOff x="4871135" y="645047"/>
            <a:chExt cx="385042" cy="580780"/>
          </a:xfrm>
        </p:grpSpPr>
        <p:sp>
          <p:nvSpPr>
            <p:cNvPr id="44" name="TextBox 43"/>
            <p:cNvSpPr txBox="1"/>
            <p:nvPr/>
          </p:nvSpPr>
          <p:spPr>
            <a:xfrm>
              <a:off x="4871135" y="739387"/>
              <a:ext cx="385042" cy="318253"/>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Calibri"/>
                  <a:ea typeface="+mn-ea"/>
                  <a:cs typeface="+mn-cs"/>
                </a:rPr>
                <a:t>Yes</a:t>
              </a:r>
            </a:p>
          </p:txBody>
        </p:sp>
        <p:grpSp>
          <p:nvGrpSpPr>
            <p:cNvPr id="51" name="Group 50"/>
            <p:cNvGrpSpPr/>
            <p:nvPr/>
          </p:nvGrpSpPr>
          <p:grpSpPr>
            <a:xfrm>
              <a:off x="5038697" y="645047"/>
              <a:ext cx="5497" cy="580780"/>
              <a:chOff x="5038697" y="645047"/>
              <a:chExt cx="5497" cy="580780"/>
            </a:xfrm>
          </p:grpSpPr>
          <p:cxnSp>
            <p:nvCxnSpPr>
              <p:cNvPr id="29" name="Straight Arrow Connector 28"/>
              <p:cNvCxnSpPr/>
              <p:nvPr/>
            </p:nvCxnSpPr>
            <p:spPr>
              <a:xfrm>
                <a:off x="5044194" y="645047"/>
                <a:ext cx="0" cy="169962"/>
              </a:xfrm>
              <a:prstGeom prst="straightConnector1">
                <a:avLst/>
              </a:prstGeom>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9" name="Straight Arrow Connector 48"/>
              <p:cNvCxnSpPr/>
              <p:nvPr/>
            </p:nvCxnSpPr>
            <p:spPr>
              <a:xfrm>
                <a:off x="5038697" y="991926"/>
                <a:ext cx="5497" cy="233901"/>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grpSp>
      <p:grpSp>
        <p:nvGrpSpPr>
          <p:cNvPr id="56" name="Group 55"/>
          <p:cNvGrpSpPr/>
          <p:nvPr/>
        </p:nvGrpSpPr>
        <p:grpSpPr>
          <a:xfrm>
            <a:off x="4655607" y="2552970"/>
            <a:ext cx="385042" cy="468388"/>
            <a:chOff x="4871135" y="645047"/>
            <a:chExt cx="385042" cy="580780"/>
          </a:xfrm>
        </p:grpSpPr>
        <p:sp>
          <p:nvSpPr>
            <p:cNvPr id="57" name="TextBox 56"/>
            <p:cNvSpPr txBox="1"/>
            <p:nvPr/>
          </p:nvSpPr>
          <p:spPr>
            <a:xfrm>
              <a:off x="4871135" y="738765"/>
              <a:ext cx="385042" cy="32438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Calibri"/>
                  <a:ea typeface="+mn-ea"/>
                  <a:cs typeface="+mn-cs"/>
                </a:rPr>
                <a:t>Yes</a:t>
              </a:r>
            </a:p>
          </p:txBody>
        </p:sp>
        <p:grpSp>
          <p:nvGrpSpPr>
            <p:cNvPr id="58" name="Group 57"/>
            <p:cNvGrpSpPr/>
            <p:nvPr/>
          </p:nvGrpSpPr>
          <p:grpSpPr>
            <a:xfrm>
              <a:off x="5038697" y="645047"/>
              <a:ext cx="5497" cy="580780"/>
              <a:chOff x="5038697" y="645047"/>
              <a:chExt cx="5497" cy="580780"/>
            </a:xfrm>
          </p:grpSpPr>
          <p:cxnSp>
            <p:nvCxnSpPr>
              <p:cNvPr id="59" name="Straight Arrow Connector 58"/>
              <p:cNvCxnSpPr/>
              <p:nvPr/>
            </p:nvCxnSpPr>
            <p:spPr>
              <a:xfrm>
                <a:off x="5041996" y="645047"/>
                <a:ext cx="2198" cy="169962"/>
              </a:xfrm>
              <a:prstGeom prst="straightConnector1">
                <a:avLst/>
              </a:prstGeom>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0" name="Straight Arrow Connector 59"/>
              <p:cNvCxnSpPr/>
              <p:nvPr/>
            </p:nvCxnSpPr>
            <p:spPr>
              <a:xfrm>
                <a:off x="5038697" y="991926"/>
                <a:ext cx="5497" cy="233901"/>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grpSp>
      <p:grpSp>
        <p:nvGrpSpPr>
          <p:cNvPr id="63" name="Group 62"/>
          <p:cNvGrpSpPr/>
          <p:nvPr/>
        </p:nvGrpSpPr>
        <p:grpSpPr>
          <a:xfrm>
            <a:off x="4639225" y="3596918"/>
            <a:ext cx="385042" cy="437236"/>
            <a:chOff x="4871135" y="645047"/>
            <a:chExt cx="385042" cy="580780"/>
          </a:xfrm>
        </p:grpSpPr>
        <p:sp>
          <p:nvSpPr>
            <p:cNvPr id="64" name="TextBox 63"/>
            <p:cNvSpPr txBox="1"/>
            <p:nvPr/>
          </p:nvSpPr>
          <p:spPr>
            <a:xfrm>
              <a:off x="4871135" y="708825"/>
              <a:ext cx="385042" cy="351053"/>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Calibri"/>
                  <a:ea typeface="+mn-ea"/>
                  <a:cs typeface="+mn-cs"/>
                </a:rPr>
                <a:t>Yes</a:t>
              </a:r>
            </a:p>
          </p:txBody>
        </p:sp>
        <p:grpSp>
          <p:nvGrpSpPr>
            <p:cNvPr id="65" name="Group 64"/>
            <p:cNvGrpSpPr/>
            <p:nvPr/>
          </p:nvGrpSpPr>
          <p:grpSpPr>
            <a:xfrm>
              <a:off x="5038697" y="645047"/>
              <a:ext cx="5497" cy="580780"/>
              <a:chOff x="5038697" y="645047"/>
              <a:chExt cx="5497" cy="580780"/>
            </a:xfrm>
          </p:grpSpPr>
          <p:cxnSp>
            <p:nvCxnSpPr>
              <p:cNvPr id="66" name="Straight Arrow Connector 65"/>
              <p:cNvCxnSpPr/>
              <p:nvPr/>
            </p:nvCxnSpPr>
            <p:spPr>
              <a:xfrm>
                <a:off x="5041996" y="645047"/>
                <a:ext cx="2198" cy="169962"/>
              </a:xfrm>
              <a:prstGeom prst="straightConnector1">
                <a:avLst/>
              </a:prstGeom>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7" name="Straight Arrow Connector 66"/>
              <p:cNvCxnSpPr/>
              <p:nvPr/>
            </p:nvCxnSpPr>
            <p:spPr>
              <a:xfrm>
                <a:off x="5038697" y="991926"/>
                <a:ext cx="5497" cy="233901"/>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grpSp>
      <p:sp>
        <p:nvSpPr>
          <p:cNvPr id="78" name="TextBox 77"/>
          <p:cNvSpPr txBox="1"/>
          <p:nvPr/>
        </p:nvSpPr>
        <p:spPr>
          <a:xfrm>
            <a:off x="3369039" y="4424170"/>
            <a:ext cx="385042" cy="2616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Calibri"/>
                <a:ea typeface="+mn-ea"/>
                <a:cs typeface="+mn-cs"/>
              </a:rPr>
              <a:t>Yes</a:t>
            </a:r>
          </a:p>
        </p:txBody>
      </p:sp>
      <p:grpSp>
        <p:nvGrpSpPr>
          <p:cNvPr id="83" name="Group 82"/>
          <p:cNvGrpSpPr/>
          <p:nvPr/>
        </p:nvGrpSpPr>
        <p:grpSpPr>
          <a:xfrm rot="5400000">
            <a:off x="3531017" y="4055719"/>
            <a:ext cx="2170" cy="1018647"/>
            <a:chOff x="3644518" y="3147206"/>
            <a:chExt cx="2170" cy="1018647"/>
          </a:xfrm>
        </p:grpSpPr>
        <p:cxnSp>
          <p:nvCxnSpPr>
            <p:cNvPr id="80" name="Straight Arrow Connector 79"/>
            <p:cNvCxnSpPr/>
            <p:nvPr/>
          </p:nvCxnSpPr>
          <p:spPr>
            <a:xfrm rot="16200000" flipH="1">
              <a:off x="3499102" y="3294792"/>
              <a:ext cx="295171" cy="0"/>
            </a:xfrm>
            <a:prstGeom prst="straightConnector1">
              <a:avLst/>
            </a:prstGeom>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1" name="Straight Arrow Connector 80"/>
            <p:cNvCxnSpPr/>
            <p:nvPr/>
          </p:nvCxnSpPr>
          <p:spPr>
            <a:xfrm rot="16200000" flipH="1">
              <a:off x="3456931" y="3978267"/>
              <a:ext cx="375173" cy="0"/>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87" name="TextBox 86"/>
          <p:cNvSpPr txBox="1"/>
          <p:nvPr/>
        </p:nvSpPr>
        <p:spPr>
          <a:xfrm>
            <a:off x="5863174" y="4373269"/>
            <a:ext cx="362111"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Calibri"/>
                <a:ea typeface="+mn-ea"/>
                <a:cs typeface="+mn-cs"/>
              </a:rPr>
              <a:t>No</a:t>
            </a:r>
          </a:p>
        </p:txBody>
      </p:sp>
      <p:cxnSp>
        <p:nvCxnSpPr>
          <p:cNvPr id="100" name="Straight Arrow Connector 99"/>
          <p:cNvCxnSpPr/>
          <p:nvPr/>
        </p:nvCxnSpPr>
        <p:spPr>
          <a:xfrm>
            <a:off x="5670304" y="2270151"/>
            <a:ext cx="898668" cy="0"/>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1" name="TextBox 100"/>
          <p:cNvSpPr txBox="1"/>
          <p:nvPr/>
        </p:nvSpPr>
        <p:spPr>
          <a:xfrm>
            <a:off x="5872302" y="2073084"/>
            <a:ext cx="352982" cy="2616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a:ea typeface="+mn-ea"/>
                <a:cs typeface="+mn-cs"/>
              </a:rPr>
              <a:t>No</a:t>
            </a:r>
            <a:endParaRPr kumimoji="0" lang="en-US" sz="1100" b="1" i="0" u="none" strike="noStrike" kern="1200" cap="none" spc="0" normalizeH="0" baseline="0" noProof="0" dirty="0">
              <a:ln>
                <a:noFill/>
              </a:ln>
              <a:solidFill>
                <a:prstClr val="black"/>
              </a:solidFill>
              <a:effectLst/>
              <a:uLnTx/>
              <a:uFillTx/>
              <a:latin typeface="Calibri"/>
              <a:ea typeface="+mn-ea"/>
              <a:cs typeface="+mn-cs"/>
            </a:endParaRPr>
          </a:p>
        </p:txBody>
      </p:sp>
      <p:sp>
        <p:nvSpPr>
          <p:cNvPr id="3" name="TextBox 2"/>
          <p:cNvSpPr txBox="1"/>
          <p:nvPr/>
        </p:nvSpPr>
        <p:spPr>
          <a:xfrm>
            <a:off x="292977" y="6503831"/>
            <a:ext cx="3742106"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Source: </a:t>
            </a:r>
            <a:r>
              <a:rPr kumimoji="0" lang="en-US" sz="1800" b="0" i="0" u="none" strike="noStrike" kern="1200" cap="none" spc="0" normalizeH="0" baseline="0" noProof="0" dirty="0" err="1">
                <a:ln>
                  <a:noFill/>
                </a:ln>
                <a:solidFill>
                  <a:prstClr val="black"/>
                </a:solidFill>
                <a:effectLst/>
                <a:uLnTx/>
                <a:uFillTx/>
                <a:latin typeface="Calibri"/>
                <a:ea typeface="+mn-ea"/>
                <a:cs typeface="+mn-cs"/>
              </a:rPr>
              <a:t>Goolsbee</a:t>
            </a:r>
            <a:r>
              <a:rPr kumimoji="0" lang="en-US" sz="1800" b="0" i="0" u="none" strike="noStrike" kern="1200" cap="none" spc="0" normalizeH="0" baseline="0" noProof="0" dirty="0">
                <a:ln>
                  <a:noFill/>
                </a:ln>
                <a:solidFill>
                  <a:prstClr val="black"/>
                </a:solidFill>
                <a:effectLst/>
                <a:uLnTx/>
                <a:uFillTx/>
                <a:latin typeface="Calibri"/>
                <a:ea typeface="+mn-ea"/>
                <a:cs typeface="+mn-cs"/>
              </a:rPr>
              <a:t>, Levitt, </a:t>
            </a:r>
            <a:r>
              <a:rPr kumimoji="0" lang="en-US" sz="1800" b="0" i="0" u="none" strike="noStrike" kern="1200" cap="none" spc="0" normalizeH="0" baseline="0" noProof="0" dirty="0" err="1">
                <a:ln>
                  <a:noFill/>
                </a:ln>
                <a:solidFill>
                  <a:prstClr val="black"/>
                </a:solidFill>
                <a:effectLst/>
                <a:uLnTx/>
                <a:uFillTx/>
                <a:latin typeface="Calibri"/>
                <a:ea typeface="+mn-ea"/>
                <a:cs typeface="+mn-cs"/>
              </a:rPr>
              <a:t>Syverson</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id="{6E3D2D88-7161-CA43-86F4-B787D160A60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64</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cxnSp>
        <p:nvCxnSpPr>
          <p:cNvPr id="45" name="Straight Arrow Connector 44">
            <a:extLst>
              <a:ext uri="{FF2B5EF4-FFF2-40B4-BE49-F238E27FC236}">
                <a16:creationId xmlns:a16="http://schemas.microsoft.com/office/drawing/2014/main" id="{29E92A36-D343-4E48-8359-77F17D6B30B4}"/>
              </a:ext>
            </a:extLst>
          </p:cNvPr>
          <p:cNvCxnSpPr/>
          <p:nvPr/>
        </p:nvCxnSpPr>
        <p:spPr>
          <a:xfrm>
            <a:off x="5661174" y="4576797"/>
            <a:ext cx="898670" cy="0"/>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50108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8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6"/>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8" grpId="0" animBg="1"/>
      <p:bldP spid="20" grpId="0" animBg="1"/>
      <p:bldP spid="22" grpId="0" animBg="1"/>
      <p:bldP spid="42" grpId="0"/>
      <p:bldP spid="46" grpId="0"/>
      <p:bldP spid="78" grpId="0"/>
      <p:bldP spid="87" grpId="0"/>
      <p:bldP spid="101" grpId="0"/>
    </p:bld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019B4-8F99-41F5-A65F-5BC41610269C}"/>
              </a:ext>
            </a:extLst>
          </p:cNvPr>
          <p:cNvSpPr>
            <a:spLocks noGrp="1"/>
          </p:cNvSpPr>
          <p:nvPr>
            <p:ph type="title"/>
          </p:nvPr>
        </p:nvSpPr>
        <p:spPr>
          <a:xfrm>
            <a:off x="457200" y="2529452"/>
            <a:ext cx="8229600" cy="1143000"/>
          </a:xfrm>
        </p:spPr>
        <p:txBody>
          <a:bodyPr>
            <a:noAutofit/>
          </a:bodyPr>
          <a:lstStyle/>
          <a:p>
            <a:r>
              <a:rPr lang="fr-FR" sz="3600" dirty="0" err="1"/>
              <a:t>Some</a:t>
            </a:r>
            <a:r>
              <a:rPr lang="fr-FR" sz="3600" dirty="0"/>
              <a:t> </a:t>
            </a:r>
            <a:r>
              <a:rPr lang="fr-FR" sz="3600" dirty="0" err="1"/>
              <a:t>Examples</a:t>
            </a:r>
            <a:r>
              <a:rPr lang="fr-FR" sz="3600" dirty="0"/>
              <a:t> for Innovative Pricing </a:t>
            </a:r>
            <a:r>
              <a:rPr lang="fr-FR" sz="3600" dirty="0" err="1"/>
              <a:t>Strategies</a:t>
            </a:r>
            <a:endParaRPr lang="en-US" sz="3600" dirty="0"/>
          </a:p>
        </p:txBody>
      </p:sp>
    </p:spTree>
    <p:extLst>
      <p:ext uri="{BB962C8B-B14F-4D97-AF65-F5344CB8AC3E}">
        <p14:creationId xmlns:p14="http://schemas.microsoft.com/office/powerpoint/2010/main" val="6714086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mad optimist</a:t>
            </a:r>
          </a:p>
        </p:txBody>
      </p:sp>
      <p:sp>
        <p:nvSpPr>
          <p:cNvPr id="5" name="Content Placeholder 4">
            <a:extLst>
              <a:ext uri="{FF2B5EF4-FFF2-40B4-BE49-F238E27FC236}">
                <a16:creationId xmlns:a16="http://schemas.microsoft.com/office/drawing/2014/main" id="{8BA021ED-1A66-42B2-8E6B-88E183C1FAAA}"/>
              </a:ext>
            </a:extLst>
          </p:cNvPr>
          <p:cNvSpPr>
            <a:spLocks noGrp="1"/>
          </p:cNvSpPr>
          <p:nvPr>
            <p:ph idx="1"/>
          </p:nvPr>
        </p:nvSpPr>
        <p:spPr>
          <a:xfrm>
            <a:off x="457200" y="1088571"/>
            <a:ext cx="8371114" cy="4857377"/>
          </a:xfrm>
        </p:spPr>
        <p:txBody>
          <a:bodyPr/>
          <a:lstStyle/>
          <a:p>
            <a:r>
              <a:rPr lang="en-US" dirty="0"/>
              <a:t>An interesting way to extract consumer surplus</a:t>
            </a:r>
          </a:p>
        </p:txBody>
      </p:sp>
      <p:pic>
        <p:nvPicPr>
          <p:cNvPr id="6" name="Picture 5">
            <a:hlinkClick r:id="rId3"/>
            <a:extLst>
              <a:ext uri="{FF2B5EF4-FFF2-40B4-BE49-F238E27FC236}">
                <a16:creationId xmlns:a16="http://schemas.microsoft.com/office/drawing/2014/main" id="{DF559357-8688-41C6-BA4B-0497FAFA1C2C}"/>
              </a:ext>
            </a:extLst>
          </p:cNvPr>
          <p:cNvPicPr>
            <a:picLocks noChangeAspect="1"/>
          </p:cNvPicPr>
          <p:nvPr/>
        </p:nvPicPr>
        <p:blipFill>
          <a:blip r:embed="rId4"/>
          <a:stretch>
            <a:fillRect/>
          </a:stretch>
        </p:blipFill>
        <p:spPr>
          <a:xfrm>
            <a:off x="315686" y="1720669"/>
            <a:ext cx="8828314" cy="4649728"/>
          </a:xfrm>
          <a:prstGeom prst="rect">
            <a:avLst/>
          </a:prstGeom>
        </p:spPr>
      </p:pic>
    </p:spTree>
    <p:extLst>
      <p:ext uri="{BB962C8B-B14F-4D97-AF65-F5344CB8AC3E}">
        <p14:creationId xmlns:p14="http://schemas.microsoft.com/office/powerpoint/2010/main" val="2901103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3986" y="127215"/>
            <a:ext cx="8911526" cy="1143000"/>
          </a:xfrm>
        </p:spPr>
        <p:txBody>
          <a:bodyPr/>
          <a:lstStyle/>
          <a:p>
            <a:r>
              <a:rPr lang="en-US" dirty="0"/>
              <a:t>The mad optimist – “Choose your Price”</a:t>
            </a:r>
          </a:p>
        </p:txBody>
      </p:sp>
      <p:pic>
        <p:nvPicPr>
          <p:cNvPr id="3" name="Picture 2"/>
          <p:cNvPicPr>
            <a:picLocks noChangeAspect="1"/>
          </p:cNvPicPr>
          <p:nvPr/>
        </p:nvPicPr>
        <p:blipFill>
          <a:blip r:embed="rId3"/>
          <a:stretch>
            <a:fillRect/>
          </a:stretch>
        </p:blipFill>
        <p:spPr>
          <a:xfrm>
            <a:off x="457200" y="1456841"/>
            <a:ext cx="8394750" cy="4349297"/>
          </a:xfrm>
          <a:prstGeom prst="rect">
            <a:avLst/>
          </a:prstGeom>
        </p:spPr>
      </p:pic>
    </p:spTree>
    <p:extLst>
      <p:ext uri="{BB962C8B-B14F-4D97-AF65-F5344CB8AC3E}">
        <p14:creationId xmlns:p14="http://schemas.microsoft.com/office/powerpoint/2010/main" val="1932056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Rent the runway</a:t>
            </a:r>
          </a:p>
        </p:txBody>
      </p:sp>
      <p:sp>
        <p:nvSpPr>
          <p:cNvPr id="3" name="Content Placeholder 2">
            <a:extLst>
              <a:ext uri="{FF2B5EF4-FFF2-40B4-BE49-F238E27FC236}">
                <a16:creationId xmlns:a16="http://schemas.microsoft.com/office/drawing/2014/main" id="{47F06DCD-1FFE-407F-B6EC-03179983C614}"/>
              </a:ext>
            </a:extLst>
          </p:cNvPr>
          <p:cNvSpPr>
            <a:spLocks noGrp="1"/>
          </p:cNvSpPr>
          <p:nvPr>
            <p:ph idx="1"/>
          </p:nvPr>
        </p:nvSpPr>
        <p:spPr>
          <a:xfrm>
            <a:off x="457200" y="1099457"/>
            <a:ext cx="8229600" cy="4846491"/>
          </a:xfrm>
        </p:spPr>
        <p:txBody>
          <a:bodyPr/>
          <a:lstStyle/>
          <a:p>
            <a:r>
              <a:rPr lang="en-US" dirty="0"/>
              <a:t>Combination of block pricing and versioning</a:t>
            </a:r>
          </a:p>
        </p:txBody>
      </p:sp>
      <p:pic>
        <p:nvPicPr>
          <p:cNvPr id="2" name="Picture 1">
            <a:extLst>
              <a:ext uri="{FF2B5EF4-FFF2-40B4-BE49-F238E27FC236}">
                <a16:creationId xmlns:a16="http://schemas.microsoft.com/office/drawing/2014/main" id="{328F62E7-EFA8-4BF1-83B6-E6A6A5016A7D}"/>
              </a:ext>
            </a:extLst>
          </p:cNvPr>
          <p:cNvPicPr>
            <a:picLocks noChangeAspect="1"/>
          </p:cNvPicPr>
          <p:nvPr/>
        </p:nvPicPr>
        <p:blipFill>
          <a:blip r:embed="rId3"/>
          <a:stretch>
            <a:fillRect/>
          </a:stretch>
        </p:blipFill>
        <p:spPr>
          <a:xfrm>
            <a:off x="288757" y="1954390"/>
            <a:ext cx="8566485" cy="4135545"/>
          </a:xfrm>
          <a:prstGeom prst="rect">
            <a:avLst/>
          </a:prstGeom>
        </p:spPr>
      </p:pic>
    </p:spTree>
    <p:extLst>
      <p:ext uri="{BB962C8B-B14F-4D97-AF65-F5344CB8AC3E}">
        <p14:creationId xmlns:p14="http://schemas.microsoft.com/office/powerpoint/2010/main" val="1550574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mad optimist</a:t>
            </a:r>
          </a:p>
        </p:txBody>
      </p:sp>
      <p:sp>
        <p:nvSpPr>
          <p:cNvPr id="5" name="Content Placeholder 4">
            <a:extLst>
              <a:ext uri="{FF2B5EF4-FFF2-40B4-BE49-F238E27FC236}">
                <a16:creationId xmlns:a16="http://schemas.microsoft.com/office/drawing/2014/main" id="{8BA021ED-1A66-42B2-8E6B-88E183C1FAAA}"/>
              </a:ext>
            </a:extLst>
          </p:cNvPr>
          <p:cNvSpPr>
            <a:spLocks noGrp="1"/>
          </p:cNvSpPr>
          <p:nvPr>
            <p:ph idx="1"/>
          </p:nvPr>
        </p:nvSpPr>
        <p:spPr>
          <a:xfrm>
            <a:off x="457200" y="1088571"/>
            <a:ext cx="8371114" cy="4857377"/>
          </a:xfrm>
        </p:spPr>
        <p:txBody>
          <a:bodyPr/>
          <a:lstStyle/>
          <a:p>
            <a:r>
              <a:rPr lang="en-US" dirty="0"/>
              <a:t>An interesting way to extract consumer surplus</a:t>
            </a:r>
          </a:p>
        </p:txBody>
      </p:sp>
      <p:pic>
        <p:nvPicPr>
          <p:cNvPr id="6" name="Picture 5">
            <a:extLst>
              <a:ext uri="{FF2B5EF4-FFF2-40B4-BE49-F238E27FC236}">
                <a16:creationId xmlns:a16="http://schemas.microsoft.com/office/drawing/2014/main" id="{DF559357-8688-41C6-BA4B-0497FAFA1C2C}"/>
              </a:ext>
            </a:extLst>
          </p:cNvPr>
          <p:cNvPicPr>
            <a:picLocks noChangeAspect="1"/>
          </p:cNvPicPr>
          <p:nvPr/>
        </p:nvPicPr>
        <p:blipFill>
          <a:blip r:embed="rId3"/>
          <a:stretch>
            <a:fillRect/>
          </a:stretch>
        </p:blipFill>
        <p:spPr>
          <a:xfrm>
            <a:off x="315686" y="1720669"/>
            <a:ext cx="8828314" cy="4649728"/>
          </a:xfrm>
          <a:prstGeom prst="rect">
            <a:avLst/>
          </a:prstGeom>
        </p:spPr>
      </p:pic>
    </p:spTree>
    <p:extLst>
      <p:ext uri="{BB962C8B-B14F-4D97-AF65-F5344CB8AC3E}">
        <p14:creationId xmlns:p14="http://schemas.microsoft.com/office/powerpoint/2010/main" val="3995865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3986" y="127215"/>
            <a:ext cx="8911526" cy="1143000"/>
          </a:xfrm>
        </p:spPr>
        <p:txBody>
          <a:bodyPr/>
          <a:lstStyle/>
          <a:p>
            <a:r>
              <a:rPr lang="en-US" dirty="0"/>
              <a:t>The mad optimist – “Choose your Price”</a:t>
            </a:r>
          </a:p>
        </p:txBody>
      </p:sp>
      <p:pic>
        <p:nvPicPr>
          <p:cNvPr id="3" name="Picture 2"/>
          <p:cNvPicPr>
            <a:picLocks noChangeAspect="1"/>
          </p:cNvPicPr>
          <p:nvPr/>
        </p:nvPicPr>
        <p:blipFill>
          <a:blip r:embed="rId3"/>
          <a:stretch>
            <a:fillRect/>
          </a:stretch>
        </p:blipFill>
        <p:spPr>
          <a:xfrm>
            <a:off x="457200" y="1456841"/>
            <a:ext cx="8394750" cy="4349297"/>
          </a:xfrm>
          <a:prstGeom prst="rect">
            <a:avLst/>
          </a:prstGeom>
        </p:spPr>
      </p:pic>
    </p:spTree>
    <p:extLst>
      <p:ext uri="{BB962C8B-B14F-4D97-AF65-F5344CB8AC3E}">
        <p14:creationId xmlns:p14="http://schemas.microsoft.com/office/powerpoint/2010/main" val="1722941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B8743-C968-410C-9C75-27FBED8D127D}"/>
              </a:ext>
            </a:extLst>
          </p:cNvPr>
          <p:cNvSpPr>
            <a:spLocks noGrp="1"/>
          </p:cNvSpPr>
          <p:nvPr>
            <p:ph type="title"/>
          </p:nvPr>
        </p:nvSpPr>
        <p:spPr/>
        <p:txBody>
          <a:bodyPr/>
          <a:lstStyle/>
          <a:p>
            <a:r>
              <a:rPr lang="en-US" dirty="0"/>
              <a:t>The economist pricing example</a:t>
            </a:r>
          </a:p>
        </p:txBody>
      </p:sp>
      <p:pic>
        <p:nvPicPr>
          <p:cNvPr id="2050" name="Picture 2" descr="The decoy pricing example from The Economist.">
            <a:extLst>
              <a:ext uri="{FF2B5EF4-FFF2-40B4-BE49-F238E27FC236}">
                <a16:creationId xmlns:a16="http://schemas.microsoft.com/office/drawing/2014/main" id="{6DB10775-7909-4589-8F87-24E41AEA5A6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7200" y="1912767"/>
            <a:ext cx="4505674" cy="3514843"/>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3">
            <a:extLst>
              <a:ext uri="{FF2B5EF4-FFF2-40B4-BE49-F238E27FC236}">
                <a16:creationId xmlns:a16="http://schemas.microsoft.com/office/drawing/2014/main" id="{0CD3665E-18B1-452B-BE7D-3069B6531CC8}"/>
              </a:ext>
            </a:extLst>
          </p:cNvPr>
          <p:cNvSpPr txBox="1">
            <a:spLocks/>
          </p:cNvSpPr>
          <p:nvPr/>
        </p:nvSpPr>
        <p:spPr>
          <a:xfrm>
            <a:off x="5173325" y="1771272"/>
            <a:ext cx="3970675" cy="4525963"/>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563"/>
              </a:spcAft>
              <a:buFont typeface="Lucida Grande"/>
              <a:buNone/>
            </a:pPr>
            <a:r>
              <a:rPr lang="en-US" sz="2400" dirty="0"/>
              <a:t>What do you think about this pricing strategy?</a:t>
            </a:r>
          </a:p>
          <a:p>
            <a:pPr marL="0" indent="0">
              <a:spcAft>
                <a:spcPts val="563"/>
              </a:spcAft>
              <a:buFont typeface="Lucida Grande"/>
              <a:buNone/>
            </a:pPr>
            <a:endParaRPr lang="en-US" sz="1400" dirty="0"/>
          </a:p>
        </p:txBody>
      </p:sp>
      <p:sp>
        <p:nvSpPr>
          <p:cNvPr id="3" name="TextBox 2">
            <a:extLst>
              <a:ext uri="{FF2B5EF4-FFF2-40B4-BE49-F238E27FC236}">
                <a16:creationId xmlns:a16="http://schemas.microsoft.com/office/drawing/2014/main" id="{6FDFB1F0-5541-4644-B86F-FF54F11A69EE}"/>
              </a:ext>
            </a:extLst>
          </p:cNvPr>
          <p:cNvSpPr txBox="1"/>
          <p:nvPr/>
        </p:nvSpPr>
        <p:spPr>
          <a:xfrm>
            <a:off x="5083629" y="3200400"/>
            <a:ext cx="1317171" cy="461665"/>
          </a:xfrm>
          <a:prstGeom prst="rect">
            <a:avLst/>
          </a:prstGeom>
          <a:noFill/>
        </p:spPr>
        <p:txBody>
          <a:bodyPr wrap="square" rtlCol="0">
            <a:spAutoFit/>
          </a:bodyPr>
          <a:lstStyle/>
          <a:p>
            <a:r>
              <a:rPr lang="en-US" sz="2400" b="1" dirty="0">
                <a:sym typeface="Wingdings" panose="05000000000000000000" pitchFamily="2" charset="2"/>
              </a:rPr>
              <a:t> </a:t>
            </a:r>
            <a:r>
              <a:rPr lang="en-US" sz="2400" b="1" dirty="0"/>
              <a:t>16%</a:t>
            </a:r>
          </a:p>
        </p:txBody>
      </p:sp>
      <p:sp>
        <p:nvSpPr>
          <p:cNvPr id="6" name="TextBox 5">
            <a:extLst>
              <a:ext uri="{FF2B5EF4-FFF2-40B4-BE49-F238E27FC236}">
                <a16:creationId xmlns:a16="http://schemas.microsoft.com/office/drawing/2014/main" id="{2E5DD4D1-D95B-4711-9737-9B4080C91BD8}"/>
              </a:ext>
            </a:extLst>
          </p:cNvPr>
          <p:cNvSpPr txBox="1"/>
          <p:nvPr/>
        </p:nvSpPr>
        <p:spPr>
          <a:xfrm>
            <a:off x="5083629" y="4672617"/>
            <a:ext cx="1317171" cy="461665"/>
          </a:xfrm>
          <a:prstGeom prst="rect">
            <a:avLst/>
          </a:prstGeom>
          <a:noFill/>
        </p:spPr>
        <p:txBody>
          <a:bodyPr wrap="square" rtlCol="0">
            <a:spAutoFit/>
          </a:bodyPr>
          <a:lstStyle/>
          <a:p>
            <a:r>
              <a:rPr lang="en-US" sz="2400" b="1" dirty="0">
                <a:sym typeface="Wingdings" panose="05000000000000000000" pitchFamily="2" charset="2"/>
              </a:rPr>
              <a:t> </a:t>
            </a:r>
            <a:r>
              <a:rPr lang="en-US" sz="2400" b="1" dirty="0"/>
              <a:t>84%</a:t>
            </a:r>
          </a:p>
        </p:txBody>
      </p:sp>
      <p:sp>
        <p:nvSpPr>
          <p:cNvPr id="7" name="Content Placeholder 3">
            <a:extLst>
              <a:ext uri="{FF2B5EF4-FFF2-40B4-BE49-F238E27FC236}">
                <a16:creationId xmlns:a16="http://schemas.microsoft.com/office/drawing/2014/main" id="{C6D690A6-8B62-46AB-B302-3B29711CBB8D}"/>
              </a:ext>
            </a:extLst>
          </p:cNvPr>
          <p:cNvSpPr txBox="1">
            <a:spLocks/>
          </p:cNvSpPr>
          <p:nvPr/>
        </p:nvSpPr>
        <p:spPr>
          <a:xfrm>
            <a:off x="255814" y="5746387"/>
            <a:ext cx="8784771" cy="64754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563"/>
              </a:spcAft>
              <a:buFont typeface="Lucida Grande"/>
              <a:buNone/>
            </a:pPr>
            <a:r>
              <a:rPr lang="en-US" sz="2400" dirty="0"/>
              <a:t>Customer attention focused on the comparison between the two $125 options </a:t>
            </a:r>
          </a:p>
          <a:p>
            <a:pPr marL="0" indent="0">
              <a:spcAft>
                <a:spcPts val="563"/>
              </a:spcAft>
              <a:buFont typeface="Lucida Grande"/>
              <a:buNone/>
            </a:pPr>
            <a:endParaRPr lang="en-US" sz="1400" dirty="0"/>
          </a:p>
        </p:txBody>
      </p:sp>
    </p:spTree>
    <p:extLst>
      <p:ext uri="{BB962C8B-B14F-4D97-AF65-F5344CB8AC3E}">
        <p14:creationId xmlns:p14="http://schemas.microsoft.com/office/powerpoint/2010/main" val="521299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DC5A0-0689-401F-9770-AF75310B6079}"/>
              </a:ext>
            </a:extLst>
          </p:cNvPr>
          <p:cNvSpPr>
            <a:spLocks noGrp="1"/>
          </p:cNvSpPr>
          <p:nvPr>
            <p:ph type="title"/>
          </p:nvPr>
        </p:nvSpPr>
        <p:spPr/>
        <p:txBody>
          <a:bodyPr/>
          <a:lstStyle/>
          <a:p>
            <a:r>
              <a:rPr lang="en-US" dirty="0"/>
              <a:t>Dan </a:t>
            </a:r>
            <a:r>
              <a:rPr lang="en-US" dirty="0" err="1"/>
              <a:t>Ariely’s</a:t>
            </a:r>
            <a:r>
              <a:rPr lang="en-US" dirty="0"/>
              <a:t> experiment</a:t>
            </a:r>
          </a:p>
        </p:txBody>
      </p:sp>
      <p:sp>
        <p:nvSpPr>
          <p:cNvPr id="3" name="Content Placeholder 2">
            <a:extLst>
              <a:ext uri="{FF2B5EF4-FFF2-40B4-BE49-F238E27FC236}">
                <a16:creationId xmlns:a16="http://schemas.microsoft.com/office/drawing/2014/main" id="{F340ABF9-7F51-40B7-B86F-2B8B7EFEA68F}"/>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6AC3901D-03D2-439D-B6E3-2BD197B26DA3}"/>
              </a:ext>
            </a:extLst>
          </p:cNvPr>
          <p:cNvPicPr>
            <a:picLocks noChangeAspect="1"/>
          </p:cNvPicPr>
          <p:nvPr/>
        </p:nvPicPr>
        <p:blipFill>
          <a:blip r:embed="rId3"/>
          <a:stretch>
            <a:fillRect/>
          </a:stretch>
        </p:blipFill>
        <p:spPr>
          <a:xfrm>
            <a:off x="1472340" y="2102707"/>
            <a:ext cx="5632796" cy="3124201"/>
          </a:xfrm>
          <a:prstGeom prst="rect">
            <a:avLst/>
          </a:prstGeom>
        </p:spPr>
      </p:pic>
      <p:sp>
        <p:nvSpPr>
          <p:cNvPr id="5" name="Content Placeholder 3">
            <a:extLst>
              <a:ext uri="{FF2B5EF4-FFF2-40B4-BE49-F238E27FC236}">
                <a16:creationId xmlns:a16="http://schemas.microsoft.com/office/drawing/2014/main" id="{82809E26-C743-4D11-B567-48E81294E68C}"/>
              </a:ext>
            </a:extLst>
          </p:cNvPr>
          <p:cNvSpPr txBox="1">
            <a:spLocks/>
          </p:cNvSpPr>
          <p:nvPr/>
        </p:nvSpPr>
        <p:spPr>
          <a:xfrm>
            <a:off x="359229" y="5649686"/>
            <a:ext cx="7451917" cy="64754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563"/>
              </a:spcAft>
              <a:buFont typeface="Lucida Grande"/>
              <a:buNone/>
            </a:pPr>
            <a:r>
              <a:rPr lang="en-US" sz="2400" dirty="0"/>
              <a:t>Customer attention drawn to the comparison between $59 and $125 </a:t>
            </a:r>
          </a:p>
          <a:p>
            <a:pPr marL="0" indent="0">
              <a:spcAft>
                <a:spcPts val="563"/>
              </a:spcAft>
              <a:buFont typeface="Lucida Grande"/>
              <a:buNone/>
            </a:pPr>
            <a:endParaRPr lang="en-US" sz="1400" dirty="0"/>
          </a:p>
        </p:txBody>
      </p:sp>
    </p:spTree>
    <p:extLst>
      <p:ext uri="{BB962C8B-B14F-4D97-AF65-F5344CB8AC3E}">
        <p14:creationId xmlns:p14="http://schemas.microsoft.com/office/powerpoint/2010/main" val="4189482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C3F72-01C2-3E2F-AAD0-E47B79373257}"/>
              </a:ext>
            </a:extLst>
          </p:cNvPr>
          <p:cNvSpPr>
            <a:spLocks noGrp="1"/>
          </p:cNvSpPr>
          <p:nvPr>
            <p:ph type="title"/>
          </p:nvPr>
        </p:nvSpPr>
        <p:spPr/>
        <p:txBody>
          <a:bodyPr/>
          <a:lstStyle/>
          <a:p>
            <a:r>
              <a:rPr lang="en-US" dirty="0"/>
              <a:t>Behavioral insight:</a:t>
            </a:r>
            <a:br>
              <a:rPr lang="en-US" dirty="0"/>
            </a:br>
            <a:r>
              <a:rPr lang="en-US" dirty="0"/>
              <a:t>Price Framing</a:t>
            </a:r>
          </a:p>
        </p:txBody>
      </p:sp>
      <p:pic>
        <p:nvPicPr>
          <p:cNvPr id="6" name="Picture 5">
            <a:extLst>
              <a:ext uri="{FF2B5EF4-FFF2-40B4-BE49-F238E27FC236}">
                <a16:creationId xmlns:a16="http://schemas.microsoft.com/office/drawing/2014/main" id="{EF4ED2A8-089A-9B73-5390-300D500DF5F5}"/>
              </a:ext>
            </a:extLst>
          </p:cNvPr>
          <p:cNvPicPr>
            <a:picLocks noChangeAspect="1"/>
          </p:cNvPicPr>
          <p:nvPr/>
        </p:nvPicPr>
        <p:blipFill>
          <a:blip r:embed="rId3"/>
          <a:stretch>
            <a:fillRect/>
          </a:stretch>
        </p:blipFill>
        <p:spPr>
          <a:xfrm>
            <a:off x="457200" y="1750782"/>
            <a:ext cx="2466975" cy="1847850"/>
          </a:xfrm>
          <a:prstGeom prst="rect">
            <a:avLst/>
          </a:prstGeom>
        </p:spPr>
      </p:pic>
      <p:pic>
        <p:nvPicPr>
          <p:cNvPr id="7" name="Picture 6">
            <a:extLst>
              <a:ext uri="{FF2B5EF4-FFF2-40B4-BE49-F238E27FC236}">
                <a16:creationId xmlns:a16="http://schemas.microsoft.com/office/drawing/2014/main" id="{763F89B0-1334-6CCA-9B16-9649FA9B5815}"/>
              </a:ext>
            </a:extLst>
          </p:cNvPr>
          <p:cNvPicPr>
            <a:picLocks noChangeAspect="1"/>
          </p:cNvPicPr>
          <p:nvPr/>
        </p:nvPicPr>
        <p:blipFill>
          <a:blip r:embed="rId4"/>
          <a:stretch>
            <a:fillRect/>
          </a:stretch>
        </p:blipFill>
        <p:spPr>
          <a:xfrm>
            <a:off x="357678" y="3789673"/>
            <a:ext cx="2847975" cy="1600200"/>
          </a:xfrm>
          <a:prstGeom prst="rect">
            <a:avLst/>
          </a:prstGeom>
        </p:spPr>
      </p:pic>
      <p:sp>
        <p:nvSpPr>
          <p:cNvPr id="8" name="TextBox 7">
            <a:extLst>
              <a:ext uri="{FF2B5EF4-FFF2-40B4-BE49-F238E27FC236}">
                <a16:creationId xmlns:a16="http://schemas.microsoft.com/office/drawing/2014/main" id="{ADF01AA4-0294-CFE2-C9D0-B73A655105D0}"/>
              </a:ext>
            </a:extLst>
          </p:cNvPr>
          <p:cNvSpPr txBox="1"/>
          <p:nvPr/>
        </p:nvSpPr>
        <p:spPr>
          <a:xfrm>
            <a:off x="457200" y="5717357"/>
            <a:ext cx="3384223" cy="646331"/>
          </a:xfrm>
          <a:prstGeom prst="rect">
            <a:avLst/>
          </a:prstGeom>
          <a:noFill/>
        </p:spPr>
        <p:txBody>
          <a:bodyPr wrap="square" rtlCol="0">
            <a:spAutoFit/>
          </a:bodyPr>
          <a:lstStyle/>
          <a:p>
            <a:r>
              <a:rPr lang="en-US" dirty="0"/>
              <a:t>Prices ending in 9 or .99 draw focus to the previous digit.</a:t>
            </a:r>
          </a:p>
        </p:txBody>
      </p:sp>
      <p:grpSp>
        <p:nvGrpSpPr>
          <p:cNvPr id="3" name="Group 2">
            <a:extLst>
              <a:ext uri="{FF2B5EF4-FFF2-40B4-BE49-F238E27FC236}">
                <a16:creationId xmlns:a16="http://schemas.microsoft.com/office/drawing/2014/main" id="{C4E65BF6-BB24-4734-B63E-B01ED83F2967}"/>
              </a:ext>
            </a:extLst>
          </p:cNvPr>
          <p:cNvGrpSpPr/>
          <p:nvPr/>
        </p:nvGrpSpPr>
        <p:grpSpPr>
          <a:xfrm>
            <a:off x="3707583" y="1750782"/>
            <a:ext cx="5260157" cy="2628793"/>
            <a:chOff x="3707583" y="1750782"/>
            <a:chExt cx="5260157" cy="2628793"/>
          </a:xfrm>
        </p:grpSpPr>
        <p:sp>
          <p:nvSpPr>
            <p:cNvPr id="9" name="TextBox 8">
              <a:extLst>
                <a:ext uri="{FF2B5EF4-FFF2-40B4-BE49-F238E27FC236}">
                  <a16:creationId xmlns:a16="http://schemas.microsoft.com/office/drawing/2014/main" id="{9A1DDD9E-EADB-D6B8-9ADD-04A01FE19FC3}"/>
                </a:ext>
              </a:extLst>
            </p:cNvPr>
            <p:cNvSpPr txBox="1"/>
            <p:nvPr/>
          </p:nvSpPr>
          <p:spPr>
            <a:xfrm>
              <a:off x="4329751" y="1750782"/>
              <a:ext cx="4015819" cy="646331"/>
            </a:xfrm>
            <a:prstGeom prst="rect">
              <a:avLst/>
            </a:prstGeom>
            <a:noFill/>
          </p:spPr>
          <p:txBody>
            <a:bodyPr wrap="square" rtlCol="0">
              <a:spAutoFit/>
            </a:bodyPr>
            <a:lstStyle/>
            <a:p>
              <a:r>
                <a:rPr lang="en-US" dirty="0"/>
                <a:t>Adding highly priced option draws attention to intermediate prices</a:t>
              </a:r>
            </a:p>
          </p:txBody>
        </p:sp>
        <p:pic>
          <p:nvPicPr>
            <p:cNvPr id="3074" name="Picture 2">
              <a:extLst>
                <a:ext uri="{FF2B5EF4-FFF2-40B4-BE49-F238E27FC236}">
                  <a16:creationId xmlns:a16="http://schemas.microsoft.com/office/drawing/2014/main" id="{A770AFAF-BDA5-6FB1-7B60-0FE834A2BA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7583" y="2549479"/>
              <a:ext cx="5260157" cy="183009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677754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6861" y="1163639"/>
            <a:ext cx="8757139" cy="5550310"/>
          </a:xfrm>
        </p:spPr>
        <p:txBody>
          <a:bodyPr>
            <a:noAutofit/>
          </a:bodyPr>
          <a:lstStyle/>
          <a:p>
            <a:r>
              <a:rPr lang="fr-FR" sz="2400" dirty="0"/>
              <a:t>Limitations of simple </a:t>
            </a:r>
            <a:r>
              <a:rPr lang="fr-FR" sz="2400" dirty="0" err="1"/>
              <a:t>pricing</a:t>
            </a:r>
            <a:endParaRPr lang="fr-FR" sz="2400" dirty="0"/>
          </a:p>
          <a:p>
            <a:r>
              <a:rPr lang="fr-FR" sz="2400" dirty="0"/>
              <a:t>Direct </a:t>
            </a:r>
            <a:r>
              <a:rPr lang="fr-FR" sz="2400" dirty="0" err="1"/>
              <a:t>price</a:t>
            </a:r>
            <a:r>
              <a:rPr lang="fr-FR" sz="2400" dirty="0"/>
              <a:t> discrimination</a:t>
            </a:r>
          </a:p>
          <a:p>
            <a:pPr lvl="1"/>
            <a:r>
              <a:rPr lang="fr-FR" sz="2000" dirty="0" err="1"/>
              <a:t>Personalized</a:t>
            </a:r>
            <a:r>
              <a:rPr lang="fr-FR" sz="2000" dirty="0"/>
              <a:t> </a:t>
            </a:r>
            <a:r>
              <a:rPr lang="fr-FR" sz="2000" dirty="0" err="1"/>
              <a:t>pricing</a:t>
            </a:r>
            <a:r>
              <a:rPr lang="fr-FR" sz="2000" dirty="0"/>
              <a:t> (first </a:t>
            </a:r>
            <a:r>
              <a:rPr lang="fr-FR" sz="2000" dirty="0" err="1"/>
              <a:t>degree</a:t>
            </a:r>
            <a:r>
              <a:rPr lang="fr-FR" sz="2000" dirty="0"/>
              <a:t>). (</a:t>
            </a:r>
            <a:r>
              <a:rPr lang="fr-FR" sz="2000" dirty="0" err="1"/>
              <a:t>Still</a:t>
            </a:r>
            <a:r>
              <a:rPr lang="fr-FR" sz="2000" dirty="0"/>
              <a:t>) </a:t>
            </a:r>
            <a:r>
              <a:rPr lang="fr-FR" sz="2000" dirty="0" err="1"/>
              <a:t>hypothetical</a:t>
            </a:r>
            <a:r>
              <a:rPr lang="fr-FR" sz="2000" dirty="0"/>
              <a:t>.</a:t>
            </a:r>
          </a:p>
          <a:p>
            <a:pPr lvl="1"/>
            <a:r>
              <a:rPr lang="fr-FR" sz="2000" dirty="0"/>
              <a:t>Segment </a:t>
            </a:r>
            <a:r>
              <a:rPr lang="fr-FR" sz="2000" dirty="0" err="1"/>
              <a:t>pricing</a:t>
            </a:r>
            <a:r>
              <a:rPr lang="fr-FR" sz="2000" dirty="0"/>
              <a:t> (</a:t>
            </a:r>
            <a:r>
              <a:rPr lang="fr-FR" sz="2000" dirty="0" err="1"/>
              <a:t>third</a:t>
            </a:r>
            <a:r>
              <a:rPr lang="fr-FR" sz="2000" dirty="0"/>
              <a:t> </a:t>
            </a:r>
            <a:r>
              <a:rPr lang="fr-FR" sz="2000" dirty="0" err="1"/>
              <a:t>degree</a:t>
            </a:r>
            <a:r>
              <a:rPr lang="fr-FR" sz="2000" dirty="0"/>
              <a:t>)</a:t>
            </a:r>
          </a:p>
          <a:p>
            <a:pPr lvl="2"/>
            <a:r>
              <a:rPr lang="fr-FR" sz="1800" dirty="0" err="1"/>
              <a:t>Higher</a:t>
            </a:r>
            <a:r>
              <a:rPr lang="fr-FR" sz="1800" dirty="0"/>
              <a:t> </a:t>
            </a:r>
            <a:r>
              <a:rPr lang="fr-FR" sz="1800" dirty="0" err="1"/>
              <a:t>price</a:t>
            </a:r>
            <a:r>
              <a:rPr lang="fr-FR" sz="1800" dirty="0"/>
              <a:t> to </a:t>
            </a:r>
            <a:r>
              <a:rPr lang="fr-FR" sz="1800" dirty="0" err="1"/>
              <a:t>less</a:t>
            </a:r>
            <a:r>
              <a:rPr lang="fr-FR" sz="1800" dirty="0"/>
              <a:t> </a:t>
            </a:r>
            <a:r>
              <a:rPr lang="fr-FR" sz="1800" dirty="0" err="1"/>
              <a:t>elastic</a:t>
            </a:r>
            <a:r>
              <a:rPr lang="fr-FR" sz="1800" dirty="0"/>
              <a:t> groups</a:t>
            </a:r>
          </a:p>
          <a:p>
            <a:r>
              <a:rPr lang="fr-FR" sz="2400" dirty="0"/>
              <a:t>Indirect </a:t>
            </a:r>
            <a:r>
              <a:rPr lang="fr-FR" sz="2400" dirty="0" err="1"/>
              <a:t>price</a:t>
            </a:r>
            <a:r>
              <a:rPr lang="fr-FR" sz="2400" dirty="0"/>
              <a:t> discrimination</a:t>
            </a:r>
          </a:p>
          <a:p>
            <a:pPr lvl="1"/>
            <a:r>
              <a:rPr lang="fr-FR" sz="2000" dirty="0"/>
              <a:t>Versioning  and coupons (second </a:t>
            </a:r>
            <a:r>
              <a:rPr lang="fr-FR" sz="2000" dirty="0" err="1"/>
              <a:t>degree</a:t>
            </a:r>
            <a:r>
              <a:rPr lang="fr-FR" sz="2000" dirty="0"/>
              <a:t>)</a:t>
            </a:r>
          </a:p>
          <a:p>
            <a:r>
              <a:rPr lang="fr-FR" sz="2400" dirty="0"/>
              <a:t>Advanced </a:t>
            </a:r>
            <a:r>
              <a:rPr lang="fr-FR" sz="2400" dirty="0" err="1"/>
              <a:t>pricing</a:t>
            </a:r>
            <a:r>
              <a:rPr lang="fr-FR" sz="2400" dirty="0"/>
              <a:t> </a:t>
            </a:r>
            <a:r>
              <a:rPr lang="fr-FR" sz="2400" dirty="0" err="1"/>
              <a:t>strategies</a:t>
            </a:r>
            <a:r>
              <a:rPr lang="fr-FR" sz="2400" dirty="0"/>
              <a:t>:</a:t>
            </a:r>
          </a:p>
          <a:p>
            <a:pPr lvl="1"/>
            <a:r>
              <a:rPr lang="fr-FR" sz="2000" dirty="0"/>
              <a:t>If MC=0: Flat </a:t>
            </a:r>
            <a:r>
              <a:rPr lang="fr-FR" sz="2000" dirty="0" err="1"/>
              <a:t>fee</a:t>
            </a:r>
            <a:r>
              <a:rPr lang="fr-FR" sz="2000" dirty="0"/>
              <a:t> and </a:t>
            </a:r>
            <a:r>
              <a:rPr lang="fr-FR" sz="2000" dirty="0" err="1"/>
              <a:t>unlimited</a:t>
            </a:r>
            <a:r>
              <a:rPr lang="fr-FR" sz="2000" dirty="0"/>
              <a:t> </a:t>
            </a:r>
            <a:r>
              <a:rPr lang="fr-FR" sz="2000" dirty="0" err="1"/>
              <a:t>access</a:t>
            </a:r>
            <a:r>
              <a:rPr lang="fr-FR" sz="2000" dirty="0"/>
              <a:t> (e.g., Netflix)</a:t>
            </a:r>
          </a:p>
          <a:p>
            <a:pPr lvl="1"/>
            <a:r>
              <a:rPr lang="fr-FR" sz="2000" dirty="0"/>
              <a:t>If MC&gt;0: </a:t>
            </a:r>
            <a:r>
              <a:rPr lang="fr-FR" sz="2000" dirty="0" err="1"/>
              <a:t>Two</a:t>
            </a:r>
            <a:r>
              <a:rPr lang="fr-FR" sz="2000" dirty="0"/>
              <a:t>-part </a:t>
            </a:r>
            <a:r>
              <a:rPr lang="fr-FR" sz="2000" dirty="0" err="1"/>
              <a:t>tariff</a:t>
            </a:r>
            <a:r>
              <a:rPr lang="fr-FR" sz="2000" dirty="0"/>
              <a:t> (flat </a:t>
            </a:r>
            <a:r>
              <a:rPr lang="fr-FR" sz="2000" dirty="0" err="1"/>
              <a:t>fee</a:t>
            </a:r>
            <a:r>
              <a:rPr lang="fr-FR" sz="2000" dirty="0"/>
              <a:t> + usage </a:t>
            </a:r>
            <a:r>
              <a:rPr lang="fr-FR" sz="2000" dirty="0" err="1"/>
              <a:t>fee</a:t>
            </a:r>
            <a:r>
              <a:rPr lang="fr-FR" sz="2000" dirty="0"/>
              <a:t>) </a:t>
            </a:r>
          </a:p>
          <a:p>
            <a:pPr lvl="2"/>
            <a:r>
              <a:rPr lang="fr-FR" sz="1800" dirty="0"/>
              <a:t>Usage </a:t>
            </a:r>
            <a:r>
              <a:rPr lang="fr-FR" sz="1800" dirty="0" err="1"/>
              <a:t>fee</a:t>
            </a:r>
            <a:r>
              <a:rPr lang="fr-FR" sz="1800" dirty="0"/>
              <a:t> = MC to </a:t>
            </a:r>
            <a:r>
              <a:rPr lang="fr-FR" sz="1800" dirty="0" err="1"/>
              <a:t>avoid</a:t>
            </a:r>
            <a:r>
              <a:rPr lang="fr-FR" sz="1800" dirty="0"/>
              <a:t> excessive use</a:t>
            </a:r>
          </a:p>
          <a:p>
            <a:pPr lvl="2"/>
            <a:r>
              <a:rPr lang="fr-FR" sz="1800" dirty="0"/>
              <a:t>Flat </a:t>
            </a:r>
            <a:r>
              <a:rPr lang="fr-FR" sz="1800" dirty="0" err="1"/>
              <a:t>fee</a:t>
            </a:r>
            <a:r>
              <a:rPr lang="fr-FR" sz="1800" dirty="0"/>
              <a:t> = </a:t>
            </a:r>
            <a:r>
              <a:rPr lang="en-US" sz="1800" dirty="0"/>
              <a:t>area under the demand curve above the per-unit fee</a:t>
            </a:r>
            <a:endParaRPr lang="fr-FR" sz="1800" dirty="0"/>
          </a:p>
          <a:p>
            <a:pPr lvl="1"/>
            <a:r>
              <a:rPr lang="fr-FR" sz="2000" dirty="0"/>
              <a:t>Block </a:t>
            </a:r>
            <a:r>
              <a:rPr lang="fr-FR" sz="2000" dirty="0" err="1"/>
              <a:t>pricing</a:t>
            </a:r>
            <a:endParaRPr lang="fr-FR" sz="2000" dirty="0"/>
          </a:p>
          <a:p>
            <a:pPr lvl="2">
              <a:lnSpc>
                <a:spcPct val="150000"/>
              </a:lnSpc>
            </a:pPr>
            <a:endParaRPr lang="fr-FR" sz="1800" dirty="0"/>
          </a:p>
          <a:p>
            <a:pPr>
              <a:lnSpc>
                <a:spcPct val="150000"/>
              </a:lnSpc>
            </a:pPr>
            <a:endParaRPr lang="en-US" sz="2000" dirty="0"/>
          </a:p>
          <a:p>
            <a:pPr lvl="1">
              <a:lnSpc>
                <a:spcPct val="150000"/>
              </a:lnSpc>
            </a:pPr>
            <a:endParaRPr lang="en-US" sz="1800" dirty="0"/>
          </a:p>
        </p:txBody>
      </p:sp>
      <p:sp>
        <p:nvSpPr>
          <p:cNvPr id="5" name="Title 4"/>
          <p:cNvSpPr>
            <a:spLocks noGrp="1"/>
          </p:cNvSpPr>
          <p:nvPr>
            <p:ph type="title"/>
          </p:nvPr>
        </p:nvSpPr>
        <p:spPr>
          <a:xfrm>
            <a:off x="457200" y="20639"/>
            <a:ext cx="8229600" cy="1143000"/>
          </a:xfrm>
        </p:spPr>
        <p:txBody>
          <a:bodyPr>
            <a:normAutofit/>
          </a:bodyPr>
          <a:lstStyle/>
          <a:p>
            <a:r>
              <a:rPr lang="en-US" sz="3000" dirty="0"/>
              <a:t>Module 6 summary</a:t>
            </a:r>
          </a:p>
        </p:txBody>
      </p:sp>
      <p:sp>
        <p:nvSpPr>
          <p:cNvPr id="2" name="Slide Number Placeholder 1">
            <a:extLst>
              <a:ext uri="{FF2B5EF4-FFF2-40B4-BE49-F238E27FC236}">
                <a16:creationId xmlns:a16="http://schemas.microsoft.com/office/drawing/2014/main" id="{A4F83A1D-3EDB-AD46-8E68-8AFE6F1A437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4DDD2-D94C-1147-A389-2CD6A7EEF184}"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ustDataLst>
      <p:tags r:id="rId1"/>
    </p:custDataLst>
    <p:extLst>
      <p:ext uri="{BB962C8B-B14F-4D97-AF65-F5344CB8AC3E}">
        <p14:creationId xmlns:p14="http://schemas.microsoft.com/office/powerpoint/2010/main" val="40611932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a:xfrm>
            <a:off x="315685" y="2535239"/>
            <a:ext cx="8229600" cy="1143000"/>
          </a:xfrm>
        </p:spPr>
        <p:txBody>
          <a:bodyPr>
            <a:normAutofit/>
          </a:bodyPr>
          <a:lstStyle/>
          <a:p>
            <a:r>
              <a:rPr lang="en-US" sz="3000" dirty="0"/>
              <a:t>Backup</a:t>
            </a:r>
          </a:p>
        </p:txBody>
      </p:sp>
      <p:sp>
        <p:nvSpPr>
          <p:cNvPr id="2" name="Slide Number Placeholder 1">
            <a:extLst>
              <a:ext uri="{FF2B5EF4-FFF2-40B4-BE49-F238E27FC236}">
                <a16:creationId xmlns:a16="http://schemas.microsoft.com/office/drawing/2014/main" id="{A4F83A1D-3EDB-AD46-8E68-8AFE6F1A437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4DDD2-D94C-1147-A389-2CD6A7EEF184}"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ustDataLst>
      <p:tags r:id="rId1"/>
    </p:custDataLst>
    <p:extLst>
      <p:ext uri="{BB962C8B-B14F-4D97-AF65-F5344CB8AC3E}">
        <p14:creationId xmlns:p14="http://schemas.microsoft.com/office/powerpoint/2010/main" val="2502371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651518"/>
            <a:ext cx="8229600" cy="4637314"/>
          </a:xfrm>
        </p:spPr>
        <p:txBody>
          <a:bodyPr/>
          <a:lstStyle/>
          <a:p>
            <a:pPr marL="0" indent="0">
              <a:buNone/>
            </a:pPr>
            <a:endParaRPr lang="en-US" dirty="0"/>
          </a:p>
          <a:p>
            <a:endParaRPr lang="en-US" dirty="0"/>
          </a:p>
          <a:p>
            <a:endParaRPr lang="en-US" dirty="0"/>
          </a:p>
          <a:p>
            <a:endParaRPr lang="en-US" dirty="0"/>
          </a:p>
          <a:p>
            <a:endParaRPr lang="en-US" dirty="0"/>
          </a:p>
          <a:p>
            <a:endParaRPr lang="en-US" dirty="0"/>
          </a:p>
        </p:txBody>
      </p:sp>
      <p:sp>
        <p:nvSpPr>
          <p:cNvPr id="3" name="Slide Number Placeholder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76</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sp>
        <p:nvSpPr>
          <p:cNvPr id="6" name="Action Button: Beginning 1">
            <a:hlinkClick r:id="rId3" action="ppaction://hlinksldjump" highlightClick="1"/>
            <a:extLst>
              <a:ext uri="{FF2B5EF4-FFF2-40B4-BE49-F238E27FC236}">
                <a16:creationId xmlns:a16="http://schemas.microsoft.com/office/drawing/2014/main" id="{554A465B-6647-4BBF-82BD-9C3B9B98A422}"/>
              </a:ext>
            </a:extLst>
          </p:cNvPr>
          <p:cNvSpPr/>
          <p:nvPr/>
        </p:nvSpPr>
        <p:spPr bwMode="auto">
          <a:xfrm>
            <a:off x="8153400" y="6400800"/>
            <a:ext cx="609600" cy="381000"/>
          </a:xfrm>
          <a:prstGeom prst="actionButtonBeginning">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ahoma" pitchFamily="124" charset="0"/>
            </a:endParaRPr>
          </a:p>
        </p:txBody>
      </p:sp>
      <p:pic>
        <p:nvPicPr>
          <p:cNvPr id="9" name="Picture 8">
            <a:extLst>
              <a:ext uri="{FF2B5EF4-FFF2-40B4-BE49-F238E27FC236}">
                <a16:creationId xmlns:a16="http://schemas.microsoft.com/office/drawing/2014/main" id="{05FDFF95-1459-4523-8F46-935E3FF694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08514" y="35735"/>
            <a:ext cx="3115189" cy="6822265"/>
          </a:xfrm>
          <a:prstGeom prst="rect">
            <a:avLst/>
          </a:prstGeom>
        </p:spPr>
      </p:pic>
    </p:spTree>
    <p:extLst>
      <p:ext uri="{BB962C8B-B14F-4D97-AF65-F5344CB8AC3E}">
        <p14:creationId xmlns:p14="http://schemas.microsoft.com/office/powerpoint/2010/main" val="23336750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PPRESENTATIONGUID" val="fb4bfb20-bb85-4e69-83ee-0653ca024c4d"/>
  <p:tag name="TPLASTSAVEVERSION" val="6.2 PC"/>
  <p:tag name="WASPOLLED" val="9395E21AB51D4B2FB317ED88EF6AF71F"/>
  <p:tag name="TPVERSION" val="5"/>
  <p:tag name="TPFULLVERSION" val="5.3.2.24"/>
  <p:tag name="PPTVERSION" val="16"/>
  <p:tag name="TPOS" val="2"/>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DELIMITERS" val="3.1"/>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xml><?xml version="1.0" encoding="utf-8"?>
<p:tagLst xmlns:a="http://schemas.openxmlformats.org/drawingml/2006/main" xmlns:r="http://schemas.openxmlformats.org/officeDocument/2006/relationships" xmlns:p="http://schemas.openxmlformats.org/presentationml/2006/main">
  <p:tag name="__PE_POLL_EMBED_ID" val="e617bc1c-d35e-4dc9-a341-f33086554f78"/>
</p:tagLst>
</file>

<file path=ppt/tags/tag8.xml><?xml version="1.0" encoding="utf-8"?>
<p:tagLst xmlns:a="http://schemas.openxmlformats.org/drawingml/2006/main" xmlns:r="http://schemas.openxmlformats.org/officeDocument/2006/relationships" xmlns:p="http://schemas.openxmlformats.org/presentationml/2006/main">
  <p:tag name="DELIMITERS" val="3.1"/>
</p:tagLst>
</file>

<file path=ppt/tags/tag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0.xml><?xml version="1.0" encoding="utf-8"?>
<p:tagLst xmlns:a="http://schemas.openxmlformats.org/drawingml/2006/main" xmlns:r="http://schemas.openxmlformats.org/officeDocument/2006/relationships" xmlns:p="http://schemas.openxmlformats.org/presentationml/2006/main">
  <p:tag name="DELIMITERS" val="3.1"/>
</p:tagLst>
</file>

<file path=ppt/tags/tag11.xml><?xml version="1.0" encoding="utf-8"?>
<p:tagLst xmlns:a="http://schemas.openxmlformats.org/drawingml/2006/main" xmlns:r="http://schemas.openxmlformats.org/officeDocument/2006/relationships" xmlns:p="http://schemas.openxmlformats.org/presentationml/2006/main">
  <p:tag name="DELIMITERS" val="3.1"/>
</p:tagLst>
</file>

<file path=ppt/tags/tag12.xml><?xml version="1.0" encoding="utf-8"?>
<p:tagLst xmlns:a="http://schemas.openxmlformats.org/drawingml/2006/main" xmlns:r="http://schemas.openxmlformats.org/officeDocument/2006/relationships" xmlns:p="http://schemas.openxmlformats.org/presentationml/2006/main">
  <p:tag name="__PE_POLL_EMBED_ID" val="8e4dc93e-910f-43fa-b821-f1370c53a023"/>
</p:tagLst>
</file>

<file path=ppt/tags/tag1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5.xml><?xml version="1.0" encoding="utf-8"?>
<p:tagLst xmlns:a="http://schemas.openxmlformats.org/drawingml/2006/main" xmlns:r="http://schemas.openxmlformats.org/officeDocument/2006/relationships" xmlns:p="http://schemas.openxmlformats.org/presentationml/2006/main">
  <p:tag name="__PE_POLL_EMBED_ID" val="f845e466-37c8-4f2a-b4d5-e3311954ae89"/>
</p:tagLst>
</file>

<file path=ppt/tags/tag1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1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80342</TotalTime>
  <Words>5295</Words>
  <Application>Microsoft Office PowerPoint</Application>
  <PresentationFormat>On-screen Show (4:3)</PresentationFormat>
  <Paragraphs>782</Paragraphs>
  <Slides>76</Slides>
  <Notes>72</Notes>
  <HiddenSlides>0</HiddenSlides>
  <MMClips>0</MMClips>
  <ScaleCrop>false</ScaleCrop>
  <HeadingPairs>
    <vt:vector size="6" baseType="variant">
      <vt:variant>
        <vt:lpstr>Fonts Used</vt:lpstr>
      </vt:variant>
      <vt:variant>
        <vt:i4>12</vt:i4>
      </vt:variant>
      <vt:variant>
        <vt:lpstr>Theme</vt:lpstr>
      </vt:variant>
      <vt:variant>
        <vt:i4>6</vt:i4>
      </vt:variant>
      <vt:variant>
        <vt:lpstr>Slide Titles</vt:lpstr>
      </vt:variant>
      <vt:variant>
        <vt:i4>76</vt:i4>
      </vt:variant>
    </vt:vector>
  </HeadingPairs>
  <TitlesOfParts>
    <vt:vector size="94" baseType="lpstr">
      <vt:lpstr>Arial</vt:lpstr>
      <vt:lpstr>Calibri</vt:lpstr>
      <vt:lpstr>Cambria Math</vt:lpstr>
      <vt:lpstr>Lucida Grande</vt:lpstr>
      <vt:lpstr>Tahoma</vt:lpstr>
      <vt:lpstr>Times New Roman</vt:lpstr>
      <vt:lpstr>Trebuchet MS</vt:lpstr>
      <vt:lpstr>Whitney Book</vt:lpstr>
      <vt:lpstr>Whitney Medium</vt:lpstr>
      <vt:lpstr>Whitney-Book</vt:lpstr>
      <vt:lpstr>Whitney-Medium</vt:lpstr>
      <vt:lpstr>Wingdings</vt:lpstr>
      <vt:lpstr>2_Custom Design</vt:lpstr>
      <vt:lpstr>Custom Design</vt:lpstr>
      <vt:lpstr>3_Custom Design</vt:lpstr>
      <vt:lpstr>5_Custom Design</vt:lpstr>
      <vt:lpstr>4_Custom Design</vt:lpstr>
      <vt:lpstr>12_Custom Design</vt:lpstr>
      <vt:lpstr>Complex Pricing </vt:lpstr>
      <vt:lpstr>announcements</vt:lpstr>
      <vt:lpstr>agenda for the class</vt:lpstr>
      <vt:lpstr>OUTLINE of module 6 </vt:lpstr>
      <vt:lpstr>OUTLINE of module 6 </vt:lpstr>
      <vt:lpstr>Dilemma of simple pricing</vt:lpstr>
      <vt:lpstr>What if Netflix used Simple pricing per movie?    (assume MC=0) </vt:lpstr>
      <vt:lpstr>Simple pricing: Netflix would ‘lose’ Revenues</vt:lpstr>
      <vt:lpstr>Complex (non-uniform) pricing </vt:lpstr>
      <vt:lpstr>Three degrees of price discrimination </vt:lpstr>
      <vt:lpstr>OUTLINE of module 6 </vt:lpstr>
      <vt:lpstr>First degree price discrimination</vt:lpstr>
      <vt:lpstr>The Dystopian Future of Price Discrimination</vt:lpstr>
      <vt:lpstr>First degree price discrimination</vt:lpstr>
      <vt:lpstr>First degree price discrimination</vt:lpstr>
      <vt:lpstr>Uber Starts Charging What You’re Willing to Pay?</vt:lpstr>
      <vt:lpstr>OUTLINE of module 6 </vt:lpstr>
      <vt:lpstr>Third degree price discrimination: segment pricing (group pricing)</vt:lpstr>
      <vt:lpstr>SEGMENT PRicing</vt:lpstr>
      <vt:lpstr>Segment pricing: student discounts</vt:lpstr>
      <vt:lpstr>Segment pricing: discounts for locals</vt:lpstr>
      <vt:lpstr>Segment Pricing: Timing</vt:lpstr>
      <vt:lpstr>segment pricing: ways to segment consumers</vt:lpstr>
      <vt:lpstr>Airline Pricing: We can now Solve thE ‘Puzzle’ from Week 1:</vt:lpstr>
      <vt:lpstr>Lufthansa Pricing: Solution</vt:lpstr>
      <vt:lpstr>Consumer Segments in Medication</vt:lpstr>
      <vt:lpstr>PowerPoint Presentation</vt:lpstr>
      <vt:lpstr>Solution</vt:lpstr>
      <vt:lpstr>Important: Segment Pricing Analytically </vt:lpstr>
      <vt:lpstr>Challenges with segment pricing for BMW</vt:lpstr>
      <vt:lpstr>OUTLINE of module 6 </vt:lpstr>
      <vt:lpstr>Second degree price discrimination: Versioning</vt:lpstr>
      <vt:lpstr>VErsioning</vt:lpstr>
      <vt:lpstr>VErsioning</vt:lpstr>
      <vt:lpstr>Versioning: AMC</vt:lpstr>
      <vt:lpstr>Versioning: Barbie</vt:lpstr>
      <vt:lpstr>More Examples for Versioning</vt:lpstr>
      <vt:lpstr>Wendy’s Failed Attempt at Dynamic Pricing</vt:lpstr>
      <vt:lpstr>Airline Response to low-Cost Carriers</vt:lpstr>
      <vt:lpstr>PowerPoint Presentation</vt:lpstr>
      <vt:lpstr>Versioning in Response to Low-Price Competition</vt:lpstr>
      <vt:lpstr>Second-Degree price Discrimination:  coupons</vt:lpstr>
      <vt:lpstr>OUTLINE of module 6 </vt:lpstr>
      <vt:lpstr>Context</vt:lpstr>
      <vt:lpstr>Advanced Pricing</vt:lpstr>
      <vt:lpstr>Example: Netflix flat fee (assume MC=0)</vt:lpstr>
      <vt:lpstr>Netflix pricing strategy</vt:lpstr>
      <vt:lpstr>WSJ Article on Netflix</vt:lpstr>
      <vt:lpstr>What can Go Wrong with Flat Rates…</vt:lpstr>
      <vt:lpstr>OUTLINE of module 6 </vt:lpstr>
      <vt:lpstr>Two part-Tariff Now: MC&gt;0</vt:lpstr>
      <vt:lpstr>Two-part tariff Summary</vt:lpstr>
      <vt:lpstr>Two-Part Tariff: ZipCar</vt:lpstr>
      <vt:lpstr>Pricing at a Local Zoo</vt:lpstr>
      <vt:lpstr>PowerPoint Presentation</vt:lpstr>
      <vt:lpstr>Zoo Pricing – Solution</vt:lpstr>
      <vt:lpstr>Zoo Pricing – Flat Fee Pricing</vt:lpstr>
      <vt:lpstr>Zoo Pricing – Comparison to Simple Pricing</vt:lpstr>
      <vt:lpstr>CostcO: Combination of Versioning and Two-Part Pricing</vt:lpstr>
      <vt:lpstr>OUTLINE of module 6 </vt:lpstr>
      <vt:lpstr>Block Pricing</vt:lpstr>
      <vt:lpstr>Block pricing: Photo cards at walmart</vt:lpstr>
      <vt:lpstr>Block pricing: Ice Cream</vt:lpstr>
      <vt:lpstr>How to extract consumer surplus?  A summary of pricing strategies</vt:lpstr>
      <vt:lpstr>Some Examples for Innovative Pricing Strategies</vt:lpstr>
      <vt:lpstr>The mad optimist</vt:lpstr>
      <vt:lpstr>The mad optimist – “Choose your Price”</vt:lpstr>
      <vt:lpstr>Rent the runway</vt:lpstr>
      <vt:lpstr>The mad optimist</vt:lpstr>
      <vt:lpstr>The mad optimist – “Choose your Price”</vt:lpstr>
      <vt:lpstr>The economist pricing example</vt:lpstr>
      <vt:lpstr>Dan Ariely’s experiment</vt:lpstr>
      <vt:lpstr>Behavioral insight: Price Framing</vt:lpstr>
      <vt:lpstr>Module 6 summary</vt:lpstr>
      <vt:lpstr>Backup</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Pub Office 3</dc:creator>
  <cp:keywords/>
  <dc:description/>
  <cp:lastModifiedBy>Nico Voigtlaender</cp:lastModifiedBy>
  <cp:revision>1413</cp:revision>
  <cp:lastPrinted>2019-09-13T20:44:29Z</cp:lastPrinted>
  <dcterms:created xsi:type="dcterms:W3CDTF">2013-01-24T22:32:50Z</dcterms:created>
  <dcterms:modified xsi:type="dcterms:W3CDTF">2024-11-15T06:35:21Z</dcterms:modified>
  <cp:category/>
</cp:coreProperties>
</file>