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 id="2147483819" r:id="rId5"/>
    <p:sldMasterId id="2147483835" r:id="rId6"/>
  </p:sldMasterIdLst>
  <p:notesMasterIdLst>
    <p:notesMasterId r:id="rId17"/>
  </p:notesMasterIdLst>
  <p:handoutMasterIdLst>
    <p:handoutMasterId r:id="rId18"/>
  </p:handoutMasterIdLst>
  <p:sldIdLst>
    <p:sldId id="919" r:id="rId7"/>
    <p:sldId id="920" r:id="rId8"/>
    <p:sldId id="740" r:id="rId9"/>
    <p:sldId id="741" r:id="rId10"/>
    <p:sldId id="742" r:id="rId11"/>
    <p:sldId id="743" r:id="rId12"/>
    <p:sldId id="595" r:id="rId13"/>
    <p:sldId id="823" r:id="rId14"/>
    <p:sldId id="538" r:id="rId15"/>
    <p:sldId id="367" r:id="rId16"/>
  </p:sldIdLst>
  <p:sldSz cx="9144000" cy="6858000" type="screen4x3"/>
  <p:notesSz cx="7315200" cy="9601200"/>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1" clrIdx="0">
    <p:extLst>
      <p:ext uri="{19B8F6BF-5375-455C-9EA6-DF929625EA0E}">
        <p15:presenceInfo xmlns:p15="http://schemas.microsoft.com/office/powerpoint/2012/main" userId="S::giulpao@ad.ucla.edu::132bae3d-d350-492a-913b-ab702ff24d3d" providerId="AD"/>
      </p:ext>
    </p:extLst>
  </p:cmAuthor>
  <p:cmAuthor id="2" name="CLEMENCE TRICAUD" initials="CT" lastIdx="41" clrIdx="1">
    <p:extLst>
      <p:ext uri="{19B8F6BF-5375-455C-9EA6-DF929625EA0E}">
        <p15:presenceInfo xmlns:p15="http://schemas.microsoft.com/office/powerpoint/2012/main" userId="S-1-5-21-1914341619-2963887621-4192079504-39280" providerId="AD"/>
      </p:ext>
    </p:extLst>
  </p:cmAuthor>
  <p:cmAuthor id="3" name="Wasserman, Melanie" initials="WM" lastIdx="20"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35"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7058" autoAdjust="0"/>
  </p:normalViewPr>
  <p:slideViewPr>
    <p:cSldViewPr snapToGrid="0" snapToObjects="1">
      <p:cViewPr varScale="1">
        <p:scale>
          <a:sx n="38" d="100"/>
          <a:sy n="38" d="100"/>
        </p:scale>
        <p:origin x="1560" y="45"/>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1/26/2022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1/26/2022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2003199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39026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We reintroduce segment pricing, a concept already introduced in week 2 when we discussed Mercedes’s optimal pricing in the US and Germany, based on different elasticities.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the </a:t>
            </a:r>
            <a:r>
              <a:rPr lang="en-US" sz="1200" b="1" kern="1200" dirty="0">
                <a:solidFill>
                  <a:schemeClr val="tx1"/>
                </a:solidFill>
                <a:effectLst/>
                <a:latin typeface="+mn-lt"/>
                <a:ea typeface="+mn-ea"/>
                <a:cs typeface="+mn-cs"/>
              </a:rPr>
              <a:t>car wash</a:t>
            </a:r>
            <a:r>
              <a:rPr lang="en-US" sz="1200" kern="1200" dirty="0">
                <a:solidFill>
                  <a:schemeClr val="tx1"/>
                </a:solidFill>
                <a:effectLst/>
                <a:latin typeface="+mn-lt"/>
                <a:ea typeface="+mn-ea"/>
                <a:cs typeface="+mn-cs"/>
              </a:rPr>
              <a:t>, senior citizens get a discount. This is price discrimination based on age. Why do firms select different prices for different segments? We talked about incentives to discriminate when </a:t>
            </a:r>
            <a:r>
              <a:rPr lang="en-US" sz="1200" b="1" kern="1200" dirty="0">
                <a:solidFill>
                  <a:schemeClr val="tx1"/>
                </a:solidFill>
                <a:effectLst/>
                <a:latin typeface="+mn-lt"/>
                <a:ea typeface="+mn-ea"/>
                <a:cs typeface="+mn-cs"/>
              </a:rPr>
              <a:t>different market segments exhibit different demand </a:t>
            </a:r>
            <a:r>
              <a:rPr lang="en-US" sz="1200" b="1" kern="1200" dirty="0" err="1">
                <a:solidFill>
                  <a:schemeClr val="tx1"/>
                </a:solidFill>
                <a:effectLst/>
                <a:latin typeface="+mn-lt"/>
                <a:ea typeface="+mn-ea"/>
                <a:cs typeface="+mn-cs"/>
              </a:rPr>
              <a:t>elasticities</a:t>
            </a:r>
            <a:r>
              <a:rPr lang="en-US" sz="1200" kern="1200" dirty="0">
                <a:solidFill>
                  <a:schemeClr val="tx1"/>
                </a:solidFill>
                <a:effectLst/>
                <a:latin typeface="+mn-lt"/>
                <a:ea typeface="+mn-ea"/>
                <a:cs typeface="+mn-cs"/>
              </a:rPr>
              <a:t>. You want to equate marginal revenue across segments, assuming marginal cost is equal across segments. The implication of this is that you want to charge a lower price for the more elastic segment.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So why are senior citizens </a:t>
            </a:r>
            <a:r>
              <a:rPr lang="en-US" sz="1200" b="1" kern="1200" dirty="0">
                <a:solidFill>
                  <a:schemeClr val="tx1"/>
                </a:solidFill>
                <a:effectLst/>
                <a:latin typeface="+mn-lt"/>
                <a:ea typeface="+mn-ea"/>
                <a:cs typeface="+mn-cs"/>
              </a:rPr>
              <a:t>more price sensitive</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Going to the car wash is a time consuming activity. It can take 40 minutes, sometimes more for an upscale treatment. Senior citizens can afford to drive around longer for a better deal. Opportunity cost of time. They have lower income, so they are more price sensitive The opportunity cost of time for a senior person is much lower than say for a professional. A professional is concerned about the value of time. Senior citizens don’t care so much about the time component of the cost of the car wash, so they are more sensitive to price.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B94B4F-1C3E-42AD-8B65-1B752C8E558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865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aseline="0" dirty="0" err="1"/>
              <a:t>Why</a:t>
            </a:r>
            <a:r>
              <a:rPr lang="fr-FR" baseline="0" dirty="0"/>
              <a:t> </a:t>
            </a:r>
            <a:r>
              <a:rPr lang="fr-FR" baseline="0" dirty="0" err="1"/>
              <a:t>would</a:t>
            </a:r>
            <a:r>
              <a:rPr lang="fr-FR" baseline="0" dirty="0"/>
              <a:t> </a:t>
            </a:r>
            <a:r>
              <a:rPr lang="fr-FR" baseline="0" dirty="0" err="1"/>
              <a:t>you</a:t>
            </a:r>
            <a:r>
              <a:rPr lang="fr-FR" baseline="0" dirty="0"/>
              <a:t> charge </a:t>
            </a:r>
            <a:r>
              <a:rPr lang="fr-FR" baseline="0" dirty="0" err="1"/>
              <a:t>lower</a:t>
            </a:r>
            <a:r>
              <a:rPr lang="fr-FR" baseline="0" dirty="0"/>
              <a:t> </a:t>
            </a:r>
            <a:r>
              <a:rPr lang="fr-FR" baseline="0" dirty="0" err="1"/>
              <a:t>price</a:t>
            </a:r>
            <a:r>
              <a:rPr lang="fr-FR" baseline="0" dirty="0"/>
              <a:t> to </a:t>
            </a:r>
            <a:r>
              <a:rPr lang="fr-FR" baseline="0" dirty="0" err="1"/>
              <a:t>students</a:t>
            </a:r>
            <a:r>
              <a:rPr lang="fr-FR" baseline="0" dirty="0"/>
              <a:t>? </a:t>
            </a:r>
            <a:r>
              <a:rPr lang="en-US" baseline="0" dirty="0"/>
              <a:t>lower incomes and more free time. As a result, they are more price-elastic and it is optimal to offer them discounts.</a:t>
            </a:r>
          </a:p>
          <a:p>
            <a:endParaRPr lang="en-US" baseline="0" dirty="0"/>
          </a:p>
          <a:p>
            <a:r>
              <a:rPr lang="en-US" baseline="0" dirty="0"/>
              <a:t>Important: you need to “verify” that they are indeed students.</a:t>
            </a:r>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15730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u="sng" kern="1200" dirty="0">
                <a:solidFill>
                  <a:schemeClr val="tx1"/>
                </a:solidFill>
                <a:effectLst/>
                <a:latin typeface="+mn-lt"/>
                <a:ea typeface="+mn-ea"/>
                <a:cs typeface="+mn-cs"/>
              </a:rPr>
              <a:t>Disneyland and Taj</a:t>
            </a:r>
            <a:r>
              <a:rPr lang="en-US" sz="1100" u="sng" kern="1200" baseline="0" dirty="0">
                <a:solidFill>
                  <a:schemeClr val="tx1"/>
                </a:solidFill>
                <a:effectLst/>
                <a:latin typeface="+mn-lt"/>
                <a:ea typeface="+mn-ea"/>
                <a:cs typeface="+mn-cs"/>
              </a:rPr>
              <a:t> Mahal</a:t>
            </a:r>
            <a:r>
              <a:rPr lang="en-US" sz="1100" kern="1200" dirty="0">
                <a:solidFill>
                  <a:schemeClr val="tx1"/>
                </a:solidFill>
                <a:effectLst/>
                <a:latin typeface="+mn-lt"/>
                <a:ea typeface="+mn-ea"/>
                <a:cs typeface="+mn-cs"/>
              </a:rPr>
              <a:t>: lower prices for </a:t>
            </a:r>
            <a:r>
              <a:rPr lang="en-US" sz="1100" kern="1200" dirty="0" err="1">
                <a:solidFill>
                  <a:schemeClr val="tx1"/>
                </a:solidFill>
                <a:effectLst/>
                <a:latin typeface="+mn-lt"/>
                <a:ea typeface="+mn-ea"/>
                <a:cs typeface="+mn-cs"/>
              </a:rPr>
              <a:t>Socal</a:t>
            </a:r>
            <a:r>
              <a:rPr lang="en-US" sz="1100" kern="1200" dirty="0">
                <a:solidFill>
                  <a:schemeClr val="tx1"/>
                </a:solidFill>
                <a:effectLst/>
                <a:latin typeface="+mn-lt"/>
                <a:ea typeface="+mn-ea"/>
                <a:cs typeface="+mn-cs"/>
              </a:rPr>
              <a:t>/Indian</a:t>
            </a:r>
            <a:r>
              <a:rPr lang="en-US" sz="1100" kern="1200" baseline="0" dirty="0">
                <a:solidFill>
                  <a:schemeClr val="tx1"/>
                </a:solidFill>
                <a:effectLst/>
                <a:latin typeface="+mn-lt"/>
                <a:ea typeface="+mn-ea"/>
                <a:cs typeface="+mn-cs"/>
              </a:rPr>
              <a:t> </a:t>
            </a:r>
            <a:r>
              <a:rPr lang="en-US" sz="1100" kern="1200" dirty="0">
                <a:solidFill>
                  <a:schemeClr val="tx1"/>
                </a:solidFill>
                <a:effectLst/>
                <a:latin typeface="+mn-lt"/>
                <a:ea typeface="+mn-ea"/>
                <a:cs typeface="+mn-cs"/>
              </a:rPr>
              <a:t>residents compared to tourists. Why? Tourists have lower elasticity of demand than locals that have more easily available alternatives (and in the Indian case, lower</a:t>
            </a:r>
            <a:r>
              <a:rPr lang="en-US" sz="1100" kern="1200" baseline="0" dirty="0">
                <a:solidFill>
                  <a:schemeClr val="tx1"/>
                </a:solidFill>
                <a:effectLst/>
                <a:latin typeface="+mn-lt"/>
                <a:ea typeface="+mn-ea"/>
                <a:cs typeface="+mn-cs"/>
              </a:rPr>
              <a:t> income)</a:t>
            </a:r>
            <a:r>
              <a:rPr lang="en-US" sz="1100" kern="1200" dirty="0">
                <a:solidFill>
                  <a:schemeClr val="tx1"/>
                </a:solidFill>
                <a:effectLst/>
                <a:latin typeface="+mn-lt"/>
                <a:ea typeface="+mn-ea"/>
                <a:cs typeface="+mn-cs"/>
              </a:rPr>
              <a:t>. Generalized phenomenon in tourism – in India airlines used to charge higher fares to tourists.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05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050" u="sng" kern="1200" dirty="0">
                <a:solidFill>
                  <a:schemeClr val="tx1"/>
                </a:solidFill>
                <a:effectLst/>
                <a:latin typeface="+mn-lt"/>
                <a:ea typeface="+mn-ea"/>
                <a:cs typeface="+mn-cs"/>
              </a:rPr>
              <a:t>Another</a:t>
            </a:r>
            <a:r>
              <a:rPr lang="en-US" sz="1050" u="sng" kern="1200" baseline="0" dirty="0">
                <a:solidFill>
                  <a:schemeClr val="tx1"/>
                </a:solidFill>
                <a:effectLst/>
                <a:latin typeface="+mn-lt"/>
                <a:ea typeface="+mn-ea"/>
                <a:cs typeface="+mn-cs"/>
              </a:rPr>
              <a:t> Example</a:t>
            </a:r>
            <a:r>
              <a:rPr lang="en-US" sz="1200" kern="1200" dirty="0">
                <a:solidFill>
                  <a:schemeClr val="tx1"/>
                </a:solidFill>
                <a:effectLst/>
                <a:latin typeface="+mn-lt"/>
                <a:ea typeface="+mn-ea"/>
                <a:cs typeface="+mn-cs"/>
              </a:rPr>
              <a:t>: US drugs cheaper in Canada than in USA. There is more discretion as to price in the US because there is less collective bargaining between public entities and pharmaceutical companies for lower prices. This creates incentives for transshipping of drugs – </a:t>
            </a:r>
            <a:r>
              <a:rPr lang="en-US" sz="1200" b="1" kern="1200" dirty="0">
                <a:solidFill>
                  <a:schemeClr val="tx1"/>
                </a:solidFill>
                <a:effectLst/>
                <a:latin typeface="+mn-lt"/>
                <a:ea typeface="+mn-ea"/>
                <a:cs typeface="+mn-cs"/>
              </a:rPr>
              <a:t>parallel imports</a:t>
            </a:r>
            <a:r>
              <a:rPr lang="en-US" sz="1200" kern="1200" dirty="0">
                <a:solidFill>
                  <a:schemeClr val="tx1"/>
                </a:solidFill>
                <a:effectLst/>
                <a:latin typeface="+mn-lt"/>
                <a:ea typeface="+mn-ea"/>
                <a:cs typeface="+mn-cs"/>
              </a:rPr>
              <a:t> to take advantage of </a:t>
            </a:r>
            <a:r>
              <a:rPr lang="en-US" sz="1200" b="1" kern="1200" dirty="0">
                <a:solidFill>
                  <a:schemeClr val="tx1"/>
                </a:solidFill>
                <a:effectLst/>
                <a:latin typeface="+mn-lt"/>
                <a:ea typeface="+mn-ea"/>
                <a:cs typeface="+mn-cs"/>
              </a:rPr>
              <a:t>arbitrage</a:t>
            </a:r>
            <a:r>
              <a:rPr lang="en-US" sz="1200" kern="1200" dirty="0">
                <a:solidFill>
                  <a:schemeClr val="tx1"/>
                </a:solidFill>
                <a:effectLst/>
                <a:latin typeface="+mn-lt"/>
                <a:ea typeface="+mn-ea"/>
                <a:cs typeface="+mn-cs"/>
              </a:rPr>
              <a:t> opportunities. </a:t>
            </a:r>
            <a:endParaRPr lang="en-US" sz="11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7783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D7939DBB-0AD6-492D-919A-56B12B27DFE7}" type="slidenum">
              <a:rPr lang="en-US"/>
              <a:pPr/>
              <a:t>7</a:t>
            </a:fld>
            <a:endParaRPr lang="en-US"/>
          </a:p>
        </p:txBody>
      </p:sp>
      <p:sp>
        <p:nvSpPr>
          <p:cNvPr id="235522" name="Rectangle 2"/>
          <p:cNvSpPr>
            <a:spLocks noGrp="1" noRot="1" noChangeAspect="1" noChangeArrowheads="1"/>
          </p:cNvSpPr>
          <p:nvPr>
            <p:ph type="sldImg"/>
          </p:nvPr>
        </p:nvSpPr>
        <p:spPr bwMode="auto">
          <a:xfrm>
            <a:off x="1104900" y="565150"/>
            <a:ext cx="5105400" cy="3829050"/>
          </a:xfrm>
          <a:prstGeom prst="rect">
            <a:avLst/>
          </a:prstGeom>
          <a:solidFill>
            <a:srgbClr val="FFFFFF"/>
          </a:solidFill>
          <a:ln>
            <a:solidFill>
              <a:srgbClr val="000000"/>
            </a:solidFill>
            <a:miter lim="800000"/>
            <a:headEnd/>
            <a:tailEnd/>
          </a:ln>
        </p:spPr>
      </p:sp>
      <p:sp>
        <p:nvSpPr>
          <p:cNvPr id="235523" name="Rectangle 3"/>
          <p:cNvSpPr>
            <a:spLocks noGrp="1" noChangeArrowheads="1"/>
          </p:cNvSpPr>
          <p:nvPr>
            <p:ph type="body" idx="1"/>
          </p:nvPr>
        </p:nvSpPr>
        <p:spPr bwMode="auto">
          <a:xfrm>
            <a:off x="988907" y="4813039"/>
            <a:ext cx="5364480" cy="4320457"/>
          </a:xfrm>
          <a:prstGeom prst="rect">
            <a:avLst/>
          </a:prstGeom>
          <a:solidFill>
            <a:srgbClr val="FFFFFF"/>
          </a:solidFill>
          <a:ln>
            <a:solidFill>
              <a:srgbClr val="000000"/>
            </a:solidFill>
            <a:miter lim="800000"/>
            <a:headEnd/>
            <a:tailEnd/>
          </a:ln>
        </p:spPr>
        <p:txBody>
          <a:bodyPr/>
          <a:lstStyle/>
          <a:p>
            <a:r>
              <a:rPr lang="en-US" dirty="0"/>
              <a:t>One can go directly to the website and look for favorite goods. I use coffee </a:t>
            </a:r>
            <a:r>
              <a:rPr lang="en-US" dirty="0" err="1"/>
              <a:t>moka</a:t>
            </a:r>
            <a:r>
              <a:rPr lang="en-US" dirty="0"/>
              <a:t> </a:t>
            </a:r>
            <a:r>
              <a:rPr lang="en-US" dirty="0" err="1"/>
              <a:t>bialetti</a:t>
            </a:r>
            <a:r>
              <a:rPr lang="en-US" dirty="0"/>
              <a:t>:</a:t>
            </a:r>
          </a:p>
          <a:p>
            <a:r>
              <a:rPr lang="en-US" dirty="0"/>
              <a:t>https://camelcamelcamel.com/</a:t>
            </a:r>
          </a:p>
          <a:p>
            <a:endParaRPr lang="en-US" dirty="0"/>
          </a:p>
        </p:txBody>
      </p:sp>
    </p:spTree>
    <p:extLst>
      <p:ext uri="{BB962C8B-B14F-4D97-AF65-F5344CB8AC3E}">
        <p14:creationId xmlns:p14="http://schemas.microsoft.com/office/powerpoint/2010/main" val="1515092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For next slide: the price of </a:t>
            </a:r>
            <a:r>
              <a:rPr lang="en-US" dirty="0" err="1"/>
              <a:t>Lodine</a:t>
            </a:r>
            <a:r>
              <a:rPr lang="en-US" dirty="0"/>
              <a:t> for humans is three times the price for animals</a:t>
            </a:r>
          </a:p>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8</a:t>
            </a:fld>
            <a:endParaRPr lang="en-US"/>
          </a:p>
        </p:txBody>
      </p:sp>
    </p:spTree>
    <p:extLst>
      <p:ext uri="{BB962C8B-B14F-4D97-AF65-F5344CB8AC3E}">
        <p14:creationId xmlns:p14="http://schemas.microsoft.com/office/powerpoint/2010/main" val="3493589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Grp="1" noChangeArrowheads="1"/>
          </p:cNvSpPr>
          <p:nvPr>
            <p:ph type="sldNum" sz="quarter" idx="5"/>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E380E3-6D8F-49B4-9899-6E5D0F74521F}" type="slidenum">
              <a:rPr kumimoji="0" lang="en-US" sz="13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45410" name="Rectangle 2"/>
          <p:cNvSpPr>
            <a:spLocks noGrp="1" noRot="1" noChangeAspect="1" noChangeArrowheads="1"/>
          </p:cNvSpPr>
          <p:nvPr>
            <p:ph type="sldImg"/>
          </p:nvPr>
        </p:nvSpPr>
        <p:spPr bwMode="auto">
          <a:xfrm>
            <a:off x="1266825" y="727075"/>
            <a:ext cx="4781550" cy="3586163"/>
          </a:xfrm>
          <a:prstGeom prst="rect">
            <a:avLst/>
          </a:prstGeom>
          <a:noFill/>
          <a:ln w="12700" cap="flat">
            <a:solidFill>
              <a:schemeClr val="tx1"/>
            </a:solidFill>
            <a:miter lim="800000"/>
            <a:headEnd/>
            <a:tailEnd/>
          </a:ln>
        </p:spPr>
      </p:sp>
      <p:sp>
        <p:nvSpPr>
          <p:cNvPr id="145411" name="Rectangle 3"/>
          <p:cNvSpPr>
            <a:spLocks noGrp="1" noChangeArrowheads="1"/>
          </p:cNvSpPr>
          <p:nvPr>
            <p:ph type="body" idx="1"/>
          </p:nvPr>
        </p:nvSpPr>
        <p:spPr bwMode="auto">
          <a:xfrm>
            <a:off x="975360" y="4559286"/>
            <a:ext cx="5364480" cy="4320456"/>
          </a:xfrm>
          <a:prstGeom prst="rect">
            <a:avLst/>
          </a:prstGeom>
          <a:noFill/>
          <a:ln>
            <a:miter lim="800000"/>
            <a:headEnd/>
            <a:tailEnd/>
          </a:ln>
        </p:spPr>
        <p:txBody>
          <a:bodyPr lIns="97056" tIns="48529" rIns="97056" bIns="48529"/>
          <a:lstStyle/>
          <a:p>
            <a:endParaRPr lang="en-US"/>
          </a:p>
        </p:txBody>
      </p:sp>
    </p:spTree>
    <p:extLst>
      <p:ext uri="{BB962C8B-B14F-4D97-AF65-F5344CB8AC3E}">
        <p14:creationId xmlns:p14="http://schemas.microsoft.com/office/powerpoint/2010/main" val="2411553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97973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1F899A1-0085-4047-8521-4C6E8849564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87645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2245513-CCD9-BF44-AF3C-BE8B0074F8E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2655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E4E69F-4642-024C-8218-7783E0016BBC}"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321472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935AA-3EEA-4E4A-AAA8-EB53B8142E5C}"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778760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FC2FF5-857A-9348-8EB2-11D856F360AB}" type="datetime1">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618623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E36F-906D-344A-A949-C52B74620049}" type="datetime1">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633386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CB588-7288-D04E-904A-CDCE244D580E}" type="datetime1">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901522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D5D81-43A6-3F49-B307-3F9BBA124F23}"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169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B1EA0-6DD3-504A-8908-E971883387B0}"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366965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DB6B5274-5AC2-BC41-98DA-ADE40ECE0F39}"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4604069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E15BFCA8-EF2C-1647-8362-8B88070EA177}"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774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1D63F98-41A7-214D-9D1E-B369563BBE09}"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089393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C14E1FBA-CBBF-0E4F-B88D-32EF928D3AC7}"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7892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423D41A-B76F-734D-8195-99F8976B7155}"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7381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DBC38028-5B1C-49D3-BF22-2CE9385E6DA2}"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678100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6EC633E-2298-204E-AACF-E24EFF406AA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8113906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56AAD53-932E-6744-A7B5-E9D56713AA93}"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4457096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DFCC7-1B5D-4E46-84A5-178B98047B80}"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933631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62845D-97EE-F445-AA82-55CB331164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57974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250BF4-8988-BE4B-A0D9-5982AE90C1B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552063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871F8-0597-BE4B-8995-43A43442923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640143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C6356-ED15-9E40-8BB7-7D9094231F3D}"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496388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BFDCC3-7787-B94B-8E9A-4B130A91D44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474354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137E5-D1D0-9749-AFE5-370792A74CE6}"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858013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4B506F6A-AC1A-774B-A74A-33E90EC9254E}"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532282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81658234-11CC-E84A-A484-707AFF7FC1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310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3A8A679-79CD-7C4C-B43E-7A7F72D5077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643747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29674BE0-4447-9D40-9A24-D851C2136A2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9860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E5AD2E-853D-3E4B-8412-10F295485E76}"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450678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393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4.gif"/><Relationship Id="rId2" Type="http://schemas.openxmlformats.org/officeDocument/2006/relationships/slideLayout" Target="../slideLayouts/slideLayout43.xml"/><Relationship Id="rId16" Type="http://schemas.openxmlformats.org/officeDocument/2006/relationships/theme" Target="../theme/theme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image" Target="../media/image4.gif"/><Relationship Id="rId2" Type="http://schemas.openxmlformats.org/officeDocument/2006/relationships/slideLayout" Target="../slideLayouts/slideLayout58.xml"/><Relationship Id="rId16" Type="http://schemas.openxmlformats.org/officeDocument/2006/relationships/theme" Target="../theme/theme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1/26/2022</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4078B1F-B2EE-D743-B0A9-AD5D4736074E}" type="datetime1">
              <a:rPr lang="en-US" smtClean="0"/>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9736511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E90A6E0-D48F-F943-96BF-CEC2ED7DA21A}"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2087325818"/>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ags" Target="../tags/tag3.xml"/><Relationship Id="rId6" Type="http://schemas.openxmlformats.org/officeDocument/2006/relationships/hyperlink" Target="https://camelcamelcamel.com/" TargetMode="Externa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5.xml"/><Relationship Id="rId1" Type="http://schemas.openxmlformats.org/officeDocument/2006/relationships/tags" Target="../tags/tag4.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8230610" cy="1362075"/>
          </a:xfrm>
        </p:spPr>
        <p:txBody>
          <a:bodyPr>
            <a:normAutofit fontScale="90000"/>
          </a:bodyPr>
          <a:lstStyle/>
          <a:p>
            <a:r>
              <a:rPr lang="en-US" dirty="0"/>
              <a:t>Module 6 – Video 3</a:t>
            </a:r>
            <a:br>
              <a:rPr lang="en-US"/>
            </a:br>
            <a:r>
              <a:rPr lang="en-US"/>
              <a:t>Segment </a:t>
            </a:r>
            <a:r>
              <a:rPr lang="en-US" dirty="0"/>
              <a:t>Pricing</a:t>
            </a:r>
            <a:br>
              <a:rPr lang="en-US" dirty="0"/>
            </a:b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6</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E9C01BFD-953B-4576-ACA6-E6FE7DBA0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01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solidFill>
                  <a:schemeClr val="bg1">
                    <a:lumMod val="65000"/>
                  </a:schemeClr>
                </a:solidFill>
              </a:rPr>
              <a:t>Simple vs. </a:t>
            </a:r>
            <a:r>
              <a:rPr lang="fr-FR" sz="2810" dirty="0" err="1">
                <a:solidFill>
                  <a:schemeClr val="bg1">
                    <a:lumMod val="65000"/>
                  </a:schemeClr>
                </a:solidFill>
              </a:rPr>
              <a:t>complex</a:t>
            </a:r>
            <a:r>
              <a:rPr lang="fr-FR" sz="2810" dirty="0">
                <a:solidFill>
                  <a:schemeClr val="bg1">
                    <a:lumMod val="65000"/>
                  </a:schemeClr>
                </a:solidFill>
              </a:rPr>
              <a:t> </a:t>
            </a:r>
            <a:r>
              <a:rPr lang="fr-FR" sz="2810" dirty="0" err="1">
                <a:solidFill>
                  <a:schemeClr val="bg1">
                    <a:lumMod val="65000"/>
                  </a:schemeClr>
                </a:solidFill>
              </a:rPr>
              <a:t>pricing</a:t>
            </a:r>
            <a:endParaRPr lang="fr-FR" sz="2810" dirty="0">
              <a:solidFill>
                <a:schemeClr val="bg1">
                  <a:lumMod val="65000"/>
                </a:schemeClr>
              </a:solidFill>
            </a:endParaRPr>
          </a:p>
          <a:p>
            <a:pPr>
              <a:lnSpc>
                <a:spcPct val="120000"/>
              </a:lnSpc>
            </a:pPr>
            <a:r>
              <a:rPr lang="fr-FR" sz="2810" b="1" dirty="0"/>
              <a:t>Direct </a:t>
            </a:r>
            <a:r>
              <a:rPr lang="fr-FR" sz="2810" b="1" dirty="0" err="1"/>
              <a:t>price</a:t>
            </a:r>
            <a:r>
              <a:rPr lang="fr-FR" sz="2810" b="1" dirty="0"/>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b="1" dirty="0">
                <a:latin typeface="Whitney-Book" pitchFamily="50" charset="0"/>
                <a:cs typeface="Whitney-Book" pitchFamily="50" charset="0"/>
              </a:rPr>
              <a:t>Segment </a:t>
            </a:r>
            <a:r>
              <a:rPr lang="fr-FR" b="1" dirty="0" err="1">
                <a:latin typeface="Whitney-Book" pitchFamily="50" charset="0"/>
                <a:cs typeface="Whitney-Book" pitchFamily="50" charset="0"/>
              </a:rPr>
              <a:t>pricing</a:t>
            </a:r>
            <a:r>
              <a:rPr lang="fr-FR" b="1" dirty="0">
                <a:latin typeface="Whitney-Book" pitchFamily="50" charset="0"/>
                <a:cs typeface="Whitney-Book" pitchFamily="50" charset="0"/>
              </a:rPr>
              <a:t> (</a:t>
            </a:r>
            <a:r>
              <a:rPr lang="fr-FR" b="1" dirty="0" err="1">
                <a:latin typeface="Whitney-Book" pitchFamily="50" charset="0"/>
                <a:cs typeface="Whitney-Book" pitchFamily="50" charset="0"/>
              </a:rPr>
              <a:t>third</a:t>
            </a:r>
            <a:r>
              <a:rPr lang="fr-FR" b="1" dirty="0">
                <a:latin typeface="Whitney-Book" pitchFamily="50" charset="0"/>
                <a:cs typeface="Whitney-Book" pitchFamily="50" charset="0"/>
              </a:rPr>
              <a:t> </a:t>
            </a:r>
            <a:r>
              <a:rPr lang="fr-FR" b="1" dirty="0" err="1">
                <a:latin typeface="Whitney-Book" pitchFamily="50" charset="0"/>
                <a:cs typeface="Whitney-Book" pitchFamily="50" charset="0"/>
              </a:rPr>
              <a:t>degree</a:t>
            </a:r>
            <a:r>
              <a:rPr lang="fr-FR" b="1" dirty="0">
                <a:latin typeface="Whitney-Book" pitchFamily="50" charset="0"/>
                <a:cs typeface="Whitney-Book" pitchFamily="50" charset="0"/>
              </a:rPr>
              <a:t>)</a:t>
            </a:r>
          </a:p>
          <a:p>
            <a:pPr>
              <a:lnSpc>
                <a:spcPct val="120000"/>
              </a:lnSpc>
            </a:pPr>
            <a:r>
              <a:rPr lang="fr-FR" sz="2810" dirty="0">
                <a:solidFill>
                  <a:schemeClr val="bg1">
                    <a:lumMod val="65000"/>
                  </a:schemeClr>
                </a:solidFill>
              </a:rPr>
              <a:t>Indirect </a:t>
            </a:r>
            <a:r>
              <a:rPr lang="fr-FR" sz="2810" dirty="0" err="1">
                <a:solidFill>
                  <a:schemeClr val="bg1">
                    <a:lumMod val="65000"/>
                  </a:schemeClr>
                </a:solidFill>
              </a:rPr>
              <a:t>price</a:t>
            </a:r>
            <a:r>
              <a:rPr lang="fr-FR" sz="2810" dirty="0">
                <a:solidFill>
                  <a:schemeClr val="bg1">
                    <a:lumMod val="65000"/>
                  </a:schemeClr>
                </a:solidFill>
              </a:rPr>
              <a:t> discrimination (second </a:t>
            </a:r>
            <a:r>
              <a:rPr lang="fr-FR" sz="2810" dirty="0" err="1">
                <a:solidFill>
                  <a:schemeClr val="bg1">
                    <a:lumMod val="65000"/>
                  </a:schemeClr>
                </a:solidFill>
              </a:rPr>
              <a:t>degree</a:t>
            </a:r>
            <a:r>
              <a:rPr lang="fr-FR" sz="2810" dirty="0">
                <a:solidFill>
                  <a:schemeClr val="bg1">
                    <a:lumMod val="65000"/>
                  </a:schemeClr>
                </a:solidFill>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Versioning</a:t>
            </a:r>
          </a:p>
          <a:p>
            <a:pPr lvl="1">
              <a:lnSpc>
                <a:spcPct val="120000"/>
              </a:lnSpc>
              <a:spcBef>
                <a:spcPts val="0"/>
              </a:spcBef>
            </a:pPr>
            <a:r>
              <a:rPr lang="fr-FR" dirty="0">
                <a:solidFill>
                  <a:schemeClr val="bg1">
                    <a:lumMod val="65000"/>
                  </a:schemeClr>
                </a:solidFill>
              </a:rPr>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Volume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with</a:t>
            </a:r>
            <a:r>
              <a:rPr lang="fr-FR" dirty="0">
                <a:solidFill>
                  <a:schemeClr val="bg1">
                    <a:lumMod val="65000"/>
                  </a:schemeClr>
                </a:solidFill>
                <a:latin typeface="Whitney-Book" pitchFamily="50" charset="0"/>
                <a:cs typeface="Whitney-Book" pitchFamily="50" charset="0"/>
              </a:rPr>
              <a:t> flat </a:t>
            </a:r>
            <a:r>
              <a:rPr lang="fr-FR" dirty="0" err="1">
                <a:solidFill>
                  <a:schemeClr val="bg1">
                    <a:lumMod val="65000"/>
                  </a:schemeClr>
                </a:solidFill>
                <a:latin typeface="Whitney-Book" pitchFamily="50" charset="0"/>
                <a:cs typeface="Whitney-Book" pitchFamily="50" charset="0"/>
              </a:rPr>
              <a:t>fee</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7826856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27215"/>
            <a:ext cx="8229600" cy="1143000"/>
          </a:xfrm>
        </p:spPr>
        <p:txBody>
          <a:bodyPr anchor="ctr">
            <a:normAutofit/>
          </a:bodyPr>
          <a:lstStyle/>
          <a:p>
            <a:r>
              <a:rPr lang="en-US" dirty="0"/>
              <a:t>Third degree price discrimination:</a:t>
            </a:r>
            <a:br>
              <a:rPr lang="en-US" dirty="0"/>
            </a:br>
            <a:r>
              <a:rPr lang="en-US" dirty="0"/>
              <a:t>segment pricing (group pricing)</a:t>
            </a:r>
          </a:p>
        </p:txBody>
      </p:sp>
      <p:sp>
        <p:nvSpPr>
          <p:cNvPr id="5" name="Content Placeholder 4"/>
          <p:cNvSpPr>
            <a:spLocks noGrp="1"/>
          </p:cNvSpPr>
          <p:nvPr>
            <p:ph sz="half" idx="1"/>
          </p:nvPr>
        </p:nvSpPr>
        <p:spPr>
          <a:xfrm>
            <a:off x="248638" y="1600201"/>
            <a:ext cx="4038600" cy="4525963"/>
          </a:xfrm>
        </p:spPr>
        <p:txBody>
          <a:bodyPr>
            <a:normAutofit/>
          </a:bodyPr>
          <a:lstStyle/>
          <a:p>
            <a:pPr>
              <a:lnSpc>
                <a:spcPct val="90000"/>
              </a:lnSpc>
            </a:pPr>
            <a:r>
              <a:rPr lang="en-US" sz="2000" dirty="0"/>
              <a:t>Divide customers into different groups with </a:t>
            </a:r>
            <a:r>
              <a:rPr lang="en-US" sz="2000" i="1" dirty="0"/>
              <a:t>different </a:t>
            </a:r>
            <a:r>
              <a:rPr lang="en-US" sz="2000" dirty="0"/>
              <a:t>price sensitivities, and charge each group different prices</a:t>
            </a:r>
          </a:p>
          <a:p>
            <a:pPr>
              <a:lnSpc>
                <a:spcPct val="90000"/>
              </a:lnSpc>
            </a:pPr>
            <a:endParaRPr lang="en-US" sz="2000" dirty="0"/>
          </a:p>
          <a:p>
            <a:pPr>
              <a:lnSpc>
                <a:spcPct val="90000"/>
              </a:lnSpc>
            </a:pPr>
            <a:r>
              <a:rPr lang="en-US" sz="2000" dirty="0"/>
              <a:t>Conditions:</a:t>
            </a:r>
          </a:p>
          <a:p>
            <a:pPr lvl="1">
              <a:lnSpc>
                <a:spcPct val="90000"/>
              </a:lnSpc>
            </a:pPr>
            <a:r>
              <a:rPr lang="en-US" sz="2000" dirty="0"/>
              <a:t>Consumer groups with (on average) different MPV</a:t>
            </a:r>
          </a:p>
          <a:p>
            <a:pPr lvl="1">
              <a:lnSpc>
                <a:spcPct val="90000"/>
              </a:lnSpc>
            </a:pPr>
            <a:r>
              <a:rPr lang="en-US" sz="2000" dirty="0"/>
              <a:t>Firm </a:t>
            </a:r>
            <a:r>
              <a:rPr lang="en-US" sz="2000" u="sng" dirty="0"/>
              <a:t>can</a:t>
            </a:r>
            <a:r>
              <a:rPr lang="en-US" sz="2000" dirty="0"/>
              <a:t> identify these groups</a:t>
            </a:r>
          </a:p>
          <a:p>
            <a:pPr lvl="1">
              <a:lnSpc>
                <a:spcPct val="90000"/>
              </a:lnSpc>
            </a:pPr>
            <a:r>
              <a:rPr lang="en-US" sz="2000" dirty="0"/>
              <a:t>Firm has market power and can prevent resale</a:t>
            </a:r>
          </a:p>
          <a:p>
            <a:pPr marL="457200" lvl="1" indent="0">
              <a:lnSpc>
                <a:spcPct val="90000"/>
              </a:lnSpc>
              <a:buNone/>
            </a:pPr>
            <a:endParaRPr lang="en-US" sz="2000" dirty="0"/>
          </a:p>
          <a:p>
            <a:pPr>
              <a:lnSpc>
                <a:spcPct val="90000"/>
              </a:lnSpc>
            </a:pPr>
            <a:endParaRPr lang="en-US" sz="2000" dirty="0"/>
          </a:p>
        </p:txBody>
      </p:sp>
      <p:sp>
        <p:nvSpPr>
          <p:cNvPr id="2" name="Slide Number Placeholder 1" hidden="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60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600"/>
                </a:spcAft>
                <a:buClrTx/>
                <a:buSzTx/>
                <a:buFontTx/>
                <a:buNone/>
                <a:tabLst/>
                <a:defRPr/>
              </a:pPr>
              <a:t>3</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11" name="Picture 10">
            <a:extLst>
              <a:ext uri="{FF2B5EF4-FFF2-40B4-BE49-F238E27FC236}">
                <a16:creationId xmlns:a16="http://schemas.microsoft.com/office/drawing/2014/main" id="{82D3506F-9CF1-4D09-ABA0-79B3065CE155}"/>
              </a:ext>
            </a:extLst>
          </p:cNvPr>
          <p:cNvPicPr>
            <a:picLocks noChangeAspect="1"/>
          </p:cNvPicPr>
          <p:nvPr/>
        </p:nvPicPr>
        <p:blipFill>
          <a:blip r:embed="rId3"/>
          <a:stretch>
            <a:fillRect/>
          </a:stretch>
        </p:blipFill>
        <p:spPr>
          <a:xfrm>
            <a:off x="4287238" y="1867300"/>
            <a:ext cx="4759099" cy="3307281"/>
          </a:xfrm>
          <a:prstGeom prst="rect">
            <a:avLst/>
          </a:prstGeom>
        </p:spPr>
      </p:pic>
    </p:spTree>
    <p:extLst>
      <p:ext uri="{BB962C8B-B14F-4D97-AF65-F5344CB8AC3E}">
        <p14:creationId xmlns:p14="http://schemas.microsoft.com/office/powerpoint/2010/main" val="252759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219225" y="168278"/>
            <a:ext cx="8686800" cy="1143000"/>
          </a:xfrm>
        </p:spPr>
        <p:txBody>
          <a:bodyPr>
            <a:normAutofit/>
          </a:bodyPr>
          <a:lstStyle/>
          <a:p>
            <a:pPr algn="ctr"/>
            <a:r>
              <a:rPr lang="en-US" dirty="0">
                <a:latin typeface="Whitney-Medium" pitchFamily="50" charset="0"/>
                <a:cs typeface="Whitney-Medium" pitchFamily="50" charset="0"/>
              </a:rPr>
              <a:t>SEGMENT </a:t>
            </a:r>
            <a:r>
              <a:rPr lang="en-US" dirty="0" err="1">
                <a:latin typeface="Whitney-Medium" pitchFamily="50" charset="0"/>
                <a:cs typeface="Whitney-Medium" pitchFamily="50" charset="0"/>
              </a:rPr>
              <a:t>PRicing</a:t>
            </a:r>
            <a:endParaRPr lang="en-US" dirty="0">
              <a:latin typeface="Whitney-Medium" pitchFamily="50" charset="0"/>
              <a:cs typeface="Whitney-Medium" pitchFamily="50" charset="0"/>
            </a:endParaRPr>
          </a:p>
        </p:txBody>
      </p:sp>
      <p:sp>
        <p:nvSpPr>
          <p:cNvPr id="183299" name="Rectangle 3"/>
          <p:cNvSpPr>
            <a:spLocks noGrp="1" noChangeArrowheads="1"/>
          </p:cNvSpPr>
          <p:nvPr>
            <p:ph idx="1"/>
          </p:nvPr>
        </p:nvSpPr>
        <p:spPr>
          <a:xfrm>
            <a:off x="4572000" y="2114550"/>
            <a:ext cx="4782955" cy="5114081"/>
          </a:xfrm>
        </p:spPr>
        <p:txBody>
          <a:bodyPr>
            <a:normAutofit/>
          </a:bodyPr>
          <a:lstStyle/>
          <a:p>
            <a:pPr lvl="1">
              <a:spcBef>
                <a:spcPts val="0"/>
              </a:spcBef>
              <a:spcAft>
                <a:spcPts val="563"/>
              </a:spcAft>
            </a:pPr>
            <a:endParaRPr lang="en-US" sz="1300" dirty="0">
              <a:latin typeface="Whitney-Book" pitchFamily="50" charset="0"/>
              <a:cs typeface="Whitney-Book" pitchFamily="50" charset="0"/>
            </a:endParaRPr>
          </a:p>
          <a:p>
            <a:pPr lvl="1">
              <a:lnSpc>
                <a:spcPts val="3000"/>
              </a:lnSpc>
              <a:spcBef>
                <a:spcPts val="0"/>
              </a:spcBef>
              <a:spcAft>
                <a:spcPts val="563"/>
              </a:spcAft>
            </a:pPr>
            <a:r>
              <a:rPr lang="en-US" sz="2400" dirty="0">
                <a:latin typeface="Whitney-Book" pitchFamily="50" charset="0"/>
                <a:cs typeface="Whitney-Book" pitchFamily="50" charset="0"/>
              </a:rPr>
              <a:t>Divide customers into different groups with different price sensitivities  </a:t>
            </a:r>
          </a:p>
          <a:p>
            <a:pPr lvl="1">
              <a:lnSpc>
                <a:spcPts val="3000"/>
              </a:lnSpc>
              <a:spcBef>
                <a:spcPts val="0"/>
              </a:spcBef>
              <a:spcAft>
                <a:spcPts val="563"/>
              </a:spcAft>
            </a:pPr>
            <a:r>
              <a:rPr lang="en-US" sz="2400" dirty="0">
                <a:latin typeface="Whitney-Book" pitchFamily="50" charset="0"/>
                <a:cs typeface="Whitney-Book" pitchFamily="50" charset="0"/>
              </a:rPr>
              <a:t>Charge </a:t>
            </a:r>
            <a:r>
              <a:rPr lang="en-US" sz="2400" dirty="0">
                <a:solidFill>
                  <a:srgbClr val="C00000"/>
                </a:solidFill>
                <a:latin typeface="Whitney-Book" pitchFamily="50" charset="0"/>
                <a:cs typeface="Whitney-Book" pitchFamily="50" charset="0"/>
              </a:rPr>
              <a:t>each group </a:t>
            </a:r>
            <a:r>
              <a:rPr lang="en-US" sz="2400" dirty="0">
                <a:latin typeface="Whitney-Book" pitchFamily="50" charset="0"/>
                <a:cs typeface="Whitney-Book" pitchFamily="50" charset="0"/>
              </a:rPr>
              <a:t>different prices (lower prices to more elastic groups)</a:t>
            </a:r>
            <a:endParaRPr lang="en-US" sz="1600" dirty="0">
              <a:latin typeface="Whitney-Book" pitchFamily="50" charset="0"/>
              <a:cs typeface="Whitney-Book" pitchFamily="50" charset="0"/>
            </a:endParaRPr>
          </a:p>
        </p:txBody>
      </p:sp>
      <p:sp>
        <p:nvSpPr>
          <p:cNvPr id="11" name="Line 3"/>
          <p:cNvSpPr>
            <a:spLocks noChangeShapeType="1"/>
          </p:cNvSpPr>
          <p:nvPr/>
        </p:nvSpPr>
        <p:spPr bwMode="auto">
          <a:xfrm>
            <a:off x="961656" y="1995786"/>
            <a:ext cx="0" cy="4342805"/>
          </a:xfrm>
          <a:prstGeom prst="line">
            <a:avLst/>
          </a:prstGeom>
          <a:noFill/>
          <a:ln w="38100">
            <a:solidFill>
              <a:schemeClr val="tx1"/>
            </a:solidFill>
            <a:round/>
            <a:headEnd type="triangle" w="med" len="med"/>
            <a:tailEnd type="none" w="sm" len="sm"/>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12" name="Line 4"/>
          <p:cNvSpPr>
            <a:spLocks noChangeShapeType="1"/>
          </p:cNvSpPr>
          <p:nvPr/>
        </p:nvSpPr>
        <p:spPr bwMode="auto">
          <a:xfrm flipV="1">
            <a:off x="961656" y="6304300"/>
            <a:ext cx="4352618" cy="20895"/>
          </a:xfrm>
          <a:prstGeom prst="line">
            <a:avLst/>
          </a:prstGeom>
          <a:noFill/>
          <a:ln w="38100">
            <a:solidFill>
              <a:schemeClr val="tx1"/>
            </a:solidFill>
            <a:round/>
            <a:headEnd type="none" w="sm" len="sm"/>
            <a:tailEnd type="triangl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grpSp>
        <p:nvGrpSpPr>
          <p:cNvPr id="3" name="Group 2">
            <a:extLst>
              <a:ext uri="{FF2B5EF4-FFF2-40B4-BE49-F238E27FC236}">
                <a16:creationId xmlns:a16="http://schemas.microsoft.com/office/drawing/2014/main" id="{C77759D2-5338-4308-A7FE-204E9504A52F}"/>
              </a:ext>
            </a:extLst>
          </p:cNvPr>
          <p:cNvGrpSpPr/>
          <p:nvPr/>
        </p:nvGrpSpPr>
        <p:grpSpPr>
          <a:xfrm>
            <a:off x="550892" y="4253509"/>
            <a:ext cx="1741291" cy="2065735"/>
            <a:chOff x="550892" y="4253509"/>
            <a:chExt cx="1741291" cy="2065735"/>
          </a:xfrm>
        </p:grpSpPr>
        <p:sp>
          <p:nvSpPr>
            <p:cNvPr id="15" name="Rectangle 7"/>
            <p:cNvSpPr>
              <a:spLocks noChangeArrowheads="1"/>
            </p:cNvSpPr>
            <p:nvPr/>
          </p:nvSpPr>
          <p:spPr bwMode="auto">
            <a:xfrm>
              <a:off x="967611" y="4427638"/>
              <a:ext cx="1300759" cy="1891606"/>
            </a:xfrm>
            <a:prstGeom prst="rect">
              <a:avLst/>
            </a:prstGeom>
            <a:solidFill>
              <a:schemeClr val="accent1">
                <a:lumMod val="25000"/>
                <a:lumOff val="75000"/>
              </a:schemeClr>
            </a:solidFill>
            <a:ln w="12700">
              <a:solidFill>
                <a:schemeClr val="tx1"/>
              </a:solidFill>
              <a:miter lim="800000"/>
              <a:headEnd/>
              <a:tailEnd/>
            </a:ln>
            <a:effec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endParaRPr>
            </a:p>
          </p:txBody>
        </p:sp>
        <p:sp>
          <p:nvSpPr>
            <p:cNvPr id="16" name="Rectangle 8"/>
            <p:cNvSpPr>
              <a:spLocks noChangeArrowheads="1"/>
            </p:cNvSpPr>
            <p:nvPr/>
          </p:nvSpPr>
          <p:spPr bwMode="auto">
            <a:xfrm>
              <a:off x="550892" y="4253509"/>
              <a:ext cx="340817" cy="346770"/>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1</a:t>
              </a:r>
            </a:p>
          </p:txBody>
        </p:sp>
        <p:sp>
          <p:nvSpPr>
            <p:cNvPr id="14" name="Rectangle 6"/>
            <p:cNvSpPr>
              <a:spLocks noChangeArrowheads="1"/>
            </p:cNvSpPr>
            <p:nvPr/>
          </p:nvSpPr>
          <p:spPr bwMode="auto">
            <a:xfrm>
              <a:off x="1000353" y="4814591"/>
              <a:ext cx="1291830" cy="607219"/>
            </a:xfrm>
            <a:prstGeom prst="rect">
              <a:avLst/>
            </a:prstGeom>
            <a:noFill/>
            <a:ln w="9525">
              <a:noFill/>
              <a:miter lim="800000"/>
              <a:headEnd/>
              <a:tailEnd/>
            </a:ln>
            <a:effectLst/>
          </p:spPr>
          <p:txBody>
            <a:bodyPr wrap="none" lIns="86320" tIns="43161" rIns="86320" bIns="4316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Regular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movie-goers</a:t>
              </a:r>
            </a:p>
          </p:txBody>
        </p:sp>
      </p:grpSp>
      <p:sp>
        <p:nvSpPr>
          <p:cNvPr id="30" name="Rectangle 25"/>
          <p:cNvSpPr>
            <a:spLocks noChangeArrowheads="1"/>
          </p:cNvSpPr>
          <p:nvPr/>
        </p:nvSpPr>
        <p:spPr bwMode="auto">
          <a:xfrm>
            <a:off x="4054168" y="5773403"/>
            <a:ext cx="957393"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rPr>
              <a:t>Demand</a:t>
            </a:r>
          </a:p>
        </p:txBody>
      </p:sp>
      <p:sp>
        <p:nvSpPr>
          <p:cNvPr id="31" name="Rectangle 26"/>
          <p:cNvSpPr>
            <a:spLocks noChangeArrowheads="1"/>
          </p:cNvSpPr>
          <p:nvPr/>
        </p:nvSpPr>
        <p:spPr bwMode="auto">
          <a:xfrm>
            <a:off x="513683" y="1571625"/>
            <a:ext cx="629483" cy="352924"/>
          </a:xfrm>
          <a:prstGeom prst="rect">
            <a:avLst/>
          </a:prstGeom>
          <a:noFill/>
          <a:ln w="9525">
            <a:noFill/>
            <a:miter lim="800000"/>
            <a:headEnd/>
            <a:tailEnd/>
          </a:ln>
          <a:effectLst/>
        </p:spPr>
        <p:txBody>
          <a:bodyPr wrap="none" lIns="92273" tIns="46136" rIns="92273" bIns="46136">
            <a:spAutoFit/>
          </a:bodyPr>
          <a:lstStyle/>
          <a:p>
            <a:pPr marL="0" marR="0" lvl="0" indent="0" algn="l" defTabSz="974825"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Price</a:t>
            </a:r>
          </a:p>
        </p:txBody>
      </p:sp>
      <p:sp>
        <p:nvSpPr>
          <p:cNvPr id="36" name="Rectangle 19"/>
          <p:cNvSpPr>
            <a:spLocks noChangeArrowheads="1"/>
          </p:cNvSpPr>
          <p:nvPr/>
        </p:nvSpPr>
        <p:spPr bwMode="auto">
          <a:xfrm>
            <a:off x="3002295" y="3409141"/>
            <a:ext cx="174129" cy="723035"/>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cxnSp>
        <p:nvCxnSpPr>
          <p:cNvPr id="4" name="Straight Connector 3">
            <a:extLst>
              <a:ext uri="{FF2B5EF4-FFF2-40B4-BE49-F238E27FC236}">
                <a16:creationId xmlns:a16="http://schemas.microsoft.com/office/drawing/2014/main" id="{479BD357-34E3-442D-A737-237294AFBDCE}"/>
              </a:ext>
            </a:extLst>
          </p:cNvPr>
          <p:cNvCxnSpPr>
            <a:cxnSpLocks/>
          </p:cNvCxnSpPr>
          <p:nvPr/>
        </p:nvCxnSpPr>
        <p:spPr>
          <a:xfrm>
            <a:off x="1000125" y="3249249"/>
            <a:ext cx="3260376" cy="3004709"/>
          </a:xfrm>
          <a:prstGeom prst="line">
            <a:avLst/>
          </a:prstGeom>
          <a:ln w="28575">
            <a:solidFill>
              <a:srgbClr val="C00000"/>
            </a:solidFill>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965C783A-1A2C-4E46-BCDB-887A3230AB2B}"/>
              </a:ext>
            </a:extLst>
          </p:cNvPr>
          <p:cNvGrpSpPr/>
          <p:nvPr/>
        </p:nvGrpSpPr>
        <p:grpSpPr>
          <a:xfrm>
            <a:off x="534303" y="5590416"/>
            <a:ext cx="3046511" cy="713884"/>
            <a:chOff x="534303" y="5590416"/>
            <a:chExt cx="3046511" cy="713884"/>
          </a:xfrm>
        </p:grpSpPr>
        <p:grpSp>
          <p:nvGrpSpPr>
            <p:cNvPr id="18" name="Group 9"/>
            <p:cNvGrpSpPr>
              <a:grpSpLocks/>
            </p:cNvGrpSpPr>
            <p:nvPr/>
          </p:nvGrpSpPr>
          <p:grpSpPr bwMode="auto">
            <a:xfrm>
              <a:off x="534303" y="5590416"/>
              <a:ext cx="3046511" cy="713884"/>
              <a:chOff x="479" y="3586"/>
              <a:chExt cx="2047" cy="383"/>
            </a:xfrm>
          </p:grpSpPr>
          <p:sp>
            <p:nvSpPr>
              <p:cNvPr id="19" name="Rectangle 10"/>
              <p:cNvSpPr>
                <a:spLocks noChangeArrowheads="1"/>
              </p:cNvSpPr>
              <p:nvPr/>
            </p:nvSpPr>
            <p:spPr bwMode="auto">
              <a:xfrm>
                <a:off x="1647" y="3604"/>
                <a:ext cx="879" cy="365"/>
              </a:xfrm>
              <a:prstGeom prst="rect">
                <a:avLst/>
              </a:prstGeom>
              <a:solidFill>
                <a:schemeClr val="accent2">
                  <a:lumMod val="40000"/>
                  <a:lumOff val="60000"/>
                </a:schemeClr>
              </a:solidFill>
              <a:ln w="12700">
                <a:solidFill>
                  <a:schemeClr val="tx1"/>
                </a:solidFill>
                <a:miter lim="800000"/>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88" b="0" i="0" u="none" strike="noStrike" kern="1200" cap="none" spc="0" normalizeH="0" baseline="0" noProof="0">
                  <a:ln>
                    <a:noFill/>
                  </a:ln>
                  <a:solidFill>
                    <a:prstClr val="black"/>
                  </a:solidFill>
                  <a:effectLst/>
                  <a:uLnTx/>
                  <a:uFillTx/>
                  <a:latin typeface="Whitney-Book" pitchFamily="50" charset="0"/>
                  <a:ea typeface="+mn-ea"/>
                  <a:cs typeface="Whitney-Book" pitchFamily="50" charset="0"/>
                </a:endParaRPr>
              </a:p>
            </p:txBody>
          </p:sp>
          <p:sp>
            <p:nvSpPr>
              <p:cNvPr id="21" name="Rectangle 12"/>
              <p:cNvSpPr>
                <a:spLocks noChangeArrowheads="1"/>
              </p:cNvSpPr>
              <p:nvPr/>
            </p:nvSpPr>
            <p:spPr bwMode="auto">
              <a:xfrm>
                <a:off x="479" y="3586"/>
                <a:ext cx="246" cy="186"/>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1"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P</a:t>
                </a:r>
                <a:r>
                  <a:rPr kumimoji="0" lang="en-US" sz="1688" b="0" i="1" u="none" strike="noStrike" kern="1200" cap="none" spc="0" normalizeH="0" baseline="-25000" noProof="0" dirty="0">
                    <a:ln>
                      <a:noFill/>
                    </a:ln>
                    <a:solidFill>
                      <a:prstClr val="black"/>
                    </a:solidFill>
                    <a:effectLst/>
                    <a:uLnTx/>
                    <a:uFillTx/>
                    <a:latin typeface="Whitney-Book" pitchFamily="50" charset="0"/>
                    <a:ea typeface="+mn-ea"/>
                    <a:cs typeface="Whitney-Book" pitchFamily="50" charset="0"/>
                  </a:rPr>
                  <a:t>2</a:t>
                </a:r>
              </a:p>
            </p:txBody>
          </p:sp>
        </p:grpSp>
        <p:sp>
          <p:nvSpPr>
            <p:cNvPr id="38" name="Rectangle 6">
              <a:extLst>
                <a:ext uri="{FF2B5EF4-FFF2-40B4-BE49-F238E27FC236}">
                  <a16:creationId xmlns:a16="http://schemas.microsoft.com/office/drawing/2014/main" id="{D67621CF-AB23-4146-8124-EF9530CBC87B}"/>
                </a:ext>
              </a:extLst>
            </p:cNvPr>
            <p:cNvSpPr>
              <a:spLocks noChangeArrowheads="1"/>
            </p:cNvSpPr>
            <p:nvPr/>
          </p:nvSpPr>
          <p:spPr bwMode="auto">
            <a:xfrm>
              <a:off x="2544979" y="5843417"/>
              <a:ext cx="836046" cy="346916"/>
            </a:xfrm>
            <a:prstGeom prst="rect">
              <a:avLst/>
            </a:prstGeom>
            <a:noFill/>
            <a:ln w="9525">
              <a:noFill/>
              <a:miter lim="800000"/>
              <a:headEnd/>
              <a:tailEnd/>
            </a:ln>
            <a:effectLst/>
          </p:spPr>
          <p:txBody>
            <a:bodyPr wrap="none" lIns="86320" tIns="43161" rIns="86320" bIns="43161">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88" b="0" i="0" u="none" strike="noStrike" kern="1200" cap="none" spc="0" normalizeH="0" baseline="0" noProof="0" dirty="0">
                  <a:ln>
                    <a:noFill/>
                  </a:ln>
                  <a:solidFill>
                    <a:prstClr val="black"/>
                  </a:solidFill>
                  <a:effectLst/>
                  <a:uLnTx/>
                  <a:uFillTx/>
                  <a:latin typeface="Whitney-Book" pitchFamily="50" charset="0"/>
                  <a:ea typeface="+mn-ea"/>
                  <a:cs typeface="Whitney-Book" pitchFamily="50" charset="0"/>
                </a:rPr>
                <a:t>Seniors</a:t>
              </a:r>
            </a:p>
          </p:txBody>
        </p:sp>
      </p:grpSp>
    </p:spTree>
    <p:custDataLst>
      <p:tags r:id="rId1"/>
    </p:custDataLst>
    <p:extLst>
      <p:ext uri="{BB962C8B-B14F-4D97-AF65-F5344CB8AC3E}">
        <p14:creationId xmlns:p14="http://schemas.microsoft.com/office/powerpoint/2010/main" val="4083966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 y="127215"/>
            <a:ext cx="8951976" cy="1143000"/>
          </a:xfrm>
        </p:spPr>
        <p:txBody>
          <a:bodyPr/>
          <a:lstStyle/>
          <a:p>
            <a:r>
              <a:rPr lang="en-US" dirty="0"/>
              <a:t>Segment pricing: student discounts</a:t>
            </a:r>
          </a:p>
        </p:txBody>
      </p:sp>
      <p:pic>
        <p:nvPicPr>
          <p:cNvPr id="16" name="Picture 15"/>
          <p:cNvPicPr>
            <a:picLocks noChangeAspect="1"/>
          </p:cNvPicPr>
          <p:nvPr/>
        </p:nvPicPr>
        <p:blipFill>
          <a:blip r:embed="rId3"/>
          <a:stretch>
            <a:fillRect/>
          </a:stretch>
        </p:blipFill>
        <p:spPr>
          <a:xfrm>
            <a:off x="2228850" y="1148532"/>
            <a:ext cx="4494445" cy="5581516"/>
          </a:xfrm>
          <a:prstGeom prst="rect">
            <a:avLst/>
          </a:prstGeom>
        </p:spPr>
      </p:pic>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16914817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1305"/>
            <a:ext cx="8686800" cy="1143000"/>
          </a:xfrm>
        </p:spPr>
        <p:txBody>
          <a:bodyPr/>
          <a:lstStyle/>
          <a:p>
            <a:r>
              <a:rPr lang="en-US" dirty="0"/>
              <a:t>Segment pricing: discounts for locals</a:t>
            </a:r>
          </a:p>
        </p:txBody>
      </p:sp>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pic>
        <p:nvPicPr>
          <p:cNvPr id="7" name="Picture 6">
            <a:extLst>
              <a:ext uri="{FF2B5EF4-FFF2-40B4-BE49-F238E27FC236}">
                <a16:creationId xmlns:a16="http://schemas.microsoft.com/office/drawing/2014/main" id="{58814899-629D-4F7D-BA74-0D9F95A6784A}"/>
              </a:ext>
            </a:extLst>
          </p:cNvPr>
          <p:cNvPicPr>
            <a:picLocks noChangeAspect="1"/>
          </p:cNvPicPr>
          <p:nvPr/>
        </p:nvPicPr>
        <p:blipFill>
          <a:blip r:embed="rId3"/>
          <a:stretch>
            <a:fillRect/>
          </a:stretch>
        </p:blipFill>
        <p:spPr>
          <a:xfrm>
            <a:off x="4735191" y="1385520"/>
            <a:ext cx="3737453" cy="4983270"/>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48329"/>
          <a:stretch/>
        </p:blipFill>
        <p:spPr>
          <a:xfrm>
            <a:off x="287105" y="3822320"/>
            <a:ext cx="4005330" cy="2938502"/>
          </a:xfrm>
          <a:prstGeom prst="rect">
            <a:avLst/>
          </a:prstGeom>
        </p:spPr>
      </p:pic>
      <p:pic>
        <p:nvPicPr>
          <p:cNvPr id="8" name="Picture 7">
            <a:extLst>
              <a:ext uri="{FF2B5EF4-FFF2-40B4-BE49-F238E27FC236}">
                <a16:creationId xmlns:a16="http://schemas.microsoft.com/office/drawing/2014/main" id="{3942AAA4-F499-4BED-9D96-41DCDF68E4AC}"/>
              </a:ext>
            </a:extLst>
          </p:cNvPr>
          <p:cNvPicPr>
            <a:picLocks noChangeAspect="1"/>
          </p:cNvPicPr>
          <p:nvPr/>
        </p:nvPicPr>
        <p:blipFill rotWithShape="1">
          <a:blip r:embed="rId4">
            <a:extLst>
              <a:ext uri="{28A0092B-C50C-407E-A947-70E740481C1C}">
                <a14:useLocalDpi xmlns:a14="http://schemas.microsoft.com/office/drawing/2010/main" val="0"/>
              </a:ext>
            </a:extLst>
          </a:blip>
          <a:srcRect r="51785" b="9438"/>
          <a:stretch/>
        </p:blipFill>
        <p:spPr>
          <a:xfrm>
            <a:off x="327455" y="1154305"/>
            <a:ext cx="3964980" cy="2661161"/>
          </a:xfrm>
          <a:prstGeom prst="rect">
            <a:avLst/>
          </a:prstGeom>
        </p:spPr>
      </p:pic>
    </p:spTree>
    <p:extLst>
      <p:ext uri="{BB962C8B-B14F-4D97-AF65-F5344CB8AC3E}">
        <p14:creationId xmlns:p14="http://schemas.microsoft.com/office/powerpoint/2010/main" val="232348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r>
              <a:rPr lang="en-US" dirty="0"/>
              <a:t>Segment Pricing: Timing</a:t>
            </a:r>
          </a:p>
        </p:txBody>
      </p:sp>
      <p:sp>
        <p:nvSpPr>
          <p:cNvPr id="4" name="Slide Number Placeholder 3"/>
          <p:cNvSpPr>
            <a:spLocks noGrp="1"/>
          </p:cNvSpPr>
          <p:nvPr>
            <p:ph type="sldNum" sz="quarter" idx="10"/>
          </p:nvPr>
        </p:nvSpPr>
        <p:spPr/>
        <p:txBody>
          <a:bodyPr/>
          <a:lstStyle/>
          <a:p>
            <a:fld id="{DBC38028-5B1C-49D3-BF22-2CE9385E6DA2}" type="slidenum">
              <a:rPr lang="en-US" smtClean="0"/>
              <a:pPr/>
              <a:t>7</a:t>
            </a:fld>
            <a:endParaRPr lang="en-US" dirty="0"/>
          </a:p>
        </p:txBody>
      </p:sp>
      <p:pic>
        <p:nvPicPr>
          <p:cNvPr id="2" name="Picture 1">
            <a:extLst>
              <a:ext uri="{FF2B5EF4-FFF2-40B4-BE49-F238E27FC236}">
                <a16:creationId xmlns:a16="http://schemas.microsoft.com/office/drawing/2014/main" id="{AC5A5EE5-9014-4C8E-B012-D4BBB94041B9}"/>
              </a:ext>
            </a:extLst>
          </p:cNvPr>
          <p:cNvPicPr>
            <a:picLocks noChangeAspect="1"/>
          </p:cNvPicPr>
          <p:nvPr/>
        </p:nvPicPr>
        <p:blipFill>
          <a:blip r:embed="rId4"/>
          <a:stretch>
            <a:fillRect/>
          </a:stretch>
        </p:blipFill>
        <p:spPr>
          <a:xfrm>
            <a:off x="554019" y="1167227"/>
            <a:ext cx="7221290" cy="1516214"/>
          </a:xfrm>
          <a:prstGeom prst="rect">
            <a:avLst/>
          </a:prstGeom>
        </p:spPr>
      </p:pic>
      <p:pic>
        <p:nvPicPr>
          <p:cNvPr id="3" name="Picture 2">
            <a:extLst>
              <a:ext uri="{FF2B5EF4-FFF2-40B4-BE49-F238E27FC236}">
                <a16:creationId xmlns:a16="http://schemas.microsoft.com/office/drawing/2014/main" id="{2C089C9A-E3AA-407D-B32B-8613D0DC1EF3}"/>
              </a:ext>
            </a:extLst>
          </p:cNvPr>
          <p:cNvPicPr>
            <a:picLocks noChangeAspect="1"/>
          </p:cNvPicPr>
          <p:nvPr/>
        </p:nvPicPr>
        <p:blipFill>
          <a:blip r:embed="rId5"/>
          <a:stretch>
            <a:fillRect/>
          </a:stretch>
        </p:blipFill>
        <p:spPr>
          <a:xfrm>
            <a:off x="934592" y="3044415"/>
            <a:ext cx="6398931" cy="3156520"/>
          </a:xfrm>
          <a:prstGeom prst="rect">
            <a:avLst/>
          </a:prstGeom>
        </p:spPr>
      </p:pic>
      <p:sp>
        <p:nvSpPr>
          <p:cNvPr id="8" name="Rectangle 25">
            <a:extLst>
              <a:ext uri="{FF2B5EF4-FFF2-40B4-BE49-F238E27FC236}">
                <a16:creationId xmlns:a16="http://schemas.microsoft.com/office/drawing/2014/main" id="{1C41CE2A-D06B-415D-B69C-626170CDED40}"/>
              </a:ext>
            </a:extLst>
          </p:cNvPr>
          <p:cNvSpPr>
            <a:spLocks noChangeArrowheads="1"/>
          </p:cNvSpPr>
          <p:nvPr/>
        </p:nvSpPr>
        <p:spPr bwMode="auto">
          <a:xfrm>
            <a:off x="4172833" y="6135031"/>
            <a:ext cx="3602476" cy="612674"/>
          </a:xfrm>
          <a:prstGeom prst="rect">
            <a:avLst/>
          </a:prstGeom>
          <a:noFill/>
          <a:ln w="9525">
            <a:noFill/>
            <a:miter lim="800000"/>
            <a:headEnd/>
            <a:tailEnd/>
          </a:ln>
          <a:effectLst/>
        </p:spPr>
        <p:txBody>
          <a:bodyPr wrap="none" lIns="92273" tIns="46136" rIns="92273" bIns="46136">
            <a:spAutoFit/>
          </a:bodyPr>
          <a:lstStyle/>
          <a:p>
            <a:pPr defTabSz="974825">
              <a:defRPr/>
            </a:pPr>
            <a:r>
              <a:rPr kumimoji="0" lang="en-US" sz="1688" b="0" u="none" strike="noStrike" kern="1200" cap="none" spc="0" normalizeH="0" baseline="0" noProof="0" dirty="0">
                <a:ln>
                  <a:noFill/>
                </a:ln>
                <a:effectLst/>
                <a:uLnTx/>
                <a:uFillTx/>
                <a:latin typeface="Whitney-Book" pitchFamily="50" charset="0"/>
                <a:ea typeface="+mn-ea"/>
                <a:cs typeface="Whitney-Book" pitchFamily="50" charset="0"/>
              </a:rPr>
              <a:t>Source:  </a:t>
            </a:r>
            <a:r>
              <a:rPr lang="en-US" sz="1600" dirty="0">
                <a:hlinkClick r:id="rId6"/>
              </a:rPr>
              <a:t>https://camelcamelcamel.com/</a:t>
            </a:r>
            <a:r>
              <a:rPr lang="en-US" sz="1600" dirty="0"/>
              <a:t> </a:t>
            </a:r>
          </a:p>
          <a:p>
            <a:pPr marL="0" marR="0" lvl="0" indent="0" algn="l" defTabSz="974825" rtl="0" eaLnBrk="1" fontAlgn="auto" latinLnBrk="0" hangingPunct="1">
              <a:lnSpc>
                <a:spcPct val="100000"/>
              </a:lnSpc>
              <a:spcBef>
                <a:spcPts val="0"/>
              </a:spcBef>
              <a:spcAft>
                <a:spcPts val="0"/>
              </a:spcAft>
              <a:buClrTx/>
              <a:buSzTx/>
              <a:buFontTx/>
              <a:buNone/>
              <a:tabLst/>
              <a:defRPr/>
            </a:pPr>
            <a:endParaRPr kumimoji="0" lang="en-US" sz="1688" b="0" i="1" u="none" strike="noStrike" kern="1200" cap="none" spc="0" normalizeH="0" baseline="0" noProof="0" dirty="0">
              <a:ln>
                <a:noFill/>
              </a:ln>
              <a:solidFill>
                <a:srgbClr val="C00000"/>
              </a:solidFill>
              <a:effectLst/>
              <a:uLnTx/>
              <a:uFillTx/>
              <a:latin typeface="Whitney-Book" pitchFamily="50" charset="0"/>
              <a:ea typeface="+mn-ea"/>
              <a:cs typeface="Whitney-Book" pitchFamily="50" charset="0"/>
            </a:endParaRPr>
          </a:p>
        </p:txBody>
      </p:sp>
    </p:spTree>
    <p:custDataLst>
      <p:tags r:id="rId1"/>
    </p:custDataLst>
    <p:extLst>
      <p:ext uri="{BB962C8B-B14F-4D97-AF65-F5344CB8AC3E}">
        <p14:creationId xmlns:p14="http://schemas.microsoft.com/office/powerpoint/2010/main" val="3490207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9B4C-D39E-4778-BBDC-91385039EB74}"/>
              </a:ext>
            </a:extLst>
          </p:cNvPr>
          <p:cNvSpPr>
            <a:spLocks noGrp="1"/>
          </p:cNvSpPr>
          <p:nvPr>
            <p:ph type="title"/>
          </p:nvPr>
        </p:nvSpPr>
        <p:spPr/>
        <p:txBody>
          <a:bodyPr/>
          <a:lstStyle/>
          <a:p>
            <a:r>
              <a:rPr lang="en-US" dirty="0"/>
              <a:t>segment pricing: ways to segment consumers</a:t>
            </a:r>
          </a:p>
        </p:txBody>
      </p:sp>
      <p:sp>
        <p:nvSpPr>
          <p:cNvPr id="3" name="Content Placeholder 2">
            <a:extLst>
              <a:ext uri="{FF2B5EF4-FFF2-40B4-BE49-F238E27FC236}">
                <a16:creationId xmlns:a16="http://schemas.microsoft.com/office/drawing/2014/main" id="{2CED4F30-DC90-4FD2-BE3B-DF4833A129F7}"/>
              </a:ext>
            </a:extLst>
          </p:cNvPr>
          <p:cNvSpPr>
            <a:spLocks noGrp="1"/>
          </p:cNvSpPr>
          <p:nvPr>
            <p:ph idx="1"/>
          </p:nvPr>
        </p:nvSpPr>
        <p:spPr>
          <a:xfrm>
            <a:off x="457200" y="1640114"/>
            <a:ext cx="8229600" cy="5090670"/>
          </a:xfrm>
        </p:spPr>
        <p:txBody>
          <a:bodyPr>
            <a:normAutofit fontScale="32500" lnSpcReduction="20000"/>
          </a:bodyPr>
          <a:lstStyle/>
          <a:p>
            <a:pPr>
              <a:lnSpc>
                <a:spcPts val="3100"/>
              </a:lnSpc>
            </a:pPr>
            <a:r>
              <a:rPr lang="en-US" sz="9600" dirty="0"/>
              <a:t>By customer characteristics</a:t>
            </a:r>
          </a:p>
          <a:p>
            <a:pPr lvl="1">
              <a:lnSpc>
                <a:spcPct val="120000"/>
              </a:lnSpc>
              <a:spcBef>
                <a:spcPts val="0"/>
              </a:spcBef>
            </a:pPr>
            <a:r>
              <a:rPr lang="en-US" sz="8000" dirty="0"/>
              <a:t>Age, gender,… </a:t>
            </a:r>
          </a:p>
          <a:p>
            <a:pPr lvl="1">
              <a:lnSpc>
                <a:spcPct val="120000"/>
              </a:lnSpc>
              <a:spcBef>
                <a:spcPts val="0"/>
              </a:spcBef>
            </a:pPr>
            <a:r>
              <a:rPr lang="en-US" sz="8000" dirty="0"/>
              <a:t>But even by ‘customer’ species: Doctors and veterinarians sometimes use the same medicines.</a:t>
            </a:r>
          </a:p>
          <a:p>
            <a:pPr>
              <a:lnSpc>
                <a:spcPct val="120000"/>
              </a:lnSpc>
              <a:spcBef>
                <a:spcPts val="0"/>
              </a:spcBef>
            </a:pPr>
            <a:r>
              <a:rPr lang="en-US" sz="9500" dirty="0"/>
              <a:t>Discounts for new customers </a:t>
            </a:r>
            <a:r>
              <a:rPr lang="en-US" sz="6200" dirty="0"/>
              <a:t>(gym memberships)</a:t>
            </a:r>
          </a:p>
          <a:p>
            <a:pPr>
              <a:lnSpc>
                <a:spcPts val="3100"/>
              </a:lnSpc>
            </a:pPr>
            <a:r>
              <a:rPr lang="en-US" sz="9600" dirty="0"/>
              <a:t>By location</a:t>
            </a:r>
          </a:p>
          <a:p>
            <a:pPr lvl="1">
              <a:lnSpc>
                <a:spcPct val="120000"/>
              </a:lnSpc>
              <a:spcBef>
                <a:spcPts val="0"/>
              </a:spcBef>
            </a:pPr>
            <a:r>
              <a:rPr lang="fr-FR" sz="8000" dirty="0"/>
              <a:t>Pharmaceuticals in US v. </a:t>
            </a:r>
            <a:r>
              <a:rPr lang="fr-FR" sz="8000" dirty="0" err="1"/>
              <a:t>emerging</a:t>
            </a:r>
            <a:r>
              <a:rPr lang="fr-FR" sz="8000" dirty="0"/>
              <a:t> </a:t>
            </a:r>
            <a:r>
              <a:rPr lang="fr-FR" sz="8000" dirty="0" err="1"/>
              <a:t>economies</a:t>
            </a:r>
            <a:endParaRPr lang="fr-FR" sz="8000" dirty="0"/>
          </a:p>
          <a:p>
            <a:pPr>
              <a:lnSpc>
                <a:spcPts val="3100"/>
              </a:lnSpc>
            </a:pPr>
            <a:r>
              <a:rPr lang="fr-FR" sz="9600" dirty="0" err="1"/>
              <a:t>Intertemporal</a:t>
            </a:r>
            <a:r>
              <a:rPr lang="fr-FR" sz="9600" dirty="0"/>
              <a:t> </a:t>
            </a:r>
          </a:p>
          <a:p>
            <a:pPr lvl="1">
              <a:lnSpc>
                <a:spcPct val="120000"/>
              </a:lnSpc>
              <a:spcBef>
                <a:spcPts val="0"/>
              </a:spcBef>
            </a:pPr>
            <a:r>
              <a:rPr lang="fr-FR" sz="8000" dirty="0" err="1"/>
              <a:t>Electronic</a:t>
            </a:r>
            <a:r>
              <a:rPr lang="fr-FR" sz="8000" dirty="0"/>
              <a:t> gadgets: </a:t>
            </a:r>
            <a:r>
              <a:rPr lang="fr-FR" sz="8000" dirty="0" err="1"/>
              <a:t>Early</a:t>
            </a:r>
            <a:r>
              <a:rPr lang="fr-FR" sz="8000" dirty="0"/>
              <a:t> </a:t>
            </a:r>
            <a:r>
              <a:rPr lang="fr-FR" sz="8000" dirty="0" err="1"/>
              <a:t>adopters</a:t>
            </a:r>
            <a:r>
              <a:rPr lang="fr-FR" sz="8000" dirty="0"/>
              <a:t> vs. Mass </a:t>
            </a:r>
            <a:r>
              <a:rPr lang="fr-FR" sz="8000" dirty="0" err="1"/>
              <a:t>market</a:t>
            </a:r>
            <a:endParaRPr lang="fr-FR" sz="8000" dirty="0"/>
          </a:p>
          <a:p>
            <a:pPr lvl="1">
              <a:lnSpc>
                <a:spcPct val="120000"/>
              </a:lnSpc>
              <a:spcBef>
                <a:spcPts val="0"/>
              </a:spcBef>
            </a:pPr>
            <a:r>
              <a:rPr lang="en-US" sz="8000" dirty="0"/>
              <a:t>Pricing based on search history</a:t>
            </a:r>
            <a:endParaRPr lang="fr-FR" sz="8000" dirty="0"/>
          </a:p>
          <a:p>
            <a:pPr lvl="1">
              <a:lnSpc>
                <a:spcPct val="120000"/>
              </a:lnSpc>
              <a:spcBef>
                <a:spcPts val="0"/>
              </a:spcBef>
            </a:pPr>
            <a:r>
              <a:rPr lang="fr-FR" sz="8000" dirty="0"/>
              <a:t>Black Friday</a:t>
            </a:r>
          </a:p>
          <a:p>
            <a:endParaRPr lang="en-US" dirty="0"/>
          </a:p>
        </p:txBody>
      </p:sp>
    </p:spTree>
    <p:extLst>
      <p:ext uri="{BB962C8B-B14F-4D97-AF65-F5344CB8AC3E}">
        <p14:creationId xmlns:p14="http://schemas.microsoft.com/office/powerpoint/2010/main" val="2571724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357188" y="357188"/>
            <a:ext cx="8343305" cy="1114719"/>
          </a:xfrm>
          <a:noFill/>
          <a:ln/>
        </p:spPr>
        <p:txBody>
          <a:bodyPr vert="horz" lIns="92273" tIns="46136" rIns="92273" bIns="46136" rtlCol="0" anchor="ctr">
            <a:normAutofit fontScale="90000"/>
          </a:bodyPr>
          <a:lstStyle/>
          <a:p>
            <a:r>
              <a:rPr lang="en-US" sz="4125" dirty="0"/>
              <a:t>Segment Pricing</a:t>
            </a:r>
            <a:br>
              <a:rPr lang="en-US" sz="3375" dirty="0"/>
            </a:br>
            <a:endParaRPr lang="en-US" sz="4500" dirty="0"/>
          </a:p>
        </p:txBody>
      </p:sp>
      <p:sp>
        <p:nvSpPr>
          <p:cNvPr id="144387" name="Rectangle 3"/>
          <p:cNvSpPr>
            <a:spLocks noGrp="1" noChangeArrowheads="1"/>
          </p:cNvSpPr>
          <p:nvPr>
            <p:ph type="body" idx="1"/>
          </p:nvPr>
        </p:nvSpPr>
        <p:spPr>
          <a:xfrm>
            <a:off x="686098" y="1482327"/>
            <a:ext cx="7857538" cy="5001740"/>
          </a:xfrm>
          <a:noFill/>
          <a:ln/>
        </p:spPr>
        <p:txBody>
          <a:bodyPr vert="horz" lIns="92273" tIns="46136" rIns="92273" bIns="46136" rtlCol="0">
            <a:normAutofit/>
          </a:bodyPr>
          <a:lstStyle/>
          <a:p>
            <a:pPr>
              <a:lnSpc>
                <a:spcPct val="120000"/>
              </a:lnSpc>
            </a:pPr>
            <a:r>
              <a:rPr lang="en-US" sz="2400" dirty="0"/>
              <a:t>A firm produces the same product for two markets</a:t>
            </a:r>
          </a:p>
          <a:p>
            <a:pPr lvl="1">
              <a:lnSpc>
                <a:spcPct val="120000"/>
              </a:lnSpc>
            </a:pPr>
            <a:r>
              <a:rPr lang="en-US" sz="2200" dirty="0"/>
              <a:t>E.g. cars</a:t>
            </a:r>
          </a:p>
          <a:p>
            <a:pPr>
              <a:lnSpc>
                <a:spcPct val="120000"/>
              </a:lnSpc>
            </a:pPr>
            <a:r>
              <a:rPr lang="en-US" sz="2400" dirty="0"/>
              <a:t>Should the price be the same in both markets?</a:t>
            </a:r>
          </a:p>
          <a:p>
            <a:pPr>
              <a:lnSpc>
                <a:spcPct val="120000"/>
              </a:lnSpc>
            </a:pPr>
            <a:r>
              <a:rPr lang="en-US" sz="2400" dirty="0"/>
              <a:t>Not necessarily! </a:t>
            </a:r>
            <a:endParaRPr lang="en-US" sz="3000" b="1" dirty="0"/>
          </a:p>
          <a:p>
            <a:pPr marL="0" indent="0" algn="ctr">
              <a:lnSpc>
                <a:spcPct val="90000"/>
              </a:lnSpc>
              <a:buNone/>
            </a:pPr>
            <a:r>
              <a:rPr lang="en-US" sz="3000" b="1" dirty="0"/>
              <a:t>Set </a:t>
            </a:r>
            <a:r>
              <a:rPr lang="en-US" sz="3000" b="1" i="1" dirty="0" err="1"/>
              <a:t>MR</a:t>
            </a:r>
            <a:r>
              <a:rPr lang="en-US" sz="3000" b="1" i="1" baseline="-25000" dirty="0" err="1"/>
              <a:t>i</a:t>
            </a:r>
            <a:r>
              <a:rPr lang="en-US" sz="3000" b="1" i="1" dirty="0"/>
              <a:t>=</a:t>
            </a:r>
            <a:r>
              <a:rPr lang="en-US" sz="3000" b="1" i="1" dirty="0" err="1"/>
              <a:t>MC</a:t>
            </a:r>
            <a:r>
              <a:rPr lang="en-US" sz="3000" b="1" i="1" baseline="-25000" dirty="0" err="1"/>
              <a:t>i</a:t>
            </a:r>
            <a:r>
              <a:rPr lang="en-US" sz="3000" b="1" dirty="0"/>
              <a:t> in each market </a:t>
            </a:r>
            <a:r>
              <a:rPr lang="en-US" sz="3000" b="1" i="1" dirty="0" err="1"/>
              <a:t>i</a:t>
            </a:r>
            <a:endParaRPr lang="en-US" sz="3000" b="1" i="1" dirty="0"/>
          </a:p>
        </p:txBody>
      </p:sp>
      <p:sp>
        <p:nvSpPr>
          <p:cNvPr id="5" name="Slide Number Placeholder 4"/>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BC38028-5B1C-49D3-BF22-2CE9385E6DA2}" type="slidenum">
              <a:rPr kumimoji="0" lang="en-US" sz="800" b="0" i="0" u="none" strike="noStrike" kern="800" cap="none" spc="400" normalizeH="0" baseline="0" noProof="0" smtClean="0">
                <a:ln>
                  <a:noFill/>
                </a:ln>
                <a:solidFill>
                  <a:prstClr val="black">
                    <a:lumMod val="75000"/>
                    <a:lumOff val="25000"/>
                  </a:prstClr>
                </a:solidFill>
                <a:effectLst/>
                <a:uLnTx/>
                <a:uFillTx/>
                <a:latin typeface=""/>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800" cap="none" spc="400" normalizeH="0" baseline="0" noProof="0" dirty="0">
              <a:ln>
                <a:noFill/>
              </a:ln>
              <a:solidFill>
                <a:prstClr val="black">
                  <a:lumMod val="75000"/>
                  <a:lumOff val="25000"/>
                </a:prstClr>
              </a:solidFill>
              <a:effectLst/>
              <a:uLnTx/>
              <a:uFillTx/>
              <a:latin typeface=""/>
              <a:ea typeface="+mn-ea"/>
              <a:cs typeface="+mn-cs"/>
            </a:endParaRPr>
          </a:p>
        </p:txBody>
      </p:sp>
      <p:sp>
        <p:nvSpPr>
          <p:cNvPr id="6" name="Rectangle 5">
            <a:extLst>
              <a:ext uri="{FF2B5EF4-FFF2-40B4-BE49-F238E27FC236}">
                <a16:creationId xmlns:a16="http://schemas.microsoft.com/office/drawing/2014/main" id="{8FCB9978-7961-421E-B2AF-A958CC050A4A}"/>
              </a:ext>
            </a:extLst>
          </p:cNvPr>
          <p:cNvSpPr/>
          <p:nvPr/>
        </p:nvSpPr>
        <p:spPr>
          <a:xfrm>
            <a:off x="5577740" y="4878871"/>
            <a:ext cx="3566260" cy="2008251"/>
          </a:xfrm>
          <a:prstGeom prst="rect">
            <a:avLst/>
          </a:prstGeom>
          <a:blipFill dpi="0" rotWithShape="1">
            <a:blip r:embed="rId4">
              <a:alphaModFix amt="43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89672A31-1AE8-4EC6-8AC6-42CA5C435889}"/>
              </a:ext>
            </a:extLst>
          </p:cNvPr>
          <p:cNvGrpSpPr/>
          <p:nvPr/>
        </p:nvGrpSpPr>
        <p:grpSpPr>
          <a:xfrm>
            <a:off x="5822552" y="4087589"/>
            <a:ext cx="3076636" cy="566487"/>
            <a:chOff x="62403" y="6168852"/>
            <a:chExt cx="2911737" cy="566487"/>
          </a:xfrm>
        </p:grpSpPr>
        <p:sp>
          <p:nvSpPr>
            <p:cNvPr id="8" name="Rectangle 3">
              <a:extLst>
                <a:ext uri="{FF2B5EF4-FFF2-40B4-BE49-F238E27FC236}">
                  <a16:creationId xmlns:a16="http://schemas.microsoft.com/office/drawing/2014/main" id="{0C84A886-BCAC-4FF7-B1C7-3A47E21F8992}"/>
                </a:ext>
              </a:extLst>
            </p:cNvPr>
            <p:cNvSpPr txBox="1">
              <a:spLocks noChangeArrowheads="1"/>
            </p:cNvSpPr>
            <p:nvPr/>
          </p:nvSpPr>
          <p:spPr>
            <a:xfrm>
              <a:off x="62403" y="6168852"/>
              <a:ext cx="2911737" cy="566487"/>
            </a:xfrm>
            <a:prstGeom prst="rect">
              <a:avLst/>
            </a:prstGeom>
            <a:gradFill>
              <a:gsLst>
                <a:gs pos="44000">
                  <a:schemeClr val="bg1">
                    <a:lumMod val="85000"/>
                  </a:schemeClr>
                </a:gs>
                <a:gs pos="0">
                  <a:schemeClr val="tx1">
                    <a:lumMod val="65000"/>
                    <a:lumOff val="35000"/>
                  </a:schemeClr>
                </a:gs>
                <a:gs pos="100000">
                  <a:schemeClr val="tx1">
                    <a:lumMod val="50000"/>
                    <a:lumOff val="50000"/>
                  </a:schemeClr>
                </a:gs>
              </a:gsLst>
              <a:lin ang="5400000" scaled="1"/>
            </a:gradFill>
            <a:ln w="15875">
              <a:noFill/>
            </a:ln>
            <a:effectLst>
              <a:outerShdw blurRad="50800" dist="38100" dir="2700000" algn="tl" rotWithShape="0">
                <a:prstClr val="black">
                  <a:alpha val="40000"/>
                </a:prstClr>
              </a:outerShdw>
              <a:softEdge rad="50800"/>
            </a:effectLst>
          </p:spPr>
          <p:txBody>
            <a:bodyPr vert="horz" lIns="92069" tIns="46035" rIns="92069" bIns="46035" rtlCol="0" anchor="ctr">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600"/>
                </a:spcBef>
                <a:spcAft>
                  <a:spcPts val="563"/>
                </a:spcAft>
                <a:buNone/>
              </a:pPr>
              <a:r>
                <a:rPr lang="en-US" sz="2400" dirty="0">
                  <a:cs typeface="Times New Roman" pitchFamily="18" charset="0"/>
                </a:rPr>
                <a:t>        </a:t>
              </a:r>
              <a:r>
                <a:rPr lang="en-US" sz="2400" dirty="0">
                  <a:ln>
                    <a:solidFill>
                      <a:schemeClr val="bg1">
                        <a:lumMod val="50000"/>
                      </a:schemeClr>
                    </a:solidFill>
                  </a:ln>
                  <a:solidFill>
                    <a:schemeClr val="tx1"/>
                  </a:solidFill>
                  <a:latin typeface="Calibri" panose="020F0502020204030204" pitchFamily="34" charset="0"/>
                  <a:cs typeface="Calibri" panose="020F0502020204030204" pitchFamily="34" charset="0"/>
                </a:rPr>
                <a:t>Practice Video! </a:t>
              </a:r>
            </a:p>
          </p:txBody>
        </p:sp>
        <p:sp>
          <p:nvSpPr>
            <p:cNvPr id="9" name="Right Arrow 1">
              <a:extLst>
                <a:ext uri="{FF2B5EF4-FFF2-40B4-BE49-F238E27FC236}">
                  <a16:creationId xmlns:a16="http://schemas.microsoft.com/office/drawing/2014/main" id="{47F6391E-3D36-4C3C-82C4-BBDE41F4AB8B}"/>
                </a:ext>
              </a:extLst>
            </p:cNvPr>
            <p:cNvSpPr/>
            <p:nvPr/>
          </p:nvSpPr>
          <p:spPr>
            <a:xfrm>
              <a:off x="208445" y="6315750"/>
              <a:ext cx="373445" cy="301998"/>
            </a:xfrm>
            <a:prstGeom prst="rightArrow">
              <a:avLst/>
            </a:prstGeom>
            <a:solidFill>
              <a:schemeClr val="accent2"/>
            </a:solidFill>
            <a:effectLst>
              <a:outerShdw blurRad="40000" dist="23000" dir="5400000" rotWithShape="0">
                <a:srgbClr val="000000">
                  <a:alpha val="35000"/>
                </a:srgbClr>
              </a:outerShdw>
              <a:softEdge rad="25400"/>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10" name="Rectangle 3">
            <a:extLst>
              <a:ext uri="{FF2B5EF4-FFF2-40B4-BE49-F238E27FC236}">
                <a16:creationId xmlns:a16="http://schemas.microsoft.com/office/drawing/2014/main" id="{3B169DEA-8ECC-4BEC-96F8-8B3FDFAE84B5}"/>
              </a:ext>
            </a:extLst>
          </p:cNvPr>
          <p:cNvSpPr txBox="1">
            <a:spLocks noChangeArrowheads="1"/>
          </p:cNvSpPr>
          <p:nvPr/>
        </p:nvSpPr>
        <p:spPr>
          <a:xfrm>
            <a:off x="196950" y="4536485"/>
            <a:ext cx="5380790" cy="204240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1">
              <a:spcBef>
                <a:spcPts val="0"/>
              </a:spcBef>
              <a:spcAft>
                <a:spcPts val="563"/>
              </a:spcAft>
            </a:pPr>
            <a:endParaRPr lang="en-US" sz="1300" dirty="0">
              <a:latin typeface="Whitney-Book" pitchFamily="50" charset="0"/>
              <a:cs typeface="Whitney-Book" pitchFamily="50" charset="0"/>
            </a:endParaRPr>
          </a:p>
          <a:p>
            <a:pPr lvl="1">
              <a:lnSpc>
                <a:spcPts val="3000"/>
              </a:lnSpc>
              <a:spcBef>
                <a:spcPts val="0"/>
              </a:spcBef>
              <a:spcAft>
                <a:spcPts val="563"/>
              </a:spcAft>
            </a:pPr>
            <a:r>
              <a:rPr lang="en-US" sz="2400" dirty="0">
                <a:latin typeface="Whitney-Book" pitchFamily="50" charset="0"/>
                <a:cs typeface="Whitney-Book" pitchFamily="50" charset="0"/>
              </a:rPr>
              <a:t>Prices different if demand (MR) and/or costs (MC) are different</a:t>
            </a:r>
          </a:p>
          <a:p>
            <a:pPr lvl="1">
              <a:lnSpc>
                <a:spcPts val="3000"/>
              </a:lnSpc>
              <a:spcBef>
                <a:spcPts val="0"/>
              </a:spcBef>
              <a:spcAft>
                <a:spcPts val="563"/>
              </a:spcAft>
            </a:pPr>
            <a:r>
              <a:rPr lang="en-US" sz="2400" u="sng" dirty="0">
                <a:solidFill>
                  <a:srgbClr val="C00000"/>
                </a:solidFill>
                <a:latin typeface="Whitney-Book" pitchFamily="50" charset="0"/>
                <a:cs typeface="Whitney-Book" pitchFamily="50" charset="0"/>
              </a:rPr>
              <a:t>Rule</a:t>
            </a:r>
            <a:r>
              <a:rPr lang="en-US" sz="2400" dirty="0">
                <a:latin typeface="Whitney-Book" pitchFamily="50" charset="0"/>
                <a:cs typeface="Whitney-Book" pitchFamily="50" charset="0"/>
              </a:rPr>
              <a:t>: Charge lower price in more elastic markets</a:t>
            </a:r>
            <a:endParaRPr lang="en-US" sz="1600" dirty="0">
              <a:latin typeface="Whitney-Book" pitchFamily="50" charset="0"/>
              <a:cs typeface="Whitney-Book" pitchFamily="50"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3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438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438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4387">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1000" fill="hold"/>
                                        <p:tgtEl>
                                          <p:spTgt spid="7"/>
                                        </p:tgtEl>
                                        <p:attrNameLst>
                                          <p:attrName>ppt_w</p:attrName>
                                        </p:attrNameLst>
                                      </p:cBhvr>
                                      <p:tavLst>
                                        <p:tav tm="0">
                                          <p:val>
                                            <p:fltVal val="0"/>
                                          </p:val>
                                        </p:tav>
                                        <p:tav tm="100000">
                                          <p:val>
                                            <p:strVal val="#ppt_w"/>
                                          </p:val>
                                        </p:tav>
                                      </p:tavLst>
                                    </p:anim>
                                    <p:anim calcmode="lin" valueType="num">
                                      <p:cBhvr>
                                        <p:cTn id="30" dur="1000" fill="hold"/>
                                        <p:tgtEl>
                                          <p:spTgt spid="7"/>
                                        </p:tgtEl>
                                        <p:attrNameLst>
                                          <p:attrName>ppt_h</p:attrName>
                                        </p:attrNameLst>
                                      </p:cBhvr>
                                      <p:tavLst>
                                        <p:tav tm="0">
                                          <p:val>
                                            <p:fltVal val="0"/>
                                          </p:val>
                                        </p:tav>
                                        <p:tav tm="100000">
                                          <p:val>
                                            <p:strVal val="#ppt_h"/>
                                          </p:val>
                                        </p:tav>
                                      </p:tavLst>
                                    </p:anim>
                                    <p:anim calcmode="lin" valueType="num">
                                      <p:cBhvr>
                                        <p:cTn id="31" dur="1000" fill="hold"/>
                                        <p:tgtEl>
                                          <p:spTgt spid="7"/>
                                        </p:tgtEl>
                                        <p:attrNameLst>
                                          <p:attrName>style.rotation</p:attrName>
                                        </p:attrNameLst>
                                      </p:cBhvr>
                                      <p:tavLst>
                                        <p:tav tm="0">
                                          <p:val>
                                            <p:fltVal val="90"/>
                                          </p:val>
                                        </p:tav>
                                        <p:tav tm="100000">
                                          <p:val>
                                            <p:fltVal val="0"/>
                                          </p:val>
                                        </p:tav>
                                      </p:tavLst>
                                    </p:anim>
                                    <p:animEffect transition="in" filter="fade">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Challenges with segment pricing for BMW</a:t>
            </a:r>
            <a:endParaRPr lang="en-US" dirty="0"/>
          </a:p>
        </p:txBody>
      </p:sp>
      <p:sp>
        <p:nvSpPr>
          <p:cNvPr id="3" name="Content Placeholder 2"/>
          <p:cNvSpPr>
            <a:spLocks noGrp="1"/>
          </p:cNvSpPr>
          <p:nvPr>
            <p:ph idx="1"/>
          </p:nvPr>
        </p:nvSpPr>
        <p:spPr>
          <a:xfrm>
            <a:off x="457200" y="1667435"/>
            <a:ext cx="8514678" cy="5063350"/>
          </a:xfrm>
        </p:spPr>
        <p:txBody>
          <a:bodyPr>
            <a:normAutofit/>
          </a:bodyPr>
          <a:lstStyle/>
          <a:p>
            <a:pPr marL="344488" indent="-344488"/>
            <a:r>
              <a:rPr lang="en-US" sz="2400" dirty="0"/>
              <a:t>Suppose BMW sets very different prices in Germany vs. U.S.</a:t>
            </a:r>
          </a:p>
          <a:p>
            <a:pPr marL="344488" indent="-344488"/>
            <a:endParaRPr lang="en-US" sz="2400" dirty="0"/>
          </a:p>
          <a:p>
            <a:pPr marL="344488" indent="-344488"/>
            <a:r>
              <a:rPr lang="en-US" sz="2400" dirty="0"/>
              <a:t>Do you anticipate any problems?</a:t>
            </a:r>
          </a:p>
          <a:p>
            <a:pPr marL="744538" lvl="1" indent="-344488"/>
            <a:r>
              <a:rPr lang="en-US" sz="2400" dirty="0"/>
              <a:t>Arbitrage: re-importation from the cheaper market</a:t>
            </a:r>
          </a:p>
          <a:p>
            <a:pPr marL="1144588" lvl="2" indent="-344488"/>
            <a:r>
              <a:rPr lang="en-US" sz="2400" dirty="0"/>
              <a:t>Difficult in this particular case (e.g., miles vs kilometers; taxation).</a:t>
            </a:r>
          </a:p>
          <a:p>
            <a:pPr marL="1144588" lvl="2" indent="-344488"/>
            <a:r>
              <a:rPr lang="en-US" sz="2400" dirty="0"/>
              <a:t>However, easier in other cases (e.g., buying textbooks in India and reselling them in the US)</a:t>
            </a:r>
          </a:p>
          <a:p>
            <a:pPr marL="744538" lvl="1" indent="-344488"/>
            <a:r>
              <a:rPr lang="en-US" sz="2400" dirty="0"/>
              <a:t>Consumer backlash</a:t>
            </a:r>
          </a:p>
        </p:txBody>
      </p:sp>
      <p:sp>
        <p:nvSpPr>
          <p:cNvPr id="5" name="Slide Number Placeholder 4">
            <a:extLst>
              <a:ext uri="{FF2B5EF4-FFF2-40B4-BE49-F238E27FC236}">
                <a16:creationId xmlns:a16="http://schemas.microsoft.com/office/drawing/2014/main" id="{59A507EF-6F96-ED42-B3B6-6A6F22BDD55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1527521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fad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DELIMITERS" val="3.1"/>
</p:tagLst>
</file>

<file path=ppt/tags/tag4.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77555</TotalTime>
  <Words>822</Words>
  <Application>Microsoft Office PowerPoint</Application>
  <PresentationFormat>On-screen Show (4:3)</PresentationFormat>
  <Paragraphs>100</Paragraphs>
  <Slides>10</Slides>
  <Notes>10</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10</vt:i4>
      </vt:variant>
    </vt:vector>
  </HeadingPairs>
  <TitlesOfParts>
    <vt:vector size="24" baseType="lpstr">
      <vt:lpstr>Arial</vt:lpstr>
      <vt:lpstr>Calibri</vt:lpstr>
      <vt:lpstr>Lucida Grande</vt:lpstr>
      <vt:lpstr>Times New Roman</vt:lpstr>
      <vt:lpstr>Trebuchet MS</vt:lpstr>
      <vt:lpstr>Whitney Book</vt:lpstr>
      <vt:lpstr>Whitney-Book</vt:lpstr>
      <vt:lpstr>Whitney-Medium</vt:lpstr>
      <vt:lpstr>2_Custom Design</vt:lpstr>
      <vt:lpstr>Custom Design</vt:lpstr>
      <vt:lpstr>3_Custom Design</vt:lpstr>
      <vt:lpstr>5_Custom Design</vt:lpstr>
      <vt:lpstr>4_Custom Design</vt:lpstr>
      <vt:lpstr>12_Custom Design</vt:lpstr>
      <vt:lpstr>Module 6 – Video 3 Segment Pricing </vt:lpstr>
      <vt:lpstr>OUTLINE of module 6 </vt:lpstr>
      <vt:lpstr>Third degree price discrimination: segment pricing (group pricing)</vt:lpstr>
      <vt:lpstr>SEGMENT PRicing</vt:lpstr>
      <vt:lpstr>Segment pricing: student discounts</vt:lpstr>
      <vt:lpstr>Segment pricing: discounts for locals</vt:lpstr>
      <vt:lpstr>Segment Pricing: Timing</vt:lpstr>
      <vt:lpstr>segment pricing: ways to segment consumers</vt:lpstr>
      <vt:lpstr>Segment Pricing </vt:lpstr>
      <vt:lpstr>Challenges with segment pricing for BMW</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1284</cp:revision>
  <cp:lastPrinted>2019-09-13T20:44:29Z</cp:lastPrinted>
  <dcterms:created xsi:type="dcterms:W3CDTF">2013-01-24T22:32:50Z</dcterms:created>
  <dcterms:modified xsi:type="dcterms:W3CDTF">2022-01-26T22:35:49Z</dcterms:modified>
  <cp:category/>
</cp:coreProperties>
</file>