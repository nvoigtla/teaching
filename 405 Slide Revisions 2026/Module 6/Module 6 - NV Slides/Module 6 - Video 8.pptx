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  <p:sldMasterId id="2147483819" r:id="rId5"/>
    <p:sldMasterId id="2147483835" r:id="rId6"/>
  </p:sldMasterIdLst>
  <p:notesMasterIdLst>
    <p:notesMasterId r:id="rId9"/>
  </p:notesMasterIdLst>
  <p:handoutMasterIdLst>
    <p:handoutMasterId r:id="rId10"/>
  </p:handoutMasterIdLst>
  <p:sldIdLst>
    <p:sldId id="919" r:id="rId7"/>
    <p:sldId id="411" r:id="rId8"/>
  </p:sldIdLst>
  <p:sldSz cx="9144000" cy="6858000" type="screen4x3"/>
  <p:notesSz cx="7315200" cy="96012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liano, Paola" initials="GP" lastIdx="111" clrIdx="0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2" name="CLEMENCE TRICAUD" initials="CT" lastIdx="41" clrIdx="1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3" name="Wasserman, Melanie" initials="WM" lastIdx="20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Nico Voigtlaender" initials="NV" lastIdx="35" clrIdx="3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77058" autoAdjust="0"/>
  </p:normalViewPr>
  <p:slideViewPr>
    <p:cSldViewPr snapToGrid="0" snapToObjects="1">
      <p:cViewPr varScale="1">
        <p:scale>
          <a:sx n="38" d="100"/>
          <a:sy n="38" d="100"/>
        </p:scale>
        <p:origin x="1560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6AC2A-E969-3C46-9ED8-B46D40C5E6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992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A1-0085-4047-8521-4C6E88495644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585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45513-CCD9-BF44-AF3C-BE8B0074F8E4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58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4E69F-4642-024C-8218-7783E0016BBC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726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35AA-3EEA-4E4A-AAA8-EB53B8142E5C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601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2FF5-857A-9348-8EB2-11D856F360AB}" type="datetime1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30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0E36F-906D-344A-A949-C52B74620049}" type="datetime1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86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B588-7288-D04E-904A-CDCE244D580E}" type="datetime1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24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81-43A6-3F49-B307-3F9BBA124F23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1EA0-6DD3-504A-8908-E971883387B0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655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B5274-5AC2-BC41-98DA-ADE40ECE0F39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06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FCA8-EF2C-1647-8362-8B88070EA177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9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3F98-41A7-214D-9D1E-B369563BBE09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93933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1FBA-CBBF-0E4F-B88D-32EF928D3AC7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926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D41A-B76F-734D-8195-99F8976B7155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136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38028-5B1C-49D3-BF22-2CE9385E6DA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10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633E-2298-204E-AACF-E24EFF406A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06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AD53-932E-6744-A7B5-E9D56713AA9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7096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DFCC7-1B5D-4E46-84A5-178B98047B8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6310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845D-97EE-F445-AA82-55CB331164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7475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0BF4-8988-BE4B-A0D9-5982AE90C1B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2063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871F8-0597-BE4B-8995-43A43442923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431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356-ED15-9E40-8BB7-7D9094231F3D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6388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DCC3-7787-B94B-8E9A-4B130A91D4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354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37E5-D1D0-9749-AFE5-370792A74CE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013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6F6A-AC1A-774B-A74A-33E90EC92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823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8234-11CC-E84A-A484-707AFF7FC1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A679-79CD-7C4C-B43E-7A7F72D5077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7477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4BE0-4447-9D40-9A24-D851C2136A2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60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AD2E-853D-3E4B-8412-10F295485E7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678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63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43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58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4078B1F-B2EE-D743-B0A9-AD5D4736074E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6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E90A6E0-D48F-F943-96BF-CEC2ED7DA21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2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14" y="4406901"/>
            <a:ext cx="8327429" cy="1362075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6 – </a:t>
            </a:r>
            <a:r>
              <a:rPr lang="en-US"/>
              <a:t>Video 8</a:t>
            </a:r>
            <a:br>
              <a:rPr lang="en-US" dirty="0"/>
            </a:br>
            <a:r>
              <a:rPr lang="en-US" dirty="0"/>
              <a:t>Summary of Pricing Strategies</a:t>
            </a:r>
            <a:br>
              <a:rPr lang="en-US" dirty="0"/>
            </a:br>
            <a:br>
              <a:rPr lang="en-US" dirty="0"/>
            </a:br>
            <a:endParaRPr lang="en-US" b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Professor Nico Voigtländer</a:t>
            </a:r>
          </a:p>
          <a:p>
            <a:r>
              <a:rPr lang="en-US" sz="2400" dirty="0"/>
              <a:t>Management 405: Module 6</a:t>
            </a:r>
          </a:p>
        </p:txBody>
      </p:sp>
      <p:pic>
        <p:nvPicPr>
          <p:cNvPr id="4" name="Picture 4" descr="data:image/png;base64,iVBORw0KGgoAAAANSUhEUgAAAgQAAABiCAMAAAAY7jvKAAAAw1BMVEX///8Qe7YjHyAAdrQAAACEttYAcrLF3OsbFhcgHB0AeLUIAAAdGBkAdbNqaGkPCAr5+flbWVre3t4WEBH09PR6eHkchr0zLzCYl5hUUVI7ODlwbm9VncgUDg/T09MuKivAv8Dn5ufv9fmMiopMSEmlpKWwr69JlsREQUKCgIE3NDXb2tuLiYrDw8PNzMxsamuqqaptq9Dk8Pat0eWQutibxd7Q4+9opcwwjL+4z+PK4O7a7PSbxN4iib681eePttVssNPmOyI8AAAa7UlEQVR4nO2dB3ujPBKACdY6NJvqHgy4EFzjzbZs+XL3/3/VqUtgitfxnXO7nufuy9oSAjMvo5lRQfnw58hP5SbnSeuPkfb9te/l/63c/TFyg+BsubbqLic3CM6Wa6vucnKD4Gy5tuouJzcIzpZrq+5ycoPgbLm26i4nNwjOlmur7nJyg+BsubbqLic3CM6Wa6vucnKD4Gy5tuouJzcIzpZrq+5y0gRB0lthmTtvu2M70szyba28K7m26i4nTRAMQYgF7N92x5a4HXP0Rpbek1xbdZeTJggyS8USrt52x5Y2akVzbxC8Q2mAYK/qBAI9C950x24QvGNpgGAeqlT8+E137AbBO5Z6CIKxziB4Y39wg+AdSz0EO4C7AkwBeFN/cIPgHUs9BBMfMRBFGIL0LXfsBsE7lloIkjGKDcK5i/743bfcsRsE71hqIYix5sC0hw3C2nvDHbtB8I6lFgJXwxAoSxP9NQ8V1ZxpnKbxPil+H+yGPbc3jJEzUQKBM02HT6h8WnkByUY0utnFaVx2GtjSPp1P3Kdtuqv0W5IdOnhTeaYz5Nqqu5zUQRAAojjFw/+wRlLZYeQiGUINHEaRCQBQs3lOP8Fy4du+Bv+fHUogcFJ4GC43B+5OHLbF7Y6gA+LMR9kgCmhj7sCCJwGmOu7GeXPiDEcqbcnKtpK5GuKm3FhRvN4YHR0O3DcmPmW5tupqxfidynUQUAMA9RHhAAFISh4CDYrZVTwXaLhUt8xIeqa9EaDJRtUCkyMINiN6GDpSAy5vumujhsFS2WempuskJkl1k9XWLR/kVLlcmxZvybLNIbcGPRNf40E5WLbFzrS6WId0iiqIVBaUq8rodNCfTqdllB10kl77z4+nc1ADgYN7Az2CNnSOVWgPReEQf+NPgkhTuVg6144nf6+C7TDMQZCqcjF0PjPGT9cnXU9CGsAQrGw9V1sLY3aeYGVauTI9XDCgsCuj+mkqH+67F2LgBAj6TE4vMTrt/rfP31/v7++/f//40uoYxwedoNbOL+VD64R6RGog2ODnH+ttbxV7dAKBPiI649oZUwUkWe57VV3rcguxTzWn61Q/fuTJEIRD2jCCIAWkrh+GvkYPY7T1ALMBGrMHYebJEOhulEMIXGoks1kTn2jNH0VNv7A2Puc1Zdw9fHmWzzH78sAse+cL/e5rs1aNl5nytX0iArUQED3bcwXpFCvN3xcK4b3H/+V3mBmLLk0367CzBj6vQiGYmvSjGY3Hvk+fUGLGifL1jFoKCIFHlOhnve285xJVa2tynpVJGbKgj5LRZv2MoEYgUAln/Br1wVuiHEma7+0rrXlf1NEDa+NfMgRG++HHUWfl3L+0860VkSo78y9Y7xSL0QgBdQSm4n5K/QGFAOkDAPg/9mQPsCqn9Pk0B8v9fvcEmO0nEAQuUTQYxRvP2z8BciISfFALgL7StdCGEBxwY4C4ncEuwqcC2JdM6VWA7jQJgiRdE/YAuc4es0Z6iK6RIqKaQ+Ui0nxvv9KarwXL3PrI2vgmWXvjoWJd6KdOvrVO04mNPqr3ubFeMwR7kjKO5A86L+UQ+NhLi0f0hpN5B1STJp2KslloMgSpSRpjykjxs6oPEulQ1HLU3Q6HjjJCB/sTduYpBiTsKWhog7Dn82QmCWp1YrIYBLq+gg9/cCD4qNagQbsnSvO9ZZb9e0Ednc+0YPbAITDav6pc1mdsCjq8tUY730KG4BSL0QgBcQb9Hv4QELNg8v6AQWBPiBX36MQDbCw21IBzH8yz5O5gjavaYkSKjFWGWJUcArubkLuCq9uiJ3eBbdtgFHBDYPd4Ge23QowMg8Cnx8bRJUZBuDTf3BmtWXwmuWWfcRfeePlReaJ7onUGwa+mJxx5BFCck+ODSgiSDN+xkIbwPaKnLSumEFhj9sWOWGIMzYEaEZGbIUQRCEhfoYdCFY7GXVAOAeBGG9sJYQmUdD6EsgwUZ0E8koEUulInEuuZQiBooxcNSvJNZ0jjve0zCD4WuoMOU/jzC9WT0X+uOg3sDhAExj+sRqPb36Yu5Mn9QSUEO2Kzx9SLSvENtTJ2/+j9tGN+AHG9NDTCQIyyJg02eKqIDlh0KZ2MBKM20hyFwFrwQvJwa9sj1SVE4blB7oC4gTayKjQ6sLgjSJJeqrkrtnSWNN1a+kBCeSg+kqx7/9lnDNRtE4EffdHat4YH3Hih/crzqfFBJQREGVyRCZlZANj9oyHiWHjaCxpGKowHOa0QUC4QBBPqZAYJk4D0B7hxCoE0h4V+Y5vuPN15UsdJfAuicC6kdWyyevQncJPjUAhi5RLSCMEjU1vRLnOV/2QFX3MtO7PZ8/Nsxn4qfvSNh6rWjs7LYsnGmk0QBCTBIsYLuliL/hP9SCCwRsKmSxBQkyw/cCueLEqoEV9nYybZQFDTLZgcNqkBHW3b+iDrLhkIW9ID2bkRgYNJNO8wCEQXpjjUs4nLf/NvSiME35gW+4XM3wuz7DSWN37J7f74/PDSb7f7/W+/CBv40Ret/VOvWoP3Qs3eQwMEabH7pC59RL+og8Azj7veOU8bU5sCzbQQGt8jf6JggRRkRfgcN+joW5oJXPLssz4/10/EBCKUNjyKa/+3ELQ+sJoFrQkT8YohaH2TWr1/vOuQ1LBhtO4eEAa4NxGtNZyWp6ggYyemCiogcIhV1ceHlMqSmmlqe+sgSCgEshMuxg42Um4pL9iKHEMAsQkLFUMXdUPEOKl27spj7b1AwANBp9A3G1zpX/CjaojOwPmYHy9o9WEggb3H1r9YnfqeXvgOysn9QQUECdWUbjKhISENGU+CQI57JQhoptjSimJXQKAkXRDmRwjCdcD8z3cLQYsZ+Z9FCHiuiPT2n3mTz49FA25AlAgErLVZPQStT9IlfjnNNayAYGhWPK06Nb51EATUJ5D7aqk7ILFn5B4LcvPLIIBh5SoLTV8yIfbEKe8O0pBf2JUhMPjQQUEVwrJ/xE8qjwxmDyWduPGlT/7QSkWkCrX78iU+v8kSLPIPniR0quEpjmEsNUg9dQhBMEIV9fHUCY5EqYIAWoNp2h0D0w6pidI9lnywc3MEaAD65FwfApYS+lRQWyfnvoscsvKt1JEz8q3d10LQkQ1BczhZB8Hequq3VY1MLamFgDj7klvOQgIcIhLdWBXTO6ogILJJt2uakl6ysMGWhwXJ+DfR/JUhuGO39ksxYcgVhQx9h3sEtYMCBmutiFS+FvM56Z9Pb4CA5QN9WegoLpk5UgtBlz/2TKake5GSRXh0skSOIPCmWHhbCakBnZOANOpPJOeD+iM2Ck+vDQHT7ociBF+lJkSoMKt14wzWadTGfYyv53/Tv6cwUA5BQJN0k1SWlS09eLUQ0NytJm72SBMQJDRtLHXl8y2SFXb5ixD0ABZhOAKcZEYZCxLCqKFkVEg+QlfxkVeGgGUDPhaU255JTQiv/3ttOthgBxWRylViHsF9i/7jKFl5MgR0JFjLp1c94tZbC/Tg1ULgkf7AGtNSh61mI8ZhRPNO/NgYL1m2cWLhCAJyplAYDjKYhcKUmE4uEJmlmCYrcU90bQiq8rxt1gJ6Tnlf3xDPGaxa3dABDw0e2tRwvJ4SH5RCQJPuUf5bh032QQ9sLQTsEfUXMTpu32WxBoFgR+YL2i7NOcfUh8BjAEcQTMnFhJzI2KQ+AQwS6XlGdHLaTqX0JeJnXA0C7qcXn0ZegOYIGcxeNIR+d+ygGl+Pdy1f0fwyLM+n5IvKIKArEHNDPEiWtD">
            <a:extLst>
              <a:ext uri="{FF2B5EF4-FFF2-40B4-BE49-F238E27FC236}">
                <a16:creationId xmlns:a16="http://schemas.microsoft.com/office/drawing/2014/main" id="{E9C01BFD-953B-4576-ACA6-E6FE7DBA0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5852606"/>
            <a:ext cx="268605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70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77" y="809598"/>
            <a:ext cx="3154194" cy="19016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How to extract consumer surplus?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 summary</a:t>
            </a:r>
            <a:br>
              <a:rPr lang="en-US" dirty="0"/>
            </a:br>
            <a:r>
              <a:rPr lang="en-US" dirty="0"/>
              <a:t>of pricing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427" y="936761"/>
            <a:ext cx="1619749" cy="56553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Does the firm have market power?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427" y="1980956"/>
            <a:ext cx="1619749" cy="56553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the firm prevent resale and arbitrage?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426" y="3031381"/>
            <a:ext cx="1619750" cy="56553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 the firm's customers have different demand curves?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5083" y="4034153"/>
            <a:ext cx="1626093" cy="70990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the firm directly identify customers' demands before they buy the product?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6470" y="936761"/>
            <a:ext cx="1914921" cy="56553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Perfect competition produces quantity at which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MR = P = MC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66470" y="1980955"/>
            <a:ext cx="1914921" cy="66103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Firm produces quantity 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*) at which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MR = MC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sets price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where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Q* = D(P*)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68972" y="2890162"/>
            <a:ext cx="2022578" cy="82838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Advanced pricing strategies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</a:b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•  Flat-fee</a:t>
            </a:r>
            <a:endParaRPr lang="en-US" sz="4400" dirty="0">
              <a:solidFill>
                <a:prstClr val="black"/>
              </a:solidFill>
              <a:latin typeface="Calibri"/>
            </a:endParaRPr>
          </a:p>
          <a:p>
            <a:pPr>
              <a:defRPr/>
            </a:pPr>
            <a:r>
              <a:rPr lang="en-US" sz="4400" dirty="0">
                <a:solidFill>
                  <a:prstClr val="black"/>
                </a:solidFill>
              </a:rPr>
              <a:t>•  Two-part tariff</a:t>
            </a:r>
          </a:p>
          <a:p>
            <a:pPr>
              <a:defRPr/>
            </a:pPr>
            <a:r>
              <a:rPr lang="en-US" sz="4400" dirty="0">
                <a:solidFill>
                  <a:prstClr val="black"/>
                </a:solidFill>
              </a:rPr>
              <a:t>•  Block pricing</a:t>
            </a:r>
            <a:endParaRPr lang="en-US" sz="440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66470" y="4034153"/>
            <a:ext cx="1914921" cy="109776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Indirect (second-degree) price discrimination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 Versioning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 Coupons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54698" y="4375703"/>
            <a:ext cx="1068080" cy="422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price discrimination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314" y="5040152"/>
            <a:ext cx="2067163" cy="9125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Firm has complete information about every customer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-----------------------------------------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Perfect (first-degree) price discrimination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4465" y="5040150"/>
            <a:ext cx="2047413" cy="9125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Firm has information on groups of customers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-----------------------------------------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Segmenting (third-degree) price discrimination</a:t>
            </a:r>
          </a:p>
        </p:txBody>
      </p:sp>
      <p:cxnSp>
        <p:nvCxnSpPr>
          <p:cNvPr id="25" name="Straight Arrow Connector 24"/>
          <p:cNvCxnSpPr>
            <a:stCxn id="9" idx="3"/>
            <a:endCxn id="13" idx="1"/>
          </p:cNvCxnSpPr>
          <p:nvPr/>
        </p:nvCxnSpPr>
        <p:spPr>
          <a:xfrm>
            <a:off x="5661175" y="1219529"/>
            <a:ext cx="90529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661174" y="3305805"/>
            <a:ext cx="89867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092235" y="4798692"/>
            <a:ext cx="1099" cy="24146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824119" y="4798692"/>
            <a:ext cx="1099" cy="24146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863173" y="1022462"/>
            <a:ext cx="3529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64040" y="3092691"/>
            <a:ext cx="3529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4639225" y="1502297"/>
            <a:ext cx="385042" cy="477412"/>
            <a:chOff x="4871135" y="645047"/>
            <a:chExt cx="385042" cy="580780"/>
          </a:xfrm>
        </p:grpSpPr>
        <p:sp>
          <p:nvSpPr>
            <p:cNvPr id="44" name="TextBox 43"/>
            <p:cNvSpPr txBox="1"/>
            <p:nvPr/>
          </p:nvSpPr>
          <p:spPr>
            <a:xfrm>
              <a:off x="4871135" y="739387"/>
              <a:ext cx="385042" cy="3182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Yes</a:t>
              </a: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5038697" y="645047"/>
              <a:ext cx="5497" cy="580780"/>
              <a:chOff x="5038697" y="645047"/>
              <a:chExt cx="5497" cy="580780"/>
            </a:xfrm>
          </p:grpSpPr>
          <p:cxnSp>
            <p:nvCxnSpPr>
              <p:cNvPr id="29" name="Straight Arrow Connector 28"/>
              <p:cNvCxnSpPr/>
              <p:nvPr/>
            </p:nvCxnSpPr>
            <p:spPr>
              <a:xfrm>
                <a:off x="5044194" y="645047"/>
                <a:ext cx="0" cy="169962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>
                <a:off x="5038697" y="991926"/>
                <a:ext cx="5497" cy="2339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oup 55"/>
          <p:cNvGrpSpPr/>
          <p:nvPr/>
        </p:nvGrpSpPr>
        <p:grpSpPr>
          <a:xfrm>
            <a:off x="4655607" y="2552970"/>
            <a:ext cx="385042" cy="468388"/>
            <a:chOff x="4871135" y="645047"/>
            <a:chExt cx="385042" cy="580780"/>
          </a:xfrm>
        </p:grpSpPr>
        <p:sp>
          <p:nvSpPr>
            <p:cNvPr id="57" name="TextBox 56"/>
            <p:cNvSpPr txBox="1"/>
            <p:nvPr/>
          </p:nvSpPr>
          <p:spPr>
            <a:xfrm>
              <a:off x="4871135" y="738765"/>
              <a:ext cx="385042" cy="3243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Yes</a:t>
              </a: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5038697" y="645047"/>
              <a:ext cx="5497" cy="580780"/>
              <a:chOff x="5038697" y="645047"/>
              <a:chExt cx="5497" cy="580780"/>
            </a:xfrm>
          </p:grpSpPr>
          <p:cxnSp>
            <p:nvCxnSpPr>
              <p:cNvPr id="59" name="Straight Arrow Connector 58"/>
              <p:cNvCxnSpPr/>
              <p:nvPr/>
            </p:nvCxnSpPr>
            <p:spPr>
              <a:xfrm>
                <a:off x="5041996" y="645047"/>
                <a:ext cx="2198" cy="169962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>
                <a:off x="5038697" y="991926"/>
                <a:ext cx="5497" cy="2339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Group 62"/>
          <p:cNvGrpSpPr/>
          <p:nvPr/>
        </p:nvGrpSpPr>
        <p:grpSpPr>
          <a:xfrm>
            <a:off x="4639225" y="3596918"/>
            <a:ext cx="385042" cy="437236"/>
            <a:chOff x="4871135" y="645047"/>
            <a:chExt cx="385042" cy="580780"/>
          </a:xfrm>
        </p:grpSpPr>
        <p:sp>
          <p:nvSpPr>
            <p:cNvPr id="64" name="TextBox 63"/>
            <p:cNvSpPr txBox="1"/>
            <p:nvPr/>
          </p:nvSpPr>
          <p:spPr>
            <a:xfrm>
              <a:off x="4871135" y="708825"/>
              <a:ext cx="385042" cy="351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Yes</a:t>
              </a: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5038697" y="645047"/>
              <a:ext cx="5497" cy="580780"/>
              <a:chOff x="5038697" y="645047"/>
              <a:chExt cx="5497" cy="580780"/>
            </a:xfrm>
          </p:grpSpPr>
          <p:cxnSp>
            <p:nvCxnSpPr>
              <p:cNvPr id="66" name="Straight Arrow Connector 65"/>
              <p:cNvCxnSpPr/>
              <p:nvPr/>
            </p:nvCxnSpPr>
            <p:spPr>
              <a:xfrm>
                <a:off x="5041996" y="645047"/>
                <a:ext cx="2198" cy="169962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5038697" y="991926"/>
                <a:ext cx="5497" cy="233901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sp>
        <p:nvSpPr>
          <p:cNvPr id="78" name="TextBox 77"/>
          <p:cNvSpPr txBox="1"/>
          <p:nvPr/>
        </p:nvSpPr>
        <p:spPr>
          <a:xfrm>
            <a:off x="3369039" y="4424170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</a:t>
            </a:r>
          </a:p>
        </p:txBody>
      </p:sp>
      <p:grpSp>
        <p:nvGrpSpPr>
          <p:cNvPr id="83" name="Group 82"/>
          <p:cNvGrpSpPr/>
          <p:nvPr/>
        </p:nvGrpSpPr>
        <p:grpSpPr>
          <a:xfrm rot="5400000">
            <a:off x="3531017" y="4055719"/>
            <a:ext cx="2170" cy="1018647"/>
            <a:chOff x="3644518" y="3147206"/>
            <a:chExt cx="2170" cy="1018647"/>
          </a:xfrm>
        </p:grpSpPr>
        <p:cxnSp>
          <p:nvCxnSpPr>
            <p:cNvPr id="80" name="Straight Arrow Connector 79"/>
            <p:cNvCxnSpPr/>
            <p:nvPr/>
          </p:nvCxnSpPr>
          <p:spPr>
            <a:xfrm rot="16200000" flipH="1">
              <a:off x="3499102" y="3294792"/>
              <a:ext cx="295171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rot="16200000" flipH="1">
              <a:off x="3456931" y="3978267"/>
              <a:ext cx="375173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5863174" y="4373269"/>
            <a:ext cx="3621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5670304" y="2270151"/>
            <a:ext cx="89866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5872302" y="2073084"/>
            <a:ext cx="3529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2977" y="6503831"/>
            <a:ext cx="374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Goolsbee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Levitt,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Syverson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2D88-7161-CA43-86F4-B787D160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3206DB-9488-D04D-BDD1-A7C9D84C4579}" type="slidenum">
              <a:rPr kumimoji="0" lang="en-US" sz="1000" b="0" i="0" u="none" strike="noStrike" kern="1200" cap="none" spc="30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9E92A36-D343-4E48-8359-77F17D6B30B4}"/>
              </a:ext>
            </a:extLst>
          </p:cNvPr>
          <p:cNvCxnSpPr/>
          <p:nvPr/>
        </p:nvCxnSpPr>
        <p:spPr>
          <a:xfrm>
            <a:off x="5661174" y="4576797"/>
            <a:ext cx="89867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20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2" grpId="0" animBg="1"/>
      <p:bldP spid="42" grpId="0"/>
      <p:bldP spid="46" grpId="0"/>
      <p:bldP spid="78" grpId="0"/>
      <p:bldP spid="87" grpId="0"/>
      <p:bldP spid="10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77624</TotalTime>
  <Words>188</Words>
  <Application>Microsoft Office PowerPoint</Application>
  <PresentationFormat>On-screen Show (4:3)</PresentationFormat>
  <Paragraphs>34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</vt:i4>
      </vt:variant>
    </vt:vector>
  </HeadingPairs>
  <TitlesOfParts>
    <vt:vector size="15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4_Custom Design</vt:lpstr>
      <vt:lpstr>12_Custom Design</vt:lpstr>
      <vt:lpstr>Module 6 – Video 8 Summary of Pricing Strategies  </vt:lpstr>
      <vt:lpstr>How to extract consumer surplus?  A summary of pricing strategies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VOIGTLAENDER</cp:lastModifiedBy>
  <cp:revision>1304</cp:revision>
  <cp:lastPrinted>2019-09-13T20:44:29Z</cp:lastPrinted>
  <dcterms:created xsi:type="dcterms:W3CDTF">2013-01-24T22:32:50Z</dcterms:created>
  <dcterms:modified xsi:type="dcterms:W3CDTF">2022-01-31T22:04:04Z</dcterms:modified>
  <cp:category/>
</cp:coreProperties>
</file>