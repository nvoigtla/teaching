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15"/>
  </p:notesMasterIdLst>
  <p:handoutMasterIdLst>
    <p:handoutMasterId r:id="rId16"/>
  </p:handoutMasterIdLst>
  <p:sldIdLst>
    <p:sldId id="919" r:id="rId7"/>
    <p:sldId id="928" r:id="rId8"/>
    <p:sldId id="749" r:id="rId9"/>
    <p:sldId id="753" r:id="rId10"/>
    <p:sldId id="750" r:id="rId11"/>
    <p:sldId id="789" r:id="rId12"/>
    <p:sldId id="588" r:id="rId13"/>
    <p:sldId id="358" r:id="rId14"/>
  </p:sldIdLst>
  <p:sldSz cx="9144000" cy="6858000" type="screen4x3"/>
  <p:notesSz cx="7315200" cy="96012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7058" autoAdjust="0"/>
  </p:normalViewPr>
  <p:slideViewPr>
    <p:cSldViewPr snapToGrid="0" snapToObjects="1">
      <p:cViewPr varScale="1">
        <p:scale>
          <a:sx n="38" d="100"/>
          <a:sy n="38" d="100"/>
        </p:scale>
        <p:origin x="1560" y="45"/>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1/26/2022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1/26/2022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6841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83801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300" dirty="0"/>
          </a:p>
        </p:txBody>
      </p:sp>
      <p:sp>
        <p:nvSpPr>
          <p:cNvPr id="4" name="Slide Number Placeholder 3"/>
          <p:cNvSpPr>
            <a:spLocks noGrp="1"/>
          </p:cNvSpPr>
          <p:nvPr>
            <p:ph type="sldNum" sz="quarter" idx="10"/>
          </p:nvPr>
        </p:nvSpPr>
        <p:spPr/>
        <p:txBody>
          <a:bodyPr/>
          <a:lstStyle/>
          <a:p>
            <a:pPr marL="0" marR="0" lvl="0" indent="0" algn="r" defTabSz="483306"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83306"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3925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An example of Second Degree Price Discrimination: Versioning</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will go in greater depth into one form of </a:t>
            </a:r>
            <a:r>
              <a:rPr lang="en-US" sz="1200" b="1" kern="1200" dirty="0">
                <a:solidFill>
                  <a:schemeClr val="tx1"/>
                </a:solidFill>
                <a:effectLst/>
                <a:latin typeface="+mn-lt"/>
                <a:ea typeface="+mn-ea"/>
                <a:cs typeface="+mn-cs"/>
              </a:rPr>
              <a:t>second degree price discrimination</a:t>
            </a:r>
            <a:r>
              <a:rPr lang="en-US" sz="1200" kern="1200" dirty="0">
                <a:solidFill>
                  <a:schemeClr val="tx1"/>
                </a:solidFill>
                <a:effectLst/>
                <a:latin typeface="+mn-lt"/>
                <a:ea typeface="+mn-ea"/>
                <a:cs typeface="+mn-cs"/>
              </a:rPr>
              <a:t> which is versioning. Versioning is incentive compatible and accomplishes everything that price discrimination accomplishes. Consumers who buy at a high price do so </a:t>
            </a:r>
            <a:r>
              <a:rPr lang="en-US" sz="1200" b="1" kern="1200" dirty="0">
                <a:solidFill>
                  <a:schemeClr val="tx1"/>
                </a:solidFill>
                <a:effectLst/>
                <a:latin typeface="+mn-lt"/>
                <a:ea typeface="+mn-ea"/>
                <a:cs typeface="+mn-cs"/>
              </a:rPr>
              <a:t>willingly</a:t>
            </a:r>
            <a:r>
              <a:rPr lang="en-US" sz="1200" kern="1200" dirty="0">
                <a:solidFill>
                  <a:schemeClr val="tx1"/>
                </a:solidFill>
                <a:effectLst/>
                <a:latin typeface="+mn-lt"/>
                <a:ea typeface="+mn-ea"/>
                <a:cs typeface="+mn-cs"/>
              </a:rPr>
              <a:t>. The key to understand this is that the version priced at a premium has to have features that generate some value to the consumer, but the </a:t>
            </a:r>
            <a:r>
              <a:rPr lang="en-US" sz="1200" b="1" kern="1200" dirty="0">
                <a:solidFill>
                  <a:schemeClr val="tx1"/>
                </a:solidFill>
                <a:effectLst/>
                <a:latin typeface="+mn-lt"/>
                <a:ea typeface="+mn-ea"/>
                <a:cs typeface="+mn-cs"/>
              </a:rPr>
              <a:t>cost differential</a:t>
            </a:r>
            <a:r>
              <a:rPr lang="en-US" sz="1200" kern="1200" dirty="0">
                <a:solidFill>
                  <a:schemeClr val="tx1"/>
                </a:solidFill>
                <a:effectLst/>
                <a:latin typeface="+mn-lt"/>
                <a:ea typeface="+mn-ea"/>
                <a:cs typeface="+mn-cs"/>
              </a:rPr>
              <a:t> to the company is minor relative to the price differential (otherwise there is no real discrimination on price if the surplus captured is the same across segments).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perfect example is </a:t>
            </a:r>
            <a:r>
              <a:rPr lang="en-US" sz="1200" b="1" kern="1200" dirty="0">
                <a:solidFill>
                  <a:schemeClr val="tx1"/>
                </a:solidFill>
                <a:effectLst/>
                <a:latin typeface="+mn-lt"/>
                <a:ea typeface="+mn-ea"/>
                <a:cs typeface="+mn-cs"/>
              </a:rPr>
              <a:t>Microsoft:</a:t>
            </a:r>
            <a:r>
              <a:rPr lang="en-US" sz="1200" kern="1200" dirty="0">
                <a:solidFill>
                  <a:schemeClr val="tx1"/>
                </a:solidFill>
                <a:effectLst/>
                <a:latin typeface="+mn-lt"/>
                <a:ea typeface="+mn-ea"/>
                <a:cs typeface="+mn-cs"/>
              </a:rPr>
              <a:t> offers Windows Professional and Windows Home Edition. Windows Pro has more features than Home edition but they are otherwise close substitutes. The marginal cost of producing each is identical (and approximately zero) – in fact it may cost the company something to actually differentiate the products. </a:t>
            </a:r>
            <a:r>
              <a:rPr lang="en-US" sz="1200" b="1" kern="1200" dirty="0">
                <a:solidFill>
                  <a:schemeClr val="tx1"/>
                </a:solidFill>
                <a:effectLst/>
                <a:latin typeface="+mn-lt"/>
                <a:ea typeface="+mn-ea"/>
                <a:cs typeface="+mn-cs"/>
              </a:rPr>
              <a:t>Sometimes it costs nothing to make something better but you don’t want to do it</a:t>
            </a:r>
            <a:r>
              <a:rPr lang="en-US" sz="1200" kern="1200" dirty="0">
                <a:solidFill>
                  <a:schemeClr val="tx1"/>
                </a:solidFill>
                <a:effectLst/>
                <a:latin typeface="+mn-lt"/>
                <a:ea typeface="+mn-ea"/>
                <a:cs typeface="+mn-cs"/>
              </a:rPr>
              <a:t>: why doesn’t Microsoft offer the full version of Windows to all their customers since the MC of doing so is zero? Because they would then join the markets, and forego the benefits of </a:t>
            </a:r>
            <a:r>
              <a:rPr lang="en-US" sz="1200" b="1" kern="1200" dirty="0">
                <a:solidFill>
                  <a:schemeClr val="tx1"/>
                </a:solidFill>
                <a:effectLst/>
                <a:latin typeface="+mn-lt"/>
                <a:ea typeface="+mn-ea"/>
                <a:cs typeface="+mn-cs"/>
              </a:rPr>
              <a:t>price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discrimination</a:t>
            </a:r>
            <a:r>
              <a:rPr lang="en-US" sz="1200" kern="1200" dirty="0">
                <a:solidFill>
                  <a:schemeClr val="tx1"/>
                </a:solidFill>
                <a:effectLst/>
                <a:latin typeface="+mn-lt"/>
                <a:ea typeface="+mn-ea"/>
                <a:cs typeface="+mn-cs"/>
              </a:rPr>
              <a:t>. You add features to the price insensitive segment so you can charge them more.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971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17D26193-1B08-40C3-9FFA-7DE3344D3104}" type="slidenum">
              <a:rPr lang="en-US"/>
              <a:pPr/>
              <a:t>7</a:t>
            </a:fld>
            <a:endParaRPr lang="en-US"/>
          </a:p>
        </p:txBody>
      </p:sp>
      <p:sp>
        <p:nvSpPr>
          <p:cNvPr id="223234" name="Rectangle 2"/>
          <p:cNvSpPr>
            <a:spLocks noGrp="1" noRot="1" noChangeAspect="1" noChangeArrowheads="1"/>
          </p:cNvSpPr>
          <p:nvPr>
            <p:ph type="sldImg"/>
          </p:nvPr>
        </p:nvSpPr>
        <p:spPr bwMode="auto">
          <a:xfrm>
            <a:off x="1104900" y="565150"/>
            <a:ext cx="5105400" cy="3829050"/>
          </a:xfrm>
          <a:prstGeom prst="rect">
            <a:avLst/>
          </a:prstGeom>
          <a:solidFill>
            <a:srgbClr val="FFFFFF"/>
          </a:solidFill>
          <a:ln>
            <a:solidFill>
              <a:srgbClr val="000000"/>
            </a:solidFill>
            <a:miter lim="800000"/>
            <a:headEnd/>
            <a:tailEnd/>
          </a:ln>
        </p:spPr>
      </p:sp>
      <p:sp>
        <p:nvSpPr>
          <p:cNvPr id="223235" name="Rectangle 3"/>
          <p:cNvSpPr>
            <a:spLocks noGrp="1" noChangeArrowheads="1"/>
          </p:cNvSpPr>
          <p:nvPr>
            <p:ph type="body" idx="1"/>
          </p:nvPr>
        </p:nvSpPr>
        <p:spPr bwMode="auto">
          <a:xfrm>
            <a:off x="988907" y="4813039"/>
            <a:ext cx="5364480" cy="4320457"/>
          </a:xfrm>
          <a:prstGeom prst="rect">
            <a:avLst/>
          </a:prstGeom>
          <a:solidFill>
            <a:srgbClr val="FFFFFF"/>
          </a:solidFill>
          <a:ln>
            <a:solidFill>
              <a:srgbClr val="000000"/>
            </a:solidFill>
            <a:miter lim="800000"/>
            <a:headEnd/>
            <a:tailEnd/>
          </a:ln>
        </p:spPr>
        <p:txBody>
          <a:bodyPr/>
          <a:lstStyle/>
          <a:p>
            <a:endParaRPr lang="en-US"/>
          </a:p>
        </p:txBody>
      </p:sp>
    </p:spTree>
    <p:extLst>
      <p:ext uri="{BB962C8B-B14F-4D97-AF65-F5344CB8AC3E}">
        <p14:creationId xmlns:p14="http://schemas.microsoft.com/office/powerpoint/2010/main" val="826217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u="sng" kern="1200" dirty="0">
                <a:solidFill>
                  <a:schemeClr val="tx1"/>
                </a:solidFill>
                <a:effectLst/>
                <a:latin typeface="+mn-lt"/>
                <a:ea typeface="+mn-ea"/>
                <a:cs typeface="+mn-cs"/>
              </a:rPr>
              <a:t>Checkout stand coupons</a:t>
            </a:r>
            <a:r>
              <a:rPr lang="en-US" sz="1200" kern="1200" dirty="0">
                <a:solidFill>
                  <a:schemeClr val="tx1"/>
                </a:solidFill>
                <a:effectLst/>
                <a:latin typeface="+mn-lt"/>
                <a:ea typeface="+mn-ea"/>
                <a:cs typeface="+mn-cs"/>
              </a:rPr>
              <a:t>: Nobody wants to spend money unnecessarily, but it takes time to sort through the coupons. Those who have nothing else to do on a Sunday morning, i.e. those with a low opportunity cost of time, who are price sensitive, will take the time to cut the coupons. This is an ingenious scheme to charge higher price to the low elasticity customers to capture more consumer surplus.</a:t>
            </a:r>
            <a:endParaRPr lang="en-US" sz="1100" kern="1200" dirty="0">
              <a:solidFill>
                <a:schemeClr val="tx1"/>
              </a:solidFill>
              <a:effectLst/>
              <a:latin typeface="+mn-lt"/>
              <a:ea typeface="+mn-ea"/>
              <a:cs typeface="+mn-cs"/>
            </a:endParaRPr>
          </a:p>
          <a:p>
            <a:endParaRPr lang="en-US" sz="1200" u="sng" kern="1200" dirty="0">
              <a:solidFill>
                <a:schemeClr val="tx1"/>
              </a:solidFill>
              <a:effectLst/>
              <a:latin typeface="+mn-lt"/>
              <a:ea typeface="+mn-ea"/>
              <a:cs typeface="+mn-cs"/>
            </a:endParaRPr>
          </a:p>
          <a:p>
            <a:r>
              <a:rPr lang="en-US" sz="1200" u="sng" kern="1200" dirty="0">
                <a:solidFill>
                  <a:schemeClr val="tx1"/>
                </a:solidFill>
                <a:effectLst/>
                <a:latin typeface="+mn-lt"/>
                <a:ea typeface="+mn-ea"/>
                <a:cs typeface="+mn-cs"/>
              </a:rPr>
              <a:t>Another Example</a:t>
            </a:r>
            <a:r>
              <a:rPr lang="en-US" sz="1200" kern="1200" dirty="0">
                <a:solidFill>
                  <a:schemeClr val="tx1"/>
                </a:solidFill>
                <a:effectLst/>
                <a:latin typeface="+mn-lt"/>
                <a:ea typeface="+mn-ea"/>
                <a:cs typeface="+mn-cs"/>
              </a:rPr>
              <a:t>: Fun Film sold at Price Costco. This is a classic example. Kodak was selling their premium Royal Gold film. Fuji and others started competing. Kodak wanted to protect the low end of their market. They could have lowered the price on Royal Gold, but then you give up capturing the surplus at the high end. So they introduced a new brand, </a:t>
            </a:r>
            <a:r>
              <a:rPr lang="en-US" sz="1200" kern="1200" dirty="0" err="1">
                <a:solidFill>
                  <a:schemeClr val="tx1"/>
                </a:solidFill>
                <a:effectLst/>
                <a:latin typeface="+mn-lt"/>
                <a:ea typeface="+mn-ea"/>
                <a:cs typeface="+mn-cs"/>
              </a:rPr>
              <a:t>FunFilm</a:t>
            </a:r>
            <a:r>
              <a:rPr lang="en-US" sz="1200" kern="1200" dirty="0">
                <a:solidFill>
                  <a:schemeClr val="tx1"/>
                </a:solidFill>
                <a:effectLst/>
                <a:latin typeface="+mn-lt"/>
                <a:ea typeface="+mn-ea"/>
                <a:cs typeface="+mn-cs"/>
              </a:rPr>
              <a:t>, offered only at discount stores like Sam’s Club, Costco, in bulk. This is where price sensitive customers go. It turns out the two films were chemically identical. The packaging and bulk sales aspect were different but the actual product was the same. This is a classic B-school case.</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70873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1/26/2022</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hyperlink" Target="https://www.wsj.com/video/behind-costco-treasure-hunt-shopping-strategy/9E8E4F54-6398-4A23-847E-2486F8571B0B.html?mod=hp_lead_pos13" TargetMode="External"/><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4" y="4406901"/>
            <a:ext cx="8327429" cy="1362075"/>
          </a:xfrm>
        </p:spPr>
        <p:txBody>
          <a:bodyPr>
            <a:normAutofit fontScale="90000"/>
          </a:bodyPr>
          <a:lstStyle/>
          <a:p>
            <a:r>
              <a:rPr lang="en-US" dirty="0"/>
              <a:t>Module 6 – Video 4</a:t>
            </a:r>
            <a:br>
              <a:rPr lang="en-US" dirty="0"/>
            </a:br>
            <a:r>
              <a:rPr lang="en-US" dirty="0"/>
              <a:t>Second-Degree Price Discrimination: Versioning and Coupons</a:t>
            </a: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01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dirty="0">
                <a:solidFill>
                  <a:schemeClr val="bg1">
                    <a:lumMod val="65000"/>
                  </a:schemeClr>
                </a:solidFill>
              </a:rPr>
              <a:t>Direct </a:t>
            </a:r>
            <a:r>
              <a:rPr lang="fr-FR" dirty="0" err="1">
                <a:solidFill>
                  <a:schemeClr val="bg1">
                    <a:lumMod val="65000"/>
                  </a:schemeClr>
                </a:solidFill>
              </a:rPr>
              <a:t>price</a:t>
            </a:r>
            <a:r>
              <a:rPr lang="fr-FR"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b="1" dirty="0"/>
              <a:t>Indirect </a:t>
            </a:r>
            <a:r>
              <a:rPr lang="fr-FR" b="1" dirty="0" err="1"/>
              <a:t>price</a:t>
            </a:r>
            <a:r>
              <a:rPr lang="fr-FR" b="1" dirty="0"/>
              <a:t> discrimination (second </a:t>
            </a:r>
            <a:r>
              <a:rPr lang="fr-FR" b="1" dirty="0" err="1"/>
              <a:t>degree</a:t>
            </a:r>
            <a:r>
              <a:rPr lang="fr-FR" b="1" dirty="0"/>
              <a:t>)</a:t>
            </a:r>
          </a:p>
          <a:p>
            <a:pPr marL="742950" lvl="2" indent="-342900">
              <a:lnSpc>
                <a:spcPct val="120000"/>
              </a:lnSpc>
            </a:pPr>
            <a:r>
              <a:rPr lang="fr-FR" sz="2400" b="1" dirty="0"/>
              <a:t>Versioning</a:t>
            </a:r>
          </a:p>
          <a:p>
            <a:pPr lvl="1">
              <a:lnSpc>
                <a:spcPct val="120000"/>
              </a:lnSpc>
              <a:spcBef>
                <a:spcPts val="0"/>
              </a:spcBef>
            </a:pPr>
            <a:r>
              <a:rPr lang="fr-FR" sz="2400" b="1" dirty="0"/>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Volume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with</a:t>
            </a:r>
            <a:r>
              <a:rPr lang="fr-FR" dirty="0">
                <a:solidFill>
                  <a:schemeClr val="bg1">
                    <a:lumMod val="65000"/>
                  </a:schemeClr>
                </a:solidFill>
                <a:latin typeface="Whitney-Book" pitchFamily="50" charset="0"/>
                <a:cs typeface="Whitney-Book" pitchFamily="50" charset="0"/>
              </a:rPr>
              <a:t> flat </a:t>
            </a:r>
            <a:r>
              <a:rPr lang="fr-FR" dirty="0" err="1">
                <a:solidFill>
                  <a:schemeClr val="bg1">
                    <a:lumMod val="65000"/>
                  </a:schemeClr>
                </a:solidFill>
                <a:latin typeface="Whitney-Book" pitchFamily="50" charset="0"/>
                <a:cs typeface="Whitney-Book" pitchFamily="50" charset="0"/>
              </a:rPr>
              <a:t>fee</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41202771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238539" y="127215"/>
            <a:ext cx="8719931" cy="1143000"/>
          </a:xfrm>
        </p:spPr>
        <p:txBody>
          <a:bodyPr>
            <a:normAutofit/>
          </a:bodyPr>
          <a:lstStyle/>
          <a:p>
            <a:pPr algn="ctr"/>
            <a:r>
              <a:rPr lang="en-US" dirty="0">
                <a:latin typeface="Whitney-Medium" pitchFamily="50" charset="0"/>
                <a:cs typeface="Whitney-Medium" pitchFamily="50" charset="0"/>
              </a:rPr>
              <a:t>Second degree price discrimination:</a:t>
            </a:r>
            <a:br>
              <a:rPr lang="en-US" dirty="0">
                <a:latin typeface="Whitney-Medium" pitchFamily="50" charset="0"/>
                <a:cs typeface="Whitney-Medium" pitchFamily="50" charset="0"/>
              </a:rPr>
            </a:br>
            <a:r>
              <a:rPr lang="en-US" dirty="0">
                <a:latin typeface="Whitney-Medium" pitchFamily="50" charset="0"/>
                <a:cs typeface="Whitney-Medium" pitchFamily="50" charset="0"/>
              </a:rPr>
              <a:t>Versioning</a:t>
            </a:r>
          </a:p>
        </p:txBody>
      </p:sp>
      <p:sp>
        <p:nvSpPr>
          <p:cNvPr id="3" name="Content Placeholder 2"/>
          <p:cNvSpPr>
            <a:spLocks noGrp="1"/>
          </p:cNvSpPr>
          <p:nvPr>
            <p:ph idx="1"/>
          </p:nvPr>
        </p:nvSpPr>
        <p:spPr>
          <a:xfrm>
            <a:off x="354168" y="1357120"/>
            <a:ext cx="8501270" cy="5133215"/>
          </a:xfrm>
        </p:spPr>
        <p:txBody>
          <a:bodyPr>
            <a:normAutofit/>
          </a:bodyPr>
          <a:lstStyle/>
          <a:p>
            <a:r>
              <a:rPr lang="en-US" sz="2600" dirty="0"/>
              <a:t>Indirect price discrimination</a:t>
            </a:r>
          </a:p>
          <a:p>
            <a:r>
              <a:rPr lang="en-US" sz="2600" dirty="0"/>
              <a:t>Charge different price for </a:t>
            </a:r>
            <a:r>
              <a:rPr lang="en-US" sz="2600" i="1" dirty="0"/>
              <a:t>different versions</a:t>
            </a:r>
            <a:r>
              <a:rPr lang="en-US" sz="2600" dirty="0"/>
              <a:t> of the product</a:t>
            </a:r>
          </a:p>
          <a:p>
            <a:endParaRPr lang="en-US" sz="2600" dirty="0"/>
          </a:p>
          <a:p>
            <a:r>
              <a:rPr lang="en-US" sz="2600" dirty="0"/>
              <a:t>Conditions:</a:t>
            </a:r>
          </a:p>
          <a:p>
            <a:pPr lvl="1"/>
            <a:r>
              <a:rPr lang="en-US" dirty="0"/>
              <a:t>Firm has market power</a:t>
            </a:r>
          </a:p>
          <a:p>
            <a:pPr lvl="1"/>
            <a:r>
              <a:rPr lang="en-US" dirty="0"/>
              <a:t>Consumer groups with different willingness to pay for the product category (e.g., flights)</a:t>
            </a:r>
          </a:p>
          <a:p>
            <a:pPr lvl="1"/>
            <a:r>
              <a:rPr lang="en-US" dirty="0"/>
              <a:t>Firm </a:t>
            </a:r>
            <a:r>
              <a:rPr lang="en-US" u="sng" dirty="0"/>
              <a:t>cannot</a:t>
            </a:r>
            <a:r>
              <a:rPr lang="en-US" dirty="0"/>
              <a:t> identify the different groups of consumers </a:t>
            </a: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20876485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125506" y="168278"/>
            <a:ext cx="8928847" cy="1143000"/>
          </a:xfrm>
        </p:spPr>
        <p:txBody>
          <a:bodyPr>
            <a:normAutofit/>
          </a:bodyPr>
          <a:lstStyle/>
          <a:p>
            <a:pPr algn="ctr"/>
            <a:r>
              <a:rPr lang="en-US" sz="3750" dirty="0" err="1">
                <a:latin typeface="Whitney-Medium" pitchFamily="50" charset="0"/>
                <a:cs typeface="Whitney-Medium" pitchFamily="50" charset="0"/>
              </a:rPr>
              <a:t>VErsioning</a:t>
            </a:r>
            <a:endParaRPr lang="en-US" sz="3750" dirty="0">
              <a:latin typeface="Whitney-Medium" pitchFamily="50" charset="0"/>
              <a:cs typeface="Whitney-Medium" pitchFamily="50" charset="0"/>
            </a:endParaRPr>
          </a:p>
        </p:txBody>
      </p:sp>
      <p:sp>
        <p:nvSpPr>
          <p:cNvPr id="183299" name="Rectangle 3"/>
          <p:cNvSpPr>
            <a:spLocks noGrp="1" noChangeArrowheads="1"/>
          </p:cNvSpPr>
          <p:nvPr>
            <p:ph idx="1"/>
          </p:nvPr>
        </p:nvSpPr>
        <p:spPr>
          <a:xfrm>
            <a:off x="5891454" y="1668985"/>
            <a:ext cx="3334218" cy="4525963"/>
          </a:xfrm>
        </p:spPr>
        <p:txBody>
          <a:bodyPr>
            <a:normAutofit/>
          </a:bodyPr>
          <a:lstStyle/>
          <a:p>
            <a:pPr lvl="1">
              <a:spcBef>
                <a:spcPts val="0"/>
              </a:spcBef>
              <a:spcAft>
                <a:spcPts val="563"/>
              </a:spcAft>
            </a:pPr>
            <a:r>
              <a:rPr lang="en-US" sz="2400" dirty="0">
                <a:latin typeface="Whitney-Book" pitchFamily="50" charset="0"/>
                <a:cs typeface="Whitney-Book" pitchFamily="50" charset="0"/>
              </a:rPr>
              <a:t>Create different “versions” of your product</a:t>
            </a:r>
          </a:p>
          <a:p>
            <a:pPr lvl="1">
              <a:spcBef>
                <a:spcPts val="0"/>
              </a:spcBef>
              <a:spcAft>
                <a:spcPts val="563"/>
              </a:spcAft>
            </a:pPr>
            <a:endParaRPr lang="en-US" sz="2400" dirty="0">
              <a:latin typeface="Whitney-Book" pitchFamily="50" charset="0"/>
              <a:cs typeface="Whitney-Book" pitchFamily="50" charset="0"/>
            </a:endParaRPr>
          </a:p>
          <a:p>
            <a:pPr lvl="1">
              <a:spcBef>
                <a:spcPts val="0"/>
              </a:spcBef>
              <a:spcAft>
                <a:spcPts val="563"/>
              </a:spcAft>
            </a:pPr>
            <a:r>
              <a:rPr lang="en-US" sz="2400" dirty="0">
                <a:latin typeface="Whitney-Book" pitchFamily="50" charset="0"/>
                <a:cs typeface="Whitney-Book" pitchFamily="50" charset="0"/>
              </a:rPr>
              <a:t>Design them such that customers with different MPV “self-select” into the desired version</a:t>
            </a:r>
          </a:p>
        </p:txBody>
      </p:sp>
      <p:sp>
        <p:nvSpPr>
          <p:cNvPr id="11" name="Line 3"/>
          <p:cNvSpPr>
            <a:spLocks noChangeShapeType="1"/>
          </p:cNvSpPr>
          <p:nvPr/>
        </p:nvSpPr>
        <p:spPr bwMode="auto">
          <a:xfrm>
            <a:off x="961656" y="1995786"/>
            <a:ext cx="0" cy="4342805"/>
          </a:xfrm>
          <a:prstGeom prst="line">
            <a:avLst/>
          </a:prstGeom>
          <a:noFill/>
          <a:ln w="38100">
            <a:solidFill>
              <a:schemeClr val="tx1"/>
            </a:solidFill>
            <a:round/>
            <a:headEnd type="triangle" w="med" len="med"/>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Line 4"/>
          <p:cNvSpPr>
            <a:spLocks noChangeShapeType="1"/>
          </p:cNvSpPr>
          <p:nvPr/>
        </p:nvSpPr>
        <p:spPr bwMode="auto">
          <a:xfrm>
            <a:off x="961656" y="6325195"/>
            <a:ext cx="6477000" cy="0"/>
          </a:xfrm>
          <a:prstGeom prst="line">
            <a:avLst/>
          </a:prstGeom>
          <a:noFill/>
          <a:ln w="38100">
            <a:solidFill>
              <a:schemeClr val="tx1"/>
            </a:solidFill>
            <a:round/>
            <a:headEnd type="none" w="sm" len="sm"/>
            <a:tailEnd type="triangl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13" name="Group 5"/>
          <p:cNvGrpSpPr>
            <a:grpSpLocks/>
          </p:cNvGrpSpPr>
          <p:nvPr/>
        </p:nvGrpSpPr>
        <p:grpSpPr bwMode="auto">
          <a:xfrm>
            <a:off x="550891" y="2899172"/>
            <a:ext cx="1403448" cy="3420071"/>
            <a:chOff x="697" y="1948"/>
            <a:chExt cx="943" cy="2298"/>
          </a:xfrm>
        </p:grpSpPr>
        <p:sp>
          <p:nvSpPr>
            <p:cNvPr id="14" name="Rectangle 6"/>
            <p:cNvSpPr>
              <a:spLocks noChangeArrowheads="1"/>
            </p:cNvSpPr>
            <p:nvPr/>
          </p:nvSpPr>
          <p:spPr bwMode="auto">
            <a:xfrm>
              <a:off x="980" y="1948"/>
              <a:ext cx="660"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1</a:t>
              </a:r>
            </a:p>
          </p:txBody>
        </p:sp>
        <p:sp>
          <p:nvSpPr>
            <p:cNvPr id="15" name="Rectangle 7"/>
            <p:cNvSpPr>
              <a:spLocks noChangeArrowheads="1"/>
            </p:cNvSpPr>
            <p:nvPr/>
          </p:nvSpPr>
          <p:spPr bwMode="auto">
            <a:xfrm>
              <a:off x="977" y="2359"/>
              <a:ext cx="197" cy="1887"/>
            </a:xfrm>
            <a:prstGeom prst="rect">
              <a:avLst/>
            </a:prstGeom>
            <a:solidFill>
              <a:schemeClr val="accent1">
                <a:lumMod val="25000"/>
                <a:lumOff val="75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6" name="Rectangle 8"/>
            <p:cNvSpPr>
              <a:spLocks noChangeArrowheads="1"/>
            </p:cNvSpPr>
            <p:nvPr/>
          </p:nvSpPr>
          <p:spPr bwMode="auto">
            <a:xfrm>
              <a:off x="697" y="2213"/>
              <a:ext cx="229"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1</a:t>
              </a:r>
            </a:p>
          </p:txBody>
        </p:sp>
      </p:grpSp>
      <p:grpSp>
        <p:nvGrpSpPr>
          <p:cNvPr id="18" name="Group 9"/>
          <p:cNvGrpSpPr>
            <a:grpSpLocks/>
          </p:cNvGrpSpPr>
          <p:nvPr/>
        </p:nvGrpSpPr>
        <p:grpSpPr bwMode="auto">
          <a:xfrm>
            <a:off x="524103" y="3308449"/>
            <a:ext cx="1869281" cy="3010793"/>
            <a:chOff x="692" y="2223"/>
            <a:chExt cx="1256" cy="2023"/>
          </a:xfrm>
        </p:grpSpPr>
        <p:sp>
          <p:nvSpPr>
            <p:cNvPr id="19" name="Rectangle 10"/>
            <p:cNvSpPr>
              <a:spLocks noChangeArrowheads="1"/>
            </p:cNvSpPr>
            <p:nvPr/>
          </p:nvSpPr>
          <p:spPr bwMode="auto">
            <a:xfrm>
              <a:off x="1182" y="2547"/>
              <a:ext cx="299" cy="1699"/>
            </a:xfrm>
            <a:prstGeom prst="rect">
              <a:avLst/>
            </a:prstGeom>
            <a:solidFill>
              <a:schemeClr val="accent2">
                <a:lumMod val="40000"/>
                <a:lumOff val="60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0" name="Rectangle 11"/>
            <p:cNvSpPr>
              <a:spLocks noChangeArrowheads="1"/>
            </p:cNvSpPr>
            <p:nvPr/>
          </p:nvSpPr>
          <p:spPr bwMode="auto">
            <a:xfrm>
              <a:off x="1262" y="2223"/>
              <a:ext cx="68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2</a:t>
              </a:r>
            </a:p>
          </p:txBody>
        </p:sp>
        <p:sp>
          <p:nvSpPr>
            <p:cNvPr id="21" name="Rectangle 12"/>
            <p:cNvSpPr>
              <a:spLocks noChangeArrowheads="1"/>
            </p:cNvSpPr>
            <p:nvPr/>
          </p:nvSpPr>
          <p:spPr bwMode="auto">
            <a:xfrm>
              <a:off x="692" y="2473"/>
              <a:ext cx="24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2</a:t>
              </a:r>
            </a:p>
          </p:txBody>
        </p:sp>
      </p:grpSp>
      <p:grpSp>
        <p:nvGrpSpPr>
          <p:cNvPr id="22" name="Group 13"/>
          <p:cNvGrpSpPr>
            <a:grpSpLocks/>
          </p:cNvGrpSpPr>
          <p:nvPr/>
        </p:nvGrpSpPr>
        <p:grpSpPr bwMode="auto">
          <a:xfrm>
            <a:off x="543451" y="3640337"/>
            <a:ext cx="2323207" cy="2678906"/>
            <a:chOff x="713" y="2446"/>
            <a:chExt cx="1561" cy="1800"/>
          </a:xfrm>
        </p:grpSpPr>
        <p:sp>
          <p:nvSpPr>
            <p:cNvPr id="23" name="Rectangle 14"/>
            <p:cNvSpPr>
              <a:spLocks noChangeArrowheads="1"/>
            </p:cNvSpPr>
            <p:nvPr/>
          </p:nvSpPr>
          <p:spPr bwMode="auto">
            <a:xfrm>
              <a:off x="1489" y="2933"/>
              <a:ext cx="504" cy="1313"/>
            </a:xfrm>
            <a:prstGeom prst="rect">
              <a:avLst/>
            </a:prstGeom>
            <a:solidFill>
              <a:schemeClr val="hlink"/>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4" name="Rectangle 15"/>
            <p:cNvSpPr>
              <a:spLocks noChangeArrowheads="1"/>
            </p:cNvSpPr>
            <p:nvPr/>
          </p:nvSpPr>
          <p:spPr bwMode="auto">
            <a:xfrm>
              <a:off x="1589" y="2446"/>
              <a:ext cx="685"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3</a:t>
              </a:r>
            </a:p>
          </p:txBody>
        </p:sp>
        <p:sp>
          <p:nvSpPr>
            <p:cNvPr id="25" name="Rectangle 16"/>
            <p:cNvSpPr>
              <a:spLocks noChangeArrowheads="1"/>
            </p:cNvSpPr>
            <p:nvPr/>
          </p:nvSpPr>
          <p:spPr bwMode="auto">
            <a:xfrm>
              <a:off x="713" y="2826"/>
              <a:ext cx="245"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3</a:t>
              </a:r>
            </a:p>
          </p:txBody>
        </p:sp>
      </p:grpSp>
      <p:grpSp>
        <p:nvGrpSpPr>
          <p:cNvPr id="26" name="Group 21"/>
          <p:cNvGrpSpPr>
            <a:grpSpLocks/>
          </p:cNvGrpSpPr>
          <p:nvPr/>
        </p:nvGrpSpPr>
        <p:grpSpPr bwMode="auto">
          <a:xfrm>
            <a:off x="574258" y="4781850"/>
            <a:ext cx="3854648" cy="1537396"/>
            <a:chOff x="770" y="3213"/>
            <a:chExt cx="2590" cy="1033"/>
          </a:xfrm>
        </p:grpSpPr>
        <p:sp>
          <p:nvSpPr>
            <p:cNvPr id="27" name="Rectangle 22"/>
            <p:cNvSpPr>
              <a:spLocks noChangeArrowheads="1"/>
            </p:cNvSpPr>
            <p:nvPr/>
          </p:nvSpPr>
          <p:spPr bwMode="auto">
            <a:xfrm>
              <a:off x="2642" y="3905"/>
              <a:ext cx="718" cy="341"/>
            </a:xfrm>
            <a:prstGeom prst="rect">
              <a:avLst/>
            </a:prstGeom>
            <a:solidFill>
              <a:srgbClr val="00B7A5"/>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8" name="Rectangle 23"/>
            <p:cNvSpPr>
              <a:spLocks noChangeArrowheads="1"/>
            </p:cNvSpPr>
            <p:nvPr/>
          </p:nvSpPr>
          <p:spPr bwMode="auto">
            <a:xfrm>
              <a:off x="2674" y="3213"/>
              <a:ext cx="68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5</a:t>
              </a:r>
            </a:p>
          </p:txBody>
        </p:sp>
        <p:sp>
          <p:nvSpPr>
            <p:cNvPr id="29" name="Rectangle 24"/>
            <p:cNvSpPr>
              <a:spLocks noChangeArrowheads="1"/>
            </p:cNvSpPr>
            <p:nvPr/>
          </p:nvSpPr>
          <p:spPr bwMode="auto">
            <a:xfrm>
              <a:off x="770" y="3778"/>
              <a:ext cx="246"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5</a:t>
              </a:r>
            </a:p>
          </p:txBody>
        </p:sp>
      </p:grpSp>
      <p:sp>
        <p:nvSpPr>
          <p:cNvPr id="30" name="Rectangle 25"/>
          <p:cNvSpPr>
            <a:spLocks noChangeArrowheads="1"/>
          </p:cNvSpPr>
          <p:nvPr/>
        </p:nvSpPr>
        <p:spPr bwMode="auto">
          <a:xfrm>
            <a:off x="5052953" y="5917080"/>
            <a:ext cx="920524"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lang="en-US" sz="1688" dirty="0">
                <a:solidFill>
                  <a:srgbClr val="C00000"/>
                </a:solidFill>
                <a:latin typeface="Whitney-Book" pitchFamily="50" charset="0"/>
                <a:cs typeface="Whitney-Book" pitchFamily="50" charset="0"/>
              </a:rPr>
              <a:t>d</a:t>
            </a:r>
            <a:r>
              <a:rPr kumimoji="0" lang="en-US" sz="1688" b="0" i="0" u="none" strike="noStrike" kern="1200" cap="none" spc="0" normalizeH="0" baseline="0" noProof="0" dirty="0" err="1">
                <a:ln>
                  <a:noFill/>
                </a:ln>
                <a:solidFill>
                  <a:srgbClr val="C00000"/>
                </a:solidFill>
                <a:effectLst/>
                <a:uLnTx/>
                <a:uFillTx/>
                <a:latin typeface="Whitney-Book" pitchFamily="50" charset="0"/>
                <a:ea typeface="+mn-ea"/>
                <a:cs typeface="Whitney-Book" pitchFamily="50" charset="0"/>
              </a:rPr>
              <a:t>emand</a:t>
            </a:r>
            <a:endParaRPr kumimoji="0" lang="en-US" sz="1688" b="0" i="0"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endParaRPr>
          </a:p>
        </p:txBody>
      </p:sp>
      <p:sp>
        <p:nvSpPr>
          <p:cNvPr id="31" name="Rectangle 26"/>
          <p:cNvSpPr>
            <a:spLocks noChangeArrowheads="1"/>
          </p:cNvSpPr>
          <p:nvPr/>
        </p:nvSpPr>
        <p:spPr bwMode="auto">
          <a:xfrm>
            <a:off x="550891" y="1608144"/>
            <a:ext cx="964855" cy="352924"/>
          </a:xfrm>
          <a:prstGeom prst="rect">
            <a:avLst/>
          </a:prstGeom>
          <a:noFill/>
          <a:ln w="9525">
            <a:noFill/>
            <a:miter lim="800000"/>
            <a:headEnd/>
            <a:tailEnd/>
          </a:ln>
          <a:effectLst/>
        </p:spPr>
        <p:txBody>
          <a:bodyPr wrap="squar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P/MPV</a:t>
            </a:r>
          </a:p>
        </p:txBody>
      </p:sp>
      <p:grpSp>
        <p:nvGrpSpPr>
          <p:cNvPr id="32" name="Group 31"/>
          <p:cNvGrpSpPr/>
          <p:nvPr/>
        </p:nvGrpSpPr>
        <p:grpSpPr>
          <a:xfrm>
            <a:off x="569867" y="4192291"/>
            <a:ext cx="4020061" cy="2141389"/>
            <a:chOff x="1169988" y="4472249"/>
            <a:chExt cx="4288064" cy="2284149"/>
          </a:xfrm>
        </p:grpSpPr>
        <p:grpSp>
          <p:nvGrpSpPr>
            <p:cNvPr id="33" name="Group 17"/>
            <p:cNvGrpSpPr>
              <a:grpSpLocks/>
            </p:cNvGrpSpPr>
            <p:nvPr/>
          </p:nvGrpSpPr>
          <p:grpSpPr bwMode="auto">
            <a:xfrm>
              <a:off x="1169988" y="5140324"/>
              <a:ext cx="2976563" cy="1616074"/>
              <a:chOff x="737" y="3238"/>
              <a:chExt cx="1875" cy="1018"/>
            </a:xfrm>
          </p:grpSpPr>
          <p:sp>
            <p:nvSpPr>
              <p:cNvPr id="35" name="Rectangle 18"/>
              <p:cNvSpPr>
                <a:spLocks noChangeArrowheads="1"/>
              </p:cNvSpPr>
              <p:nvPr/>
            </p:nvSpPr>
            <p:spPr bwMode="auto">
              <a:xfrm>
                <a:off x="2010" y="3330"/>
                <a:ext cx="602" cy="926"/>
              </a:xfrm>
              <a:prstGeom prst="rect">
                <a:avLst/>
              </a:prstGeom>
              <a:solidFill>
                <a:srgbClr val="FAFD00"/>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36" name="Rectangle 19"/>
              <p:cNvSpPr>
                <a:spLocks noChangeArrowheads="1"/>
              </p:cNvSpPr>
              <p:nvPr/>
            </p:nvSpPr>
            <p:spPr bwMode="auto">
              <a:xfrm>
                <a:off x="2345" y="3317"/>
                <a:ext cx="117" cy="233"/>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37" name="Rectangle 20"/>
              <p:cNvSpPr>
                <a:spLocks noChangeArrowheads="1"/>
              </p:cNvSpPr>
              <p:nvPr/>
            </p:nvSpPr>
            <p:spPr bwMode="auto">
              <a:xfrm>
                <a:off x="737" y="3238"/>
                <a:ext cx="252" cy="233"/>
              </a:xfrm>
              <a:prstGeom prst="rect">
                <a:avLst/>
              </a:prstGeom>
              <a:noFill/>
              <a:ln w="9525">
                <a:noFill/>
                <a:miter lim="800000"/>
                <a:headEnd/>
                <a:tailEnd/>
              </a:ln>
              <a:effectLst/>
            </p:spPr>
            <p:txBody>
              <a:bodyPr wrap="squar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4</a:t>
                </a:r>
              </a:p>
            </p:txBody>
          </p:sp>
        </p:grpSp>
        <p:sp>
          <p:nvSpPr>
            <p:cNvPr id="34" name="Text Box 42"/>
            <p:cNvSpPr txBox="1">
              <a:spLocks noChangeArrowheads="1"/>
            </p:cNvSpPr>
            <p:nvPr/>
          </p:nvSpPr>
          <p:spPr bwMode="auto">
            <a:xfrm>
              <a:off x="3324452" y="4472249"/>
              <a:ext cx="2133600" cy="375556"/>
            </a:xfrm>
            <a:prstGeom prst="rect">
              <a:avLst/>
            </a:prstGeom>
            <a:noFill/>
            <a:ln w="12700">
              <a:noFill/>
              <a:miter lim="800000"/>
              <a:headEnd type="none" w="sm" len="sm"/>
              <a:tailEnd type="none" w="sm" len="sm"/>
            </a:ln>
            <a:effectLst/>
          </p:spPr>
          <p:txBody>
            <a:bodyPr>
              <a:spAutoFit/>
            </a:bodyPr>
            <a:lstStyle/>
            <a:p>
              <a:pPr marL="0" marR="0" lvl="0" indent="0" algn="l" defTabSz="457200" rtl="0" eaLnBrk="1" fontAlgn="auto" latinLnBrk="0" hangingPunct="1">
                <a:lnSpc>
                  <a:spcPct val="100000"/>
                </a:lnSpc>
                <a:spcBef>
                  <a:spcPct val="5000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Version 4</a:t>
              </a:r>
            </a:p>
          </p:txBody>
        </p:sp>
      </p:grpSp>
      <p:sp>
        <p:nvSpPr>
          <p:cNvPr id="2" name="Slide Number Placeholder 1">
            <a:extLst>
              <a:ext uri="{FF2B5EF4-FFF2-40B4-BE49-F238E27FC236}">
                <a16:creationId xmlns:a16="http://schemas.microsoft.com/office/drawing/2014/main" id="{B7E30FFA-213C-ED49-B585-283822FA9CA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 name="Straight Connector 3">
            <a:extLst>
              <a:ext uri="{FF2B5EF4-FFF2-40B4-BE49-F238E27FC236}">
                <a16:creationId xmlns:a16="http://schemas.microsoft.com/office/drawing/2014/main" id="{5DB17963-918E-4811-AC09-D4DBF868BF97}"/>
              </a:ext>
            </a:extLst>
          </p:cNvPr>
          <p:cNvCxnSpPr>
            <a:cxnSpLocks/>
          </p:cNvCxnSpPr>
          <p:nvPr/>
        </p:nvCxnSpPr>
        <p:spPr>
          <a:xfrm>
            <a:off x="961656" y="3223476"/>
            <a:ext cx="4222649" cy="308832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E09D64DA-4BA7-4EEB-BB22-93DF72702621}"/>
              </a:ext>
            </a:extLst>
          </p:cNvPr>
          <p:cNvPicPr>
            <a:picLocks noChangeAspect="1"/>
          </p:cNvPicPr>
          <p:nvPr/>
        </p:nvPicPr>
        <p:blipFill>
          <a:blip r:embed="rId4"/>
          <a:stretch>
            <a:fillRect/>
          </a:stretch>
        </p:blipFill>
        <p:spPr>
          <a:xfrm>
            <a:off x="2028517" y="1018562"/>
            <a:ext cx="4234327" cy="2382649"/>
          </a:xfrm>
          <a:prstGeom prst="rect">
            <a:avLst/>
          </a:prstGeom>
        </p:spPr>
      </p:pic>
    </p:spTree>
    <p:custDataLst>
      <p:tags r:id="rId1"/>
    </p:custDataLst>
    <p:extLst>
      <p:ext uri="{BB962C8B-B14F-4D97-AF65-F5344CB8AC3E}">
        <p14:creationId xmlns:p14="http://schemas.microsoft.com/office/powerpoint/2010/main" val="3101434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32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p:cNvSpPr>
            <a:spLocks noGrp="1"/>
          </p:cNvSpPr>
          <p:nvPr>
            <p:ph type="title"/>
          </p:nvPr>
        </p:nvSpPr>
        <p:spPr>
          <a:xfrm>
            <a:off x="132523" y="127215"/>
            <a:ext cx="8724372" cy="1143000"/>
          </a:xfrm>
        </p:spPr>
        <p:txBody>
          <a:bodyPr>
            <a:normAutofit/>
          </a:bodyPr>
          <a:lstStyle/>
          <a:p>
            <a:pPr algn="ctr"/>
            <a:r>
              <a:rPr lang="en-US" sz="3750" dirty="0" err="1">
                <a:latin typeface="Whitney-Medium" pitchFamily="50" charset="0"/>
                <a:cs typeface="Whitney-Medium" pitchFamily="50" charset="0"/>
              </a:rPr>
              <a:t>VErsioning</a:t>
            </a:r>
            <a:endParaRPr lang="en-US" sz="3750" dirty="0">
              <a:latin typeface="Whitney-Medium" pitchFamily="50" charset="0"/>
              <a:cs typeface="Whitney-Medium" pitchFamily="50" charset="0"/>
            </a:endParaRPr>
          </a:p>
        </p:txBody>
      </p:sp>
      <p:sp>
        <p:nvSpPr>
          <p:cNvPr id="2" name="Content Placeholder 1"/>
          <p:cNvSpPr>
            <a:spLocks noGrp="1"/>
          </p:cNvSpPr>
          <p:nvPr>
            <p:ph idx="1"/>
          </p:nvPr>
        </p:nvSpPr>
        <p:spPr>
          <a:xfrm>
            <a:off x="457200" y="1207951"/>
            <a:ext cx="8229600" cy="1973455"/>
          </a:xfrm>
        </p:spPr>
        <p:txBody>
          <a:bodyPr/>
          <a:lstStyle/>
          <a:p>
            <a:r>
              <a:rPr lang="en-US" dirty="0"/>
              <a:t>Offer a product line and let users sort themselves</a:t>
            </a:r>
          </a:p>
          <a:p>
            <a:endParaRPr lang="en-US" dirty="0"/>
          </a:p>
          <a:p>
            <a:endParaRPr lang="en-US" dirty="0"/>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7" name="Picture 6">
            <a:extLst>
              <a:ext uri="{FF2B5EF4-FFF2-40B4-BE49-F238E27FC236}">
                <a16:creationId xmlns:a16="http://schemas.microsoft.com/office/drawing/2014/main" id="{EBB108AC-9F07-5A4F-9707-379ADEBBAA24}"/>
              </a:ext>
            </a:extLst>
          </p:cNvPr>
          <p:cNvPicPr>
            <a:picLocks noChangeAspect="1"/>
          </p:cNvPicPr>
          <p:nvPr/>
        </p:nvPicPr>
        <p:blipFill>
          <a:blip r:embed="rId3"/>
          <a:stretch>
            <a:fillRect/>
          </a:stretch>
        </p:blipFill>
        <p:spPr>
          <a:xfrm>
            <a:off x="214307" y="2088944"/>
            <a:ext cx="4673056" cy="2550049"/>
          </a:xfrm>
          <a:prstGeom prst="rect">
            <a:avLst/>
          </a:prstGeom>
          <a:effectLst>
            <a:outerShdw blurRad="50800" dist="38100" dir="10800000" algn="r" rotWithShape="0">
              <a:prstClr val="black">
                <a:alpha val="40000"/>
              </a:prstClr>
            </a:outerShdw>
          </a:effectLst>
        </p:spPr>
      </p:pic>
      <p:pic>
        <p:nvPicPr>
          <p:cNvPr id="8" name="Picture 7" descr="coke pepsi mini cans">
            <a:extLst>
              <a:ext uri="{FF2B5EF4-FFF2-40B4-BE49-F238E27FC236}">
                <a16:creationId xmlns:a16="http://schemas.microsoft.com/office/drawing/2014/main" id="{F911E25C-CFB5-4044-B000-3745F06C01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1987"/>
          <a:stretch/>
        </p:blipFill>
        <p:spPr bwMode="auto">
          <a:xfrm>
            <a:off x="5464085" y="2295545"/>
            <a:ext cx="3108325" cy="1585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483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1071F-613B-4262-8BC6-A5BF8400C2F8}"/>
              </a:ext>
            </a:extLst>
          </p:cNvPr>
          <p:cNvSpPr>
            <a:spLocks noGrp="1"/>
          </p:cNvSpPr>
          <p:nvPr>
            <p:ph type="title"/>
          </p:nvPr>
        </p:nvSpPr>
        <p:spPr/>
        <p:txBody>
          <a:bodyPr/>
          <a:lstStyle/>
          <a:p>
            <a:r>
              <a:rPr lang="en-US" dirty="0"/>
              <a:t>Versioning: Costco</a:t>
            </a:r>
          </a:p>
        </p:txBody>
      </p:sp>
      <p:pic>
        <p:nvPicPr>
          <p:cNvPr id="4" name="Content Placeholder 3">
            <a:extLst>
              <a:ext uri="{FF2B5EF4-FFF2-40B4-BE49-F238E27FC236}">
                <a16:creationId xmlns:a16="http://schemas.microsoft.com/office/drawing/2014/main" id="{84427F15-C013-4FE5-A1DC-9A71B92DC682}"/>
              </a:ext>
            </a:extLst>
          </p:cNvPr>
          <p:cNvPicPr>
            <a:picLocks noGrp="1" noChangeAspect="1"/>
          </p:cNvPicPr>
          <p:nvPr>
            <p:ph idx="1"/>
          </p:nvPr>
        </p:nvPicPr>
        <p:blipFill rotWithShape="1">
          <a:blip r:embed="rId2"/>
          <a:srcRect l="13637" t="14219" r="68855" b="53857"/>
          <a:stretch/>
        </p:blipFill>
        <p:spPr>
          <a:xfrm>
            <a:off x="1828801" y="1270215"/>
            <a:ext cx="5218544" cy="2676176"/>
          </a:xfrm>
          <a:prstGeom prst="rect">
            <a:avLst/>
          </a:prstGeom>
        </p:spPr>
      </p:pic>
      <p:sp>
        <p:nvSpPr>
          <p:cNvPr id="5" name="Content Placeholder 2">
            <a:extLst>
              <a:ext uri="{FF2B5EF4-FFF2-40B4-BE49-F238E27FC236}">
                <a16:creationId xmlns:a16="http://schemas.microsoft.com/office/drawing/2014/main" id="{91500FB3-7614-4FCA-B1B5-BE8C40E0629E}"/>
              </a:ext>
            </a:extLst>
          </p:cNvPr>
          <p:cNvSpPr txBox="1">
            <a:spLocks/>
          </p:cNvSpPr>
          <p:nvPr/>
        </p:nvSpPr>
        <p:spPr>
          <a:xfrm>
            <a:off x="354168" y="4193309"/>
            <a:ext cx="8501270" cy="217436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Business model</a:t>
            </a:r>
          </a:p>
          <a:p>
            <a:pPr lvl="1"/>
            <a:r>
              <a:rPr lang="en-US" dirty="0"/>
              <a:t>Make money on the memberships</a:t>
            </a:r>
          </a:p>
          <a:p>
            <a:pPr lvl="1"/>
            <a:r>
              <a:rPr lang="en-US" dirty="0"/>
              <a:t>Sell goods at the cheapest price possible</a:t>
            </a:r>
          </a:p>
          <a:p>
            <a:pPr lvl="1"/>
            <a:r>
              <a:rPr lang="en-US" dirty="0">
                <a:hlinkClick r:id="rId3"/>
              </a:rPr>
              <a:t>WSJ video</a:t>
            </a:r>
            <a:r>
              <a:rPr lang="en-US" dirty="0"/>
              <a:t> on the strategic layout of Costco stores</a:t>
            </a:r>
          </a:p>
        </p:txBody>
      </p:sp>
    </p:spTree>
    <p:extLst>
      <p:ext uri="{BB962C8B-B14F-4D97-AF65-F5344CB8AC3E}">
        <p14:creationId xmlns:p14="http://schemas.microsoft.com/office/powerpoint/2010/main" val="3051609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r>
              <a:rPr lang="en-US" dirty="0"/>
              <a:t>More Examples for Versioning</a:t>
            </a:r>
          </a:p>
        </p:txBody>
      </p:sp>
      <p:sp>
        <p:nvSpPr>
          <p:cNvPr id="222211" name="Rectangle 3"/>
          <p:cNvSpPr>
            <a:spLocks noGrp="1" noChangeArrowheads="1"/>
          </p:cNvSpPr>
          <p:nvPr>
            <p:ph type="body" idx="1"/>
          </p:nvPr>
        </p:nvSpPr>
        <p:spPr>
          <a:xfrm>
            <a:off x="571500" y="1428750"/>
            <a:ext cx="8405075" cy="5420442"/>
          </a:xfrm>
        </p:spPr>
        <p:txBody>
          <a:bodyPr>
            <a:normAutofit/>
          </a:bodyPr>
          <a:lstStyle/>
          <a:p>
            <a:r>
              <a:rPr lang="en-US" dirty="0"/>
              <a:t>Internet service: higher speed at a higher price</a:t>
            </a:r>
          </a:p>
          <a:p>
            <a:r>
              <a:rPr lang="en-US" dirty="0" err="1"/>
              <a:t>Fedex</a:t>
            </a:r>
            <a:r>
              <a:rPr lang="en-US" dirty="0"/>
              <a:t>/UPS: ground vs. same-day delivery</a:t>
            </a:r>
          </a:p>
          <a:p>
            <a:r>
              <a:rPr lang="en-US" dirty="0"/>
              <a:t>Airlines: Business / premium economy / economy</a:t>
            </a:r>
          </a:p>
          <a:p>
            <a:endParaRPr lang="fr-FR" dirty="0"/>
          </a:p>
          <a:p>
            <a:endParaRPr lang="fr-FR" dirty="0"/>
          </a:p>
          <a:p>
            <a:r>
              <a:rPr lang="fr-FR" b="1" dirty="0">
                <a:solidFill>
                  <a:srgbClr val="C00000"/>
                </a:solidFill>
              </a:rPr>
              <a:t>Important note on versioning</a:t>
            </a:r>
            <a:r>
              <a:rPr lang="fr-FR" dirty="0"/>
              <a:t>: </a:t>
            </a:r>
            <a:r>
              <a:rPr lang="fr-FR" dirty="0" err="1"/>
              <a:t>Keep</a:t>
            </a:r>
            <a:r>
              <a:rPr lang="fr-FR" dirty="0"/>
              <a:t> </a:t>
            </a:r>
            <a:r>
              <a:rPr lang="fr-FR" dirty="0" err="1"/>
              <a:t>low-quality</a:t>
            </a:r>
            <a:r>
              <a:rPr lang="fr-FR" dirty="0"/>
              <a:t> option </a:t>
            </a:r>
            <a:r>
              <a:rPr lang="fr-FR" dirty="0" err="1"/>
              <a:t>inferior</a:t>
            </a:r>
            <a:r>
              <a:rPr lang="fr-FR" dirty="0"/>
              <a:t> </a:t>
            </a:r>
            <a:r>
              <a:rPr lang="fr-FR" dirty="0" err="1"/>
              <a:t>enough</a:t>
            </a:r>
            <a:r>
              <a:rPr lang="fr-FR" dirty="0"/>
              <a:t> to </a:t>
            </a:r>
            <a:r>
              <a:rPr lang="fr-FR" dirty="0" err="1"/>
              <a:t>prevent</a:t>
            </a:r>
            <a:r>
              <a:rPr lang="fr-FR" dirty="0"/>
              <a:t> premium </a:t>
            </a:r>
            <a:r>
              <a:rPr lang="fr-FR" dirty="0" err="1"/>
              <a:t>customers</a:t>
            </a:r>
            <a:r>
              <a:rPr lang="fr-FR" dirty="0"/>
              <a:t> </a:t>
            </a:r>
            <a:r>
              <a:rPr lang="fr-FR" dirty="0" err="1"/>
              <a:t>from</a:t>
            </a:r>
            <a:r>
              <a:rPr lang="fr-FR" dirty="0"/>
              <a:t> </a:t>
            </a:r>
            <a:r>
              <a:rPr lang="fr-FR" dirty="0" err="1"/>
              <a:t>being</a:t>
            </a:r>
            <a:r>
              <a:rPr lang="fr-FR" dirty="0"/>
              <a:t> </a:t>
            </a:r>
            <a:r>
              <a:rPr lang="fr-FR" dirty="0" err="1"/>
              <a:t>tempted</a:t>
            </a:r>
            <a:endParaRPr lang="fr-FR" dirty="0"/>
          </a:p>
          <a:p>
            <a:pPr lvl="1"/>
            <a:r>
              <a:rPr lang="en-US" sz="2400" dirty="0"/>
              <a:t>This ensures “</a:t>
            </a:r>
            <a:r>
              <a:rPr lang="en-US" sz="2400" dirty="0">
                <a:solidFill>
                  <a:srgbClr val="C00000"/>
                </a:solidFill>
              </a:rPr>
              <a:t>incentive-compatibility</a:t>
            </a:r>
            <a:r>
              <a:rPr lang="en-US" sz="2400" dirty="0"/>
              <a:t>”</a:t>
            </a:r>
          </a:p>
          <a:p>
            <a:pPr lvl="1"/>
            <a:r>
              <a:rPr lang="en-US" sz="2400" dirty="0"/>
              <a:t>So you don’t need to worry about resales</a:t>
            </a:r>
          </a:p>
          <a:p>
            <a:pPr lvl="1"/>
            <a:endParaRPr lang="en-US" sz="2400" dirty="0"/>
          </a:p>
          <a:p>
            <a:pPr lvl="1"/>
            <a:endParaRPr lang="en-US" sz="2613" dirty="0"/>
          </a:p>
          <a:p>
            <a:pPr>
              <a:buNone/>
            </a:pPr>
            <a:endParaRPr lang="en-US" sz="2813" dirty="0"/>
          </a:p>
        </p:txBody>
      </p:sp>
      <p:sp>
        <p:nvSpPr>
          <p:cNvPr id="6" name="Slide Number Placeholder 5"/>
          <p:cNvSpPr>
            <a:spLocks noGrp="1"/>
          </p:cNvSpPr>
          <p:nvPr>
            <p:ph type="sldNum" sz="quarter" idx="10"/>
          </p:nvPr>
        </p:nvSpPr>
        <p:spPr/>
        <p:txBody>
          <a:bodyPr/>
          <a:lstStyle/>
          <a:p>
            <a:fld id="{DBC38028-5B1C-49D3-BF22-2CE9385E6DA2}" type="slidenum">
              <a:rPr lang="en-US" smtClean="0"/>
              <a:pPr/>
              <a:t>7</a:t>
            </a:fld>
            <a:endParaRPr lang="en-US" dirty="0"/>
          </a:p>
        </p:txBody>
      </p:sp>
      <p:pic>
        <p:nvPicPr>
          <p:cNvPr id="103425" name="Picture 1"/>
          <p:cNvPicPr>
            <a:picLocks noChangeAspect="1" noChangeArrowheads="1"/>
          </p:cNvPicPr>
          <p:nvPr/>
        </p:nvPicPr>
        <p:blipFill>
          <a:blip r:embed="rId4"/>
          <a:srcRect/>
          <a:stretch>
            <a:fillRect/>
          </a:stretch>
        </p:blipFill>
        <p:spPr bwMode="auto">
          <a:xfrm>
            <a:off x="4567536" y="3424536"/>
            <a:ext cx="8930" cy="893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834891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2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2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22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22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22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Second-Degree price Discrimination: </a:t>
            </a:r>
            <a:br>
              <a:rPr lang="en-US" dirty="0"/>
            </a:br>
            <a:r>
              <a:rPr lang="en-US" dirty="0"/>
              <a:t>coupons</a:t>
            </a:r>
          </a:p>
        </p:txBody>
      </p:sp>
      <p:pic>
        <p:nvPicPr>
          <p:cNvPr id="3" name="Picture 2">
            <a:extLst>
              <a:ext uri="{FF2B5EF4-FFF2-40B4-BE49-F238E27FC236}">
                <a16:creationId xmlns:a16="http://schemas.microsoft.com/office/drawing/2014/main" id="{37248C6F-BDD8-4FEB-84D0-31AA8B78201D}"/>
              </a:ext>
            </a:extLst>
          </p:cNvPr>
          <p:cNvPicPr>
            <a:picLocks noChangeAspect="1"/>
          </p:cNvPicPr>
          <p:nvPr/>
        </p:nvPicPr>
        <p:blipFill>
          <a:blip r:embed="rId3"/>
          <a:stretch>
            <a:fillRect/>
          </a:stretch>
        </p:blipFill>
        <p:spPr>
          <a:xfrm>
            <a:off x="5573484" y="3790417"/>
            <a:ext cx="2941049" cy="1671967"/>
          </a:xfrm>
          <a:prstGeom prst="rect">
            <a:avLst/>
          </a:prstGeom>
        </p:spPr>
      </p:pic>
      <p:pic>
        <p:nvPicPr>
          <p:cNvPr id="5" name="Picture 4">
            <a:extLst>
              <a:ext uri="{FF2B5EF4-FFF2-40B4-BE49-F238E27FC236}">
                <a16:creationId xmlns:a16="http://schemas.microsoft.com/office/drawing/2014/main" id="{16F6B690-FE1A-4DD5-9930-C366A278ABBF}"/>
              </a:ext>
            </a:extLst>
          </p:cNvPr>
          <p:cNvPicPr>
            <a:picLocks noChangeAspect="1"/>
          </p:cNvPicPr>
          <p:nvPr/>
        </p:nvPicPr>
        <p:blipFill>
          <a:blip r:embed="rId4"/>
          <a:stretch>
            <a:fillRect/>
          </a:stretch>
        </p:blipFill>
        <p:spPr>
          <a:xfrm>
            <a:off x="745580" y="1942970"/>
            <a:ext cx="1986862" cy="1459277"/>
          </a:xfrm>
          <a:prstGeom prst="rect">
            <a:avLst/>
          </a:prstGeom>
        </p:spPr>
      </p:pic>
      <p:pic>
        <p:nvPicPr>
          <p:cNvPr id="6" name="Picture 5">
            <a:extLst>
              <a:ext uri="{FF2B5EF4-FFF2-40B4-BE49-F238E27FC236}">
                <a16:creationId xmlns:a16="http://schemas.microsoft.com/office/drawing/2014/main" id="{0F94A953-A9C1-4A72-9E44-299631717978}"/>
              </a:ext>
            </a:extLst>
          </p:cNvPr>
          <p:cNvPicPr>
            <a:picLocks noChangeAspect="1"/>
          </p:cNvPicPr>
          <p:nvPr/>
        </p:nvPicPr>
        <p:blipFill>
          <a:blip r:embed="rId5"/>
          <a:stretch>
            <a:fillRect/>
          </a:stretch>
        </p:blipFill>
        <p:spPr>
          <a:xfrm>
            <a:off x="745579" y="3896763"/>
            <a:ext cx="1929623" cy="1459277"/>
          </a:xfrm>
          <a:prstGeom prst="rect">
            <a:avLst/>
          </a:prstGeom>
        </p:spPr>
      </p:pic>
      <p:sp>
        <p:nvSpPr>
          <p:cNvPr id="7" name="Rectangle 3">
            <a:extLst>
              <a:ext uri="{FF2B5EF4-FFF2-40B4-BE49-F238E27FC236}">
                <a16:creationId xmlns:a16="http://schemas.microsoft.com/office/drawing/2014/main" id="{730F4166-6DF7-4FEC-BFAB-83F042557A9B}"/>
              </a:ext>
            </a:extLst>
          </p:cNvPr>
          <p:cNvSpPr txBox="1">
            <a:spLocks noChangeArrowheads="1"/>
          </p:cNvSpPr>
          <p:nvPr/>
        </p:nvSpPr>
        <p:spPr>
          <a:xfrm>
            <a:off x="396025" y="5103914"/>
            <a:ext cx="8405075" cy="1595019"/>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fr-FR" sz="3600" dirty="0"/>
          </a:p>
          <a:p>
            <a:r>
              <a:rPr lang="en-US" sz="3200" dirty="0"/>
              <a:t>Coupons ensure </a:t>
            </a:r>
            <a:r>
              <a:rPr lang="en-US" sz="3200" dirty="0">
                <a:solidFill>
                  <a:srgbClr val="C00000"/>
                </a:solidFill>
              </a:rPr>
              <a:t>incentive-compatibility</a:t>
            </a:r>
            <a:endParaRPr lang="en-US" sz="3200" dirty="0"/>
          </a:p>
          <a:p>
            <a:pPr lvl="1"/>
            <a:endParaRPr lang="en-US" sz="3200" dirty="0"/>
          </a:p>
          <a:p>
            <a:pPr>
              <a:buFont typeface="Lucida Grande"/>
              <a:buNone/>
            </a:pPr>
            <a:endParaRPr lang="en-US" sz="3600" dirty="0"/>
          </a:p>
        </p:txBody>
      </p:sp>
    </p:spTree>
    <p:extLst>
      <p:ext uri="{BB962C8B-B14F-4D97-AF65-F5344CB8AC3E}">
        <p14:creationId xmlns:p14="http://schemas.microsoft.com/office/powerpoint/2010/main" val="377550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77558</TotalTime>
  <Words>724</Words>
  <Application>Microsoft Office PowerPoint</Application>
  <PresentationFormat>On-screen Show (4:3)</PresentationFormat>
  <Paragraphs>79</Paragraphs>
  <Slides>8</Slides>
  <Notes>7</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8</vt:i4>
      </vt:variant>
    </vt:vector>
  </HeadingPairs>
  <TitlesOfParts>
    <vt:vector size="21" baseType="lpstr">
      <vt:lpstr>Arial</vt:lpstr>
      <vt:lpstr>Calibri</vt:lpstr>
      <vt:lpstr>Lucida Grande</vt:lpstr>
      <vt:lpstr>Trebuchet MS</vt:lpstr>
      <vt:lpstr>Whitney Book</vt:lpstr>
      <vt:lpstr>Whitney-Book</vt:lpstr>
      <vt:lpstr>Whitney-Medium</vt:lpstr>
      <vt:lpstr>2_Custom Design</vt:lpstr>
      <vt:lpstr>Custom Design</vt:lpstr>
      <vt:lpstr>3_Custom Design</vt:lpstr>
      <vt:lpstr>5_Custom Design</vt:lpstr>
      <vt:lpstr>4_Custom Design</vt:lpstr>
      <vt:lpstr>12_Custom Design</vt:lpstr>
      <vt:lpstr>Module 6 – Video 4 Second-Degree Price Discrimination: Versioning and Coupons </vt:lpstr>
      <vt:lpstr>OUTLINE of module 6 </vt:lpstr>
      <vt:lpstr>Second degree price discrimination: Versioning</vt:lpstr>
      <vt:lpstr>VErsioning</vt:lpstr>
      <vt:lpstr>VErsioning</vt:lpstr>
      <vt:lpstr>Versioning: Costco</vt:lpstr>
      <vt:lpstr>More Examples for Versioning</vt:lpstr>
      <vt:lpstr>Second-Degree price Discrimination:  coupons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1290</cp:revision>
  <cp:lastPrinted>2019-09-13T20:44:29Z</cp:lastPrinted>
  <dcterms:created xsi:type="dcterms:W3CDTF">2013-01-24T22:32:50Z</dcterms:created>
  <dcterms:modified xsi:type="dcterms:W3CDTF">2022-01-26T22:58:28Z</dcterms:modified>
  <cp:category/>
</cp:coreProperties>
</file>