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14"/>
  </p:notesMasterIdLst>
  <p:handoutMasterIdLst>
    <p:handoutMasterId r:id="rId15"/>
  </p:handoutMasterIdLst>
  <p:sldIdLst>
    <p:sldId id="919" r:id="rId7"/>
    <p:sldId id="945" r:id="rId8"/>
    <p:sldId id="951" r:id="rId9"/>
    <p:sldId id="419" r:id="rId10"/>
    <p:sldId id="387" r:id="rId11"/>
    <p:sldId id="804" r:id="rId12"/>
    <p:sldId id="948" r:id="rId13"/>
  </p:sldIdLst>
  <p:sldSz cx="9144000" cy="6858000" type="screen4x3"/>
  <p:notesSz cx="7315200" cy="96012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7058" autoAdjust="0"/>
  </p:normalViewPr>
  <p:slideViewPr>
    <p:cSldViewPr snapToGrid="0" snapToObjects="1">
      <p:cViewPr varScale="1">
        <p:scale>
          <a:sx n="38" d="100"/>
          <a:sy n="38" d="100"/>
        </p:scale>
        <p:origin x="1560" y="45"/>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1/31/2022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1/31/2022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785530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3</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3031470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5C80C1-D073-41E8-82D0-F37C217C6DB8}" type="slidenum">
              <a:rPr lang="en-US"/>
              <a:pPr/>
              <a:t>4</a:t>
            </a:fld>
            <a:endParaRPr lang="en-US"/>
          </a:p>
        </p:txBody>
      </p:sp>
      <p:sp>
        <p:nvSpPr>
          <p:cNvPr id="239618"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239619"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dirty="0"/>
          </a:p>
        </p:txBody>
      </p:sp>
    </p:spTree>
    <p:extLst>
      <p:ext uri="{BB962C8B-B14F-4D97-AF65-F5344CB8AC3E}">
        <p14:creationId xmlns:p14="http://schemas.microsoft.com/office/powerpoint/2010/main" val="911929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MC=0, people buy to where the value is zero. You want to capture the entire area under the demand curve. How much does the consumer pay? For a flat fee of $400, he would be just willing to purchase the bundle of 20 units. The company doubles their contribution and extracts all the surplus. </a:t>
            </a:r>
          </a:p>
          <a:p>
            <a:endParaRPr lang="en-US" sz="120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Equivalent pricing schemes: A </a:t>
            </a:r>
            <a:r>
              <a:rPr lang="en-US" sz="1200" b="1" kern="1200" dirty="0">
                <a:solidFill>
                  <a:schemeClr val="tx1"/>
                </a:solidFill>
                <a:effectLst/>
                <a:latin typeface="+mn-lt"/>
                <a:ea typeface="+mn-ea"/>
                <a:cs typeface="+mn-cs"/>
              </a:rPr>
              <a:t>sliding scale discount pricing scheme</a:t>
            </a:r>
            <a:r>
              <a:rPr lang="en-US" sz="1200" kern="1200" dirty="0">
                <a:solidFill>
                  <a:schemeClr val="tx1"/>
                </a:solidFill>
                <a:effectLst/>
                <a:latin typeface="+mn-lt"/>
                <a:ea typeface="+mn-ea"/>
                <a:cs typeface="+mn-cs"/>
              </a:rPr>
              <a:t> amounts to the same thing – charge lower and lower amounts for each subsequent unit sold. Here you march the consumer down the demand curve and you charge successively lower prices that allow you to capture all the surplus. The quantity discounts come from the seller’s realization that the buyer has a downward sloping demand curve.</a:t>
            </a:r>
          </a:p>
        </p:txBody>
      </p:sp>
      <p:sp>
        <p:nvSpPr>
          <p:cNvPr id="4" name="Slide Number Placeholder 3"/>
          <p:cNvSpPr>
            <a:spLocks noGrp="1"/>
          </p:cNvSpPr>
          <p:nvPr>
            <p:ph type="sldNum" sz="quarter" idx="10"/>
          </p:nvPr>
        </p:nvSpPr>
        <p:spPr/>
        <p:txBody>
          <a:bodyPr/>
          <a:lstStyle/>
          <a:p>
            <a:fld id="{8D36AC2A-E969-3C46-9ED8-B46D40C5E669}" type="slidenum">
              <a:rPr lang="en-US" smtClean="0"/>
              <a:t>5</a:t>
            </a:fld>
            <a:endParaRPr lang="en-US"/>
          </a:p>
        </p:txBody>
      </p:sp>
    </p:spTree>
    <p:extLst>
      <p:ext uri="{BB962C8B-B14F-4D97-AF65-F5344CB8AC3E}">
        <p14:creationId xmlns:p14="http://schemas.microsoft.com/office/powerpoint/2010/main" val="3305125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represent the pricing strategy of Netflix, as an example of versioning. They have three plans, from basic to premium. The chart on the right represents the change in strategy that Netflix followed over time</a:t>
            </a:r>
          </a:p>
          <a:p>
            <a:r>
              <a:rPr lang="en-US" dirty="0"/>
              <a:t>This is a very good video on increase in price in 2017, where they also discuss previous price increases and the backlash associated with them</a:t>
            </a:r>
          </a:p>
          <a:p>
            <a:r>
              <a:rPr lang="en-US" dirty="0"/>
              <a:t>https://finance.yahoo.com/news/netflix-price-hikes-wont-hurt-subscriber-growth-211526185.html</a:t>
            </a:r>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435501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7</a:t>
            </a:fld>
            <a:endParaRPr lang="en-US"/>
          </a:p>
        </p:txBody>
      </p:sp>
    </p:spTree>
    <p:extLst>
      <p:ext uri="{BB962C8B-B14F-4D97-AF65-F5344CB8AC3E}">
        <p14:creationId xmlns:p14="http://schemas.microsoft.com/office/powerpoint/2010/main" val="3131325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1/31/2022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1/31/2022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1/31/2022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1/31/2022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1/31/2022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1/31/2022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4" y="4406901"/>
            <a:ext cx="8327429" cy="1362075"/>
          </a:xfrm>
        </p:spPr>
        <p:txBody>
          <a:bodyPr>
            <a:normAutofit fontScale="90000"/>
          </a:bodyPr>
          <a:lstStyle/>
          <a:p>
            <a:r>
              <a:rPr lang="en-US" dirty="0"/>
              <a:t>Module 6 – Video 5</a:t>
            </a:r>
            <a:br>
              <a:rPr lang="en-US" dirty="0"/>
            </a:br>
            <a:r>
              <a:rPr lang="en-US" dirty="0"/>
              <a:t>Flat fee pricing</a:t>
            </a:r>
            <a:br>
              <a:rPr lang="en-US" dirty="0"/>
            </a:b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01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dirty="0">
                <a:solidFill>
                  <a:schemeClr val="bg1">
                    <a:lumMod val="65000"/>
                  </a:schemeClr>
                </a:solidFill>
              </a:rPr>
              <a:t>Indirect </a:t>
            </a:r>
            <a:r>
              <a:rPr lang="fr-FR" dirty="0" err="1">
                <a:solidFill>
                  <a:schemeClr val="bg1">
                    <a:lumMod val="65000"/>
                  </a:schemeClr>
                </a:solidFill>
              </a:rPr>
              <a:t>price</a:t>
            </a:r>
            <a:r>
              <a:rPr lang="fr-FR" dirty="0">
                <a:solidFill>
                  <a:schemeClr val="bg1">
                    <a:lumMod val="65000"/>
                  </a:schemeClr>
                </a:solidFill>
              </a:rPr>
              <a:t> discrimination (second </a:t>
            </a:r>
            <a:r>
              <a:rPr lang="fr-FR" dirty="0" err="1">
                <a:solidFill>
                  <a:schemeClr val="bg1">
                    <a:lumMod val="65000"/>
                  </a:schemeClr>
                </a:solidFill>
              </a:rPr>
              <a:t>degree</a:t>
            </a:r>
            <a:r>
              <a:rPr lang="fr-FR" dirty="0">
                <a:solidFill>
                  <a:schemeClr val="bg1">
                    <a:lumMod val="65000"/>
                  </a:schemeClr>
                </a:solidFill>
              </a:rPr>
              <a:t>)</a:t>
            </a:r>
          </a:p>
          <a:p>
            <a:pPr marL="742950" lvl="2" indent="-342900">
              <a:lnSpc>
                <a:spcPct val="120000"/>
              </a:lnSpc>
            </a:pPr>
            <a:r>
              <a:rPr lang="fr-FR" sz="2600" dirty="0">
                <a:solidFill>
                  <a:schemeClr val="bg1">
                    <a:lumMod val="65000"/>
                  </a:schemeClr>
                </a:solidFill>
                <a:latin typeface="Whitney-Book" pitchFamily="50" charset="0"/>
              </a:rPr>
              <a:t>Versioning</a:t>
            </a:r>
          </a:p>
          <a:p>
            <a:pPr lvl="1">
              <a:lnSpc>
                <a:spcPct val="120000"/>
              </a:lnSpc>
              <a:spcBef>
                <a:spcPts val="0"/>
              </a:spcBef>
            </a:pPr>
            <a:r>
              <a:rPr lang="fr-FR" dirty="0">
                <a:solidFill>
                  <a:schemeClr val="bg1">
                    <a:lumMod val="65000"/>
                  </a:schemeClr>
                </a:solidFill>
                <a:latin typeface="Whitney-Book" pitchFamily="50" charset="0"/>
              </a:rPr>
              <a:t>Coupons</a:t>
            </a:r>
          </a:p>
          <a:p>
            <a:pPr>
              <a:lnSpc>
                <a:spcPct val="120000"/>
              </a:lnSpc>
            </a:pPr>
            <a:r>
              <a:rPr lang="fr-FR" b="1" dirty="0"/>
              <a:t>Advanced </a:t>
            </a:r>
            <a:r>
              <a:rPr lang="fr-FR" b="1" dirty="0" err="1"/>
              <a:t>pricing</a:t>
            </a:r>
            <a:r>
              <a:rPr lang="fr-FR" b="1" dirty="0"/>
              <a:t> </a:t>
            </a:r>
            <a:r>
              <a:rPr lang="fr-FR" b="1" dirty="0" err="1"/>
              <a:t>strategies</a:t>
            </a:r>
            <a:endParaRPr lang="fr-FR" b="1" dirty="0"/>
          </a:p>
          <a:p>
            <a:pPr lvl="1">
              <a:lnSpc>
                <a:spcPct val="120000"/>
              </a:lnSpc>
              <a:spcBef>
                <a:spcPts val="0"/>
              </a:spcBef>
            </a:pPr>
            <a:r>
              <a:rPr lang="fr-FR" b="1" dirty="0">
                <a:solidFill>
                  <a:srgbClr val="002060"/>
                </a:solidFill>
                <a:latin typeface="Whitney-Book" pitchFamily="50" charset="0"/>
                <a:cs typeface="Whitney-Book" pitchFamily="50" charset="0"/>
              </a:rPr>
              <a:t>Flat </a:t>
            </a:r>
            <a:r>
              <a:rPr lang="fr-FR" b="1" dirty="0" err="1">
                <a:solidFill>
                  <a:srgbClr val="002060"/>
                </a:solidFill>
                <a:latin typeface="Whitney-Book" pitchFamily="50" charset="0"/>
                <a:cs typeface="Whitney-Book" pitchFamily="50" charset="0"/>
              </a:rPr>
              <a:t>fee</a:t>
            </a:r>
            <a:r>
              <a:rPr lang="fr-FR" b="1" dirty="0">
                <a:solidFill>
                  <a:srgbClr val="002060"/>
                </a:solidFill>
                <a:latin typeface="Whitney-Book" pitchFamily="50" charset="0"/>
                <a:cs typeface="Whitney-Book" pitchFamily="50" charset="0"/>
              </a:rPr>
              <a:t> </a:t>
            </a:r>
            <a:r>
              <a:rPr lang="fr-FR" b="1" dirty="0" err="1">
                <a:solidFill>
                  <a:srgbClr val="002060"/>
                </a:solidFill>
                <a:latin typeface="Whitney-Book" pitchFamily="50" charset="0"/>
                <a:cs typeface="Whitney-Book" pitchFamily="50" charset="0"/>
              </a:rPr>
              <a:t>pricing</a:t>
            </a:r>
            <a:endParaRPr lang="fr-FR" b="1" dirty="0">
              <a:solidFill>
                <a:srgbClr val="002060"/>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99706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Context</a:t>
            </a:r>
          </a:p>
        </p:txBody>
      </p:sp>
      <p:sp>
        <p:nvSpPr>
          <p:cNvPr id="238595" name="Rectangle 3"/>
          <p:cNvSpPr>
            <a:spLocks noGrp="1" noChangeArrowheads="1"/>
          </p:cNvSpPr>
          <p:nvPr>
            <p:ph type="body" idx="1"/>
          </p:nvPr>
        </p:nvSpPr>
        <p:spPr>
          <a:xfrm>
            <a:off x="571500" y="1270216"/>
            <a:ext cx="8339587" cy="6225288"/>
          </a:xfrm>
          <a:noFill/>
          <a:ln/>
        </p:spPr>
        <p:txBody>
          <a:bodyPr vert="horz" lIns="92273" tIns="46136" rIns="92273" bIns="46136" rtlCol="0">
            <a:normAutofit/>
          </a:bodyPr>
          <a:lstStyle/>
          <a:p>
            <a:pPr>
              <a:spcBef>
                <a:spcPts val="0"/>
              </a:spcBef>
              <a:spcAft>
                <a:spcPts val="563"/>
              </a:spcAft>
            </a:pPr>
            <a:r>
              <a:rPr lang="fr-FR" sz="2625" dirty="0"/>
              <a:t>So far: </a:t>
            </a:r>
            <a:r>
              <a:rPr lang="fr-FR" sz="2625" dirty="0" err="1"/>
              <a:t>We</a:t>
            </a:r>
            <a:r>
              <a:rPr lang="fr-FR" sz="2625" dirty="0"/>
              <a:t> </a:t>
            </a:r>
            <a:r>
              <a:rPr lang="fr-FR" sz="2625" dirty="0" err="1"/>
              <a:t>had</a:t>
            </a:r>
            <a:r>
              <a:rPr lang="fr-FR" sz="2625" dirty="0"/>
              <a:t> </a:t>
            </a:r>
            <a:r>
              <a:rPr lang="fr-FR" sz="2625" u="sng" dirty="0" err="1"/>
              <a:t>different</a:t>
            </a:r>
            <a:r>
              <a:rPr lang="fr-FR" sz="2625" dirty="0"/>
              <a:t> </a:t>
            </a:r>
            <a:r>
              <a:rPr lang="fr-FR" sz="2625" dirty="0" err="1"/>
              <a:t>consumers</a:t>
            </a:r>
            <a:r>
              <a:rPr lang="fr-FR" sz="2625" dirty="0"/>
              <a:t> </a:t>
            </a:r>
            <a:r>
              <a:rPr lang="fr-FR" sz="2625" dirty="0" err="1"/>
              <a:t>with</a:t>
            </a:r>
            <a:r>
              <a:rPr lang="fr-FR" sz="2625" dirty="0"/>
              <a:t> </a:t>
            </a:r>
            <a:r>
              <a:rPr lang="fr-FR" sz="2625" dirty="0" err="1"/>
              <a:t>different</a:t>
            </a:r>
            <a:r>
              <a:rPr lang="fr-FR" sz="2625" dirty="0"/>
              <a:t> </a:t>
            </a:r>
            <a:r>
              <a:rPr lang="fr-FR" sz="2625" dirty="0" err="1"/>
              <a:t>demand</a:t>
            </a:r>
            <a:r>
              <a:rPr lang="fr-FR" sz="2625" dirty="0"/>
              <a:t> </a:t>
            </a:r>
            <a:r>
              <a:rPr lang="fr-FR" sz="2625" dirty="0" err="1"/>
              <a:t>curves</a:t>
            </a:r>
            <a:r>
              <a:rPr lang="fr-FR" sz="2625" dirty="0"/>
              <a:t> (marginal </a:t>
            </a:r>
            <a:r>
              <a:rPr lang="fr-FR" sz="2625" dirty="0" err="1"/>
              <a:t>personal</a:t>
            </a:r>
            <a:r>
              <a:rPr lang="fr-FR" sz="2625" dirty="0"/>
              <a:t> value)</a:t>
            </a:r>
          </a:p>
          <a:p>
            <a:pPr lvl="1">
              <a:spcBef>
                <a:spcPts val="0"/>
              </a:spcBef>
              <a:spcAft>
                <a:spcPts val="563"/>
              </a:spcAft>
            </a:pPr>
            <a:r>
              <a:rPr lang="fr-FR" sz="2425" dirty="0" err="1"/>
              <a:t>Extract</a:t>
            </a:r>
            <a:r>
              <a:rPr lang="fr-FR" sz="2425" dirty="0"/>
              <a:t> surplus via direct/indirect </a:t>
            </a:r>
            <a:r>
              <a:rPr lang="fr-FR" sz="2425" dirty="0" err="1"/>
              <a:t>price</a:t>
            </a:r>
            <a:r>
              <a:rPr lang="fr-FR" sz="2425" dirty="0"/>
              <a:t> discrimination</a:t>
            </a:r>
          </a:p>
          <a:p>
            <a:pPr>
              <a:spcBef>
                <a:spcPts val="0"/>
              </a:spcBef>
              <a:spcAft>
                <a:spcPts val="563"/>
              </a:spcAft>
            </a:pPr>
            <a:endParaRPr lang="fr-FR" sz="2625" dirty="0"/>
          </a:p>
          <a:p>
            <a:pPr>
              <a:spcBef>
                <a:spcPts val="0"/>
              </a:spcBef>
              <a:spcAft>
                <a:spcPts val="563"/>
              </a:spcAft>
            </a:pPr>
            <a:endParaRPr lang="fr-FR" sz="2625" dirty="0"/>
          </a:p>
          <a:p>
            <a:pPr>
              <a:spcBef>
                <a:spcPts val="0"/>
              </a:spcBef>
              <a:spcAft>
                <a:spcPts val="563"/>
              </a:spcAft>
            </a:pPr>
            <a:r>
              <a:rPr lang="fr-FR" sz="2625" dirty="0" err="1"/>
              <a:t>Now</a:t>
            </a:r>
            <a:r>
              <a:rPr lang="fr-FR" sz="2625" dirty="0"/>
              <a:t>: </a:t>
            </a:r>
            <a:r>
              <a:rPr lang="fr-FR" sz="2625" dirty="0" err="1"/>
              <a:t>Consumers</a:t>
            </a:r>
            <a:r>
              <a:rPr lang="fr-FR" sz="2625" dirty="0"/>
              <a:t> have </a:t>
            </a:r>
            <a:r>
              <a:rPr lang="fr-FR" sz="2625" u="sng" dirty="0" err="1"/>
              <a:t>identical</a:t>
            </a:r>
            <a:r>
              <a:rPr lang="fr-FR" sz="2625" dirty="0"/>
              <a:t> </a:t>
            </a:r>
            <a:r>
              <a:rPr lang="fr-FR" sz="2625" dirty="0" err="1"/>
              <a:t>demand</a:t>
            </a:r>
            <a:r>
              <a:rPr lang="fr-FR" sz="2625" dirty="0"/>
              <a:t> </a:t>
            </a:r>
            <a:r>
              <a:rPr lang="fr-FR" sz="2625" dirty="0" err="1"/>
              <a:t>curves</a:t>
            </a:r>
            <a:r>
              <a:rPr lang="fr-FR" sz="2625" dirty="0"/>
              <a:t>, but </a:t>
            </a:r>
            <a:r>
              <a:rPr lang="fr-FR" sz="2625" dirty="0" err="1"/>
              <a:t>each</a:t>
            </a:r>
            <a:r>
              <a:rPr lang="fr-FR" sz="2625" dirty="0"/>
              <a:t> of </a:t>
            </a:r>
            <a:r>
              <a:rPr lang="fr-FR" sz="2625" dirty="0" err="1"/>
              <a:t>them</a:t>
            </a:r>
            <a:r>
              <a:rPr lang="fr-FR" sz="2625" dirty="0"/>
              <a:t> </a:t>
            </a:r>
            <a:r>
              <a:rPr lang="fr-FR" sz="2625" dirty="0" err="1"/>
              <a:t>purchases</a:t>
            </a:r>
            <a:r>
              <a:rPr lang="fr-FR" sz="2625" dirty="0"/>
              <a:t> </a:t>
            </a:r>
            <a:r>
              <a:rPr lang="en-US" sz="2625" dirty="0">
                <a:solidFill>
                  <a:srgbClr val="C00000"/>
                </a:solidFill>
              </a:rPr>
              <a:t>multiple units</a:t>
            </a:r>
            <a:r>
              <a:rPr lang="en-US" sz="2625" dirty="0"/>
              <a:t> of the product</a:t>
            </a:r>
          </a:p>
          <a:p>
            <a:pPr lvl="1">
              <a:spcBef>
                <a:spcPts val="0"/>
              </a:spcBef>
              <a:spcAft>
                <a:spcPts val="563"/>
              </a:spcAft>
            </a:pPr>
            <a:r>
              <a:rPr lang="en-US" sz="2425" dirty="0"/>
              <a:t>We will focus on a “representative consumer”</a:t>
            </a:r>
          </a:p>
          <a:p>
            <a:pPr lvl="1">
              <a:lnSpc>
                <a:spcPct val="90000"/>
              </a:lnSpc>
              <a:buFontTx/>
              <a:buNone/>
            </a:pPr>
            <a:endParaRPr lang="en-US" sz="2531" dirty="0"/>
          </a:p>
          <a:p>
            <a:pPr lvl="1">
              <a:lnSpc>
                <a:spcPct val="90000"/>
              </a:lnSpc>
              <a:buFontTx/>
              <a:buNone/>
            </a:pP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3</a:t>
            </a:fld>
            <a:endParaRPr lang="en-US" dirty="0"/>
          </a:p>
        </p:txBody>
      </p:sp>
    </p:spTree>
    <p:custDataLst>
      <p:tags r:id="rId1"/>
    </p:custDataLst>
    <p:extLst>
      <p:ext uri="{BB962C8B-B14F-4D97-AF65-F5344CB8AC3E}">
        <p14:creationId xmlns:p14="http://schemas.microsoft.com/office/powerpoint/2010/main" val="1367425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noFill/>
          <a:ln/>
        </p:spPr>
        <p:txBody>
          <a:bodyPr vert="horz" lIns="92273" tIns="46136" rIns="92273" bIns="46136" rtlCol="0" anchor="ctr">
            <a:normAutofit/>
          </a:bodyPr>
          <a:lstStyle/>
          <a:p>
            <a:r>
              <a:rPr lang="en-US" dirty="0"/>
              <a:t>Advanced Pricing</a:t>
            </a:r>
          </a:p>
        </p:txBody>
      </p:sp>
      <p:sp>
        <p:nvSpPr>
          <p:cNvPr id="238595" name="Rectangle 3"/>
          <p:cNvSpPr>
            <a:spLocks noGrp="1" noChangeArrowheads="1"/>
          </p:cNvSpPr>
          <p:nvPr>
            <p:ph type="body" idx="1"/>
          </p:nvPr>
        </p:nvSpPr>
        <p:spPr>
          <a:xfrm>
            <a:off x="571500" y="1270216"/>
            <a:ext cx="8339587" cy="4681548"/>
          </a:xfrm>
          <a:noFill/>
          <a:ln/>
        </p:spPr>
        <p:txBody>
          <a:bodyPr vert="horz" lIns="92273" tIns="46136" rIns="92273" bIns="46136" rtlCol="0">
            <a:normAutofit/>
          </a:bodyPr>
          <a:lstStyle/>
          <a:p>
            <a:pPr>
              <a:spcBef>
                <a:spcPts val="0"/>
              </a:spcBef>
              <a:spcAft>
                <a:spcPts val="563"/>
              </a:spcAft>
            </a:pPr>
            <a:r>
              <a:rPr lang="fr-FR" sz="2625" dirty="0"/>
              <a:t>How to </a:t>
            </a:r>
            <a:r>
              <a:rPr lang="fr-FR" sz="2625" dirty="0" err="1"/>
              <a:t>extract</a:t>
            </a:r>
            <a:r>
              <a:rPr lang="fr-FR" sz="2625" dirty="0"/>
              <a:t> consumer surplus </a:t>
            </a:r>
            <a:r>
              <a:rPr lang="fr-FR" sz="2625" dirty="0" err="1"/>
              <a:t>from</a:t>
            </a:r>
            <a:r>
              <a:rPr lang="fr-FR" sz="2625" dirty="0"/>
              <a:t> </a:t>
            </a:r>
            <a:r>
              <a:rPr lang="fr-FR" sz="2625" dirty="0">
                <a:solidFill>
                  <a:srgbClr val="C00000"/>
                </a:solidFill>
              </a:rPr>
              <a:t>a </a:t>
            </a:r>
            <a:r>
              <a:rPr lang="fr-FR" sz="2625" dirty="0" err="1">
                <a:solidFill>
                  <a:srgbClr val="C00000"/>
                </a:solidFill>
              </a:rPr>
              <a:t>given</a:t>
            </a:r>
            <a:r>
              <a:rPr lang="fr-FR" sz="2625" dirty="0">
                <a:solidFill>
                  <a:srgbClr val="C00000"/>
                </a:solidFill>
              </a:rPr>
              <a:t> consumer</a:t>
            </a:r>
            <a:r>
              <a:rPr lang="fr-FR" sz="2625" dirty="0"/>
              <a:t> </a:t>
            </a:r>
            <a:r>
              <a:rPr lang="fr-FR" sz="2625" dirty="0" err="1"/>
              <a:t>who</a:t>
            </a:r>
            <a:r>
              <a:rPr lang="fr-FR" sz="2625" dirty="0"/>
              <a:t> </a:t>
            </a:r>
            <a:r>
              <a:rPr lang="en-US" sz="2625" dirty="0"/>
              <a:t>is prepared to </a:t>
            </a:r>
            <a:r>
              <a:rPr lang="en-US" sz="2625" dirty="0">
                <a:solidFill>
                  <a:srgbClr val="C00000"/>
                </a:solidFill>
              </a:rPr>
              <a:t>buy multiple units</a:t>
            </a:r>
          </a:p>
          <a:p>
            <a:pPr>
              <a:lnSpc>
                <a:spcPct val="150000"/>
              </a:lnSpc>
              <a:spcBef>
                <a:spcPts val="0"/>
              </a:spcBef>
              <a:spcAft>
                <a:spcPts val="563"/>
              </a:spcAft>
            </a:pPr>
            <a:r>
              <a:rPr lang="en-US" sz="2625" dirty="0"/>
              <a:t>Diminishing marginal personal value comes into play</a:t>
            </a:r>
          </a:p>
          <a:p>
            <a:pPr>
              <a:lnSpc>
                <a:spcPct val="150000"/>
              </a:lnSpc>
              <a:spcBef>
                <a:spcPts val="0"/>
              </a:spcBef>
              <a:spcAft>
                <a:spcPts val="563"/>
              </a:spcAft>
            </a:pPr>
            <a:r>
              <a:rPr lang="en-US" sz="2625" dirty="0"/>
              <a:t>We will study three variants of advanced pricing</a:t>
            </a:r>
          </a:p>
          <a:p>
            <a:pPr lvl="1">
              <a:lnSpc>
                <a:spcPct val="150000"/>
              </a:lnSpc>
              <a:spcBef>
                <a:spcPts val="0"/>
              </a:spcBef>
              <a:spcAft>
                <a:spcPts val="563"/>
              </a:spcAft>
            </a:pPr>
            <a:r>
              <a:rPr lang="en-US" sz="2625" dirty="0"/>
              <a:t>All-or-none offers (flat fee)</a:t>
            </a:r>
          </a:p>
          <a:p>
            <a:pPr lvl="1">
              <a:lnSpc>
                <a:spcPct val="150000"/>
              </a:lnSpc>
              <a:spcBef>
                <a:spcPts val="0"/>
              </a:spcBef>
              <a:spcAft>
                <a:spcPts val="563"/>
              </a:spcAft>
            </a:pPr>
            <a:r>
              <a:rPr lang="en-US" sz="2625" dirty="0"/>
              <a:t>Two-part tariffs (flat fee + usage fee)</a:t>
            </a:r>
          </a:p>
          <a:p>
            <a:pPr lvl="1">
              <a:lnSpc>
                <a:spcPct val="150000"/>
              </a:lnSpc>
              <a:spcBef>
                <a:spcPts val="0"/>
              </a:spcBef>
              <a:spcAft>
                <a:spcPts val="563"/>
              </a:spcAft>
            </a:pPr>
            <a:r>
              <a:rPr lang="en-US" sz="2625" dirty="0"/>
              <a:t>Block pricing</a:t>
            </a:r>
            <a:r>
              <a:rPr lang="en-US" sz="2531" dirty="0"/>
              <a:t>					</a:t>
            </a:r>
            <a:endParaRPr lang="en-US" sz="1406" dirty="0"/>
          </a:p>
        </p:txBody>
      </p:sp>
      <p:sp>
        <p:nvSpPr>
          <p:cNvPr id="4" name="Slide Number Placeholder 3"/>
          <p:cNvSpPr>
            <a:spLocks noGrp="1"/>
          </p:cNvSpPr>
          <p:nvPr>
            <p:ph type="sldNum" sz="quarter" idx="10"/>
          </p:nvPr>
        </p:nvSpPr>
        <p:spPr/>
        <p:txBody>
          <a:bodyPr/>
          <a:lstStyle/>
          <a:p>
            <a:fld id="{DBC38028-5B1C-49D3-BF22-2CE9385E6DA2}" type="slidenum">
              <a:rPr lang="en-US" smtClean="0"/>
              <a:pPr/>
              <a:t>4</a:t>
            </a:fld>
            <a:endParaRPr lang="en-US" dirty="0"/>
          </a:p>
        </p:txBody>
      </p:sp>
    </p:spTree>
    <p:custDataLst>
      <p:tags r:id="rId1"/>
    </p:custDataLst>
    <p:extLst>
      <p:ext uri="{BB962C8B-B14F-4D97-AF65-F5344CB8AC3E}">
        <p14:creationId xmlns:p14="http://schemas.microsoft.com/office/powerpoint/2010/main" val="2630370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5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59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859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859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8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7215"/>
            <a:ext cx="8399695" cy="1143000"/>
          </a:xfrm>
        </p:spPr>
        <p:txBody>
          <a:bodyPr>
            <a:normAutofit/>
          </a:bodyPr>
          <a:lstStyle/>
          <a:p>
            <a:r>
              <a:rPr lang="en-US" sz="3200" dirty="0">
                <a:latin typeface="Whitney Medium" pitchFamily="50" charset="0"/>
                <a:cs typeface="Whitney Medium" pitchFamily="50" charset="0"/>
              </a:rPr>
              <a:t>Example: Netflix</a:t>
            </a:r>
            <a:br>
              <a:rPr lang="en-US" sz="3200" dirty="0">
                <a:latin typeface="Whitney Medium" pitchFamily="50" charset="0"/>
                <a:cs typeface="Whitney Medium" pitchFamily="50" charset="0"/>
              </a:rPr>
            </a:br>
            <a:r>
              <a:rPr lang="en-US" sz="3200" dirty="0">
                <a:latin typeface="Whitney Medium" pitchFamily="50" charset="0"/>
                <a:cs typeface="Whitney Medium" pitchFamily="50" charset="0"/>
              </a:rPr>
              <a:t>flat fee </a:t>
            </a:r>
            <a:r>
              <a:rPr lang="en-US" sz="2700" dirty="0">
                <a:latin typeface="Whitney Medium" pitchFamily="50" charset="0"/>
                <a:cs typeface="Whitney Medium" pitchFamily="50" charset="0"/>
              </a:rPr>
              <a:t>(assume MC=0)</a:t>
            </a:r>
            <a:endParaRPr lang="en-US" sz="2700" dirty="0"/>
          </a:p>
        </p:txBody>
      </p:sp>
      <p:sp>
        <p:nvSpPr>
          <p:cNvPr id="45" name="Text Box 11"/>
          <p:cNvSpPr txBox="1">
            <a:spLocks noChangeArrowheads="1"/>
          </p:cNvSpPr>
          <p:nvPr/>
        </p:nvSpPr>
        <p:spPr bwMode="auto">
          <a:xfrm>
            <a:off x="3201642" y="5819639"/>
            <a:ext cx="801687" cy="467814"/>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b="0" dirty="0">
                <a:solidFill>
                  <a:srgbClr val="C00000"/>
                </a:solidFill>
                <a:latin typeface="+mn-lt"/>
                <a:cs typeface="Times New Roman" pitchFamily="18" charset="0"/>
              </a:rPr>
              <a:t>D</a:t>
            </a:r>
          </a:p>
        </p:txBody>
      </p:sp>
      <p:sp>
        <p:nvSpPr>
          <p:cNvPr id="26" name="Right Triangle 25"/>
          <p:cNvSpPr/>
          <p:nvPr/>
        </p:nvSpPr>
        <p:spPr>
          <a:xfrm>
            <a:off x="953771" y="2058404"/>
            <a:ext cx="2361151" cy="4290961"/>
          </a:xfrm>
          <a:prstGeom prst="r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latin typeface="Whitney-Book" pitchFamily="50" charset="0"/>
              <a:cs typeface="Whitney-Book" pitchFamily="50" charset="0"/>
            </a:endParaRPr>
          </a:p>
        </p:txBody>
      </p:sp>
      <p:sp>
        <p:nvSpPr>
          <p:cNvPr id="27" name="Content Placeholder 3"/>
          <p:cNvSpPr>
            <a:spLocks noGrp="1"/>
          </p:cNvSpPr>
          <p:nvPr>
            <p:ph idx="1"/>
          </p:nvPr>
        </p:nvSpPr>
        <p:spPr>
          <a:xfrm>
            <a:off x="4049474" y="1437640"/>
            <a:ext cx="5111039" cy="4525963"/>
          </a:xfrm>
        </p:spPr>
        <p:txBody>
          <a:bodyPr>
            <a:noAutofit/>
          </a:bodyPr>
          <a:lstStyle/>
          <a:p>
            <a:r>
              <a:rPr lang="en-US" sz="2000" dirty="0"/>
              <a:t>Yellow area = total value of unlimited movies for the consumer = maximum fee Netflix can charge </a:t>
            </a:r>
          </a:p>
          <a:p>
            <a:r>
              <a:rPr lang="fr-FR" sz="2000" dirty="0"/>
              <a:t>Area = </a:t>
            </a:r>
            <a:r>
              <a:rPr lang="en-US" sz="2000" dirty="0"/>
              <a:t>(16x2)/2 = 16</a:t>
            </a:r>
          </a:p>
          <a:p>
            <a:r>
              <a:rPr lang="en-US" sz="2000" dirty="0"/>
              <a:t>With a $16 flat flee for unlimited access, Netflix can attain $16 revenue – twice as much as under simple pricing (see Module 6 – Video 1) </a:t>
            </a:r>
          </a:p>
          <a:p>
            <a:r>
              <a:rPr lang="fr-FR" sz="2000" dirty="0"/>
              <a:t>The consumer </a:t>
            </a:r>
            <a:r>
              <a:rPr lang="fr-FR" sz="2000" dirty="0" err="1"/>
              <a:t>will</a:t>
            </a:r>
            <a:r>
              <a:rPr lang="fr-FR" sz="2000" dirty="0"/>
              <a:t> </a:t>
            </a:r>
            <a:r>
              <a:rPr lang="fr-FR" sz="2000" dirty="0" err="1"/>
              <a:t>watch</a:t>
            </a:r>
            <a:r>
              <a:rPr lang="fr-FR" sz="2000" dirty="0"/>
              <a:t> 16 </a:t>
            </a:r>
            <a:r>
              <a:rPr lang="fr-FR" sz="2000" dirty="0" err="1"/>
              <a:t>movies</a:t>
            </a:r>
            <a:r>
              <a:rPr lang="fr-FR" sz="2000" dirty="0"/>
              <a:t> </a:t>
            </a:r>
            <a:r>
              <a:rPr lang="fr-FR" sz="2000" dirty="0" err="1"/>
              <a:t>under</a:t>
            </a:r>
            <a:r>
              <a:rPr lang="fr-FR" sz="2000" dirty="0"/>
              <a:t> </a:t>
            </a:r>
            <a:r>
              <a:rPr lang="fr-FR" sz="2000" dirty="0" err="1"/>
              <a:t>this</a:t>
            </a:r>
            <a:r>
              <a:rPr lang="fr-FR" sz="2000" dirty="0"/>
              <a:t> </a:t>
            </a:r>
            <a:r>
              <a:rPr lang="fr-FR" sz="2000" dirty="0" err="1"/>
              <a:t>fixed-fee-unlimited-access</a:t>
            </a:r>
            <a:r>
              <a:rPr lang="fr-FR" sz="2000" dirty="0"/>
              <a:t> system</a:t>
            </a:r>
          </a:p>
          <a:p>
            <a:r>
              <a:rPr lang="en-US" sz="2000" dirty="0"/>
              <a:t>Consumer surplus in this case = 0</a:t>
            </a:r>
          </a:p>
          <a:p>
            <a:r>
              <a:rPr lang="fr-FR" sz="2000" dirty="0"/>
              <a:t>Note: </a:t>
            </a:r>
            <a:r>
              <a:rPr lang="fr-FR" sz="2000" dirty="0" err="1"/>
              <a:t>only</a:t>
            </a:r>
            <a:r>
              <a:rPr lang="fr-FR" sz="2000" dirty="0"/>
              <a:t> </a:t>
            </a:r>
            <a:r>
              <a:rPr lang="fr-FR" sz="2000" dirty="0" err="1"/>
              <a:t>makes</a:t>
            </a:r>
            <a:r>
              <a:rPr lang="fr-FR" sz="2000" dirty="0"/>
              <a:t> </a:t>
            </a:r>
            <a:r>
              <a:rPr lang="fr-FR" sz="2000" dirty="0" err="1"/>
              <a:t>sense</a:t>
            </a:r>
            <a:r>
              <a:rPr lang="fr-FR" sz="2000" dirty="0"/>
              <a:t> </a:t>
            </a:r>
            <a:r>
              <a:rPr lang="fr-FR" sz="2000" dirty="0" err="1"/>
              <a:t>when</a:t>
            </a:r>
            <a:r>
              <a:rPr lang="fr-FR" sz="2000" dirty="0"/>
              <a:t> MC=0</a:t>
            </a:r>
            <a:endParaRPr lang="en-US" sz="2000" dirty="0"/>
          </a:p>
          <a:p>
            <a:pPr marL="0" indent="0">
              <a:buNone/>
            </a:pPr>
            <a:endParaRPr lang="en-US" sz="1400" dirty="0"/>
          </a:p>
        </p:txBody>
      </p:sp>
      <p:sp>
        <p:nvSpPr>
          <p:cNvPr id="3" name="Slide Number Placeholder 2"/>
          <p:cNvSpPr>
            <a:spLocks noGrp="1"/>
          </p:cNvSpPr>
          <p:nvPr>
            <p:ph type="sldNum" sz="quarter" idx="12"/>
          </p:nvPr>
        </p:nvSpPr>
        <p:spPr/>
        <p:txBody>
          <a:bodyPr/>
          <a:lstStyle/>
          <a:p>
            <a:fld id="{0F3206DB-9488-D04D-BDD1-A7C9D84C4579}" type="slidenum">
              <a:rPr lang="en-US" smtClean="0"/>
              <a:t>5</a:t>
            </a:fld>
            <a:endParaRPr lang="en-US"/>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endParaRPr lang="en-US" b="0">
              <a:latin typeface="+mn-lt"/>
              <a:cs typeface="Times New Roman" pitchFamily="18"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endParaRPr lang="en-US" b="0">
              <a:latin typeface="+mn-lt"/>
              <a:cs typeface="Times New Roman" pitchFamily="18" charset="0"/>
            </a:endParaRPr>
          </a:p>
        </p:txBody>
      </p:sp>
      <p:sp>
        <p:nvSpPr>
          <p:cNvPr id="40" name="Text Box 5"/>
          <p:cNvSpPr txBox="1">
            <a:spLocks noChangeArrowheads="1"/>
          </p:cNvSpPr>
          <p:nvPr/>
        </p:nvSpPr>
        <p:spPr bwMode="auto">
          <a:xfrm>
            <a:off x="425664" y="985838"/>
            <a:ext cx="520384" cy="375481"/>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b="0" i="1" dirty="0">
                <a:latin typeface="+mn-lt"/>
                <a:cs typeface="Times New Roman" pitchFamily="18" charset="0"/>
              </a:rPr>
              <a:t>P</a:t>
            </a:r>
          </a:p>
        </p:txBody>
      </p:sp>
      <p:sp>
        <p:nvSpPr>
          <p:cNvPr id="41" name="Text Box 6"/>
          <p:cNvSpPr txBox="1">
            <a:spLocks noChangeArrowheads="1"/>
          </p:cNvSpPr>
          <p:nvPr/>
        </p:nvSpPr>
        <p:spPr bwMode="auto">
          <a:xfrm>
            <a:off x="5759134" y="6363653"/>
            <a:ext cx="1490663" cy="406259"/>
          </a:xfrm>
          <a:prstGeom prst="rect">
            <a:avLst/>
          </a:prstGeom>
          <a:noFill/>
          <a:ln w="9525">
            <a:noFill/>
            <a:miter lim="800000"/>
            <a:headEnd/>
            <a:tailEnd/>
          </a:ln>
          <a:effectLst/>
        </p:spPr>
        <p:txBody>
          <a:bodyPr lIns="97530" tIns="48765" rIns="97530" bIns="48765">
            <a:spAutoFit/>
          </a:bodyPr>
          <a:lstStyle/>
          <a:p>
            <a:pPr defTabSz="974725">
              <a:spcBef>
                <a:spcPct val="50000"/>
              </a:spcBef>
            </a:pPr>
            <a:r>
              <a:rPr lang="en-US" sz="2000" b="0" i="1" dirty="0">
                <a:latin typeface="+mn-lt"/>
                <a:cs typeface="Times New Roman" pitchFamily="18" charset="0"/>
              </a:rPr>
              <a:t>Movies</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endParaRPr lang="en-US" b="0" dirty="0">
              <a:latin typeface="+mn-lt"/>
              <a:cs typeface="Times New Roman" pitchFamily="18" charset="0"/>
            </a:endParaRPr>
          </a:p>
        </p:txBody>
      </p:sp>
      <p:sp>
        <p:nvSpPr>
          <p:cNvPr id="56" name="TextBox 55"/>
          <p:cNvSpPr txBox="1"/>
          <p:nvPr/>
        </p:nvSpPr>
        <p:spPr>
          <a:xfrm>
            <a:off x="402772" y="1793240"/>
            <a:ext cx="704005" cy="369332"/>
          </a:xfrm>
          <a:prstGeom prst="rect">
            <a:avLst/>
          </a:prstGeom>
          <a:noFill/>
        </p:spPr>
        <p:txBody>
          <a:bodyPr wrap="square" rtlCol="0">
            <a:spAutoFit/>
          </a:bodyPr>
          <a:lstStyle/>
          <a:p>
            <a:r>
              <a:rPr lang="en-US" b="0" dirty="0">
                <a:latin typeface="+mn-lt"/>
              </a:rPr>
              <a:t>$2</a:t>
            </a:r>
          </a:p>
        </p:txBody>
      </p:sp>
      <p:sp>
        <p:nvSpPr>
          <p:cNvPr id="57" name="TextBox 56"/>
          <p:cNvSpPr txBox="1"/>
          <p:nvPr/>
        </p:nvSpPr>
        <p:spPr>
          <a:xfrm>
            <a:off x="3170237" y="6314440"/>
            <a:ext cx="574360" cy="369332"/>
          </a:xfrm>
          <a:prstGeom prst="rect">
            <a:avLst/>
          </a:prstGeom>
          <a:noFill/>
        </p:spPr>
        <p:txBody>
          <a:bodyPr wrap="square" rtlCol="0">
            <a:spAutoFit/>
          </a:bodyPr>
          <a:lstStyle/>
          <a:p>
            <a:r>
              <a:rPr lang="en-US" b="0" dirty="0">
                <a:latin typeface="+mn-lt"/>
              </a:rPr>
              <a:t>16</a:t>
            </a:r>
          </a:p>
        </p:txBody>
      </p:sp>
      <p:sp>
        <p:nvSpPr>
          <p:cNvPr id="58" name="Rectangle 57"/>
          <p:cNvSpPr/>
          <p:nvPr/>
        </p:nvSpPr>
        <p:spPr>
          <a:xfrm>
            <a:off x="1001397" y="4684641"/>
            <a:ext cx="1186287" cy="707886"/>
          </a:xfrm>
          <a:prstGeom prst="rect">
            <a:avLst/>
          </a:prstGeom>
        </p:spPr>
        <p:txBody>
          <a:bodyPr wrap="none">
            <a:spAutoFit/>
          </a:bodyPr>
          <a:lstStyle/>
          <a:p>
            <a:pPr algn="ctr"/>
            <a:r>
              <a:rPr lang="en-US" sz="2000" b="0" dirty="0">
                <a:latin typeface="+mn-lt"/>
                <a:cs typeface="Times New Roman" pitchFamily="18" charset="0"/>
              </a:rPr>
              <a:t>Revenues</a:t>
            </a:r>
          </a:p>
          <a:p>
            <a:pPr algn="ctr"/>
            <a:r>
              <a:rPr lang="en-US" sz="2000" b="0" dirty="0">
                <a:latin typeface="+mn-lt"/>
                <a:cs typeface="Times New Roman" pitchFamily="18" charset="0"/>
              </a:rPr>
              <a:t>=$16</a:t>
            </a:r>
            <a:endParaRPr lang="en-US" sz="2000" dirty="0">
              <a:latin typeface="+mn-lt"/>
            </a:endParaRPr>
          </a:p>
        </p:txBody>
      </p:sp>
      <p:sp>
        <p:nvSpPr>
          <p:cNvPr id="23" name="Text Box 11">
            <a:extLst>
              <a:ext uri="{FF2B5EF4-FFF2-40B4-BE49-F238E27FC236}">
                <a16:creationId xmlns:a16="http://schemas.microsoft.com/office/drawing/2014/main" id="{3DA96C58-4671-5844-8121-6F4E638935FC}"/>
              </a:ext>
            </a:extLst>
          </p:cNvPr>
          <p:cNvSpPr txBox="1">
            <a:spLocks noChangeArrowheads="1"/>
          </p:cNvSpPr>
          <p:nvPr/>
        </p:nvSpPr>
        <p:spPr bwMode="auto">
          <a:xfrm>
            <a:off x="1145300" y="1772877"/>
            <a:ext cx="1968075" cy="467814"/>
          </a:xfrm>
          <a:prstGeom prst="rect">
            <a:avLst/>
          </a:prstGeom>
          <a:noFill/>
          <a:ln w="9525">
            <a:noFill/>
            <a:miter lim="800000"/>
            <a:headEnd/>
            <a:tailEnd/>
          </a:ln>
          <a:effectLst/>
        </p:spPr>
        <p:txBody>
          <a:bodyPr wrap="square" lIns="97530" tIns="48765" rIns="97530" bIns="48765">
            <a:spAutoFit/>
          </a:bodyPr>
          <a:lstStyle/>
          <a:p>
            <a:pPr defTabSz="974725">
              <a:spcBef>
                <a:spcPct val="50000"/>
              </a:spcBef>
            </a:pPr>
            <a:r>
              <a:rPr lang="en-US" sz="2400" b="0" i="1" dirty="0">
                <a:solidFill>
                  <a:srgbClr val="C00000"/>
                </a:solidFill>
                <a:latin typeface="+mn-lt"/>
                <a:cs typeface="Times New Roman" pitchFamily="18" charset="0"/>
              </a:rPr>
              <a:t>P=2-Q/8</a:t>
            </a:r>
          </a:p>
        </p:txBody>
      </p:sp>
    </p:spTree>
    <p:extLst>
      <p:ext uri="{BB962C8B-B14F-4D97-AF65-F5344CB8AC3E}">
        <p14:creationId xmlns:p14="http://schemas.microsoft.com/office/powerpoint/2010/main" val="612339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6" grpId="0" animBg="1"/>
      <p:bldP spid="38" grpId="0" animBg="1"/>
      <p:bldP spid="39" grpId="0" animBg="1"/>
      <p:bldP spid="40" grpId="0"/>
      <p:bldP spid="41" grpId="0"/>
      <p:bldP spid="46" grpId="0" animBg="1"/>
      <p:bldP spid="56" grpId="0"/>
      <p:bldP spid="57" grpId="0"/>
      <p:bldP spid="58"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p:txBody>
          <a:bodyPr/>
          <a:lstStyle/>
          <a:p>
            <a:r>
              <a:rPr lang="en-US" dirty="0"/>
              <a:t>Netflix pricing strategy</a:t>
            </a:r>
          </a:p>
        </p:txBody>
      </p:sp>
      <p:pic>
        <p:nvPicPr>
          <p:cNvPr id="8" name="Picture 2" descr="http://www.top10base.com/wp-content/uploads/2015/05/tips-to-enhance-Netflix.jpg">
            <a:extLst>
              <a:ext uri="{FF2B5EF4-FFF2-40B4-BE49-F238E27FC236}">
                <a16:creationId xmlns:a16="http://schemas.microsoft.com/office/drawing/2014/main" id="{EE7D7327-09E0-42A5-93A1-D983C70359B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457200" y="4286509"/>
            <a:ext cx="3773340" cy="2608044"/>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a:extLst>
              <a:ext uri="{FF2B5EF4-FFF2-40B4-BE49-F238E27FC236}">
                <a16:creationId xmlns:a16="http://schemas.microsoft.com/office/drawing/2014/main" id="{0B93A56F-13FA-4087-AE8D-35FDCCECFA17}"/>
              </a:ext>
            </a:extLst>
          </p:cNvPr>
          <p:cNvPicPr>
            <a:picLocks noChangeAspect="1"/>
          </p:cNvPicPr>
          <p:nvPr/>
        </p:nvPicPr>
        <p:blipFill>
          <a:blip r:embed="rId5"/>
          <a:stretch>
            <a:fillRect/>
          </a:stretch>
        </p:blipFill>
        <p:spPr>
          <a:xfrm>
            <a:off x="739934" y="1087453"/>
            <a:ext cx="7664132" cy="3049649"/>
          </a:xfrm>
          <a:prstGeom prst="rect">
            <a:avLst/>
          </a:prstGeom>
        </p:spPr>
      </p:pic>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4128628" y="4585322"/>
            <a:ext cx="4653672" cy="2123691"/>
          </a:xfrm>
        </p:spPr>
        <p:txBody>
          <a:bodyPr>
            <a:normAutofit/>
          </a:bodyPr>
          <a:lstStyle/>
          <a:p>
            <a:pPr lvl="1">
              <a:spcBef>
                <a:spcPts val="0"/>
              </a:spcBef>
              <a:spcAft>
                <a:spcPts val="563"/>
              </a:spcAft>
            </a:pPr>
            <a:r>
              <a:rPr lang="en-US" sz="2400" dirty="0">
                <a:latin typeface="Whitney-Book" pitchFamily="50" charset="0"/>
                <a:cs typeface="Whitney-Book" pitchFamily="50" charset="0"/>
              </a:rPr>
              <a:t>Note that this pricing strategy is a mix of flat fee and versioning</a:t>
            </a:r>
          </a:p>
        </p:txBody>
      </p:sp>
    </p:spTree>
    <p:extLst>
      <p:ext uri="{BB962C8B-B14F-4D97-AF65-F5344CB8AC3E}">
        <p14:creationId xmlns:p14="http://schemas.microsoft.com/office/powerpoint/2010/main" val="418195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9419-9C96-406B-860C-8268561CC51B}"/>
              </a:ext>
            </a:extLst>
          </p:cNvPr>
          <p:cNvSpPr>
            <a:spLocks noGrp="1"/>
          </p:cNvSpPr>
          <p:nvPr>
            <p:ph type="title"/>
          </p:nvPr>
        </p:nvSpPr>
        <p:spPr>
          <a:xfrm>
            <a:off x="119743" y="23359"/>
            <a:ext cx="8904514" cy="1143000"/>
          </a:xfrm>
        </p:spPr>
        <p:txBody>
          <a:bodyPr/>
          <a:lstStyle/>
          <a:p>
            <a:r>
              <a:rPr lang="en-US" dirty="0"/>
              <a:t>What can Go Wrong with Flat Rates…</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C0D216F7-F3DF-4B22-96F2-390B6F1316F8}"/>
                  </a:ext>
                </a:extLst>
              </p:cNvPr>
              <p:cNvSpPr>
                <a:spLocks noGrp="1" noChangeArrowheads="1"/>
              </p:cNvSpPr>
              <p:nvPr>
                <p:ph idx="1"/>
              </p:nvPr>
            </p:nvSpPr>
            <p:spPr>
              <a:xfrm>
                <a:off x="119743" y="3135086"/>
                <a:ext cx="8662557" cy="1766967"/>
              </a:xfrm>
            </p:spPr>
            <p:txBody>
              <a:bodyPr>
                <a:normAutofit/>
              </a:bodyPr>
              <a:lstStyle/>
              <a:p>
                <a:pPr lvl="1">
                  <a:spcBef>
                    <a:spcPts val="0"/>
                  </a:spcBef>
                  <a:spcAft>
                    <a:spcPts val="563"/>
                  </a:spcAft>
                </a:pPr>
                <a:r>
                  <a:rPr lang="en-US" sz="2400" dirty="0">
                    <a:latin typeface="Whitney-Book" pitchFamily="50" charset="0"/>
                    <a:cs typeface="Whitney-Book" pitchFamily="50" charset="0"/>
                  </a:rPr>
                  <a:t>If </a:t>
                </a:r>
                <a14:m>
                  <m:oMath xmlns:m="http://schemas.openxmlformats.org/officeDocument/2006/math">
                    <m:r>
                      <a:rPr lang="en-US" sz="2400" i="1">
                        <a:latin typeface="Cambria Math" panose="02040503050406030204" pitchFamily="18" charset="0"/>
                      </a:rPr>
                      <m:t>𝑀𝐶</m:t>
                    </m:r>
                    <m:r>
                      <a:rPr lang="en-US" sz="2400" b="0" i="0" smtClean="0">
                        <a:latin typeface="Cambria Math" panose="02040503050406030204" pitchFamily="18" charset="0"/>
                      </a:rPr>
                      <m:t>&gt;0</m:t>
                    </m:r>
                  </m:oMath>
                </a14:m>
                <a:r>
                  <a:rPr lang="en-US" sz="2400" dirty="0">
                    <a:latin typeface="Whitney-Book" pitchFamily="50" charset="0"/>
                    <a:cs typeface="Whitney-Book" pitchFamily="50" charset="0"/>
                  </a:rPr>
                  <a:t>, offering a flat rate with unlimited access is a bad idea: Consumers will use ‘too much’ of the service</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This can be solved by two-part tariffs </a:t>
                </a:r>
              </a:p>
            </p:txBody>
          </p:sp>
        </mc:Choice>
        <mc:Fallback xmlns="">
          <p:sp>
            <p:nvSpPr>
              <p:cNvPr id="9" name="Rectangle 3">
                <a:extLst>
                  <a:ext uri="{FF2B5EF4-FFF2-40B4-BE49-F238E27FC236}">
                    <a16:creationId xmlns:a16="http://schemas.microsoft.com/office/drawing/2014/main" id="{C0D216F7-F3DF-4B22-96F2-390B6F1316F8}"/>
                  </a:ext>
                </a:extLst>
              </p:cNvPr>
              <p:cNvSpPr>
                <a:spLocks noGrp="1" noRot="1" noChangeAspect="1" noMove="1" noResize="1" noEditPoints="1" noAdjustHandles="1" noChangeArrowheads="1" noChangeShapeType="1" noTextEdit="1"/>
              </p:cNvSpPr>
              <p:nvPr>
                <p:ph idx="1"/>
              </p:nvPr>
            </p:nvSpPr>
            <p:spPr>
              <a:xfrm>
                <a:off x="119743" y="3135086"/>
                <a:ext cx="8662557" cy="1766967"/>
              </a:xfrm>
              <a:blipFill>
                <a:blip r:embed="rId3"/>
                <a:stretch>
                  <a:fillRect t="-5172" b="-620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155237A2-B1A7-4F85-B654-75E5D752A65C}"/>
              </a:ext>
            </a:extLst>
          </p:cNvPr>
          <p:cNvPicPr>
            <a:picLocks noChangeAspect="1"/>
          </p:cNvPicPr>
          <p:nvPr/>
        </p:nvPicPr>
        <p:blipFill>
          <a:blip r:embed="rId4"/>
          <a:stretch>
            <a:fillRect/>
          </a:stretch>
        </p:blipFill>
        <p:spPr>
          <a:xfrm>
            <a:off x="951420" y="1158886"/>
            <a:ext cx="7735380" cy="1619476"/>
          </a:xfrm>
          <a:prstGeom prst="rect">
            <a:avLst/>
          </a:prstGeom>
        </p:spPr>
      </p:pic>
    </p:spTree>
    <p:extLst>
      <p:ext uri="{BB962C8B-B14F-4D97-AF65-F5344CB8AC3E}">
        <p14:creationId xmlns:p14="http://schemas.microsoft.com/office/powerpoint/2010/main" val="74018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77638</TotalTime>
  <Words>566</Words>
  <Application>Microsoft Office PowerPoint</Application>
  <PresentationFormat>On-screen Show (4:3)</PresentationFormat>
  <Paragraphs>69</Paragraphs>
  <Slides>7</Slides>
  <Notes>7</Notes>
  <HiddenSlides>0</HiddenSlides>
  <MMClips>0</MMClips>
  <ScaleCrop>false</ScaleCrop>
  <HeadingPairs>
    <vt:vector size="6" baseType="variant">
      <vt:variant>
        <vt:lpstr>Fonts Used</vt:lpstr>
      </vt:variant>
      <vt:variant>
        <vt:i4>10</vt:i4>
      </vt:variant>
      <vt:variant>
        <vt:lpstr>Theme</vt:lpstr>
      </vt:variant>
      <vt:variant>
        <vt:i4>6</vt:i4>
      </vt:variant>
      <vt:variant>
        <vt:lpstr>Slide Titles</vt:lpstr>
      </vt:variant>
      <vt:variant>
        <vt:i4>7</vt:i4>
      </vt:variant>
    </vt:vector>
  </HeadingPairs>
  <TitlesOfParts>
    <vt:vector size="23" baseType="lpstr">
      <vt:lpstr>Arial</vt:lpstr>
      <vt:lpstr>Calibri</vt:lpstr>
      <vt:lpstr>Cambria Math</vt:lpstr>
      <vt:lpstr>Lucida Grande</vt:lpstr>
      <vt:lpstr>Times New Roman</vt:lpstr>
      <vt:lpstr>Trebuchet MS</vt:lpstr>
      <vt:lpstr>Whitney Book</vt:lpstr>
      <vt:lpstr>Whitney Medium</vt:lpstr>
      <vt:lpstr>Whitney-Book</vt:lpstr>
      <vt:lpstr>Whitney-Medium</vt:lpstr>
      <vt:lpstr>2_Custom Design</vt:lpstr>
      <vt:lpstr>Custom Design</vt:lpstr>
      <vt:lpstr>3_Custom Design</vt:lpstr>
      <vt:lpstr>5_Custom Design</vt:lpstr>
      <vt:lpstr>4_Custom Design</vt:lpstr>
      <vt:lpstr>12_Custom Design</vt:lpstr>
      <vt:lpstr>Module 6 – Video 5 Flat fee pricing  </vt:lpstr>
      <vt:lpstr>OUTLINE of module 6 </vt:lpstr>
      <vt:lpstr>Context</vt:lpstr>
      <vt:lpstr>Advanced Pricing</vt:lpstr>
      <vt:lpstr>Example: Netflix flat fee (assume MC=0)</vt:lpstr>
      <vt:lpstr>Netflix pricing strategy</vt:lpstr>
      <vt:lpstr>What can Go Wrong with Flat Rates…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1300</cp:revision>
  <cp:lastPrinted>2019-09-13T20:44:29Z</cp:lastPrinted>
  <dcterms:created xsi:type="dcterms:W3CDTF">2013-01-24T22:32:50Z</dcterms:created>
  <dcterms:modified xsi:type="dcterms:W3CDTF">2022-01-31T21:29:51Z</dcterms:modified>
  <cp:category/>
</cp:coreProperties>
</file>