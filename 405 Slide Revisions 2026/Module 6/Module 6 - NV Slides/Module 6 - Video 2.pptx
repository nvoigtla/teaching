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 id="2147483819" r:id="rId5"/>
    <p:sldMasterId id="2147483835" r:id="rId6"/>
  </p:sldMasterIdLst>
  <p:notesMasterIdLst>
    <p:notesMasterId r:id="rId13"/>
  </p:notesMasterIdLst>
  <p:handoutMasterIdLst>
    <p:handoutMasterId r:id="rId14"/>
  </p:handoutMasterIdLst>
  <p:sldIdLst>
    <p:sldId id="919" r:id="rId7"/>
    <p:sldId id="917" r:id="rId8"/>
    <p:sldId id="773" r:id="rId9"/>
    <p:sldId id="737" r:id="rId10"/>
    <p:sldId id="833" r:id="rId11"/>
    <p:sldId id="918" r:id="rId12"/>
  </p:sldIdLst>
  <p:sldSz cx="9144000" cy="6858000" type="screen4x3"/>
  <p:notesSz cx="7315200" cy="9601200"/>
  <p:custDataLst>
    <p:tags r:id="rId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1" clrIdx="0">
    <p:extLst>
      <p:ext uri="{19B8F6BF-5375-455C-9EA6-DF929625EA0E}">
        <p15:presenceInfo xmlns:p15="http://schemas.microsoft.com/office/powerpoint/2012/main" userId="S::giulpao@ad.ucla.edu::132bae3d-d350-492a-913b-ab702ff24d3d" providerId="AD"/>
      </p:ext>
    </p:extLst>
  </p:cmAuthor>
  <p:cmAuthor id="2" name="CLEMENCE TRICAUD" initials="CT" lastIdx="41" clrIdx="1">
    <p:extLst>
      <p:ext uri="{19B8F6BF-5375-455C-9EA6-DF929625EA0E}">
        <p15:presenceInfo xmlns:p15="http://schemas.microsoft.com/office/powerpoint/2012/main" userId="S-1-5-21-1914341619-2963887621-4192079504-39280" providerId="AD"/>
      </p:ext>
    </p:extLst>
  </p:cmAuthor>
  <p:cmAuthor id="3" name="Wasserman, Melanie" initials="WM" lastIdx="20"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35"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7058" autoAdjust="0"/>
  </p:normalViewPr>
  <p:slideViewPr>
    <p:cSldViewPr snapToGrid="0" snapToObjects="1">
      <p:cViewPr varScale="1">
        <p:scale>
          <a:sx n="84" d="100"/>
          <a:sy n="84" d="100"/>
        </p:scale>
        <p:origin x="2262" y="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1/26/2022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1/26/2022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200319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In an ideal world you would like to charge </a:t>
            </a:r>
            <a:r>
              <a:rPr lang="en-US" sz="1200" b="1" dirty="0"/>
              <a:t>individual prices</a:t>
            </a:r>
            <a:r>
              <a:rPr lang="en-US" sz="1200" dirty="0"/>
              <a:t> </a:t>
            </a:r>
            <a:r>
              <a:rPr lang="en-US" sz="1200" b="1" dirty="0"/>
              <a:t>to mop up all the surplus</a:t>
            </a:r>
            <a:r>
              <a:rPr lang="en-US" sz="1200" dirty="0"/>
              <a:t> – to capture all the area beneath the Demand curve in the form of corporate revenue. This type of customized pricing represents the ideal. Customized to what? To the buyers’ valuations! This is difficult to do in practice for a variety of reasons: e.g., arbitrage, legal restrictions.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3783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In an ideal world you would like to charge </a:t>
            </a:r>
            <a:r>
              <a:rPr lang="en-US" sz="1200" b="1" dirty="0"/>
              <a:t>individual prices</a:t>
            </a:r>
            <a:r>
              <a:rPr lang="en-US" sz="1200" dirty="0"/>
              <a:t> </a:t>
            </a:r>
            <a:r>
              <a:rPr lang="en-US" sz="1200" b="1" dirty="0"/>
              <a:t>to mop up all the surplus</a:t>
            </a:r>
            <a:r>
              <a:rPr lang="en-US" sz="1200" dirty="0"/>
              <a:t> – to capture all the area beneath the Demand curve in the form of corporate revenue. This type of customized pricing represents the ideal. Customized to what? To the buyers’ valuations! This is difficult to do in practice for a variety of reasons: e.g., arbitrage, legal restrictions.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84371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3524087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1F899A1-0085-4047-8521-4C6E8849564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87645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2245513-CCD9-BF44-AF3C-BE8B0074F8E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2655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E4E69F-4642-024C-8218-7783E0016BBC}"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321472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935AA-3EEA-4E4A-AAA8-EB53B8142E5C}"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778760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FC2FF5-857A-9348-8EB2-11D856F360AB}" type="datetime1">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618623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E36F-906D-344A-A949-C52B74620049}" type="datetime1">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633386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CB588-7288-D04E-904A-CDCE244D580E}" type="datetime1">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901522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D5D81-43A6-3F49-B307-3F9BBA124F23}"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169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B1EA0-6DD3-504A-8908-E971883387B0}"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366965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DB6B5274-5AC2-BC41-98DA-ADE40ECE0F39}"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4604069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E15BFCA8-EF2C-1647-8362-8B88070EA177}"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774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1D63F98-41A7-214D-9D1E-B369563BBE09}"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089393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C14E1FBA-CBBF-0E4F-B88D-32EF928D3AC7}"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7892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423D41A-B76F-734D-8195-99F8976B7155}"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7381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DBC38028-5B1C-49D3-BF22-2CE9385E6DA2}"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678100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6EC633E-2298-204E-AACF-E24EFF406AA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8113906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56AAD53-932E-6744-A7B5-E9D56713AA93}"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4457096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DFCC7-1B5D-4E46-84A5-178B98047B80}"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933631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62845D-97EE-F445-AA82-55CB331164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57974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250BF4-8988-BE4B-A0D9-5982AE90C1B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552063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871F8-0597-BE4B-8995-43A43442923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640143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C6356-ED15-9E40-8BB7-7D9094231F3D}"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496388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BFDCC3-7787-B94B-8E9A-4B130A91D44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474354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137E5-D1D0-9749-AFE5-370792A74CE6}"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858013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4B506F6A-AC1A-774B-A74A-33E90EC9254E}"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532282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81658234-11CC-E84A-A484-707AFF7FC1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310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3A8A679-79CD-7C4C-B43E-7A7F72D5077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643747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29674BE0-4447-9D40-9A24-D851C2136A2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9860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E5AD2E-853D-3E4B-8412-10F295485E76}"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450678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393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4.gif"/><Relationship Id="rId2" Type="http://schemas.openxmlformats.org/officeDocument/2006/relationships/slideLayout" Target="../slideLayouts/slideLayout43.xml"/><Relationship Id="rId16" Type="http://schemas.openxmlformats.org/officeDocument/2006/relationships/theme" Target="../theme/theme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image" Target="../media/image4.gif"/><Relationship Id="rId2" Type="http://schemas.openxmlformats.org/officeDocument/2006/relationships/slideLayout" Target="../slideLayouts/slideLayout58.xml"/><Relationship Id="rId16" Type="http://schemas.openxmlformats.org/officeDocument/2006/relationships/theme" Target="../theme/theme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1/26/2022</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4078B1F-B2EE-D743-B0A9-AD5D4736074E}" type="datetime1">
              <a:rPr lang="en-US" smtClean="0"/>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9736511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E90A6E0-D48F-F943-96BF-CEC2ED7DA21A}"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2087325818"/>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fontScale="90000"/>
          </a:bodyPr>
          <a:lstStyle/>
          <a:p>
            <a:r>
              <a:rPr lang="en-US" dirty="0"/>
              <a:t>Module 6 – Video 2</a:t>
            </a:r>
            <a:br>
              <a:rPr lang="en-US" dirty="0"/>
            </a:br>
            <a:r>
              <a:rPr lang="en-US" dirty="0"/>
              <a:t>First-Degree Price Discrimination</a:t>
            </a:r>
            <a:br>
              <a:rPr lang="en-US" dirty="0"/>
            </a:b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6</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E9C01BFD-953B-4576-ACA6-E6FE7DBA0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01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sz="2810" b="1" dirty="0"/>
              <a:t>Direct </a:t>
            </a:r>
            <a:r>
              <a:rPr lang="fr-FR" sz="2810" b="1" dirty="0" err="1"/>
              <a:t>price</a:t>
            </a:r>
            <a:r>
              <a:rPr lang="fr-FR" sz="2810" b="1" dirty="0"/>
              <a:t> discrimination</a:t>
            </a:r>
          </a:p>
          <a:p>
            <a:pPr lvl="1">
              <a:lnSpc>
                <a:spcPct val="120000"/>
              </a:lnSpc>
              <a:spcBef>
                <a:spcPts val="0"/>
              </a:spcBef>
            </a:pPr>
            <a:r>
              <a:rPr lang="fr-FR" b="1" dirty="0" err="1">
                <a:latin typeface="Whitney-Book" pitchFamily="50" charset="0"/>
                <a:cs typeface="Whitney-Book" pitchFamily="50" charset="0"/>
              </a:rPr>
              <a:t>Perfect</a:t>
            </a:r>
            <a:r>
              <a:rPr lang="fr-FR" b="1" dirty="0">
                <a:latin typeface="Whitney-Book" pitchFamily="50" charset="0"/>
                <a:cs typeface="Whitney-Book" pitchFamily="50" charset="0"/>
              </a:rPr>
              <a:t> </a:t>
            </a:r>
            <a:r>
              <a:rPr lang="fr-FR" b="1" dirty="0" err="1">
                <a:latin typeface="Whitney-Book" pitchFamily="50" charset="0"/>
                <a:cs typeface="Whitney-Book" pitchFamily="50" charset="0"/>
              </a:rPr>
              <a:t>price</a:t>
            </a:r>
            <a:r>
              <a:rPr lang="fr-FR" b="1" dirty="0">
                <a:latin typeface="Whitney-Book" pitchFamily="50" charset="0"/>
                <a:cs typeface="Whitney-Book" pitchFamily="50" charset="0"/>
              </a:rPr>
              <a:t> discrimination (first </a:t>
            </a:r>
            <a:r>
              <a:rPr lang="fr-FR" b="1" dirty="0" err="1">
                <a:latin typeface="Whitney-Book" pitchFamily="50" charset="0"/>
                <a:cs typeface="Whitney-Book" pitchFamily="50" charset="0"/>
              </a:rPr>
              <a:t>degree</a:t>
            </a:r>
            <a:r>
              <a:rPr lang="fr-FR" b="1" dirty="0">
                <a:latin typeface="Whitney-Book" pitchFamily="50" charset="0"/>
                <a:cs typeface="Whitney-Book" pitchFamily="50" charset="0"/>
              </a:rPr>
              <a:t>)</a:t>
            </a:r>
          </a:p>
          <a:p>
            <a:pPr lvl="1">
              <a:lnSpc>
                <a:spcPct val="120000"/>
              </a:lnSpc>
              <a:spcBef>
                <a:spcPts val="0"/>
              </a:spcBef>
            </a:pPr>
            <a:r>
              <a:rPr lang="fr-FR" sz="2800" dirty="0">
                <a:solidFill>
                  <a:schemeClr val="bg1">
                    <a:lumMod val="65000"/>
                  </a:schemeClr>
                </a:solidFill>
              </a:rPr>
              <a:t>Segment </a:t>
            </a:r>
            <a:r>
              <a:rPr lang="fr-FR" sz="2800" dirty="0" err="1">
                <a:solidFill>
                  <a:schemeClr val="bg1">
                    <a:lumMod val="65000"/>
                  </a:schemeClr>
                </a:solidFill>
              </a:rPr>
              <a:t>pricing</a:t>
            </a:r>
            <a:r>
              <a:rPr lang="fr-FR" sz="2800" dirty="0">
                <a:solidFill>
                  <a:schemeClr val="bg1">
                    <a:lumMod val="65000"/>
                  </a:schemeClr>
                </a:solidFill>
              </a:rPr>
              <a:t> (</a:t>
            </a:r>
            <a:r>
              <a:rPr lang="fr-FR" sz="2800" dirty="0" err="1">
                <a:solidFill>
                  <a:schemeClr val="bg1">
                    <a:lumMod val="65000"/>
                  </a:schemeClr>
                </a:solidFill>
              </a:rPr>
              <a:t>third</a:t>
            </a:r>
            <a:r>
              <a:rPr lang="fr-FR" sz="2800" dirty="0">
                <a:solidFill>
                  <a:schemeClr val="bg1">
                    <a:lumMod val="65000"/>
                  </a:schemeClr>
                </a:solidFill>
              </a:rPr>
              <a:t> </a:t>
            </a:r>
            <a:r>
              <a:rPr lang="fr-FR" sz="2800" dirty="0" err="1">
                <a:solidFill>
                  <a:schemeClr val="bg1">
                    <a:lumMod val="65000"/>
                  </a:schemeClr>
                </a:solidFill>
              </a:rPr>
              <a:t>degree</a:t>
            </a:r>
            <a:r>
              <a:rPr lang="fr-FR" sz="2800" dirty="0">
                <a:solidFill>
                  <a:schemeClr val="bg1">
                    <a:lumMod val="65000"/>
                  </a:schemeClr>
                </a:solidFill>
              </a:rPr>
              <a:t>)</a:t>
            </a:r>
          </a:p>
          <a:p>
            <a:pPr>
              <a:lnSpc>
                <a:spcPct val="120000"/>
              </a:lnSpc>
            </a:pPr>
            <a:r>
              <a:rPr lang="fr-FR" sz="2810" dirty="0">
                <a:solidFill>
                  <a:schemeClr val="bg1">
                    <a:lumMod val="65000"/>
                  </a:schemeClr>
                </a:solidFill>
              </a:rPr>
              <a:t>Indirect </a:t>
            </a:r>
            <a:r>
              <a:rPr lang="fr-FR" sz="2810" dirty="0" err="1">
                <a:solidFill>
                  <a:schemeClr val="bg1">
                    <a:lumMod val="65000"/>
                  </a:schemeClr>
                </a:solidFill>
              </a:rPr>
              <a:t>price</a:t>
            </a:r>
            <a:r>
              <a:rPr lang="fr-FR" sz="2810" dirty="0">
                <a:solidFill>
                  <a:schemeClr val="bg1">
                    <a:lumMod val="65000"/>
                  </a:schemeClr>
                </a:solidFill>
              </a:rPr>
              <a:t> discrimination (second </a:t>
            </a:r>
            <a:r>
              <a:rPr lang="fr-FR" sz="2810" dirty="0" err="1">
                <a:solidFill>
                  <a:schemeClr val="bg1">
                    <a:lumMod val="65000"/>
                  </a:schemeClr>
                </a:solidFill>
              </a:rPr>
              <a:t>degree</a:t>
            </a:r>
            <a:r>
              <a:rPr lang="fr-FR" sz="2810" dirty="0">
                <a:solidFill>
                  <a:schemeClr val="bg1">
                    <a:lumMod val="65000"/>
                  </a:schemeClr>
                </a:solidFill>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Versioning</a:t>
            </a:r>
          </a:p>
          <a:p>
            <a:pPr lvl="1">
              <a:lnSpc>
                <a:spcPct val="120000"/>
              </a:lnSpc>
              <a:spcBef>
                <a:spcPts val="0"/>
              </a:spcBef>
            </a:pPr>
            <a:r>
              <a:rPr lang="fr-FR" dirty="0">
                <a:solidFill>
                  <a:schemeClr val="bg1">
                    <a:lumMod val="65000"/>
                  </a:schemeClr>
                </a:solidFill>
              </a:rPr>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Volume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with</a:t>
            </a:r>
            <a:r>
              <a:rPr lang="fr-FR" dirty="0">
                <a:solidFill>
                  <a:schemeClr val="bg1">
                    <a:lumMod val="65000"/>
                  </a:schemeClr>
                </a:solidFill>
                <a:latin typeface="Whitney-Book" pitchFamily="50" charset="0"/>
                <a:cs typeface="Whitney-Book" pitchFamily="50" charset="0"/>
              </a:rPr>
              <a:t> flat </a:t>
            </a:r>
            <a:r>
              <a:rPr lang="fr-FR" dirty="0" err="1">
                <a:solidFill>
                  <a:schemeClr val="bg1">
                    <a:lumMod val="65000"/>
                  </a:schemeClr>
                </a:solidFill>
                <a:latin typeface="Whitney-Book" pitchFamily="50" charset="0"/>
                <a:cs typeface="Whitney-Book" pitchFamily="50" charset="0"/>
              </a:rPr>
              <a:t>fee</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27511834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35B08-8C1F-4D80-93E1-86DF9828E192}"/>
              </a:ext>
            </a:extLst>
          </p:cNvPr>
          <p:cNvSpPr>
            <a:spLocks noGrp="1"/>
          </p:cNvSpPr>
          <p:nvPr>
            <p:ph type="title"/>
          </p:nvPr>
        </p:nvSpPr>
        <p:spPr/>
        <p:txBody>
          <a:bodyPr/>
          <a:lstStyle/>
          <a:p>
            <a:r>
              <a:rPr lang="fr-FR" dirty="0"/>
              <a:t>First </a:t>
            </a:r>
            <a:r>
              <a:rPr lang="fr-FR" dirty="0" err="1"/>
              <a:t>degree</a:t>
            </a:r>
            <a:r>
              <a:rPr lang="fr-FR" dirty="0"/>
              <a:t> </a:t>
            </a:r>
            <a:r>
              <a:rPr lang="fr-FR" dirty="0" err="1"/>
              <a:t>price</a:t>
            </a:r>
            <a:r>
              <a:rPr lang="fr-FR" dirty="0"/>
              <a:t> discrimination</a:t>
            </a:r>
            <a:endParaRPr lang="en-US" dirty="0"/>
          </a:p>
        </p:txBody>
      </p:sp>
      <p:sp>
        <p:nvSpPr>
          <p:cNvPr id="3" name="Content Placeholder 2">
            <a:extLst>
              <a:ext uri="{FF2B5EF4-FFF2-40B4-BE49-F238E27FC236}">
                <a16:creationId xmlns:a16="http://schemas.microsoft.com/office/drawing/2014/main" id="{C4184160-A30F-4D2F-9517-7739EEBED42E}"/>
              </a:ext>
            </a:extLst>
          </p:cNvPr>
          <p:cNvSpPr>
            <a:spLocks noGrp="1"/>
          </p:cNvSpPr>
          <p:nvPr>
            <p:ph idx="1"/>
          </p:nvPr>
        </p:nvSpPr>
        <p:spPr>
          <a:xfrm>
            <a:off x="457200" y="1419985"/>
            <a:ext cx="8229600" cy="4862481"/>
          </a:xfrm>
        </p:spPr>
        <p:txBody>
          <a:bodyPr>
            <a:normAutofit lnSpcReduction="10000"/>
          </a:bodyPr>
          <a:lstStyle/>
          <a:p>
            <a:r>
              <a:rPr lang="fr-FR" dirty="0"/>
              <a:t>Charge </a:t>
            </a:r>
            <a:r>
              <a:rPr lang="fr-FR" dirty="0" err="1"/>
              <a:t>each</a:t>
            </a:r>
            <a:r>
              <a:rPr lang="fr-FR" dirty="0"/>
              <a:t> </a:t>
            </a:r>
            <a:r>
              <a:rPr lang="fr-FR" dirty="0" err="1"/>
              <a:t>customer</a:t>
            </a:r>
            <a:r>
              <a:rPr lang="fr-FR" dirty="0"/>
              <a:t> a </a:t>
            </a:r>
            <a:r>
              <a:rPr lang="fr-FR" dirty="0" err="1"/>
              <a:t>different</a:t>
            </a:r>
            <a:r>
              <a:rPr lang="fr-FR" dirty="0"/>
              <a:t> </a:t>
            </a:r>
            <a:r>
              <a:rPr lang="fr-FR" dirty="0" err="1"/>
              <a:t>price</a:t>
            </a:r>
            <a:endParaRPr lang="en-US" dirty="0"/>
          </a:p>
          <a:p>
            <a:r>
              <a:rPr lang="en-US" dirty="0"/>
              <a:t>Also known as </a:t>
            </a:r>
            <a:r>
              <a:rPr lang="en-US" u="sng" dirty="0"/>
              <a:t>perfect</a:t>
            </a:r>
            <a:r>
              <a:rPr lang="en-US" dirty="0"/>
              <a:t> price discrimination</a:t>
            </a:r>
          </a:p>
          <a:p>
            <a:endParaRPr lang="en-US" sz="1400" dirty="0"/>
          </a:p>
          <a:p>
            <a:r>
              <a:rPr lang="en-US" dirty="0"/>
              <a:t>Conditions:</a:t>
            </a:r>
          </a:p>
          <a:p>
            <a:pPr lvl="1"/>
            <a:r>
              <a:rPr lang="en-US" dirty="0"/>
              <a:t>Many consumers with different MPV for the firm’s product</a:t>
            </a:r>
          </a:p>
          <a:p>
            <a:pPr lvl="1"/>
            <a:r>
              <a:rPr lang="en-US" dirty="0"/>
              <a:t>Firm knows each consumer’s MPV (i.e., willingness to pay)</a:t>
            </a:r>
          </a:p>
          <a:p>
            <a:pPr lvl="1"/>
            <a:r>
              <a:rPr lang="en-US" dirty="0"/>
              <a:t>Firm can prevent resale</a:t>
            </a:r>
          </a:p>
          <a:p>
            <a:endParaRPr lang="en-US" dirty="0"/>
          </a:p>
          <a:p>
            <a:r>
              <a:rPr lang="en-US" dirty="0"/>
              <a:t>Note: This is a hypothetical scenario!</a:t>
            </a:r>
          </a:p>
          <a:p>
            <a:endParaRPr lang="en-US" dirty="0"/>
          </a:p>
        </p:txBody>
      </p:sp>
    </p:spTree>
    <p:extLst>
      <p:ext uri="{BB962C8B-B14F-4D97-AF65-F5344CB8AC3E}">
        <p14:creationId xmlns:p14="http://schemas.microsoft.com/office/powerpoint/2010/main" val="2918436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First degree price discrimination</a:t>
            </a:r>
          </a:p>
        </p:txBody>
      </p:sp>
      <p:sp>
        <p:nvSpPr>
          <p:cNvPr id="5" name="Content Placeholder 4"/>
          <p:cNvSpPr>
            <a:spLocks noGrp="1"/>
          </p:cNvSpPr>
          <p:nvPr>
            <p:ph idx="1"/>
          </p:nvPr>
        </p:nvSpPr>
        <p:spPr>
          <a:xfrm>
            <a:off x="5646335" y="1419985"/>
            <a:ext cx="3210560" cy="5201476"/>
          </a:xfrm>
        </p:spPr>
        <p:txBody>
          <a:bodyPr>
            <a:normAutofit fontScale="92500" lnSpcReduction="20000"/>
          </a:bodyPr>
          <a:lstStyle/>
          <a:p>
            <a:r>
              <a:rPr lang="en-US" dirty="0"/>
              <a:t>Assume MC=0</a:t>
            </a:r>
          </a:p>
          <a:p>
            <a:endParaRPr lang="en-US" dirty="0"/>
          </a:p>
          <a:p>
            <a:r>
              <a:rPr lang="en-US" dirty="0"/>
              <a:t>Charge </a:t>
            </a:r>
            <a:r>
              <a:rPr lang="en-US" dirty="0">
                <a:solidFill>
                  <a:srgbClr val="FF0000"/>
                </a:solidFill>
              </a:rPr>
              <a:t>each customer</a:t>
            </a:r>
            <a:r>
              <a:rPr lang="en-US" dirty="0"/>
              <a:t> a different price</a:t>
            </a:r>
          </a:p>
          <a:p>
            <a:endParaRPr lang="en-US" dirty="0"/>
          </a:p>
          <a:p>
            <a:r>
              <a:rPr lang="en-US" dirty="0"/>
              <a:t>The Holy Grail of complex pricing</a:t>
            </a:r>
          </a:p>
          <a:p>
            <a:endParaRPr lang="en-US" dirty="0"/>
          </a:p>
          <a:p>
            <a:r>
              <a:rPr lang="en-US" dirty="0"/>
              <a:t>Zero consumer surplus: everything is extracted!</a:t>
            </a:r>
          </a:p>
          <a:p>
            <a:endParaRPr lang="en-US" dirty="0"/>
          </a:p>
        </p:txBody>
      </p:sp>
      <p:sp>
        <p:nvSpPr>
          <p:cNvPr id="9" name="Line 31"/>
          <p:cNvSpPr>
            <a:spLocks noChangeShapeType="1"/>
          </p:cNvSpPr>
          <p:nvPr/>
        </p:nvSpPr>
        <p:spPr bwMode="auto">
          <a:xfrm>
            <a:off x="457200" y="1489364"/>
            <a:ext cx="0" cy="4910694"/>
          </a:xfrm>
          <a:prstGeom prst="line">
            <a:avLst/>
          </a:prstGeom>
          <a:noFill/>
          <a:ln w="25400">
            <a:solidFill>
              <a:schemeClr val="tx1"/>
            </a:solidFill>
            <a:round/>
            <a:headEnd type="arrow" w="med" len="med"/>
            <a:tailEnd type="non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0" name="Line 32"/>
          <p:cNvSpPr>
            <a:spLocks noChangeShapeType="1"/>
          </p:cNvSpPr>
          <p:nvPr/>
        </p:nvSpPr>
        <p:spPr bwMode="auto">
          <a:xfrm>
            <a:off x="457200" y="6400058"/>
            <a:ext cx="5112729" cy="0"/>
          </a:xfrm>
          <a:prstGeom prst="line">
            <a:avLst/>
          </a:prstGeom>
          <a:noFill/>
          <a:ln w="25400">
            <a:solidFill>
              <a:schemeClr val="tx1"/>
            </a:solidFill>
            <a:round/>
            <a:headEnd type="none" w="sm" len="sm"/>
            <a:tailEnd type="arrow"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grpSp>
        <p:nvGrpSpPr>
          <p:cNvPr id="25" name="Group 24">
            <a:extLst>
              <a:ext uri="{FF2B5EF4-FFF2-40B4-BE49-F238E27FC236}">
                <a16:creationId xmlns:a16="http://schemas.microsoft.com/office/drawing/2014/main" id="{20668D98-B576-4871-AA17-27F4EA35469C}"/>
              </a:ext>
            </a:extLst>
          </p:cNvPr>
          <p:cNvGrpSpPr/>
          <p:nvPr/>
        </p:nvGrpSpPr>
        <p:grpSpPr>
          <a:xfrm>
            <a:off x="457200" y="1804128"/>
            <a:ext cx="3903537" cy="4595929"/>
            <a:chOff x="457200" y="1804128"/>
            <a:chExt cx="3903537" cy="4595929"/>
          </a:xfrm>
        </p:grpSpPr>
        <p:sp>
          <p:nvSpPr>
            <p:cNvPr id="6" name="Rectangle 5"/>
            <p:cNvSpPr/>
            <p:nvPr/>
          </p:nvSpPr>
          <p:spPr>
            <a:xfrm>
              <a:off x="457200" y="1804128"/>
              <a:ext cx="3903537" cy="4595929"/>
            </a:xfrm>
            <a:custGeom>
              <a:avLst/>
              <a:gdLst>
                <a:gd name="connsiteX0" fmla="*/ 0 w 1767010"/>
                <a:gd name="connsiteY0" fmla="*/ 0 h 2495279"/>
                <a:gd name="connsiteX1" fmla="*/ 1767010 w 1767010"/>
                <a:gd name="connsiteY1" fmla="*/ 0 h 2495279"/>
                <a:gd name="connsiteX2" fmla="*/ 1767010 w 1767010"/>
                <a:gd name="connsiteY2" fmla="*/ 2495279 h 2495279"/>
                <a:gd name="connsiteX3" fmla="*/ 0 w 1767010"/>
                <a:gd name="connsiteY3" fmla="*/ 2495279 h 2495279"/>
                <a:gd name="connsiteX4" fmla="*/ 0 w 1767010"/>
                <a:gd name="connsiteY4" fmla="*/ 0 h 2495279"/>
                <a:gd name="connsiteX0" fmla="*/ 12357 w 1767010"/>
                <a:gd name="connsiteY0" fmla="*/ 0 h 4595928"/>
                <a:gd name="connsiteX1" fmla="*/ 1767010 w 1767010"/>
                <a:gd name="connsiteY1" fmla="*/ 2100649 h 4595928"/>
                <a:gd name="connsiteX2" fmla="*/ 1767010 w 1767010"/>
                <a:gd name="connsiteY2" fmla="*/ 4595928 h 4595928"/>
                <a:gd name="connsiteX3" fmla="*/ 0 w 1767010"/>
                <a:gd name="connsiteY3" fmla="*/ 4595928 h 4595928"/>
                <a:gd name="connsiteX4" fmla="*/ 12357 w 1767010"/>
                <a:gd name="connsiteY4" fmla="*/ 0 h 4595928"/>
                <a:gd name="connsiteX0" fmla="*/ 12357 w 3867659"/>
                <a:gd name="connsiteY0" fmla="*/ 0 h 4595928"/>
                <a:gd name="connsiteX1" fmla="*/ 1767010 w 3867659"/>
                <a:gd name="connsiteY1" fmla="*/ 2100649 h 4595928"/>
                <a:gd name="connsiteX2" fmla="*/ 3867659 w 3867659"/>
                <a:gd name="connsiteY2" fmla="*/ 4571214 h 4595928"/>
                <a:gd name="connsiteX3" fmla="*/ 0 w 3867659"/>
                <a:gd name="connsiteY3" fmla="*/ 4595928 h 4595928"/>
                <a:gd name="connsiteX4" fmla="*/ 12357 w 3867659"/>
                <a:gd name="connsiteY4" fmla="*/ 0 h 4595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659" h="4595928">
                  <a:moveTo>
                    <a:pt x="12357" y="0"/>
                  </a:moveTo>
                  <a:lnTo>
                    <a:pt x="1767010" y="2100649"/>
                  </a:lnTo>
                  <a:lnTo>
                    <a:pt x="3867659" y="4571214"/>
                  </a:lnTo>
                  <a:lnTo>
                    <a:pt x="0" y="4595928"/>
                  </a:lnTo>
                  <a:lnTo>
                    <a:pt x="12357"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39"/>
            <p:cNvSpPr>
              <a:spLocks noChangeArrowheads="1"/>
            </p:cNvSpPr>
            <p:nvPr/>
          </p:nvSpPr>
          <p:spPr bwMode="auto">
            <a:xfrm>
              <a:off x="533606" y="4263389"/>
              <a:ext cx="2085860" cy="923972"/>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Times New Roman" pitchFamily="18" charset="0"/>
                </a:rPr>
                <a:t>Revenues and Profits</a:t>
              </a:r>
              <a:endParaRPr kumimoji="0" lang="en-US" sz="1800" b="1" i="0" u="none" strike="noStrike" kern="1200" cap="none" spc="0" normalizeH="0" noProof="0" dirty="0">
                <a:ln>
                  <a:noFill/>
                </a:ln>
                <a:solidFill>
                  <a:schemeClr val="bg1"/>
                </a:solidFill>
                <a:effectLst/>
                <a:uLnTx/>
                <a:uFillTx/>
                <a:latin typeface="Calibri"/>
                <a:ea typeface="+mn-ea"/>
                <a:cs typeface="Times New Roman"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baseline="0" dirty="0">
                  <a:solidFill>
                    <a:schemeClr val="bg1"/>
                  </a:solidFill>
                  <a:latin typeface="Calibri"/>
                  <a:cs typeface="Times New Roman" pitchFamily="18" charset="0"/>
                </a:rPr>
                <a:t>(assume MC=0)</a:t>
              </a:r>
              <a:r>
                <a:rPr kumimoji="0" lang="en-US" sz="1800" b="1" i="0" u="none" strike="noStrike" kern="1200" cap="none" spc="0" normalizeH="0" baseline="0" noProof="0" dirty="0">
                  <a:ln>
                    <a:noFill/>
                  </a:ln>
                  <a:solidFill>
                    <a:schemeClr val="bg1"/>
                  </a:solidFill>
                  <a:effectLst/>
                  <a:uLnTx/>
                  <a:uFillTx/>
                  <a:latin typeface="Calibri"/>
                  <a:ea typeface="+mn-ea"/>
                  <a:cs typeface="Times New Roman" pitchFamily="18" charset="0"/>
                </a:rPr>
                <a:t> </a:t>
              </a:r>
            </a:p>
          </p:txBody>
        </p:sp>
      </p:grpSp>
      <p:grpSp>
        <p:nvGrpSpPr>
          <p:cNvPr id="26" name="Group 25">
            <a:extLst>
              <a:ext uri="{FF2B5EF4-FFF2-40B4-BE49-F238E27FC236}">
                <a16:creationId xmlns:a16="http://schemas.microsoft.com/office/drawing/2014/main" id="{B0B3369E-2524-4274-8E9D-A40B7B41E855}"/>
              </a:ext>
            </a:extLst>
          </p:cNvPr>
          <p:cNvGrpSpPr/>
          <p:nvPr/>
        </p:nvGrpSpPr>
        <p:grpSpPr>
          <a:xfrm>
            <a:off x="459829" y="1764014"/>
            <a:ext cx="5092991" cy="4636044"/>
            <a:chOff x="459829" y="1764014"/>
            <a:chExt cx="5092991" cy="4636044"/>
          </a:xfrm>
        </p:grpSpPr>
        <p:sp>
          <p:nvSpPr>
            <p:cNvPr id="11" name="Rectangle 41"/>
            <p:cNvSpPr>
              <a:spLocks noChangeArrowheads="1"/>
            </p:cNvSpPr>
            <p:nvPr/>
          </p:nvSpPr>
          <p:spPr bwMode="auto">
            <a:xfrm>
              <a:off x="3902881" y="5564239"/>
              <a:ext cx="164993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a:ea typeface="+mn-ea"/>
                  <a:cs typeface="Times New Roman" pitchFamily="18" charset="0"/>
                </a:rPr>
                <a:t>Demand = MPV</a:t>
              </a:r>
            </a:p>
          </p:txBody>
        </p:sp>
        <p:cxnSp>
          <p:nvCxnSpPr>
            <p:cNvPr id="14" name="Straight Connector 13">
              <a:extLst>
                <a:ext uri="{FF2B5EF4-FFF2-40B4-BE49-F238E27FC236}">
                  <a16:creationId xmlns:a16="http://schemas.microsoft.com/office/drawing/2014/main" id="{FE9F7361-97D1-4E8E-A5F7-37810957BDA1}"/>
                </a:ext>
              </a:extLst>
            </p:cNvPr>
            <p:cNvCxnSpPr/>
            <p:nvPr/>
          </p:nvCxnSpPr>
          <p:spPr>
            <a:xfrm>
              <a:off x="459829" y="1764014"/>
              <a:ext cx="3903549" cy="4636044"/>
            </a:xfrm>
            <a:prstGeom prst="line">
              <a:avLst/>
            </a:prstGeom>
          </p:spPr>
          <p:style>
            <a:lnRef idx="2">
              <a:schemeClr val="accent2"/>
            </a:lnRef>
            <a:fillRef idx="0">
              <a:schemeClr val="accent2"/>
            </a:fillRef>
            <a:effectRef idx="1">
              <a:schemeClr val="accent2"/>
            </a:effectRef>
            <a:fontRef idx="minor">
              <a:schemeClr val="tx1"/>
            </a:fontRef>
          </p:style>
        </p:cxnSp>
      </p:grpSp>
      <p:grpSp>
        <p:nvGrpSpPr>
          <p:cNvPr id="8" name="Group 7">
            <a:extLst>
              <a:ext uri="{FF2B5EF4-FFF2-40B4-BE49-F238E27FC236}">
                <a16:creationId xmlns:a16="http://schemas.microsoft.com/office/drawing/2014/main" id="{A4CA2A99-E023-4656-AE72-4432E23DDF66}"/>
              </a:ext>
            </a:extLst>
          </p:cNvPr>
          <p:cNvGrpSpPr/>
          <p:nvPr/>
        </p:nvGrpSpPr>
        <p:grpSpPr>
          <a:xfrm>
            <a:off x="533606" y="1652814"/>
            <a:ext cx="1905109" cy="462307"/>
            <a:chOff x="533606" y="1652814"/>
            <a:chExt cx="1905109" cy="462307"/>
          </a:xfrm>
        </p:grpSpPr>
        <p:sp>
          <p:nvSpPr>
            <p:cNvPr id="3" name="Oval 2">
              <a:extLst>
                <a:ext uri="{FF2B5EF4-FFF2-40B4-BE49-F238E27FC236}">
                  <a16:creationId xmlns:a16="http://schemas.microsoft.com/office/drawing/2014/main" id="{BDD8EDDA-6919-4691-A7C7-A9561C88CA93}"/>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5" name="Line 38">
              <a:extLst>
                <a:ext uri="{FF2B5EF4-FFF2-40B4-BE49-F238E27FC236}">
                  <a16:creationId xmlns:a16="http://schemas.microsoft.com/office/drawing/2014/main" id="{3692A397-EBA8-4616-BB79-1ABC14F6C754}"/>
                </a:ext>
              </a:extLst>
            </p:cNvPr>
            <p:cNvSpPr>
              <a:spLocks noChangeShapeType="1"/>
            </p:cNvSpPr>
            <p:nvPr/>
          </p:nvSpPr>
          <p:spPr bwMode="auto">
            <a:xfrm flipH="1">
              <a:off x="707129" y="1880078"/>
              <a:ext cx="347829" cy="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6" name="Rectangle 39">
              <a:extLst>
                <a:ext uri="{FF2B5EF4-FFF2-40B4-BE49-F238E27FC236}">
                  <a16:creationId xmlns:a16="http://schemas.microsoft.com/office/drawing/2014/main" id="{3BC0920F-9755-4B75-AB00-2645DB587E8A}"/>
                </a:ext>
              </a:extLst>
            </p:cNvPr>
            <p:cNvSpPr>
              <a:spLocks noChangeArrowheads="1"/>
            </p:cNvSpPr>
            <p:nvPr/>
          </p:nvSpPr>
          <p:spPr bwMode="auto">
            <a:xfrm>
              <a:off x="1011516" y="1652814"/>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high-MPV customer</a:t>
              </a:r>
            </a:p>
          </p:txBody>
        </p:sp>
      </p:grpSp>
      <p:grpSp>
        <p:nvGrpSpPr>
          <p:cNvPr id="17" name="Group 16">
            <a:extLst>
              <a:ext uri="{FF2B5EF4-FFF2-40B4-BE49-F238E27FC236}">
                <a16:creationId xmlns:a16="http://schemas.microsoft.com/office/drawing/2014/main" id="{0F424EED-F012-424C-969B-0206CCA82BFC}"/>
              </a:ext>
            </a:extLst>
          </p:cNvPr>
          <p:cNvGrpSpPr/>
          <p:nvPr/>
        </p:nvGrpSpPr>
        <p:grpSpPr>
          <a:xfrm>
            <a:off x="3701045" y="4867737"/>
            <a:ext cx="1761278" cy="859091"/>
            <a:chOff x="533606" y="1082558"/>
            <a:chExt cx="1761278" cy="859091"/>
          </a:xfrm>
        </p:grpSpPr>
        <p:sp>
          <p:nvSpPr>
            <p:cNvPr id="18" name="Oval 17">
              <a:extLst>
                <a:ext uri="{FF2B5EF4-FFF2-40B4-BE49-F238E27FC236}">
                  <a16:creationId xmlns:a16="http://schemas.microsoft.com/office/drawing/2014/main" id="{D2A29EC1-3D28-46B8-9D09-1B6E162F1CBA}"/>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Line 38">
              <a:extLst>
                <a:ext uri="{FF2B5EF4-FFF2-40B4-BE49-F238E27FC236}">
                  <a16:creationId xmlns:a16="http://schemas.microsoft.com/office/drawing/2014/main" id="{10B03026-85C5-415A-B218-5E087B001AAA}"/>
                </a:ext>
              </a:extLst>
            </p:cNvPr>
            <p:cNvSpPr>
              <a:spLocks noChangeShapeType="1"/>
            </p:cNvSpPr>
            <p:nvPr/>
          </p:nvSpPr>
          <p:spPr bwMode="auto">
            <a:xfrm flipH="1">
              <a:off x="664098" y="1538988"/>
              <a:ext cx="347829" cy="28730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0" name="Rectangle 39">
              <a:extLst>
                <a:ext uri="{FF2B5EF4-FFF2-40B4-BE49-F238E27FC236}">
                  <a16:creationId xmlns:a16="http://schemas.microsoft.com/office/drawing/2014/main" id="{A4EEBE4E-59F0-42A1-9CA7-95BBC84B4DF9}"/>
                </a:ext>
              </a:extLst>
            </p:cNvPr>
            <p:cNvSpPr>
              <a:spLocks noChangeArrowheads="1"/>
            </p:cNvSpPr>
            <p:nvPr/>
          </p:nvSpPr>
          <p:spPr bwMode="auto">
            <a:xfrm>
              <a:off x="867685" y="1082558"/>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low-MPV customer</a:t>
              </a:r>
            </a:p>
          </p:txBody>
        </p:sp>
      </p:grpSp>
      <p:grpSp>
        <p:nvGrpSpPr>
          <p:cNvPr id="21" name="Group 20">
            <a:extLst>
              <a:ext uri="{FF2B5EF4-FFF2-40B4-BE49-F238E27FC236}">
                <a16:creationId xmlns:a16="http://schemas.microsoft.com/office/drawing/2014/main" id="{4DD5A8F5-DAFE-45CD-8B03-EB20DF51AD29}"/>
              </a:ext>
            </a:extLst>
          </p:cNvPr>
          <p:cNvGrpSpPr/>
          <p:nvPr/>
        </p:nvGrpSpPr>
        <p:grpSpPr>
          <a:xfrm>
            <a:off x="2340327" y="3243001"/>
            <a:ext cx="2038093" cy="859091"/>
            <a:chOff x="533606" y="1082558"/>
            <a:chExt cx="2038093" cy="859091"/>
          </a:xfrm>
        </p:grpSpPr>
        <p:sp>
          <p:nvSpPr>
            <p:cNvPr id="22" name="Oval 21">
              <a:extLst>
                <a:ext uri="{FF2B5EF4-FFF2-40B4-BE49-F238E27FC236}">
                  <a16:creationId xmlns:a16="http://schemas.microsoft.com/office/drawing/2014/main" id="{F431DD9A-D9B3-481E-98E7-6EC606935E3D}"/>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3" name="Line 38">
              <a:extLst>
                <a:ext uri="{FF2B5EF4-FFF2-40B4-BE49-F238E27FC236}">
                  <a16:creationId xmlns:a16="http://schemas.microsoft.com/office/drawing/2014/main" id="{C5359EF3-15E1-49E3-9878-E3E6D540FD1B}"/>
                </a:ext>
              </a:extLst>
            </p:cNvPr>
            <p:cNvSpPr>
              <a:spLocks noChangeShapeType="1"/>
            </p:cNvSpPr>
            <p:nvPr/>
          </p:nvSpPr>
          <p:spPr bwMode="auto">
            <a:xfrm flipH="1">
              <a:off x="664098" y="1538988"/>
              <a:ext cx="347829" cy="28730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4" name="Rectangle 39">
              <a:extLst>
                <a:ext uri="{FF2B5EF4-FFF2-40B4-BE49-F238E27FC236}">
                  <a16:creationId xmlns:a16="http://schemas.microsoft.com/office/drawing/2014/main" id="{87E878C7-6117-4C3A-BA5A-49DF5A04CCAB}"/>
                </a:ext>
              </a:extLst>
            </p:cNvPr>
            <p:cNvSpPr>
              <a:spLocks noChangeArrowheads="1"/>
            </p:cNvSpPr>
            <p:nvPr/>
          </p:nvSpPr>
          <p:spPr bwMode="auto">
            <a:xfrm>
              <a:off x="812745" y="1082558"/>
              <a:ext cx="1758954"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a:cs typeface="Times New Roman" pitchFamily="18" charset="0"/>
                </a:rPr>
                <a:t>median</a:t>
              </a: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-MPV customer</a:t>
              </a:r>
            </a:p>
          </p:txBody>
        </p:sp>
      </p:grpSp>
      <p:sp>
        <p:nvSpPr>
          <p:cNvPr id="27" name="Rectangle 41">
            <a:extLst>
              <a:ext uri="{FF2B5EF4-FFF2-40B4-BE49-F238E27FC236}">
                <a16:creationId xmlns:a16="http://schemas.microsoft.com/office/drawing/2014/main" id="{41F1FC35-E8C4-497F-8915-304061FC8940}"/>
              </a:ext>
            </a:extLst>
          </p:cNvPr>
          <p:cNvSpPr>
            <a:spLocks noChangeArrowheads="1"/>
          </p:cNvSpPr>
          <p:nvPr/>
        </p:nvSpPr>
        <p:spPr bwMode="auto">
          <a:xfrm>
            <a:off x="65639" y="1091540"/>
            <a:ext cx="132125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strike="noStrike" kern="1200" cap="none" spc="0" normalizeH="0" baseline="0" noProof="0" dirty="0">
                <a:ln>
                  <a:noFill/>
                </a:ln>
                <a:effectLst/>
                <a:uLnTx/>
                <a:uFillTx/>
                <a:latin typeface="Calibri"/>
                <a:ea typeface="+mn-ea"/>
                <a:cs typeface="Times New Roman" pitchFamily="18" charset="0"/>
              </a:rPr>
              <a:t>Price / MPV</a:t>
            </a:r>
          </a:p>
        </p:txBody>
      </p:sp>
    </p:spTree>
    <p:extLst>
      <p:ext uri="{BB962C8B-B14F-4D97-AF65-F5344CB8AC3E}">
        <p14:creationId xmlns:p14="http://schemas.microsoft.com/office/powerpoint/2010/main" val="39590387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First degree price discrimination</a:t>
            </a:r>
          </a:p>
        </p:txBody>
      </p:sp>
      <p:sp>
        <p:nvSpPr>
          <p:cNvPr id="5" name="Content Placeholder 4"/>
          <p:cNvSpPr>
            <a:spLocks noGrp="1"/>
          </p:cNvSpPr>
          <p:nvPr>
            <p:ph idx="1"/>
          </p:nvPr>
        </p:nvSpPr>
        <p:spPr>
          <a:xfrm>
            <a:off x="5646335" y="1419985"/>
            <a:ext cx="3210560" cy="5201476"/>
          </a:xfrm>
        </p:spPr>
        <p:txBody>
          <a:bodyPr>
            <a:normAutofit/>
          </a:bodyPr>
          <a:lstStyle/>
          <a:p>
            <a:r>
              <a:rPr lang="en-US" dirty="0"/>
              <a:t>Now: MC&gt;0</a:t>
            </a:r>
          </a:p>
          <a:p>
            <a:pPr>
              <a:spcBef>
                <a:spcPts val="1800"/>
              </a:spcBef>
            </a:pPr>
            <a:r>
              <a:rPr lang="en-US" dirty="0"/>
              <a:t>Can it work in the real world? </a:t>
            </a:r>
          </a:p>
        </p:txBody>
      </p:sp>
      <p:grpSp>
        <p:nvGrpSpPr>
          <p:cNvPr id="7" name="Group 6"/>
          <p:cNvGrpSpPr/>
          <p:nvPr/>
        </p:nvGrpSpPr>
        <p:grpSpPr>
          <a:xfrm>
            <a:off x="457199" y="1419984"/>
            <a:ext cx="5476938" cy="4980074"/>
            <a:chOff x="761999" y="1637170"/>
            <a:chExt cx="5476938" cy="4980074"/>
          </a:xfrm>
        </p:grpSpPr>
        <p:sp>
          <p:nvSpPr>
            <p:cNvPr id="9" name="Line 31"/>
            <p:cNvSpPr>
              <a:spLocks noChangeShapeType="1"/>
            </p:cNvSpPr>
            <p:nvPr/>
          </p:nvSpPr>
          <p:spPr bwMode="auto">
            <a:xfrm flipH="1">
              <a:off x="761999" y="1637170"/>
              <a:ext cx="2629" cy="4980073"/>
            </a:xfrm>
            <a:prstGeom prst="line">
              <a:avLst/>
            </a:prstGeom>
            <a:noFill/>
            <a:ln w="25400">
              <a:solidFill>
                <a:schemeClr val="tx1"/>
              </a:solidFill>
              <a:round/>
              <a:headEnd type="arrow" w="med" len="med"/>
              <a:tailEnd type="non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0" name="Line 32"/>
            <p:cNvSpPr>
              <a:spLocks noChangeShapeType="1"/>
            </p:cNvSpPr>
            <p:nvPr/>
          </p:nvSpPr>
          <p:spPr bwMode="auto">
            <a:xfrm>
              <a:off x="762000" y="6617244"/>
              <a:ext cx="5112729" cy="0"/>
            </a:xfrm>
            <a:prstGeom prst="line">
              <a:avLst/>
            </a:prstGeom>
            <a:noFill/>
            <a:ln w="25400">
              <a:solidFill>
                <a:schemeClr val="tx1"/>
              </a:solidFill>
              <a:round/>
              <a:headEnd type="none" w="sm" len="sm"/>
              <a:tailEnd type="arrow"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11" name="Rectangle 41"/>
            <p:cNvSpPr>
              <a:spLocks noChangeArrowheads="1"/>
            </p:cNvSpPr>
            <p:nvPr/>
          </p:nvSpPr>
          <p:spPr bwMode="auto">
            <a:xfrm>
              <a:off x="4588998" y="6190663"/>
              <a:ext cx="164993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Calibri"/>
                  <a:ea typeface="+mn-ea"/>
                  <a:cs typeface="Times New Roman" pitchFamily="18" charset="0"/>
                </a:rPr>
                <a:t>Demand = MPV</a:t>
              </a:r>
            </a:p>
          </p:txBody>
        </p:sp>
      </p:gr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14" name="Straight Connector 13">
            <a:extLst>
              <a:ext uri="{FF2B5EF4-FFF2-40B4-BE49-F238E27FC236}">
                <a16:creationId xmlns:a16="http://schemas.microsoft.com/office/drawing/2014/main" id="{FE9F7361-97D1-4E8E-A5F7-37810957BDA1}"/>
              </a:ext>
            </a:extLst>
          </p:cNvPr>
          <p:cNvCxnSpPr/>
          <p:nvPr/>
        </p:nvCxnSpPr>
        <p:spPr>
          <a:xfrm>
            <a:off x="459829" y="1764014"/>
            <a:ext cx="3903549" cy="4636044"/>
          </a:xfrm>
          <a:prstGeom prst="line">
            <a:avLst/>
          </a:prstGeom>
        </p:spPr>
        <p:style>
          <a:lnRef idx="2">
            <a:schemeClr val="accent2"/>
          </a:lnRef>
          <a:fillRef idx="0">
            <a:schemeClr val="accent2"/>
          </a:fillRef>
          <a:effectRef idx="1">
            <a:schemeClr val="accent2"/>
          </a:effectRef>
          <a:fontRef idx="minor">
            <a:schemeClr val="tx1"/>
          </a:fontRef>
        </p:style>
      </p:cxnSp>
      <p:grpSp>
        <p:nvGrpSpPr>
          <p:cNvPr id="3" name="Group 2">
            <a:extLst>
              <a:ext uri="{FF2B5EF4-FFF2-40B4-BE49-F238E27FC236}">
                <a16:creationId xmlns:a16="http://schemas.microsoft.com/office/drawing/2014/main" id="{6B28DE93-4DCC-4476-A3CA-107973C1FA1C}"/>
              </a:ext>
            </a:extLst>
          </p:cNvPr>
          <p:cNvGrpSpPr/>
          <p:nvPr/>
        </p:nvGrpSpPr>
        <p:grpSpPr>
          <a:xfrm>
            <a:off x="459829" y="5106801"/>
            <a:ext cx="4997695" cy="398951"/>
            <a:chOff x="459829" y="5106801"/>
            <a:chExt cx="4997695" cy="398951"/>
          </a:xfrm>
        </p:grpSpPr>
        <p:cxnSp>
          <p:nvCxnSpPr>
            <p:cNvPr id="17" name="Straight Connector 16">
              <a:extLst>
                <a:ext uri="{FF2B5EF4-FFF2-40B4-BE49-F238E27FC236}">
                  <a16:creationId xmlns:a16="http://schemas.microsoft.com/office/drawing/2014/main" id="{D0637DE4-4D10-488D-B0E8-461D6885ECE9}"/>
                </a:ext>
              </a:extLst>
            </p:cNvPr>
            <p:cNvCxnSpPr>
              <a:cxnSpLocks/>
            </p:cNvCxnSpPr>
            <p:nvPr/>
          </p:nvCxnSpPr>
          <p:spPr>
            <a:xfrm flipV="1">
              <a:off x="459829" y="5476775"/>
              <a:ext cx="4997695" cy="28977"/>
            </a:xfrm>
            <a:prstGeom prst="line">
              <a:avLst/>
            </a:prstGeom>
            <a:ln w="57150"/>
          </p:spPr>
          <p:style>
            <a:lnRef idx="2">
              <a:schemeClr val="accent3"/>
            </a:lnRef>
            <a:fillRef idx="0">
              <a:schemeClr val="accent3"/>
            </a:fillRef>
            <a:effectRef idx="1">
              <a:schemeClr val="accent3"/>
            </a:effectRef>
            <a:fontRef idx="minor">
              <a:schemeClr val="tx1"/>
            </a:fontRef>
          </p:style>
        </p:cxnSp>
        <p:sp>
          <p:nvSpPr>
            <p:cNvPr id="20" name="Rectangle 41">
              <a:extLst>
                <a:ext uri="{FF2B5EF4-FFF2-40B4-BE49-F238E27FC236}">
                  <a16:creationId xmlns:a16="http://schemas.microsoft.com/office/drawing/2014/main" id="{D08E15A5-7091-413F-A701-F7DA2DC503CC}"/>
                </a:ext>
              </a:extLst>
            </p:cNvPr>
            <p:cNvSpPr>
              <a:spLocks noChangeArrowheads="1"/>
            </p:cNvSpPr>
            <p:nvPr/>
          </p:nvSpPr>
          <p:spPr bwMode="auto">
            <a:xfrm>
              <a:off x="4931164" y="5106801"/>
              <a:ext cx="50654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chemeClr val="accent3">
                      <a:lumMod val="75000"/>
                    </a:schemeClr>
                  </a:solidFill>
                  <a:effectLst/>
                  <a:uLnTx/>
                  <a:uFillTx/>
                  <a:latin typeface="Calibri"/>
                  <a:ea typeface="+mn-ea"/>
                  <a:cs typeface="Times New Roman" pitchFamily="18" charset="0"/>
                </a:rPr>
                <a:t>MC</a:t>
              </a:r>
            </a:p>
          </p:txBody>
        </p:sp>
      </p:grpSp>
      <p:grpSp>
        <p:nvGrpSpPr>
          <p:cNvPr id="8" name="Group 7">
            <a:extLst>
              <a:ext uri="{FF2B5EF4-FFF2-40B4-BE49-F238E27FC236}">
                <a16:creationId xmlns:a16="http://schemas.microsoft.com/office/drawing/2014/main" id="{88959C7A-EED4-4498-B6A3-D296EBAA7A81}"/>
              </a:ext>
            </a:extLst>
          </p:cNvPr>
          <p:cNvGrpSpPr/>
          <p:nvPr/>
        </p:nvGrpSpPr>
        <p:grpSpPr>
          <a:xfrm>
            <a:off x="457201" y="1804129"/>
            <a:ext cx="3106298" cy="3701622"/>
            <a:chOff x="457201" y="1804129"/>
            <a:chExt cx="3106298" cy="3701622"/>
          </a:xfrm>
        </p:grpSpPr>
        <p:sp>
          <p:nvSpPr>
            <p:cNvPr id="6" name="Rectangle 5"/>
            <p:cNvSpPr/>
            <p:nvPr/>
          </p:nvSpPr>
          <p:spPr>
            <a:xfrm>
              <a:off x="457201" y="1804129"/>
              <a:ext cx="3106298" cy="3701622"/>
            </a:xfrm>
            <a:custGeom>
              <a:avLst/>
              <a:gdLst>
                <a:gd name="connsiteX0" fmla="*/ 0 w 1767010"/>
                <a:gd name="connsiteY0" fmla="*/ 0 h 2495279"/>
                <a:gd name="connsiteX1" fmla="*/ 1767010 w 1767010"/>
                <a:gd name="connsiteY1" fmla="*/ 0 h 2495279"/>
                <a:gd name="connsiteX2" fmla="*/ 1767010 w 1767010"/>
                <a:gd name="connsiteY2" fmla="*/ 2495279 h 2495279"/>
                <a:gd name="connsiteX3" fmla="*/ 0 w 1767010"/>
                <a:gd name="connsiteY3" fmla="*/ 2495279 h 2495279"/>
                <a:gd name="connsiteX4" fmla="*/ 0 w 1767010"/>
                <a:gd name="connsiteY4" fmla="*/ 0 h 2495279"/>
                <a:gd name="connsiteX0" fmla="*/ 12357 w 1767010"/>
                <a:gd name="connsiteY0" fmla="*/ 0 h 4595928"/>
                <a:gd name="connsiteX1" fmla="*/ 1767010 w 1767010"/>
                <a:gd name="connsiteY1" fmla="*/ 2100649 h 4595928"/>
                <a:gd name="connsiteX2" fmla="*/ 1767010 w 1767010"/>
                <a:gd name="connsiteY2" fmla="*/ 4595928 h 4595928"/>
                <a:gd name="connsiteX3" fmla="*/ 0 w 1767010"/>
                <a:gd name="connsiteY3" fmla="*/ 4595928 h 4595928"/>
                <a:gd name="connsiteX4" fmla="*/ 12357 w 1767010"/>
                <a:gd name="connsiteY4" fmla="*/ 0 h 4595928"/>
                <a:gd name="connsiteX0" fmla="*/ 12357 w 3867659"/>
                <a:gd name="connsiteY0" fmla="*/ 0 h 4595928"/>
                <a:gd name="connsiteX1" fmla="*/ 1767010 w 3867659"/>
                <a:gd name="connsiteY1" fmla="*/ 2100649 h 4595928"/>
                <a:gd name="connsiteX2" fmla="*/ 3867659 w 3867659"/>
                <a:gd name="connsiteY2" fmla="*/ 4571214 h 4595928"/>
                <a:gd name="connsiteX3" fmla="*/ 0 w 3867659"/>
                <a:gd name="connsiteY3" fmla="*/ 4595928 h 4595928"/>
                <a:gd name="connsiteX4" fmla="*/ 12357 w 3867659"/>
                <a:gd name="connsiteY4" fmla="*/ 0 h 4595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659" h="4595928">
                  <a:moveTo>
                    <a:pt x="12357" y="0"/>
                  </a:moveTo>
                  <a:lnTo>
                    <a:pt x="1767010" y="2100649"/>
                  </a:lnTo>
                  <a:lnTo>
                    <a:pt x="3867659" y="4571214"/>
                  </a:lnTo>
                  <a:lnTo>
                    <a:pt x="0" y="4595928"/>
                  </a:lnTo>
                  <a:lnTo>
                    <a:pt x="12357"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39">
              <a:extLst>
                <a:ext uri="{FF2B5EF4-FFF2-40B4-BE49-F238E27FC236}">
                  <a16:creationId xmlns:a16="http://schemas.microsoft.com/office/drawing/2014/main" id="{803F7E8C-3C71-4E52-92CD-084CA8BFC6AA}"/>
                </a:ext>
              </a:extLst>
            </p:cNvPr>
            <p:cNvSpPr>
              <a:spLocks noChangeArrowheads="1"/>
            </p:cNvSpPr>
            <p:nvPr/>
          </p:nvSpPr>
          <p:spPr bwMode="auto">
            <a:xfrm>
              <a:off x="533606" y="4263389"/>
              <a:ext cx="2085860" cy="369974"/>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Calibri"/>
                  <a:ea typeface="+mn-ea"/>
                  <a:cs typeface="Times New Roman" pitchFamily="18" charset="0"/>
                </a:rPr>
                <a:t>Profits (if TFC=0) </a:t>
              </a:r>
            </a:p>
          </p:txBody>
        </p:sp>
      </p:grpSp>
      <p:grpSp>
        <p:nvGrpSpPr>
          <p:cNvPr id="18" name="Group 17">
            <a:extLst>
              <a:ext uri="{FF2B5EF4-FFF2-40B4-BE49-F238E27FC236}">
                <a16:creationId xmlns:a16="http://schemas.microsoft.com/office/drawing/2014/main" id="{4201AA40-1015-44F6-AA19-673B3C2FB844}"/>
              </a:ext>
            </a:extLst>
          </p:cNvPr>
          <p:cNvGrpSpPr/>
          <p:nvPr/>
        </p:nvGrpSpPr>
        <p:grpSpPr>
          <a:xfrm>
            <a:off x="533606" y="1652814"/>
            <a:ext cx="1905109" cy="462307"/>
            <a:chOff x="533606" y="1652814"/>
            <a:chExt cx="1905109" cy="462307"/>
          </a:xfrm>
        </p:grpSpPr>
        <p:sp>
          <p:nvSpPr>
            <p:cNvPr id="19" name="Oval 18">
              <a:extLst>
                <a:ext uri="{FF2B5EF4-FFF2-40B4-BE49-F238E27FC236}">
                  <a16:creationId xmlns:a16="http://schemas.microsoft.com/office/drawing/2014/main" id="{823796BF-4E73-44BC-A4AE-44F556CD8CD2}"/>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1" name="Line 38">
              <a:extLst>
                <a:ext uri="{FF2B5EF4-FFF2-40B4-BE49-F238E27FC236}">
                  <a16:creationId xmlns:a16="http://schemas.microsoft.com/office/drawing/2014/main" id="{670912A2-576F-474D-A8A7-CD772C21E5FD}"/>
                </a:ext>
              </a:extLst>
            </p:cNvPr>
            <p:cNvSpPr>
              <a:spLocks noChangeShapeType="1"/>
            </p:cNvSpPr>
            <p:nvPr/>
          </p:nvSpPr>
          <p:spPr bwMode="auto">
            <a:xfrm flipH="1">
              <a:off x="707129" y="1880078"/>
              <a:ext cx="347829" cy="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2" name="Rectangle 39">
              <a:extLst>
                <a:ext uri="{FF2B5EF4-FFF2-40B4-BE49-F238E27FC236}">
                  <a16:creationId xmlns:a16="http://schemas.microsoft.com/office/drawing/2014/main" id="{7BA84DB2-6E5B-4B85-A652-E92C23268049}"/>
                </a:ext>
              </a:extLst>
            </p:cNvPr>
            <p:cNvSpPr>
              <a:spLocks noChangeArrowheads="1"/>
            </p:cNvSpPr>
            <p:nvPr/>
          </p:nvSpPr>
          <p:spPr bwMode="auto">
            <a:xfrm>
              <a:off x="1011516" y="1652814"/>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high-MPV customer</a:t>
              </a:r>
            </a:p>
          </p:txBody>
        </p:sp>
      </p:grpSp>
      <p:grpSp>
        <p:nvGrpSpPr>
          <p:cNvPr id="23" name="Group 22">
            <a:extLst>
              <a:ext uri="{FF2B5EF4-FFF2-40B4-BE49-F238E27FC236}">
                <a16:creationId xmlns:a16="http://schemas.microsoft.com/office/drawing/2014/main" id="{BA0ABE26-435C-4DB4-8792-BF85E6AA4F2C}"/>
              </a:ext>
            </a:extLst>
          </p:cNvPr>
          <p:cNvGrpSpPr/>
          <p:nvPr/>
        </p:nvGrpSpPr>
        <p:grpSpPr>
          <a:xfrm>
            <a:off x="3800974" y="4679208"/>
            <a:ext cx="1659483" cy="1144499"/>
            <a:chOff x="533606" y="797150"/>
            <a:chExt cx="1659483" cy="1144499"/>
          </a:xfrm>
        </p:grpSpPr>
        <p:sp>
          <p:nvSpPr>
            <p:cNvPr id="24" name="Oval 23">
              <a:extLst>
                <a:ext uri="{FF2B5EF4-FFF2-40B4-BE49-F238E27FC236}">
                  <a16:creationId xmlns:a16="http://schemas.microsoft.com/office/drawing/2014/main" id="{44140350-CB17-45D8-AEEF-C9EA69995C56}"/>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5" name="Line 38">
              <a:extLst>
                <a:ext uri="{FF2B5EF4-FFF2-40B4-BE49-F238E27FC236}">
                  <a16:creationId xmlns:a16="http://schemas.microsoft.com/office/drawing/2014/main" id="{4F293A70-4E50-40E0-84E7-96D970B2BBFC}"/>
                </a:ext>
              </a:extLst>
            </p:cNvPr>
            <p:cNvSpPr>
              <a:spLocks noChangeShapeType="1"/>
            </p:cNvSpPr>
            <p:nvPr/>
          </p:nvSpPr>
          <p:spPr bwMode="auto">
            <a:xfrm flipH="1">
              <a:off x="664097" y="1224743"/>
              <a:ext cx="203587" cy="601545"/>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6" name="Rectangle 39">
              <a:extLst>
                <a:ext uri="{FF2B5EF4-FFF2-40B4-BE49-F238E27FC236}">
                  <a16:creationId xmlns:a16="http://schemas.microsoft.com/office/drawing/2014/main" id="{211C3229-C80F-4D0C-8DFA-BC5DD4C75B4E}"/>
                </a:ext>
              </a:extLst>
            </p:cNvPr>
            <p:cNvSpPr>
              <a:spLocks noChangeArrowheads="1"/>
            </p:cNvSpPr>
            <p:nvPr/>
          </p:nvSpPr>
          <p:spPr bwMode="auto">
            <a:xfrm>
              <a:off x="765890" y="797150"/>
              <a:ext cx="1427199"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Do </a:t>
              </a:r>
              <a:r>
                <a:rPr kumimoji="0" lang="en-US" sz="1200" b="0" i="0" u="sng" strike="noStrike" kern="1200" cap="none" spc="0" normalizeH="0" baseline="0" noProof="0" dirty="0">
                  <a:ln>
                    <a:noFill/>
                  </a:ln>
                  <a:solidFill>
                    <a:prstClr val="black"/>
                  </a:solidFill>
                  <a:effectLst/>
                  <a:uLnTx/>
                  <a:uFillTx/>
                  <a:latin typeface="Calibri"/>
                  <a:ea typeface="+mn-ea"/>
                  <a:cs typeface="Times New Roman" pitchFamily="18" charset="0"/>
                </a:rPr>
                <a:t>not</a:t>
              </a: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 sell to low-MPV customer</a:t>
              </a:r>
            </a:p>
          </p:txBody>
        </p:sp>
      </p:grpSp>
      <p:grpSp>
        <p:nvGrpSpPr>
          <p:cNvPr id="27" name="Group 26">
            <a:extLst>
              <a:ext uri="{FF2B5EF4-FFF2-40B4-BE49-F238E27FC236}">
                <a16:creationId xmlns:a16="http://schemas.microsoft.com/office/drawing/2014/main" id="{78D1791C-C1DD-4F7E-83D5-A64C6DFBE264}"/>
              </a:ext>
            </a:extLst>
          </p:cNvPr>
          <p:cNvGrpSpPr/>
          <p:nvPr/>
        </p:nvGrpSpPr>
        <p:grpSpPr>
          <a:xfrm>
            <a:off x="2340327" y="3243001"/>
            <a:ext cx="2038093" cy="859091"/>
            <a:chOff x="533606" y="1082558"/>
            <a:chExt cx="2038093" cy="859091"/>
          </a:xfrm>
        </p:grpSpPr>
        <p:sp>
          <p:nvSpPr>
            <p:cNvPr id="28" name="Oval 27">
              <a:extLst>
                <a:ext uri="{FF2B5EF4-FFF2-40B4-BE49-F238E27FC236}">
                  <a16:creationId xmlns:a16="http://schemas.microsoft.com/office/drawing/2014/main" id="{0FED28D3-61A8-489C-B9B4-D6CA116C9A15}"/>
                </a:ext>
              </a:extLst>
            </p:cNvPr>
            <p:cNvSpPr/>
            <p:nvPr/>
          </p:nvSpPr>
          <p:spPr>
            <a:xfrm>
              <a:off x="533606" y="1826288"/>
              <a:ext cx="99929" cy="115361"/>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9" name="Line 38">
              <a:extLst>
                <a:ext uri="{FF2B5EF4-FFF2-40B4-BE49-F238E27FC236}">
                  <a16:creationId xmlns:a16="http://schemas.microsoft.com/office/drawing/2014/main" id="{FAB334DF-8A5A-4CB7-953D-6A5EB86DD66F}"/>
                </a:ext>
              </a:extLst>
            </p:cNvPr>
            <p:cNvSpPr>
              <a:spLocks noChangeShapeType="1"/>
            </p:cNvSpPr>
            <p:nvPr/>
          </p:nvSpPr>
          <p:spPr bwMode="auto">
            <a:xfrm flipH="1">
              <a:off x="664098" y="1538988"/>
              <a:ext cx="347829" cy="287300"/>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30" name="Rectangle 39">
              <a:extLst>
                <a:ext uri="{FF2B5EF4-FFF2-40B4-BE49-F238E27FC236}">
                  <a16:creationId xmlns:a16="http://schemas.microsoft.com/office/drawing/2014/main" id="{50A0A42B-2E56-4150-A3BB-F4F54C113FFD}"/>
                </a:ext>
              </a:extLst>
            </p:cNvPr>
            <p:cNvSpPr>
              <a:spLocks noChangeArrowheads="1"/>
            </p:cNvSpPr>
            <p:nvPr/>
          </p:nvSpPr>
          <p:spPr bwMode="auto">
            <a:xfrm>
              <a:off x="812745" y="1082558"/>
              <a:ext cx="1758954" cy="462307"/>
            </a:xfrm>
            <a:prstGeom prst="rect">
              <a:avLst/>
            </a:prstGeom>
            <a:noFill/>
            <a:ln w="9525">
              <a:noFill/>
              <a:miter lim="800000"/>
              <a:headEnd/>
              <a:tailEnd/>
            </a:ln>
            <a:effectLst/>
          </p:spPr>
          <p:txBody>
            <a:bodyPr wrap="squar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Price charged to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a:cs typeface="Times New Roman" pitchFamily="18" charset="0"/>
                </a:rPr>
                <a:t>median</a:t>
              </a:r>
              <a:r>
                <a:rPr kumimoji="0" lang="en-US" sz="1200" b="0" i="0" u="none" strike="noStrike" kern="1200" cap="none" spc="0" normalizeH="0" baseline="0" noProof="0" dirty="0">
                  <a:ln>
                    <a:noFill/>
                  </a:ln>
                  <a:solidFill>
                    <a:prstClr val="black"/>
                  </a:solidFill>
                  <a:effectLst/>
                  <a:uLnTx/>
                  <a:uFillTx/>
                  <a:latin typeface="Calibri"/>
                  <a:ea typeface="+mn-ea"/>
                  <a:cs typeface="Times New Roman" pitchFamily="18" charset="0"/>
                </a:rPr>
                <a:t>-MPV customer</a:t>
              </a:r>
            </a:p>
          </p:txBody>
        </p:sp>
      </p:grpSp>
      <p:sp>
        <p:nvSpPr>
          <p:cNvPr id="31" name="Rectangle 41">
            <a:extLst>
              <a:ext uri="{FF2B5EF4-FFF2-40B4-BE49-F238E27FC236}">
                <a16:creationId xmlns:a16="http://schemas.microsoft.com/office/drawing/2014/main" id="{82F79085-3CA4-48A2-A73F-6EE2D410102E}"/>
              </a:ext>
            </a:extLst>
          </p:cNvPr>
          <p:cNvSpPr>
            <a:spLocks noChangeArrowheads="1"/>
          </p:cNvSpPr>
          <p:nvPr/>
        </p:nvSpPr>
        <p:spPr bwMode="auto">
          <a:xfrm>
            <a:off x="65639" y="1091540"/>
            <a:ext cx="1321259"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strike="noStrike" kern="1200" cap="none" spc="0" normalizeH="0" baseline="0" noProof="0" dirty="0">
                <a:ln>
                  <a:noFill/>
                </a:ln>
                <a:effectLst/>
                <a:uLnTx/>
                <a:uFillTx/>
                <a:latin typeface="Calibri"/>
                <a:ea typeface="+mn-ea"/>
                <a:cs typeface="Times New Roman" pitchFamily="18" charset="0"/>
              </a:rPr>
              <a:t>Price / MPV</a:t>
            </a:r>
          </a:p>
        </p:txBody>
      </p:sp>
      <p:grpSp>
        <p:nvGrpSpPr>
          <p:cNvPr id="34" name="Group 33">
            <a:extLst>
              <a:ext uri="{FF2B5EF4-FFF2-40B4-BE49-F238E27FC236}">
                <a16:creationId xmlns:a16="http://schemas.microsoft.com/office/drawing/2014/main" id="{C42FCA16-4724-4088-9D1A-2F1CE823B592}"/>
              </a:ext>
            </a:extLst>
          </p:cNvPr>
          <p:cNvGrpSpPr/>
          <p:nvPr/>
        </p:nvGrpSpPr>
        <p:grpSpPr>
          <a:xfrm>
            <a:off x="5651865" y="3046176"/>
            <a:ext cx="3428060" cy="2726252"/>
            <a:chOff x="5651865" y="3046176"/>
            <a:chExt cx="3428060" cy="2726252"/>
          </a:xfrm>
        </p:grpSpPr>
        <p:pic>
          <p:nvPicPr>
            <p:cNvPr id="32" name="Picture 31">
              <a:extLst>
                <a:ext uri="{FF2B5EF4-FFF2-40B4-BE49-F238E27FC236}">
                  <a16:creationId xmlns:a16="http://schemas.microsoft.com/office/drawing/2014/main" id="{FF288A3D-E649-40C5-B54E-4626931DEA01}"/>
                </a:ext>
              </a:extLst>
            </p:cNvPr>
            <p:cNvPicPr>
              <a:picLocks noChangeAspect="1"/>
            </p:cNvPicPr>
            <p:nvPr/>
          </p:nvPicPr>
          <p:blipFill>
            <a:blip r:embed="rId3"/>
            <a:stretch>
              <a:fillRect/>
            </a:stretch>
          </p:blipFill>
          <p:spPr>
            <a:xfrm>
              <a:off x="5651865" y="3046176"/>
              <a:ext cx="3428060" cy="2726252"/>
            </a:xfrm>
            <a:prstGeom prst="rect">
              <a:avLst/>
            </a:prstGeom>
          </p:spPr>
        </p:pic>
        <p:pic>
          <p:nvPicPr>
            <p:cNvPr id="33" name="Picture 32">
              <a:extLst>
                <a:ext uri="{FF2B5EF4-FFF2-40B4-BE49-F238E27FC236}">
                  <a16:creationId xmlns:a16="http://schemas.microsoft.com/office/drawing/2014/main" id="{7B2E4B9E-B26B-4FAD-9B3F-9DB86BA4BF52}"/>
                </a:ext>
              </a:extLst>
            </p:cNvPr>
            <p:cNvPicPr>
              <a:picLocks noChangeAspect="1"/>
            </p:cNvPicPr>
            <p:nvPr/>
          </p:nvPicPr>
          <p:blipFill>
            <a:blip r:embed="rId4"/>
            <a:stretch>
              <a:fillRect/>
            </a:stretch>
          </p:blipFill>
          <p:spPr>
            <a:xfrm>
              <a:off x="7672400" y="5275166"/>
              <a:ext cx="1348857" cy="480102"/>
            </a:xfrm>
            <a:prstGeom prst="rect">
              <a:avLst/>
            </a:prstGeom>
          </p:spPr>
        </p:pic>
      </p:grpSp>
    </p:spTree>
    <p:extLst>
      <p:ext uri="{BB962C8B-B14F-4D97-AF65-F5344CB8AC3E}">
        <p14:creationId xmlns:p14="http://schemas.microsoft.com/office/powerpoint/2010/main" val="24693234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0BC2-D735-4F40-BF14-A1D42A8629BB}"/>
              </a:ext>
            </a:extLst>
          </p:cNvPr>
          <p:cNvSpPr>
            <a:spLocks noGrp="1"/>
          </p:cNvSpPr>
          <p:nvPr>
            <p:ph type="title"/>
          </p:nvPr>
        </p:nvSpPr>
        <p:spPr>
          <a:xfrm>
            <a:off x="457200" y="127215"/>
            <a:ext cx="8229600" cy="1143000"/>
          </a:xfrm>
        </p:spPr>
        <p:txBody>
          <a:bodyPr anchor="ctr">
            <a:normAutofit/>
          </a:bodyPr>
          <a:lstStyle/>
          <a:p>
            <a:r>
              <a:rPr lang="en-US" dirty="0"/>
              <a:t>The Dystopian Future of Price Discrimination</a:t>
            </a:r>
          </a:p>
        </p:txBody>
      </p:sp>
      <p:sp>
        <p:nvSpPr>
          <p:cNvPr id="3" name="Content Placeholder 2">
            <a:extLst>
              <a:ext uri="{FF2B5EF4-FFF2-40B4-BE49-F238E27FC236}">
                <a16:creationId xmlns:a16="http://schemas.microsoft.com/office/drawing/2014/main" id="{16ACAAF7-34BD-49D6-92A9-5CD2DF7E05E5}"/>
              </a:ext>
            </a:extLst>
          </p:cNvPr>
          <p:cNvSpPr>
            <a:spLocks noGrp="1"/>
          </p:cNvSpPr>
          <p:nvPr>
            <p:ph sz="half" idx="1"/>
          </p:nvPr>
        </p:nvSpPr>
        <p:spPr>
          <a:xfrm>
            <a:off x="457199" y="1764254"/>
            <a:ext cx="8116645" cy="4361910"/>
          </a:xfrm>
        </p:spPr>
        <p:txBody>
          <a:bodyPr>
            <a:normAutofit/>
          </a:bodyPr>
          <a:lstStyle/>
          <a:p>
            <a:pPr>
              <a:lnSpc>
                <a:spcPct val="90000"/>
              </a:lnSpc>
            </a:pPr>
            <a:r>
              <a:rPr lang="fr-FR" sz="2400" dirty="0"/>
              <a:t>By </a:t>
            </a:r>
            <a:r>
              <a:rPr lang="fr-FR" sz="2400" dirty="0" err="1"/>
              <a:t>tracking</a:t>
            </a:r>
            <a:r>
              <a:rPr lang="fr-FR" sz="2400" dirty="0"/>
              <a:t> consumer </a:t>
            </a:r>
            <a:r>
              <a:rPr lang="fr-FR" sz="2400" dirty="0" err="1"/>
              <a:t>behavior</a:t>
            </a:r>
            <a:r>
              <a:rPr lang="fr-FR" sz="2400" dirty="0"/>
              <a:t>, (tech) </a:t>
            </a:r>
            <a:r>
              <a:rPr lang="fr-FR" sz="2400" dirty="0" err="1"/>
              <a:t>companies</a:t>
            </a:r>
            <a:r>
              <a:rPr lang="fr-FR" sz="2400" dirty="0"/>
              <a:t> are </a:t>
            </a:r>
            <a:r>
              <a:rPr lang="fr-FR" sz="2400" dirty="0" err="1"/>
              <a:t>increasingly</a:t>
            </a:r>
            <a:r>
              <a:rPr lang="fr-FR" sz="2400" dirty="0"/>
              <a:t> able to use first </a:t>
            </a:r>
            <a:r>
              <a:rPr lang="fr-FR" sz="2400" dirty="0" err="1"/>
              <a:t>degree</a:t>
            </a:r>
            <a:r>
              <a:rPr lang="fr-FR" sz="2400" dirty="0"/>
              <a:t> </a:t>
            </a:r>
            <a:r>
              <a:rPr lang="fr-FR" sz="2400" dirty="0" err="1"/>
              <a:t>price</a:t>
            </a:r>
            <a:r>
              <a:rPr lang="fr-FR" sz="2400" dirty="0"/>
              <a:t> discrimination (</a:t>
            </a:r>
            <a:r>
              <a:rPr lang="fr-FR" sz="2400" dirty="0" err="1"/>
              <a:t>personally</a:t>
            </a:r>
            <a:r>
              <a:rPr lang="fr-FR" sz="2400" dirty="0"/>
              <a:t> </a:t>
            </a:r>
            <a:r>
              <a:rPr lang="fr-FR" sz="2400" dirty="0" err="1"/>
              <a:t>tailored</a:t>
            </a:r>
            <a:r>
              <a:rPr lang="fr-FR" sz="2400" dirty="0"/>
              <a:t> </a:t>
            </a:r>
            <a:r>
              <a:rPr lang="fr-FR" sz="2400" dirty="0" err="1"/>
              <a:t>prices</a:t>
            </a:r>
            <a:r>
              <a:rPr lang="fr-FR" sz="2400" dirty="0"/>
              <a:t>)</a:t>
            </a:r>
          </a:p>
          <a:p>
            <a:pPr>
              <a:lnSpc>
                <a:spcPct val="90000"/>
              </a:lnSpc>
            </a:pPr>
            <a:r>
              <a:rPr lang="fr-FR" sz="2400" dirty="0"/>
              <a:t>Example: Uber</a:t>
            </a:r>
            <a:endParaRPr lang="en-US" sz="2400" dirty="0"/>
          </a:p>
        </p:txBody>
      </p:sp>
      <p:pic>
        <p:nvPicPr>
          <p:cNvPr id="6" name="Picture 5">
            <a:extLst>
              <a:ext uri="{FF2B5EF4-FFF2-40B4-BE49-F238E27FC236}">
                <a16:creationId xmlns:a16="http://schemas.microsoft.com/office/drawing/2014/main" id="{E3A67E1E-750B-4AD4-9EDF-A8B3658B6552}"/>
              </a:ext>
            </a:extLst>
          </p:cNvPr>
          <p:cNvPicPr>
            <a:picLocks noChangeAspect="1"/>
          </p:cNvPicPr>
          <p:nvPr/>
        </p:nvPicPr>
        <p:blipFill>
          <a:blip r:embed="rId3"/>
          <a:stretch>
            <a:fillRect/>
          </a:stretch>
        </p:blipFill>
        <p:spPr>
          <a:xfrm>
            <a:off x="5099843" y="2662058"/>
            <a:ext cx="2771246" cy="3958145"/>
          </a:xfrm>
          <a:prstGeom prst="rect">
            <a:avLst/>
          </a:prstGeom>
        </p:spPr>
      </p:pic>
    </p:spTree>
    <p:extLst>
      <p:ext uri="{BB962C8B-B14F-4D97-AF65-F5344CB8AC3E}">
        <p14:creationId xmlns:p14="http://schemas.microsoft.com/office/powerpoint/2010/main" val="36678744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77526</TotalTime>
  <Words>412</Words>
  <Application>Microsoft Office PowerPoint</Application>
  <PresentationFormat>On-screen Show (4:3)</PresentationFormat>
  <Paragraphs>68</Paragraphs>
  <Slides>6</Slides>
  <Notes>5</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6</vt:i4>
      </vt:variant>
    </vt:vector>
  </HeadingPairs>
  <TitlesOfParts>
    <vt:vector size="20" baseType="lpstr">
      <vt:lpstr>Arial</vt:lpstr>
      <vt:lpstr>Calibri</vt:lpstr>
      <vt:lpstr>Lucida Grande</vt:lpstr>
      <vt:lpstr>Times New Roman</vt:lpstr>
      <vt:lpstr>Trebuchet MS</vt:lpstr>
      <vt:lpstr>Whitney Book</vt:lpstr>
      <vt:lpstr>Whitney-Book</vt:lpstr>
      <vt:lpstr>Whitney-Medium</vt:lpstr>
      <vt:lpstr>2_Custom Design</vt:lpstr>
      <vt:lpstr>Custom Design</vt:lpstr>
      <vt:lpstr>3_Custom Design</vt:lpstr>
      <vt:lpstr>5_Custom Design</vt:lpstr>
      <vt:lpstr>4_Custom Design</vt:lpstr>
      <vt:lpstr>12_Custom Design</vt:lpstr>
      <vt:lpstr>Module 6 – Video 2 First-Degree Price Discrimination </vt:lpstr>
      <vt:lpstr>OUTLINE of module 6 </vt:lpstr>
      <vt:lpstr>First degree price discrimination</vt:lpstr>
      <vt:lpstr>First degree price discrimination</vt:lpstr>
      <vt:lpstr>First degree price discrimination</vt:lpstr>
      <vt:lpstr>The Dystopian Future of Price Discrimination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Burgos, Manuel</cp:lastModifiedBy>
  <cp:revision>1279</cp:revision>
  <cp:lastPrinted>2019-09-13T20:44:29Z</cp:lastPrinted>
  <dcterms:created xsi:type="dcterms:W3CDTF">2013-01-24T22:32:50Z</dcterms:created>
  <dcterms:modified xsi:type="dcterms:W3CDTF">2022-01-26T19:24:32Z</dcterms:modified>
  <cp:category/>
</cp:coreProperties>
</file>