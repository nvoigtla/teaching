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  <p:sldMasterId id="2147483819" r:id="rId5"/>
    <p:sldMasterId id="2147483835" r:id="rId6"/>
  </p:sldMasterIdLst>
  <p:notesMasterIdLst>
    <p:notesMasterId r:id="rId12"/>
  </p:notesMasterIdLst>
  <p:handoutMasterIdLst>
    <p:handoutMasterId r:id="rId13"/>
  </p:handoutMasterIdLst>
  <p:sldIdLst>
    <p:sldId id="919" r:id="rId7"/>
    <p:sldId id="946" r:id="rId8"/>
    <p:sldId id="810" r:id="rId9"/>
    <p:sldId id="949" r:id="rId10"/>
    <p:sldId id="913" r:id="rId11"/>
  </p:sldIdLst>
  <p:sldSz cx="9144000" cy="6858000" type="screen4x3"/>
  <p:notesSz cx="7315200" cy="96012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liano, Paola" initials="GP" lastIdx="111" clrIdx="0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2" name="CLEMENCE TRICAUD" initials="CT" lastIdx="41" clrIdx="1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3" name="Wasserman, Melanie" initials="WM" lastIdx="20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Nico Voigtlaender" initials="NV" lastIdx="35" clrIdx="3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77058" autoAdjust="0"/>
  </p:normalViewPr>
  <p:slideViewPr>
    <p:cSldViewPr snapToGrid="0" snapToObjects="1">
      <p:cViewPr varScale="1">
        <p:scale>
          <a:sx n="38" d="100"/>
          <a:sy n="38" d="100"/>
        </p:scale>
        <p:origin x="1560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2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75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3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6AC2A-E969-3C46-9ED8-B46D40C5E66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630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6A1EF-F8D3-2C4C-A23B-DABFF455F73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1F4B-73DA-634C-9E29-5638864385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C6B-EB5D-C046-9EA3-3CA9495D4FA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CE89-0F10-7242-893C-EB6AB707C3E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D4AD-BBAE-3345-8D65-FDA503BCC30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FE5B-575B-7C44-8512-74AD30B0897C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DBD6-357E-6446-973D-D43166770EC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D7A8-0006-294D-BE45-F3E7C3592CE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1F3B-0CB8-3743-AFB9-710E8B95EFB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D085-3135-FC4A-9A84-231E84B6103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6980-FB3F-B643-BBDA-B17571720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5DF3-9DEA-544D-8F00-A2AC9DF52A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05CF-9EA3-6E4A-B446-49944784288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68B0-69D4-C442-8BE8-D78CC592EE2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A1-0085-4047-8521-4C6E88495644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585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45513-CCD9-BF44-AF3C-BE8B0074F8E4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589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4E69F-4642-024C-8218-7783E0016BBC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726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35AA-3EEA-4E4A-AAA8-EB53B8142E5C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601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2FF5-857A-9348-8EB2-11D856F360AB}" type="datetime1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30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0E36F-906D-344A-A949-C52B74620049}" type="datetime1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86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B588-7288-D04E-904A-CDCE244D580E}" type="datetime1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24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81-43A6-3F49-B307-3F9BBA124F23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0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1EA0-6DD3-504A-8908-E971883387B0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655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B5274-5AC2-BC41-98DA-ADE40ECE0F39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06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FCA8-EF2C-1647-8362-8B88070EA177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9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3F98-41A7-214D-9D1E-B369563BBE09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93933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1FBA-CBBF-0E4F-B88D-32EF928D3AC7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926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D41A-B76F-734D-8195-99F8976B7155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136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C38028-5B1C-49D3-BF22-2CE9385E6DA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100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633E-2298-204E-AACF-E24EFF406A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06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AAD53-932E-6744-A7B5-E9D56713AA9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7096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DFCC7-1B5D-4E46-84A5-178B98047B8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6310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845D-97EE-F445-AA82-55CB331164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7475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0BF4-8988-BE4B-A0D9-5982AE90C1B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2063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871F8-0597-BE4B-8995-43A43442923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1431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356-ED15-9E40-8BB7-7D9094231F3D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6388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DCC3-7787-B94B-8E9A-4B130A91D4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354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37E5-D1D0-9749-AFE5-370792A74CE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013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06F6A-AC1A-774B-A74A-33E90EC92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2823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8234-11CC-E84A-A484-707AFF7FC1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0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A679-79CD-7C4C-B43E-7A7F72D5077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7477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4BE0-4447-9D40-9A24-D851C2136A2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602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AD2E-853D-3E4B-8412-10F295485E7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678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63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43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58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6049" y="5935664"/>
            <a:ext cx="1973580" cy="381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11D7-C283-8E4B-AB2F-B2B17B0FC9BC}" type="datetimeFigureOut">
              <a:rPr lang="en-US" smtClean="0"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ndersonLogo_TITN.gif"/>
          <p:cNvPicPr>
            <a:picLocks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668" y="6197715"/>
            <a:ext cx="2194560" cy="4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4E0049A5-3BC7-C248-9551-30ECA52D287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4078B1F-B2EE-D743-B0A9-AD5D4736074E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36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E90A6E0-D48F-F943-96BF-CEC2ED7DA21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2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14" y="4406901"/>
            <a:ext cx="8327429" cy="1362075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6 – Video 6</a:t>
            </a:r>
            <a:br>
              <a:rPr lang="en-US" dirty="0"/>
            </a:br>
            <a:r>
              <a:rPr lang="en-US" dirty="0"/>
              <a:t>Two-Part Tariffs</a:t>
            </a:r>
            <a:br>
              <a:rPr lang="en-US" dirty="0"/>
            </a:br>
            <a:br>
              <a:rPr lang="en-US" dirty="0"/>
            </a:br>
            <a:endParaRPr lang="en-US" b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Professor Nico Voigtländer</a:t>
            </a:r>
          </a:p>
          <a:p>
            <a:r>
              <a:rPr lang="en-US" sz="2400" dirty="0"/>
              <a:t>Management 405: Module 6</a:t>
            </a:r>
          </a:p>
        </p:txBody>
      </p:sp>
      <p:pic>
        <p:nvPicPr>
          <p:cNvPr id="4" name="Picture 4" descr="data:image/png;base64,iVBORw0KGgoAAAANSUhEUgAAAgQAAABiCAMAAAAY7jvKAAAAw1BMVEX///8Qe7YjHyAAdrQAAACEttYAcrLF3OsbFhcgHB0AeLUIAAAdGBkAdbNqaGkPCAr5+flbWVre3t4WEBH09PR6eHkchr0zLzCYl5hUUVI7ODlwbm9VncgUDg/T09MuKivAv8Dn5ufv9fmMiopMSEmlpKWwr69JlsREQUKCgIE3NDXb2tuLiYrDw8PNzMxsamuqqaptq9Dk8Pat0eWQutibxd7Q4+9opcwwjL+4z+PK4O7a7PSbxN4iib681eePttVssNPmOyI8AAAa7UlEQVR4nO2dB3ujPBKACdY6NJvqHgy4EFzjzbZs+XL3/3/VqUtgitfxnXO7nufuy9oSAjMvo5lRQfnw58hP5SbnSeuPkfb9te/l/63c/TFyg+BsubbqLic3CM6Wa6vucnKD4Gy5tuouJzcIzpZrq+5ycoPgbLm26i4nNwjOlmur7nJyg+BsubbqLic3CM6Wa6vucnKD4Gy5tuouJzcIzpZrq+5y0gRB0lthmTtvu2M70szyba28K7m26i4nTRAMQYgF7N92x5a4HXP0Rpbek1xbdZeTJggyS8USrt52x5Y2akVzbxC8Q2mAYK/qBAI9C950x24QvGNpgGAeqlT8+E137AbBO5Z6CIKxziB4Y39wg+AdSz0EO4C7AkwBeFN/cIPgHUs9BBMfMRBFGIL0LXfsBsE7lloIkjGKDcK5i/743bfcsRsE71hqIYix5sC0hw3C2nvDHbtB8I6lFgJXwxAoSxP9NQ8V1ZxpnKbxPil+H+yGPbc3jJEzUQKBM02HT6h8WnkByUY0utnFaVx2GtjSPp1P3Kdtuqv0W5IdOnhTeaYz5Nqqu5zUQRAAojjFw/+wRlLZYeQiGUINHEaRCQBQs3lOP8Fy4du+Bv+fHUogcFJ4GC43B+5OHLbF7Y6gA+LMR9kgCmhj7sCCJwGmOu7GeXPiDEcqbcnKtpK5GuKm3FhRvN4YHR0O3DcmPmW5tupqxfidynUQUAMA9RHhAAFISh4CDYrZVTwXaLhUt8xIeqa9EaDJRtUCkyMINiN6GDpSAy5vumujhsFS2WempuskJkl1k9XWLR/kVLlcmxZvybLNIbcGPRNf40E5WLbFzrS6WId0iiqIVBaUq8rodNCfTqdllB10kl77z4+nc1ADgYN7Az2CNnSOVWgPReEQf+NPgkhTuVg6144nf6+C7TDMQZCqcjF0PjPGT9cnXU9CGsAQrGw9V1sLY3aeYGVauTI9XDCgsCuj+mkqH+67F2LgBAj6TE4vMTrt/rfP31/v7++/f//40uoYxwedoNbOL+VD64R6RGog2ODnH+ttbxV7dAKBPiI649oZUwUkWe57VV3rcguxTzWn61Q/fuTJEIRD2jCCIAWkrh+GvkYPY7T1ALMBGrMHYebJEOhulEMIXGoks1kTn2jNH0VNv7A2Puc1Zdw9fHmWzzH78sAse+cL/e5rs1aNl5nytX0iArUQED3bcwXpFCvN3xcK4b3H/+V3mBmLLk0367CzBj6vQiGYmvSjGY3Hvk+fUGLGifL1jFoKCIFHlOhnve285xJVa2tynpVJGbKgj5LRZv2MoEYgUAln/Br1wVuiHEma7+0rrXlf1NEDa+NfMgRG++HHUWfl3L+0860VkSo78y9Y7xSL0QgBdQSm4n5K/QGFAOkDAPg/9mQPsCqn9Pk0B8v9fvcEmO0nEAQuUTQYxRvP2z8BciISfFALgL7StdCGEBxwY4C4ncEuwqcC2JdM6VWA7jQJgiRdE/YAuc4es0Z6iK6RIqKaQ+Ui0nxvv9KarwXL3PrI2vgmWXvjoWJd6KdOvrVO04mNPqr3ubFeMwR7kjKO5A86L+UQ+NhLi0f0hpN5B1STJp2KslloMgSpSRpjykjxs6oPEulQ1HLU3Q6HjjJCB/sTduYpBiTsKWhog7Dn82QmCWp1YrIYBLq+gg9/cCD4qNagQbsnSvO9ZZb9e0Ednc+0YPbAITDav6pc1mdsCjq8tUY730KG4BSL0QgBcQb9Hv4QELNg8v6AQWBPiBX36MQDbCw21IBzH8yz5O5gjavaYkSKjFWGWJUcArubkLuCq9uiJ3eBbdtgFHBDYPd4Ge23QowMg8Cnx8bRJUZBuDTf3BmtWXwmuWWfcRfeePlReaJ7onUGwa+mJxx5BFCck+ODSgiSDN+xkIbwPaKnLSumEFhj9sWOWGIMzYEaEZGbIUQRCEhfoYdCFY7GXVAOAeBGG9sJYQmUdD6EsgwUZ0E8koEUulInEuuZQiBooxcNSvJNZ0jjve0zCD4WuoMOU/jzC9WT0X+uOg3sDhAExj+sRqPb36Yu5Mn9QSUEO2Kzx9SLSvENtTJ2/+j9tGN+AHG9NDTCQIyyJg02eKqIDlh0KZ2MBKM20hyFwFrwQvJwa9sj1SVE4blB7oC4gTayKjQ6sLgjSJJeqrkrtnSWNN1a+kBCeSg+kqx7/9lnDNRtE4EffdHat4YH3Hih/crzqfFBJQREGVyRCZlZANj9oyHiWHjaCxpGKowHOa0QUC4QBBPqZAYJk4D0B7hxCoE0h4V+Y5vuPN15UsdJfAuicC6kdWyyevQncJPjUAhi5RLSCMEjU1vRLnOV/2QFX3MtO7PZ8/Nsxn4qfvSNh6rWjs7LYsnGmk0QBCTBIsYLuliL/hP9SCCwRsKmSxBQkyw/cCueLEqoEV9nYybZQFDTLZgcNqkBHW3b+iDrLhkIW9ID2bkRgYNJNO8wCEQXpjjUs4nLf/NvSiME35gW+4XM3wuz7DSWN37J7f74/PDSb7f7/W+/CBv40Ret/VOvWoP3Qs3eQwMEabH7pC59RL+og8Azj7veOU8bU5sCzbQQGt8jf6JggRRkRfgcN+joW5oJXPLssz4/10/EBCKUNjyKa/+3ELQ+sJoFrQkT8YohaH2TWr1/vOuQ1LBhtO4eEAa4NxGtNZyWp6ggYyemCiogcIhV1ceHlMqSmmlqe+sgSCgEshMuxg42Um4pL9iKHEMAsQkLFUMXdUPEOKl27spj7b1AwANBp9A3G1zpX/CjaojOwPmYHy9o9WEggb3H1r9YnfqeXvgOysn9QQUECdWUbjKhISENGU+CQI57JQhoptjSimJXQKAkXRDmRwjCdcD8z3cLQYsZ+Z9FCHiuiPT2n3mTz49FA25AlAgErLVZPQStT9IlfjnNNayAYGhWPK06Nb51EATUJ5D7aqk7ILFn5B4LcvPLIIBh5SoLTV8yIfbEKe8O0pBf2JUhMPjQQUEVwrJ/xE8qjwxmDyWduPGlT/7QSkWkCrX78iU+v8kSLPIPniR0quEpjmEsNUg9dQhBMEIV9fHUCY5EqYIAWoNp2h0D0w6pidI9lnywc3MEaAD65FwfApYS+lRQWyfnvoscsvKt1JEz8q3d10LQkQ1BczhZB8Hequq3VY1MLamFgDj7klvOQgIcIhLdWBXTO6ogILJJt2uakl6ysMGWhwXJ+DfR/JUhuGO39ksxYcgVhQx9h3sEtYMCBmutiFS+FvM56Z9Pb4CA5QN9WegoLpk5UgtBlz/2TKake5GSRXh0skSOIPCmWHhbCakBnZOANOpPJOeD+iM2Ck+vDQHT7ociBF+lJkSoMKt14wzWadTGfYyv53/Tv6cwUA5BQJN0k1SWlS09eLUQ0NytJm72SBMQJDRtLHXl8y2SFXb5ixD0ABZhOAKcZEYZCxLCqKFkVEg+QlfxkVeGgGUDPhaU255JTQiv/3ttOthgBxWRylViHsF9i/7jKFl5MgR0JFjLp1c94tZbC/Tg1ULgkf7AGtNSh61mI8ZhRPNO/NgYL1m2cWLhCAJyplAYDjKYhcKUmE4uEJmlmCYrcU90bQiq8rxt1gJ6Tnlf3xDPGaxa3dABDw0e2tRwvJ4SH5RCQJPuUf5bh032QQ9sLQTsEfUXMTpu32WxBoFgR+YL2i7NOcfUh8BjAEcQTMnFhJzI2KQ+AQwS6XlGdHLaTqX0JeJnXA0C7qcXn0ZegOYIGcxeNIR+d+ygGl+Pdy1f0fwyLM+n5IvKIKArEHNDPEiWtD">
            <a:extLst>
              <a:ext uri="{FF2B5EF4-FFF2-40B4-BE49-F238E27FC236}">
                <a16:creationId xmlns:a16="http://schemas.microsoft.com/office/drawing/2014/main" id="{E9C01BFD-953B-4576-ACA6-E6FE7DBA0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5852606"/>
            <a:ext cx="268605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70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module 6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4874"/>
            <a:ext cx="8229600" cy="52124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fr-FR" sz="2810" dirty="0">
                <a:solidFill>
                  <a:schemeClr val="bg1">
                    <a:lumMod val="65000"/>
                  </a:schemeClr>
                </a:solidFill>
              </a:rPr>
              <a:t>Simple vs. </a:t>
            </a:r>
            <a:r>
              <a:rPr lang="fr-FR" sz="2810" dirty="0" err="1">
                <a:solidFill>
                  <a:schemeClr val="bg1">
                    <a:lumMod val="65000"/>
                  </a:schemeClr>
                </a:solidFill>
              </a:rPr>
              <a:t>complex</a:t>
            </a:r>
            <a:r>
              <a:rPr lang="fr-FR" sz="281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fr-FR" sz="2810" dirty="0" err="1">
                <a:solidFill>
                  <a:schemeClr val="bg1">
                    <a:lumMod val="65000"/>
                  </a:schemeClr>
                </a:solidFill>
              </a:rPr>
              <a:t>pricing</a:t>
            </a:r>
            <a:endParaRPr lang="fr-FR" sz="281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Direct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</a:rPr>
              <a:t>price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discrimination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Perfect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price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discrimination (first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degree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Segment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pricing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(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third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degree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Indirect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</a:rPr>
              <a:t>price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discrimination (second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</a:rPr>
              <a:t>degree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742950" lvl="2" indent="-342900">
              <a:lnSpc>
                <a:spcPct val="120000"/>
              </a:lnSpc>
            </a:pPr>
            <a:r>
              <a:rPr lang="fr-FR" sz="2600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Versioning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Coupons</a:t>
            </a:r>
          </a:p>
          <a:p>
            <a:pPr>
              <a:lnSpc>
                <a:spcPct val="120000"/>
              </a:lnSpc>
            </a:pPr>
            <a:r>
              <a:rPr lang="fr-FR" b="1" dirty="0"/>
              <a:t>Advanced </a:t>
            </a:r>
            <a:r>
              <a:rPr lang="fr-FR" b="1" dirty="0" err="1"/>
              <a:t>pricing</a:t>
            </a:r>
            <a:r>
              <a:rPr lang="fr-FR" b="1" dirty="0"/>
              <a:t> </a:t>
            </a:r>
            <a:r>
              <a:rPr lang="fr-FR" b="1" dirty="0" err="1"/>
              <a:t>strategies</a:t>
            </a:r>
            <a:endParaRPr lang="fr-FR" b="1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Flat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fee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pricing</a:t>
            </a:r>
            <a:endParaRPr lang="fr-FR" dirty="0">
              <a:solidFill>
                <a:schemeClr val="bg1">
                  <a:lumMod val="65000"/>
                </a:schemeClr>
              </a:solidFill>
              <a:latin typeface="Whitney-Book" pitchFamily="50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b="1" dirty="0" err="1">
                <a:solidFill>
                  <a:srgbClr val="002060"/>
                </a:solidFill>
                <a:latin typeface="Whitney-Book" pitchFamily="50" charset="0"/>
              </a:rPr>
              <a:t>Two</a:t>
            </a:r>
            <a:r>
              <a:rPr lang="fr-FR" b="1" dirty="0">
                <a:solidFill>
                  <a:srgbClr val="002060"/>
                </a:solidFill>
                <a:latin typeface="Whitney-Book" pitchFamily="50" charset="0"/>
              </a:rPr>
              <a:t>-part </a:t>
            </a:r>
            <a:r>
              <a:rPr lang="fr-FR" b="1" dirty="0" err="1">
                <a:solidFill>
                  <a:srgbClr val="002060"/>
                </a:solidFill>
                <a:latin typeface="Whitney-Book" pitchFamily="50" charset="0"/>
              </a:rPr>
              <a:t>tariff</a:t>
            </a:r>
            <a:endParaRPr lang="fr-FR" b="1" dirty="0">
              <a:solidFill>
                <a:srgbClr val="002060"/>
              </a:solidFill>
              <a:latin typeface="Whitney-Book" pitchFamily="50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Block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pricing</a:t>
            </a:r>
            <a:endParaRPr lang="fr-FR" dirty="0">
              <a:solidFill>
                <a:schemeClr val="bg1">
                  <a:lumMod val="65000"/>
                </a:schemeClr>
              </a:solidFill>
              <a:latin typeface="Whitney-Book" pitchFamily="50" charset="0"/>
              <a:cs typeface="Whitney-Book" pitchFamily="50" charset="0"/>
            </a:endParaRP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39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27215"/>
            <a:ext cx="8399695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Whitney Medium" pitchFamily="50" charset="0"/>
                <a:cs typeface="Whitney Medium" pitchFamily="50" charset="0"/>
              </a:rPr>
              <a:t>Two part-Tariff</a:t>
            </a:r>
            <a:br>
              <a:rPr lang="en-US" sz="3200" dirty="0">
                <a:latin typeface="Whitney Medium" pitchFamily="50" charset="0"/>
                <a:cs typeface="Whitney Medium" pitchFamily="50" charset="0"/>
              </a:rPr>
            </a:br>
            <a:r>
              <a:rPr lang="en-US" sz="3200" dirty="0">
                <a:latin typeface="Whitney Medium" pitchFamily="50" charset="0"/>
                <a:cs typeface="Whitney Medium" pitchFamily="50" charset="0"/>
              </a:rPr>
              <a:t>Now: </a:t>
            </a:r>
            <a:r>
              <a:rPr lang="en-US" sz="3200" i="1" dirty="0">
                <a:solidFill>
                  <a:srgbClr val="C00000"/>
                </a:solidFill>
                <a:latin typeface="Whitney Medium" pitchFamily="50" charset="0"/>
                <a:cs typeface="Whitney Medium" pitchFamily="50" charset="0"/>
              </a:rPr>
              <a:t>MC</a:t>
            </a:r>
            <a:r>
              <a:rPr lang="en-US" sz="3200" dirty="0">
                <a:solidFill>
                  <a:srgbClr val="C00000"/>
                </a:solidFill>
                <a:latin typeface="Whitney Medium" pitchFamily="50" charset="0"/>
                <a:cs typeface="Whitney Medium" pitchFamily="50" charset="0"/>
              </a:rPr>
              <a:t>&gt;0</a:t>
            </a:r>
            <a:endParaRPr lang="en-US" sz="2700" dirty="0">
              <a:solidFill>
                <a:srgbClr val="C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3290494" y="5771063"/>
            <a:ext cx="801687" cy="375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defTabSz="974725">
              <a:spcBef>
                <a:spcPct val="50000"/>
              </a:spcBef>
            </a:pPr>
            <a:r>
              <a:rPr lang="en-US" b="0" i="1" dirty="0">
                <a:solidFill>
                  <a:srgbClr val="C00000"/>
                </a:solidFill>
                <a:latin typeface="+mn-lt"/>
                <a:cs typeface="Times New Roman" pitchFamily="18" charset="0"/>
              </a:rPr>
              <a:t>D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53771" y="2058405"/>
            <a:ext cx="1693886" cy="3078048"/>
          </a:xfrm>
          <a:custGeom>
            <a:avLst/>
            <a:gdLst>
              <a:gd name="connsiteX0" fmla="*/ 0 w 2361151"/>
              <a:gd name="connsiteY0" fmla="*/ 3053334 h 3053334"/>
              <a:gd name="connsiteX1" fmla="*/ 0 w 2361151"/>
              <a:gd name="connsiteY1" fmla="*/ 0 h 3053334"/>
              <a:gd name="connsiteX2" fmla="*/ 2361151 w 2361151"/>
              <a:gd name="connsiteY2" fmla="*/ 3053334 h 3053334"/>
              <a:gd name="connsiteX3" fmla="*/ 0 w 2361151"/>
              <a:gd name="connsiteY3" fmla="*/ 3053334 h 3053334"/>
              <a:gd name="connsiteX0" fmla="*/ 0 w 1706243"/>
              <a:gd name="connsiteY0" fmla="*/ 3053334 h 3090404"/>
              <a:gd name="connsiteX1" fmla="*/ 0 w 1706243"/>
              <a:gd name="connsiteY1" fmla="*/ 0 h 3090404"/>
              <a:gd name="connsiteX2" fmla="*/ 1706243 w 1706243"/>
              <a:gd name="connsiteY2" fmla="*/ 3090404 h 3090404"/>
              <a:gd name="connsiteX3" fmla="*/ 0 w 1706243"/>
              <a:gd name="connsiteY3" fmla="*/ 3053334 h 3090404"/>
              <a:gd name="connsiteX0" fmla="*/ 0 w 1693886"/>
              <a:gd name="connsiteY0" fmla="*/ 3053334 h 3078048"/>
              <a:gd name="connsiteX1" fmla="*/ 0 w 1693886"/>
              <a:gd name="connsiteY1" fmla="*/ 0 h 3078048"/>
              <a:gd name="connsiteX2" fmla="*/ 1693886 w 1693886"/>
              <a:gd name="connsiteY2" fmla="*/ 3078048 h 3078048"/>
              <a:gd name="connsiteX3" fmla="*/ 0 w 1693886"/>
              <a:gd name="connsiteY3" fmla="*/ 3053334 h 307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3886" h="3078048">
                <a:moveTo>
                  <a:pt x="0" y="3053334"/>
                </a:moveTo>
                <a:lnTo>
                  <a:pt x="0" y="0"/>
                </a:lnTo>
                <a:lnTo>
                  <a:pt x="1693886" y="3078048"/>
                </a:lnTo>
                <a:lnTo>
                  <a:pt x="0" y="3053334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8">
              <a:latin typeface="Whitney-Book" pitchFamily="50" charset="0"/>
              <a:cs typeface="Whitney-Book" pitchFamily="50" charset="0"/>
            </a:endParaRPr>
          </a:p>
        </p:txBody>
      </p:sp>
      <p:sp>
        <p:nvSpPr>
          <p:cNvPr id="27" name="Content Placeholder 3"/>
          <p:cNvSpPr>
            <a:spLocks noGrp="1"/>
          </p:cNvSpPr>
          <p:nvPr>
            <p:ph idx="1"/>
          </p:nvPr>
        </p:nvSpPr>
        <p:spPr>
          <a:xfrm>
            <a:off x="4830292" y="2204659"/>
            <a:ext cx="2942108" cy="1367344"/>
          </a:xfrm>
        </p:spPr>
        <p:txBody>
          <a:bodyPr>
            <a:noAutofit/>
          </a:bodyPr>
          <a:lstStyle/>
          <a:p>
            <a:pPr marL="0" indent="0">
              <a:spcAft>
                <a:spcPts val="563"/>
              </a:spcAft>
              <a:buNone/>
            </a:pPr>
            <a:r>
              <a:rPr lang="en-US" sz="2000" dirty="0"/>
              <a:t>Flat fee ,</a:t>
            </a:r>
            <a:r>
              <a:rPr lang="en-US" sz="2000" i="1" dirty="0"/>
              <a:t>F*, </a:t>
            </a:r>
            <a:r>
              <a:rPr lang="en-US" sz="2000" dirty="0"/>
              <a:t>is equal to the entire consumer surplus. Usage fee, </a:t>
            </a:r>
            <a:r>
              <a:rPr lang="en-US" sz="2000" i="1" dirty="0"/>
              <a:t>P*,</a:t>
            </a:r>
            <a:r>
              <a:rPr lang="en-US" sz="2000" dirty="0"/>
              <a:t> is set equal to </a:t>
            </a:r>
            <a:r>
              <a:rPr lang="en-US" sz="2000" i="1" dirty="0"/>
              <a:t>MC</a:t>
            </a:r>
            <a:r>
              <a:rPr lang="en-US" sz="2000" dirty="0"/>
              <a:t>. </a:t>
            </a:r>
            <a:endParaRPr lang="en-US" sz="2000" i="1" dirty="0"/>
          </a:p>
          <a:p>
            <a:pPr marL="0" indent="0">
              <a:spcAft>
                <a:spcPts val="563"/>
              </a:spcAft>
              <a:buNone/>
            </a:pPr>
            <a:endParaRPr lang="en-US"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3</a:t>
            </a:fld>
            <a:endParaRPr lang="en-US"/>
          </a:p>
        </p:txBody>
      </p:sp>
      <p:sp>
        <p:nvSpPr>
          <p:cNvPr id="38" name="Line 3"/>
          <p:cNvSpPr>
            <a:spLocks noChangeShapeType="1"/>
          </p:cNvSpPr>
          <p:nvPr/>
        </p:nvSpPr>
        <p:spPr bwMode="auto">
          <a:xfrm>
            <a:off x="923610" y="1163003"/>
            <a:ext cx="0" cy="515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 wrap="none" anchor="ctr"/>
          <a:lstStyle/>
          <a:p>
            <a:endParaRPr lang="en-US" b="0">
              <a:latin typeface="+mn-lt"/>
              <a:cs typeface="Times New Roman" pitchFamily="18" charset="0"/>
            </a:endParaRPr>
          </a:p>
        </p:txBody>
      </p:sp>
      <p:sp>
        <p:nvSpPr>
          <p:cNvPr id="39" name="Line 4"/>
          <p:cNvSpPr>
            <a:spLocks noChangeShapeType="1"/>
          </p:cNvSpPr>
          <p:nvPr/>
        </p:nvSpPr>
        <p:spPr bwMode="auto">
          <a:xfrm>
            <a:off x="923610" y="6319203"/>
            <a:ext cx="5757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 wrap="none" anchor="ctr"/>
          <a:lstStyle/>
          <a:p>
            <a:endParaRPr lang="en-US" b="0">
              <a:latin typeface="+mn-lt"/>
              <a:cs typeface="Times New Roman" pitchFamily="18" charset="0"/>
            </a:endParaRPr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604522" y="1068058"/>
            <a:ext cx="638175" cy="375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defTabSz="974725">
              <a:spcBef>
                <a:spcPct val="50000"/>
              </a:spcBef>
            </a:pPr>
            <a:r>
              <a:rPr lang="en-US" b="0" i="1" dirty="0">
                <a:latin typeface="+mn-lt"/>
                <a:cs typeface="Times New Roman" pitchFamily="18" charset="0"/>
              </a:rPr>
              <a:t>P</a:t>
            </a:r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6382609" y="6363653"/>
            <a:ext cx="1490663" cy="40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defTabSz="974725">
              <a:spcBef>
                <a:spcPct val="50000"/>
              </a:spcBef>
            </a:pPr>
            <a:r>
              <a:rPr lang="en-US" sz="2000" b="0" i="1" dirty="0">
                <a:latin typeface="+mn-lt"/>
                <a:cs typeface="Times New Roman" pitchFamily="18" charset="0"/>
              </a:rPr>
              <a:t>Q</a:t>
            </a:r>
          </a:p>
        </p:txBody>
      </p:sp>
      <p:sp>
        <p:nvSpPr>
          <p:cNvPr id="46" name="Line 12"/>
          <p:cNvSpPr>
            <a:spLocks noChangeShapeType="1"/>
          </p:cNvSpPr>
          <p:nvPr/>
        </p:nvSpPr>
        <p:spPr bwMode="auto">
          <a:xfrm>
            <a:off x="953772" y="2007553"/>
            <a:ext cx="2400300" cy="434181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0" dirty="0">
              <a:latin typeface="+mn-lt"/>
              <a:cs typeface="Times New Roman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37628" y="3779779"/>
            <a:ext cx="4379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0" i="1" dirty="0">
                <a:latin typeface="+mn-lt"/>
                <a:cs typeface="Times New Roman" pitchFamily="18" charset="0"/>
              </a:rPr>
              <a:t>F*</a:t>
            </a:r>
            <a:endParaRPr lang="en-US" sz="2000" i="1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032609-D29D-4C4B-9A72-AEFE6C6ACB8F}"/>
              </a:ext>
            </a:extLst>
          </p:cNvPr>
          <p:cNvGrpSpPr/>
          <p:nvPr/>
        </p:nvGrpSpPr>
        <p:grpSpPr>
          <a:xfrm>
            <a:off x="923610" y="4936398"/>
            <a:ext cx="5458999" cy="400110"/>
            <a:chOff x="923610" y="4936398"/>
            <a:chExt cx="5458999" cy="40011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419A6A8-ABEB-4D66-82BE-6985A51455D7}"/>
                </a:ext>
              </a:extLst>
            </p:cNvPr>
            <p:cNvCxnSpPr/>
            <p:nvPr/>
          </p:nvCxnSpPr>
          <p:spPr>
            <a:xfrm>
              <a:off x="923610" y="5136453"/>
              <a:ext cx="4835524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D12EF66-5BE1-42F2-BE97-7FA7E138F322}"/>
                </a:ext>
              </a:extLst>
            </p:cNvPr>
            <p:cNvSpPr/>
            <p:nvPr/>
          </p:nvSpPr>
          <p:spPr>
            <a:xfrm>
              <a:off x="5842075" y="4936398"/>
              <a:ext cx="5405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b="0" i="1" dirty="0">
                  <a:latin typeface="+mn-lt"/>
                  <a:cs typeface="Times New Roman" pitchFamily="18" charset="0"/>
                </a:rPr>
                <a:t>MC</a:t>
              </a:r>
              <a:endParaRPr lang="en-US" sz="2000" i="1" dirty="0">
                <a:latin typeface="+mn-lt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97F0A8E-450E-4C7A-B43B-CD25C9969F37}"/>
              </a:ext>
            </a:extLst>
          </p:cNvPr>
          <p:cNvSpPr/>
          <p:nvPr/>
        </p:nvSpPr>
        <p:spPr>
          <a:xfrm>
            <a:off x="466581" y="4926772"/>
            <a:ext cx="445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0" i="1" dirty="0">
                <a:latin typeface="+mn-lt"/>
                <a:cs typeface="Times New Roman" pitchFamily="18" charset="0"/>
              </a:rPr>
              <a:t>P*</a:t>
            </a:r>
            <a:endParaRPr lang="en-US" sz="20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1093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6" grpId="0" animBg="1"/>
      <p:bldP spid="38" grpId="0" animBg="1"/>
      <p:bldP spid="39" grpId="0" animBg="1"/>
      <p:bldP spid="40" grpId="0"/>
      <p:bldP spid="41" grpId="0"/>
      <p:bldP spid="46" grpId="0" animBg="1"/>
      <p:bldP spid="5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19B4-8F99-41F5-A65F-5BC41610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Two</a:t>
            </a:r>
            <a:r>
              <a:rPr lang="fr-FR" dirty="0"/>
              <a:t>-part </a:t>
            </a:r>
            <a:r>
              <a:rPr lang="fr-FR" dirty="0" err="1"/>
              <a:t>tariff</a:t>
            </a:r>
            <a:br>
              <a:rPr lang="fr-FR" dirty="0"/>
            </a:br>
            <a:r>
              <a:rPr lang="fr-FR" dirty="0" err="1"/>
              <a:t>Summary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7CC97-897F-4381-AAC8-132F0C317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3683" y="1719943"/>
                <a:ext cx="8229600" cy="468085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Pricing decision is setting the flat fee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) and the per-unit usage fee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sz="2400" dirty="0"/>
                  <a:t>Zipcar: annual membership (fixed fee), hourly rental fee (per-unit price)</a:t>
                </a:r>
              </a:p>
              <a:p>
                <a:pPr lvl="1"/>
                <a:r>
                  <a:rPr lang="en-US" sz="2400" dirty="0"/>
                  <a:t>Amazon prime: yearly charge (fixed fee), any purchase (per-unit price)</a:t>
                </a:r>
              </a:p>
              <a:p>
                <a:r>
                  <a:rPr lang="fr-FR" dirty="0"/>
                  <a:t>S</a:t>
                </a:r>
                <a:r>
                  <a:rPr lang="en-US" dirty="0"/>
                  <a:t>et the usage fee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endParaRPr lang="en-US" dirty="0"/>
              </a:p>
              <a:p>
                <a:pPr lvl="1"/>
                <a:r>
                  <a:rPr lang="fr-FR" sz="2400" dirty="0"/>
                  <a:t>A</a:t>
                </a:r>
                <a:r>
                  <a:rPr lang="en-US" sz="2400" dirty="0"/>
                  <a:t>voids excessive use</a:t>
                </a:r>
              </a:p>
              <a:p>
                <a:r>
                  <a:rPr lang="fr-FR" dirty="0"/>
                  <a:t>S</a:t>
                </a:r>
                <a:r>
                  <a:rPr lang="en-US" dirty="0"/>
                  <a:t>et the flat fee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= entire consumer surplus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7CC97-897F-4381-AAC8-132F0C317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683" y="1719943"/>
                <a:ext cx="8229600" cy="4680857"/>
              </a:xfrm>
              <a:blipFill>
                <a:blip r:embed="rId3"/>
                <a:stretch>
                  <a:fillRect l="-1852" t="-2474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79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Whitney-Medium" pitchFamily="50" charset="0"/>
                <a:cs typeface="Whitney-Medium" pitchFamily="50" charset="0"/>
              </a:rPr>
              <a:t>Two-Part Tariff: </a:t>
            </a:r>
            <a:r>
              <a:rPr lang="en-US" sz="3200" dirty="0" err="1">
                <a:latin typeface="Whitney-Medium" pitchFamily="50" charset="0"/>
                <a:cs typeface="Whitney-Medium" pitchFamily="50" charset="0"/>
              </a:rPr>
              <a:t>ZipCar</a:t>
            </a:r>
            <a:endParaRPr lang="en-US" dirty="0"/>
          </a:p>
        </p:txBody>
      </p:sp>
      <p:sp>
        <p:nvSpPr>
          <p:cNvPr id="38" name="Line 3"/>
          <p:cNvSpPr>
            <a:spLocks noChangeShapeType="1"/>
          </p:cNvSpPr>
          <p:nvPr/>
        </p:nvSpPr>
        <p:spPr bwMode="auto">
          <a:xfrm>
            <a:off x="923610" y="1163003"/>
            <a:ext cx="0" cy="515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39" name="Line 4"/>
          <p:cNvSpPr>
            <a:spLocks noChangeShapeType="1"/>
          </p:cNvSpPr>
          <p:nvPr/>
        </p:nvSpPr>
        <p:spPr bwMode="auto">
          <a:xfrm>
            <a:off x="923610" y="6319203"/>
            <a:ext cx="5757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604522" y="938521"/>
            <a:ext cx="638175" cy="40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P</a:t>
            </a:r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6198714" y="6363653"/>
            <a:ext cx="2183285" cy="40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Q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(miles per year)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4489528" y="4118196"/>
            <a:ext cx="801687" cy="40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MC</a:t>
            </a:r>
          </a:p>
        </p:txBody>
      </p:sp>
      <p:sp>
        <p:nvSpPr>
          <p:cNvPr id="46" name="Line 12"/>
          <p:cNvSpPr>
            <a:spLocks noChangeShapeType="1"/>
          </p:cNvSpPr>
          <p:nvPr/>
        </p:nvSpPr>
        <p:spPr bwMode="auto">
          <a:xfrm>
            <a:off x="953771" y="2007553"/>
            <a:ext cx="4718895" cy="434181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33997" y="1822887"/>
            <a:ext cx="704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$1.50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2113" y="6334701"/>
            <a:ext cx="67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10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23" name="Content Placeholder 1"/>
          <p:cNvSpPr txBox="1">
            <a:spLocks/>
          </p:cNvSpPr>
          <p:nvPr/>
        </p:nvSpPr>
        <p:spPr>
          <a:xfrm>
            <a:off x="5026555" y="1419985"/>
            <a:ext cx="413184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8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6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2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0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0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403" marR="0" lvl="0" indent="-26640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3"/>
              </a:spcAft>
              <a:buClr>
                <a:srgbClr val="1B8BD5"/>
              </a:buClr>
              <a:buSzTx/>
              <a:buFont typeface="Lucida Grande"/>
              <a:buChar char="»"/>
              <a:tabLst/>
              <a:defRPr/>
            </a:pPr>
            <a:r>
              <a:rPr kumimoji="0" lang="en-US" sz="2625" b="0" i="0" u="none" strike="noStrike" kern="1100" cap="none" spc="5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Two-part tariff:</a:t>
            </a:r>
          </a:p>
          <a:p>
            <a:pPr marL="666453" marR="0" lvl="1" indent="-26640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3"/>
              </a:spcAft>
              <a:buClr>
                <a:srgbClr val="1B8BD5"/>
              </a:buClr>
              <a:buSzTx/>
              <a:buFont typeface="Lucida Grande"/>
              <a:buChar char="»"/>
              <a:tabLst/>
              <a:defRPr/>
            </a:pPr>
            <a:r>
              <a:rPr kumimoji="0" lang="en-US" sz="2425" b="0" i="0" u="none" strike="noStrike" kern="1100" cap="none" spc="5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Flat fee: </a:t>
            </a:r>
            <a:r>
              <a:rPr lang="en-US" sz="2425" i="1" dirty="0">
                <a:solidFill>
                  <a:srgbClr val="1F497D">
                    <a:lumMod val="75000"/>
                  </a:srgbClr>
                </a:solidFill>
              </a:rPr>
              <a:t>F </a:t>
            </a:r>
            <a:r>
              <a:rPr kumimoji="0" lang="en-US" sz="2425" b="0" i="0" u="none" strike="noStrike" kern="1100" cap="none" spc="5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=$50 </a:t>
            </a:r>
          </a:p>
          <a:p>
            <a:pPr marL="666453" marR="0" lvl="1" indent="-26640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3"/>
              </a:spcAft>
              <a:buClr>
                <a:srgbClr val="1B8BD5"/>
              </a:buClr>
              <a:buSzTx/>
              <a:buFont typeface="Lucida Grande"/>
              <a:buChar char="»"/>
              <a:tabLst/>
              <a:defRPr/>
            </a:pPr>
            <a:r>
              <a:rPr kumimoji="0" lang="en-US" sz="2425" b="0" i="0" u="none" strike="noStrike" kern="1100" cap="none" spc="5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Usage fee: </a:t>
            </a:r>
            <a:r>
              <a:rPr lang="en-US" sz="2425" i="1" dirty="0">
                <a:solidFill>
                  <a:srgbClr val="1F497D">
                    <a:lumMod val="75000"/>
                  </a:srgbClr>
                </a:solidFill>
              </a:rPr>
              <a:t>P </a:t>
            </a:r>
            <a:r>
              <a:rPr kumimoji="0" lang="en-US" sz="2425" b="0" i="0" u="none" strike="noStrike" kern="1100" cap="none" spc="5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=$0.5/mile</a:t>
            </a:r>
          </a:p>
          <a:p>
            <a:pPr marL="666453" marR="0" lvl="1" indent="-26640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3"/>
              </a:spcAft>
              <a:buClr>
                <a:srgbClr val="1B8BD5"/>
              </a:buClr>
              <a:buSzTx/>
              <a:buFont typeface="Lucida Grande"/>
              <a:buChar char="»"/>
              <a:tabLst/>
              <a:defRPr/>
            </a:pPr>
            <a:endParaRPr lang="en-US" sz="2425" dirty="0">
              <a:solidFill>
                <a:srgbClr val="1F497D">
                  <a:lumMod val="75000"/>
                </a:srgbClr>
              </a:solidFill>
            </a:endParaRPr>
          </a:p>
          <a:p>
            <a:pPr lvl="0">
              <a:defRPr/>
            </a:pPr>
            <a:r>
              <a:rPr lang="en-US" sz="2625" dirty="0">
                <a:solidFill>
                  <a:srgbClr val="1F497D">
                    <a:lumMod val="75000"/>
                  </a:srgbClr>
                </a:solidFill>
              </a:rPr>
              <a:t>Would a flat fee (</a:t>
            </a:r>
            <a:r>
              <a:rPr lang="en-US" sz="2625" i="1" dirty="0">
                <a:solidFill>
                  <a:srgbClr val="1F497D">
                    <a:lumMod val="75000"/>
                  </a:srgbClr>
                </a:solidFill>
              </a:rPr>
              <a:t>P </a:t>
            </a:r>
            <a:r>
              <a:rPr lang="en-US" sz="2625" dirty="0">
                <a:solidFill>
                  <a:srgbClr val="1F497D">
                    <a:lumMod val="75000"/>
                  </a:srgbClr>
                </a:solidFill>
              </a:rPr>
              <a:t>=0) be a good idea?</a:t>
            </a:r>
          </a:p>
          <a:p>
            <a:pPr marL="609303" lvl="1" indent="-266403">
              <a:spcBef>
                <a:spcPts val="0"/>
              </a:spcBef>
              <a:spcAft>
                <a:spcPts val="563"/>
              </a:spcAft>
              <a:defRPr/>
            </a:pPr>
            <a:r>
              <a:rPr lang="en-US" sz="2325" dirty="0">
                <a:solidFill>
                  <a:srgbClr val="1F497D">
                    <a:lumMod val="75000"/>
                  </a:srgbClr>
                </a:solidFill>
              </a:rPr>
              <a:t>No, it would lead to </a:t>
            </a:r>
            <a:r>
              <a:rPr lang="en-US" sz="2325" dirty="0">
                <a:solidFill>
                  <a:srgbClr val="C0504D"/>
                </a:solidFill>
              </a:rPr>
              <a:t>excessive use</a:t>
            </a:r>
          </a:p>
          <a:p>
            <a:pPr marL="266403" indent="-266403">
              <a:spcBef>
                <a:spcPts val="0"/>
              </a:spcBef>
              <a:spcAft>
                <a:spcPts val="563"/>
              </a:spcAft>
              <a:defRPr/>
            </a:pPr>
            <a:endParaRPr kumimoji="0" lang="en-US" sz="2625" b="0" i="0" u="none" strike="noStrike" kern="1100" cap="none" spc="5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Whitney-Book"/>
              <a:ea typeface="+mn-ea"/>
              <a:cs typeface="+mn-cs"/>
            </a:endParaRPr>
          </a:p>
          <a:p>
            <a:pPr marL="666453" marR="0" lvl="1" indent="-26640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3"/>
              </a:spcAft>
              <a:buClr>
                <a:srgbClr val="1B8BD5"/>
              </a:buClr>
              <a:buSzTx/>
              <a:buFont typeface="Lucida Grande"/>
              <a:buChar char="»"/>
              <a:tabLst/>
              <a:defRPr/>
            </a:pPr>
            <a:endParaRPr kumimoji="0" lang="en-US" sz="2425" b="0" i="0" u="none" strike="noStrike" kern="1100" cap="none" spc="5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Whitney-Book"/>
              <a:ea typeface="+mn-ea"/>
              <a:cs typeface="+mn-cs"/>
            </a:endParaRP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907735" y="4536768"/>
            <a:ext cx="3799732" cy="39067"/>
          </a:xfrm>
          <a:prstGeom prst="line">
            <a:avLst/>
          </a:prstGeom>
          <a:noFill/>
          <a:ln w="571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hitney-Book" pitchFamily="50" charset="0"/>
              <a:ea typeface="+mn-ea"/>
              <a:cs typeface="Whitney-Book" pitchFamily="50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9E972BD-FBAF-44AB-BC3A-88A487DA49DC}"/>
              </a:ext>
            </a:extLst>
          </p:cNvPr>
          <p:cNvGrpSpPr/>
          <p:nvPr/>
        </p:nvGrpSpPr>
        <p:grpSpPr>
          <a:xfrm>
            <a:off x="3704405" y="4554910"/>
            <a:ext cx="1866680" cy="1741010"/>
            <a:chOff x="3704405" y="4554910"/>
            <a:chExt cx="1866680" cy="1741010"/>
          </a:xfrm>
        </p:grpSpPr>
        <p:sp>
          <p:nvSpPr>
            <p:cNvPr id="29" name="Right Triangle 28"/>
            <p:cNvSpPr/>
            <p:nvPr/>
          </p:nvSpPr>
          <p:spPr>
            <a:xfrm>
              <a:off x="3704405" y="4554910"/>
              <a:ext cx="1858194" cy="174101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8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hitney-Book" pitchFamily="50" charset="0"/>
                <a:ea typeface="+mn-ea"/>
                <a:cs typeface="Whitney-Book" pitchFamily="50" charset="0"/>
              </a:endParaRPr>
            </a:p>
          </p:txBody>
        </p:sp>
        <p:cxnSp>
          <p:nvCxnSpPr>
            <p:cNvPr id="30" name="Straight Arrow Connector 29"/>
            <p:cNvCxnSpPr>
              <a:cxnSpLocks/>
            </p:cNvCxnSpPr>
            <p:nvPr/>
          </p:nvCxnSpPr>
          <p:spPr>
            <a:xfrm flipH="1">
              <a:off x="4284133" y="4844123"/>
              <a:ext cx="1286952" cy="9640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AF710-4C66-4BD8-B0FE-FBC9ADDEB9C9}"/>
              </a:ext>
            </a:extLst>
          </p:cNvPr>
          <p:cNvGrpSpPr/>
          <p:nvPr/>
        </p:nvGrpSpPr>
        <p:grpSpPr>
          <a:xfrm>
            <a:off x="734743" y="2007553"/>
            <a:ext cx="2882854" cy="2491716"/>
            <a:chOff x="734743" y="2007553"/>
            <a:chExt cx="2882854" cy="2491716"/>
          </a:xfrm>
        </p:grpSpPr>
        <p:sp>
          <p:nvSpPr>
            <p:cNvPr id="17" name="Right Triangle 16"/>
            <p:cNvSpPr/>
            <p:nvPr/>
          </p:nvSpPr>
          <p:spPr>
            <a:xfrm>
              <a:off x="953771" y="2007553"/>
              <a:ext cx="2663826" cy="2491716"/>
            </a:xfrm>
            <a:prstGeom prst="rtTriangl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8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hitney-Book" pitchFamily="50" charset="0"/>
                <a:ea typeface="+mn-ea"/>
                <a:cs typeface="Whitney-Book" pitchFamily="50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34743" y="3296457"/>
              <a:ext cx="2287857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Times New Roman" pitchFamily="18" charset="0"/>
                </a:rPr>
                <a:t>Flat fee</a:t>
              </a:r>
            </a:p>
            <a:p>
              <a:pPr lvl="0" algn="ctr"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Times New Roman" pitchFamily="18" charset="0"/>
                </a:rPr>
                <a:t>=$(</a:t>
              </a:r>
              <a:r>
                <a:rPr lang="en-US" sz="2000" dirty="0">
                  <a:solidFill>
                    <a:prstClr val="black"/>
                  </a:solidFill>
                  <a:cs typeface="Times New Roman" pitchFamily="18" charset="0"/>
                </a:rPr>
                <a:t>1.5-0.5) ∙100/2</a:t>
              </a:r>
            </a:p>
            <a:p>
              <a:pPr lvl="0" algn="ctr"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Times New Roman" pitchFamily="18" charset="0"/>
                </a:rPr>
                <a:t>=$50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471954" y="6343581"/>
            <a:ext cx="57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130" y="4352103"/>
            <a:ext cx="704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$0.50</a:t>
            </a: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2424408" y="2192219"/>
            <a:ext cx="3047546" cy="13417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1"/>
              <p:cNvSpPr txBox="1">
                <a:spLocks noChangeArrowheads="1"/>
              </p:cNvSpPr>
              <p:nvPr/>
            </p:nvSpPr>
            <p:spPr bwMode="auto">
              <a:xfrm>
                <a:off x="1201056" y="1857783"/>
                <a:ext cx="2446700" cy="4678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97530" tIns="48765" rIns="97530" bIns="48765">
                <a:spAutoFit/>
              </a:bodyPr>
              <a:lstStyle/>
              <a:p>
                <a:pPr lvl="0" defTabSz="974725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=1.5−0.01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1056" y="1857783"/>
                <a:ext cx="2446700" cy="467814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9F43414-A1D0-41B5-80D9-D96775895BDF}"/>
              </a:ext>
            </a:extLst>
          </p:cNvPr>
          <p:cNvGrpSpPr/>
          <p:nvPr/>
        </p:nvGrpSpPr>
        <p:grpSpPr>
          <a:xfrm>
            <a:off x="907735" y="4554911"/>
            <a:ext cx="2788184" cy="1750866"/>
            <a:chOff x="907735" y="4554911"/>
            <a:chExt cx="2788184" cy="1750866"/>
          </a:xfrm>
        </p:grpSpPr>
        <p:sp>
          <p:nvSpPr>
            <p:cNvPr id="9" name="Rectangle 8"/>
            <p:cNvSpPr/>
            <p:nvPr/>
          </p:nvSpPr>
          <p:spPr>
            <a:xfrm>
              <a:off x="907735" y="4554911"/>
              <a:ext cx="2788184" cy="175086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26069" y="4982256"/>
              <a:ext cx="2110642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Times New Roman" pitchFamily="18" charset="0"/>
                </a:rPr>
                <a:t>Per-mile usage fee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Times New Roman" pitchFamily="18" charset="0"/>
                </a:rPr>
                <a:t>=$0.5∙100</a:t>
              </a:r>
              <a:r>
                <a:rPr lang="en-US" sz="2000" dirty="0">
                  <a:solidFill>
                    <a:prstClr val="black"/>
                  </a:solidFill>
                  <a:latin typeface="Calibri"/>
                  <a:cs typeface="Times New Roman" pitchFamily="18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Times New Roman" pitchFamily="18" charset="0"/>
                </a:rPr>
                <a:t>= $50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5487028" y="5898000"/>
            <a:ext cx="801687" cy="40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6FB30B-5944-E44F-A6CE-5420AE9B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9" y="6490335"/>
            <a:ext cx="474896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3206DB-9488-D04D-BDD1-A7C9D84C4579}" type="slidenum">
              <a:rPr kumimoji="0" lang="en-US" sz="1000" b="0" i="0" u="none" strike="noStrike" kern="1200" cap="none" spc="30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31" name="Straight Arrow Connector 30"/>
          <p:cNvCxnSpPr>
            <a:cxnSpLocks/>
          </p:cNvCxnSpPr>
          <p:nvPr/>
        </p:nvCxnSpPr>
        <p:spPr>
          <a:xfrm flipH="1">
            <a:off x="3211468" y="2645229"/>
            <a:ext cx="2260486" cy="21988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28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77626</TotalTime>
  <Words>267</Words>
  <Application>Microsoft Office PowerPoint</Application>
  <PresentationFormat>On-screen Show (4:3)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</vt:i4>
      </vt:variant>
    </vt:vector>
  </HeadingPairs>
  <TitlesOfParts>
    <vt:vector size="21" baseType="lpstr">
      <vt:lpstr>Arial</vt:lpstr>
      <vt:lpstr>Calibri</vt:lpstr>
      <vt:lpstr>Cambria Math</vt:lpstr>
      <vt:lpstr>Lucida Grande</vt:lpstr>
      <vt:lpstr>Times New Roman</vt:lpstr>
      <vt:lpstr>Trebuchet MS</vt:lpstr>
      <vt:lpstr>Whitney Book</vt:lpstr>
      <vt:lpstr>Whitney Medium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4_Custom Design</vt:lpstr>
      <vt:lpstr>12_Custom Design</vt:lpstr>
      <vt:lpstr>Module 6 – Video 6 Two-Part Tariffs  </vt:lpstr>
      <vt:lpstr>OUTLINE of module 6 </vt:lpstr>
      <vt:lpstr>Two part-Tariff Now: MC&gt;0</vt:lpstr>
      <vt:lpstr>Two-part tariff Summary</vt:lpstr>
      <vt:lpstr>Two-Part Tariff: ZipCar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NICO VOIGTLAENDER</cp:lastModifiedBy>
  <cp:revision>1302</cp:revision>
  <cp:lastPrinted>2019-09-13T20:44:29Z</cp:lastPrinted>
  <dcterms:created xsi:type="dcterms:W3CDTF">2013-01-24T22:32:50Z</dcterms:created>
  <dcterms:modified xsi:type="dcterms:W3CDTF">2022-01-31T21:37:45Z</dcterms:modified>
  <cp:category/>
</cp:coreProperties>
</file>