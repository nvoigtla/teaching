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  <p:sldMasterId id="2147483819" r:id="rId5"/>
    <p:sldMasterId id="2147483835" r:id="rId6"/>
  </p:sldMasterIdLst>
  <p:notesMasterIdLst>
    <p:notesMasterId r:id="rId11"/>
  </p:notesMasterIdLst>
  <p:handoutMasterIdLst>
    <p:handoutMasterId r:id="rId12"/>
  </p:handoutMasterIdLst>
  <p:sldIdLst>
    <p:sldId id="919" r:id="rId7"/>
    <p:sldId id="947" r:id="rId8"/>
    <p:sldId id="950" r:id="rId9"/>
    <p:sldId id="832" r:id="rId10"/>
  </p:sldIdLst>
  <p:sldSz cx="9144000" cy="6858000" type="screen4x3"/>
  <p:notesSz cx="7315200" cy="96012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liano, Paola" initials="GP" lastIdx="111" clrIdx="0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2" name="CLEMENCE TRICAUD" initials="CT" lastIdx="41" clrIdx="1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3" name="Wasserman, Melanie" initials="WM" lastIdx="20" clrIdx="2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  <p:cmAuthor id="4" name="Nico Voigtlaender" initials="NV" lastIdx="35" clrIdx="3">
    <p:extLst>
      <p:ext uri="{19B8F6BF-5375-455C-9EA6-DF929625EA0E}">
        <p15:presenceInfo xmlns:p15="http://schemas.microsoft.com/office/powerpoint/2012/main" userId="Nico Voigtlae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77058" autoAdjust="0"/>
  </p:normalViewPr>
  <p:slideViewPr>
    <p:cSldViewPr snapToGrid="0" snapToObjects="1">
      <p:cViewPr varScale="1">
        <p:scale>
          <a:sx n="38" d="100"/>
          <a:sy n="38" d="100"/>
        </p:scale>
        <p:origin x="1560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63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5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93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 the pricing strategy can be also be expressed as 100 at $25, 125 at $30, 175 at 35$. Consumers will opt to purchase 175 at $35 and Walmart will still increase its producer surplus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36AC2A-E969-3C46-9ED8-B46D40C5E669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5033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6A1EF-F8D3-2C4C-A23B-DABFF455F73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1F4B-73DA-634C-9E29-5638864385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C6B-EB5D-C046-9EA3-3CA9495D4FA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CE89-0F10-7242-893C-EB6AB707C3E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D4AD-BBAE-3345-8D65-FDA503BCC30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FE5B-575B-7C44-8512-74AD30B0897C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DBD6-357E-6446-973D-D43166770EC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D7A8-0006-294D-BE45-F3E7C3592CE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1F3B-0CB8-3743-AFB9-710E8B95EFB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4D085-3135-FC4A-9A84-231E84B6103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6980-FB3F-B643-BBDA-B17571720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5DF3-9DEA-544D-8F00-A2AC9DF52A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05CF-9EA3-6E4A-B446-49944784288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68B0-69D4-C442-8BE8-D78CC592EE2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A1-0085-4047-8521-4C6E88495644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585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45513-CCD9-BF44-AF3C-BE8B0074F8E4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589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4E69F-4642-024C-8218-7783E0016BBC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726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35AA-3EEA-4E4A-AAA8-EB53B8142E5C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601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2FF5-857A-9348-8EB2-11D856F360AB}" type="datetime1">
              <a:rPr lang="en-US" smtClean="0"/>
              <a:t>1/31/2022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30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0E36F-906D-344A-A949-C52B74620049}" type="datetime1">
              <a:rPr lang="en-US" smtClean="0"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862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B588-7288-D04E-904A-CDCE244D580E}" type="datetime1">
              <a:rPr lang="en-US" smtClean="0"/>
              <a:t>1/31/2022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24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81-43A6-3F49-B307-3F9BBA124F23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0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B1EA0-6DD3-504A-8908-E971883387B0}" type="datetime1">
              <a:rPr lang="en-US" smtClean="0"/>
              <a:t>1/31/2022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655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B5274-5AC2-BC41-98DA-ADE40ECE0F39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069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FCA8-EF2C-1647-8362-8B88070EA177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9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3F98-41A7-214D-9D1E-B369563BBE09}" type="datetime1">
              <a:rPr lang="en-US" smtClean="0"/>
              <a:t>1/31/2022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93933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1FBA-CBBF-0E4F-B88D-32EF928D3AC7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926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D41A-B76F-734D-8195-99F8976B7155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136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C38028-5B1C-49D3-BF22-2CE9385E6DA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8100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633E-2298-204E-AACF-E24EFF406AA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06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AAD53-932E-6744-A7B5-E9D56713AA9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7096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DFCC7-1B5D-4E46-84A5-178B98047B8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6310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845D-97EE-F445-AA82-55CB3311641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7475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0BF4-8988-BE4B-A0D9-5982AE90C1B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2063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871F8-0597-BE4B-8995-43A43442923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1431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356-ED15-9E40-8BB7-7D9094231F3D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6388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DCC3-7787-B94B-8E9A-4B130A91D44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354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37E5-D1D0-9749-AFE5-370792A74CE6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8013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06F6A-AC1A-774B-A74A-33E90EC92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2823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8234-11CC-E84A-A484-707AFF7FC11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0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A679-79CD-7C4C-B43E-7A7F72D5077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37477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4BE0-4447-9D40-9A24-D851C2136A2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602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AD2E-853D-3E4B-8412-10F295485E76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678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63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4.gif"/><Relationship Id="rId2" Type="http://schemas.openxmlformats.org/officeDocument/2006/relationships/slideLayout" Target="../slideLayouts/slideLayout43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image" Target="../media/image4.gif"/><Relationship Id="rId2" Type="http://schemas.openxmlformats.org/officeDocument/2006/relationships/slideLayout" Target="../slideLayouts/slideLayout58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6049" y="5935664"/>
            <a:ext cx="1973580" cy="381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111D7-C283-8E4B-AB2F-B2B17B0FC9BC}" type="datetimeFigureOut">
              <a:rPr lang="en-US" smtClean="0"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ndersonLogo_TITN.gif"/>
          <p:cNvPicPr>
            <a:picLocks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668" y="6197715"/>
            <a:ext cx="2194560" cy="43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4E0049A5-3BC7-C248-9551-30ECA52D287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84078B1F-B2EE-D743-B0A9-AD5D4736074E}" type="datetime1">
              <a:rPr lang="en-US" smtClean="0"/>
              <a:t>1/31/2022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36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8E90A6E0-D48F-F943-96BF-CEC2ED7DA21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1/31/2022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32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114" y="4406901"/>
            <a:ext cx="8327429" cy="1362075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6 – Video 7</a:t>
            </a:r>
            <a:br>
              <a:rPr lang="en-US" dirty="0"/>
            </a:br>
            <a:r>
              <a:rPr lang="en-US" dirty="0"/>
              <a:t>Block Pricing</a:t>
            </a:r>
            <a:br>
              <a:rPr lang="en-US" dirty="0"/>
            </a:br>
            <a:br>
              <a:rPr lang="en-US" dirty="0"/>
            </a:br>
            <a:endParaRPr lang="en-US" b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Professor Nico Voigtländer</a:t>
            </a:r>
          </a:p>
          <a:p>
            <a:r>
              <a:rPr lang="en-US" sz="2400" dirty="0"/>
              <a:t>Management 405: Module 6</a:t>
            </a:r>
          </a:p>
        </p:txBody>
      </p:sp>
      <p:pic>
        <p:nvPicPr>
          <p:cNvPr id="4" name="Picture 4" descr="data:image/png;base64,iVBORw0KGgoAAAANSUhEUgAAAgQAAABiCAMAAAAY7jvKAAAAw1BMVEX///8Qe7YjHyAAdrQAAACEttYAcrLF3OsbFhcgHB0AeLUIAAAdGBkAdbNqaGkPCAr5+flbWVre3t4WEBH09PR6eHkchr0zLzCYl5hUUVI7ODlwbm9VncgUDg/T09MuKivAv8Dn5ufv9fmMiopMSEmlpKWwr69JlsREQUKCgIE3NDXb2tuLiYrDw8PNzMxsamuqqaptq9Dk8Pat0eWQutibxd7Q4+9opcwwjL+4z+PK4O7a7PSbxN4iib681eePttVssNPmOyI8AAAa7UlEQVR4nO2dB3ujPBKACdY6NJvqHgy4EFzjzbZs+XL3/3/VqUtgitfxnXO7nufuy9oSAjMvo5lRQfnw58hP5SbnSeuPkfb9te/l/63c/TFyg+BsubbqLic3CM6Wa6vucnKD4Gy5tuouJzcIzpZrq+5ycoPgbLm26i4nNwjOlmur7nJyg+BsubbqLic3CM6Wa6vucnKD4Gy5tuouJzcIzpZrq+5y0gRB0lthmTtvu2M70szyba28K7m26i4nTRAMQYgF7N92x5a4HXP0Rpbek1xbdZeTJggyS8USrt52x5Y2akVzbxC8Q2mAYK/qBAI9C950x24QvGNpgGAeqlT8+E137AbBO5Z6CIKxziB4Y39wg+AdSz0EO4C7AkwBeFN/cIPgHUs9BBMfMRBFGIL0LXfsBsE7lloIkjGKDcK5i/743bfcsRsE71hqIYix5sC0hw3C2nvDHbtB8I6lFgJXwxAoSxP9NQ8V1ZxpnKbxPil+H+yGPbc3jJEzUQKBM02HT6h8WnkByUY0utnFaVx2GtjSPp1P3Kdtuqv0W5IdOnhTeaYz5Nqqu5zUQRAAojjFw/+wRlLZYeQiGUINHEaRCQBQs3lOP8Fy4du+Bv+fHUogcFJ4GC43B+5OHLbF7Y6gA+LMR9kgCmhj7sCCJwGmOu7GeXPiDEcqbcnKtpK5GuKm3FhRvN4YHR0O3DcmPmW5tupqxfidynUQUAMA9RHhAAFISh4CDYrZVTwXaLhUt8xIeqa9EaDJRtUCkyMINiN6GDpSAy5vumujhsFS2WempuskJkl1k9XWLR/kVLlcmxZvybLNIbcGPRNf40E5WLbFzrS6WId0iiqIVBaUq8rodNCfTqdllB10kl77z4+nc1ADgYN7Az2CNnSOVWgPReEQf+NPgkhTuVg6144nf6+C7TDMQZCqcjF0PjPGT9cnXU9CGsAQrGw9V1sLY3aeYGVauTI9XDCgsCuj+mkqH+67F2LgBAj6TE4vMTrt/rfP31/v7++/f//40uoYxwedoNbOL+VD64R6RGog2ODnH+ttbxV7dAKBPiI649oZUwUkWe57VV3rcguxTzWn61Q/fuTJEIRD2jCCIAWkrh+GvkYPY7T1ALMBGrMHYebJEOhulEMIXGoks1kTn2jNH0VNv7A2Puc1Zdw9fHmWzzH78sAse+cL/e5rs1aNl5nytX0iArUQED3bcwXpFCvN3xcK4b3H/+V3mBmLLk0367CzBj6vQiGYmvSjGY3Hvk+fUGLGifL1jFoKCIFHlOhnve285xJVa2tynpVJGbKgj5LRZv2MoEYgUAln/Br1wVuiHEma7+0rrXlf1NEDa+NfMgRG++HHUWfl3L+0860VkSo78y9Y7xSL0QgBdQSm4n5K/QGFAOkDAPg/9mQPsCqn9Pk0B8v9fvcEmO0nEAQuUTQYxRvP2z8BciISfFALgL7StdCGEBxwY4C4ncEuwqcC2JdM6VWA7jQJgiRdE/YAuc4es0Z6iK6RIqKaQ+Ui0nxvv9KarwXL3PrI2vgmWXvjoWJd6KdOvrVO04mNPqr3ubFeMwR7kjKO5A86L+UQ+NhLi0f0hpN5B1STJp2KslloMgSpSRpjykjxs6oPEulQ1HLU3Q6HjjJCB/sTduYpBiTsKWhog7Dn82QmCWp1YrIYBLq+gg9/cCD4qNagQbsnSvO9ZZb9e0Ednc+0YPbAITDav6pc1mdsCjq8tUY730KG4BSL0QgBcQb9Hv4QELNg8v6AQWBPiBX36MQDbCw21IBzH8yz5O5gjavaYkSKjFWGWJUcArubkLuCq9uiJ3eBbdtgFHBDYPd4Ge23QowMg8Cnx8bRJUZBuDTf3BmtWXwmuWWfcRfeePlReaJ7onUGwa+mJxx5BFCck+ODSgiSDN+xkIbwPaKnLSumEFhj9sWOWGIMzYEaEZGbIUQRCEhfoYdCFY7GXVAOAeBGG9sJYQmUdD6EsgwUZ0E8koEUulInEuuZQiBooxcNSvJNZ0jjve0zCD4WuoMOU/jzC9WT0X+uOg3sDhAExj+sRqPb36Yu5Mn9QSUEO2Kzx9SLSvENtTJ2/+j9tGN+AHG9NDTCQIyyJg02eKqIDlh0KZ2MBKM20hyFwFrwQvJwa9sj1SVE4blB7oC4gTayKjQ6sLgjSJJeqrkrtnSWNN1a+kBCeSg+kqx7/9lnDNRtE4EffdHat4YH3Hih/crzqfFBJQREGVyRCZlZANj9oyHiWHjaCxpGKowHOa0QUC4QBBPqZAYJk4D0B7hxCoE0h4V+Y5vuPN15UsdJfAuicC6kdWyyevQncJPjUAhi5RLSCMEjU1vRLnOV/2QFX3MtO7PZ8/Nsxn4qfvSNh6rWjs7LYsnGmk0QBCTBIsYLuliL/hP9SCCwRsKmSxBQkyw/cCueLEqoEV9nYybZQFDTLZgcNqkBHW3b+iDrLhkIW9ID2bkRgYNJNO8wCEQXpjjUs4nLf/NvSiME35gW+4XM3wuz7DSWN37J7f74/PDSb7f7/W+/CBv40Ret/VOvWoP3Qs3eQwMEabH7pC59RL+og8Azj7veOU8bU5sCzbQQGt8jf6JggRRkRfgcN+joW5oJXPLssz4/10/EBCKUNjyKa/+3ELQ+sJoFrQkT8YohaH2TWr1/vOuQ1LBhtO4eEAa4NxGtNZyWp6ggYyemCiogcIhV1ceHlMqSmmlqe+sgSCgEshMuxg42Um4pL9iKHEMAsQkLFUMXdUPEOKl27spj7b1AwANBp9A3G1zpX/CjaojOwPmYHy9o9WEggb3H1r9YnfqeXvgOysn9QQUECdWUbjKhISENGU+CQI57JQhoptjSimJXQKAkXRDmRwjCdcD8z3cLQYsZ+Z9FCHiuiPT2n3mTz49FA25AlAgErLVZPQStT9IlfjnNNayAYGhWPK06Nb51EATUJ5D7aqk7ILFn5B4LcvPLIIBh5SoLTV8yIfbEKe8O0pBf2JUhMPjQQUEVwrJ/xE8qjwxmDyWduPGlT/7QSkWkCrX78iU+v8kSLPIPniR0quEpjmEsNUg9dQhBMEIV9fHUCY5EqYIAWoNp2h0D0w6pidI9lnywc3MEaAD65FwfApYS+lRQWyfnvoscsvKt1JEz8q3d10LQkQ1BczhZB8Hequq3VY1MLamFgDj7klvOQgIcIhLdWBXTO6ogILJJt2uakl6ysMGWhwXJ+DfR/JUhuGO39ksxYcgVhQx9h3sEtYMCBmutiFS+FvM56Z9Pb4CA5QN9WegoLpk5UgtBlz/2TKake5GSRXh0skSOIPCmWHhbCakBnZOANOpPJOeD+iM2Ck+vDQHT7ociBF+lJkSoMKt14wzWadTGfYyv53/Tv6cwUA5BQJN0k1SWlS09eLUQ0NytJm72SBMQJDRtLHXl8y2SFXb5ixD0ABZhOAKcZEYZCxLCqKFkVEg+QlfxkVeGgGUDPhaU255JTQiv/3ttOthgBxWRylViHsF9i/7jKFl5MgR0JFjLp1c94tZbC/Tg1ULgkf7AGtNSh61mI8ZhRPNO/NgYL1m2cWLhCAJyplAYDjKYhcKUmE4uEJmlmCYrcU90bQiq8rxt1gJ6Tnlf3xDPGaxa3dABDw0e2tRwvJ4SH5RCQJPuUf5bh032QQ9sLQTsEfUXMTpu32WxBoFgR+YL2i7NOcfUh8BjAEcQTMnFhJzI2KQ+AQwS6XlGdHLaTqX0JeJnXA0C7qcXn0ZegOYIGcxeNIR+d+ygGl+Pdy1f0fwyLM+n5IvKIKArEHNDPEiWtD">
            <a:extLst>
              <a:ext uri="{FF2B5EF4-FFF2-40B4-BE49-F238E27FC236}">
                <a16:creationId xmlns:a16="http://schemas.microsoft.com/office/drawing/2014/main" id="{E9C01BFD-953B-4576-ACA6-E6FE7DBA0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5852606"/>
            <a:ext cx="2686050" cy="51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470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OUTLINE of module 6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4874"/>
            <a:ext cx="8229600" cy="521240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fr-FR" sz="2810" dirty="0">
                <a:solidFill>
                  <a:schemeClr val="bg1">
                    <a:lumMod val="65000"/>
                  </a:schemeClr>
                </a:solidFill>
              </a:rPr>
              <a:t>Simple vs. </a:t>
            </a:r>
            <a:r>
              <a:rPr lang="fr-FR" sz="2810" dirty="0" err="1">
                <a:solidFill>
                  <a:schemeClr val="bg1">
                    <a:lumMod val="65000"/>
                  </a:schemeClr>
                </a:solidFill>
              </a:rPr>
              <a:t>complex</a:t>
            </a:r>
            <a:r>
              <a:rPr lang="fr-FR" sz="281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fr-FR" sz="2810" dirty="0" err="1">
                <a:solidFill>
                  <a:schemeClr val="bg1">
                    <a:lumMod val="65000"/>
                  </a:schemeClr>
                </a:solidFill>
              </a:rPr>
              <a:t>pricing</a:t>
            </a:r>
            <a:endParaRPr lang="fr-FR" sz="2810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Direct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</a:rPr>
              <a:t>price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 discrimination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Perfect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price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 discrimination (first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degree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Segment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pricing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 (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third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degree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  <a:cs typeface="Whitney-Book" pitchFamily="50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Indirect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</a:rPr>
              <a:t>price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 discrimination (second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</a:rPr>
              <a:t>degree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742950" lvl="2" indent="-342900">
              <a:lnSpc>
                <a:spcPct val="120000"/>
              </a:lnSpc>
            </a:pPr>
            <a:r>
              <a:rPr lang="fr-FR" sz="2600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Versioning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Coupons</a:t>
            </a:r>
          </a:p>
          <a:p>
            <a:pPr>
              <a:lnSpc>
                <a:spcPct val="120000"/>
              </a:lnSpc>
            </a:pPr>
            <a:r>
              <a:rPr lang="fr-FR" b="1" dirty="0"/>
              <a:t>Advanced </a:t>
            </a:r>
            <a:r>
              <a:rPr lang="fr-FR" b="1" dirty="0" err="1"/>
              <a:t>pricing</a:t>
            </a:r>
            <a:r>
              <a:rPr lang="fr-FR" b="1" dirty="0"/>
              <a:t> </a:t>
            </a:r>
            <a:r>
              <a:rPr lang="fr-FR" b="1" dirty="0" err="1"/>
              <a:t>strategies</a:t>
            </a:r>
            <a:endParaRPr lang="fr-FR" b="1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Flat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fee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pricing</a:t>
            </a:r>
            <a:endParaRPr lang="fr-FR" dirty="0">
              <a:solidFill>
                <a:schemeClr val="bg1">
                  <a:lumMod val="65000"/>
                </a:schemeClr>
              </a:solidFill>
              <a:latin typeface="Whitney-Book" pitchFamily="50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Two</a:t>
            </a:r>
            <a:r>
              <a:rPr lang="fr-FR" dirty="0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-part </a:t>
            </a:r>
            <a:r>
              <a:rPr lang="fr-FR" dirty="0" err="1">
                <a:solidFill>
                  <a:schemeClr val="bg1">
                    <a:lumMod val="65000"/>
                  </a:schemeClr>
                </a:solidFill>
                <a:latin typeface="Whitney-Book" pitchFamily="50" charset="0"/>
              </a:rPr>
              <a:t>tariff</a:t>
            </a:r>
            <a:endParaRPr lang="fr-FR" dirty="0">
              <a:solidFill>
                <a:schemeClr val="bg1">
                  <a:lumMod val="65000"/>
                </a:schemeClr>
              </a:solidFill>
              <a:latin typeface="Whitney-Book" pitchFamily="50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fr-FR" b="1" dirty="0">
                <a:solidFill>
                  <a:srgbClr val="002060"/>
                </a:solidFill>
                <a:latin typeface="Whitney-Book" pitchFamily="50" charset="0"/>
              </a:rPr>
              <a:t>Block </a:t>
            </a:r>
            <a:r>
              <a:rPr lang="fr-FR" b="1" dirty="0" err="1">
                <a:solidFill>
                  <a:srgbClr val="002060"/>
                </a:solidFill>
                <a:latin typeface="Whitney-Book" pitchFamily="50" charset="0"/>
              </a:rPr>
              <a:t>pricing</a:t>
            </a:r>
            <a:endParaRPr lang="fr-FR" b="1" dirty="0">
              <a:solidFill>
                <a:srgbClr val="002060"/>
              </a:solidFill>
              <a:latin typeface="Whitney-Book" pitchFamily="50" charset="0"/>
            </a:endParaRP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67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19B4-8F99-41F5-A65F-5BC416102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Block Pricing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7CC97-897F-4381-AAC8-132F0C317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683" y="1719943"/>
            <a:ext cx="8229600" cy="4466155"/>
          </a:xfrm>
        </p:spPr>
        <p:txBody>
          <a:bodyPr>
            <a:normAutofit/>
          </a:bodyPr>
          <a:lstStyle/>
          <a:p>
            <a:r>
              <a:rPr lang="en-US" sz="2400" dirty="0"/>
              <a:t>Block pricing is the practice of reducing the price of a good when the </a:t>
            </a:r>
            <a:r>
              <a:rPr lang="en-US" sz="2400" u="sng" dirty="0">
                <a:solidFill>
                  <a:srgbClr val="C00000"/>
                </a:solidFill>
              </a:rPr>
              <a:t>same</a:t>
            </a:r>
            <a:r>
              <a:rPr lang="en-US" sz="2400" dirty="0">
                <a:solidFill>
                  <a:srgbClr val="C00000"/>
                </a:solidFill>
              </a:rPr>
              <a:t> customer </a:t>
            </a:r>
            <a:r>
              <a:rPr lang="en-US" sz="2400" dirty="0"/>
              <a:t>buys more of it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21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Whitney-Medium" pitchFamily="50" charset="0"/>
                <a:cs typeface="Whitney-Medium" pitchFamily="50" charset="0"/>
              </a:rPr>
              <a:t>Block pricing: Photo cards at </a:t>
            </a:r>
            <a:r>
              <a:rPr lang="en-US" sz="3200" dirty="0" err="1">
                <a:latin typeface="Whitney-Medium" pitchFamily="50" charset="0"/>
                <a:cs typeface="Whitney-Medium" pitchFamily="50" charset="0"/>
              </a:rPr>
              <a:t>walmart</a:t>
            </a:r>
            <a:endParaRPr lang="en-US" dirty="0"/>
          </a:p>
        </p:txBody>
      </p:sp>
      <p:sp>
        <p:nvSpPr>
          <p:cNvPr id="38" name="Line 3"/>
          <p:cNvSpPr>
            <a:spLocks noChangeShapeType="1"/>
          </p:cNvSpPr>
          <p:nvPr/>
        </p:nvSpPr>
        <p:spPr bwMode="auto">
          <a:xfrm>
            <a:off x="923610" y="1163003"/>
            <a:ext cx="0" cy="5156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/>
            <a:tailEnd/>
          </a:ln>
          <a:effectLst/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39" name="Line 4"/>
          <p:cNvSpPr>
            <a:spLocks noChangeShapeType="1"/>
          </p:cNvSpPr>
          <p:nvPr/>
        </p:nvSpPr>
        <p:spPr bwMode="auto">
          <a:xfrm>
            <a:off x="923610" y="6319203"/>
            <a:ext cx="57578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/>
          </a:ln>
          <a:effectLst/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40" name="Text Box 5"/>
          <p:cNvSpPr txBox="1">
            <a:spLocks noChangeArrowheads="1"/>
          </p:cNvSpPr>
          <p:nvPr/>
        </p:nvSpPr>
        <p:spPr bwMode="auto">
          <a:xfrm>
            <a:off x="-31438" y="990440"/>
            <a:ext cx="1030069" cy="9294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7530" tIns="48765" rIns="97530" bIns="48765">
            <a:spAutoFit/>
          </a:bodyPr>
          <a:lstStyle/>
          <a:p>
            <a:pPr marL="0" marR="0" lvl="0" indent="0" algn="l" defTabSz="9747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Price ($/photo card) </a:t>
            </a:r>
            <a:endParaRPr kumimoji="0" lang="en-US" sz="1800" b="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6411066" y="6363653"/>
            <a:ext cx="1869739" cy="406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7530" tIns="48765" rIns="97530" bIns="48765">
            <a:spAutoFit/>
          </a:bodyPr>
          <a:lstStyle/>
          <a:p>
            <a:pPr marL="0" marR="0" lvl="0" indent="0" algn="l" defTabSz="9747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Q (photo cards)</a:t>
            </a: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4676481" y="4944330"/>
            <a:ext cx="801687" cy="375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530" tIns="48765" rIns="97530" bIns="48765">
            <a:spAutoFit/>
          </a:bodyPr>
          <a:lstStyle/>
          <a:p>
            <a:pPr marL="0" marR="0" lvl="0" indent="0" algn="l" defTabSz="9747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i="1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MC</a:t>
            </a:r>
          </a:p>
        </p:txBody>
      </p:sp>
      <p:sp>
        <p:nvSpPr>
          <p:cNvPr id="46" name="Line 12"/>
          <p:cNvSpPr>
            <a:spLocks noChangeShapeType="1"/>
          </p:cNvSpPr>
          <p:nvPr/>
        </p:nvSpPr>
        <p:spPr bwMode="auto">
          <a:xfrm>
            <a:off x="953772" y="2007553"/>
            <a:ext cx="4286830" cy="3956117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00600" y="3388414"/>
            <a:ext cx="704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$0.25</a:t>
            </a:r>
          </a:p>
        </p:txBody>
      </p:sp>
      <p:sp>
        <p:nvSpPr>
          <p:cNvPr id="23" name="Content Placeholder 1"/>
          <p:cNvSpPr txBox="1">
            <a:spLocks/>
          </p:cNvSpPr>
          <p:nvPr/>
        </p:nvSpPr>
        <p:spPr>
          <a:xfrm>
            <a:off x="5334628" y="1419985"/>
            <a:ext cx="38237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8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6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2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0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0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66453" marR="0" lvl="1" indent="-26640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63"/>
              </a:spcAft>
              <a:buClr>
                <a:srgbClr val="1B8BD5"/>
              </a:buClr>
              <a:buSzTx/>
              <a:buFont typeface="Lucida Grande"/>
              <a:buChar char="»"/>
              <a:tabLst/>
              <a:defRPr/>
            </a:pPr>
            <a:endParaRPr kumimoji="0" lang="en-US" sz="2425" b="0" i="0" u="none" strike="noStrike" kern="1100" cap="none" spc="5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Whitney-Book"/>
              <a:ea typeface="+mn-ea"/>
              <a:cs typeface="+mn-cs"/>
            </a:endParaRPr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931312" y="5325980"/>
            <a:ext cx="4316988" cy="0"/>
          </a:xfrm>
          <a:prstGeom prst="line">
            <a:avLst/>
          </a:prstGeom>
          <a:noFill/>
          <a:ln w="57150">
            <a:solidFill>
              <a:schemeClr val="accent2">
                <a:lumMod val="60000"/>
                <a:lumOff val="4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88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hitney-Book" pitchFamily="50" charset="0"/>
              <a:ea typeface="+mn-ea"/>
              <a:cs typeface="Whitney-Book" pitchFamily="50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8851" y="5052447"/>
            <a:ext cx="7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$0.05</a:t>
            </a: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5225499" y="5772330"/>
            <a:ext cx="801687" cy="375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7530" tIns="48765" rIns="97530" bIns="48765">
            <a:spAutoFit/>
          </a:bodyPr>
          <a:lstStyle/>
          <a:p>
            <a:pPr marL="0" marR="0" lvl="0" indent="0" algn="l" defTabSz="97472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6FB30B-5944-E44F-A6CE-5420AE9B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3206DB-9488-D04D-BDD1-A7C9D84C4579}" type="slidenum">
              <a:rPr kumimoji="0" lang="en-US" sz="1000" b="0" i="0" u="none" strike="noStrike" kern="1200" cap="none" spc="30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A90C9D-C308-4C15-9A9F-CE65720705EE}"/>
              </a:ext>
            </a:extLst>
          </p:cNvPr>
          <p:cNvCxnSpPr>
            <a:cxnSpLocks/>
          </p:cNvCxnSpPr>
          <p:nvPr/>
        </p:nvCxnSpPr>
        <p:spPr>
          <a:xfrm flipV="1">
            <a:off x="2654652" y="3545305"/>
            <a:ext cx="0" cy="174871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0DE855-7A7B-45A5-AA0C-DEC628A0A86C}"/>
              </a:ext>
            </a:extLst>
          </p:cNvPr>
          <p:cNvCxnSpPr>
            <a:cxnSpLocks/>
          </p:cNvCxnSpPr>
          <p:nvPr/>
        </p:nvCxnSpPr>
        <p:spPr>
          <a:xfrm>
            <a:off x="923610" y="3550190"/>
            <a:ext cx="173104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6A0DBB4-762A-4A56-A2CF-AB003CA811D4}"/>
              </a:ext>
            </a:extLst>
          </p:cNvPr>
          <p:cNvSpPr txBox="1"/>
          <p:nvPr/>
        </p:nvSpPr>
        <p:spPr>
          <a:xfrm>
            <a:off x="213958" y="3762472"/>
            <a:ext cx="704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$0.20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5312AF-E7CA-4117-A22F-21D4F6AD70B3}"/>
              </a:ext>
            </a:extLst>
          </p:cNvPr>
          <p:cNvSpPr txBox="1"/>
          <p:nvPr/>
        </p:nvSpPr>
        <p:spPr>
          <a:xfrm>
            <a:off x="229313" y="4713781"/>
            <a:ext cx="704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$0.10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92E22D-04A1-426F-A7F3-59C15F3DBCBE}"/>
              </a:ext>
            </a:extLst>
          </p:cNvPr>
          <p:cNvSpPr/>
          <p:nvPr/>
        </p:nvSpPr>
        <p:spPr>
          <a:xfrm>
            <a:off x="949323" y="3553157"/>
            <a:ext cx="1685478" cy="1743834"/>
          </a:xfrm>
          <a:prstGeom prst="rect">
            <a:avLst/>
          </a:prstGeom>
          <a:solidFill>
            <a:schemeClr val="accent3">
              <a:alpha val="42000"/>
            </a:schemeClr>
          </a:solidFill>
          <a:ln>
            <a:solidFill>
              <a:schemeClr val="accent1">
                <a:shade val="95000"/>
                <a:satMod val="105000"/>
                <a:alpha val="58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73EA9B-9B36-4DC4-B7F5-6465293B298B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917963" y="3947138"/>
            <a:ext cx="1706528" cy="23283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D2EEF9-198C-4A93-A4C1-413EB488B66C}"/>
              </a:ext>
            </a:extLst>
          </p:cNvPr>
          <p:cNvCxnSpPr/>
          <p:nvPr/>
        </p:nvCxnSpPr>
        <p:spPr>
          <a:xfrm>
            <a:off x="2654652" y="3970421"/>
            <a:ext cx="46553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6B4E6E5-321D-4CC0-91D2-9C229549FDF2}"/>
              </a:ext>
            </a:extLst>
          </p:cNvPr>
          <p:cNvCxnSpPr>
            <a:cxnSpLocks/>
          </p:cNvCxnSpPr>
          <p:nvPr/>
        </p:nvCxnSpPr>
        <p:spPr>
          <a:xfrm>
            <a:off x="3105208" y="3963313"/>
            <a:ext cx="0" cy="13626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21B3DA5-E094-4F5F-9FB1-3C35951AEE2E}"/>
              </a:ext>
            </a:extLst>
          </p:cNvPr>
          <p:cNvCxnSpPr>
            <a:cxnSpLocks/>
          </p:cNvCxnSpPr>
          <p:nvPr/>
        </p:nvCxnSpPr>
        <p:spPr>
          <a:xfrm flipV="1">
            <a:off x="931312" y="4934598"/>
            <a:ext cx="2211337" cy="59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B849621-D5E4-4C3D-BA45-4C1872087A4E}"/>
              </a:ext>
            </a:extLst>
          </p:cNvPr>
          <p:cNvCxnSpPr>
            <a:cxnSpLocks/>
          </p:cNvCxnSpPr>
          <p:nvPr/>
        </p:nvCxnSpPr>
        <p:spPr>
          <a:xfrm>
            <a:off x="3105208" y="4934506"/>
            <a:ext cx="1001571" cy="6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5A9074B-DE45-42C2-951B-C3D577DB5E95}"/>
              </a:ext>
            </a:extLst>
          </p:cNvPr>
          <p:cNvCxnSpPr>
            <a:cxnSpLocks/>
          </p:cNvCxnSpPr>
          <p:nvPr/>
        </p:nvCxnSpPr>
        <p:spPr>
          <a:xfrm>
            <a:off x="4098757" y="4905581"/>
            <a:ext cx="0" cy="3884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0130EBA-0EBD-450A-9780-B4949999157F}"/>
              </a:ext>
            </a:extLst>
          </p:cNvPr>
          <p:cNvCxnSpPr/>
          <p:nvPr/>
        </p:nvCxnSpPr>
        <p:spPr>
          <a:xfrm>
            <a:off x="2654652" y="5365043"/>
            <a:ext cx="0" cy="101627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D8012BF-ECD3-4BBD-A2CE-2F0CDD2F8699}"/>
              </a:ext>
            </a:extLst>
          </p:cNvPr>
          <p:cNvCxnSpPr/>
          <p:nvPr/>
        </p:nvCxnSpPr>
        <p:spPr>
          <a:xfrm>
            <a:off x="3120189" y="5359421"/>
            <a:ext cx="0" cy="101627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D50636F-C3A6-45AF-BAE8-85A9E4074F1E}"/>
              </a:ext>
            </a:extLst>
          </p:cNvPr>
          <p:cNvSpPr/>
          <p:nvPr/>
        </p:nvSpPr>
        <p:spPr>
          <a:xfrm>
            <a:off x="2675446" y="3999411"/>
            <a:ext cx="407152" cy="13008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68E86D3-1CD3-408E-BD86-5682745CABED}"/>
              </a:ext>
            </a:extLst>
          </p:cNvPr>
          <p:cNvSpPr/>
          <p:nvPr/>
        </p:nvSpPr>
        <p:spPr>
          <a:xfrm>
            <a:off x="2740600" y="4379010"/>
            <a:ext cx="3289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B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C2FC802-1C59-4A36-B820-B0656704E565}"/>
              </a:ext>
            </a:extLst>
          </p:cNvPr>
          <p:cNvSpPr/>
          <p:nvPr/>
        </p:nvSpPr>
        <p:spPr>
          <a:xfrm>
            <a:off x="1431588" y="4190498"/>
            <a:ext cx="340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A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F83A56B-BDF6-4C9A-96F3-D63F767174DF}"/>
              </a:ext>
            </a:extLst>
          </p:cNvPr>
          <p:cNvSpPr/>
          <p:nvPr/>
        </p:nvSpPr>
        <p:spPr>
          <a:xfrm>
            <a:off x="3121835" y="4946874"/>
            <a:ext cx="938147" cy="3501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B08CB8B-BAFF-498D-92C8-123CFCD02716}"/>
              </a:ext>
            </a:extLst>
          </p:cNvPr>
          <p:cNvSpPr/>
          <p:nvPr/>
        </p:nvSpPr>
        <p:spPr>
          <a:xfrm>
            <a:off x="3390200" y="4943769"/>
            <a:ext cx="3209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itchFamily="18" charset="0"/>
              </a:rPr>
              <a:t>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F6E0E5-D764-4A5F-8FC3-E0424800FEEA}"/>
              </a:ext>
            </a:extLst>
          </p:cNvPr>
          <p:cNvSpPr txBox="1"/>
          <p:nvPr/>
        </p:nvSpPr>
        <p:spPr>
          <a:xfrm>
            <a:off x="2381701" y="6360617"/>
            <a:ext cx="7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100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18297F5-D94F-4B44-86CA-B6598C52659A}"/>
              </a:ext>
            </a:extLst>
          </p:cNvPr>
          <p:cNvCxnSpPr>
            <a:cxnSpLocks/>
          </p:cNvCxnSpPr>
          <p:nvPr/>
        </p:nvCxnSpPr>
        <p:spPr>
          <a:xfrm flipH="1">
            <a:off x="4098758" y="5318934"/>
            <a:ext cx="8021" cy="1025719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3DE71B5-A600-4B66-B71F-0F1A2CD4E139}"/>
              </a:ext>
            </a:extLst>
          </p:cNvPr>
          <p:cNvSpPr txBox="1"/>
          <p:nvPr/>
        </p:nvSpPr>
        <p:spPr>
          <a:xfrm>
            <a:off x="2941061" y="6328595"/>
            <a:ext cx="7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0708D52-1E82-447E-BF83-08F95F5A142A}"/>
              </a:ext>
            </a:extLst>
          </p:cNvPr>
          <p:cNvSpPr txBox="1"/>
          <p:nvPr/>
        </p:nvSpPr>
        <p:spPr>
          <a:xfrm>
            <a:off x="3824582" y="6344653"/>
            <a:ext cx="747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175</a:t>
            </a:r>
          </a:p>
        </p:txBody>
      </p:sp>
      <p:sp>
        <p:nvSpPr>
          <p:cNvPr id="88" name="Content Placeholder 2">
            <a:extLst>
              <a:ext uri="{FF2B5EF4-FFF2-40B4-BE49-F238E27FC236}">
                <a16:creationId xmlns:a16="http://schemas.microsoft.com/office/drawing/2014/main" id="{11BBEC44-E7FD-48EA-8F5D-58428B13E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2426" y="1320740"/>
            <a:ext cx="3590592" cy="5161119"/>
          </a:xfrm>
        </p:spPr>
        <p:txBody>
          <a:bodyPr>
            <a:normAutofit/>
          </a:bodyPr>
          <a:lstStyle/>
          <a:p>
            <a:r>
              <a:rPr lang="en-US" sz="1700" dirty="0"/>
              <a:t>Marginal cost of printing photo cards: </a:t>
            </a:r>
            <a:r>
              <a:rPr lang="en-US" sz="1700" i="1" dirty="0"/>
              <a:t>MC </a:t>
            </a:r>
            <a:r>
              <a:rPr lang="en-US" sz="1700" dirty="0"/>
              <a:t>=$0.05</a:t>
            </a:r>
          </a:p>
          <a:p>
            <a:r>
              <a:rPr lang="en-US" sz="1700" dirty="0"/>
              <a:t>Assume zero fixed costs</a:t>
            </a:r>
          </a:p>
          <a:p>
            <a:r>
              <a:rPr lang="en-US" sz="1700" dirty="0"/>
              <a:t>The first option is 100 cards at $0.25</a:t>
            </a:r>
          </a:p>
          <a:p>
            <a:pPr lvl="1"/>
            <a:r>
              <a:rPr lang="en-US" sz="1500" dirty="0"/>
              <a:t>Profits are A (since </a:t>
            </a:r>
            <a:r>
              <a:rPr lang="en-US" sz="1500" i="1" dirty="0"/>
              <a:t>TFC </a:t>
            </a:r>
            <a:r>
              <a:rPr lang="en-US" sz="1500" dirty="0"/>
              <a:t>=0)</a:t>
            </a:r>
          </a:p>
          <a:p>
            <a:r>
              <a:rPr lang="en-US" sz="1700" dirty="0"/>
              <a:t>Sell </a:t>
            </a:r>
            <a:r>
              <a:rPr lang="en-US" sz="1700" i="1" dirty="0"/>
              <a:t>additional</a:t>
            </a:r>
            <a:r>
              <a:rPr lang="en-US" sz="1700" dirty="0"/>
              <a:t> 25 cards at $0.20</a:t>
            </a:r>
          </a:p>
          <a:p>
            <a:pPr lvl="1"/>
            <a:r>
              <a:rPr lang="en-US" sz="1500" dirty="0"/>
              <a:t>Additional profits B</a:t>
            </a:r>
          </a:p>
          <a:p>
            <a:r>
              <a:rPr lang="en-US" sz="1700" dirty="0"/>
              <a:t>Sell yet additional 50 cards at $0.10</a:t>
            </a:r>
          </a:p>
          <a:p>
            <a:pPr lvl="1"/>
            <a:r>
              <a:rPr lang="en-US" sz="1500" dirty="0"/>
              <a:t>Additional profits C</a:t>
            </a:r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</p:txBody>
      </p: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89622697-4636-4849-B30F-5F3B873420BA}"/>
              </a:ext>
            </a:extLst>
          </p:cNvPr>
          <p:cNvSpPr txBox="1">
            <a:spLocks/>
          </p:cNvSpPr>
          <p:nvPr/>
        </p:nvSpPr>
        <p:spPr>
          <a:xfrm>
            <a:off x="1412127" y="1474332"/>
            <a:ext cx="4131846" cy="102571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8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6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2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0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1B8BD5"/>
              </a:buClr>
              <a:buFont typeface="Lucida Grande"/>
              <a:buChar char="»"/>
              <a:defRPr sz="2000" kern="1100" spc="50" normalizeH="0" baseline="0">
                <a:solidFill>
                  <a:schemeClr val="tx2">
                    <a:lumMod val="75000"/>
                  </a:schemeClr>
                </a:solidFill>
                <a:latin typeface="Whitney-Book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kumimoji="0" lang="en-US" sz="2000" b="0" i="0" u="none" strike="noStrike" kern="1100" cap="none" spc="5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Whitney-Book"/>
                <a:ea typeface="+mn-ea"/>
                <a:cs typeface="+mn-cs"/>
              </a:rPr>
              <a:t>Three</a:t>
            </a:r>
            <a:r>
              <a:rPr kumimoji="0" lang="en-US" sz="2000" b="0" i="0" u="none" strike="noStrike" kern="1100" cap="none" spc="50" normalizeH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Whitney-Book"/>
                <a:ea typeface="+mn-ea"/>
                <a:cs typeface="+mn-cs"/>
              </a:rPr>
              <a:t> purchase options:</a:t>
            </a:r>
          </a:p>
          <a:p>
            <a:pPr>
              <a:spcBef>
                <a:spcPts val="0"/>
              </a:spcBef>
              <a:defRPr/>
            </a:pPr>
            <a:r>
              <a:rPr lang="en-US" sz="2000" baseline="0" dirty="0">
                <a:solidFill>
                  <a:srgbClr val="1F497D">
                    <a:lumMod val="75000"/>
                  </a:srgbClr>
                </a:solidFill>
              </a:rPr>
              <a:t>100 cards at $25</a:t>
            </a:r>
          </a:p>
          <a:p>
            <a:pPr>
              <a:spcBef>
                <a:spcPts val="0"/>
              </a:spcBef>
              <a:defRPr/>
            </a:pPr>
            <a:r>
              <a:rPr kumimoji="0" lang="en-US" sz="2000" b="0" i="0" u="none" strike="noStrike" kern="1100" cap="none" spc="50" normalizeH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Whitney-Book"/>
                <a:ea typeface="+mn-ea"/>
                <a:cs typeface="+mn-cs"/>
              </a:rPr>
              <a:t>125 cards at $30</a:t>
            </a:r>
          </a:p>
          <a:p>
            <a:pPr>
              <a:spcBef>
                <a:spcPts val="0"/>
              </a:spcBef>
              <a:defRPr/>
            </a:pPr>
            <a:r>
              <a:rPr lang="en-US" sz="2000" baseline="0" dirty="0">
                <a:solidFill>
                  <a:srgbClr val="1F497D">
                    <a:lumMod val="75000"/>
                  </a:srgbClr>
                </a:solidFill>
              </a:rPr>
              <a:t>175 cards at $35</a:t>
            </a:r>
            <a:endParaRPr kumimoji="0" lang="en-US" sz="2000" b="0" i="0" u="none" strike="noStrike" kern="1100" cap="none" spc="5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Whitney-Book"/>
              <a:ea typeface="+mn-ea"/>
              <a:cs typeface="+mn-cs"/>
            </a:endParaRPr>
          </a:p>
          <a:p>
            <a:pPr marL="666453" marR="0" lvl="1" indent="-26640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63"/>
              </a:spcAft>
              <a:buClr>
                <a:srgbClr val="1B8BD5"/>
              </a:buClr>
              <a:buSzTx/>
              <a:buFont typeface="Lucida Grande"/>
              <a:buChar char="»"/>
              <a:tabLst/>
              <a:defRPr/>
            </a:pPr>
            <a:endParaRPr kumimoji="0" lang="en-US" sz="2000" b="0" i="0" u="none" strike="noStrike" kern="1100" cap="none" spc="50" normalizeH="0" baseline="0" noProof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Whitney-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208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/>
      <p:bldP spid="41" grpId="0"/>
      <p:bldP spid="45" grpId="0"/>
      <p:bldP spid="46" grpId="0" animBg="1"/>
      <p:bldP spid="56" grpId="0"/>
      <p:bldP spid="28" grpId="0" animBg="1"/>
      <p:bldP spid="20" grpId="0"/>
      <p:bldP spid="33" grpId="0"/>
      <p:bldP spid="36" grpId="0"/>
      <p:bldP spid="37" grpId="0"/>
      <p:bldP spid="15" grpId="0" animBg="1"/>
      <p:bldP spid="67" grpId="0" animBg="1"/>
      <p:bldP spid="68" grpId="0"/>
      <p:bldP spid="75" grpId="0"/>
      <p:bldP spid="76" grpId="0" animBg="1"/>
      <p:bldP spid="81" grpId="0"/>
      <p:bldP spid="82" grpId="0"/>
      <p:bldP spid="85" grpId="0"/>
      <p:bldP spid="8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77623</TotalTime>
  <Words>237</Words>
  <Application>Microsoft Office PowerPoint</Application>
  <PresentationFormat>On-screen Show (4:3)</PresentationFormat>
  <Paragraphs>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4</vt:i4>
      </vt:variant>
    </vt:vector>
  </HeadingPairs>
  <TitlesOfParts>
    <vt:vector size="18" baseType="lpstr">
      <vt:lpstr>Arial</vt:lpstr>
      <vt:lpstr>Calibri</vt:lpstr>
      <vt:lpstr>Lucida Grande</vt:lpstr>
      <vt:lpstr>Times New Roman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4_Custom Design</vt:lpstr>
      <vt:lpstr>12_Custom Design</vt:lpstr>
      <vt:lpstr>Module 6 – Video 7 Block Pricing  </vt:lpstr>
      <vt:lpstr>OUTLINE of module 6 </vt:lpstr>
      <vt:lpstr>Block Pricing</vt:lpstr>
      <vt:lpstr>Block pricing: Photo cards at walmart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NICO VOIGTLAENDER</cp:lastModifiedBy>
  <cp:revision>1302</cp:revision>
  <cp:lastPrinted>2019-09-13T20:44:29Z</cp:lastPrinted>
  <dcterms:created xsi:type="dcterms:W3CDTF">2013-01-24T22:32:50Z</dcterms:created>
  <dcterms:modified xsi:type="dcterms:W3CDTF">2022-01-31T21:49:39Z</dcterms:modified>
  <cp:category/>
</cp:coreProperties>
</file>