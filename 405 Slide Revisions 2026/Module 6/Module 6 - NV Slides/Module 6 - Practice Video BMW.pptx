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  <p:sldMasterId id="2147483756" r:id="rId2"/>
    <p:sldMasterId id="2147483724" r:id="rId3"/>
    <p:sldMasterId id="2147483769" r:id="rId4"/>
  </p:sldMasterIdLst>
  <p:notesMasterIdLst>
    <p:notesMasterId r:id="rId13"/>
  </p:notesMasterIdLst>
  <p:handoutMasterIdLst>
    <p:handoutMasterId r:id="rId14"/>
  </p:handoutMasterIdLst>
  <p:sldIdLst>
    <p:sldId id="257" r:id="rId5"/>
    <p:sldId id="824" r:id="rId6"/>
    <p:sldId id="320" r:id="rId7"/>
    <p:sldId id="825" r:id="rId8"/>
    <p:sldId id="829" r:id="rId9"/>
    <p:sldId id="826" r:id="rId10"/>
    <p:sldId id="827" r:id="rId11"/>
    <p:sldId id="828" r:id="rId12"/>
  </p:sldIdLst>
  <p:sldSz cx="9144000" cy="6858000" type="screen4x3"/>
  <p:notesSz cx="7315200" cy="96012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LEMENCE TRICAUD" initials="CT" lastIdx="44" clrIdx="0">
    <p:extLst>
      <p:ext uri="{19B8F6BF-5375-455C-9EA6-DF929625EA0E}">
        <p15:presenceInfo xmlns:p15="http://schemas.microsoft.com/office/powerpoint/2012/main" userId="S-1-5-21-1914341619-2963887621-4192079504-39280" providerId="AD"/>
      </p:ext>
    </p:extLst>
  </p:cmAuthor>
  <p:cmAuthor id="2" name="Giuliano, Paola" initials="GP" lastIdx="10" clrIdx="1">
    <p:extLst>
      <p:ext uri="{19B8F6BF-5375-455C-9EA6-DF929625EA0E}">
        <p15:presenceInfo xmlns:p15="http://schemas.microsoft.com/office/powerpoint/2012/main" userId="S::giulpao@ad.ucla.edu::132bae3d-d350-492a-913b-ab702ff24d3d" providerId="AD"/>
      </p:ext>
    </p:extLst>
  </p:cmAuthor>
  <p:cmAuthor id="3" name="Nico Voigtlaender" initials="NV" lastIdx="9" clrIdx="2">
    <p:extLst>
      <p:ext uri="{19B8F6BF-5375-455C-9EA6-DF929625EA0E}">
        <p15:presenceInfo xmlns:p15="http://schemas.microsoft.com/office/powerpoint/2012/main" userId="Nico Voigtlaender" providerId="None"/>
      </p:ext>
    </p:extLst>
  </p:cmAuthor>
  <p:cmAuthor id="4" name="Wasserman, Melanie" initials="WM" lastIdx="16" clrIdx="3">
    <p:extLst>
      <p:ext uri="{19B8F6BF-5375-455C-9EA6-DF929625EA0E}">
        <p15:presenceInfo xmlns:p15="http://schemas.microsoft.com/office/powerpoint/2012/main" userId="S::mswasserman@ad.ucla.edu::dc9d8677-d4c7-4bfe-9320-b2694e2f63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1B8BD5"/>
    <a:srgbClr val="FFFFFF"/>
    <a:srgbClr val="002B56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03" autoAdjust="0"/>
    <p:restoredTop sz="86922" autoAdjust="0"/>
  </p:normalViewPr>
  <p:slideViewPr>
    <p:cSldViewPr snapToGrid="0" snapToObjects="1">
      <p:cViewPr varScale="1">
        <p:scale>
          <a:sx n="43" d="100"/>
          <a:sy n="43" d="100"/>
        </p:scale>
        <p:origin x="405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299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-5142"/>
    </p:cViewPr>
  </p:sorterViewPr>
  <p:notesViewPr>
    <p:cSldViewPr snapToGrid="0" snapToObjects="1">
      <p:cViewPr varScale="1">
        <p:scale>
          <a:sx n="87" d="100"/>
          <a:sy n="87" d="100"/>
        </p:scale>
        <p:origin x="19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F6D47F8B-C2FC-9540-A0E0-B106EE612B16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14208B52-F97A-2D40-B706-CEC41B37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28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9FAC1A9B-BDAC-6A46-B8D4-E37AE0BBC950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7" tIns="48324" rIns="96647" bIns="483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47" tIns="48324" rIns="96647" bIns="483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8D36AC2A-E969-3C46-9ED8-B46D40C5E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2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63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36AC2A-E969-3C46-9ED8-B46D40C5E6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316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4900" y="565150"/>
            <a:ext cx="5106988" cy="38290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8DE0C3-7E31-48EA-9280-6CACFD81A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116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4900" y="565150"/>
            <a:ext cx="5106988" cy="38290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8DE0C3-7E31-48EA-9280-6CACFD81A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654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4900" y="565150"/>
            <a:ext cx="5106988" cy="38290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8DE0C3-7E31-48EA-9280-6CACFD81A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148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4900" y="565150"/>
            <a:ext cx="5106988" cy="38290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8DE0C3-7E31-48EA-9280-6CACFD81A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789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4900" y="565150"/>
            <a:ext cx="5106988" cy="38290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8DE0C3-7E31-48EA-9280-6CACFD81A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4120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4900" y="565150"/>
            <a:ext cx="5106988" cy="38290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8DE0C3-7E31-48EA-9280-6CACFD81A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430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99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1B8BD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18199" y="4401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23681" y="4406900"/>
            <a:ext cx="7666919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6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6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28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7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>
            <a:noAutofit/>
          </a:bodyPr>
          <a:lstStyle>
            <a:lvl1pPr algn="l">
              <a:defRPr sz="32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5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1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4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36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20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5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11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92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23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89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98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138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808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763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27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477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2/2/2022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5317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1400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2/2/2022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985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2/2/2022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97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6A1EF-F8D3-2C4C-A23B-DABFF455F73F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2/2/2022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736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1F4B-73DA-634C-9E29-56388643854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2/2/2022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439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C6B-EB5D-C046-9EA3-3CA9495D4FA9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2/2/2022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6617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CE89-0F10-7242-893C-EB6AB707C3E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2/2/2022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592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D4AD-BBAE-3345-8D65-FDA503BCC30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2/2/2022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4600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FE5B-575B-7C44-8512-74AD30B0897C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2/2/2022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1884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DBD6-357E-6446-973D-D43166770EC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2/2/2022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83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D7A8-0006-294D-BE45-F3E7C3592CE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2/2/2022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1714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31F3B-0CB8-3743-AFB9-710E8B95EFB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2/2/2022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5065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4D085-3135-FC4A-9A84-231E84B61035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2/2/2022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936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6980-FB3F-B643-BBDA-B1757172054E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2/2/2022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0649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35DF3-9DEA-544D-8F00-A2AC9DF52A4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2/2/2022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28916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05CF-9EA3-6E4A-B446-49944784288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2/2/2022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78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D68B0-69D4-C442-8BE8-D78CC592EE29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2/2/2022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g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2013UCLAAndersonLogoScreen4-3.gi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4" name="Picture 13"/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6049" y="5935664"/>
            <a:ext cx="1973580" cy="381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297" y="1417639"/>
            <a:ext cx="7934131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03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kern="900" spc="400">
                <a:solidFill>
                  <a:schemeClr val="bg1"/>
                </a:solidFill>
                <a:latin typeface=""/>
              </a:defRPr>
            </a:lvl1pPr>
          </a:lstStyle>
          <a:p>
            <a:fld id="{BF8D68B6-7B24-6146-BD9E-412DC96CF560}" type="datetimeFigureOut">
              <a:rPr lang="en-US" smtClean="0"/>
              <a:pPr/>
              <a:t>2/2/2022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64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5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3000" b="0" i="0" kern="1200" cap="all" spc="400">
          <a:solidFill>
            <a:schemeClr val="bg1"/>
          </a:solidFill>
          <a:latin typeface="Whitney Book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3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4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10698" y="0"/>
            <a:ext cx="9954698" cy="478231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30" y="1600201"/>
            <a:ext cx="78363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111D7-C283-8E4B-AB2F-B2B17B0FC9BC}" type="datetimeFigureOut">
              <a:rPr lang="en-US" smtClean="0"/>
              <a:t>2/2/2022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ndersonLogo_TITN.gif"/>
          <p:cNvPicPr>
            <a:picLocks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5668" y="6197715"/>
            <a:ext cx="2194560" cy="43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800" kern="1200" cap="all" spc="4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BF8D68B6-7B24-6146-BD9E-412DC96CF560}" type="datetimeFigureOut">
              <a:rPr lang="en-US" smtClean="0"/>
              <a:pPr/>
              <a:t>2/2/2022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4" r:id="rId11"/>
    <p:sldLayoutId id="2147483735" r:id="rId12"/>
    <p:sldLayoutId id="2147483738" r:id="rId13"/>
    <p:sldLayoutId id="2147483768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4E0049A5-3BC7-C248-9551-30ECA52D287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2/2/2022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15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5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115" y="4406901"/>
            <a:ext cx="6644706" cy="1362075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Practice Video 1</a:t>
            </a:r>
            <a:br>
              <a:rPr lang="en-US" noProof="0" dirty="0"/>
            </a:br>
            <a:r>
              <a:rPr lang="en-US" noProof="0" dirty="0"/>
              <a:t>Segmentation: Optimal Pricing in Two Markets</a:t>
            </a:r>
            <a:endParaRPr lang="en-US" b="0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Professor Nico Voigtländer</a:t>
            </a:r>
          </a:p>
          <a:p>
            <a:r>
              <a:rPr lang="en-US" sz="2400" dirty="0"/>
              <a:t>Management 405: Module 6</a:t>
            </a:r>
          </a:p>
        </p:txBody>
      </p:sp>
      <p:pic>
        <p:nvPicPr>
          <p:cNvPr id="4" name="Picture 2" descr="data:image/png;base64,iVBORw0KGgoAAAANSUhEUgAAAgQAAABiCAMAAAAY7jvKAAAAw1BMVEX///8Qe7YjHyAAdrQAAACEttYAcrLF3OsbFhcgHB0AeLUIAAAdGBkAdbNqaGkPCAr5+flbWVre3t4WEBH09PR6eHkchr0zLzCYl5hUUVI7ODlwbm9VncgUDg/T09MuKivAv8Dn5ufv9fmMiopMSEmlpKWwr69JlsREQUKCgIE3NDXb2tuLiYrDw8PNzMxsamuqqaptq9Dk8Pat0eWQutibxd7Q4+9opcwwjL+4z+PK4O7a7PSbxN4iib681eePttVssNPmOyI8AAAa7UlEQVR4nO2dB3ujPBKACdY6NJvqHgy4EFzjzbZs+XL3/3/VqUtgitfxnXO7nufuy9oSAjMvo5lRQfnw58hP5SbnSeuPkfb9te/l/63c/TFyg+BsubbqLic3CM6Wa6vucnKD4Gy5tuouJzcIzpZrq+5ycoPgbLm26i4nNwjOlmur7nJyg+BsubbqLic3CM6Wa6vucnKD4Gy5tuouJzcIzpZrq+5y0gRB0lthmTtvu2M70szyba28K7m26i4nTRAMQYgF7N92x5a4HXP0Rpbek1xbdZeTJggyS8USrt52x5Y2akVzbxC8Q2mAYK/qBAI9C950x24QvGNpgGAeqlT8+E137AbBO5Z6CIKxziB4Y39wg+AdSz0EO4C7AkwBeFN/cIPgHUs9BBMfMRBFGIL0LXfsBsE7lloIkjGKDcK5i/743bfcsRsE71hqIYix5sC0hw3C2nvDHbtB8I6lFgJXwxAoSxP9NQ8V1ZxpnKbxPil+H+yGPbc3jJEzUQKBM02HT6h8WnkByUY0utnFaVx2GtjSPp1P3Kdtuqv0W5IdOnhTeaYz5Nqqu5zUQRAAojjFw/+wRlLZYeQiGUINHEaRCQBQs3lOP8Fy4du+Bv+fHUogcFJ4GC43B+5OHLbF7Y6gA+LMR9kgCmhj7sCCJwGmOu7GeXPiDEcqbcnKtpK5GuKm3FhRvN4YHR0O3DcmPmW5tupqxfidynUQUAMA9RHhAAFISh4CDYrZVTwXaLhUt8xIeqa9EaDJRtUCkyMINiN6GDpSAy5vumujhsFS2WempuskJkl1k9XWLR/kVLlcmxZvybLNIbcGPRNf40E5WLbFzrS6WId0iiqIVBaUq8rodNCfTqdllB10kl77z4+nc1ADgYN7Az2CNnSOVWgPReEQf+NPgkhTuVg6144nf6+C7TDMQZCqcjF0PjPGT9cnXU9CGsAQrGw9V1sLY3aeYGVauTI9XDCgsCuj+mkqH+67F2LgBAj6TE4vMTrt/rfP31/v7++/f//40uoYxwedoNbOL+VD64R6RGog2ODnH+ttbxV7dAKBPiI649oZUwUkWe57VV3rcguxTzWn61Q/fuTJEIRD2jCCIAWkrh+GvkYPY7T1ALMBGrMHYebJEOhulEMIXGoks1kTn2jNH0VNv7A2Puc1Zdw9fHmWzzH78sAse+cL/e5rs1aNl5nytX0iArUQED3bcwXpFCvN3xcK4b3H/+V3mBmLLk0367CzBj6vQiGYmvSjGY3Hvk+fUGLGifL1jFoKCIFHlOhnve285xJVa2tynpVJGbKgj5LRZv2MoEYgUAln/Br1wVuiHEma7+0rrXlf1NEDa+NfMgRG++HHUWfl3L+0860VkSo78y9Y7xSL0QgBdQSm4n5K/QGFAOkDAPg/9mQPsCqn9Pk0B8v9fvcEmO0nEAQuUTQYxRvP2z8BciISfFALgL7StdCGEBxwY4C4ncEuwqcC2JdM6VWA7jQJgiRdE/YAuc4es0Z6iK6RIqKaQ+Ui0nxvv9KarwXL3PrI2vgmWXvjoWJd6KdOvrVO04mNPqr3ubFeMwR7kjKO5A86L+UQ+NhLi0f0hpN5B1STJp2KslloMgSpSRpjykjxs6oPEulQ1HLU3Q6HjjJCB/sTduYpBiTsKWhog7Dn82QmCWp1YrIYBLq+gg9/cCD4qNagQbsnSvO9ZZb9e0Ednc+0YPbAITDav6pc1mdsCjq8tUY730KG4BSL0QgBcQb9Hv4QELNg8v6AQWBPiBX36MQDbCw21IBzH8yz5O5gjavaYkSKjFWGWJUcArubkLuCq9uiJ3eBbdtgFHBDYPd4Ge23QowMg8Cnx8bRJUZBuDTf3BmtWXwmuWWfcRfeePlReaJ7onUGwa+mJxx5BFCck+ODSgiSDN+xkIbwPaKnLSumEFhj9sWOWGIMzYEaEZGbIUQRCEhfoYdCFY7GXVAOAeBGG9sJYQmUdD6EsgwUZ0E8koEUulInEuuZQiBooxcNSvJNZ0jjve0zCD4WuoMOU/jzC9WT0X+uOg3sDhAExj+sRqPb36Yu5Mn9QSUEO2Kzx9SLSvENtTJ2/+j9tGN+AHG9NDTCQIyyJg02eKqIDlh0KZ2MBKM20hyFwFrwQvJwa9sj1SVE4blB7oC4gTayKjQ6sLgjSJJeqrkrtnSWNN1a+kBCeSg+kqx7/9lnDNRtE4EffdHat4YH3Hih/crzqfFBJQREGVyRCZlZANj9oyHiWHjaCxpGKowHOa0QUC4QBBPqZAYJk4D0B7hxCoE0h4V+Y5vuPN15UsdJfAuicC6kdWyyevQncJPjUAhi5RLSCMEjU1vRLnOV/2QFX3MtO7PZ8/Nsxn4qfvSNh6rWjs7LYsnGmk0QBCTBIsYLuliL/hP9SCCwRsKmSxBQkyw/cCueLEqoEV9nYybZQFDTLZgcNqkBHW3b+iDrLhkIW9ID2bkRgYNJNO8wCEQXpjjUs4nLf/NvSiME35gW+4XM3wuz7DSWN37J7f74/PDSb7f7/W+/CBv40Ret/VOvWoP3Qs3eQwMEabH7pC59RL+og8Azj7veOU8bU5sCzbQQGt8jf6JggRRkRfgcN+joW5oJXPLssz4/10/EBCKUNjyKa/+3ELQ+sJoFrQkT8YohaH2TWr1/vOuQ1LBhtO4eEAa4NxGtNZyWp6ggYyemCiogcIhV1ceHlMqSmmlqe+sgSCgEshMuxg42Um4pL9iKHEMAsQkLFUMXdUPEOKl27spj7b1AwANBp9A3G1zpX/CjaojOwPmYHy9o9WEggb3H1r9YnfqeXvgOysn9QQUECdWUbjKhISENGU+CQI57JQhoptjSimJXQKAkXRDmRwjCdcD8z3cLQYsZ+Z9FCHiuiPT2n3mTz49FA25AlAgErLVZPQStT9IlfjnNNayAYGhWPK06Nb51EATUJ5D7aqk7ILFn5B4LcvPLIIBh5SoLTV8yIfbEKe8O0pBf2JUhMPjQQUEVwrJ/xE8qjwxmDyWduPGlT/7QSkWkCrX78iU+v8kSLPIPniR0quEpjmEsNUg9dQhBMEIV9fHUCY5EqYIAWoNp2h0D0w6pidI9lnywc3MEaAD65FwfApYS+lRQWyfnvoscsvKt1JEz8q3d10LQkQ1BczhZB8Hequq3VY1MLamFgDj7klvOQgIcIhLdWBXTO6ogILJJt2uakl6ysMGWhwXJ+DfR/JUhuGO39ksxYcgVhQx9h3sEtYMCBmutiFS+FvM56Z9Pb4CA5QN9WegoLpk5UgtBlz/2TKake5GSRXh0skSOIPCmWHhbCakBnZOANOpPJOeD+iM2Ck+vDQHT7ociBF+lJkSoMKt14wzWadTGfYyv53/Tv6cwUA5BQJN0k1SWlS09eLUQ0NytJm72SBMQJDRtLHXl8y2SFXb5ixD0ABZhOAKcZEYZCxLCqKFkVEg+QlfxkVeGgGUDPhaU255JTQiv/3ttOthgBxWRylViHsF9i/7jKFl5MgR0JFjLp1c94tZbC/Tg1ULgkf7AGtNSh61mI8ZhRPNO/NgYL1m2cWLhCAJyplAYDjKYhcKUmE4uEJmlmCYrcU90bQiq8rxt1gJ6Tnlf3xDPGaxa3dABDw0e2tRwvJ4SH5RCQJPuUf5bh032QQ9sLQTsEfUXMTpu32WxBoFgR+YL2i7NOcfUh8BjAEcQTMnFhJzI2KQ+AQwS6XlGdHLaTqX0JeJnXA0C7qcXn0ZegOYIGcxeNIR+d+ygGl+Pdy1f0fwyLM+n5IvKIKArEHNDPEiWtD9Aj1k9BHua6bWs8WIx1vl8Quom0I7Fj9xlHC9dOj2JDDoeO4ZkMoKuLtHQspMssSZ1FdXmQ9Sqe0jTw4J+BHJG8VoQ8Dlkxb5eTC67NyQiah0+cZBTY+C5x/m5xRNSxb7oVAhi+sQX7xV1uqxF0ASBMmFzTmhSWPdlCALq4euabQKbziOmY8fHEOzIMIZuRt1e72lM5iGFT7illE4X0jUTmGzWMaD0XhmCR1qPjxezAj65DPruvFbDCDGvV+M+Cuz6Bh+feD0TApoyHhyN3a5prm/XCEHCZhoR0QdzMYqooCkohXmoaNSfFJWEiEs2mVSDIQp99PkYxnESms8qvzIE7Fn8WbDIIjHwy5Cyh/UhPW+tiJTcMDMEyKi02JyF8yAIfNobHE13YpMI5o0QKJ5qC7XoIN7l1x14C5BLR1mAna0sTzAE+Qnqqh3xgAA6lTkMfLBl131dCHhesDg7uMPHDD+3ROKoPkAUrRWREmI8sh+OOGn9m344oT8ogWAJcFqgZGr2xg9RSQgcZWjqUDQZAh+Z/pBNKUt6zM7r5noHdYWOlPYsWmZ8zQi05Rl3+7o2asbOJ4umru2zyem6HoYTyUglPd3mZb7ZFfFiz0bXKM0rdVQNNX7Uz50nDXeW6/pHQQud76yFf7VErZonPNda9YRz7hG8YiT+oZ/um8eTyyDoYZkcT8IKhrTIK7EETwsswpuMXR0CE2oRmie8meAjpXkmyXKhaWgpga8uUnGuFWmmsCVGMJ1Elo9ra1FvmrdR0zksC9GiBH2yl4qOLYGL284usxatCQKuk+L4Eb/lsAfg0w0bIGgzcr5WVRP+JnEd2cTUhoYrILicBLv4kFYvN1WCfXo47PZH3U65JLC1Q7orXTWQ7A6Hw2XXmzbKqXf2KMXHemvk6HNUGroDnmUsjkYJCFhLP8n5WqyjaV6KdNvM8mxpurMsz1tM8fHJZUjv3MzXhX530pyDqgnnwhBQpXNXshKbGwRvl5MhKCw145PLZn3ZS2x4YJuGDrhJeabTz8R5mhi4QXC+NN1ZPn5UgIBnBtBovwgR65NF/YYJ5yI0+NKmq5fbrNupG224QfA2OfXOFqb/izQBmhkgrPisdiCZP9YV6QQxBPHxkcoLD08arvQGwfnSdGeZfS704uKO4yeUDwwpH8unlJBJp5XT12mtf3gzMyHsm6aphjcIzpYGCDo8WZRL74jegMwdFAHjz36JrowXrEHjoX7CeedVqZGmpUg3CM6WBgj4EEF+TSCP5JSf+HNLTDMtmRZq3P2kqw5YpXJD8ChNMT6W+mmJNwjeIA0QiPFBOUZr80mmyi/s4slTxD8UNdx+mBH7L+amlj7U9YaA2pwbBP8FaYJArC37wDadMYyPXOUO1YyswC93ku9vtPqfHWWGq/E1DM/M95d3PRLeZYU0LEW6QXC2NDEgGfpP/7TbnU679SApnIWEOQ0+f7hrd7ByO+2XzygiIGE/H2f6+VgQ5HAYDYagaYebKgg8tDPgluxBeCzOLv29/HuwHNasB9+nKT1REKeFluEXb9pP978nTRDIhn729dOvL6/PUoJ8xk20kZslPnv98O3x5eHjr6/kaOJWignKs7yggQLhNc6Kwo5qyEmXQhCsBgDYNgBkgthxuQuK047qxQOgegxhpQJAJy8kYwDWMi6eDoD6W6f6b0o6jMWHJggkzZWIGOE17mr2JqBBfrXBfpQGoZTHfl54JFLfH5S27rgmmKRxHM91u3Szr6Br9kq+rhZPq4ZgZ4fugVoCtNNIbqR3aav6hbaXebs4XSANcTdCYPxT7bPLkUDroca3JzOD2pX7F7wYoj957eQfeIO7Jc+1OelSCOYgouP7iRuWrRK5KARLU6wmRMuTNGnnVGeh6e8IgokpGcBGCO6MD1UtvebqSYuQjoSkmtpVmED3UngER9nEFhuArh+eKoVgYfLFQ94gLNn98cIQCC07eKWxGBKegmh9qY2m3i6/CwHZSq5EjhamVdsCkuhpVxU/91t8yuKPI5sv0gu1S5HKIIAds9jLemiKfQaShP6TQhAkOW+v8BF9Zn5lEQJHFBUg8NWJ2K5Imdijni+Kg8LUA6kVXHz8WyrOSa8vYM04ua8LPqw47nchuLsrpeDDUTXjscovIANGnaof9bMvPIKyp539sJ91F1k+5dwUSz12AzUm/zpMFtmihz9gCKa9UbaY8HlhKfw4mghPPhh2F5m7JbrPQ5DMu1k2muNv0mFXi4bDlFwthCCKAX/pVgKvZBVSCKbzVXeyJReTDGG0kcILcldMY/v5yu1t+eVM5z1U2RvSvY6d4VOWuXMyJWU3XMKLcOFn+CGGzTzx656uXPiryEMAYxoPn2WEFkc56XChLZbsUk+DoP3tSLuvL2Vrj43PZcbg/oHYjH5JGZYfd9wQlMWBQr11/UFpd+CGg7j43RTGC9HYBwDtPAohWA3x6jAbEF68BQBWFkI3nyr7AGOLwRrWwHN/cxBA4wIGA/ifFdqBDEDXj7SqEEsQjLlreDDNpEcggAEJEbxp7SYE8Qjvem6T3Y2SEStOWG0t84G7BGTl+g5FIGN4TmxltiDbm2CsmvC8E2CPbfYznB4AYQbr4pc7bCJweCJnAakSZEBT4Q1g66pOggB6h59y5uv+W8UO5J2XIgZiT9vqbNDrHTcER/nGOznT+KkmPiiFYA9/bS/OfbVZm1maJN5StycIAj+zx+nGG0aWiW5XsrDVpYeKfTIZPLXt0T5JNm6IdxmUIUgBLpp2Q2Rc43TiR4cDPRuEwFJ6PP4c2d2AQtC1/dV+s1mp2CJ7qpWBp/1mP/HxDrdO1w7nsLinmmh2ItSshS5nNxjoOrqevQpcdDkTG29ztbWjMboGeLYnsPKSaab5U0KHPfSSJB6baJcLb2yNgbvbTHuWtQ6cYW+sjdJD/DuWAO1S2f/4/cfX59nz1/vvH/vt6mUDnfbjr/uvKLifzZ7vf31ribr9hwp5rNlFmxx5wrbY5QFoasFnwxwNxay9hbkgD8A0Qg9FV6OrP7wQL1DtmTZR8iYK0eRTL7K75F4NAdr8SoJgqrKOdWvjpUIFn8BC3iA5rwfgYz7BEOyBTiz2Dhd6qm6yjRLQjnQx0GNKGEozzIFK+oUERhcJWmHLYrttaAbov36XbLCrkZ7Pi/DflB83ACsEga6RCPlg4q02f98nwNLq3PVfXv7p3xU3rz/mAFV8fISV7/LhnlElTTvg126qXwuB4vUGmh3a9pq+YYLfZEV5Ai7WFZ3w6SJDOgV8Tu/SRPvQr0y2OsQZ+xAfCYInm2eDyK7WRxA4Gd00bWtC00sgWHErbKG1Lx7fLjUxbVh5AhbUqdDQkoQwZMFLChAEB8DWrCYRSnzMbZUEvit7jZsNunivnIyHRUvbdCAEPgtXQ7T28bejg7wyTq54ct0LSfWOpvF8ZILQJ++j6NoL1rN5aexA68s2m5wgCFYmf0FSEKE9ZYHYYRI6B1MJAscWOxMsTbS4VYZAWYUWWvmQ4UvIoG13CAS7ZUzb15AT4IkN8kxkimJWnGjaTtmZYpNNDIEU83ZNaAO2ZkY+DQFlaWVCde90Hgl5KGfljXmqbADeCMF7lroBJCdInwaaD+9XsLBzaWIpT4AhGNk8meA8hZGyASEPMqeROZQg2IWm8MRt9HzlIJjbFjbGqHZsmxsGATltkKQjXyMQsJ7K5DuVwNguXfjQUCxtsY9RZCVKsjYPbOPMng2NwrwcggPsS6h4A2jbPOGiRn8rBFhPrg8OymaQ31ikAEGQhSKdug0BNMIWj9XgsSsJgtQ280V5CLYIAqULUPMQrUBAsFmuXBhtuBG1BKx7oRBMYfEAFUNLMJQgGEAI9ij+YGKrmypLAAkU1eAl/M0QpMxXx/oeQPMOY4PcSwLqIBjaCAKda9pbw/hAQAB7B/GOnHEFBHsw9pQEIGeMQhD0fBC5q0OilEKQwOKBu0qDAEEALQFfoqLC7mAf+b05k+280hJs7cF2y+ulfzMEMHSXE7UT2IlCbeXSxHXdQS800cpDYfMHue4gDsV60KmFDEwJBNCbj9Fyx4RDsAU+3c62FAIcEuIrQxDA+JSfA/kEMKLJb7pSYQmWIJ+h/oshgFZRTu/1zG6guDYf1Un2U+gY5iHAHS0RaBVcJRDRAtQ6fPQFBEkoFeEB5hIIIABZsMDnIBDgwJSIWgLBlA89OjqEIAFsz00U1sArywTDgUeihTIIYk1KkXvBXw3BTgul536B0i9DUxWvnlooRQhSwHcl35sovsNxIa0QWrkQcRy6rGjho31lyiDYqObBwq/YIBDsLKaeBGjHEEDt0Tan2BtxQ/qmLBhyIgh6Joe0N5g48HpLIaDZAnyaLIr/agjgPbR5SLVEDzKMvEK6ANlbwxtV7A6chU3DeGgIUK4t9tko0A4bBQmC2GRxVwrwxkPH0YGCNrfSNAwLgWCvA67VcgiIE+CMUHSgbCLNX26SZOoCnDH0NLbWfWqhC6uwBMqKp0NWpu0cQ/BkS8Pc11bd5aQUAk/1w27sQEm2KlH3wbbxWvVk4ZveEQQwwjbxNlSJ6+Mu33ky9SV+31FkI5sgp417wD+QohCrIgfB0CQQxIDulUcgSLJw5KHr6fpquDyCIFmjl+U4zsa1IhycxqZvrxeZDpY2ThsPTXOygRXisT1wqiFIMjtaBvA0Kw3xWYRAWYX+1GF27Nqqu5yUh4jeApjAjMYqjJWGJEu0BKbZXXVtnHwPSAyH5IkMvaQaDM9Wrs08wmAEQNTrjQHA76r0QsnNcAEY4CLyXtQlkLZJWwIf/03GPrHw0ASjYmg1wGChAj3dwuPQrDPWHkDqQcXrkQWieGIC9E6GPR5vsg4kWYS0Da9nHdIBJg7BnEMAcPYryWC9QUR/trfmEJDXKcLQF/CB7mur7nJSkScIUjdbR1E22vLRg90IIaFlSMlOb83zq12ida879k1/3WW6cZaLyDbVjLwQzVuMpc0D0kVkmjotUg4D8aob5bCmb1UarokBd1ZjXDx9yqJBBq1RMlmsFC/jL1h6ekKK2ndR8SqB17HAl+Z48XCXKAwCVGEQjUdkYHnXpQnNtEtVunwi3kCwXIzh7+7iaMIb8dHUXhf/a5UNBiw3dW3VXU6qk0WBN5XeWa7gd5Mv2XvJg+R4Akeyi3M7SDjTXbxn1ZzceKozjUVRri2Hzehw2EQPXhxMPVExSArzS1Ax/2rKG4eOIvs22ExPegNWMp2KSzs6yyb5W7qD/3cZAWaoVqBbW/MNcm3VXU7+TAhSoGO7H2x9rWa7nLfJtVV3OfkzIUCBrTnIBgCML7NJVZlcW3WXkz8UAmW/WgPgj5aXeQ9mqVxbdZeTPxWC/4FcW3WXkxsEZ8u1VXc5uUFwtlxbdZeTGwRny7VVdzm5QXC2XFt1l5MbBGfLtVV3OblBcLa0/hi5QXC2fPhzpHL3g5vUy38Ad4zCnxrOIc0AAAAASUVORK5CYII=">
            <a:extLst>
              <a:ext uri="{FF2B5EF4-FFF2-40B4-BE49-F238E27FC236}">
                <a16:creationId xmlns:a16="http://schemas.microsoft.com/office/drawing/2014/main" id="{9DD59923-19F7-EE44-BE29-81AF5BA2C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99" y="5871612"/>
            <a:ext cx="2685169" cy="50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7C2307-2E0B-4FA8-AA0F-0B155AC9B1D6}"/>
              </a:ext>
            </a:extLst>
          </p:cNvPr>
          <p:cNvSpPr/>
          <p:nvPr/>
        </p:nvSpPr>
        <p:spPr>
          <a:xfrm>
            <a:off x="3965791" y="667859"/>
            <a:ext cx="4523691" cy="2526906"/>
          </a:xfrm>
          <a:prstGeom prst="rect">
            <a:avLst/>
          </a:prstGeom>
          <a:blipFill dpi="0" rotWithShape="1">
            <a:blip r:embed="rId4">
              <a:alphaModFix amt="43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108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BMW and Segmentation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(Inverse) demand in the US: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=160−4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lvl="1"/>
                <a:r>
                  <a:rPr lang="en-US" sz="2200" i="1" dirty="0"/>
                  <a:t>Q </a:t>
                </a:r>
                <a:r>
                  <a:rPr lang="en-US" sz="2200" dirty="0"/>
                  <a:t>: Number of cars in 1,000</a:t>
                </a:r>
              </a:p>
              <a:p>
                <a:r>
                  <a:rPr lang="en-US" dirty="0"/>
                  <a:t>(Inverse) demand in Germany: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=140−5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in both markets  </a:t>
                </a:r>
                <a:r>
                  <a:rPr lang="en-US" sz="2000" dirty="0"/>
                  <a:t>[in $1,000]</a:t>
                </a:r>
                <a:endParaRPr lang="en-US" dirty="0"/>
              </a:p>
              <a:p>
                <a:endParaRPr lang="en-US" b="1" dirty="0"/>
              </a:p>
              <a:p>
                <a:r>
                  <a:rPr lang="en-US" b="1" dirty="0"/>
                  <a:t>What is the profit-maximizing price in the US and in Germany?</a:t>
                </a:r>
              </a:p>
              <a:p>
                <a:r>
                  <a:rPr lang="en-US" b="1" dirty="0"/>
                  <a:t>What is the demand elasticity at the profit-maximizing price in the two countries?</a:t>
                </a:r>
              </a:p>
              <a:p>
                <a:r>
                  <a:rPr lang="en-US" b="1" dirty="0"/>
                  <a:t>What is the Lerner Index in the two countries?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8" t="-3639" b="-2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801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8028-5B1C-49D3-BF22-2CE9385E6DA2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127215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kern="1200" cap="all" spc="200">
                <a:solidFill>
                  <a:schemeClr val="tx2">
                    <a:lumMod val="50000"/>
                  </a:schemeClr>
                </a:solidFill>
                <a:latin typeface="Whitney-Medium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1F497D">
                    <a:lumMod val="50000"/>
                  </a:srgbClr>
                </a:solidFill>
              </a:rPr>
              <a:t>Profit-Maximization</a:t>
            </a:r>
            <a:r>
              <a:rPr kumimoji="0" lang="en-US" sz="3200" b="0" i="0" u="none" strike="noStrike" kern="1200" cap="all" spc="20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Whitney-Medium"/>
                <a:ea typeface="+mj-ea"/>
                <a:cs typeface="+mj-cs"/>
              </a:rPr>
              <a:t> In the US Market</a:t>
            </a:r>
            <a:endParaRPr kumimoji="0" lang="en-US" sz="3000" b="0" i="0" u="none" strike="noStrike" kern="1200" cap="all" spc="20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Whitney-Medium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266708A-B55F-4496-A7D0-854B3F86C4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419985"/>
                <a:ext cx="8229600" cy="4525963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8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6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2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0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0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MR</m:t>
                    </m:r>
                  </m:oMath>
                </a14:m>
                <a:r>
                  <a:rPr lang="en-US" dirty="0"/>
                  <a:t>:  </a:t>
                </a:r>
                <a:endParaRPr lang="en-US" b="0" i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−4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</m:oMath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160⋅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𝑈𝑆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dTR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US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dQ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US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  </a:t>
                </a:r>
                <a:r>
                  <a:rPr lang="en-US" sz="2000" dirty="0"/>
                  <a:t>(recall: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r>
                  <a:rPr lang="en-US" sz="2000" dirty="0"/>
                  <a:t>)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0−8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=160−4⋅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𝑈𝑆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266708A-B55F-4496-A7D0-854B3F86C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19985"/>
                <a:ext cx="8229600" cy="4525963"/>
              </a:xfrm>
              <a:prstGeom prst="rect">
                <a:avLst/>
              </a:prstGeom>
              <a:blipFill>
                <a:blip r:embed="rId4"/>
                <a:stretch>
                  <a:fillRect l="-1778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034450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8028-5B1C-49D3-BF22-2CE9385E6DA2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kern="1200" cap="all" spc="200">
                <a:solidFill>
                  <a:schemeClr val="tx2">
                    <a:lumMod val="50000"/>
                  </a:schemeClr>
                </a:solidFill>
                <a:latin typeface="Whitney-Medium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3200" dirty="0">
                <a:solidFill>
                  <a:srgbClr val="1F497D">
                    <a:lumMod val="50000"/>
                  </a:srgbClr>
                </a:solidFill>
              </a:rPr>
              <a:t>Profit-Maximization In </a:t>
            </a:r>
            <a:r>
              <a:rPr kumimoji="0" lang="en-US" sz="3200" b="0" i="0" u="none" strike="noStrike" kern="1200" cap="all" spc="20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Whitney-Medium"/>
                <a:ea typeface="+mj-ea"/>
                <a:cs typeface="+mj-cs"/>
              </a:rPr>
              <a:t>GERMANY</a:t>
            </a:r>
            <a:endParaRPr kumimoji="0" lang="en-US" sz="3000" b="0" i="0" u="none" strike="noStrike" kern="1200" cap="all" spc="20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Whitney-Medium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266708A-B55F-4496-A7D0-854B3F86C4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419985"/>
                <a:ext cx="8229600" cy="4525963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8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6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2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0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0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MR</m:t>
                    </m:r>
                  </m:oMath>
                </a14:m>
                <a:r>
                  <a:rPr lang="en-US" dirty="0"/>
                  <a:t>:  </a:t>
                </a:r>
                <a:endParaRPr lang="en-US" b="0" i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140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140⋅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  </a:t>
                </a:r>
                <a:r>
                  <a:rPr lang="en-US" sz="2000" dirty="0"/>
                  <a:t>(recall: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r>
                  <a:rPr lang="en-US" sz="2000" dirty="0"/>
                  <a:t>)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=140−5⋅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266708A-B55F-4496-A7D0-854B3F86C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19985"/>
                <a:ext cx="8229600" cy="4525963"/>
              </a:xfrm>
              <a:prstGeom prst="rect">
                <a:avLst/>
              </a:prstGeom>
              <a:blipFill>
                <a:blip r:embed="rId4"/>
                <a:stretch>
                  <a:fillRect l="-1778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354862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8028-5B1C-49D3-BF22-2CE9385E6DA2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kern="1200" cap="all" spc="200">
                <a:solidFill>
                  <a:schemeClr val="tx2">
                    <a:lumMod val="50000"/>
                  </a:schemeClr>
                </a:solidFill>
                <a:latin typeface="Whitney-Medium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3200" dirty="0">
                <a:solidFill>
                  <a:srgbClr val="1F497D">
                    <a:lumMod val="50000"/>
                  </a:srgbClr>
                </a:solidFill>
              </a:rPr>
              <a:t>Illustrating the </a:t>
            </a:r>
            <a:r>
              <a:rPr lang="en-US" sz="3200" dirty="0" err="1">
                <a:solidFill>
                  <a:srgbClr val="1F497D">
                    <a:lumMod val="50000"/>
                  </a:srgbClr>
                </a:solidFill>
              </a:rPr>
              <a:t>SOlution</a:t>
            </a:r>
            <a:endParaRPr kumimoji="0" lang="en-US" sz="3000" b="0" i="0" u="none" strike="noStrike" kern="1200" cap="all" spc="20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Whitney-Medium"/>
              <a:ea typeface="+mj-ea"/>
              <a:cs typeface="+mj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799641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8028-5B1C-49D3-BF22-2CE9385E6DA2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08522" y="127215"/>
            <a:ext cx="787827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kern="1200" cap="all" spc="200">
                <a:solidFill>
                  <a:schemeClr val="tx2">
                    <a:lumMod val="50000"/>
                  </a:schemeClr>
                </a:solidFill>
                <a:latin typeface="Whitney-Medium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1F497D">
                    <a:lumMod val="50000"/>
                  </a:srgbClr>
                </a:solidFill>
              </a:rPr>
              <a:t>Demand Elasticity and MARK-up: </a:t>
            </a:r>
            <a:r>
              <a:rPr kumimoji="0" lang="en-US" sz="3200" b="0" i="0" u="none" strike="noStrike" kern="1200" cap="all" spc="20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Whitney-Medium"/>
                <a:ea typeface="+mj-ea"/>
                <a:cs typeface="+mj-cs"/>
              </a:rPr>
              <a:t>USA</a:t>
            </a:r>
            <a:endParaRPr kumimoji="0" lang="en-US" sz="3000" b="0" i="0" u="none" strike="noStrike" kern="1200" cap="all" spc="20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Whitney-Medium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266708A-B55F-4496-A7D0-854B3F86C4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419985"/>
                <a:ext cx="8229600" cy="4525963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8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6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2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0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0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Elasticity:  </a:t>
                </a:r>
                <a:endParaRPr lang="en-US" b="0" i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−4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0.25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</m:sSub>
                  </m:oMath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dQ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US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dP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US</m:t>
                            </m:r>
                          </m:sub>
                        </m:sSub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−0.25</m:t>
                    </m:r>
                  </m:oMath>
                </a14:m>
                <a:r>
                  <a:rPr lang="en-US" b="0" dirty="0"/>
                  <a:t> (slope of the demand curve)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𝑈𝑆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dQ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US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dP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US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𝑈𝑆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=−0.25⋅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−1.67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Lerner Index (mark-up):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100−40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Recall from Module 5: Lerner Index: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1.67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US" dirty="0"/>
                  <a:t> ✓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266708A-B55F-4496-A7D0-854B3F86C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19985"/>
                <a:ext cx="8229600" cy="4525963"/>
              </a:xfrm>
              <a:prstGeom prst="rect">
                <a:avLst/>
              </a:prstGeom>
              <a:blipFill>
                <a:blip r:embed="rId4"/>
                <a:stretch>
                  <a:fillRect l="-1778" t="-2695" b="-12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974562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8028-5B1C-49D3-BF22-2CE9385E6DA2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08522" y="127215"/>
            <a:ext cx="787827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kern="1200" cap="all" spc="200">
                <a:solidFill>
                  <a:schemeClr val="tx2">
                    <a:lumMod val="50000"/>
                  </a:schemeClr>
                </a:solidFill>
                <a:latin typeface="Whitney-Medium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1F497D">
                    <a:lumMod val="50000"/>
                  </a:srgbClr>
                </a:solidFill>
              </a:rPr>
              <a:t>Demand Elasticity and MARK-up: </a:t>
            </a:r>
            <a:r>
              <a:rPr kumimoji="0" lang="en-US" sz="3200" b="0" i="0" u="none" strike="noStrike" kern="1200" cap="all" spc="20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Whitney-Medium"/>
                <a:ea typeface="+mj-ea"/>
                <a:cs typeface="+mj-cs"/>
              </a:rPr>
              <a:t>Germany</a:t>
            </a:r>
            <a:endParaRPr kumimoji="0" lang="en-US" sz="3000" b="0" i="0" u="none" strike="noStrike" kern="1200" cap="all" spc="20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Whitney-Medium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266708A-B55F-4496-A7D0-854B3F86C4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419985"/>
                <a:ext cx="8229600" cy="4525963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8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6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2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0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0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Elasticity:  </a:t>
                </a:r>
                <a:endParaRPr lang="en-US" b="0" i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140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dQ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dP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sub>
                        </m:sSub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−0.2</m:t>
                    </m:r>
                  </m:oMath>
                </a14:m>
                <a:r>
                  <a:rPr lang="en-US" b="0" dirty="0"/>
                  <a:t> (slope of the demand curve)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dQ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dP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=−0.2⋅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−1.80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Lerner Index (mark-up):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90−40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=0.56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Lerner Index: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=0.56</m:t>
                    </m:r>
                  </m:oMath>
                </a14:m>
                <a:r>
                  <a:rPr lang="en-US" dirty="0"/>
                  <a:t> ✓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266708A-B55F-4496-A7D0-854B3F86C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19985"/>
                <a:ext cx="8229600" cy="4525963"/>
              </a:xfrm>
              <a:prstGeom prst="rect">
                <a:avLst/>
              </a:prstGeom>
              <a:blipFill>
                <a:blip r:embed="rId4"/>
                <a:stretch>
                  <a:fillRect l="-1778" t="-2695" b="-12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1545889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8028-5B1C-49D3-BF22-2CE9385E6DA2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08522" y="127215"/>
            <a:ext cx="787827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kern="1200" cap="all" spc="200">
                <a:solidFill>
                  <a:schemeClr val="tx2">
                    <a:lumMod val="50000"/>
                  </a:schemeClr>
                </a:solidFill>
                <a:latin typeface="Whitney-Medium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1F497D">
                    <a:lumMod val="50000"/>
                  </a:srgbClr>
                </a:solidFill>
              </a:rPr>
              <a:t>Important Take-Away</a:t>
            </a:r>
            <a:endParaRPr kumimoji="0" lang="en-US" sz="3000" b="0" i="0" u="none" strike="noStrike" kern="1200" cap="all" spc="20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Whitney-Medium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266708A-B55F-4496-A7D0-854B3F86C4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419985"/>
                <a:ext cx="8229600" cy="4525963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8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6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2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0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Clr>
                    <a:srgbClr val="1B8BD5"/>
                  </a:buClr>
                  <a:buFont typeface="Lucida Grande"/>
                  <a:buChar char="»"/>
                  <a:defRPr sz="2000" kern="1100" spc="50" normalizeH="0" baseline="0">
                    <a:solidFill>
                      <a:schemeClr val="tx2">
                        <a:lumMod val="75000"/>
                      </a:schemeClr>
                    </a:solidFill>
                    <a:latin typeface="Whitney-Book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Optimization when selling in multiple markets: </a:t>
                </a:r>
              </a:p>
              <a:p>
                <a:pPr lvl="1"/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MC</m:t>
                    </m:r>
                  </m:oMath>
                </a14:m>
                <a:r>
                  <a:rPr lang="en-US" dirty="0"/>
                  <a:t> in </a:t>
                </a:r>
                <a:r>
                  <a:rPr lang="en-US" u="sng" dirty="0"/>
                  <a:t>each</a:t>
                </a:r>
                <a:r>
                  <a:rPr lang="en-US" dirty="0"/>
                  <a:t> market separately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Elasticity:  </a:t>
                </a:r>
                <a:endParaRPr lang="en-US" b="0" i="0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Charge </a:t>
                </a:r>
                <a:r>
                  <a:rPr lang="en-US"/>
                  <a:t>higher price </a:t>
                </a:r>
                <a:r>
                  <a:rPr lang="en-US" dirty="0"/>
                  <a:t>in the less elastic market (USA)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266708A-B55F-4496-A7D0-854B3F86C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19985"/>
                <a:ext cx="8229600" cy="4525963"/>
              </a:xfrm>
              <a:prstGeom prst="rect">
                <a:avLst/>
              </a:prstGeom>
              <a:blipFill>
                <a:blip r:embed="rId4"/>
                <a:stretch>
                  <a:fillRect l="-1778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902814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fb4bfb20-bb85-4e69-83ee-0653ca024c4d"/>
  <p:tag name="TPLASTSAVEVERSION" val="6.2 PC"/>
  <p:tag name="WASPOLLED" val="9395E21AB51D4B2FB317ED88EF6AF71F"/>
  <p:tag name="TPVERSION" val="5"/>
  <p:tag name="TPFULLVERSION" val="5.3.2.24"/>
  <p:tag name="PPTVERSION" val="16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67277</TotalTime>
  <Words>421</Words>
  <Application>Microsoft Office PowerPoint</Application>
  <PresentationFormat>On-screen Show (4:3)</PresentationFormat>
  <Paragraphs>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Arial</vt:lpstr>
      <vt:lpstr>Calibri</vt:lpstr>
      <vt:lpstr>Cambria Math</vt:lpstr>
      <vt:lpstr>Lucida Grande</vt:lpstr>
      <vt:lpstr>Trebuchet MS</vt:lpstr>
      <vt:lpstr>Whitney Book</vt:lpstr>
      <vt:lpstr>Whitney-Book</vt:lpstr>
      <vt:lpstr>Whitney-Medium</vt:lpstr>
      <vt:lpstr>2_Custom Design</vt:lpstr>
      <vt:lpstr>Custom Design</vt:lpstr>
      <vt:lpstr>3_Custom Design</vt:lpstr>
      <vt:lpstr>5_Custom Design</vt:lpstr>
      <vt:lpstr>Practice Video 1 Segmentation: Optimal Pricing in Two Markets</vt:lpstr>
      <vt:lpstr>BMW and 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Pub Office 3</dc:creator>
  <cp:keywords/>
  <dc:description/>
  <cp:lastModifiedBy>NICO VOIGTLAENDER</cp:lastModifiedBy>
  <cp:revision>897</cp:revision>
  <cp:lastPrinted>2019-09-13T20:44:29Z</cp:lastPrinted>
  <dcterms:created xsi:type="dcterms:W3CDTF">2013-01-24T22:32:50Z</dcterms:created>
  <dcterms:modified xsi:type="dcterms:W3CDTF">2022-02-02T22:06:36Z</dcterms:modified>
  <cp:category/>
</cp:coreProperties>
</file>