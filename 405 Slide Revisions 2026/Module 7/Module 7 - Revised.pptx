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pe33_notes.xml" ContentType="application/vnd.openxmlformats-officedocument.presentationml.notesSlide+xml"/>
  <Override PartName="/ppt/tags/pe32_tag.xml" ContentType="application/vnd.openxmlformats-officedocument.presentationml.tag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Share</c:v>
                </c:pt>
              </c:strCache>
            </c:strRef>
          </c:tx>
          <c:dPt>
            <c:idx val="0"/>
            <c:spPr>
              <a:solidFill>
                <a:srgbClr val="0B2B4E"/>
              </a:solidFill>
            </c:spPr>
          </c:dPt>
          <c:dPt>
            <c:idx val="1"/>
            <c:spPr>
              <a:solidFill>
                <a:srgbClr val="E09F3E"/>
              </a:solidFill>
            </c:spPr>
          </c:dPt>
          <c:dPt>
            <c:idx val="2"/>
            <c:spPr>
              <a:solidFill>
                <a:srgbClr val="C0504D"/>
              </a:solidFill>
            </c:spPr>
          </c:dPt>
          <c:dPt>
            <c:idx val="3"/>
            <c:spPr>
              <a:solidFill>
                <a:srgbClr val="1B5E20"/>
              </a:solidFill>
            </c:spPr>
          </c:dPt>
          <c:dPt>
            <c:idx val="4"/>
            <c:spPr>
              <a:solidFill>
                <a:srgbClr val="555B66"/>
              </a:solidFill>
            </c:spPr>
          </c:dPt>
          <c:dPt>
            <c:idx val="5"/>
            <c:spPr>
              <a:solidFill>
                <a:srgbClr val="C8CDD3"/>
              </a:solidFill>
            </c:spPr>
          </c:dPt>
          <c:cat>
            <c:strRef>
              <c:f>Sheet1!$A$2:$A$7</c:f>
              <c:strCache>
                <c:ptCount val="6"/>
                <c:pt idx="0">
                  <c:v>Nucor</c:v>
                </c:pt>
                <c:pt idx="1">
                  <c:v>Cleveland-Cliffs</c:v>
                </c:pt>
                <c:pt idx="2">
                  <c:v>U.S. Steel (Nippon Steel)</c:v>
                </c:pt>
                <c:pt idx="3">
                  <c:v>Steel Dynamics</c:v>
                </c:pt>
                <c:pt idx="4">
                  <c:v>CMC</c:v>
                </c:pt>
                <c:pt idx="5">
                  <c:v>Others</c:v>
                </c:pt>
              </c:strCache>
            </c:strRef>
          </c:cat>
          <c:val>
            <c:numRef>
              <c:f>Sheet1!$B$2:$B$7</c:f>
              <c:numCache>
                <c:formatCode>General</c:formatCode>
                <c:ptCount val="6"/>
                <c:pt idx="0">
                  <c:v>26</c:v>
                </c:pt>
                <c:pt idx="1">
                  <c:v>20</c:v>
                </c:pt>
                <c:pt idx="2">
                  <c:v>13</c:v>
                </c:pt>
                <c:pt idx="3">
                  <c:v>13</c:v>
                </c:pt>
                <c:pt idx="4">
                  <c:v>6</c:v>
                </c:pt>
                <c:pt idx="5">
                  <c:v>22</c:v>
                </c:pt>
              </c:numCache>
            </c:numRef>
          </c:val>
        </c:ser>
        <c:dLbls>
          <c:txPr>
            <a:bodyPr/>
            <a:lstStyle/>
            <a:p>
              <a:pPr>
                <a:defRPr sz="1000" b="1">
                  <a:solidFill>
                    <a:srgbClr val="FFFFFF"/>
                  </a:solidFill>
                  <a:latin typeface="Carlito"/>
                </a:defRPr>
              </a:pPr>
            </a:p>
          </c:txPr>
          <c:showLegendKey val="0"/>
          <c:showVal val="0"/>
          <c:showCatName val="0"/>
          <c:showSerName val="0"/>
          <c:showPercent val="1"/>
          <c:showBubbleSize val="0"/>
          <c:showLeaderLines val="1"/>
        </c:dLbls>
      </c:pieChart>
    </c:plotArea>
    <c:legend>
      <c:legendPos/>
      <c:overlay val="0"/>
      <c:txPr>
        <a:bodyPr/>
        <a:lstStyle/>
        <a:p>
          <a:pPr>
            <a:defRPr sz="1000">
              <a:solidFill>
                <a:srgbClr val="0B2B4E"/>
              </a:solidFill>
              <a:latin typeface="Carlito"/>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pe33_notes.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Module 7 sits in the 405 course as a whole. We built the economic way of thinking, then demand, then supply and cost. Module 7 continues part 4: markets, pricing, and strategy — moving from monopoly and monopolistic competition to oligopoly, where a few firms interact strategically, and to game theory, the toolkit for analyzing that interaction.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 of Module 7 before we dive in. Part 1 is oligopoly — few large firms whose best moves depend on each other — in three flavors: collusion (act jointly as a monopolist, profitable but unstable and illegal), Cournot competition on quantities, and Bertrand competition on prices. Part 2 is game theory, the general toolkit behind all of this: dominant strategies, Nash equilibrium, and commitment. The gold bridge is the punchline connecting the two halves: Cournot and Bertrand are themselves games, and their equilibria are Nash equilibria. We return to this map as the module unfolds.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Oligopoly means markets with few sellers, but more than one (which is monopoly). How few? What is the distinction between oligopoly and monopolistic competition?</a:t>
            </a:r>
          </a:p>
          <a:p>
            <a:r>
              <a:t>There are barriers to entry in oligopolistic markets, keeping the number of competitors low and creating the potential for long term abnormal profits.</a:t>
            </a:r>
          </a:p>
          <a:p>
            <a:r>
              <a:t>There is strategic interdependence in oligopoly: under monopolistic competition, each firm ignores price changes by other firms because each is so small their price behavior does not affect your behavior. Under oligopoly, each has an incentive to respond to others' deviations.</a:t>
            </a:r>
          </a:p>
          <a:p>
            <a:r>
              <a:t>Examples of oligopoly include tobacco, satellite radio (before the merger), wide-bodied aircraft, and mobile phone services.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concentration in US mobile phone services — clearly an oligopoly. Verizon, T-Mobile, and AT&amp;T together serve roughly 97% of retail wireless subscribers. And consolidation continues: T-Mobile absorbed Sprint in 2020 and UScellular's wireless operations in August 2025.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Nickel is our guiding example for oligopoly: a homogeneous commodity, and a key input for nickel-rich EV batteries. We stylize the market as a duopoly with the two dominant producers: Vale of Brazil, the largest Western producer, and China's Tsingshan Holding, the world's largest nickel producer, which mines mainly in Indonesia — Indonesia now accounts for roughly two-thirds of world mine production (USGS 2026), and Tsingshan alone for roughly 30%. Norilsk Nickel of Russia is also a major producer, but we exclude it here because of the sanctions against Russia. Background on the nickel market: https://www.nsenergybusiness.com/features/top-nickel-producing-companies/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panel: the individual cartel member. Under competition the firm earns zero profit at the LAC minimum. At the cartel price P_Cartel, producing its quota q_Cartel earns the cartel profit — but at that price the firm would privately like to expand to q_Dev, where the price equals its marginal cost LMC, pocketing the extra profit from deviating. That temptation is why cartels are unstable.</a:t>
            </a:r>
          </a:p>
          <a:p>
            <a:r>
              <a:t>Right panel: the industry. Acting like a monopolist, the cartel restricts total output to Q_Cartel (where MR crosses the supply/MC curve) and the price rises above the competitive level at Q_C.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International Price Fixing. It harms consumers, and it is hard to prove price co-movements are indeed due to collusion.</a:t>
            </a:r>
          </a:p>
          <a:p>
            <a:r>
              <a:t>Mark Whitacre, the FBI mole at ADM, recorded the price fixing meetings. Mention special role of golf on Hawaii.</a:t>
            </a:r>
          </a:p>
          <a:p>
            <a:r>
              <a:t>FBI Video: Jump to 2:00. Tyson and ConAgra: major food producers, customers buying lysine: those that would be most hurt by price fixing. Actual price fixing at 7:20 – at some point, they even check the FX rate with the Canadian dollar to fix the price in a billion-dollar market within a minute.</a:t>
            </a:r>
          </a:p>
          <a:p>
            <a:r>
              <a:t>From the Poop Cartel Podcast: “Poop is big business in Dakar, Senegal. That's because a lot of the homes have septic tanks, which need to be cleaned out regularly. The best way to clean your tank is by hiring a proper truck, which arrives with a vacuum. The problem is that for years, the guys who drove the poop trucks operated as a cartel, and they squashed competition and kept prices high. So a lot of people turned to a cheaper alternative: men who clear out septic tanks by hand, with shovels and buckets, and basically bury the poop in the street. It's terrible work and bad for the environment. Today on the show: how economists got sewage off the streets of Dakar by making poop-truck drivers compete with each other. In other words, by breaking up the poop cartel.”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lysine price per pound around the ADM cartel: prices fall during the price wars, rise when the conspirators meet and cooperate, and collapse again after the FBI raid. Source: https://www.aeaweb.org/research/conspiracies-against-the-public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Oligopoly: Cournot versus Bertrand. In what follows we will assume no collusion: competition rather than cooperation between firms. There are a lot of models of oligopoly – as many as assumptions you are willing to make on rivals' responses. You will come back to these issues in your strategy class, for now we give the foundations that will be used in strategy.</a:t>
            </a:r>
          </a:p>
          <a:p>
            <a:r>
              <a:t>Two oligopoly models – the two most famous ones.</a:t>
            </a:r>
          </a:p>
          <a:p>
            <a:r>
              <a:t>Cournot assumed quantity competition: each firm sets quantity taking as fixed the quantity set by the other. The assumption is that the other firm will continue to produce the same quantity whatever I do. As we will see shortly price does not go to the competitive level but settles between the monopoly and perfect competition price.</a:t>
            </a:r>
          </a:p>
          <a:p>
            <a:r>
              <a:t>Bertrand (in his review of the Cournot book) proposed an alternative – that competition occurs on prices, not quantity. That is, the rival's price is held fixed when setting price. The idea is that in response to my price cut, others don't match. The equilibrium is where this assumption turns out to be correct (as before the assumption is false for all except the equilibrium point). What happens? As we will see shortly, equilibrium ends up equal to perfect competition.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setup for our Cournot analysis. Two firms — Vale as Firm A and Tsingshan as Firm B — produce an identical good, nickel. Market supply is the sum of the two firms' quantities, market demand is P = 100 minus total quantity, and both firms have the same marginal cost of $10 per kg. All numbers are stylized to keep the algebra clean.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Cournot assumed quantity competition: each firm sets quantity taking as fixed the quantity set by the other. The assumption is that the other firm will continue to produce the same quantity whatever I do. [Of course most of the time this assumption will prove false, but not at the equilibrium]. The residual demand curve is just the amount of demand left over when subtracting the other firm's fixed supply from market demand. As we will see shortly price does not go to the competitive level but settles between the monopoly and perfect competition price.</a:t>
            </a:r>
          </a:p>
          <a:p>
            <a:r>
              <a:t>Step 1: Go from the market-level demand to the individual-level demand by 'assuming' QB=50: P=100−(QA+50)=50−QA</a:t>
            </a:r>
          </a:p>
          <a:p>
            <a:r>
              <a:t>Step 2: Once you have the individual-level demand, find the profit-maximizing quantity as usual (MR=MC): MRA=50−2QA; 50−2QA=10 → QA=20.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Cournot assumed quantity competition: each firm sets quantity taking as fixed the quantity set by the other. The assumption is that the other firm will continue to produce the same quantity whatever I do. [Of course most of the time this assumption will prove false, but not at the equilibrium]. The residual demand curve is just the amount of demand left over when subtracting the other firm's fixed supply from market demand. As we will see shortly price does not go to the competitive level but settles between the monopoly and perfect competition price.</a:t>
            </a:r>
          </a:p>
          <a:p>
            <a:r>
              <a:t>Step 1: Go from the market-level demand to the individual-level demand by 'assuming' QB=20: P=100−(QA+20)=80−QA</a:t>
            </a:r>
          </a:p>
          <a:p>
            <a:r>
              <a:t>Step 2: Once you have the individual-level demand, find the profit-maximizing quantity as usual (MR=MC): MRA=80−2QA; 80−2QA=10 → QA=35.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say they move sequentially — it's just 'contemplating'. The reaction function collects Firm A's optimal responses: for every quantity B might produce, it gives A's profit-maximizing quantity. The two points we just derived — B produces 50, A responds with 20; B produces 20, A responds with 35 — pin down the line QA = 45 − 0.5·QB. The same logic (with the general algebra) is worked through in the practice video.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say they move sequentially — it's just 'contemplating'. The last step is to figure out the Cournot equilibrium, given by the 'intersection' of the two reaction functions. The intuition: we want a pair (QA*, QB*) so that A wants to respond to QB* with QA*, and B wants to respond to QA* by picking QB*.</a:t>
            </a:r>
          </a:p>
          <a:p>
            <a:r>
              <a:t>We start from the reaction function for A: QA=45−0.5QB (1). Then we repeat the analysis for firm B (everything is symmetric, so it is the mirror image): QB=45−0.5QA (2). Last, we need the pair (QA*, QB*) that satisfies both — two equations, two unknowns. Replace (1) in (2): QB=45−0.5(45−0.5QB)=22.5+0.25QB → 0.75QB=22.5 → QB=30. By symmetry QA=30 as well (verify: QA=45−0.5·30=30). The figure shows the graphical version: two lines with different slopes intersect in exactly one point. The staircase from QA=15 shows how the contemplated responses converge to the equilibrium.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practice videos on BruinLearn walk through the Cournot algebra step by step: the baseline case we just did, and the more general case where the two firms have different marginal costs.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OPEC is not sued for antitrust: '[i]f the members of OPEC were private companies and not nations, they long ago would have been prosecuted for engaging in illegal price fixing.' However, OPEC member nations have argued that doctrines of sovereign immunity and act of state make them immune from U.S. antitrust prosecution for their otherwise illegal price fixing cartel. Indeed, a federal court decision in 1979 ruled that the actions of OPEC were immune from U.S. antitrust scrutiny because of the doctrine of sovereign immunity (the proposition that the government cannot be sued without its consent).</a:t>
            </a:r>
          </a:p>
          <a:p>
            <a:r>
              <a:t>Source: https://energyfuse.org/should-we-still-be-concerned-about-opec/</a:t>
            </a:r>
          </a:p>
          <a:p>
            <a:r>
              <a:t>Steel pie (updated 2026): shares of US crude steel production 2024, total 79.5 Mt (worldsteel). Nucor 26% (20.7 Mt), Cleveland-Cliffs 20% (~16 Mt - it absorbed BOTH ArcelorMittal USA and AK Steel in 2020, which is why the old chart looks so different), U.S. Steel 13% (10.7 Mt, acquired by Nippon Steel June 2025, still operating as U.S. Steel), Steel Dynamics 13% (10.2 Mt), CMC ~6% (approx., fiscal-year basis), Others ~22% (Gerdau, North Star BlueScope, NLMK USA, SSAB Americas, etc). Sources: worldsteel company rankings 2024; U.S. Steel 10-K segment data; company reports.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Updated 2026-08-06 (fact-checked): US ready-mix concrete is quoted per CUBIC YARD, and MC = $120/yd3 matches industry data - materials (cement, aggregates, admixtures) ran $89-96/yd3 in 2023-24 plus roughly $15-25/yd3 delivery (NRMCA benchmarking and monthly surveys). The average US selling price was about $180/yd3 in 2025, so students should bid down from around the market price toward the $120 marginal cost. NOTE: the PollEverywhere answer bands (slide 32) are being updated by Nico to match the new $120 anchor. Sources: NRMCA Performance Benchmarking Survey (Oct 2024); concretefinancialinsights.com; US Concrete 10-K.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Bertrand assumed that firms choose a price and stand ready to meet all demand at that price. Each firm sets a price that maximizes profits holding constant the price set by the other firm. Contrast this with the Cournot case where the game is played on quantities.</a:t>
            </a:r>
          </a:p>
          <a:p>
            <a:r>
              <a:t>What is the outcome of Bertrand competition? The only equilibrium is P1 = P2 = MC. If, say P2 &gt;= P1 &gt; MC, P2 will undercut by a small amount, so there are no such equilibria. Proof: starting at P1 = P2 = MC, neither firm gains from raising (sells nothing) or cutting (negative profit). And any price above MC invites undercutting — the situation in the figure (both at $40, one drops to $39: it loses the thin strip on its old sales but gains the whole market).</a:t>
            </a:r>
          </a:p>
          <a:p>
            <a:r>
              <a:t>Bertrand with identical goods has a clean solution, but the conditions are rare. A market that came close: online retail of computer chips for home-built CPUs — consumers bought the cheapest chip and prices were approximately marginal cost, with retailers trying to escape via obfuscation (loss-leader ads, add-ons). With differentiated goods, equilibrium prices can stay above marginal cost.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use this graph to understand the welfare consequences of these different forms of competition.</a:t>
            </a:r>
          </a:p>
          <a:p>
            <a:r>
              <a:t>Producer welfare ranks: Perfect Competition = Bertrand &lt; Cournot &lt; Monopoly. Consumer welfare ranks: Perfect Competition = Bertrand &gt; Cournot &gt; Monopoly. Total surplus ranks: Perfect Competition = Bertrand &gt; Cournot &gt; Monopoly.</a:t>
            </a:r>
          </a:p>
          <a:p>
            <a:r>
              <a:t>These last two comparisons (consumer welfare and total surplus decrease with market power) are the reason why the Federal Trade Commission cares about market power.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algebra behind the comparison chart, all with the same market demand P = 100 − Q and MC = 10. The monopolist (or cartel) sets MR = MC and produces 45 at a price of 55. The Cournot duopoly ends up at 60 and a price of 40 — between monopoly and competition. Bertrand price competition drives the price all the way down to marginal cost: 90 units at a price of 10, the perfectly competitive outcome.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Bertrand with identical goods has a nice solution but the conditions that give rise to this outcome are rare in the real world. A market that was close was the online market for computer chips for consumers that like to build their own CPUs. Consumers bought the cheapest chip. Researchers found that prices were approx. marginal cost. An interesting wrinkle is that computer chip retailers attempted to differentiate their goods through obfuscation: either by advertising an inferior chip as a loss leader and then redirecting the consumer to their website or by offering product add-ons. In a Bertrand model with differentiated goods, there is the potential for the equilibrium price to be above marginal cost.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assumptions for Bertrand with differentiated goods: differentiated products, an own demand function for each firm, and prices chosen simultaneously. Why do we need simultaneity? It means neither firm can observe the rival's price before setting its own, and neither can commit to moving first — so the equilibrium is a pair of mutual best responses rather than a leader-follower outcome. It also answers the natural question about the price war: the second mover cannot simply wait and undercut at the last moment, because in this setting there is no last mover. In Part 2 we deliberately break exactly this assumption — commitment is what changes when one player CAN move first.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two-step logic as in the Cournot case, but now in prices. Step 1: fix Boeing's price at PB=200 and substitute it into Airbus' demand, giving the inverse demand PA = 300 − 0.5·QA. Step 2: maximize profit as usual (MR = MC with MC = 200): the optimal quantity is 100 and the optimal price response is PA = 250. Note the difference to Cournot: price responds POSITIVELY to price increases by the other firm.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two-step logic as in the Cournot case, but now in prices. Step 1: fix Boeing's price at PB=400 and substitute it into Airbus' demand, giving the inverse demand PA = 400 − 0.5·QA. Step 2: maximize profit as usual (MR = MC with MC = 200): the optimal quantity is 200 and the optimal price response is PA = 300. Note the difference to Cournot: price responds POSITIVELY to price increases by the other firm.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Price responds POSITIVELY to price increases by the other firm. Note that this is the opposite of Cournot, where Firm A wants to produce less if firm B produces more. The two reaction functions — Airbus' PA = 200 + 0.25·PB and Boeing's mirror image — intersect at the equilibrium PA = PB = 267. Starting from PA = 150, the contemplated responses move both firms toward the equilibrium.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biology, game theory is used to explain how organisms behave when their success depends on the actions of others. It helps clarify why an organism might cooperate, compete, form alliances, or adopt particular signaling or mating strategies. Classic examples include the evolution of cooperation, predator–prey interactions, and stable ratios of aggressive vs. passive behavioral types within a species.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the payoff table. Payoffs to the player on the left (Prisoner 1) are blue, and shown on the left. Payoffs to the player on top of the matrix (Prisoner 2) are gold, and shown on the right.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analyzes the strategy of Prisoner 1. Here we blind out the payoffs for Prisoner 2 because Prisoner 1 only cares about his own payoffs when deciding on a strategy. The arrows for Prisoner 1 (in general, for the player to the left of the matrix) are drawn vertically.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now we blind out the payoffs for Prisoner 1 because Prisoner 2 only cares about his own payoffs when deciding on a strategy. The arrows for Prisoner 2 (in general, the player on top of the matrix) are drawn horizontally.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Nash Equilibrium, neither player has the incentive to deviate: If Prisoner 1 betrays, then Prisoner 2 also wants to betray, and vice-versa.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payoff numbers are stylized, but they are calibrated to real magnitudes. Interpretation of payoffs: real GDP in $ trillion. Actual 2025 nominal GDP: US ≈ $30.6 trillion, China ≈ $19.4 trillion (IMF World Economic Outlook, Oct 2025).</a:t>
            </a:r>
          </a:p>
          <a:p>
            <a:r>
              <a:t>Where we actually are: after the 2025 tariff escalations and the partial truces (Geneva, May 2025; Korea, Nov 2025), the average US tariff on Chinese imports is ≈ 47.5% and China's average tariff on US imports ≈ 31.9% (PIIE US–China trade war tariff tracker, Nov 2025) — i.e., the high-tariff / high-tariff cell.</a:t>
            </a:r>
          </a:p>
          <a:p>
            <a:r>
              <a:t>Estimated costs behind the payoff gaps: the 2025 tariff actions are estimated to reduce long-run US GDP by roughly 0.3–0.7% (Yale Budget Lab; Tax Foundation), on the order of $100–200B per year; for China, estimates run from 0.5 to 2.5 percentage points off GDP growth over 2025–27 depending on escalation (EIU).</a:t>
            </a:r>
          </a:p>
          <a:p>
            <a:r>
              <a:t>The game's structure matches the evidence: a unilateral tariff shifts some surplus to the imposing country (the 24 vs. 13 cells), but when both retaliate, both end up worse off (15, 15) than under mutual low tariffs (20, 20) — the prisoner's-dilemma logic.</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left: US Titan II nuclear missile. Picture right: Soviet Union nuclear warhead.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here for an illustration using a decision tree: https://www.spaceship.com.au/learn/game-theory-cold-war/</a:t>
            </a:r>
          </a:p>
          <a:p>
            <a:r>
              <a:t>Documentary: “The Man Who Saved the World”: Vasili Arkhipov.</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nice illustration of what “equilibrium” means: given that one player goes “right”, the other one also wants to go “right” – but that's not the case here. Goalie and Kicker never want to be in the same cell.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1. Both advertise, and make lower profits than if they could coordinate on not advertising. This is just like the prisoner's dilemma.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1. Both advertise, and make lower profits than if they could coordinate on not advertising. This is just like the prisoner's dilemma.</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that will be shown in Strategy: http://www.youtube.com/watch?v=S0qjK3TWZE8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background on the 777-200LR, in case it comes up: https://aeronauticsonline.com/why-it-failed-boeing-777-200lr/</a:t>
            </a:r>
          </a:p>
        </p:txBody>
      </p:sp>
      <p:sp>
        <p:nvSpPr>
          <p:cNvPr id="4" name="Slide Number Placeholder 3"/>
          <p:cNvSpPr>
            <a:spLocks noGrp="1"/>
          </p:cNvSpPr>
          <p:nvPr>
            <p:ph type="sldNum" idx="5" sz="quarter"/>
          </p:nvPr>
        </p:nvSpPr>
        <p:spPr/>
      </p:sp>
    </p:spTree>
  </p:cSld>
  <p:clrMapOvr>
    <a:masterClrMapping/>
  </p:clrMapOvr>
</p:notes>
</file>

<file path=ppt/notesSlides/pe33_notes.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Poll Title: Do not modify the notes in this section to avoid tampering with the Poll Everywhere activity.</a:t>
            </a:r>
          </a:p>
          <a:p>
            <a:r>
              <a:rPr lang="en-US" dirty="0"/>
              <a:t>More info at polleverywhere.com/support</a:t>
            </a:r>
          </a:p>
          <a:p/>
          <a:p>
            <a:r>
              <a:rPr lang="en-US" dirty="0"/>
              <a:t>What price bid would you (being the producer of concrete) submit?</a:t>
            </a:r>
          </a:p>
          <a:p>
            <a:r>
              <a:rPr lang="en-US" dirty="0"/>
              <a:t>https://www.polleverywhere.com/multiple_choice_polls/cPmM4EjskHq9d0maIszSW?state=opened&amp;flow=Default&amp;onscreen=persist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5.png"/><Relationship Id="rId6"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n.wikipedia.org/wiki/Lysine" TargetMode="External"/><Relationship Id="rId3" Type="http://schemas.openxmlformats.org/officeDocument/2006/relationships/hyperlink" Target="https://www.thisamericanlife.org/168/the-fix-is-in" TargetMode="External"/><Relationship Id="rId4" Type="http://schemas.openxmlformats.org/officeDocument/2006/relationships/hyperlink" Target="http://www.imdb.com/title/tt1130080/" TargetMode="External"/><Relationship Id="rId5" Type="http://schemas.openxmlformats.org/officeDocument/2006/relationships/hyperlink" Target="https://www.npr.org/sections/money/2018/07/25/632444815/episode-855-the-poop-cartel" TargetMode="External"/><Relationship Id="rId6" Type="http://schemas.openxmlformats.org/officeDocument/2006/relationships/image" Target="../media/image13.jpg"/><Relationship Id="rId7" Type="http://schemas.openxmlformats.org/officeDocument/2006/relationships/image" Target="../media/image14.jpg"/><Relationship Id="rId8"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jpg"/><Relationship Id="rId4"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chart" Target="../charts/chart1.xml"/><Relationship Id="rId4" Type="http://schemas.openxmlformats.org/officeDocument/2006/relationships/notesSlide" Target="../notesSlides/notesSlide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notesSlide" Target="../notesSlides/notesSlide17.xml"/></Relationships>
</file>

<file path=ppt/slides/_rels/slide33.xml.rels><?xml version='1.0' encoding='UTF-8'?>
<Relationships xmlns="http://schemas.openxmlformats.org/package/2006/relationships"><Relationship Id="rId1" Type="http://schemas.openxmlformats.org/officeDocument/2006/relationships/tags" Target="../tags/pe32_tag.xml" /><Relationship Id="rId2" Type="http://schemas.openxmlformats.org/officeDocument/2006/relationships/slideLayout" Target="../slideLayouts/slideLayout7.xml" /><Relationship Id="rId3" Type="http://schemas.openxmlformats.org/officeDocument/2006/relationships/notesSlide" Target="../notesSlides/pe33_notes.xml" /><Relationship Id="rId4" Type="http://schemas.openxmlformats.org/officeDocument/2006/relationships/image" Target="../media/pe32_poll.png"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jpg"/><Relationship Id="rId4" Type="http://schemas.openxmlformats.org/officeDocument/2006/relationships/image" Target="../media/image28.jpg"/><Relationship Id="rId5" Type="http://schemas.openxmlformats.org/officeDocument/2006/relationships/notesSlide" Target="../notesSlides/notesSlide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BGtEp7zFdrc"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3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mdb.com/title/tt0057012/" TargetMode="External"/><Relationship Id="rId3" Type="http://schemas.openxmlformats.org/officeDocument/2006/relationships/hyperlink" Target="https://www.youtube.com/watch?v=4VPY2SgyG5w" TargetMode="External"/><Relationship Id="rId4" Type="http://schemas.openxmlformats.org/officeDocument/2006/relationships/notesSlide" Target="../notesSlides/notesSlide3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3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626" y="1152144"/>
            <a:ext cx="11687697" cy="1188720"/>
          </a:xfrm>
          <a:prstGeom prst="rect">
            <a:avLst/>
          </a:prstGeom>
          <a:noFill/>
        </p:spPr>
        <p:txBody>
          <a:bodyPr wrap="square" lIns="0" rIns="0" tIns="0" bIns="0">
            <a:spAutoFit/>
          </a:bodyPr>
          <a:lstStyle/>
          <a:p>
            <a:pPr algn="ctr"/>
            <a:r>
              <a:rPr sz="6000" b="1" i="0" u="none">
                <a:solidFill>
                  <a:srgbClr val="0B2B4E"/>
                </a:solidFill>
                <a:latin typeface="Calibri"/>
              </a:rPr>
              <a:t>Oligopoly and Game Theory</a:t>
            </a:r>
          </a:p>
        </p:txBody>
      </p:sp>
      <p:sp>
        <p:nvSpPr>
          <p:cNvPr id="3" name="TextBox 2"/>
          <p:cNvSpPr txBox="1"/>
          <p:nvPr/>
        </p:nvSpPr>
        <p:spPr>
          <a:xfrm>
            <a:off x="-168626" y="2203704"/>
            <a:ext cx="11687697" cy="685800"/>
          </a:xfrm>
          <a:prstGeom prst="rect">
            <a:avLst/>
          </a:prstGeom>
          <a:noFill/>
        </p:spPr>
        <p:txBody>
          <a:bodyPr wrap="square" lIns="0" rIns="0" tIns="0" bIns="0">
            <a:spAutoFit/>
          </a:bodyPr>
          <a:lstStyle/>
          <a:p>
            <a:pPr algn="ctr"/>
            <a:r>
              <a:rPr sz="4000" b="1" i="0" u="none">
                <a:solidFill>
                  <a:srgbClr val="E09F3E"/>
                </a:solidFill>
                <a:latin typeface="Calibri"/>
              </a:rPr>
              <a:t>Module 7</a:t>
            </a:r>
          </a:p>
        </p:txBody>
      </p:sp>
      <p:sp>
        <p:nvSpPr>
          <p:cNvPr id="4" name="Rectangle 3"/>
          <p:cNvSpPr/>
          <p:nvPr/>
        </p:nvSpPr>
        <p:spPr>
          <a:xfrm>
            <a:off x="3846422" y="3163824"/>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8626" y="3529584"/>
            <a:ext cx="11687697" cy="502920"/>
          </a:xfrm>
          <a:prstGeom prst="rect">
            <a:avLst/>
          </a:prstGeom>
          <a:noFill/>
        </p:spPr>
        <p:txBody>
          <a:bodyPr wrap="square" lIns="0" rIns="0" tIns="0" bIns="0">
            <a:spAutoFit/>
          </a:bodyPr>
          <a:lstStyle/>
          <a:p>
            <a:pPr algn="ctr"/>
            <a:r>
              <a:rPr sz="2600" b="1" i="0" u="none">
                <a:solidFill>
                  <a:srgbClr val="555B66"/>
                </a:solidFill>
                <a:latin typeface="Calibri"/>
              </a:rPr>
              <a:t>Management 405</a:t>
            </a:r>
          </a:p>
        </p:txBody>
      </p:sp>
      <p:sp>
        <p:nvSpPr>
          <p:cNvPr id="6" name="TextBox 5"/>
          <p:cNvSpPr txBox="1"/>
          <p:nvPr/>
        </p:nvSpPr>
        <p:spPr>
          <a:xfrm>
            <a:off x="-168626" y="4169664"/>
            <a:ext cx="11687697" cy="457200"/>
          </a:xfrm>
          <a:prstGeom prst="rect">
            <a:avLst/>
          </a:prstGeom>
          <a:noFill/>
        </p:spPr>
        <p:txBody>
          <a:bodyPr wrap="square" lIns="0" rIns="0" t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13.jpg"/>
          <p:cNvPicPr>
            <a:picLocks noChangeAspect="1"/>
          </p:cNvPicPr>
          <p:nvPr/>
        </p:nvPicPr>
        <p:blipFill>
          <a:blip r:embed="rId2"/>
          <a:stretch>
            <a:fillRect/>
          </a:stretch>
        </p:blipFill>
        <p:spPr>
          <a:xfrm>
            <a:off x="8248214" y="2189988"/>
            <a:ext cx="3871436" cy="4267181"/>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Recap</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Lessons from Module 6: Complex Pricing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4572000"/>
          </a:xfrm>
          <a:prstGeom prst="rect">
            <a:avLst/>
          </a:prstGeom>
          <a:noFill/>
        </p:spPr>
        <p:txBody>
          <a:bodyPr wrap="square" lIns="0" rIns="0" tIns="0" bIns="0">
            <a:spAutoFit/>
          </a:bodyPr>
          <a:lstStyle>
            <a:lvl1pPr marL="342900" indent="-342900">
              <a:spcBef>
                <a:spcPts val="10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Price discrimination: different customers</a:t>
            </a:r>
          </a:p>
          <a:p>
            <a:pPr algn="l" lvl="1"/>
            <a:r>
              <a:rPr>
                <a:latin typeface="Calibri"/>
              </a:rPr>
              <a:t>First degree (perfect discrimination)</a:t>
            </a:r>
          </a:p>
          <a:p>
            <a:pPr algn="l" lvl="1"/>
            <a:r>
              <a:rPr>
                <a:latin typeface="Calibri"/>
              </a:rPr>
              <a:t>Third degree: segmentation</a:t>
            </a:r>
          </a:p>
          <a:p>
            <a:pPr algn="l" lvl="2" marL="1028700" indent="-228600">
              <a:spcBef>
                <a:spcPts val="300"/>
              </a:spcBef>
              <a:buClr>
                <a:srgbClr val="555B66"/>
              </a:buClr>
              <a:buFont typeface="Calibri"/>
              <a:buChar char="–"/>
            </a:pPr>
            <a:r>
              <a:rPr sz="2000">
                <a:solidFill>
                  <a:srgbClr val="555B66"/>
                </a:solidFill>
                <a:latin typeface="Calibri"/>
              </a:rPr>
              <a:t>Higher price to less elastic groups</a:t>
            </a:r>
          </a:p>
          <a:p>
            <a:pPr algn="l" lvl="1"/>
            <a:r>
              <a:rPr>
                <a:latin typeface="Calibri"/>
              </a:rPr>
              <a:t>Second degree (indirect): versioning</a:t>
            </a:r>
          </a:p>
          <a:p>
            <a:pPr algn="l"/>
            <a:r>
              <a:rPr>
                <a:latin typeface="Calibri"/>
              </a:rPr>
              <a:t>Volume pricing: same consumer, multiple units</a:t>
            </a:r>
          </a:p>
          <a:p>
            <a:pPr algn="l" lvl="1"/>
            <a:r>
              <a:rPr>
                <a:latin typeface="Calibri"/>
              </a:rPr>
              <a:t>Unlimited access fee if MC=0 (e.g., Netflix)</a:t>
            </a:r>
          </a:p>
          <a:p>
            <a:pPr algn="l" lvl="2" marL="1028700" indent="-228600">
              <a:spcBef>
                <a:spcPts val="300"/>
              </a:spcBef>
              <a:buClr>
                <a:srgbClr val="555B66"/>
              </a:buClr>
              <a:buFont typeface="Calibri"/>
              <a:buChar char="–"/>
            </a:pPr>
            <a:r>
              <a:rPr sz="2000">
                <a:solidFill>
                  <a:srgbClr val="555B66"/>
                </a:solidFill>
                <a:latin typeface="Calibri"/>
              </a:rPr>
              <a:t>Fee = all the area under the demand curve</a:t>
            </a:r>
          </a:p>
          <a:p>
            <a:pPr algn="l" lvl="1"/>
            <a:r>
              <a:rPr>
                <a:latin typeface="Calibri"/>
              </a:rPr>
              <a:t>Two-part pricing when MC&gt;0 (e.g., Starbucks)</a:t>
            </a:r>
          </a:p>
          <a:p>
            <a:pPr algn="l" lvl="2" marL="1028700" indent="-228600">
              <a:spcBef>
                <a:spcPts val="300"/>
              </a:spcBef>
              <a:buClr>
                <a:srgbClr val="555B66"/>
              </a:buClr>
              <a:buFont typeface="Calibri"/>
              <a:buChar char="–"/>
            </a:pPr>
            <a:r>
              <a:rPr sz="2000">
                <a:solidFill>
                  <a:srgbClr val="555B66"/>
                </a:solidFill>
                <a:latin typeface="Calibri"/>
              </a:rPr>
              <a:t>Per-unit fee = MC</a:t>
            </a:r>
          </a:p>
          <a:p>
            <a:pPr algn="l" lvl="2" marL="1028700" indent="-228600">
              <a:spcBef>
                <a:spcPts val="300"/>
              </a:spcBef>
              <a:buClr>
                <a:srgbClr val="555B66"/>
              </a:buClr>
              <a:buFont typeface="Calibri"/>
              <a:buChar char="–"/>
            </a:pPr>
            <a:r>
              <a:rPr sz="2000">
                <a:solidFill>
                  <a:srgbClr val="555B66"/>
                </a:solidFill>
                <a:latin typeface="Calibri"/>
              </a:rPr>
              <a:t>Flat fee = area under the demand curve above the per-unit fee</a:t>
            </a:r>
          </a:p>
          <a:p>
            <a:pPr algn="l"/>
            <a:r>
              <a:rPr>
                <a:latin typeface="Calibri"/>
              </a:rPr>
              <a:t>Both can be computed directly from the demand function</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12BE39A9-2B53-5F40-9727-0845452319AB}" type="slidenum">
              <a:rPr lang="en-US" sz="1200" dirty="0">
                <a:solidFill>
                  <a:srgbClr val="555B66"/>
                </a:solidFill>
                <a:latin typeface="Calibri"/>
              </a:rPr>
              <a:t>2</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animEffect transition="in" filter="fade">
                                      <p:cBhvr>
                                        <p:cTn id="7" dur="500"/>
                                        <p:tgtEl>
                                          <p:spTgt spid="7">
                                            <p:txEl>
                                              <p:pRg st="5" end="5"/>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6" end="6"/>
                                            </p:txEl>
                                          </p:spTgt>
                                        </p:tgtEl>
                                        <p:attrNameLst>
                                          <p:attrName>style.visibility</p:attrName>
                                        </p:attrNameLst>
                                      </p:cBhvr>
                                      <p:to>
                                        <p:strVal val="visible"/>
                                      </p:to>
                                    </p:set>
                                    <p:animEffect transition="in" filter="fade">
                                      <p:cBhvr>
                                        <p:cTn id="10" dur="500"/>
                                        <p:tgtEl>
                                          <p:spTgt spid="7">
                                            <p:txEl>
                                              <p:pRg st="6" end="6"/>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7" end="7"/>
                                            </p:txEl>
                                          </p:spTgt>
                                        </p:tgtEl>
                                        <p:attrNameLst>
                                          <p:attrName>style.visibility</p:attrName>
                                        </p:attrNameLst>
                                      </p:cBhvr>
                                      <p:to>
                                        <p:strVal val="visible"/>
                                      </p:to>
                                    </p:set>
                                    <p:animEffect transition="in" filter="fade">
                                      <p:cBhvr>
                                        <p:cTn id="13" dur="500"/>
                                        <p:tgtEl>
                                          <p:spTgt spid="7">
                                            <p:txEl>
                                              <p:pRg st="7" end="7"/>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xEl>
                                              <p:pRg st="8" end="8"/>
                                            </p:txEl>
                                          </p:spTgt>
                                        </p:tgtEl>
                                        <p:attrNameLst>
                                          <p:attrName>style.visibility</p:attrName>
                                        </p:attrNameLst>
                                      </p:cBhvr>
                                      <p:to>
                                        <p:strVal val="visible"/>
                                      </p:to>
                                    </p:set>
                                    <p:animEffect transition="in" filter="fade">
                                      <p:cBhvr>
                                        <p:cTn id="16" dur="500"/>
                                        <p:tgtEl>
                                          <p:spTgt spid="7">
                                            <p:txEl>
                                              <p:pRg st="8" end="8"/>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xEl>
                                              <p:pRg st="9" end="9"/>
                                            </p:txEl>
                                          </p:spTgt>
                                        </p:tgtEl>
                                        <p:attrNameLst>
                                          <p:attrName>style.visibility</p:attrName>
                                        </p:attrNameLst>
                                      </p:cBhvr>
                                      <p:to>
                                        <p:strVal val="visible"/>
                                      </p:to>
                                    </p:set>
                                    <p:animEffect transition="in" filter="fade">
                                      <p:cBhvr>
                                        <p:cTn id="19" dur="500"/>
                                        <p:tgtEl>
                                          <p:spTgt spid="7">
                                            <p:txEl>
                                              <p:pRg st="9" end="9"/>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xEl>
                                              <p:pRg st="10" end="10"/>
                                            </p:txEl>
                                          </p:spTgt>
                                        </p:tgtEl>
                                        <p:attrNameLst>
                                          <p:attrName>style.visibility</p:attrName>
                                        </p:attrNameLst>
                                      </p:cBhvr>
                                      <p:to>
                                        <p:strVal val="visible"/>
                                      </p:to>
                                    </p:set>
                                    <p:animEffect transition="in" filter="fade">
                                      <p:cBhvr>
                                        <p:cTn id="22" dur="500"/>
                                        <p:tgtEl>
                                          <p:spTgt spid="7">
                                            <p:txEl>
                                              <p:pRg st="10" end="1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11" end="11"/>
                                            </p:txEl>
                                          </p:spTgt>
                                        </p:tgtEl>
                                        <p:attrNameLst>
                                          <p:attrName>style.visibility</p:attrName>
                                        </p:attrNameLst>
                                      </p:cBhvr>
                                      <p:to>
                                        <p:strVal val="visible"/>
                                      </p:to>
                                    </p:set>
                                    <p:animEffect transition="in" filter="fade">
                                      <p:cBhvr>
                                        <p:cTn id="27" dur="500"/>
                                        <p:tgtEl>
                                          <p:spTgt spid="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Course Roadmap</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Agenda for the Class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163927" y="1783080"/>
            <a:ext cx="78638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Calibri"/>
              </a:rPr>
              <a:t>1. The Economic Way of Thinking</a:t>
            </a:r>
          </a:p>
        </p:txBody>
      </p:sp>
      <p:sp>
        <p:nvSpPr>
          <p:cNvPr id="8" name="Rounded Rectangle 7"/>
          <p:cNvSpPr/>
          <p:nvPr/>
        </p:nvSpPr>
        <p:spPr>
          <a:xfrm>
            <a:off x="1752447" y="3246120"/>
            <a:ext cx="42062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Calibri"/>
              </a:rPr>
              <a:t>2. Value and Demand</a:t>
            </a:r>
          </a:p>
        </p:txBody>
      </p:sp>
      <p:sp>
        <p:nvSpPr>
          <p:cNvPr id="9" name="Rounded Rectangle 8"/>
          <p:cNvSpPr/>
          <p:nvPr/>
        </p:nvSpPr>
        <p:spPr>
          <a:xfrm>
            <a:off x="6233007" y="3246120"/>
            <a:ext cx="42062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Calibri"/>
              </a:rPr>
              <a:t>3. Supply and Cost</a:t>
            </a:r>
          </a:p>
        </p:txBody>
      </p:sp>
      <p:sp>
        <p:nvSpPr>
          <p:cNvPr id="10" name="Rounded Rectangle 9"/>
          <p:cNvSpPr/>
          <p:nvPr/>
        </p:nvSpPr>
        <p:spPr>
          <a:xfrm>
            <a:off x="2163927" y="4892040"/>
            <a:ext cx="7863840" cy="77724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Calibri"/>
              </a:rPr>
              <a:t>4. Markets, Pricing and Strategy</a:t>
            </a:r>
          </a:p>
        </p:txBody>
      </p:sp>
      <p:cxnSp>
        <p:nvCxnSpPr>
          <p:cNvPr id="11" name="Connector 10"/>
          <p:cNvCxnSpPr/>
          <p:nvPr/>
        </p:nvCxnSpPr>
        <p:spPr>
          <a:xfrm flipH="1">
            <a:off x="3855567" y="2560320"/>
            <a:ext cx="2240280" cy="685800"/>
          </a:xfrm>
          <a:prstGeom prst="line">
            <a:avLst/>
          </a:prstGeom>
          <a:ln w="38100">
            <a:solidFill>
              <a:srgbClr val="B0B5BC"/>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2560320"/>
            <a:ext cx="2240280" cy="685800"/>
          </a:xfrm>
          <a:prstGeom prst="line">
            <a:avLst/>
          </a:prstGeom>
          <a:ln w="38100">
            <a:solidFill>
              <a:srgbClr val="B0B5BC"/>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855567" y="4023360"/>
            <a:ext cx="2240280" cy="868680"/>
          </a:xfrm>
          <a:prstGeom prst="line">
            <a:avLst/>
          </a:prstGeom>
          <a:ln w="38100">
            <a:solidFill>
              <a:srgbClr val="B0B5BC"/>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6095847" y="4023360"/>
            <a:ext cx="2240280" cy="868680"/>
          </a:xfrm>
          <a:prstGeom prst="line">
            <a:avLst/>
          </a:prstGeom>
          <a:ln w="38100">
            <a:solidFill>
              <a:srgbClr val="B0B5BC"/>
            </a:solidFill>
            <a:tailEnd type="triangle" w="med" h="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439247" y="5134356"/>
            <a:ext cx="1737360" cy="292608"/>
          </a:xfrm>
          <a:prstGeom prst="rect">
            <a:avLst/>
          </a:prstGeom>
          <a:noFill/>
        </p:spPr>
        <p:txBody>
          <a:bodyPr wrap="square" lIns="0" rIns="0" tIns="0" bIns="0">
            <a:spAutoFit/>
          </a:bodyPr>
          <a:lstStyle/>
          <a:p>
            <a:pPr algn="l"/>
            <a:r>
              <a:rPr sz="1600" b="1" i="1" u="none">
                <a:solidFill>
                  <a:srgbClr val="E09F3E"/>
                </a:solidFill>
                <a:latin typeface="Calibri"/>
              </a:rPr>
              <a:t>we are here</a:t>
            </a:r>
          </a:p>
        </p:txBody>
      </p:sp>
      <p:cxnSp>
        <p:nvCxnSpPr>
          <p:cNvPr id="16" name="Connector 15"/>
          <p:cNvCxnSpPr/>
          <p:nvPr/>
        </p:nvCxnSpPr>
        <p:spPr>
          <a:xfrm flipH="1">
            <a:off x="10064343" y="5280660"/>
            <a:ext cx="301752"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20" name="TextBox 19"/>
          <p:cNvSpPr txBox="1"/>
          <p:nvPr/>
        </p:nvSpPr>
        <p:spPr>
          <a:xfrm>
            <a:off x="11475720" y="6583680"/>
            <a:ext cx="502920" cy="292608"/>
          </a:xfrm>
          <a:prstGeom prst="rect">
            <a:avLst/>
          </a:prstGeom>
          <a:noFill/>
        </p:spPr>
        <p:txBody>
          <a:bodyPr wrap="none" lIns="0" rIns="0" tIns="0" bIns="0">
            <a:spAutoFit/>
          </a:bodyPr>
          <a:lstStyle/>
          <a:p>
            <a:pPr algn="r"/>
            <a:fld id="{2F8B8F75-997D-54F2-905E-FFF0744A4593}" type="slidenum">
              <a:rPr lang="en-US" sz="1200" dirty="0">
                <a:solidFill>
                  <a:srgbClr val="555B66"/>
                </a:solidFill>
                <a:latin typeface="Calibri"/>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Outline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Outline of Module 7</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151333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1</a:t>
            </a:r>
          </a:p>
        </p:txBody>
      </p:sp>
      <p:sp>
        <p:nvSpPr>
          <p:cNvPr id="8" name="TextBox 7"/>
          <p:cNvSpPr txBox="1"/>
          <p:nvPr/>
        </p:nvSpPr>
        <p:spPr>
          <a:xfrm>
            <a:off x="1874519" y="1495044"/>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Collusion and Cartels</a:t>
            </a:r>
          </a:p>
          <a:p>
            <a:pPr algn="l">
              <a:spcBef>
                <a:spcPts val="0"/>
              </a:spcBef>
              <a:buNone/>
            </a:pPr>
            <a:r>
              <a:rPr sz="2200">
                <a:solidFill>
                  <a:srgbClr val="555B66"/>
                </a:solidFill>
                <a:latin typeface="Calibri"/>
              </a:rPr>
              <a:t>Why firms are tempted to collude, and why cartels break down</a:t>
            </a:r>
          </a:p>
        </p:txBody>
      </p:sp>
      <p:sp>
        <p:nvSpPr>
          <p:cNvPr id="9" name="Oval 8"/>
          <p:cNvSpPr/>
          <p:nvPr/>
        </p:nvSpPr>
        <p:spPr>
          <a:xfrm>
            <a:off x="1051560" y="234543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2</a:t>
            </a:r>
          </a:p>
        </p:txBody>
      </p:sp>
      <p:sp>
        <p:nvSpPr>
          <p:cNvPr id="10" name="TextBox 9"/>
          <p:cNvSpPr txBox="1"/>
          <p:nvPr/>
        </p:nvSpPr>
        <p:spPr>
          <a:xfrm>
            <a:off x="1874519" y="2327148"/>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Cournot Competition</a:t>
            </a:r>
          </a:p>
          <a:p>
            <a:pPr algn="l">
              <a:spcBef>
                <a:spcPts val="0"/>
              </a:spcBef>
              <a:buNone/>
            </a:pPr>
            <a:r>
              <a:rPr sz="2200">
                <a:solidFill>
                  <a:srgbClr val="555B66"/>
                </a:solidFill>
                <a:latin typeface="Calibri"/>
              </a:rPr>
              <a:t>Competing by choosing quantities: capacity decisions in oligopoly</a:t>
            </a:r>
          </a:p>
        </p:txBody>
      </p:sp>
      <p:sp>
        <p:nvSpPr>
          <p:cNvPr id="11" name="Oval 10"/>
          <p:cNvSpPr/>
          <p:nvPr/>
        </p:nvSpPr>
        <p:spPr>
          <a:xfrm>
            <a:off x="1051560" y="317754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3</a:t>
            </a:r>
          </a:p>
        </p:txBody>
      </p:sp>
      <p:sp>
        <p:nvSpPr>
          <p:cNvPr id="12" name="TextBox 11"/>
          <p:cNvSpPr txBox="1"/>
          <p:nvPr/>
        </p:nvSpPr>
        <p:spPr>
          <a:xfrm>
            <a:off x="1874519" y="3159252"/>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Bertrand Competition</a:t>
            </a:r>
          </a:p>
          <a:p>
            <a:pPr algn="l">
              <a:spcBef>
                <a:spcPts val="0"/>
              </a:spcBef>
              <a:buNone/>
            </a:pPr>
            <a:r>
              <a:rPr sz="2200">
                <a:solidFill>
                  <a:srgbClr val="555B66"/>
                </a:solidFill>
                <a:latin typeface="Calibri"/>
              </a:rPr>
              <a:t>Competing by setting prices, and why it can compete profits away</a:t>
            </a:r>
          </a:p>
        </p:txBody>
      </p:sp>
      <p:sp>
        <p:nvSpPr>
          <p:cNvPr id="13" name="Oval 12"/>
          <p:cNvSpPr/>
          <p:nvPr/>
        </p:nvSpPr>
        <p:spPr>
          <a:xfrm>
            <a:off x="1051560" y="400964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4</a:t>
            </a:r>
          </a:p>
        </p:txBody>
      </p:sp>
      <p:sp>
        <p:nvSpPr>
          <p:cNvPr id="14" name="TextBox 13"/>
          <p:cNvSpPr txBox="1"/>
          <p:nvPr/>
        </p:nvSpPr>
        <p:spPr>
          <a:xfrm>
            <a:off x="1874519" y="3991356"/>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Oligopoly with Differentiated Goods</a:t>
            </a:r>
          </a:p>
          <a:p>
            <a:pPr algn="l">
              <a:spcBef>
                <a:spcPts val="0"/>
              </a:spcBef>
              <a:buNone/>
            </a:pPr>
            <a:r>
              <a:rPr sz="2200">
                <a:solidFill>
                  <a:srgbClr val="555B66"/>
                </a:solidFill>
                <a:latin typeface="Calibri"/>
              </a:rPr>
              <a:t>How differentiation softens price competition</a:t>
            </a:r>
          </a:p>
        </p:txBody>
      </p:sp>
      <p:sp>
        <p:nvSpPr>
          <p:cNvPr id="15" name="Oval 14"/>
          <p:cNvSpPr/>
          <p:nvPr/>
        </p:nvSpPr>
        <p:spPr>
          <a:xfrm>
            <a:off x="1051560" y="484174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5</a:t>
            </a:r>
          </a:p>
        </p:txBody>
      </p:sp>
      <p:sp>
        <p:nvSpPr>
          <p:cNvPr id="16" name="TextBox 15"/>
          <p:cNvSpPr txBox="1"/>
          <p:nvPr/>
        </p:nvSpPr>
        <p:spPr>
          <a:xfrm>
            <a:off x="1874519" y="4823460"/>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Strategic Thinking: Key Concepts</a:t>
            </a:r>
          </a:p>
          <a:p>
            <a:pPr algn="l">
              <a:spcBef>
                <a:spcPts val="0"/>
              </a:spcBef>
              <a:buNone/>
            </a:pPr>
            <a:r>
              <a:rPr sz="2200">
                <a:solidFill>
                  <a:srgbClr val="555B66"/>
                </a:solidFill>
                <a:latin typeface="Calibri"/>
              </a:rPr>
              <a:t>Best responses, dominant strategies, and Nash equilibrium</a:t>
            </a:r>
          </a:p>
        </p:txBody>
      </p:sp>
      <p:sp>
        <p:nvSpPr>
          <p:cNvPr id="17" name="Oval 16"/>
          <p:cNvSpPr/>
          <p:nvPr/>
        </p:nvSpPr>
        <p:spPr>
          <a:xfrm>
            <a:off x="1051560" y="567385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6</a:t>
            </a:r>
          </a:p>
        </p:txBody>
      </p:sp>
      <p:sp>
        <p:nvSpPr>
          <p:cNvPr id="18" name="TextBox 17"/>
          <p:cNvSpPr txBox="1"/>
          <p:nvPr/>
        </p:nvSpPr>
        <p:spPr>
          <a:xfrm>
            <a:off x="1874519" y="5655564"/>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Prisoner’s Dilemma, Game of Chicken…</a:t>
            </a:r>
          </a:p>
          <a:p>
            <a:pPr algn="l">
              <a:spcBef>
                <a:spcPts val="0"/>
              </a:spcBef>
              <a:buNone/>
            </a:pPr>
            <a:r>
              <a:rPr sz="2200">
                <a:solidFill>
                  <a:srgbClr val="555B66"/>
                </a:solidFill>
                <a:latin typeface="Calibri"/>
              </a:rPr>
              <a:t>Classic games and what they teach about business strategy</a:t>
            </a:r>
          </a:p>
        </p:txBody>
      </p:sp>
      <p:sp>
        <p:nvSpPr>
          <p:cNvPr id="19" name="Rectangle 1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22" name="TextBox 21"/>
          <p:cNvSpPr txBox="1"/>
          <p:nvPr/>
        </p:nvSpPr>
        <p:spPr>
          <a:xfrm>
            <a:off x="11475720" y="6583680"/>
            <a:ext cx="502920" cy="292608"/>
          </a:xfrm>
          <a:prstGeom prst="rect">
            <a:avLst/>
          </a:prstGeom>
          <a:noFill/>
        </p:spPr>
        <p:txBody>
          <a:bodyPr wrap="none" lIns="0" rIns="0" tIns="0" bIns="0">
            <a:spAutoFit/>
          </a:bodyPr>
          <a:lstStyle/>
          <a:p>
            <a:pPr algn="r"/>
            <a:fld id="{25D84F6A-43DA-5B2B-8673-AA2FCAA12D47}" type="slidenum">
              <a:rPr lang="en-US" sz="1200" dirty="0">
                <a:solidFill>
                  <a:srgbClr val="555B66"/>
                </a:solidFill>
                <a:latin typeface="Calibri"/>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Concept Map</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How the Pieces of Module 7 Connect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207008"/>
            <a:ext cx="5486400" cy="384048"/>
          </a:xfrm>
          <a:prstGeom prst="rect">
            <a:avLst/>
          </a:prstGeom>
          <a:noFill/>
        </p:spPr>
        <p:txBody>
          <a:bodyPr wrap="square" lIns="0" rIns="0" tIns="0" bIns="0">
            <a:spAutoFit/>
          </a:bodyPr>
          <a:lstStyle/>
          <a:p>
            <a:pPr algn="ctr"/>
            <a:r>
              <a:rPr sz="2200" b="1" i="0" u="none">
                <a:solidFill>
                  <a:srgbClr val="555B66"/>
                </a:solidFill>
                <a:latin typeface="Calibri"/>
              </a:rPr>
              <a:t>OLIGOPOLY  (Part 1)</a:t>
            </a:r>
          </a:p>
        </p:txBody>
      </p:sp>
      <p:sp>
        <p:nvSpPr>
          <p:cNvPr id="8" name="TextBox 7"/>
          <p:cNvSpPr txBox="1"/>
          <p:nvPr/>
        </p:nvSpPr>
        <p:spPr>
          <a:xfrm>
            <a:off x="6428232" y="1207008"/>
            <a:ext cx="5486400" cy="384048"/>
          </a:xfrm>
          <a:prstGeom prst="rect">
            <a:avLst/>
          </a:prstGeom>
          <a:noFill/>
        </p:spPr>
        <p:txBody>
          <a:bodyPr wrap="square" lIns="0" rIns="0" tIns="0" bIns="0">
            <a:spAutoFit/>
          </a:bodyPr>
          <a:lstStyle/>
          <a:p>
            <a:pPr algn="ctr"/>
            <a:r>
              <a:rPr sz="2200" b="1" i="0" u="none">
                <a:solidFill>
                  <a:srgbClr val="555B66"/>
                </a:solidFill>
                <a:latin typeface="Calibri"/>
              </a:rPr>
              <a:t>GAME THEORY  (Part 2)</a:t>
            </a:r>
          </a:p>
        </p:txBody>
      </p:sp>
      <p:sp>
        <p:nvSpPr>
          <p:cNvPr id="9" name="Rounded Rectangle 8"/>
          <p:cNvSpPr/>
          <p:nvPr/>
        </p:nvSpPr>
        <p:spPr>
          <a:xfrm>
            <a:off x="914400" y="1664208"/>
            <a:ext cx="4206240" cy="822960"/>
          </a:xfrm>
          <a:prstGeom prst="roundRect">
            <a:avLst>
              <a:gd name="adj" fmla="val 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Oligopoly
few large firms — each firm's best move depends on its rivals'</a:t>
            </a:r>
          </a:p>
        </p:txBody>
      </p:sp>
      <p:sp>
        <p:nvSpPr>
          <p:cNvPr id="10" name="Rounded Rectangle 9"/>
          <p:cNvSpPr/>
          <p:nvPr/>
        </p:nvSpPr>
        <p:spPr>
          <a:xfrm>
            <a:off x="7068312" y="1664208"/>
            <a:ext cx="4206240" cy="822960"/>
          </a:xfrm>
          <a:prstGeom prst="roundRect">
            <a:avLst>
              <a:gd name="adj" fmla="val 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Game Theory
the toolkit for strategic interaction</a:t>
            </a:r>
          </a:p>
        </p:txBody>
      </p:sp>
      <p:sp>
        <p:nvSpPr>
          <p:cNvPr id="11" name="Rounded Rectangle 10"/>
          <p:cNvSpPr/>
          <p:nvPr/>
        </p:nvSpPr>
        <p:spPr>
          <a:xfrm>
            <a:off x="274320" y="2743200"/>
            <a:ext cx="1706880" cy="1737360"/>
          </a:xfrm>
          <a:prstGeom prst="roundRect">
            <a:avLst>
              <a:gd name="adj" fmla="val 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Collusion / Cartel
act jointly as a monopolist
profitable, but unstable (and illegal)</a:t>
            </a:r>
          </a:p>
        </p:txBody>
      </p:sp>
      <p:sp>
        <p:nvSpPr>
          <p:cNvPr id="12" name="Rounded Rectangle 11"/>
          <p:cNvSpPr/>
          <p:nvPr/>
        </p:nvSpPr>
        <p:spPr>
          <a:xfrm>
            <a:off x="2164080" y="2743200"/>
            <a:ext cx="1706880" cy="1737360"/>
          </a:xfrm>
          <a:prstGeom prst="roundRect">
            <a:avLst>
              <a:gd name="adj" fmla="val 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Cournot
compete on quantities
price between monopoly and competition</a:t>
            </a:r>
          </a:p>
        </p:txBody>
      </p:sp>
      <p:sp>
        <p:nvSpPr>
          <p:cNvPr id="13" name="Rounded Rectangle 12"/>
          <p:cNvSpPr/>
          <p:nvPr/>
        </p:nvSpPr>
        <p:spPr>
          <a:xfrm>
            <a:off x="4053840" y="2743200"/>
            <a:ext cx="1706880" cy="1737360"/>
          </a:xfrm>
          <a:prstGeom prst="roundRect">
            <a:avLst>
              <a:gd name="adj" fmla="val 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Bertrand
compete on prices
identical goods:
P = MC
differentiated goods:
P &gt; MC</a:t>
            </a:r>
          </a:p>
        </p:txBody>
      </p:sp>
      <p:sp>
        <p:nvSpPr>
          <p:cNvPr id="14" name="Rounded Rectangle 13"/>
          <p:cNvSpPr/>
          <p:nvPr/>
        </p:nvSpPr>
        <p:spPr>
          <a:xfrm>
            <a:off x="6428232" y="2743200"/>
            <a:ext cx="1706880" cy="1737360"/>
          </a:xfrm>
          <a:prstGeom prst="roundRect">
            <a:avLst>
              <a:gd name="adj" fmla="val 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Dominant strategy
best no matter what the rival does
(Prisoner's Dilemma)</a:t>
            </a:r>
          </a:p>
        </p:txBody>
      </p:sp>
      <p:sp>
        <p:nvSpPr>
          <p:cNvPr id="15" name="Rounded Rectangle 14"/>
          <p:cNvSpPr/>
          <p:nvPr/>
        </p:nvSpPr>
        <p:spPr>
          <a:xfrm>
            <a:off x="8317992" y="2743200"/>
            <a:ext cx="1706880" cy="1737360"/>
          </a:xfrm>
          <a:prstGeom prst="roundRect">
            <a:avLst>
              <a:gd name="adj" fmla="val 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Nash equilibrium
individually best responses
⇒ no player wants to deviate</a:t>
            </a:r>
          </a:p>
        </p:txBody>
      </p:sp>
      <p:sp>
        <p:nvSpPr>
          <p:cNvPr id="16" name="Rounded Rectangle 15"/>
          <p:cNvSpPr/>
          <p:nvPr/>
        </p:nvSpPr>
        <p:spPr>
          <a:xfrm>
            <a:off x="10207752" y="2743200"/>
            <a:ext cx="1706880" cy="1737360"/>
          </a:xfrm>
          <a:prstGeom prst="roundRect">
            <a:avLst>
              <a:gd name="adj" fmla="val 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Commitment
bind yourself to change the game
(M.A.D., entry deterrence)</a:t>
            </a:r>
          </a:p>
        </p:txBody>
      </p:sp>
      <p:cxnSp>
        <p:nvCxnSpPr>
          <p:cNvPr id="17" name="Connector 16"/>
          <p:cNvCxnSpPr/>
          <p:nvPr/>
        </p:nvCxnSpPr>
        <p:spPr>
          <a:xfrm flipH="1">
            <a:off x="1127760" y="2487168"/>
            <a:ext cx="1889760" cy="256032"/>
          </a:xfrm>
          <a:prstGeom prst="line">
            <a:avLst/>
          </a:prstGeom>
          <a:ln w="317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017520" y="2487168"/>
            <a:ext cx="0" cy="256032"/>
          </a:xfrm>
          <a:prstGeom prst="line">
            <a:avLst/>
          </a:prstGeom>
          <a:ln w="317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017520" y="2487168"/>
            <a:ext cx="1889760" cy="256032"/>
          </a:xfrm>
          <a:prstGeom prst="line">
            <a:avLst/>
          </a:prstGeom>
          <a:ln w="317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7281672" y="2487168"/>
            <a:ext cx="1889760" cy="256032"/>
          </a:xfrm>
          <a:prstGeom prst="line">
            <a:avLst/>
          </a:prstGeom>
          <a:ln w="317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71432" y="2487168"/>
            <a:ext cx="0" cy="256032"/>
          </a:xfrm>
          <a:prstGeom prst="line">
            <a:avLst/>
          </a:prstGeom>
          <a:ln w="317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171432" y="2487168"/>
            <a:ext cx="1889760" cy="256032"/>
          </a:xfrm>
          <a:prstGeom prst="line">
            <a:avLst/>
          </a:prstGeom>
          <a:ln w="317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23" name="12-Point Star 22"/>
          <p:cNvSpPr/>
          <p:nvPr/>
        </p:nvSpPr>
        <p:spPr>
          <a:xfrm>
            <a:off x="2194560" y="5074920"/>
            <a:ext cx="1645920" cy="1188720"/>
          </a:xfrm>
          <a:prstGeom prst="star12">
            <a:avLst/>
          </a:prstGeom>
          <a:solidFill>
            <a:srgbClr val="E09F3E"/>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482596" y="5342382"/>
            <a:ext cx="1069848" cy="653796"/>
          </a:xfrm>
          <a:prstGeom prst="rect">
            <a:avLst/>
          </a:prstGeom>
          <a:noFill/>
        </p:spPr>
        <p:txBody>
          <a:bodyPr wrap="square" lIns="0" rIns="0" tIns="0" bIns="0" anchor="ctr">
            <a:spAutoFit/>
          </a:bodyPr>
          <a:lstStyle/>
          <a:p>
            <a:pPr algn="ctr"/>
            <a:r>
              <a:rPr sz="1600" b="1">
                <a:solidFill>
                  <a:srgbClr val="0B2B4E"/>
                </a:solidFill>
                <a:latin typeface="Calibri"/>
              </a:rPr>
              <a:t>MB = MC</a:t>
            </a:r>
          </a:p>
          <a:p>
            <a:pPr algn="ctr"/>
            <a:r>
              <a:rPr sz="1100" i="1" b="1">
                <a:solidFill>
                  <a:srgbClr val="0B2B4E"/>
                </a:solidFill>
                <a:latin typeface="Calibri"/>
              </a:rPr>
              <a:t>(given the rival's action)</a:t>
            </a:r>
          </a:p>
        </p:txBody>
      </p:sp>
      <p:cxnSp>
        <p:nvCxnSpPr>
          <p:cNvPr id="25" name="Connector 24"/>
          <p:cNvCxnSpPr/>
          <p:nvPr/>
        </p:nvCxnSpPr>
        <p:spPr>
          <a:xfrm flipV="1">
            <a:off x="3017520" y="4480560"/>
            <a:ext cx="0" cy="59436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989320" y="5166360"/>
            <a:ext cx="3291840" cy="868680"/>
          </a:xfrm>
          <a:prstGeom prst="roundRect">
            <a:avLst>
              <a:gd name="adj" fmla="val 6000"/>
            </a:avLst>
          </a:prstGeom>
          <a:solidFill>
            <a:srgbClr val="FFFFFF"/>
          </a:solidFill>
          <a:ln w="254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B2B4E"/>
                </a:solidFill>
                <a:latin typeface="Calibri"/>
              </a:rPr>
              <a:t>Cournot &amp; Bertrand are games:
their equilibria are Nash equilibria</a:t>
            </a:r>
          </a:p>
        </p:txBody>
      </p:sp>
      <p:cxnSp>
        <p:nvCxnSpPr>
          <p:cNvPr id="27" name="Connector 26"/>
          <p:cNvCxnSpPr/>
          <p:nvPr/>
        </p:nvCxnSpPr>
        <p:spPr>
          <a:xfrm>
            <a:off x="5486400" y="4480560"/>
            <a:ext cx="960120" cy="685800"/>
          </a:xfrm>
          <a:prstGeom prst="line">
            <a:avLst/>
          </a:prstGeom>
          <a:ln w="3810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431743" y="4528108"/>
            <a:ext cx="2557577" cy="1072592"/>
          </a:xfrm>
          <a:prstGeom prst="line">
            <a:avLst/>
          </a:prstGeom>
          <a:ln w="3810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8732520" y="4480560"/>
            <a:ext cx="438912" cy="685800"/>
          </a:xfrm>
          <a:prstGeom prst="line">
            <a:avLst/>
          </a:prstGeom>
          <a:ln w="3810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33" name="TextBox 32"/>
          <p:cNvSpPr txBox="1"/>
          <p:nvPr/>
        </p:nvSpPr>
        <p:spPr>
          <a:xfrm>
            <a:off x="11475720" y="6583680"/>
            <a:ext cx="502920" cy="292608"/>
          </a:xfrm>
          <a:prstGeom prst="rect">
            <a:avLst/>
          </a:prstGeom>
          <a:noFill/>
        </p:spPr>
        <p:txBody>
          <a:bodyPr wrap="none" lIns="0" rIns="0" tIns="0" bIns="0">
            <a:spAutoFit/>
          </a:bodyPr>
          <a:lstStyle/>
          <a:p>
            <a:pPr algn="r"/>
            <a:fld id="{DF560C0B-1311-5BEF-8996-A83C9D0733BD}" type="slidenum">
              <a:rPr lang="en-US" sz="1200" dirty="0">
                <a:solidFill>
                  <a:srgbClr val="555B66"/>
                </a:solidFill>
                <a:latin typeface="Calibri"/>
              </a:rPr>
              <a:t>5</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50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fade">
                                      <p:cBhvr>
                                        <p:cTn id="50" dur="500"/>
                                        <p:tgtEl>
                                          <p:spTgt spid="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500"/>
                                        <p:tgtEl>
                                          <p:spTgt spid="1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500"/>
                                        <p:tgtEl>
                                          <p:spTgt spid="14"/>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500"/>
                                        <p:tgtEl>
                                          <p:spTgt spid="15"/>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500"/>
                                        <p:tgtEl>
                                          <p:spTgt spid="2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50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500"/>
                                        <p:tgtEl>
                                          <p:spTgt spid="2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500"/>
                                        <p:tgtEl>
                                          <p:spTgt spid="2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500"/>
                                        <p:tgtEl>
                                          <p:spTgt spid="2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Oligopoly</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The Four Basic Market Structures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0847" y="1828800"/>
            <a:ext cx="11430000" cy="384048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18007" y="1965960"/>
          <a:ext cx="11155680" cy="3566160"/>
        </p:xfrm>
        <a:graphic>
          <a:graphicData uri="http://schemas.openxmlformats.org/drawingml/2006/table">
            <a:tbl>
              <a:tblPr firstRow="0" bandRow="0"/>
              <a:tblGrid>
                <a:gridCol w="2377440"/>
                <a:gridCol w="2194560"/>
                <a:gridCol w="2194560"/>
                <a:gridCol w="2194560"/>
                <a:gridCol w="2194560"/>
              </a:tblGrid>
              <a:tr h="822960">
                <a:tc>
                  <a:txBody>
                    <a:bodyPr wrap="square"/>
                    <a:lstStyle/>
                    <a:p>
                      <a:pPr algn="ctr"/>
                      <a:r>
                        <a:rPr sz="2000" b="1">
                          <a:solidFill>
                            <a:srgbClr val="FFFFFF"/>
                          </a:solidFill>
                          <a:latin typeface="Calibri"/>
                        </a:rPr>
                        <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2000" b="1">
                          <a:solidFill>
                            <a:srgbClr val="FFFFFF"/>
                          </a:solidFill>
                          <a:latin typeface="Calibri"/>
                        </a:rPr>
                        <a:t>Perfect competition</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2000" b="1">
                          <a:solidFill>
                            <a:srgbClr val="FFFFFF"/>
                          </a:solidFill>
                          <a:latin typeface="Calibri"/>
                        </a:rPr>
                        <a:t>Monopolistic competition</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2000" b="1">
                          <a:solidFill>
                            <a:srgbClr val="FFFFFF"/>
                          </a:solidFill>
                          <a:latin typeface="Calibri"/>
                        </a:rPr>
                        <a:t>Oligopoly</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2000" b="1">
                          <a:solidFill>
                            <a:srgbClr val="FFFFFF"/>
                          </a:solidFill>
                          <a:latin typeface="Calibri"/>
                        </a:rPr>
                        <a:t>Monopoly</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r>
              <a:tr h="822960">
                <a:tc>
                  <a:txBody>
                    <a:bodyPr wrap="square"/>
                    <a:lstStyle/>
                    <a:p>
                      <a:pPr algn="l"/>
                      <a:r>
                        <a:rPr sz="2000" b="1">
                          <a:solidFill>
                            <a:srgbClr val="0B2B4E"/>
                          </a:solidFill>
                          <a:latin typeface="Calibri"/>
                        </a:rPr>
                        <a:t>Number of Firms</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000" b="0">
                          <a:solidFill>
                            <a:srgbClr val="0B2B4E"/>
                          </a:solidFill>
                          <a:latin typeface="Calibri"/>
                        </a:rPr>
                        <a:t>Many</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000" b="0">
                          <a:solidFill>
                            <a:srgbClr val="0B2B4E"/>
                          </a:solidFill>
                          <a:latin typeface="Calibri"/>
                        </a:rPr>
                        <a:t>Many</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000" b="0">
                          <a:solidFill>
                            <a:srgbClr val="0B2B4E"/>
                          </a:solidFill>
                          <a:latin typeface="Calibri"/>
                        </a:rPr>
                        <a:t>Few</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000" b="0">
                          <a:solidFill>
                            <a:srgbClr val="0B2B4E"/>
                          </a:solidFill>
                          <a:latin typeface="Calibri"/>
                        </a:rPr>
                        <a:t>One</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1097280">
                <a:tc>
                  <a:txBody>
                    <a:bodyPr wrap="square"/>
                    <a:lstStyle/>
                    <a:p>
                      <a:pPr algn="l"/>
                      <a:r>
                        <a:rPr sz="2000" b="1">
                          <a:solidFill>
                            <a:srgbClr val="0B2B4E"/>
                          </a:solidFill>
                          <a:latin typeface="Calibri"/>
                        </a:rPr>
                        <a:t>Type of Products Sold</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2000" b="0">
                          <a:solidFill>
                            <a:srgbClr val="0B2B4E"/>
                          </a:solidFill>
                          <a:latin typeface="Calibri"/>
                        </a:rPr>
                        <a:t>Identical</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2000" b="0">
                          <a:solidFill>
                            <a:srgbClr val="0B2B4E"/>
                          </a:solidFill>
                          <a:latin typeface="Calibri"/>
                        </a:rPr>
                        <a:t>Differentiated</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2000" b="0">
                          <a:solidFill>
                            <a:srgbClr val="0B2B4E"/>
                          </a:solidFill>
                          <a:latin typeface="Calibri"/>
                        </a:rPr>
                        <a:t>Identical or Differentiated</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2000" b="0">
                          <a:solidFill>
                            <a:srgbClr val="0B2B4E"/>
                          </a:solidFill>
                          <a:latin typeface="Calibri"/>
                        </a:rPr>
                        <a:t>Unique</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r h="822960">
                <a:tc>
                  <a:txBody>
                    <a:bodyPr wrap="square"/>
                    <a:lstStyle/>
                    <a:p>
                      <a:pPr algn="l"/>
                      <a:r>
                        <a:rPr sz="2000" b="1">
                          <a:solidFill>
                            <a:srgbClr val="0B2B4E"/>
                          </a:solidFill>
                          <a:latin typeface="Calibri"/>
                        </a:rPr>
                        <a:t>Barriers to Entry</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000" b="0">
                          <a:solidFill>
                            <a:srgbClr val="0B2B4E"/>
                          </a:solidFill>
                          <a:latin typeface="Calibri"/>
                        </a:rPr>
                        <a:t>None</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000" b="0">
                          <a:solidFill>
                            <a:srgbClr val="0B2B4E"/>
                          </a:solidFill>
                          <a:latin typeface="Calibri"/>
                        </a:rPr>
                        <a:t>None</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000" b="0">
                          <a:solidFill>
                            <a:srgbClr val="0B2B4E"/>
                          </a:solidFill>
                          <a:latin typeface="Calibri"/>
                        </a:rPr>
                        <a:t>Some</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000" b="0">
                          <a:solidFill>
                            <a:srgbClr val="0B2B4E"/>
                          </a:solidFill>
                          <a:latin typeface="Calibri"/>
                        </a:rPr>
                        <a:t>Many</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bl>
          </a:graphicData>
        </a:graphic>
      </p:graphicFrame>
      <p:sp>
        <p:nvSpPr>
          <p:cNvPr id="9" name="Oval 8"/>
          <p:cNvSpPr/>
          <p:nvPr/>
        </p:nvSpPr>
        <p:spPr>
          <a:xfrm>
            <a:off x="7174839" y="1847088"/>
            <a:ext cx="2414016" cy="1060704"/>
          </a:xfrm>
          <a:prstGeom prst="ellipse">
            <a:avLst/>
          </a:prstGeom>
          <a:noFill/>
          <a:ln w="317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0238AD52-493C-58A9-9C91-616739BEC584}" type="slidenum">
              <a:rPr lang="en-US" sz="1200" dirty="0">
                <a:solidFill>
                  <a:srgbClr val="555B66"/>
                </a:solidFill>
                <a:latin typeface="Calibri"/>
              </a:rPr>
              <a:t>6</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Oligopoly</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Where We Are and Where We Are Going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627632"/>
            <a:ext cx="3291840" cy="430682"/>
          </a:xfrm>
          <a:prstGeom prst="rect">
            <a:avLst/>
          </a:prstGeom>
          <a:noFill/>
        </p:spPr>
        <p:txBody>
          <a:bodyPr wrap="square" lIns="0" rIns="0" tIns="0" bIns="0">
            <a:spAutoFit/>
          </a:bodyPr>
          <a:lstStyle/>
          <a:p>
            <a:pPr algn="l"/>
            <a:r>
              <a:rPr sz="2800" b="1" i="0" u="none">
                <a:solidFill>
                  <a:srgbClr val="0B2B4E"/>
                </a:solidFill>
                <a:latin typeface="Calibri"/>
              </a:rPr>
              <a:t>Least Market Power</a:t>
            </a:r>
          </a:p>
        </p:txBody>
      </p:sp>
      <p:sp>
        <p:nvSpPr>
          <p:cNvPr id="8" name="TextBox 7"/>
          <p:cNvSpPr txBox="1"/>
          <p:nvPr/>
        </p:nvSpPr>
        <p:spPr>
          <a:xfrm>
            <a:off x="8421624" y="1627632"/>
            <a:ext cx="3282696" cy="430682"/>
          </a:xfrm>
          <a:prstGeom prst="rect">
            <a:avLst/>
          </a:prstGeom>
          <a:noFill/>
        </p:spPr>
        <p:txBody>
          <a:bodyPr wrap="square" lIns="0" rIns="0" tIns="0" bIns="0">
            <a:spAutoFit/>
          </a:bodyPr>
          <a:lstStyle/>
          <a:p>
            <a:pPr algn="r"/>
            <a:r>
              <a:rPr sz="2800" b="1" i="0" u="none">
                <a:solidFill>
                  <a:srgbClr val="0B2B4E"/>
                </a:solidFill>
                <a:latin typeface="Calibri"/>
              </a:rPr>
              <a:t>Most Market Power</a:t>
            </a:r>
          </a:p>
        </p:txBody>
      </p:sp>
      <p:cxnSp>
        <p:nvCxnSpPr>
          <p:cNvPr id="9" name="Connector 8"/>
          <p:cNvCxnSpPr/>
          <p:nvPr/>
        </p:nvCxnSpPr>
        <p:spPr>
          <a:xfrm>
            <a:off x="457200" y="2249424"/>
            <a:ext cx="11274552" cy="0"/>
          </a:xfrm>
          <a:prstGeom prst="line">
            <a:avLst/>
          </a:prstGeom>
          <a:ln w="44450">
            <a:solidFill>
              <a:srgbClr val="0B2B4E"/>
            </a:solidFill>
            <a:headEnd type="triangle" w="lg" h="lg"/>
            <a:tailEnd type="triangle" w="lg" h="lg"/>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57199" y="2450592"/>
            <a:ext cx="2834640" cy="384048"/>
          </a:xfrm>
          <a:prstGeom prst="rect">
            <a:avLst/>
          </a:prstGeom>
          <a:noFill/>
        </p:spPr>
        <p:txBody>
          <a:bodyPr wrap="square" lIns="0" rIns="0" tIns="0" bIns="0">
            <a:spAutoFit/>
          </a:bodyPr>
          <a:lstStyle/>
          <a:p>
            <a:pPr algn="ctr"/>
            <a:r>
              <a:rPr sz="2200" b="1" i="0" u="none">
                <a:solidFill>
                  <a:srgbClr val="0B2B4E"/>
                </a:solidFill>
                <a:latin typeface="Calibri"/>
              </a:rPr>
              <a:t>Perfect</a:t>
            </a:r>
          </a:p>
        </p:txBody>
      </p:sp>
      <p:sp>
        <p:nvSpPr>
          <p:cNvPr id="11" name="TextBox 10"/>
          <p:cNvSpPr txBox="1"/>
          <p:nvPr/>
        </p:nvSpPr>
        <p:spPr>
          <a:xfrm>
            <a:off x="457199" y="2816352"/>
            <a:ext cx="2834640" cy="384048"/>
          </a:xfrm>
          <a:prstGeom prst="rect">
            <a:avLst/>
          </a:prstGeom>
          <a:noFill/>
        </p:spPr>
        <p:txBody>
          <a:bodyPr wrap="square" lIns="0" rIns="0" tIns="0" bIns="0">
            <a:spAutoFit/>
          </a:bodyPr>
          <a:lstStyle/>
          <a:p>
            <a:pPr algn="ctr"/>
            <a:r>
              <a:rPr sz="2200" b="1" i="0" u="none">
                <a:solidFill>
                  <a:srgbClr val="0B2B4E"/>
                </a:solidFill>
                <a:latin typeface="Calibri"/>
              </a:rPr>
              <a:t>Competition</a:t>
            </a:r>
          </a:p>
        </p:txBody>
      </p:sp>
      <p:sp>
        <p:nvSpPr>
          <p:cNvPr id="12" name="TextBox 11"/>
          <p:cNvSpPr txBox="1"/>
          <p:nvPr/>
        </p:nvSpPr>
        <p:spPr>
          <a:xfrm>
            <a:off x="3154680" y="2450592"/>
            <a:ext cx="2834640" cy="384048"/>
          </a:xfrm>
          <a:prstGeom prst="rect">
            <a:avLst/>
          </a:prstGeom>
          <a:noFill/>
        </p:spPr>
        <p:txBody>
          <a:bodyPr wrap="square" lIns="0" rIns="0" tIns="0" bIns="0">
            <a:spAutoFit/>
          </a:bodyPr>
          <a:lstStyle/>
          <a:p>
            <a:pPr algn="ctr"/>
            <a:r>
              <a:rPr sz="2200" b="1" i="0" u="none">
                <a:solidFill>
                  <a:srgbClr val="0B2B4E"/>
                </a:solidFill>
                <a:latin typeface="Calibri"/>
              </a:rPr>
              <a:t>Monopolistic</a:t>
            </a:r>
          </a:p>
        </p:txBody>
      </p:sp>
      <p:sp>
        <p:nvSpPr>
          <p:cNvPr id="13" name="TextBox 12"/>
          <p:cNvSpPr txBox="1"/>
          <p:nvPr/>
        </p:nvSpPr>
        <p:spPr>
          <a:xfrm>
            <a:off x="3154680" y="2816352"/>
            <a:ext cx="2834640" cy="384048"/>
          </a:xfrm>
          <a:prstGeom prst="rect">
            <a:avLst/>
          </a:prstGeom>
          <a:noFill/>
        </p:spPr>
        <p:txBody>
          <a:bodyPr wrap="square" lIns="0" rIns="0" tIns="0" bIns="0">
            <a:spAutoFit/>
          </a:bodyPr>
          <a:lstStyle/>
          <a:p>
            <a:pPr algn="ctr"/>
            <a:r>
              <a:rPr sz="2200" b="1" i="0" u="none">
                <a:solidFill>
                  <a:srgbClr val="0B2B4E"/>
                </a:solidFill>
                <a:latin typeface="Calibri"/>
              </a:rPr>
              <a:t>Competition</a:t>
            </a:r>
          </a:p>
        </p:txBody>
      </p:sp>
      <p:sp>
        <p:nvSpPr>
          <p:cNvPr id="14" name="TextBox 13"/>
          <p:cNvSpPr txBox="1"/>
          <p:nvPr/>
        </p:nvSpPr>
        <p:spPr>
          <a:xfrm>
            <a:off x="6217920" y="2633472"/>
            <a:ext cx="2834640" cy="384048"/>
          </a:xfrm>
          <a:prstGeom prst="rect">
            <a:avLst/>
          </a:prstGeom>
          <a:noFill/>
        </p:spPr>
        <p:txBody>
          <a:bodyPr wrap="square" lIns="0" rIns="0" tIns="0" bIns="0">
            <a:spAutoFit/>
          </a:bodyPr>
          <a:lstStyle/>
          <a:p>
            <a:pPr algn="ctr"/>
            <a:r>
              <a:rPr sz="2200" b="1" i="0" u="none">
                <a:solidFill>
                  <a:srgbClr val="0B2B4E"/>
                </a:solidFill>
                <a:latin typeface="Calibri"/>
              </a:rPr>
              <a:t>Oligopoly</a:t>
            </a:r>
          </a:p>
        </p:txBody>
      </p:sp>
      <p:sp>
        <p:nvSpPr>
          <p:cNvPr id="15" name="TextBox 14"/>
          <p:cNvSpPr txBox="1"/>
          <p:nvPr/>
        </p:nvSpPr>
        <p:spPr>
          <a:xfrm>
            <a:off x="8915400" y="2633472"/>
            <a:ext cx="2834640" cy="384048"/>
          </a:xfrm>
          <a:prstGeom prst="rect">
            <a:avLst/>
          </a:prstGeom>
          <a:noFill/>
        </p:spPr>
        <p:txBody>
          <a:bodyPr wrap="square" lIns="0" rIns="0" tIns="0" bIns="0">
            <a:spAutoFit/>
          </a:bodyPr>
          <a:lstStyle/>
          <a:p>
            <a:pPr algn="ctr"/>
            <a:r>
              <a:rPr sz="2200" b="1" i="0" u="none">
                <a:solidFill>
                  <a:srgbClr val="0B2B4E"/>
                </a:solidFill>
                <a:latin typeface="Calibri"/>
              </a:rPr>
              <a:t>Monopoly</a:t>
            </a:r>
          </a:p>
        </p:txBody>
      </p:sp>
      <p:sp>
        <p:nvSpPr>
          <p:cNvPr id="16" name="Rectangle 15"/>
          <p:cNvSpPr/>
          <p:nvPr/>
        </p:nvSpPr>
        <p:spPr>
          <a:xfrm>
            <a:off x="3227832" y="2432304"/>
            <a:ext cx="41148"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99048" y="2432304"/>
            <a:ext cx="41148"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88552" y="2432304"/>
            <a:ext cx="41148"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79322" y="3546957"/>
            <a:ext cx="1939442" cy="369417"/>
          </a:xfrm>
          <a:prstGeom prst="roundRect">
            <a:avLst>
              <a:gd name="adj" fmla="val 35000"/>
            </a:avLst>
          </a:prstGeom>
          <a:solidFill>
            <a:srgbClr val="ED7D31"/>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0" i="1">
                <a:solidFill>
                  <a:srgbClr val="FFFFFF"/>
                </a:solidFill>
                <a:latin typeface="Calibri"/>
              </a:rPr>
              <a:t>(Price Takers)</a:t>
            </a:r>
          </a:p>
        </p:txBody>
      </p:sp>
      <p:sp>
        <p:nvSpPr>
          <p:cNvPr id="20" name="Rounded Rectangle 19"/>
          <p:cNvSpPr/>
          <p:nvPr/>
        </p:nvSpPr>
        <p:spPr>
          <a:xfrm>
            <a:off x="3959352" y="3546957"/>
            <a:ext cx="7265822" cy="369417"/>
          </a:xfrm>
          <a:prstGeom prst="roundRect">
            <a:avLst>
              <a:gd name="adj" fmla="val 35000"/>
            </a:avLst>
          </a:prstGeom>
          <a:solidFill>
            <a:srgbClr val="ED7D31"/>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0" i="1">
                <a:solidFill>
                  <a:srgbClr val="FFFFFF"/>
                </a:solidFill>
                <a:latin typeface="Calibri"/>
              </a:rPr>
              <a:t>(Price Searchers)</a:t>
            </a:r>
          </a:p>
        </p:txBody>
      </p:sp>
      <p:pic>
        <p:nvPicPr>
          <p:cNvPr id="21" name="Picture 20" descr="image14.jpeg"/>
          <p:cNvPicPr>
            <a:picLocks noChangeAspect="1"/>
          </p:cNvPicPr>
          <p:nvPr/>
        </p:nvPicPr>
        <p:blipFill>
          <a:blip r:embed="rId2"/>
          <a:stretch>
            <a:fillRect/>
          </a:stretch>
        </p:blipFill>
        <p:spPr>
          <a:xfrm>
            <a:off x="1164031" y="4315968"/>
            <a:ext cx="1420977" cy="1371600"/>
          </a:xfrm>
          <a:prstGeom prst="rect">
            <a:avLst/>
          </a:prstGeom>
        </p:spPr>
      </p:pic>
      <p:pic>
        <p:nvPicPr>
          <p:cNvPr id="22" name="Picture 21" descr="_s6_image6.png"/>
          <p:cNvPicPr>
            <a:picLocks noChangeAspect="1"/>
          </p:cNvPicPr>
          <p:nvPr/>
        </p:nvPicPr>
        <p:blipFill>
          <a:blip r:embed="rId3"/>
          <a:stretch>
            <a:fillRect/>
          </a:stretch>
        </p:blipFill>
        <p:spPr>
          <a:xfrm>
            <a:off x="3646627" y="4116628"/>
            <a:ext cx="2182672" cy="2072944"/>
          </a:xfrm>
          <a:prstGeom prst="rect">
            <a:avLst/>
          </a:prstGeom>
        </p:spPr>
      </p:pic>
      <p:sp>
        <p:nvSpPr>
          <p:cNvPr id="23" name="TextBox 22"/>
          <p:cNvSpPr txBox="1"/>
          <p:nvPr/>
        </p:nvSpPr>
        <p:spPr>
          <a:xfrm>
            <a:off x="3755440" y="6145682"/>
            <a:ext cx="1912010" cy="343814"/>
          </a:xfrm>
          <a:prstGeom prst="rect">
            <a:avLst/>
          </a:prstGeom>
          <a:noFill/>
        </p:spPr>
        <p:txBody>
          <a:bodyPr wrap="square" lIns="0" rIns="0" tIns="0" bIns="0">
            <a:spAutoFit/>
          </a:bodyPr>
          <a:lstStyle/>
          <a:p>
            <a:pPr algn="ctr"/>
            <a:r>
              <a:rPr sz="1600" b="0" i="0" u="none">
                <a:solidFill>
                  <a:srgbClr val="000000"/>
                </a:solidFill>
                <a:latin typeface="Calibri"/>
              </a:rPr>
              <a:t>Restaurants in WeHo</a:t>
            </a:r>
          </a:p>
        </p:txBody>
      </p:sp>
      <p:pic>
        <p:nvPicPr>
          <p:cNvPr id="24" name="Picture 23" descr="image15.jpeg"/>
          <p:cNvPicPr>
            <a:picLocks noChangeAspect="1"/>
          </p:cNvPicPr>
          <p:nvPr/>
        </p:nvPicPr>
        <p:blipFill>
          <a:blip r:embed="rId4"/>
          <a:stretch>
            <a:fillRect/>
          </a:stretch>
        </p:blipFill>
        <p:spPr>
          <a:xfrm>
            <a:off x="7119518" y="4315968"/>
            <a:ext cx="1031443" cy="685800"/>
          </a:xfrm>
          <a:prstGeom prst="rect">
            <a:avLst/>
          </a:prstGeom>
        </p:spPr>
      </p:pic>
      <p:pic>
        <p:nvPicPr>
          <p:cNvPr id="25" name="Picture 24" descr="image16.png"/>
          <p:cNvPicPr>
            <a:picLocks noChangeAspect="1"/>
          </p:cNvPicPr>
          <p:nvPr/>
        </p:nvPicPr>
        <p:blipFill>
          <a:blip r:embed="rId5"/>
          <a:stretch>
            <a:fillRect/>
          </a:stretch>
        </p:blipFill>
        <p:spPr>
          <a:xfrm>
            <a:off x="7200900" y="5138928"/>
            <a:ext cx="867765" cy="685800"/>
          </a:xfrm>
          <a:prstGeom prst="rect">
            <a:avLst/>
          </a:prstGeom>
        </p:spPr>
      </p:pic>
      <p:pic>
        <p:nvPicPr>
          <p:cNvPr id="26" name="Picture 25" descr="image17.jpeg"/>
          <p:cNvPicPr>
            <a:picLocks noChangeAspect="1"/>
          </p:cNvPicPr>
          <p:nvPr/>
        </p:nvPicPr>
        <p:blipFill>
          <a:blip r:embed="rId6"/>
          <a:stretch>
            <a:fillRect/>
          </a:stretch>
        </p:blipFill>
        <p:spPr>
          <a:xfrm>
            <a:off x="9684410" y="4315968"/>
            <a:ext cx="1295704" cy="1371600"/>
          </a:xfrm>
          <a:prstGeom prst="rect">
            <a:avLst/>
          </a:prstGeom>
        </p:spPr>
      </p:pic>
      <p:grpSp>
        <p:nvGrpSpPr>
          <p:cNvPr id="30" name="WeAreHere 30"/>
          <p:cNvGrpSpPr/>
          <p:nvPr/>
        </p:nvGrpSpPr>
        <p:grpSpPr>
          <a:xfrm>
            <a:off x="4754880" y="1365199"/>
            <a:ext cx="3666744" cy="4733849"/>
            <a:chOff x="4754880" y="1365199"/>
            <a:chExt cx="3666744" cy="4733849"/>
          </a:xfrm>
        </p:grpSpPr>
        <p:sp>
          <p:nvSpPr>
            <p:cNvPr id="27" name="TextBox 26"/>
            <p:cNvSpPr txBox="1"/>
            <p:nvPr/>
          </p:nvSpPr>
          <p:spPr>
            <a:xfrm>
              <a:off x="5033772" y="1365199"/>
              <a:ext cx="1481328" cy="338328"/>
            </a:xfrm>
            <a:prstGeom prst="rect">
              <a:avLst/>
            </a:prstGeom>
            <a:noFill/>
          </p:spPr>
          <p:txBody>
            <a:bodyPr wrap="square" lIns="0" rIns="0" tIns="0" bIns="0">
              <a:spAutoFit/>
            </a:bodyPr>
            <a:lstStyle/>
            <a:p>
              <a:pPr algn="l"/>
              <a:r>
                <a:rPr sz="1600" b="1" i="0" u="none">
                  <a:solidFill>
                    <a:srgbClr val="C00000"/>
                  </a:solidFill>
                  <a:latin typeface="Calibri"/>
                </a:rPr>
                <a:t>WE ARE HERE</a:t>
              </a:r>
            </a:p>
          </p:txBody>
        </p:sp>
        <p:sp>
          <p:nvSpPr>
            <p:cNvPr id="28" name="Right Arrow 27"/>
            <p:cNvSpPr/>
            <p:nvPr/>
          </p:nvSpPr>
          <p:spPr>
            <a:xfrm>
              <a:off x="4754880" y="1618488"/>
              <a:ext cx="2148840" cy="228600"/>
            </a:xfrm>
            <a:prstGeom prst="right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90004" y="1481328"/>
              <a:ext cx="1531620" cy="4617720"/>
            </a:xfrm>
            <a:prstGeom prst="rect">
              <a:avLst/>
            </a:prstGeom>
            <a:noFill/>
            <a:ln w="444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1" name="Rectangle 3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34" name="TextBox 33"/>
          <p:cNvSpPr txBox="1"/>
          <p:nvPr/>
        </p:nvSpPr>
        <p:spPr>
          <a:xfrm>
            <a:off x="11475720" y="6583680"/>
            <a:ext cx="502920" cy="292608"/>
          </a:xfrm>
          <a:prstGeom prst="rect">
            <a:avLst/>
          </a:prstGeom>
          <a:noFill/>
        </p:spPr>
        <p:txBody>
          <a:bodyPr wrap="none" lIns="0" rIns="0" tIns="0" bIns="0">
            <a:spAutoFit/>
          </a:bodyPr>
          <a:lstStyle/>
          <a:p>
            <a:pPr algn="r"/>
            <a:fld id="{4206F2E2-5EAA-5828-8AB4-DE184F5AC9D7}" type="slidenum">
              <a:rPr lang="en-US" sz="1200" dirty="0">
                <a:solidFill>
                  <a:srgbClr val="555B66"/>
                </a:solidFill>
                <a:latin typeface="Calibri"/>
              </a:rPr>
              <a:t>7</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Oligopoly</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Market Structure Characteristics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3727" y="1508760"/>
            <a:ext cx="11064240" cy="457200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700887" y="1645920"/>
          <a:ext cx="10789919" cy="4297680"/>
        </p:xfrm>
        <a:graphic>
          <a:graphicData uri="http://schemas.openxmlformats.org/drawingml/2006/table">
            <a:tbl>
              <a:tblPr firstRow="0" bandRow="0"/>
              <a:tblGrid>
                <a:gridCol w="3749039"/>
                <a:gridCol w="7040880"/>
              </a:tblGrid>
              <a:tr h="502920">
                <a:tc>
                  <a:txBody>
                    <a:bodyPr wrap="square"/>
                    <a:lstStyle/>
                    <a:p>
                      <a:pPr algn="ctr"/>
                      <a:r>
                        <a:rPr sz="2000" b="1">
                          <a:solidFill>
                            <a:srgbClr val="FFFFFF"/>
                          </a:solidFill>
                          <a:latin typeface="Calibri"/>
                        </a:rPr>
                        <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2000" b="1">
                          <a:solidFill>
                            <a:srgbClr val="FFFFFF"/>
                          </a:solidFill>
                          <a:latin typeface="Calibri"/>
                        </a:rPr>
                        <a:t>Oligopoly</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r>
              <a:tr h="758952">
                <a:tc>
                  <a:txBody>
                    <a:bodyPr wrap="square"/>
                    <a:lstStyle/>
                    <a:p>
                      <a:pPr algn="l"/>
                      <a:r>
                        <a:rPr sz="1800" b="1">
                          <a:solidFill>
                            <a:srgbClr val="0B2B4E"/>
                          </a:solidFill>
                          <a:latin typeface="Calibri"/>
                        </a:rPr>
                        <a:t>Number of actual or potential competitors</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800" b="0">
                          <a:solidFill>
                            <a:srgbClr val="0B2B4E"/>
                          </a:solidFill>
                          <a:latin typeface="Calibri"/>
                        </a:rPr>
                        <a:t>Few enough sellers so that their decisions are </a:t>
                      </a:r>
                      <a:r>
                        <a:rPr sz="1800">
                          <a:solidFill>
                            <a:srgbClr val="C00000"/>
                          </a:solidFill>
                          <a:latin typeface="Calibri"/>
                        </a:rPr>
                        <a:t>interdependent</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758952">
                <a:tc>
                  <a:txBody>
                    <a:bodyPr wrap="square"/>
                    <a:lstStyle/>
                    <a:p>
                      <a:pPr algn="l"/>
                      <a:r>
                        <a:rPr sz="1800" b="1">
                          <a:solidFill>
                            <a:srgbClr val="0B2B4E"/>
                          </a:solidFill>
                          <a:latin typeface="Calibri"/>
                        </a:rPr>
                        <a:t>Product differentiation</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800" b="0">
                          <a:solidFill>
                            <a:srgbClr val="0B2B4E"/>
                          </a:solidFill>
                          <a:latin typeface="Calibri"/>
                        </a:rPr>
                        <a:t>High or low</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r h="758952">
                <a:tc>
                  <a:txBody>
                    <a:bodyPr wrap="square"/>
                    <a:lstStyle/>
                    <a:p>
                      <a:pPr algn="l"/>
                      <a:r>
                        <a:rPr sz="1800" b="1">
                          <a:solidFill>
                            <a:srgbClr val="0B2B4E"/>
                          </a:solidFill>
                          <a:latin typeface="Calibri"/>
                        </a:rPr>
                        <a:t>Entry conditions</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800" b="0">
                          <a:solidFill>
                            <a:srgbClr val="0B2B4E"/>
                          </a:solidFill>
                          <a:latin typeface="Calibri"/>
                        </a:rPr>
                        <a:t>High barriers due to economies of scale, capital requirements, access</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758952">
                <a:tc>
                  <a:txBody>
                    <a:bodyPr wrap="square"/>
                    <a:lstStyle/>
                    <a:p>
                      <a:pPr algn="l"/>
                      <a:r>
                        <a:rPr sz="1800" b="1">
                          <a:solidFill>
                            <a:srgbClr val="0B2B4E"/>
                          </a:solidFill>
                          <a:latin typeface="Calibri"/>
                        </a:rPr>
                        <a:t>Profit potential</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800" b="0">
                          <a:solidFill>
                            <a:srgbClr val="0B2B4E"/>
                          </a:solidFill>
                          <a:latin typeface="Calibri"/>
                        </a:rPr>
                        <a:t>Economic profit can be positive in short/long run</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r h="758952">
                <a:tc>
                  <a:txBody>
                    <a:bodyPr wrap="square"/>
                    <a:lstStyle/>
                    <a:p>
                      <a:pPr algn="l"/>
                      <a:r>
                        <a:rPr sz="1800" b="1">
                          <a:solidFill>
                            <a:srgbClr val="0B2B4E"/>
                          </a:solidFill>
                          <a:latin typeface="Calibri"/>
                        </a:rPr>
                        <a:t>Examples</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800" b="0">
                          <a:solidFill>
                            <a:srgbClr val="0B2B4E"/>
                          </a:solidFill>
                          <a:latin typeface="Calibri"/>
                        </a:rPr>
                        <a:t>Cell phone providers; soft drinks; tobacco; semiconductors; wide-bodied aircraft</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bl>
          </a:graphicData>
        </a:graphic>
      </p:graphicFrame>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2" name="TextBox 11"/>
          <p:cNvSpPr txBox="1"/>
          <p:nvPr/>
        </p:nvSpPr>
        <p:spPr>
          <a:xfrm>
            <a:off x="11475720" y="6583680"/>
            <a:ext cx="502920" cy="292608"/>
          </a:xfrm>
          <a:prstGeom prst="rect">
            <a:avLst/>
          </a:prstGeom>
          <a:noFill/>
        </p:spPr>
        <p:txBody>
          <a:bodyPr wrap="none" lIns="0" rIns="0" tIns="0" bIns="0">
            <a:spAutoFit/>
          </a:bodyPr>
          <a:lstStyle/>
          <a:p>
            <a:pPr algn="r"/>
            <a:fld id="{FF592437-ABCA-5183-A3FC-D436526D7523}" type="slidenum">
              <a:rPr lang="en-US" sz="1200" dirty="0">
                <a:solidFill>
                  <a:srgbClr val="555B66"/>
                </a:solidFill>
                <a:latin typeface="Calibri"/>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Oligopoly</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Measuring Market Concentration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00200"/>
            <a:ext cx="6492240" cy="3657600"/>
          </a:xfrm>
          <a:prstGeom prst="rect">
            <a:avLst/>
          </a:prstGeom>
          <a:noFill/>
        </p:spPr>
        <p:txBody>
          <a:bodyPr wrap="square" lIns="0" rIns="0" tIns="0" bIns="0">
            <a:spAutoFit/>
          </a:bodyPr>
          <a:lstStyle>
            <a:lvl1pPr marL="342900" indent="-342900">
              <a:spcBef>
                <a:spcPts val="12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When do we have an oligopoly?</a:t>
            </a:r>
          </a:p>
          <a:p>
            <a:pPr algn="l"/>
            <a:r>
              <a:rPr>
                <a:latin typeface="Calibri"/>
              </a:rPr>
              <a:t>Simple measure: Concentration Ratio CR4</a:t>
            </a:r>
          </a:p>
          <a:p>
            <a:pPr algn="l" lvl="1"/>
            <a:r>
              <a:rPr>
                <a:latin typeface="Calibri"/>
              </a:rPr>
              <a:t>Market share of the four largest firms</a:t>
            </a:r>
          </a:p>
          <a:p>
            <a:pPr algn="l" lvl="1"/>
            <a:r>
              <a:rPr>
                <a:latin typeface="Calibri"/>
              </a:rPr>
              <a:t>Oligopoly if CR4 &gt; 66%</a:t>
            </a:r>
          </a:p>
          <a:p>
            <a:pPr algn="l" lvl="1"/>
            <a:r>
              <a:rPr>
                <a:latin typeface="Calibri"/>
              </a:rPr>
              <a:t>Example: US wireless carriers — top 3 ≈ 97%</a:t>
            </a:r>
          </a:p>
          <a:p>
            <a:pPr algn="l"/>
            <a:r>
              <a:rPr>
                <a:latin typeface="Calibri"/>
              </a:rPr>
              <a:t>Limitations of these measures</a:t>
            </a:r>
          </a:p>
          <a:p>
            <a:pPr algn="l" lvl="1"/>
            <a:r>
              <a:rPr>
                <a:latin typeface="Calibri"/>
              </a:rPr>
              <a:t>Definition of relevant market</a:t>
            </a:r>
          </a:p>
          <a:p>
            <a:pPr algn="l" lvl="1"/>
            <a:r>
              <a:rPr>
                <a:latin typeface="Calibri"/>
              </a:rPr>
              <a:t>Role of </a:t>
            </a:r>
            <a:r>
              <a:rPr i="1">
                <a:latin typeface="Calibri"/>
              </a:rPr>
              <a:t>potential</a:t>
            </a:r>
            <a:r>
              <a:rPr>
                <a:latin typeface="Calibri"/>
              </a:rPr>
              <a:t> competition</a:t>
            </a:r>
          </a:p>
        </p:txBody>
      </p:sp>
      <p:grpSp>
        <p:nvGrpSpPr>
          <p:cNvPr id="27" name="WirelessChart 27"/>
          <p:cNvGrpSpPr/>
          <p:nvPr/>
        </p:nvGrpSpPr>
        <p:grpSpPr>
          <a:xfrm>
            <a:off x="7452360" y="1508760"/>
            <a:ext cx="4343400" cy="3703320"/>
            <a:chOff x="7452360" y="1508760"/>
            <a:chExt cx="4343400" cy="3703320"/>
          </a:xfrm>
        </p:grpSpPr>
        <p:sp>
          <p:nvSpPr>
            <p:cNvPr id="8" name="Rectangle 7"/>
            <p:cNvSpPr/>
            <p:nvPr/>
          </p:nvSpPr>
          <p:spPr>
            <a:xfrm>
              <a:off x="7452360" y="1508760"/>
              <a:ext cx="4343400" cy="370332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52360" y="1618488"/>
              <a:ext cx="4343400" cy="502920"/>
            </a:xfrm>
            <a:prstGeom prst="rect">
              <a:avLst/>
            </a:prstGeom>
            <a:noFill/>
          </p:spPr>
          <p:txBody>
            <a:bodyPr wrap="square" lIns="0" rIns="0" tIns="0" bIns="0">
              <a:spAutoFit/>
            </a:bodyPr>
            <a:lstStyle/>
            <a:p>
              <a:pPr algn="ctr"/>
              <a:r>
                <a:rPr sz="1500" b="1" i="1" u="none">
                  <a:solidFill>
                    <a:srgbClr val="0B2B4E"/>
                  </a:solidFill>
                  <a:latin typeface="Calibri"/>
                </a:rPr>
                <a:t>US wireless subscribers,
late 2025 (millions)</a:t>
              </a:r>
            </a:p>
          </p:txBody>
        </p:sp>
        <p:sp>
          <p:nvSpPr>
            <p:cNvPr id="10" name="Rectangle 9"/>
            <p:cNvSpPr/>
            <p:nvPr/>
          </p:nvSpPr>
          <p:spPr>
            <a:xfrm>
              <a:off x="7863840" y="2606040"/>
              <a:ext cx="960120" cy="169164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0" y="2276856"/>
              <a:ext cx="1325880" cy="292608"/>
            </a:xfrm>
            <a:prstGeom prst="rect">
              <a:avLst/>
            </a:prstGeom>
            <a:noFill/>
          </p:spPr>
          <p:txBody>
            <a:bodyPr wrap="square" lIns="0" rIns="0" tIns="0" bIns="0">
              <a:spAutoFit/>
            </a:bodyPr>
            <a:lstStyle/>
            <a:p>
              <a:pPr algn="ctr"/>
              <a:r>
                <a:rPr sz="1600" b="1" i="0" u="none">
                  <a:solidFill>
                    <a:srgbClr val="0B2B4E"/>
                  </a:solidFill>
                  <a:latin typeface="Calibri"/>
                </a:rPr>
                <a:t>146</a:t>
              </a:r>
            </a:p>
          </p:txBody>
        </p:sp>
        <p:sp>
          <p:nvSpPr>
            <p:cNvPr id="12" name="TextBox 11"/>
            <p:cNvSpPr txBox="1"/>
            <p:nvPr/>
          </p:nvSpPr>
          <p:spPr>
            <a:xfrm>
              <a:off x="7680960" y="4370832"/>
              <a:ext cx="1325880" cy="292608"/>
            </a:xfrm>
            <a:prstGeom prst="rect">
              <a:avLst/>
            </a:prstGeom>
            <a:noFill/>
          </p:spPr>
          <p:txBody>
            <a:bodyPr wrap="square" lIns="0" rIns="0" tIns="0" bIns="0">
              <a:spAutoFit/>
            </a:bodyPr>
            <a:lstStyle/>
            <a:p>
              <a:pPr algn="ctr"/>
              <a:r>
                <a:rPr sz="1500" b="0" i="0" u="none">
                  <a:solidFill>
                    <a:srgbClr val="0B2B4E"/>
                  </a:solidFill>
                  <a:latin typeface="Calibri"/>
                </a:rPr>
                <a:t>Verizon</a:t>
              </a:r>
            </a:p>
          </p:txBody>
        </p:sp>
        <p:sp>
          <p:nvSpPr>
            <p:cNvPr id="13" name="Rounded Rectangle 12"/>
            <p:cNvSpPr/>
            <p:nvPr/>
          </p:nvSpPr>
          <p:spPr>
            <a:xfrm>
              <a:off x="7923276" y="3794760"/>
              <a:ext cx="841248" cy="384048"/>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_logo_verizon.png"/>
            <p:cNvPicPr>
              <a:picLocks noChangeAspect="1"/>
            </p:cNvPicPr>
            <p:nvPr/>
          </p:nvPicPr>
          <p:blipFill>
            <a:blip r:embed="rId2"/>
            <a:stretch>
              <a:fillRect/>
            </a:stretch>
          </p:blipFill>
          <p:spPr>
            <a:xfrm>
              <a:off x="7978140" y="3905585"/>
              <a:ext cx="731520" cy="162397"/>
            </a:xfrm>
            <a:prstGeom prst="rect">
              <a:avLst/>
            </a:prstGeom>
          </p:spPr>
        </p:pic>
        <p:sp>
          <p:nvSpPr>
            <p:cNvPr id="15" name="Rectangle 14"/>
            <p:cNvSpPr/>
            <p:nvPr/>
          </p:nvSpPr>
          <p:spPr>
            <a:xfrm>
              <a:off x="9171432" y="2675560"/>
              <a:ext cx="960120" cy="1622120"/>
            </a:xfrm>
            <a:prstGeom prst="rect">
              <a:avLst/>
            </a:prstGeom>
            <a:solidFill>
              <a:srgbClr val="E20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88552" y="2346376"/>
              <a:ext cx="1325880" cy="292608"/>
            </a:xfrm>
            <a:prstGeom prst="rect">
              <a:avLst/>
            </a:prstGeom>
            <a:noFill/>
          </p:spPr>
          <p:txBody>
            <a:bodyPr wrap="square" lIns="0" rIns="0" tIns="0" bIns="0">
              <a:spAutoFit/>
            </a:bodyPr>
            <a:lstStyle/>
            <a:p>
              <a:pPr algn="ctr"/>
              <a:r>
                <a:rPr sz="1600" b="1" i="0" u="none">
                  <a:solidFill>
                    <a:srgbClr val="0B2B4E"/>
                  </a:solidFill>
                  <a:latin typeface="Calibri"/>
                </a:rPr>
                <a:t>140</a:t>
              </a:r>
            </a:p>
          </p:txBody>
        </p:sp>
        <p:sp>
          <p:nvSpPr>
            <p:cNvPr id="17" name="TextBox 16"/>
            <p:cNvSpPr txBox="1"/>
            <p:nvPr/>
          </p:nvSpPr>
          <p:spPr>
            <a:xfrm>
              <a:off x="8988552" y="4370832"/>
              <a:ext cx="1325880" cy="292608"/>
            </a:xfrm>
            <a:prstGeom prst="rect">
              <a:avLst/>
            </a:prstGeom>
            <a:noFill/>
          </p:spPr>
          <p:txBody>
            <a:bodyPr wrap="square" lIns="0" rIns="0" tIns="0" bIns="0">
              <a:spAutoFit/>
            </a:bodyPr>
            <a:lstStyle/>
            <a:p>
              <a:pPr algn="ctr"/>
              <a:r>
                <a:rPr sz="1500" b="0" i="0" u="none">
                  <a:solidFill>
                    <a:srgbClr val="0B2B4E"/>
                  </a:solidFill>
                  <a:latin typeface="Calibri"/>
                </a:rPr>
                <a:t>T-Mobile</a:t>
              </a:r>
            </a:p>
          </p:txBody>
        </p:sp>
        <p:sp>
          <p:nvSpPr>
            <p:cNvPr id="18" name="Rounded Rectangle 17"/>
            <p:cNvSpPr/>
            <p:nvPr/>
          </p:nvSpPr>
          <p:spPr>
            <a:xfrm>
              <a:off x="9230868" y="3794760"/>
              <a:ext cx="841248" cy="384048"/>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_logo_tmobile.png"/>
            <p:cNvPicPr>
              <a:picLocks noChangeAspect="1"/>
            </p:cNvPicPr>
            <p:nvPr/>
          </p:nvPicPr>
          <p:blipFill>
            <a:blip r:embed="rId3"/>
            <a:stretch>
              <a:fillRect/>
            </a:stretch>
          </p:blipFill>
          <p:spPr>
            <a:xfrm>
              <a:off x="9514332" y="3849624"/>
              <a:ext cx="274320" cy="274320"/>
            </a:xfrm>
            <a:prstGeom prst="rect">
              <a:avLst/>
            </a:prstGeom>
          </p:spPr>
        </p:pic>
        <p:sp>
          <p:nvSpPr>
            <p:cNvPr id="20" name="Rectangle 19"/>
            <p:cNvSpPr/>
            <p:nvPr/>
          </p:nvSpPr>
          <p:spPr>
            <a:xfrm>
              <a:off x="10479024" y="2918878"/>
              <a:ext cx="960120" cy="1378802"/>
            </a:xfrm>
            <a:prstGeom prst="rect">
              <a:avLst/>
            </a:prstGeom>
            <a:solidFill>
              <a:srgbClr val="00A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96144" y="2589694"/>
              <a:ext cx="1325880" cy="292608"/>
            </a:xfrm>
            <a:prstGeom prst="rect">
              <a:avLst/>
            </a:prstGeom>
            <a:noFill/>
          </p:spPr>
          <p:txBody>
            <a:bodyPr wrap="square" lIns="0" rIns="0" tIns="0" bIns="0">
              <a:spAutoFit/>
            </a:bodyPr>
            <a:lstStyle/>
            <a:p>
              <a:pPr algn="ctr"/>
              <a:r>
                <a:rPr sz="1600" b="1" i="0" u="none">
                  <a:solidFill>
                    <a:srgbClr val="0B2B4E"/>
                  </a:solidFill>
                  <a:latin typeface="Calibri"/>
                </a:rPr>
                <a:t>119</a:t>
              </a:r>
            </a:p>
          </p:txBody>
        </p:sp>
        <p:sp>
          <p:nvSpPr>
            <p:cNvPr id="22" name="TextBox 21"/>
            <p:cNvSpPr txBox="1"/>
            <p:nvPr/>
          </p:nvSpPr>
          <p:spPr>
            <a:xfrm>
              <a:off x="10296144" y="4370832"/>
              <a:ext cx="1325880" cy="292608"/>
            </a:xfrm>
            <a:prstGeom prst="rect">
              <a:avLst/>
            </a:prstGeom>
            <a:noFill/>
          </p:spPr>
          <p:txBody>
            <a:bodyPr wrap="square" lIns="0" rIns="0" tIns="0" bIns="0">
              <a:spAutoFit/>
            </a:bodyPr>
            <a:lstStyle/>
            <a:p>
              <a:pPr algn="ctr"/>
              <a:r>
                <a:rPr sz="1500" b="0" i="0" u="none">
                  <a:solidFill>
                    <a:srgbClr val="0B2B4E"/>
                  </a:solidFill>
                  <a:latin typeface="Calibri"/>
                </a:rPr>
                <a:t>AT&amp;T</a:t>
              </a:r>
            </a:p>
          </p:txBody>
        </p:sp>
        <p:sp>
          <p:nvSpPr>
            <p:cNvPr id="23" name="Rounded Rectangle 22"/>
            <p:cNvSpPr/>
            <p:nvPr/>
          </p:nvSpPr>
          <p:spPr>
            <a:xfrm>
              <a:off x="10538460" y="3794760"/>
              <a:ext cx="841248" cy="384048"/>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_logo_att.png"/>
            <p:cNvPicPr>
              <a:picLocks noChangeAspect="1"/>
            </p:cNvPicPr>
            <p:nvPr/>
          </p:nvPicPr>
          <p:blipFill>
            <a:blip r:embed="rId4"/>
            <a:stretch>
              <a:fillRect/>
            </a:stretch>
          </p:blipFill>
          <p:spPr>
            <a:xfrm>
              <a:off x="10626172" y="3849624"/>
              <a:ext cx="665825" cy="274320"/>
            </a:xfrm>
            <a:prstGeom prst="rect">
              <a:avLst/>
            </a:prstGeom>
          </p:spPr>
        </p:pic>
        <p:sp>
          <p:nvSpPr>
            <p:cNvPr id="25" name="Rectangle 24"/>
            <p:cNvSpPr/>
            <p:nvPr/>
          </p:nvSpPr>
          <p:spPr>
            <a:xfrm>
              <a:off x="7726680" y="4297680"/>
              <a:ext cx="3794760" cy="16459"/>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2360" y="4681728"/>
              <a:ext cx="4343400" cy="274320"/>
            </a:xfrm>
            <a:prstGeom prst="rect">
              <a:avLst/>
            </a:prstGeom>
            <a:noFill/>
          </p:spPr>
          <p:txBody>
            <a:bodyPr wrap="square" lIns="0" rIns="0" tIns="0" bIns="0">
              <a:spAutoFit/>
            </a:bodyPr>
            <a:lstStyle/>
            <a:p>
              <a:pPr algn="ctr"/>
              <a:r>
                <a:rPr sz="1100" b="0" i="1" u="none">
                  <a:solidFill>
                    <a:srgbClr val="555B66"/>
                  </a:solidFill>
                  <a:latin typeface="Calibri"/>
                </a:rPr>
                <a:t>Source: company reports (retail connections)</a:t>
              </a:r>
            </a:p>
          </p:txBody>
        </p:sp>
      </p:grpSp>
      <p:grpSp>
        <p:nvGrpSpPr>
          <p:cNvPr id="36" name="MergerCard 36"/>
          <p:cNvGrpSpPr/>
          <p:nvPr/>
        </p:nvGrpSpPr>
        <p:grpSpPr>
          <a:xfrm>
            <a:off x="6095390" y="5571439"/>
            <a:ext cx="5843930" cy="766267"/>
            <a:chOff x="6095390" y="5571439"/>
            <a:chExt cx="5843930" cy="766267"/>
          </a:xfrm>
        </p:grpSpPr>
        <p:sp>
          <p:nvSpPr>
            <p:cNvPr id="28" name="Rounded Rectangle 27"/>
            <p:cNvSpPr/>
            <p:nvPr/>
          </p:nvSpPr>
          <p:spPr>
            <a:xfrm>
              <a:off x="6095390" y="5571439"/>
              <a:ext cx="5843930" cy="766267"/>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96558" y="5596128"/>
              <a:ext cx="5481828" cy="320040"/>
            </a:xfrm>
            <a:prstGeom prst="rect">
              <a:avLst/>
            </a:prstGeom>
            <a:noFill/>
          </p:spPr>
          <p:txBody>
            <a:bodyPr wrap="none">
              <a:spAutoFit/>
            </a:bodyPr>
            <a:lstStyle/>
            <a:p>
              <a:r>
                <a:rPr sz="1600" b="1">
                  <a:solidFill>
                    <a:srgbClr val="0B2B4E"/>
                  </a:solidFill>
                  <a:latin typeface="Calibri"/>
                </a:rPr>
                <a:t>Mergers:  </a:t>
              </a:r>
              <a:r>
                <a:rPr sz="1600" b="0">
                  <a:solidFill>
                    <a:srgbClr val="0B2B4E"/>
                  </a:solidFill>
                  <a:latin typeface="Calibri"/>
                </a:rPr>
                <a:t>T-Mobile absorbed Sprint (2020) and UScellular (2025)</a:t>
              </a:r>
            </a:p>
          </p:txBody>
        </p:sp>
        <p:pic>
          <p:nvPicPr>
            <p:cNvPr id="30" name="Picture 29" descr="_logo_tmobile.png"/>
            <p:cNvPicPr>
              <a:picLocks noChangeAspect="1"/>
            </p:cNvPicPr>
            <p:nvPr/>
          </p:nvPicPr>
          <p:blipFill>
            <a:blip r:embed="rId3"/>
            <a:stretch>
              <a:fillRect/>
            </a:stretch>
          </p:blipFill>
          <p:spPr>
            <a:xfrm>
              <a:off x="7333488" y="6003036"/>
              <a:ext cx="246888" cy="274320"/>
            </a:xfrm>
            <a:prstGeom prst="rect">
              <a:avLst/>
            </a:prstGeom>
          </p:spPr>
        </p:pic>
        <p:pic>
          <p:nvPicPr>
            <p:cNvPr id="31" name="Picture 30" descr="_logo_sprint.png"/>
            <p:cNvPicPr>
              <a:picLocks noChangeAspect="1"/>
            </p:cNvPicPr>
            <p:nvPr/>
          </p:nvPicPr>
          <p:blipFill>
            <a:blip r:embed="rId5"/>
            <a:stretch>
              <a:fillRect/>
            </a:stretch>
          </p:blipFill>
          <p:spPr>
            <a:xfrm>
              <a:off x="7843723" y="6012180"/>
              <a:ext cx="555040" cy="256032"/>
            </a:xfrm>
            <a:prstGeom prst="rect">
              <a:avLst/>
            </a:prstGeom>
          </p:spPr>
        </p:pic>
        <p:pic>
          <p:nvPicPr>
            <p:cNvPr id="32" name="Picture 31" descr="_logo_tmobile.png"/>
            <p:cNvPicPr>
              <a:picLocks noChangeAspect="1"/>
            </p:cNvPicPr>
            <p:nvPr/>
          </p:nvPicPr>
          <p:blipFill>
            <a:blip r:embed="rId3"/>
            <a:stretch>
              <a:fillRect/>
            </a:stretch>
          </p:blipFill>
          <p:spPr>
            <a:xfrm>
              <a:off x="8892540" y="6003036"/>
              <a:ext cx="246888" cy="274320"/>
            </a:xfrm>
            <a:prstGeom prst="rect">
              <a:avLst/>
            </a:prstGeom>
          </p:spPr>
        </p:pic>
        <p:pic>
          <p:nvPicPr>
            <p:cNvPr id="33" name="Picture 32" descr="_logo_uscellular.png"/>
            <p:cNvPicPr>
              <a:picLocks noChangeAspect="1"/>
            </p:cNvPicPr>
            <p:nvPr/>
          </p:nvPicPr>
          <p:blipFill>
            <a:blip r:embed="rId6"/>
            <a:stretch>
              <a:fillRect/>
            </a:stretch>
          </p:blipFill>
          <p:spPr>
            <a:xfrm>
              <a:off x="9402775" y="6039612"/>
              <a:ext cx="884224" cy="201168"/>
            </a:xfrm>
            <a:prstGeom prst="rect">
              <a:avLst/>
            </a:prstGeom>
          </p:spPr>
        </p:pic>
        <p:sp>
          <p:nvSpPr>
            <p:cNvPr id="34" name="TextBox 33"/>
            <p:cNvSpPr txBox="1"/>
            <p:nvPr/>
          </p:nvSpPr>
          <p:spPr>
            <a:xfrm>
              <a:off x="7596835" y="5985662"/>
              <a:ext cx="213969" cy="310896"/>
            </a:xfrm>
            <a:prstGeom prst="rect">
              <a:avLst/>
            </a:prstGeom>
            <a:noFill/>
          </p:spPr>
          <p:txBody>
            <a:bodyPr wrap="square" lIns="0" rIns="0" tIns="0" bIns="0">
              <a:spAutoFit/>
            </a:bodyPr>
            <a:lstStyle/>
            <a:p>
              <a:pPr algn="ctr"/>
              <a:r>
                <a:rPr sz="1800" b="1" i="0" u="none">
                  <a:solidFill>
                    <a:srgbClr val="0B2B4E"/>
                  </a:solidFill>
                  <a:latin typeface="Calibri"/>
                </a:rPr>
                <a:t>+</a:t>
              </a:r>
            </a:p>
          </p:txBody>
        </p:sp>
        <p:sp>
          <p:nvSpPr>
            <p:cNvPr id="35" name="TextBox 34"/>
            <p:cNvSpPr txBox="1"/>
            <p:nvPr/>
          </p:nvSpPr>
          <p:spPr>
            <a:xfrm>
              <a:off x="9155887" y="5985662"/>
              <a:ext cx="213969" cy="310896"/>
            </a:xfrm>
            <a:prstGeom prst="rect">
              <a:avLst/>
            </a:prstGeom>
            <a:noFill/>
          </p:spPr>
          <p:txBody>
            <a:bodyPr wrap="square" lIns="0" rIns="0" tIns="0" bIns="0">
              <a:spAutoFit/>
            </a:bodyPr>
            <a:lstStyle/>
            <a:p>
              <a:pPr algn="ctr"/>
              <a:r>
                <a:rPr sz="1800" b="1" i="0" u="none">
                  <a:solidFill>
                    <a:srgbClr val="0B2B4E"/>
                  </a:solidFill>
                  <a:latin typeface="Calibri"/>
                </a:rPr>
                <a:t>+</a:t>
              </a:r>
            </a:p>
          </p:txBody>
        </p:sp>
      </p:grpSp>
      <p:sp>
        <p:nvSpPr>
          <p:cNvPr id="37" name="Rectangle 3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40" name="TextBox 39"/>
          <p:cNvSpPr txBox="1"/>
          <p:nvPr/>
        </p:nvSpPr>
        <p:spPr>
          <a:xfrm>
            <a:off x="11475720" y="6583680"/>
            <a:ext cx="502920" cy="292608"/>
          </a:xfrm>
          <a:prstGeom prst="rect">
            <a:avLst/>
          </a:prstGeom>
          <a:noFill/>
        </p:spPr>
        <p:txBody>
          <a:bodyPr wrap="none" lIns="0" rIns="0" tIns="0" bIns="0">
            <a:spAutoFit/>
          </a:bodyPr>
          <a:lstStyle/>
          <a:p>
            <a:pPr algn="r"/>
            <a:fld id="{9312BF8A-9A28-5EC8-AEAF-A3A16FACED63}" type="slidenum">
              <a:rPr lang="en-US" sz="1200" dirty="0">
                <a:solidFill>
                  <a:srgbClr val="555B66"/>
                </a:solidFill>
                <a:latin typeface="Calibri"/>
              </a:rPr>
              <a:t>9</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fade">
                                      <p:cBhvr>
                                        <p:cTn id="15" dur="500"/>
                                        <p:tgtEl>
                                          <p:spTgt spid="7">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4" end="4"/>
                                            </p:txEl>
                                          </p:spTgt>
                                        </p:tgtEl>
                                        <p:attrNameLst>
                                          <p:attrName>style.visibility</p:attrName>
                                        </p:attrNameLst>
                                      </p:cBhvr>
                                      <p:to>
                                        <p:strVal val="visible"/>
                                      </p:to>
                                    </p:set>
                                    <p:animEffect transition="in" filter="fade">
                                      <p:cBhvr>
                                        <p:cTn id="20" dur="500"/>
                                        <p:tgtEl>
                                          <p:spTgt spid="7">
                                            <p:txEl>
                                              <p:pRg st="4" end="4"/>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500"/>
                                        <p:tgtEl>
                                          <p:spTgt spid="3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animEffect transition="in" filter="fade">
                                      <p:cBhvr>
                                        <p:cTn id="33" dur="500"/>
                                        <p:tgtEl>
                                          <p:spTgt spid="7">
                                            <p:txEl>
                                              <p:pRg st="5" end="5"/>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
                                            <p:txEl>
                                              <p:pRg st="6" end="6"/>
                                            </p:txEl>
                                          </p:spTgt>
                                        </p:tgtEl>
                                        <p:attrNameLst>
                                          <p:attrName>style.visibility</p:attrName>
                                        </p:attrNameLst>
                                      </p:cBhvr>
                                      <p:to>
                                        <p:strVal val="visible"/>
                                      </p:to>
                                    </p:set>
                                    <p:animEffect transition="in" filter="fade">
                                      <p:cBhvr>
                                        <p:cTn id="36" dur="500"/>
                                        <p:tgtEl>
                                          <p:spTgt spid="7">
                                            <p:txEl>
                                              <p:pRg st="6" end="6"/>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7">
                                            <p:txEl>
                                              <p:pRg st="7" end="7"/>
                                            </p:txEl>
                                          </p:spTgt>
                                        </p:tgtEl>
                                        <p:attrNameLst>
                                          <p:attrName>style.visibility</p:attrName>
                                        </p:attrNameLst>
                                      </p:cBhvr>
                                      <p:to>
                                        <p:strVal val="visible"/>
                                      </p:to>
                                    </p:set>
                                    <p:animEffect transition="in" filter="fade">
                                      <p:cBhvr>
                                        <p:cTn id="39"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Oligopoly</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Oligopoly Example: Nickel Mining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6675120" cy="3566160"/>
          </a:xfrm>
          <a:prstGeom prst="rect">
            <a:avLst/>
          </a:prstGeom>
          <a:noFill/>
        </p:spPr>
        <p:txBody>
          <a:bodyPr wrap="square" lIns="0" rIns="0" tIns="0" bIns="0">
            <a:spAutoFit/>
          </a:bodyPr>
          <a:lstStyle>
            <a:lvl1pPr marL="342900" indent="-342900">
              <a:spcBef>
                <a:spcPts val="12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Homogeneous good</a:t>
            </a:r>
          </a:p>
          <a:p>
            <a:pPr algn="l" lvl="1"/>
            <a:r>
              <a:rPr>
                <a:latin typeface="Calibri"/>
              </a:rPr>
              <a:t>Key input for batteries (electric vehicles…)</a:t>
            </a:r>
          </a:p>
          <a:p>
            <a:pPr algn="l"/>
            <a:r>
              <a:rPr>
                <a:latin typeface="Calibri"/>
              </a:rPr>
              <a:t>Two dominant producers – our duopoly example</a:t>
            </a:r>
          </a:p>
          <a:p>
            <a:pPr algn="l" lvl="1"/>
            <a:r>
              <a:rPr>
                <a:latin typeface="Calibri"/>
              </a:rPr>
              <a:t>Vale (Brazil)</a:t>
            </a:r>
          </a:p>
          <a:p>
            <a:pPr algn="l" lvl="1"/>
            <a:r>
              <a:rPr>
                <a:latin typeface="Calibri"/>
              </a:rPr>
              <a:t>Tsingshan Holding (China) – mines mainly in Indonesia</a:t>
            </a:r>
          </a:p>
          <a:p>
            <a:pPr algn="l"/>
            <a:r>
              <a:rPr>
                <a:latin typeface="Calibri"/>
              </a:rPr>
              <a:t>A few other, smaller producers in different countries</a:t>
            </a:r>
          </a:p>
          <a:p>
            <a:pPr algn="l"/>
            <a:r>
              <a:rPr>
                <a:latin typeface="Calibri"/>
              </a:rPr>
              <a:t>Will use this as guiding example</a:t>
            </a:r>
          </a:p>
        </p:txBody>
      </p:sp>
      <p:pic>
        <p:nvPicPr>
          <p:cNvPr id="8" name="Picture 7" descr="image21.jpeg"/>
          <p:cNvPicPr>
            <a:picLocks noChangeAspect="1"/>
          </p:cNvPicPr>
          <p:nvPr/>
        </p:nvPicPr>
        <p:blipFill>
          <a:blip r:embed="rId2"/>
          <a:stretch>
            <a:fillRect/>
          </a:stretch>
        </p:blipFill>
        <p:spPr>
          <a:xfrm>
            <a:off x="7360920" y="2148840"/>
            <a:ext cx="4297680" cy="2419178"/>
          </a:xfrm>
          <a:prstGeom prst="roundRect">
            <a:avLst>
              <a:gd name="adj" fmla="val 8000"/>
            </a:avLst>
          </a:prstGeom>
          <a:effectLst>
            <a:outerShdw blurRad="50800" dist="38100" dir="2700000" algn="tl" rotWithShape="0">
              <a:srgbClr val="000000">
                <a:alpha val="50000"/>
              </a:srgbClr>
            </a:outerShdw>
          </a:effectLst>
        </p:spPr>
      </p:pic>
      <p:sp>
        <p:nvSpPr>
          <p:cNvPr id="9" name="Rounded Rectangle 8"/>
          <p:cNvSpPr/>
          <p:nvPr/>
        </p:nvSpPr>
        <p:spPr>
          <a:xfrm>
            <a:off x="251999" y="5992977"/>
            <a:ext cx="10026396" cy="429768"/>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727" y="5992977"/>
            <a:ext cx="9806940" cy="429768"/>
          </a:xfrm>
          <a:prstGeom prst="rect">
            <a:avLst/>
          </a:prstGeom>
          <a:noFill/>
        </p:spPr>
        <p:txBody>
          <a:bodyPr wrap="square" lIns="45720" rIns="45720" tIns="0" bIns="0" anchor="ctr">
            <a:spAutoFit/>
          </a:bodyPr>
          <a:lstStyle/>
          <a:p>
            <a:pPr algn="l"/>
            <a:r>
              <a:rPr sz="1600" b="1" i="0" u="none">
                <a:solidFill>
                  <a:srgbClr val="0B2B4E"/>
                </a:solidFill>
                <a:latin typeface="Calibri"/>
              </a:rPr>
              <a:t>Note:  </a:t>
            </a:r>
            <a:r>
              <a:rPr sz="1600" b="0" i="0" u="none">
                <a:solidFill>
                  <a:srgbClr val="0B2B4E"/>
                </a:solidFill>
                <a:latin typeface="Calibri"/>
              </a:rPr>
              <a:t>Norilsk Nickel (Russia) is also a major producer – we exclude it here because of the sanctions against Russia</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4" name="TextBox 13"/>
          <p:cNvSpPr txBox="1"/>
          <p:nvPr/>
        </p:nvSpPr>
        <p:spPr>
          <a:xfrm>
            <a:off x="11475720" y="6583680"/>
            <a:ext cx="502920" cy="292608"/>
          </a:xfrm>
          <a:prstGeom prst="rect">
            <a:avLst/>
          </a:prstGeom>
          <a:noFill/>
        </p:spPr>
        <p:txBody>
          <a:bodyPr wrap="none" lIns="0" rIns="0" tIns="0" bIns="0">
            <a:spAutoFit/>
          </a:bodyPr>
          <a:lstStyle/>
          <a:p>
            <a:pPr algn="r"/>
            <a:fld id="{C5562DAE-C003-5573-82E1-282CDD613EB7}" type="slidenum">
              <a:rPr lang="en-US" sz="1200" dirty="0">
                <a:solidFill>
                  <a:srgbClr val="555B66"/>
                </a:solidFill>
                <a:latin typeface="Calibri"/>
              </a:rPr>
              <a:t>10</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3" end="3"/>
                                            </p:txEl>
                                          </p:spTgt>
                                        </p:tgtEl>
                                        <p:attrNameLst>
                                          <p:attrName>style.visibility</p:attrName>
                                        </p:attrNameLst>
                                      </p:cBhvr>
                                      <p:to>
                                        <p:strVal val="visible"/>
                                      </p:to>
                                    </p:set>
                                    <p:animEffect transition="in" filter="fade">
                                      <p:cBhvr>
                                        <p:cTn id="10" dur="500"/>
                                        <p:tgtEl>
                                          <p:spTgt spid="7">
                                            <p:txEl>
                                              <p:pRg st="3" end="3"/>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animEffect transition="in" filter="fade">
                                      <p:cBhvr>
                                        <p:cTn id="13" dur="500"/>
                                        <p:tgtEl>
                                          <p:spTgt spid="7">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5" end="5"/>
                                            </p:txEl>
                                          </p:spTgt>
                                        </p:tgtEl>
                                        <p:attrNameLst>
                                          <p:attrName>style.visibility</p:attrName>
                                        </p:attrNameLst>
                                      </p:cBhvr>
                                      <p:to>
                                        <p:strVal val="visible"/>
                                      </p:to>
                                    </p:set>
                                    <p:animEffect transition="in" filter="fade">
                                      <p:cBhvr>
                                        <p:cTn id="18" dur="500"/>
                                        <p:tgtEl>
                                          <p:spTgt spid="7">
                                            <p:txEl>
                                              <p:pRg st="5" end="5"/>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fade">
                                      <p:cBhvr>
                                        <p:cTn id="32"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Collusion and Cartels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Outline of Module 7</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440180"/>
            <a:ext cx="11109960" cy="822960"/>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51560" y="151333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1</a:t>
            </a:r>
          </a:p>
        </p:txBody>
      </p:sp>
      <p:sp>
        <p:nvSpPr>
          <p:cNvPr id="9" name="TextBox 8"/>
          <p:cNvSpPr txBox="1"/>
          <p:nvPr/>
        </p:nvSpPr>
        <p:spPr>
          <a:xfrm>
            <a:off x="1874519" y="1495044"/>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Collusion and Cartels</a:t>
            </a:r>
          </a:p>
          <a:p>
            <a:pPr algn="l">
              <a:spcBef>
                <a:spcPts val="0"/>
              </a:spcBef>
              <a:buNone/>
            </a:pPr>
            <a:r>
              <a:rPr sz="2200">
                <a:solidFill>
                  <a:srgbClr val="555B66"/>
                </a:solidFill>
                <a:latin typeface="Calibri"/>
              </a:rPr>
              <a:t>Why firms are tempted to collude, and why cartels break down</a:t>
            </a:r>
          </a:p>
        </p:txBody>
      </p:sp>
      <p:sp>
        <p:nvSpPr>
          <p:cNvPr id="10" name="Oval 9"/>
          <p:cNvSpPr/>
          <p:nvPr/>
        </p:nvSpPr>
        <p:spPr>
          <a:xfrm>
            <a:off x="1051560" y="234543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2</a:t>
            </a:r>
          </a:p>
        </p:txBody>
      </p:sp>
      <p:sp>
        <p:nvSpPr>
          <p:cNvPr id="11" name="TextBox 10"/>
          <p:cNvSpPr txBox="1"/>
          <p:nvPr/>
        </p:nvSpPr>
        <p:spPr>
          <a:xfrm>
            <a:off x="1874519" y="2327148"/>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Cournot Competition</a:t>
            </a:r>
          </a:p>
        </p:txBody>
      </p:sp>
      <p:sp>
        <p:nvSpPr>
          <p:cNvPr id="12" name="Oval 11"/>
          <p:cNvSpPr/>
          <p:nvPr/>
        </p:nvSpPr>
        <p:spPr>
          <a:xfrm>
            <a:off x="1051560" y="317754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3</a:t>
            </a:r>
          </a:p>
        </p:txBody>
      </p:sp>
      <p:sp>
        <p:nvSpPr>
          <p:cNvPr id="13" name="TextBox 12"/>
          <p:cNvSpPr txBox="1"/>
          <p:nvPr/>
        </p:nvSpPr>
        <p:spPr>
          <a:xfrm>
            <a:off x="1874519" y="3159252"/>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Bertrand Competition</a:t>
            </a:r>
          </a:p>
        </p:txBody>
      </p:sp>
      <p:sp>
        <p:nvSpPr>
          <p:cNvPr id="14" name="Oval 13"/>
          <p:cNvSpPr/>
          <p:nvPr/>
        </p:nvSpPr>
        <p:spPr>
          <a:xfrm>
            <a:off x="1051560" y="400964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4</a:t>
            </a:r>
          </a:p>
        </p:txBody>
      </p:sp>
      <p:sp>
        <p:nvSpPr>
          <p:cNvPr id="15" name="TextBox 14"/>
          <p:cNvSpPr txBox="1"/>
          <p:nvPr/>
        </p:nvSpPr>
        <p:spPr>
          <a:xfrm>
            <a:off x="1874519" y="3991356"/>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Oligopoly with Differentiated Goods</a:t>
            </a:r>
          </a:p>
        </p:txBody>
      </p:sp>
      <p:sp>
        <p:nvSpPr>
          <p:cNvPr id="16" name="Oval 15"/>
          <p:cNvSpPr/>
          <p:nvPr/>
        </p:nvSpPr>
        <p:spPr>
          <a:xfrm>
            <a:off x="1051560" y="484174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5</a:t>
            </a:r>
          </a:p>
        </p:txBody>
      </p:sp>
      <p:sp>
        <p:nvSpPr>
          <p:cNvPr id="17" name="TextBox 16"/>
          <p:cNvSpPr txBox="1"/>
          <p:nvPr/>
        </p:nvSpPr>
        <p:spPr>
          <a:xfrm>
            <a:off x="1874519" y="4823460"/>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Strategic Thinking: Key Concepts</a:t>
            </a:r>
          </a:p>
        </p:txBody>
      </p:sp>
      <p:sp>
        <p:nvSpPr>
          <p:cNvPr id="18" name="Oval 17"/>
          <p:cNvSpPr/>
          <p:nvPr/>
        </p:nvSpPr>
        <p:spPr>
          <a:xfrm>
            <a:off x="1051560" y="567385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6</a:t>
            </a:r>
          </a:p>
        </p:txBody>
      </p:sp>
      <p:sp>
        <p:nvSpPr>
          <p:cNvPr id="19" name="TextBox 18"/>
          <p:cNvSpPr txBox="1"/>
          <p:nvPr/>
        </p:nvSpPr>
        <p:spPr>
          <a:xfrm>
            <a:off x="1874519" y="5655564"/>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Prisoner’s Dilemma, Game of Chicken…</a:t>
            </a:r>
          </a:p>
        </p:txBody>
      </p:sp>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23" name="TextBox 22"/>
          <p:cNvSpPr txBox="1"/>
          <p:nvPr/>
        </p:nvSpPr>
        <p:spPr>
          <a:xfrm>
            <a:off x="11475720" y="6583680"/>
            <a:ext cx="502920" cy="292608"/>
          </a:xfrm>
          <a:prstGeom prst="rect">
            <a:avLst/>
          </a:prstGeom>
          <a:noFill/>
        </p:spPr>
        <p:txBody>
          <a:bodyPr wrap="none" lIns="0" rIns="0" tIns="0" bIns="0">
            <a:spAutoFit/>
          </a:bodyPr>
          <a:lstStyle/>
          <a:p>
            <a:pPr algn="r"/>
            <a:fld id="{408EAED5-32D5-5D1E-A747-5C08135AC7E5}" type="slidenum">
              <a:rPr lang="en-US" sz="1200" dirty="0">
                <a:solidFill>
                  <a:srgbClr val="555B66"/>
                </a:solidFill>
                <a:latin typeface="Calibri"/>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Collusion and Cartels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Collusion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0" name="DefCard 10"/>
          <p:cNvGrpSpPr/>
          <p:nvPr/>
        </p:nvGrpSpPr>
        <p:grpSpPr>
          <a:xfrm>
            <a:off x="883767" y="1298448"/>
            <a:ext cx="10424160" cy="1737360"/>
            <a:chOff x="883767" y="1298448"/>
            <a:chExt cx="10424160" cy="1737360"/>
          </a:xfrm>
        </p:grpSpPr>
        <p:sp>
          <p:nvSpPr>
            <p:cNvPr id="7" name="Rounded Rectangle 6"/>
            <p:cNvSpPr/>
            <p:nvPr/>
          </p:nvSpPr>
          <p:spPr>
            <a:xfrm>
              <a:off x="883767" y="1298448"/>
              <a:ext cx="10424160" cy="1737360"/>
            </a:xfrm>
            <a:prstGeom prst="roundRect">
              <a:avLst>
                <a:gd name="adj" fmla="val 8000"/>
              </a:avLst>
            </a:prstGeom>
            <a:solidFill>
              <a:srgbClr val="FFFFFF"/>
            </a:solidFill>
            <a:ln w="15875">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
              </a:r>
            </a:p>
          </p:txBody>
        </p:sp>
        <p:sp>
          <p:nvSpPr>
            <p:cNvPr id="8" name="TextBox 7"/>
            <p:cNvSpPr txBox="1"/>
            <p:nvPr/>
          </p:nvSpPr>
          <p:spPr>
            <a:xfrm>
              <a:off x="1158087" y="1408176"/>
              <a:ext cx="5486400" cy="411480"/>
            </a:xfrm>
            <a:prstGeom prst="rect">
              <a:avLst/>
            </a:prstGeom>
            <a:noFill/>
          </p:spPr>
          <p:txBody>
            <a:bodyPr wrap="square" lIns="0" rIns="0" tIns="0" bIns="0">
              <a:spAutoFit/>
            </a:bodyPr>
            <a:lstStyle/>
            <a:p>
              <a:pPr algn="l"/>
              <a:r>
                <a:rPr sz="2400" b="1" i="0" u="none">
                  <a:solidFill>
                    <a:srgbClr val="E09F3E"/>
                  </a:solidFill>
                  <a:latin typeface="Calibri"/>
                </a:rPr>
                <a:t>Definition of Collusion</a:t>
              </a:r>
            </a:p>
          </p:txBody>
        </p:sp>
        <p:sp>
          <p:nvSpPr>
            <p:cNvPr id="9" name="Rounded Rectangle 8"/>
            <p:cNvSpPr/>
            <p:nvPr/>
          </p:nvSpPr>
          <p:spPr>
            <a:xfrm>
              <a:off x="1112367" y="1920240"/>
              <a:ext cx="9966960" cy="914400"/>
            </a:xfrm>
            <a:prstGeom prst="roundRect">
              <a:avLst>
                <a:gd name="adj" fmla="val 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Calibri"/>
                </a:rPr>
                <a:t>Firms in an oligopoly coordinate their production and pricing decisions</a:t>
              </a:r>
            </a:p>
          </p:txBody>
        </p:sp>
      </p:grpSp>
      <p:grpSp>
        <p:nvGrpSpPr>
          <p:cNvPr id="13" name="AimCard 13"/>
          <p:cNvGrpSpPr/>
          <p:nvPr/>
        </p:nvGrpSpPr>
        <p:grpSpPr>
          <a:xfrm>
            <a:off x="883767" y="3246120"/>
            <a:ext cx="10424160" cy="1645920"/>
            <a:chOff x="883767" y="3246120"/>
            <a:chExt cx="10424160" cy="1645920"/>
          </a:xfrm>
        </p:grpSpPr>
        <p:sp>
          <p:nvSpPr>
            <p:cNvPr id="11" name="Rounded Rectangle 10"/>
            <p:cNvSpPr/>
            <p:nvPr/>
          </p:nvSpPr>
          <p:spPr>
            <a:xfrm>
              <a:off x="883767" y="3246120"/>
              <a:ext cx="10424160" cy="164592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6647" y="3355848"/>
              <a:ext cx="10058400" cy="1426464"/>
            </a:xfrm>
            <a:prstGeom prst="rect">
              <a:avLst/>
            </a:prstGeom>
            <a:noFill/>
          </p:spPr>
          <p:txBody>
            <a:bodyPr wrap="square" lIns="45720" rIns="45720" tIns="0" bIns="0" anchor="ctr">
              <a:spAutoFit/>
            </a:bodyPr>
            <a:lstStyle/>
            <a:p>
              <a:pPr algn="l"/>
              <a:r>
                <a:rPr sz="2200" b="0" i="0" u="none">
                  <a:solidFill>
                    <a:srgbClr val="0B2B4E"/>
                  </a:solidFill>
                  <a:latin typeface="Calibri"/>
                </a:rPr>
                <a:t>▪  Aim: collectively act as a monopolist to gain monopoly profits</a:t>
              </a:r>
            </a:p>
            <a:p>
              <a:pPr algn="l"/>
              <a:r>
                <a:rPr sz="2200" b="0" i="0" u="none">
                  <a:solidFill>
                    <a:srgbClr val="0B2B4E"/>
                  </a:solidFill>
                  <a:latin typeface="Calibri"/>
                </a:rPr>
                <a:t>▪  Profits to be split among the participating firms</a:t>
              </a:r>
            </a:p>
            <a:p>
              <a:pPr algn="l"/>
              <a:r>
                <a:rPr sz="2200" b="0" i="0" u="none">
                  <a:solidFill>
                    <a:srgbClr val="0B2B4E"/>
                  </a:solidFill>
                  <a:latin typeface="Calibri"/>
                </a:rPr>
                <a:t>▪  Extreme case – a cartel: an explicit, organized price-fixing agreement (e.g., OPEC)</a:t>
              </a:r>
            </a:p>
          </p:txBody>
        </p:sp>
      </p:grpSp>
      <p:grpSp>
        <p:nvGrpSpPr>
          <p:cNvPr id="16" name="QuoteCard 16"/>
          <p:cNvGrpSpPr/>
          <p:nvPr/>
        </p:nvGrpSpPr>
        <p:grpSpPr>
          <a:xfrm>
            <a:off x="883767" y="5120640"/>
            <a:ext cx="10424160" cy="1280160"/>
            <a:chOff x="883767" y="5120640"/>
            <a:chExt cx="10424160" cy="1280160"/>
          </a:xfrm>
        </p:grpSpPr>
        <p:sp>
          <p:nvSpPr>
            <p:cNvPr id="14" name="Rounded Rectangle 13"/>
            <p:cNvSpPr/>
            <p:nvPr/>
          </p:nvSpPr>
          <p:spPr>
            <a:xfrm>
              <a:off x="883767" y="5120640"/>
              <a:ext cx="10424160" cy="1280160"/>
            </a:xfrm>
            <a:prstGeom prst="roundRect">
              <a:avLst>
                <a:gd name="adj" fmla="val 12000"/>
              </a:avLst>
            </a:prstGeom>
            <a:solidFill>
              <a:srgbClr val="FFFFFF"/>
            </a:solidFill>
            <a:ln w="1905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6647" y="5230368"/>
              <a:ext cx="10058400" cy="1060704"/>
            </a:xfrm>
            <a:prstGeom prst="rect">
              <a:avLst/>
            </a:prstGeom>
            <a:noFill/>
          </p:spPr>
          <p:txBody>
            <a:bodyPr wrap="square" lIns="45720" rIns="45720" tIns="0" bIns="0" anchor="ctr">
              <a:spAutoFit/>
            </a:bodyPr>
            <a:lstStyle/>
            <a:p>
              <a:pPr algn="ctr"/>
              <a:r>
                <a:rPr sz="2000" b="0" i="1" u="none">
                  <a:solidFill>
                    <a:srgbClr val="0B2B4E"/>
                  </a:solidFill>
                  <a:latin typeface="Calibri"/>
                </a:rPr>
                <a:t>“People of the same trade seldom meet together, even for merriment and diversion, but … in some contrivance to raise prices.”</a:t>
              </a:r>
            </a:p>
            <a:p>
              <a:pPr algn="ctr"/>
              <a:r>
                <a:rPr sz="1700" b="1" i="0" u="none">
                  <a:solidFill>
                    <a:srgbClr val="555B66"/>
                  </a:solidFill>
                  <a:latin typeface="Calibri"/>
                </a:rPr>
                <a:t>— Adam Smith (1723–1790)</a:t>
              </a:r>
            </a:p>
          </p:txBody>
        </p:sp>
      </p:gr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20" name="TextBox 19"/>
          <p:cNvSpPr txBox="1"/>
          <p:nvPr/>
        </p:nvSpPr>
        <p:spPr>
          <a:xfrm>
            <a:off x="11475720" y="6583680"/>
            <a:ext cx="502920" cy="292608"/>
          </a:xfrm>
          <a:prstGeom prst="rect">
            <a:avLst/>
          </a:prstGeom>
          <a:noFill/>
        </p:spPr>
        <p:txBody>
          <a:bodyPr wrap="none" lIns="0" rIns="0" tIns="0" bIns="0">
            <a:spAutoFit/>
          </a:bodyPr>
          <a:lstStyle/>
          <a:p>
            <a:pPr algn="r"/>
            <a:fld id="{3843DC09-F274-5E11-9C69-682DB5F85E15}" type="slidenum">
              <a:rPr lang="en-US" sz="1200" dirty="0">
                <a:solidFill>
                  <a:srgbClr val="555B66"/>
                </a:solidFill>
                <a:latin typeface="Calibri"/>
              </a:rPr>
              <a:t>12</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Collusion and Cartels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Cartels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07592"/>
            <a:ext cx="11384280" cy="406908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399032"/>
            <a:ext cx="4160520" cy="320040"/>
          </a:xfrm>
          <a:prstGeom prst="rect">
            <a:avLst/>
          </a:prstGeom>
          <a:noFill/>
        </p:spPr>
        <p:txBody>
          <a:bodyPr wrap="square" lIns="0" rIns="0" tIns="0" bIns="0">
            <a:spAutoFit/>
          </a:bodyPr>
          <a:lstStyle/>
          <a:p>
            <a:pPr algn="ctr"/>
            <a:r>
              <a:rPr sz="1800" b="1" i="0" u="none">
                <a:solidFill>
                  <a:srgbClr val="0B2B4E"/>
                </a:solidFill>
                <a:latin typeface="Calibri"/>
              </a:rPr>
              <a:t>Individual Sellers</a:t>
            </a:r>
          </a:p>
        </p:txBody>
      </p:sp>
      <p:cxnSp>
        <p:nvCxnSpPr>
          <p:cNvPr id="9" name="Connector 8"/>
          <p:cNvCxnSpPr/>
          <p:nvPr/>
        </p:nvCxnSpPr>
        <p:spPr>
          <a:xfrm flipV="1">
            <a:off x="1234440" y="1709928"/>
            <a:ext cx="0" cy="329184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34440" y="5001768"/>
            <a:ext cx="414223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86968" y="1417320"/>
            <a:ext cx="548640" cy="274320"/>
          </a:xfrm>
          <a:prstGeom prst="rect">
            <a:avLst/>
          </a:prstGeom>
          <a:noFill/>
        </p:spPr>
        <p:txBody>
          <a:bodyPr wrap="square" lIns="0" rIns="0" tIns="0" bIns="0">
            <a:spAutoFit/>
          </a:bodyPr>
          <a:lstStyle/>
          <a:p>
            <a:pPr algn="ctr"/>
            <a:r>
              <a:rPr sz="1600" b="1" i="1" u="none">
                <a:solidFill>
                  <a:srgbClr val="0B2B4E"/>
                </a:solidFill>
                <a:latin typeface="Calibri"/>
              </a:rPr>
              <a:t>P</a:t>
            </a:r>
          </a:p>
        </p:txBody>
      </p:sp>
      <p:sp>
        <p:nvSpPr>
          <p:cNvPr id="12" name="TextBox 11"/>
          <p:cNvSpPr txBox="1"/>
          <p:nvPr/>
        </p:nvSpPr>
        <p:spPr>
          <a:xfrm>
            <a:off x="5248656" y="5038344"/>
            <a:ext cx="457200" cy="274320"/>
          </a:xfrm>
          <a:prstGeom prst="rect">
            <a:avLst/>
          </a:prstGeom>
          <a:noFill/>
        </p:spPr>
        <p:txBody>
          <a:bodyPr wrap="square" lIns="0" rIns="0" tIns="0" bIns="0">
            <a:spAutoFit/>
          </a:bodyPr>
          <a:lstStyle/>
          <a:p>
            <a:pPr algn="l"/>
            <a:r>
              <a:rPr sz="1600" b="1" i="1" u="none">
                <a:solidFill>
                  <a:srgbClr val="0B2B4E"/>
                </a:solidFill>
                <a:latin typeface="Calibri"/>
              </a:rPr>
              <a:t>q</a:t>
            </a:r>
          </a:p>
        </p:txBody>
      </p:sp>
      <p:cxnSp>
        <p:nvCxnSpPr>
          <p:cNvPr id="13" name="Connector 12"/>
          <p:cNvCxnSpPr/>
          <p:nvPr/>
        </p:nvCxnSpPr>
        <p:spPr>
          <a:xfrm flipV="1">
            <a:off x="2267712" y="2404872"/>
            <a:ext cx="2304288" cy="2532888"/>
          </a:xfrm>
          <a:prstGeom prst="line">
            <a:avLst/>
          </a:prstGeom>
          <a:ln w="28575">
            <a:solidFill>
              <a:srgbClr val="1B5E2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97680" y="2084831"/>
            <a:ext cx="777240" cy="274320"/>
          </a:xfrm>
          <a:prstGeom prst="rect">
            <a:avLst/>
          </a:prstGeom>
          <a:noFill/>
        </p:spPr>
        <p:txBody>
          <a:bodyPr wrap="square" lIns="0" rIns="0" tIns="0" bIns="0">
            <a:spAutoFit/>
          </a:bodyPr>
          <a:lstStyle/>
          <a:p>
            <a:pPr algn="l"/>
            <a:r>
              <a:rPr sz="1500" b="1" i="0" u="none">
                <a:solidFill>
                  <a:srgbClr val="1B5E20"/>
                </a:solidFill>
                <a:latin typeface="Calibri"/>
              </a:rPr>
              <a:t>LMC</a:t>
            </a:r>
          </a:p>
        </p:txBody>
      </p:sp>
      <p:sp>
        <p:nvSpPr>
          <p:cNvPr id="9001" name="BezierCurve9001"/>
          <p:cNvSpPr/>
          <p:nvPr/>
        </p:nvSpPr>
        <p:spPr>
          <a:xfrm>
            <a:off x="1847088" y="2898648"/>
            <a:ext cx="3310128" cy="969264"/>
          </a:xfrm>
          <a:custGeom>
            <a:avLst/>
            <a:gdLst/>
            <a:ahLst/>
            <a:cxnLst/>
            <a:rect l="0" t="0" r="3310128" b="969264"/>
            <a:pathLst>
              <a:path w="3310128" h="969264" fill="none">
                <a:moveTo>
                  <a:pt x="0" y="73152"/>
                </a:moveTo>
                <a:cubicBezTo>
                  <a:pt x="438912" y="667512"/>
                  <a:pt x="804672" y="969264"/>
                  <a:pt x="1444752" y="969264"/>
                </a:cubicBezTo>
                <a:cubicBezTo>
                  <a:pt x="2267712" y="969264"/>
                  <a:pt x="2816352" y="484632"/>
                  <a:pt x="3310128" y="0"/>
                </a:cubicBezTo>
              </a:path>
            </a:pathLst>
          </a:custGeom>
          <a:noFill/>
          <a:ln w="28575" cap="rnd">
            <a:solidFill>
              <a:srgbClr val="E09F3E"/>
            </a:solidFill>
            <a:round/>
          </a:ln>
        </p:spPr>
        <p:txBody>
          <a:bodyPr/>
          <a:lstStyle/>
          <a:p>
            <a:endParaRPr lang="en-US"/>
          </a:p>
        </p:txBody>
      </p:sp>
      <p:sp>
        <p:nvSpPr>
          <p:cNvPr id="9002" name="TextBox 9001"/>
          <p:cNvSpPr txBox="1"/>
          <p:nvPr/>
        </p:nvSpPr>
        <p:spPr>
          <a:xfrm>
            <a:off x="5175504" y="2660904"/>
            <a:ext cx="777240" cy="274320"/>
          </a:xfrm>
          <a:prstGeom prst="rect">
            <a:avLst/>
          </a:prstGeom>
          <a:noFill/>
        </p:spPr>
        <p:txBody>
          <a:bodyPr wrap="square" lIns="0" rIns="0" tIns="0" bIns="0">
            <a:spAutoFit/>
          </a:bodyPr>
          <a:lstStyle/>
          <a:p>
            <a:pPr algn="l"/>
            <a:r>
              <a:rPr sz="1400" b="1" i="0" u="none">
                <a:solidFill>
                  <a:srgbClr val="E09F3E"/>
                </a:solidFill>
                <a:latin typeface="Calibri"/>
              </a:rPr>
              <a:t>LAC</a:t>
            </a:r>
          </a:p>
        </p:txBody>
      </p:sp>
      <p:grpSp>
        <p:nvGrpSpPr>
          <p:cNvPr id="9005" name="PCartelLine 9005"/>
          <p:cNvGrpSpPr/>
          <p:nvPr/>
        </p:nvGrpSpPr>
        <p:grpSpPr>
          <a:xfrm>
            <a:off x="274320" y="2880360"/>
            <a:ext cx="4818888" cy="292608"/>
            <a:chOff x="274320" y="2880360"/>
            <a:chExt cx="4818888" cy="292608"/>
          </a:xfrm>
        </p:grpSpPr>
        <p:cxnSp>
          <p:nvCxnSpPr>
            <p:cNvPr id="9003" name="Connector 9002"/>
            <p:cNvCxnSpPr/>
            <p:nvPr/>
          </p:nvCxnSpPr>
          <p:spPr>
            <a:xfrm>
              <a:off x="1234440" y="3026664"/>
              <a:ext cx="3858768" cy="0"/>
            </a:xfrm>
            <a:prstGeom prst="line">
              <a:avLst/>
            </a:prstGeom>
            <a:ln w="25400">
              <a:solidFill>
                <a:srgbClr val="C00000"/>
              </a:solidFill>
            </a:ln>
          </p:spPr>
          <p:style>
            <a:lnRef idx="2">
              <a:schemeClr val="accent1"/>
            </a:lnRef>
            <a:fillRef idx="0">
              <a:schemeClr val="accent1"/>
            </a:fillRef>
            <a:effectRef idx="1">
              <a:schemeClr val="accent1"/>
            </a:effectRef>
            <a:fontRef idx="minor">
              <a:schemeClr val="tx1"/>
            </a:fontRef>
          </p:style>
        </p:cxnSp>
        <p:sp>
          <p:nvSpPr>
            <p:cNvPr id="9004" name="TextBox 9003"/>
            <p:cNvSpPr txBox="1"/>
            <p:nvPr/>
          </p:nvSpPr>
          <p:spPr>
            <a:xfrm>
              <a:off x="274320" y="2880360"/>
              <a:ext cx="896112" cy="292608"/>
            </a:xfrm>
            <a:prstGeom prst="rect">
              <a:avLst/>
            </a:prstGeom>
            <a:noFill/>
          </p:spPr>
          <p:txBody>
            <a:bodyPr wrap="square" anchor="ctr">
              <a:spAutoFit/>
            </a:bodyPr>
            <a:lstStyle/>
            <a:p xmlns:m="http://schemas.openxmlformats.org/officeDocument/2006/math" xmlns:a14="http://schemas.microsoft.com/office/drawing/2010/main">
              <a:pPr algn="ctr">
                <a:defRPr sz="1300" b="0" i="1">
                  <a:solidFill>
                    <a:srgbClr val="C00000"/>
                  </a:solidFill>
                  <a:latin typeface="Cambria Math"/>
                </a:defRPr>
              </a:pPr>
              <a14:m>
                <m:oMathPara>
                  <m:oMathParaPr>
                    <m:jc m:val="centerGroup"/>
                  </m:oMathParaPr>
                  <m:oMath>
                    <m:sSub>
                      <m:sSubPr>
                        <m:ctrlPr>
                          <a:rPr lang="en-US" i="1">
                            <a:latin typeface="Cambria Math"/>
                          </a:rPr>
                        </m:ctrlPr>
                      </m:sSubPr>
                      <m:e>
                        <m:r>
                          <a:rPr lang="en-US" b="0" i="1" sz="1300">
                            <a:solidFill>
                              <a:srgbClr val="C00000"/>
                            </a:solidFill>
                            <a:latin typeface="Cambria Math"/>
                            <a:ea typeface="Cambria Math"/>
                          </a:rPr>
                          <m:t>P</m:t>
                        </m:r>
                      </m:e>
                      <m:sub>
                        <m:r>
                          <m:rPr>
                            <m:sty m:val="p"/>
                          </m:rPr>
                          <a:rPr lang="en-US" b="0" i="0" sz="1300">
                            <a:solidFill>
                              <a:srgbClr val="C00000"/>
                            </a:solidFill>
                            <a:latin typeface="Cambria Math"/>
                          </a:rPr>
                          <m:t xml:space="preserve">Cartel</m:t>
                        </m:r>
                      </m:sub>
                    </m:sSub>
                  </m:oMath>
                </m:oMathPara>
              </a14:m>
              <a:endParaRPr lang="en-US" sz="1300"/>
            </a:p>
          </p:txBody>
        </p:sp>
      </p:grpSp>
      <p:grpSp>
        <p:nvGrpSpPr>
          <p:cNvPr id="9009" name="PCompLine 9009"/>
          <p:cNvGrpSpPr/>
          <p:nvPr/>
        </p:nvGrpSpPr>
        <p:grpSpPr>
          <a:xfrm>
            <a:off x="274320" y="3739896"/>
            <a:ext cx="5202936" cy="310896"/>
            <a:chOff x="274320" y="3739896"/>
            <a:chExt cx="5202936" cy="310896"/>
          </a:xfrm>
        </p:grpSpPr>
        <p:cxnSp>
          <p:nvCxnSpPr>
            <p:cNvPr id="9006" name="Connector 9005"/>
            <p:cNvCxnSpPr/>
            <p:nvPr/>
          </p:nvCxnSpPr>
          <p:spPr>
            <a:xfrm>
              <a:off x="1234440" y="3886200"/>
              <a:ext cx="3858768" cy="0"/>
            </a:xfrm>
            <a:prstGeom prst="line">
              <a:avLst/>
            </a:prstGeom>
            <a:ln w="19050">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9007" name="TextBox 9006"/>
            <p:cNvSpPr txBox="1"/>
            <p:nvPr/>
          </p:nvSpPr>
          <p:spPr>
            <a:xfrm>
              <a:off x="5111496" y="3776472"/>
              <a:ext cx="365760" cy="274320"/>
            </a:xfrm>
            <a:prstGeom prst="rect">
              <a:avLst/>
            </a:prstGeom>
            <a:noFill/>
          </p:spPr>
          <p:txBody>
            <a:bodyPr wrap="square" lIns="0" rIns="0" tIns="0" bIns="0">
              <a:spAutoFit/>
            </a:bodyPr>
            <a:lstStyle/>
            <a:p>
              <a:pPr algn="l"/>
              <a:r>
                <a:rPr sz="1500" b="1" i="1" u="none">
                  <a:solidFill>
                    <a:srgbClr val="C00000"/>
                  </a:solidFill>
                  <a:latin typeface="Calibri"/>
                </a:rPr>
                <a:t>d</a:t>
              </a:r>
            </a:p>
          </p:txBody>
        </p:sp>
        <p:sp>
          <p:nvSpPr>
            <p:cNvPr id="9008" name="TextBox 9007"/>
            <p:cNvSpPr txBox="1"/>
            <p:nvPr/>
          </p:nvSpPr>
          <p:spPr>
            <a:xfrm>
              <a:off x="274320" y="3739896"/>
              <a:ext cx="896112" cy="292608"/>
            </a:xfrm>
            <a:prstGeom prst="rect">
              <a:avLst/>
            </a:prstGeom>
            <a:noFill/>
          </p:spPr>
          <p:txBody>
            <a:bodyPr wrap="square" anchor="ctr">
              <a:spAutoFit/>
            </a:bodyPr>
            <a:lstStyle/>
            <a:p xmlns:m="http://schemas.openxmlformats.org/officeDocument/2006/math" xmlns:a14="http://schemas.microsoft.com/office/drawing/2010/main">
              <a:pPr algn="ctr">
                <a:defRPr sz="1300" b="0" i="1">
                  <a:solidFill>
                    <a:srgbClr val="C00000"/>
                  </a:solidFill>
                  <a:latin typeface="Cambria Math"/>
                </a:defRPr>
              </a:pPr>
              <a14:m>
                <m:oMathPara>
                  <m:oMathParaPr>
                    <m:jc m:val="centerGroup"/>
                  </m:oMathParaPr>
                  <m:oMath>
                    <m:sSub>
                      <m:sSubPr>
                        <m:ctrlPr>
                          <a:rPr lang="en-US" i="1">
                            <a:latin typeface="Cambria Math"/>
                          </a:rPr>
                        </m:ctrlPr>
                      </m:sSubPr>
                      <m:e>
                        <m:r>
                          <a:rPr lang="en-US" b="0" i="1" sz="1300">
                            <a:solidFill>
                              <a:srgbClr val="C00000"/>
                            </a:solidFill>
                            <a:latin typeface="Cambria Math"/>
                            <a:ea typeface="Cambria Math"/>
                          </a:rPr>
                          <m:t>P</m:t>
                        </m:r>
                      </m:e>
                      <m:sub>
                        <m:r>
                          <m:rPr>
                            <m:sty m:val="p"/>
                          </m:rPr>
                          <a:rPr lang="en-US" b="0" i="0" sz="1300">
                            <a:solidFill>
                              <a:srgbClr val="C00000"/>
                            </a:solidFill>
                            <a:latin typeface="Cambria Math"/>
                          </a:rPr>
                          <m:t xml:space="preserve">Comp</m:t>
                        </m:r>
                      </m:sub>
                    </m:sSub>
                  </m:oMath>
                </m:oMathPara>
              </a14:m>
              <a:endParaRPr lang="en-US" sz="1300"/>
            </a:p>
          </p:txBody>
        </p:sp>
      </p:grpSp>
      <p:grpSp>
        <p:nvGrpSpPr>
          <p:cNvPr id="9012" name="QCartelGuide 9012"/>
          <p:cNvGrpSpPr/>
          <p:nvPr/>
        </p:nvGrpSpPr>
        <p:grpSpPr>
          <a:xfrm>
            <a:off x="2121408" y="3026664"/>
            <a:ext cx="896112" cy="2313432"/>
            <a:chOff x="2121408" y="3026664"/>
            <a:chExt cx="896112" cy="2313432"/>
          </a:xfrm>
        </p:grpSpPr>
        <p:cxnSp>
          <p:nvCxnSpPr>
            <p:cNvPr id="9010" name="Connector 9009"/>
            <p:cNvCxnSpPr/>
            <p:nvPr/>
          </p:nvCxnSpPr>
          <p:spPr>
            <a:xfrm>
              <a:off x="2505456" y="3026664"/>
              <a:ext cx="0" cy="1965960"/>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9011" name="TextBox 9010"/>
            <p:cNvSpPr txBox="1"/>
            <p:nvPr/>
          </p:nvSpPr>
          <p:spPr>
            <a:xfrm>
              <a:off x="2121408" y="5047488"/>
              <a:ext cx="896112" cy="292608"/>
            </a:xfrm>
            <a:prstGeom prst="rect">
              <a:avLst/>
            </a:prstGeom>
            <a:noFill/>
          </p:spPr>
          <p:txBody>
            <a:bodyPr wrap="square" anchor="ctr">
              <a:spAutoFit/>
            </a:bodyPr>
            <a:lstStyle/>
            <a:p xmlns:m="http://schemas.openxmlformats.org/officeDocument/2006/math" xmlns:a14="http://schemas.microsoft.com/office/drawing/2010/main">
              <a:pPr algn="ctr">
                <a:defRPr sz="1300" b="0" i="1">
                  <a:solidFill>
                    <a:srgbClr val="0B2B4E"/>
                  </a:solidFill>
                  <a:latin typeface="Cambria Math"/>
                </a:defRPr>
              </a:pPr>
              <a14:m>
                <m:oMathPara>
                  <m:oMathParaPr>
                    <m:jc m:val="centerGroup"/>
                  </m:oMathParaPr>
                  <m:oMath>
                    <m:sSub>
                      <m:sSubPr>
                        <m:ctrlPr>
                          <a:rPr lang="en-US" i="1">
                            <a:latin typeface="Cambria Math"/>
                          </a:rPr>
                        </m:ctrlPr>
                      </m:sSubPr>
                      <m:e>
                        <m:r>
                          <a:rPr lang="en-US" b="0" i="1" sz="1300">
                            <a:solidFill>
                              <a:srgbClr val="0B2B4E"/>
                            </a:solidFill>
                            <a:latin typeface="Cambria Math"/>
                            <a:ea typeface="Cambria Math"/>
                          </a:rPr>
                          <m:t>q</m:t>
                        </m:r>
                      </m:e>
                      <m:sub>
                        <m:r>
                          <m:rPr>
                            <m:sty m:val="p"/>
                          </m:rPr>
                          <a:rPr lang="en-US" b="0" i="0" sz="1300">
                            <a:solidFill>
                              <a:srgbClr val="0B2B4E"/>
                            </a:solidFill>
                            <a:latin typeface="Cambria Math"/>
                          </a:rPr>
                          <m:t xml:space="preserve">Cartel</m:t>
                        </m:r>
                      </m:sub>
                    </m:sSub>
                  </m:oMath>
                </m:oMathPara>
              </a14:m>
              <a:endParaRPr lang="en-US" sz="1300"/>
            </a:p>
          </p:txBody>
        </p:sp>
      </p:grpSp>
      <p:grpSp>
        <p:nvGrpSpPr>
          <p:cNvPr id="9015" name="QDevGuide 9015"/>
          <p:cNvGrpSpPr/>
          <p:nvPr/>
        </p:nvGrpSpPr>
        <p:grpSpPr>
          <a:xfrm>
            <a:off x="3611880" y="3026664"/>
            <a:ext cx="896112" cy="2313432"/>
            <a:chOff x="3611880" y="3026664"/>
            <a:chExt cx="896112" cy="2313432"/>
          </a:xfrm>
        </p:grpSpPr>
        <p:cxnSp>
          <p:nvCxnSpPr>
            <p:cNvPr id="9013" name="Connector 9012"/>
            <p:cNvCxnSpPr/>
            <p:nvPr/>
          </p:nvCxnSpPr>
          <p:spPr>
            <a:xfrm>
              <a:off x="3995928" y="3026664"/>
              <a:ext cx="0" cy="1965960"/>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9014" name="TextBox 9013"/>
            <p:cNvSpPr txBox="1"/>
            <p:nvPr/>
          </p:nvSpPr>
          <p:spPr>
            <a:xfrm>
              <a:off x="3611880" y="5047488"/>
              <a:ext cx="896112" cy="292608"/>
            </a:xfrm>
            <a:prstGeom prst="rect">
              <a:avLst/>
            </a:prstGeom>
            <a:noFill/>
          </p:spPr>
          <p:txBody>
            <a:bodyPr wrap="square" anchor="ctr">
              <a:spAutoFit/>
            </a:bodyPr>
            <a:lstStyle/>
            <a:p xmlns:m="http://schemas.openxmlformats.org/officeDocument/2006/math" xmlns:a14="http://schemas.microsoft.com/office/drawing/2010/main">
              <a:pPr algn="ctr">
                <a:defRPr sz="1300" b="0" i="1">
                  <a:solidFill>
                    <a:srgbClr val="0B2B4E"/>
                  </a:solidFill>
                  <a:latin typeface="Cambria Math"/>
                </a:defRPr>
              </a:pPr>
              <a14:m>
                <m:oMathPara>
                  <m:oMathParaPr>
                    <m:jc m:val="centerGroup"/>
                  </m:oMathParaPr>
                  <m:oMath>
                    <m:sSub>
                      <m:sSubPr>
                        <m:ctrlPr>
                          <a:rPr lang="en-US" i="1">
                            <a:latin typeface="Cambria Math"/>
                          </a:rPr>
                        </m:ctrlPr>
                      </m:sSubPr>
                      <m:e>
                        <m:r>
                          <a:rPr lang="en-US" b="0" i="1" sz="1300">
                            <a:solidFill>
                              <a:srgbClr val="0B2B4E"/>
                            </a:solidFill>
                            <a:latin typeface="Cambria Math"/>
                            <a:ea typeface="Cambria Math"/>
                          </a:rPr>
                          <m:t>q</m:t>
                        </m:r>
                      </m:e>
                      <m:sub>
                        <m:r>
                          <m:rPr>
                            <m:sty m:val="p"/>
                          </m:rPr>
                          <a:rPr lang="en-US" b="0" i="0" sz="1300">
                            <a:solidFill>
                              <a:srgbClr val="0B2B4E"/>
                            </a:solidFill>
                            <a:latin typeface="Cambria Math"/>
                          </a:rPr>
                          <m:t xml:space="preserve">Dev</m:t>
                        </m:r>
                      </m:sub>
                    </m:sSub>
                  </m:oMath>
                </m:oMathPara>
              </a14:m>
              <a:endParaRPr lang="en-US" sz="1300"/>
            </a:p>
          </p:txBody>
        </p:sp>
      </p:grpSp>
      <p:grpSp>
        <p:nvGrpSpPr>
          <p:cNvPr id="9019" name="ProfitRegion 9019"/>
          <p:cNvGrpSpPr/>
          <p:nvPr/>
        </p:nvGrpSpPr>
        <p:grpSpPr>
          <a:xfrm>
            <a:off x="950976" y="2368296"/>
            <a:ext cx="1554480" cy="1252728"/>
            <a:chOff x="950976" y="2368296"/>
            <a:chExt cx="1554480" cy="1252728"/>
          </a:xfrm>
        </p:grpSpPr>
        <p:sp>
          <p:nvSpPr>
            <p:cNvPr id="9016" name="Rectangle 9015"/>
            <p:cNvSpPr/>
            <p:nvPr/>
          </p:nvSpPr>
          <p:spPr>
            <a:xfrm>
              <a:off x="1234440" y="3026664"/>
              <a:ext cx="1271016" cy="594360"/>
            </a:xfrm>
            <a:prstGeom prst="rect">
              <a:avLst/>
            </a:prstGeom>
            <a:solidFill>
              <a:srgbClr val="F6E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7" name="TextBox 9016"/>
            <p:cNvSpPr txBox="1"/>
            <p:nvPr/>
          </p:nvSpPr>
          <p:spPr>
            <a:xfrm>
              <a:off x="950976" y="2368296"/>
              <a:ext cx="1371600" cy="502920"/>
            </a:xfrm>
            <a:prstGeom prst="rect">
              <a:avLst/>
            </a:prstGeom>
            <a:noFill/>
          </p:spPr>
          <p:txBody>
            <a:bodyPr wrap="square" lIns="0" rIns="0" tIns="0" bIns="0">
              <a:spAutoFit/>
            </a:bodyPr>
            <a:lstStyle/>
            <a:p>
              <a:pPr algn="ctr"/>
              <a:r>
                <a:rPr sz="1200" b="1" i="0" u="none">
                  <a:solidFill>
                    <a:srgbClr val="B8860B"/>
                  </a:solidFill>
                  <a:latin typeface="Calibri"/>
                </a:rPr>
                <a:t>Profit
with cartel</a:t>
              </a:r>
            </a:p>
          </p:txBody>
        </p:sp>
        <p:cxnSp>
          <p:nvCxnSpPr>
            <p:cNvPr id="9018" name="Connector 9017"/>
            <p:cNvCxnSpPr/>
            <p:nvPr/>
          </p:nvCxnSpPr>
          <p:spPr>
            <a:xfrm>
              <a:off x="1581912" y="2761488"/>
              <a:ext cx="82296" cy="530352"/>
            </a:xfrm>
            <a:prstGeom prst="line">
              <a:avLst/>
            </a:prstGeom>
            <a:ln w="12700">
              <a:solidFill>
                <a:srgbClr val="B8860B"/>
              </a:solidFill>
              <a:tailEnd type="triangle" w="sm" h="sm"/>
            </a:ln>
          </p:spPr>
          <p:style>
            <a:lnRef idx="2">
              <a:schemeClr val="accent1"/>
            </a:lnRef>
            <a:fillRef idx="0">
              <a:schemeClr val="accent1"/>
            </a:fillRef>
            <a:effectRef idx="1">
              <a:schemeClr val="accent1"/>
            </a:effectRef>
            <a:fontRef idx="minor">
              <a:schemeClr val="tx1"/>
            </a:fontRef>
          </p:style>
        </p:cxnSp>
      </p:grpSp>
      <p:grpSp>
        <p:nvGrpSpPr>
          <p:cNvPr id="9023" name="ExtraProfitRegion 9023"/>
          <p:cNvGrpSpPr/>
          <p:nvPr/>
        </p:nvGrpSpPr>
        <p:grpSpPr>
          <a:xfrm>
            <a:off x="2286000" y="2432304"/>
            <a:ext cx="1737360" cy="1307592"/>
            <a:chOff x="2286000" y="2432304"/>
            <a:chExt cx="1737360" cy="1307592"/>
          </a:xfrm>
        </p:grpSpPr>
        <p:sp>
          <p:nvSpPr>
            <p:cNvPr id="9020" name="Rectangle 9019"/>
            <p:cNvSpPr/>
            <p:nvPr/>
          </p:nvSpPr>
          <p:spPr>
            <a:xfrm>
              <a:off x="2505456" y="3026664"/>
              <a:ext cx="1490472" cy="713232"/>
            </a:xfrm>
            <a:prstGeom prst="rect">
              <a:avLst/>
            </a:prstGeom>
            <a:solidFill>
              <a:srgbClr val="C6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1" name="TextBox 9020"/>
            <p:cNvSpPr txBox="1"/>
            <p:nvPr/>
          </p:nvSpPr>
          <p:spPr>
            <a:xfrm>
              <a:off x="2286000" y="2432304"/>
              <a:ext cx="1737360" cy="502920"/>
            </a:xfrm>
            <a:prstGeom prst="rect">
              <a:avLst/>
            </a:prstGeom>
            <a:noFill/>
          </p:spPr>
          <p:txBody>
            <a:bodyPr wrap="square" lIns="0" rIns="0" tIns="0" bIns="0">
              <a:spAutoFit/>
            </a:bodyPr>
            <a:lstStyle/>
            <a:p>
              <a:pPr algn="ctr"/>
              <a:r>
                <a:rPr sz="1200" b="1" i="0" u="none">
                  <a:solidFill>
                    <a:srgbClr val="1B5E20"/>
                  </a:solidFill>
                  <a:latin typeface="Calibri"/>
                </a:rPr>
                <a:t>Extra Profit
when deviating</a:t>
              </a:r>
            </a:p>
          </p:txBody>
        </p:sp>
        <p:cxnSp>
          <p:nvCxnSpPr>
            <p:cNvPr id="9022" name="Connector 9021"/>
            <p:cNvCxnSpPr/>
            <p:nvPr/>
          </p:nvCxnSpPr>
          <p:spPr>
            <a:xfrm>
              <a:off x="3054096" y="2852928"/>
              <a:ext cx="155448" cy="530352"/>
            </a:xfrm>
            <a:prstGeom prst="line">
              <a:avLst/>
            </a:prstGeom>
            <a:ln w="12700">
              <a:solidFill>
                <a:srgbClr val="1B5E20"/>
              </a:solidFill>
              <a:tailEnd type="triangle" w="sm" h="sm"/>
            </a:ln>
          </p:spPr>
          <p:style>
            <a:lnRef idx="2">
              <a:schemeClr val="accent1"/>
            </a:lnRef>
            <a:fillRef idx="0">
              <a:schemeClr val="accent1"/>
            </a:fillRef>
            <a:effectRef idx="1">
              <a:schemeClr val="accent1"/>
            </a:effectRef>
            <a:fontRef idx="minor">
              <a:schemeClr val="tx1"/>
            </a:fontRef>
          </p:style>
        </p:cxnSp>
      </p:grpSp>
      <p:grpSp>
        <p:nvGrpSpPr>
          <p:cNvPr id="9028" name="QCompZero 9028"/>
          <p:cNvGrpSpPr/>
          <p:nvPr/>
        </p:nvGrpSpPr>
        <p:grpSpPr>
          <a:xfrm>
            <a:off x="2834640" y="3886200"/>
            <a:ext cx="2011680" cy="1453896"/>
            <a:chOff x="2834640" y="3886200"/>
            <a:chExt cx="2011680" cy="1453896"/>
          </a:xfrm>
        </p:grpSpPr>
        <p:cxnSp>
          <p:nvCxnSpPr>
            <p:cNvPr id="9024" name="Connector 9023"/>
            <p:cNvCxnSpPr/>
            <p:nvPr/>
          </p:nvCxnSpPr>
          <p:spPr>
            <a:xfrm>
              <a:off x="3218688" y="3886200"/>
              <a:ext cx="0" cy="1106424"/>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9025" name="TextBox 9024"/>
            <p:cNvSpPr txBox="1"/>
            <p:nvPr/>
          </p:nvSpPr>
          <p:spPr>
            <a:xfrm>
              <a:off x="2834640" y="5047488"/>
              <a:ext cx="896112" cy="292608"/>
            </a:xfrm>
            <a:prstGeom prst="rect">
              <a:avLst/>
            </a:prstGeom>
            <a:noFill/>
          </p:spPr>
          <p:txBody>
            <a:bodyPr wrap="square" anchor="ctr">
              <a:spAutoFit/>
            </a:bodyPr>
            <a:lstStyle/>
            <a:p xmlns:m="http://schemas.openxmlformats.org/officeDocument/2006/math" xmlns:a14="http://schemas.microsoft.com/office/drawing/2010/main">
              <a:pPr algn="ctr">
                <a:defRPr sz="1300" b="0" i="1">
                  <a:solidFill>
                    <a:srgbClr val="0B2B4E"/>
                  </a:solidFill>
                  <a:latin typeface="Cambria Math"/>
                </a:defRPr>
              </a:pPr>
              <a14:m>
                <m:oMathPara>
                  <m:oMathParaPr>
                    <m:jc m:val="centerGroup"/>
                  </m:oMathParaPr>
                  <m:oMath>
                    <m:sSub>
                      <m:sSubPr>
                        <m:ctrlPr>
                          <a:rPr lang="en-US" i="1">
                            <a:latin typeface="Cambria Math"/>
                          </a:rPr>
                        </m:ctrlPr>
                      </m:sSubPr>
                      <m:e>
                        <m:r>
                          <a:rPr lang="en-US" b="0" i="1" sz="1300">
                            <a:solidFill>
                              <a:srgbClr val="0B2B4E"/>
                            </a:solidFill>
                            <a:latin typeface="Cambria Math"/>
                            <a:ea typeface="Cambria Math"/>
                          </a:rPr>
                          <m:t>q</m:t>
                        </m:r>
                      </m:e>
                      <m:sub>
                        <m:r>
                          <m:rPr>
                            <m:sty m:val="p"/>
                          </m:rPr>
                          <a:rPr lang="en-US" b="0" i="0" sz="1300">
                            <a:solidFill>
                              <a:srgbClr val="0B2B4E"/>
                            </a:solidFill>
                            <a:latin typeface="Cambria Math"/>
                          </a:rPr>
                          <m:t xml:space="preserve">Comp</m:t>
                        </m:r>
                      </m:sub>
                    </m:sSub>
                  </m:oMath>
                </m:oMathPara>
              </a14:m>
              <a:endParaRPr lang="en-US" sz="1300"/>
            </a:p>
          </p:txBody>
        </p:sp>
        <p:sp>
          <p:nvSpPr>
            <p:cNvPr id="9026" name="TextBox 9025"/>
            <p:cNvSpPr txBox="1"/>
            <p:nvPr/>
          </p:nvSpPr>
          <p:spPr>
            <a:xfrm>
              <a:off x="3108960" y="4315968"/>
              <a:ext cx="1737360" cy="502920"/>
            </a:xfrm>
            <a:prstGeom prst="rect">
              <a:avLst/>
            </a:prstGeom>
            <a:noFill/>
          </p:spPr>
          <p:txBody>
            <a:bodyPr wrap="square" lIns="0" rIns="0" tIns="0" bIns="0">
              <a:spAutoFit/>
            </a:bodyPr>
            <a:lstStyle/>
            <a:p>
              <a:pPr algn="ctr"/>
              <a:r>
                <a:rPr sz="1200" b="1" i="0" u="none">
                  <a:solidFill>
                    <a:srgbClr val="C00000"/>
                  </a:solidFill>
                  <a:latin typeface="Calibri"/>
                </a:rPr>
                <a:t>Zero profit
under competition</a:t>
              </a:r>
            </a:p>
          </p:txBody>
        </p:sp>
        <p:cxnSp>
          <p:nvCxnSpPr>
            <p:cNvPr id="9027" name="Connector 9026"/>
            <p:cNvCxnSpPr/>
            <p:nvPr/>
          </p:nvCxnSpPr>
          <p:spPr>
            <a:xfrm flipH="1" flipV="1">
              <a:off x="3282696" y="3968496"/>
              <a:ext cx="274320" cy="502920"/>
            </a:xfrm>
            <a:prstGeom prst="line">
              <a:avLst/>
            </a:prstGeom>
            <a:ln w="12700">
              <a:solidFill>
                <a:srgbClr val="C00000"/>
              </a:solidFill>
              <a:tailEnd type="triangle" w="sm" h="sm"/>
            </a:ln>
          </p:spPr>
          <p:style>
            <a:lnRef idx="2">
              <a:schemeClr val="accent1"/>
            </a:lnRef>
            <a:fillRef idx="0">
              <a:schemeClr val="accent1"/>
            </a:fillRef>
            <a:effectRef idx="1">
              <a:schemeClr val="accent1"/>
            </a:effectRef>
            <a:fontRef idx="minor">
              <a:schemeClr val="tx1"/>
            </a:fontRef>
          </p:style>
        </p:cxnSp>
      </p:grpSp>
      <p:sp>
        <p:nvSpPr>
          <p:cNvPr id="9029" name="TextBox 9028"/>
          <p:cNvSpPr txBox="1"/>
          <p:nvPr/>
        </p:nvSpPr>
        <p:spPr>
          <a:xfrm>
            <a:off x="7141464" y="1417320"/>
            <a:ext cx="4160520" cy="320040"/>
          </a:xfrm>
          <a:prstGeom prst="rect">
            <a:avLst/>
          </a:prstGeom>
          <a:noFill/>
        </p:spPr>
        <p:txBody>
          <a:bodyPr wrap="square" lIns="0" rIns="0" tIns="0" bIns="0">
            <a:spAutoFit/>
          </a:bodyPr>
          <a:lstStyle/>
          <a:p>
            <a:pPr algn="ctr"/>
            <a:r>
              <a:rPr sz="1800" b="1" i="0" u="none">
                <a:solidFill>
                  <a:srgbClr val="0B2B4E"/>
                </a:solidFill>
                <a:latin typeface="Calibri"/>
              </a:rPr>
              <a:t>Group/Industry</a:t>
            </a:r>
          </a:p>
        </p:txBody>
      </p:sp>
      <p:cxnSp>
        <p:nvCxnSpPr>
          <p:cNvPr id="9030" name="Connector 9029"/>
          <p:cNvCxnSpPr/>
          <p:nvPr/>
        </p:nvCxnSpPr>
        <p:spPr>
          <a:xfrm flipV="1">
            <a:off x="7086600" y="1709928"/>
            <a:ext cx="0" cy="329184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9031" name="Connector 9030"/>
          <p:cNvCxnSpPr/>
          <p:nvPr/>
        </p:nvCxnSpPr>
        <p:spPr>
          <a:xfrm>
            <a:off x="7086600" y="5001768"/>
            <a:ext cx="414223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032" name="TextBox 9031"/>
          <p:cNvSpPr txBox="1"/>
          <p:nvPr/>
        </p:nvSpPr>
        <p:spPr>
          <a:xfrm>
            <a:off x="6739128" y="1417320"/>
            <a:ext cx="548640" cy="274320"/>
          </a:xfrm>
          <a:prstGeom prst="rect">
            <a:avLst/>
          </a:prstGeom>
          <a:noFill/>
        </p:spPr>
        <p:txBody>
          <a:bodyPr wrap="square" lIns="0" rIns="0" tIns="0" bIns="0">
            <a:spAutoFit/>
          </a:bodyPr>
          <a:lstStyle/>
          <a:p>
            <a:pPr algn="ctr"/>
            <a:r>
              <a:rPr sz="1600" b="1" i="1" u="none">
                <a:solidFill>
                  <a:srgbClr val="0B2B4E"/>
                </a:solidFill>
                <a:latin typeface="Calibri"/>
              </a:rPr>
              <a:t>P</a:t>
            </a:r>
          </a:p>
        </p:txBody>
      </p:sp>
      <p:sp>
        <p:nvSpPr>
          <p:cNvPr id="9033" name="TextBox 9032"/>
          <p:cNvSpPr txBox="1"/>
          <p:nvPr/>
        </p:nvSpPr>
        <p:spPr>
          <a:xfrm>
            <a:off x="11100816" y="5038344"/>
            <a:ext cx="457200" cy="274320"/>
          </a:xfrm>
          <a:prstGeom prst="rect">
            <a:avLst/>
          </a:prstGeom>
          <a:noFill/>
        </p:spPr>
        <p:txBody>
          <a:bodyPr wrap="square" lIns="0" rIns="0" tIns="0" bIns="0">
            <a:spAutoFit/>
          </a:bodyPr>
          <a:lstStyle/>
          <a:p>
            <a:pPr algn="l"/>
            <a:r>
              <a:rPr sz="1600" b="1" i="1" u="none">
                <a:solidFill>
                  <a:srgbClr val="0B2B4E"/>
                </a:solidFill>
                <a:latin typeface="Calibri"/>
              </a:rPr>
              <a:t>Q</a:t>
            </a:r>
          </a:p>
        </p:txBody>
      </p:sp>
      <p:cxnSp>
        <p:nvCxnSpPr>
          <p:cNvPr id="9034" name="Connector 9033"/>
          <p:cNvCxnSpPr/>
          <p:nvPr/>
        </p:nvCxnSpPr>
        <p:spPr>
          <a:xfrm>
            <a:off x="7242048" y="2212848"/>
            <a:ext cx="3392424" cy="2624328"/>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sp>
        <p:nvSpPr>
          <p:cNvPr id="9035" name="TextBox 9034"/>
          <p:cNvSpPr txBox="1"/>
          <p:nvPr/>
        </p:nvSpPr>
        <p:spPr>
          <a:xfrm>
            <a:off x="10625328" y="4553712"/>
            <a:ext cx="365760" cy="274320"/>
          </a:xfrm>
          <a:prstGeom prst="rect">
            <a:avLst/>
          </a:prstGeom>
          <a:noFill/>
        </p:spPr>
        <p:txBody>
          <a:bodyPr wrap="square" lIns="0" rIns="0" tIns="0" bIns="0">
            <a:spAutoFit/>
          </a:bodyPr>
          <a:lstStyle/>
          <a:p>
            <a:pPr algn="l"/>
            <a:r>
              <a:rPr sz="1500" b="1" i="0" u="none">
                <a:solidFill>
                  <a:srgbClr val="0B2B4E"/>
                </a:solidFill>
                <a:latin typeface="Calibri"/>
              </a:rPr>
              <a:t>D</a:t>
            </a:r>
          </a:p>
        </p:txBody>
      </p:sp>
      <p:cxnSp>
        <p:nvCxnSpPr>
          <p:cNvPr id="9036" name="Connector 9035"/>
          <p:cNvCxnSpPr/>
          <p:nvPr/>
        </p:nvCxnSpPr>
        <p:spPr>
          <a:xfrm flipV="1">
            <a:off x="7315200" y="3319272"/>
            <a:ext cx="3630168" cy="1490472"/>
          </a:xfrm>
          <a:prstGeom prst="line">
            <a:avLst/>
          </a:prstGeom>
          <a:ln w="31750">
            <a:solidFill>
              <a:srgbClr val="1B5E20"/>
            </a:solidFill>
          </a:ln>
        </p:spPr>
        <p:style>
          <a:lnRef idx="2">
            <a:schemeClr val="accent1"/>
          </a:lnRef>
          <a:fillRef idx="0">
            <a:schemeClr val="accent1"/>
          </a:fillRef>
          <a:effectRef idx="1">
            <a:schemeClr val="accent1"/>
          </a:effectRef>
          <a:fontRef idx="minor">
            <a:schemeClr val="tx1"/>
          </a:fontRef>
        </p:style>
      </p:cxnSp>
      <p:sp>
        <p:nvSpPr>
          <p:cNvPr id="9037" name="TextBox 9036"/>
          <p:cNvSpPr txBox="1"/>
          <p:nvPr/>
        </p:nvSpPr>
        <p:spPr>
          <a:xfrm>
            <a:off x="10972800" y="3035808"/>
            <a:ext cx="365760" cy="274320"/>
          </a:xfrm>
          <a:prstGeom prst="rect">
            <a:avLst/>
          </a:prstGeom>
          <a:noFill/>
        </p:spPr>
        <p:txBody>
          <a:bodyPr wrap="square" lIns="0" rIns="0" tIns="0" bIns="0">
            <a:spAutoFit/>
          </a:bodyPr>
          <a:lstStyle/>
          <a:p>
            <a:pPr algn="l"/>
            <a:r>
              <a:rPr sz="1500" b="1" i="0" u="none">
                <a:solidFill>
                  <a:srgbClr val="1B5E20"/>
                </a:solidFill>
                <a:latin typeface="Calibri"/>
              </a:rPr>
              <a:t>S</a:t>
            </a:r>
          </a:p>
        </p:txBody>
      </p:sp>
      <p:grpSp>
        <p:nvGrpSpPr>
          <p:cNvPr id="9040" name="MRLine 9040"/>
          <p:cNvGrpSpPr/>
          <p:nvPr/>
        </p:nvGrpSpPr>
        <p:grpSpPr>
          <a:xfrm>
            <a:off x="7242048" y="2212848"/>
            <a:ext cx="2112264" cy="2642616"/>
            <a:chOff x="7242048" y="2212848"/>
            <a:chExt cx="2112264" cy="2642616"/>
          </a:xfrm>
        </p:grpSpPr>
        <p:cxnSp>
          <p:nvCxnSpPr>
            <p:cNvPr id="9038" name="Connector 9037"/>
            <p:cNvCxnSpPr/>
            <p:nvPr/>
          </p:nvCxnSpPr>
          <p:spPr>
            <a:xfrm>
              <a:off x="7242048" y="2212848"/>
              <a:ext cx="1453896" cy="2642616"/>
            </a:xfrm>
            <a:prstGeom prst="line">
              <a:avLst/>
            </a:prstGeom>
            <a:ln w="22225">
              <a:solidFill>
                <a:srgbClr val="0B2B4E"/>
              </a:solidFill>
              <a:prstDash val="dash"/>
            </a:ln>
          </p:spPr>
          <p:style>
            <a:lnRef idx="2">
              <a:schemeClr val="accent1"/>
            </a:lnRef>
            <a:fillRef idx="0">
              <a:schemeClr val="accent1"/>
            </a:fillRef>
            <a:effectRef idx="1">
              <a:schemeClr val="accent1"/>
            </a:effectRef>
            <a:fontRef idx="minor">
              <a:schemeClr val="tx1"/>
            </a:fontRef>
          </p:style>
        </p:cxnSp>
        <p:sp>
          <p:nvSpPr>
            <p:cNvPr id="9039" name="TextBox 9038"/>
            <p:cNvSpPr txBox="1"/>
            <p:nvPr/>
          </p:nvSpPr>
          <p:spPr>
            <a:xfrm>
              <a:off x="8714232" y="4581144"/>
              <a:ext cx="640080" cy="274320"/>
            </a:xfrm>
            <a:prstGeom prst="rect">
              <a:avLst/>
            </a:prstGeom>
            <a:noFill/>
          </p:spPr>
          <p:txBody>
            <a:bodyPr wrap="square" lIns="0" rIns="0" tIns="0" bIns="0">
              <a:spAutoFit/>
            </a:bodyPr>
            <a:lstStyle/>
            <a:p>
              <a:pPr algn="l"/>
              <a:r>
                <a:rPr sz="1500" b="1" i="0" u="none">
                  <a:solidFill>
                    <a:srgbClr val="0B2B4E"/>
                  </a:solidFill>
                  <a:latin typeface="Calibri"/>
                </a:rPr>
                <a:t>MR</a:t>
              </a:r>
            </a:p>
          </p:txBody>
        </p:sp>
      </p:grpSp>
      <p:grpSp>
        <p:nvGrpSpPr>
          <p:cNvPr id="9046" name="CartelOutcome 9046"/>
          <p:cNvGrpSpPr/>
          <p:nvPr/>
        </p:nvGrpSpPr>
        <p:grpSpPr>
          <a:xfrm>
            <a:off x="6144768" y="2953512"/>
            <a:ext cx="2743200" cy="2386584"/>
            <a:chOff x="6144768" y="2953512"/>
            <a:chExt cx="2743200" cy="2386584"/>
          </a:xfrm>
        </p:grpSpPr>
        <p:cxnSp>
          <p:nvCxnSpPr>
            <p:cNvPr id="9041" name="Connector 9040"/>
            <p:cNvCxnSpPr/>
            <p:nvPr/>
          </p:nvCxnSpPr>
          <p:spPr>
            <a:xfrm>
              <a:off x="7086600" y="3099816"/>
              <a:ext cx="1316736" cy="0"/>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9042" name="Connector 9041"/>
            <p:cNvCxnSpPr/>
            <p:nvPr/>
          </p:nvCxnSpPr>
          <p:spPr>
            <a:xfrm>
              <a:off x="8403336" y="3026664"/>
              <a:ext cx="0" cy="1965960"/>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9043" name="Oval 9042"/>
            <p:cNvSpPr/>
            <p:nvPr/>
          </p:nvSpPr>
          <p:spPr>
            <a:xfrm>
              <a:off x="8348472" y="3063240"/>
              <a:ext cx="100584" cy="100584"/>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4" name="TextBox 9043"/>
            <p:cNvSpPr txBox="1"/>
            <p:nvPr/>
          </p:nvSpPr>
          <p:spPr>
            <a:xfrm>
              <a:off x="6144768" y="2953512"/>
              <a:ext cx="896112" cy="292608"/>
            </a:xfrm>
            <a:prstGeom prst="rect">
              <a:avLst/>
            </a:prstGeom>
            <a:noFill/>
          </p:spPr>
          <p:txBody>
            <a:bodyPr wrap="square" anchor="ctr">
              <a:spAutoFit/>
            </a:bodyPr>
            <a:lstStyle/>
            <a:p xmlns:m="http://schemas.openxmlformats.org/officeDocument/2006/math" xmlns:a14="http://schemas.microsoft.com/office/drawing/2010/main">
              <a:pPr algn="ctr">
                <a:defRPr sz="1300" b="0" i="1">
                  <a:solidFill>
                    <a:srgbClr val="C00000"/>
                  </a:solidFill>
                  <a:latin typeface="Cambria Math"/>
                </a:defRPr>
              </a:pPr>
              <a14:m>
                <m:oMathPara>
                  <m:oMathParaPr>
                    <m:jc m:val="centerGroup"/>
                  </m:oMathParaPr>
                  <m:oMath>
                    <m:sSub>
                      <m:sSubPr>
                        <m:ctrlPr>
                          <a:rPr lang="en-US" i="1">
                            <a:latin typeface="Cambria Math"/>
                          </a:rPr>
                        </m:ctrlPr>
                      </m:sSubPr>
                      <m:e>
                        <m:r>
                          <a:rPr lang="en-US" b="0" i="1" sz="1300">
                            <a:solidFill>
                              <a:srgbClr val="C00000"/>
                            </a:solidFill>
                            <a:latin typeface="Cambria Math"/>
                            <a:ea typeface="Cambria Math"/>
                          </a:rPr>
                          <m:t>P</m:t>
                        </m:r>
                      </m:e>
                      <m:sub>
                        <m:r>
                          <m:rPr>
                            <m:sty m:val="p"/>
                          </m:rPr>
                          <a:rPr lang="en-US" b="0" i="0" sz="1300">
                            <a:solidFill>
                              <a:srgbClr val="C00000"/>
                            </a:solidFill>
                            <a:latin typeface="Cambria Math"/>
                          </a:rPr>
                          <m:t xml:space="preserve">Cartel</m:t>
                        </m:r>
                      </m:sub>
                    </m:sSub>
                  </m:oMath>
                </m:oMathPara>
              </a14:m>
              <a:endParaRPr lang="en-US" sz="1300"/>
            </a:p>
          </p:txBody>
        </p:sp>
        <p:sp>
          <p:nvSpPr>
            <p:cNvPr id="9045" name="TextBox 9044"/>
            <p:cNvSpPr txBox="1"/>
            <p:nvPr/>
          </p:nvSpPr>
          <p:spPr>
            <a:xfrm>
              <a:off x="7991856" y="5047488"/>
              <a:ext cx="896112" cy="292608"/>
            </a:xfrm>
            <a:prstGeom prst="rect">
              <a:avLst/>
            </a:prstGeom>
            <a:noFill/>
          </p:spPr>
          <p:txBody>
            <a:bodyPr wrap="square" anchor="ctr">
              <a:spAutoFit/>
            </a:bodyPr>
            <a:lstStyle/>
            <a:p xmlns:m="http://schemas.openxmlformats.org/officeDocument/2006/math" xmlns:a14="http://schemas.microsoft.com/office/drawing/2010/main">
              <a:pPr algn="ctr">
                <a:defRPr sz="1300" b="0" i="1">
                  <a:solidFill>
                    <a:srgbClr val="0B2B4E"/>
                  </a:solidFill>
                  <a:latin typeface="Cambria Math"/>
                </a:defRPr>
              </a:pPr>
              <a14:m>
                <m:oMathPara>
                  <m:oMathParaPr>
                    <m:jc m:val="centerGroup"/>
                  </m:oMathParaPr>
                  <m:oMath>
                    <m:sSub>
                      <m:sSubPr>
                        <m:ctrlPr>
                          <a:rPr lang="en-US" i="1">
                            <a:latin typeface="Cambria Math"/>
                          </a:rPr>
                        </m:ctrlPr>
                      </m:sSubPr>
                      <m:e>
                        <m:r>
                          <a:rPr lang="en-US" b="0" i="1" sz="1300">
                            <a:solidFill>
                              <a:srgbClr val="0B2B4E"/>
                            </a:solidFill>
                            <a:latin typeface="Cambria Math"/>
                            <a:ea typeface="Cambria Math"/>
                          </a:rPr>
                          <m:t>Q</m:t>
                        </m:r>
                      </m:e>
                      <m:sub>
                        <m:r>
                          <m:rPr>
                            <m:sty m:val="p"/>
                          </m:rPr>
                          <a:rPr lang="en-US" b="0" i="0" sz="1300">
                            <a:solidFill>
                              <a:srgbClr val="0B2B4E"/>
                            </a:solidFill>
                            <a:latin typeface="Cambria Math"/>
                          </a:rPr>
                          <m:t xml:space="preserve">Cartel</m:t>
                        </m:r>
                      </m:sub>
                    </m:sSub>
                  </m:oMath>
                </m:oMathPara>
              </a14:m>
              <a:endParaRPr lang="en-US" sz="1300"/>
            </a:p>
          </p:txBody>
        </p:sp>
      </p:grpSp>
      <p:grpSp>
        <p:nvGrpSpPr>
          <p:cNvPr id="9052" name="CompOutcome 9052"/>
          <p:cNvGrpSpPr/>
          <p:nvPr/>
        </p:nvGrpSpPr>
        <p:grpSpPr>
          <a:xfrm>
            <a:off x="6144768" y="3785615"/>
            <a:ext cx="3813048" cy="1554481"/>
            <a:chOff x="6144768" y="3785615"/>
            <a:chExt cx="3813048" cy="1554481"/>
          </a:xfrm>
        </p:grpSpPr>
        <p:cxnSp>
          <p:nvCxnSpPr>
            <p:cNvPr id="9047" name="Connector 9046"/>
            <p:cNvCxnSpPr/>
            <p:nvPr/>
          </p:nvCxnSpPr>
          <p:spPr>
            <a:xfrm>
              <a:off x="7086600" y="3931920"/>
              <a:ext cx="2414016" cy="0"/>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9048" name="Connector 9047"/>
            <p:cNvCxnSpPr/>
            <p:nvPr/>
          </p:nvCxnSpPr>
          <p:spPr>
            <a:xfrm>
              <a:off x="9473184" y="3968496"/>
              <a:ext cx="0" cy="1024128"/>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9049" name="Oval 9048"/>
            <p:cNvSpPr/>
            <p:nvPr/>
          </p:nvSpPr>
          <p:spPr>
            <a:xfrm>
              <a:off x="9427464" y="3867912"/>
              <a:ext cx="100584" cy="100584"/>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0" name="TextBox 9049"/>
            <p:cNvSpPr txBox="1"/>
            <p:nvPr/>
          </p:nvSpPr>
          <p:spPr>
            <a:xfrm>
              <a:off x="6144768" y="3785615"/>
              <a:ext cx="896112" cy="292608"/>
            </a:xfrm>
            <a:prstGeom prst="rect">
              <a:avLst/>
            </a:prstGeom>
            <a:noFill/>
          </p:spPr>
          <p:txBody>
            <a:bodyPr wrap="square" anchor="ctr">
              <a:spAutoFit/>
            </a:bodyPr>
            <a:lstStyle/>
            <a:p xmlns:m="http://schemas.openxmlformats.org/officeDocument/2006/math" xmlns:a14="http://schemas.microsoft.com/office/drawing/2010/main">
              <a:pPr algn="ctr">
                <a:defRPr sz="1300" b="0" i="1">
                  <a:solidFill>
                    <a:srgbClr val="C00000"/>
                  </a:solidFill>
                  <a:latin typeface="Cambria Math"/>
                </a:defRPr>
              </a:pPr>
              <a14:m>
                <m:oMathPara>
                  <m:oMathParaPr>
                    <m:jc m:val="centerGroup"/>
                  </m:oMathParaPr>
                  <m:oMath>
                    <m:sSub>
                      <m:sSubPr>
                        <m:ctrlPr>
                          <a:rPr lang="en-US" i="1">
                            <a:latin typeface="Cambria Math"/>
                          </a:rPr>
                        </m:ctrlPr>
                      </m:sSubPr>
                      <m:e>
                        <m:r>
                          <a:rPr lang="en-US" b="0" i="1" sz="1300">
                            <a:solidFill>
                              <a:srgbClr val="C00000"/>
                            </a:solidFill>
                            <a:latin typeface="Cambria Math"/>
                            <a:ea typeface="Cambria Math"/>
                          </a:rPr>
                          <m:t>P</m:t>
                        </m:r>
                      </m:e>
                      <m:sub>
                        <m:r>
                          <m:rPr>
                            <m:sty m:val="p"/>
                          </m:rPr>
                          <a:rPr lang="en-US" b="0" i="0" sz="1300">
                            <a:solidFill>
                              <a:srgbClr val="C00000"/>
                            </a:solidFill>
                            <a:latin typeface="Cambria Math"/>
                          </a:rPr>
                          <m:t xml:space="preserve">Comp</m:t>
                        </m:r>
                      </m:sub>
                    </m:sSub>
                  </m:oMath>
                </m:oMathPara>
              </a14:m>
              <a:endParaRPr lang="en-US" sz="1300"/>
            </a:p>
          </p:txBody>
        </p:sp>
        <p:sp>
          <p:nvSpPr>
            <p:cNvPr id="9051" name="TextBox 9050"/>
            <p:cNvSpPr txBox="1"/>
            <p:nvPr/>
          </p:nvSpPr>
          <p:spPr>
            <a:xfrm>
              <a:off x="9061704" y="5047488"/>
              <a:ext cx="896112" cy="292608"/>
            </a:xfrm>
            <a:prstGeom prst="rect">
              <a:avLst/>
            </a:prstGeom>
            <a:noFill/>
          </p:spPr>
          <p:txBody>
            <a:bodyPr wrap="square" anchor="ctr">
              <a:spAutoFit/>
            </a:bodyPr>
            <a:lstStyle/>
            <a:p xmlns:m="http://schemas.openxmlformats.org/officeDocument/2006/math" xmlns:a14="http://schemas.microsoft.com/office/drawing/2010/main">
              <a:pPr algn="ctr">
                <a:defRPr sz="1300" b="0" i="1">
                  <a:solidFill>
                    <a:srgbClr val="0B2B4E"/>
                  </a:solidFill>
                  <a:latin typeface="Cambria Math"/>
                </a:defRPr>
              </a:pPr>
              <a14:m>
                <m:oMathPara>
                  <m:oMathParaPr>
                    <m:jc m:val="centerGroup"/>
                  </m:oMathParaPr>
                  <m:oMath>
                    <m:sSub>
                      <m:sSubPr>
                        <m:ctrlPr>
                          <a:rPr lang="en-US" i="1">
                            <a:latin typeface="Cambria Math"/>
                          </a:rPr>
                        </m:ctrlPr>
                      </m:sSubPr>
                      <m:e>
                        <m:r>
                          <a:rPr lang="en-US" b="0" i="1" sz="1300">
                            <a:solidFill>
                              <a:srgbClr val="0B2B4E"/>
                            </a:solidFill>
                            <a:latin typeface="Cambria Math"/>
                            <a:ea typeface="Cambria Math"/>
                          </a:rPr>
                          <m:t>Q</m:t>
                        </m:r>
                      </m:e>
                      <m:sub>
                        <m:r>
                          <m:rPr>
                            <m:sty m:val="p"/>
                          </m:rPr>
                          <a:rPr lang="en-US" b="0" i="0" sz="1300">
                            <a:solidFill>
                              <a:srgbClr val="0B2B4E"/>
                            </a:solidFill>
                            <a:latin typeface="Cambria Math"/>
                          </a:rPr>
                          <m:t xml:space="preserve">C</m:t>
                        </m:r>
                      </m:sub>
                    </m:sSub>
                  </m:oMath>
                </m:oMathPara>
              </a14:m>
              <a:endParaRPr lang="en-US" sz="1300"/>
            </a:p>
          </p:txBody>
        </p:sp>
      </p:grpSp>
      <p:sp>
        <p:nvSpPr>
          <p:cNvPr id="9053" name="TextBox 9052"/>
          <p:cNvSpPr txBox="1"/>
          <p:nvPr/>
        </p:nvSpPr>
        <p:spPr>
          <a:xfrm>
            <a:off x="731520" y="5504688"/>
            <a:ext cx="10881360" cy="749808"/>
          </a:xfrm>
          <a:prstGeom prst="rect">
            <a:avLst/>
          </a:prstGeom>
          <a:noFill/>
        </p:spPr>
        <p:txBody>
          <a:bodyPr wrap="square" lIns="0" rIns="0" tIns="0" bIns="0">
            <a:spAutoFit/>
          </a:bodyPr>
          <a:lstStyle/>
          <a:p>
            <a:pPr marL="342900" indent="-342900">
              <a:buClr>
                <a:srgbClr val="0B2B4E"/>
              </a:buClr>
              <a:buFont typeface="Calibri"/>
              <a:buChar char="▪"/>
            </a:pPr>
            <a:r>
              <a:rPr sz="1400" i="0">
                <a:solidFill>
                  <a:srgbClr val="0B2B4E"/>
                </a:solidFill>
                <a:latin typeface="Calibri"/>
              </a:rPr>
              <a:t>A monopolist in the market would produce </a:t>
            </a:r>
            <a:r>
              <a:rPr sz="1400" i="1">
                <a:solidFill>
                  <a:srgbClr val="0B2B4E"/>
                </a:solidFill>
                <a:latin typeface="Calibri"/>
              </a:rPr>
              <a:t>Q</a:t>
            </a:r>
            <a:r>
              <a:rPr sz="1400" i="1" baseline="-25000">
                <a:solidFill>
                  <a:srgbClr val="0B2B4E"/>
                </a:solidFill>
                <a:latin typeface="Calibri"/>
              </a:rPr>
              <a:t>cartel</a:t>
            </a:r>
            <a:r>
              <a:rPr sz="1400" i="1">
                <a:solidFill>
                  <a:srgbClr val="0B2B4E"/>
                </a:solidFill>
                <a:latin typeface="Calibri"/>
              </a:rPr>
              <a:t> </a:t>
            </a:r>
            <a:r>
              <a:rPr sz="1400" i="0">
                <a:solidFill>
                  <a:srgbClr val="0B2B4E"/>
                </a:solidFill>
                <a:latin typeface="Calibri"/>
              </a:rPr>
              <a:t>, and this reduced output leads to a higher market price </a:t>
            </a:r>
            <a:r>
              <a:rPr sz="1400" i="1">
                <a:solidFill>
                  <a:srgbClr val="0B2B4E"/>
                </a:solidFill>
                <a:latin typeface="Calibri"/>
              </a:rPr>
              <a:t>P</a:t>
            </a:r>
            <a:r>
              <a:rPr sz="1400" i="1" baseline="-25000">
                <a:solidFill>
                  <a:srgbClr val="0B2B4E"/>
                </a:solidFill>
                <a:latin typeface="Calibri"/>
              </a:rPr>
              <a:t>Cartel</a:t>
            </a:r>
          </a:p>
          <a:p>
            <a:pPr marL="342900" indent="-342900">
              <a:spcBef>
                <a:spcPts val="400"/>
              </a:spcBef>
              <a:buClr>
                <a:srgbClr val="0B2B4E"/>
              </a:buClr>
              <a:buFont typeface="Calibri"/>
              <a:buChar char="▪"/>
            </a:pPr>
            <a:r>
              <a:rPr sz="1400" i="0">
                <a:solidFill>
                  <a:srgbClr val="0B2B4E"/>
                </a:solidFill>
                <a:latin typeface="Calibri"/>
              </a:rPr>
              <a:t>For the cartel to work, each firm must produce </a:t>
            </a:r>
            <a:r>
              <a:rPr sz="1400" i="1">
                <a:solidFill>
                  <a:srgbClr val="0B2B4E"/>
                </a:solidFill>
                <a:latin typeface="Calibri"/>
              </a:rPr>
              <a:t>q</a:t>
            </a:r>
            <a:r>
              <a:rPr sz="1400" i="1" baseline="-25000">
                <a:solidFill>
                  <a:srgbClr val="0B2B4E"/>
                </a:solidFill>
                <a:latin typeface="Calibri"/>
              </a:rPr>
              <a:t>Cartel</a:t>
            </a:r>
            <a:r>
              <a:rPr sz="1400" i="1">
                <a:solidFill>
                  <a:srgbClr val="0B2B4E"/>
                </a:solidFill>
                <a:latin typeface="Calibri"/>
              </a:rPr>
              <a:t>  </a:t>
            </a:r>
            <a:r>
              <a:rPr sz="1400" i="0">
                <a:solidFill>
                  <a:srgbClr val="0B2B4E"/>
                </a:solidFill>
                <a:latin typeface="Calibri"/>
              </a:rPr>
              <a:t>(that is, each firm must reduce its output)</a:t>
            </a:r>
          </a:p>
          <a:p>
            <a:pPr marL="342900" indent="-342900">
              <a:spcBef>
                <a:spcPts val="400"/>
              </a:spcBef>
              <a:buClr>
                <a:srgbClr val="0B2B4E"/>
              </a:buClr>
              <a:buFont typeface="Calibri"/>
              <a:buChar char="▪"/>
            </a:pPr>
            <a:r>
              <a:rPr sz="1400" i="0">
                <a:solidFill>
                  <a:srgbClr val="0B2B4E"/>
                </a:solidFill>
                <a:latin typeface="Calibri"/>
              </a:rPr>
              <a:t>At the cartel price, each firm would like to deviate and produce more (</a:t>
            </a:r>
            <a:r>
              <a:rPr sz="1400" i="1">
                <a:solidFill>
                  <a:srgbClr val="0B2B4E"/>
                </a:solidFill>
                <a:latin typeface="Calibri"/>
              </a:rPr>
              <a:t>q</a:t>
            </a:r>
            <a:r>
              <a:rPr sz="1400" i="1" baseline="-25000">
                <a:solidFill>
                  <a:srgbClr val="0B2B4E"/>
                </a:solidFill>
                <a:latin typeface="Calibri"/>
              </a:rPr>
              <a:t>Dev</a:t>
            </a:r>
            <a:r>
              <a:rPr sz="1400" i="0">
                <a:solidFill>
                  <a:srgbClr val="0B2B4E"/>
                </a:solidFill>
                <a:latin typeface="Calibri"/>
              </a:rPr>
              <a:t>, where </a:t>
            </a:r>
            <a:r>
              <a:rPr sz="1400" i="1">
                <a:solidFill>
                  <a:srgbClr val="0B2B4E"/>
                </a:solidFill>
                <a:latin typeface="Calibri"/>
              </a:rPr>
              <a:t>P</a:t>
            </a:r>
            <a:r>
              <a:rPr sz="1400" i="1" baseline="-25000">
                <a:solidFill>
                  <a:srgbClr val="0B2B4E"/>
                </a:solidFill>
                <a:latin typeface="Calibri"/>
              </a:rPr>
              <a:t>cartel</a:t>
            </a:r>
            <a:r>
              <a:rPr sz="1400" i="1">
                <a:solidFill>
                  <a:srgbClr val="0B2B4E"/>
                </a:solidFill>
                <a:latin typeface="Calibri"/>
              </a:rPr>
              <a:t> = LMC)</a:t>
            </a:r>
          </a:p>
        </p:txBody>
      </p:sp>
      <p:sp>
        <p:nvSpPr>
          <p:cNvPr id="9054" name="Rectangle 905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5" name="Rectangle 905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6" name="TextBox 9055"/>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9057" name="TextBox 9056"/>
          <p:cNvSpPr txBox="1"/>
          <p:nvPr/>
        </p:nvSpPr>
        <p:spPr>
          <a:xfrm>
            <a:off x="11475720" y="6583680"/>
            <a:ext cx="502920" cy="292608"/>
          </a:xfrm>
          <a:prstGeom prst="rect">
            <a:avLst/>
          </a:prstGeom>
          <a:noFill/>
        </p:spPr>
        <p:txBody>
          <a:bodyPr wrap="none" lIns="0" rIns="0" tIns="0" bIns="0">
            <a:spAutoFit/>
          </a:bodyPr>
          <a:lstStyle/>
          <a:p>
            <a:pPr algn="r"/>
            <a:fld id="{9F9670D9-9E3F-5756-B9B4-521950124903}" type="slidenum">
              <a:rPr lang="en-US" sz="1200" dirty="0">
                <a:solidFill>
                  <a:srgbClr val="555B66"/>
                </a:solidFill>
                <a:latin typeface="Calibri"/>
              </a:rPr>
              <a:t>13</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052"/>
                                        </p:tgtEl>
                                        <p:attrNameLst>
                                          <p:attrName>style.visibility</p:attrName>
                                        </p:attrNameLst>
                                      </p:cBhvr>
                                      <p:to>
                                        <p:strVal val="visible"/>
                                      </p:to>
                                    </p:set>
                                    <p:animEffect transition="in" filter="fade">
                                      <p:cBhvr>
                                        <p:cTn id="7" dur="500"/>
                                        <p:tgtEl>
                                          <p:spTgt spid="90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009"/>
                                        </p:tgtEl>
                                        <p:attrNameLst>
                                          <p:attrName>style.visibility</p:attrName>
                                        </p:attrNameLst>
                                      </p:cBhvr>
                                      <p:to>
                                        <p:strVal val="visible"/>
                                      </p:to>
                                    </p:set>
                                    <p:animEffect transition="in" filter="fade">
                                      <p:cBhvr>
                                        <p:cTn id="12" dur="500"/>
                                        <p:tgtEl>
                                          <p:spTgt spid="900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028"/>
                                        </p:tgtEl>
                                        <p:attrNameLst>
                                          <p:attrName>style.visibility</p:attrName>
                                        </p:attrNameLst>
                                      </p:cBhvr>
                                      <p:to>
                                        <p:strVal val="visible"/>
                                      </p:to>
                                    </p:set>
                                    <p:animEffect transition="in" filter="fade">
                                      <p:cBhvr>
                                        <p:cTn id="17" dur="500"/>
                                        <p:tgtEl>
                                          <p:spTgt spid="90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040"/>
                                        </p:tgtEl>
                                        <p:attrNameLst>
                                          <p:attrName>style.visibility</p:attrName>
                                        </p:attrNameLst>
                                      </p:cBhvr>
                                      <p:to>
                                        <p:strVal val="visible"/>
                                      </p:to>
                                    </p:set>
                                    <p:animEffect transition="in" filter="fade">
                                      <p:cBhvr>
                                        <p:cTn id="22" dur="500"/>
                                        <p:tgtEl>
                                          <p:spTgt spid="90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046"/>
                                        </p:tgtEl>
                                        <p:attrNameLst>
                                          <p:attrName>style.visibility</p:attrName>
                                        </p:attrNameLst>
                                      </p:cBhvr>
                                      <p:to>
                                        <p:strVal val="visible"/>
                                      </p:to>
                                    </p:set>
                                    <p:animEffect transition="in" filter="fade">
                                      <p:cBhvr>
                                        <p:cTn id="27" dur="500"/>
                                        <p:tgtEl>
                                          <p:spTgt spid="904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005"/>
                                        </p:tgtEl>
                                        <p:attrNameLst>
                                          <p:attrName>style.visibility</p:attrName>
                                        </p:attrNameLst>
                                      </p:cBhvr>
                                      <p:to>
                                        <p:strVal val="visible"/>
                                      </p:to>
                                    </p:set>
                                    <p:animEffect transition="in" filter="fade">
                                      <p:cBhvr>
                                        <p:cTn id="32" dur="500"/>
                                        <p:tgtEl>
                                          <p:spTgt spid="900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053">
                                            <p:txEl>
                                              <p:pRg st="0" end="0"/>
                                            </p:txEl>
                                          </p:spTgt>
                                        </p:tgtEl>
                                        <p:attrNameLst>
                                          <p:attrName>style.visibility</p:attrName>
                                        </p:attrNameLst>
                                      </p:cBhvr>
                                      <p:to>
                                        <p:strVal val="visible"/>
                                      </p:to>
                                    </p:set>
                                    <p:animEffect transition="in" filter="fade">
                                      <p:cBhvr>
                                        <p:cTn id="35" dur="500"/>
                                        <p:tgtEl>
                                          <p:spTgt spid="9053">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9012"/>
                                        </p:tgtEl>
                                        <p:attrNameLst>
                                          <p:attrName>style.visibility</p:attrName>
                                        </p:attrNameLst>
                                      </p:cBhvr>
                                      <p:to>
                                        <p:strVal val="visible"/>
                                      </p:to>
                                    </p:set>
                                    <p:animEffect transition="in" filter="fade">
                                      <p:cBhvr>
                                        <p:cTn id="40" dur="500"/>
                                        <p:tgtEl>
                                          <p:spTgt spid="90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9053">
                                            <p:txEl>
                                              <p:pRg st="1" end="1"/>
                                            </p:txEl>
                                          </p:spTgt>
                                        </p:tgtEl>
                                        <p:attrNameLst>
                                          <p:attrName>style.visibility</p:attrName>
                                        </p:attrNameLst>
                                      </p:cBhvr>
                                      <p:to>
                                        <p:strVal val="visible"/>
                                      </p:to>
                                    </p:set>
                                    <p:animEffect transition="in" filter="fade">
                                      <p:cBhvr>
                                        <p:cTn id="43" dur="500"/>
                                        <p:tgtEl>
                                          <p:spTgt spid="9053">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9019"/>
                                        </p:tgtEl>
                                        <p:attrNameLst>
                                          <p:attrName>style.visibility</p:attrName>
                                        </p:attrNameLst>
                                      </p:cBhvr>
                                      <p:to>
                                        <p:strVal val="visible"/>
                                      </p:to>
                                    </p:set>
                                    <p:animEffect transition="in" filter="fade">
                                      <p:cBhvr>
                                        <p:cTn id="48" dur="500"/>
                                        <p:tgtEl>
                                          <p:spTgt spid="9019"/>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9015"/>
                                        </p:tgtEl>
                                        <p:attrNameLst>
                                          <p:attrName>style.visibility</p:attrName>
                                        </p:attrNameLst>
                                      </p:cBhvr>
                                      <p:to>
                                        <p:strVal val="visible"/>
                                      </p:to>
                                    </p:set>
                                    <p:animEffect transition="in" filter="fade">
                                      <p:cBhvr>
                                        <p:cTn id="53" dur="500"/>
                                        <p:tgtEl>
                                          <p:spTgt spid="901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9053">
                                            <p:txEl>
                                              <p:pRg st="2" end="2"/>
                                            </p:txEl>
                                          </p:spTgt>
                                        </p:tgtEl>
                                        <p:attrNameLst>
                                          <p:attrName>style.visibility</p:attrName>
                                        </p:attrNameLst>
                                      </p:cBhvr>
                                      <p:to>
                                        <p:strVal val="visible"/>
                                      </p:to>
                                    </p:set>
                                    <p:animEffect transition="in" filter="fade">
                                      <p:cBhvr>
                                        <p:cTn id="56" dur="500"/>
                                        <p:tgtEl>
                                          <p:spTgt spid="9053">
                                            <p:txEl>
                                              <p:pRg st="2" end="2"/>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9023"/>
                                        </p:tgtEl>
                                        <p:attrNameLst>
                                          <p:attrName>style.visibility</p:attrName>
                                        </p:attrNameLst>
                                      </p:cBhvr>
                                      <p:to>
                                        <p:strVal val="visible"/>
                                      </p:to>
                                    </p:set>
                                    <p:animEffect transition="in" filter="fade">
                                      <p:cBhvr>
                                        <p:cTn id="61" dur="500"/>
                                        <p:tgtEl>
                                          <p:spTgt spid="90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53" grpId="0" build="p"/>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Collusion and Cartels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Collusion: The Case of ADM</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783080"/>
            <a:ext cx="6949440" cy="4023360"/>
          </a:xfrm>
          <a:prstGeom prst="rect">
            <a:avLst/>
          </a:prstGeom>
          <a:noFill/>
        </p:spPr>
        <p:txBody>
          <a:bodyPr wrap="square" lIns="0" rIns="0" tIns="0" bIns="0">
            <a:spAutoFit/>
          </a:bodyPr>
          <a:lstStyle>
            <a:lvl1pPr marL="342900" indent="-342900">
              <a:spcBef>
                <a:spcPts val="16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Archer Daniels Midland (ADM) involved in organized effort to raise the price of the animal feed additive </a:t>
            </a:r>
            <a:r>
              <a:rPr u="sng">
                <a:solidFill>
                  <a:srgbClr val="0563C1"/>
                </a:solidFill>
                <a:latin typeface="Calibri"/>
                <a:hlinkClick r:id="rId2"/>
              </a:rPr>
              <a:t>lysine</a:t>
            </a:r>
          </a:p>
          <a:p>
            <a:pPr algn="l"/>
            <a:r>
              <a:rPr>
                <a:latin typeface="Calibri"/>
              </a:rPr>
              <a:t>Unique case with FBI mole</a:t>
            </a:r>
          </a:p>
          <a:p>
            <a:pPr algn="l" lvl="1"/>
            <a:r>
              <a:rPr>
                <a:latin typeface="Calibri"/>
              </a:rPr>
              <a:t>Taped price-fixing meetings</a:t>
            </a:r>
          </a:p>
          <a:p>
            <a:pPr algn="l"/>
            <a:r>
              <a:rPr>
                <a:latin typeface="Calibri"/>
              </a:rPr>
              <a:t>Original FBI footage on course webpage (under Module 7 In-Class Content)</a:t>
            </a:r>
          </a:p>
          <a:p>
            <a:pPr algn="l"/>
            <a:r>
              <a:rPr u="sng">
                <a:solidFill>
                  <a:srgbClr val="0563C1"/>
                </a:solidFill>
                <a:latin typeface="Calibri"/>
                <a:hlinkClick r:id="rId3"/>
              </a:rPr>
              <a:t>Podcast</a:t>
            </a:r>
            <a:r>
              <a:rPr>
                <a:latin typeface="Calibri"/>
              </a:rPr>
              <a:t>, </a:t>
            </a:r>
            <a:r>
              <a:rPr u="sng">
                <a:solidFill>
                  <a:srgbClr val="0563C1"/>
                </a:solidFill>
                <a:latin typeface="Calibri"/>
                <a:hlinkClick r:id="rId4"/>
              </a:rPr>
              <a:t>Movie</a:t>
            </a:r>
            <a:r>
              <a:rPr>
                <a:latin typeface="Calibri"/>
              </a:rPr>
              <a:t>, Related Podcast: </a:t>
            </a:r>
            <a:r>
              <a:rPr u="sng">
                <a:solidFill>
                  <a:srgbClr val="0563C1"/>
                </a:solidFill>
                <a:latin typeface="Calibri"/>
                <a:hlinkClick r:id="rId5"/>
              </a:rPr>
              <a:t>The Poop Cartel</a:t>
            </a:r>
          </a:p>
        </p:txBody>
      </p:sp>
      <p:pic>
        <p:nvPicPr>
          <p:cNvPr id="8" name="Picture 7" descr="image22.jpeg"/>
          <p:cNvPicPr>
            <a:picLocks noChangeAspect="1"/>
          </p:cNvPicPr>
          <p:nvPr/>
        </p:nvPicPr>
        <p:blipFill>
          <a:blip r:embed="rId6"/>
          <a:stretch>
            <a:fillRect/>
          </a:stretch>
        </p:blipFill>
        <p:spPr>
          <a:xfrm>
            <a:off x="10387584" y="448056"/>
            <a:ext cx="1554480" cy="1143000"/>
          </a:xfrm>
          <a:prstGeom prst="rect">
            <a:avLst/>
          </a:prstGeom>
        </p:spPr>
      </p:pic>
      <p:grpSp>
        <p:nvGrpSpPr>
          <p:cNvPr id="15" name="PicCaption 15"/>
          <p:cNvGrpSpPr/>
          <p:nvPr/>
        </p:nvGrpSpPr>
        <p:grpSpPr>
          <a:xfrm>
            <a:off x="7324344" y="1938528"/>
            <a:ext cx="4654296" cy="2980944"/>
            <a:chOff x="7324344" y="1938528"/>
            <a:chExt cx="4654296" cy="2980944"/>
          </a:xfrm>
        </p:grpSpPr>
        <p:pic>
          <p:nvPicPr>
            <p:cNvPr id="9" name="Picture 8" descr="image23.jpg"/>
            <p:cNvPicPr>
              <a:picLocks noChangeAspect="1"/>
            </p:cNvPicPr>
            <p:nvPr/>
          </p:nvPicPr>
          <p:blipFill>
            <a:blip r:embed="rId7"/>
            <a:stretch>
              <a:fillRect/>
            </a:stretch>
          </p:blipFill>
          <p:spPr>
            <a:xfrm>
              <a:off x="7324344" y="1938528"/>
              <a:ext cx="4654296" cy="2615184"/>
            </a:xfrm>
            <a:prstGeom prst="roundRect">
              <a:avLst>
                <a:gd name="adj" fmla="val 8000"/>
              </a:avLst>
            </a:prstGeom>
            <a:effectLst>
              <a:outerShdw blurRad="50800" dist="38100" dir="2700000" algn="tl" rotWithShape="0">
                <a:srgbClr val="000000">
                  <a:alpha val="50000"/>
                </a:srgbClr>
              </a:outerShdw>
            </a:effectLst>
          </p:spPr>
        </p:pic>
        <p:sp>
          <p:nvSpPr>
            <p:cNvPr id="10" name="TextBox 9"/>
            <p:cNvSpPr txBox="1"/>
            <p:nvPr/>
          </p:nvSpPr>
          <p:spPr>
            <a:xfrm>
              <a:off x="8119872" y="4645152"/>
              <a:ext cx="3108960" cy="274320"/>
            </a:xfrm>
            <a:prstGeom prst="rect">
              <a:avLst/>
            </a:prstGeom>
            <a:noFill/>
          </p:spPr>
          <p:txBody>
            <a:bodyPr wrap="square" lIns="0" rIns="0" tIns="0" bIns="0">
              <a:spAutoFit/>
            </a:bodyPr>
            <a:lstStyle/>
            <a:p>
              <a:pPr algn="ctr"/>
              <a:r>
                <a:rPr sz="1100" b="0" i="1" u="none">
                  <a:solidFill>
                    <a:srgbClr val="555B66"/>
                  </a:solidFill>
                  <a:latin typeface="Calibri"/>
                </a:rPr>
                <a:t>Matt Damon in “The Informant!” (2009)</a:t>
              </a:r>
            </a:p>
          </p:txBody>
        </p:sp>
      </p:gr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4" name="TextBox 13"/>
          <p:cNvSpPr txBox="1"/>
          <p:nvPr/>
        </p:nvSpPr>
        <p:spPr>
          <a:xfrm>
            <a:off x="11475720" y="6583680"/>
            <a:ext cx="502920" cy="292608"/>
          </a:xfrm>
          <a:prstGeom prst="rect">
            <a:avLst/>
          </a:prstGeom>
          <a:noFill/>
        </p:spPr>
        <p:txBody>
          <a:bodyPr wrap="none" lIns="0" rIns="0" tIns="0" bIns="0">
            <a:spAutoFit/>
          </a:bodyPr>
          <a:lstStyle/>
          <a:p>
            <a:pPr algn="r"/>
            <a:fld id="{A8775BFA-6B37-5C8A-AC6D-3AA1BB9BC02C}" type="slidenum">
              <a:rPr lang="en-US" sz="1200" dirty="0">
                <a:solidFill>
                  <a:srgbClr val="555B66"/>
                </a:solidFill>
                <a:latin typeface="Calibri"/>
              </a:rPr>
              <a:t>14</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animEffect transition="in" filter="fade">
                                      <p:cBhvr>
                                        <p:cTn id="21" dur="500"/>
                                        <p:tgtEl>
                                          <p:spTgt spid="7">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xEl>
                                              <p:pRg st="4" end="4"/>
                                            </p:txEl>
                                          </p:spTgt>
                                        </p:tgtEl>
                                        <p:attrNameLst>
                                          <p:attrName>style.visibility</p:attrName>
                                        </p:attrNameLst>
                                      </p:cBhvr>
                                      <p:to>
                                        <p:strVal val="visible"/>
                                      </p:to>
                                    </p:set>
                                    <p:animEffect transition="in" filter="fade">
                                      <p:cBhvr>
                                        <p:cTn id="26"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Collusion and Cartels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The ADM Price-Fixing Scandal</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3108960"/>
            <a:ext cx="11687697" cy="731520"/>
          </a:xfrm>
          <a:prstGeom prst="rect">
            <a:avLst/>
          </a:prstGeom>
          <a:noFill/>
        </p:spPr>
        <p:txBody>
          <a:bodyPr wrap="square" lIns="0" rIns="0" tIns="0" bIns="0">
            <a:spAutoFit/>
          </a:bodyPr>
          <a:lstStyle/>
          <a:p>
            <a:pPr algn="ctr"/>
            <a:r>
              <a:rPr sz="2000" b="0" i="1" u="none">
                <a:solidFill>
                  <a:srgbClr val="555B66"/>
                </a:solidFill>
                <a:latin typeface="Calibri"/>
              </a:rPr>
              <a:t>[ copy video over by hand (not done yet to keep file size manageable) ]</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2A8FD735-1EF5-54CE-A8BC-68BD3C1732EF}" type="slidenum">
              <a:rPr lang="en-US" sz="1200" dirty="0">
                <a:solidFill>
                  <a:srgbClr val="555B66"/>
                </a:solidFill>
                <a:latin typeface="Calibri"/>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Collusion and Cartels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The ADM Price-Fixing Scandal</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3" name="PicCaption 13"/>
          <p:cNvGrpSpPr/>
          <p:nvPr/>
        </p:nvGrpSpPr>
        <p:grpSpPr>
          <a:xfrm>
            <a:off x="3145062" y="1508760"/>
            <a:ext cx="5901571" cy="4818888"/>
            <a:chOff x="3145062" y="1508760"/>
            <a:chExt cx="5901571" cy="4818888"/>
          </a:xfrm>
        </p:grpSpPr>
        <p:pic>
          <p:nvPicPr>
            <p:cNvPr id="7" name="Picture 6" descr="_adm_lysine_chart.png"/>
            <p:cNvPicPr>
              <a:picLocks noChangeAspect="1"/>
            </p:cNvPicPr>
            <p:nvPr/>
          </p:nvPicPr>
          <p:blipFill>
            <a:blip r:embed="rId2"/>
            <a:stretch>
              <a:fillRect/>
            </a:stretch>
          </p:blipFill>
          <p:spPr>
            <a:xfrm>
              <a:off x="3145062" y="1508760"/>
              <a:ext cx="5901571" cy="4434840"/>
            </a:xfrm>
            <a:prstGeom prst="rect">
              <a:avLst/>
            </a:prstGeom>
            <a:effectLst>
              <a:outerShdw blurRad="50800" dist="38100" dir="2700000" algn="tl" rotWithShape="0">
                <a:srgbClr val="000000">
                  <a:alpha val="45000"/>
                </a:srgbClr>
              </a:outerShdw>
            </a:effectLst>
          </p:spPr>
        </p:pic>
        <p:sp>
          <p:nvSpPr>
            <p:cNvPr id="8" name="TextBox 7"/>
            <p:cNvSpPr txBox="1"/>
            <p:nvPr/>
          </p:nvSpPr>
          <p:spPr>
            <a:xfrm>
              <a:off x="3145062" y="6053328"/>
              <a:ext cx="5901571" cy="274320"/>
            </a:xfrm>
            <a:prstGeom prst="rect">
              <a:avLst/>
            </a:prstGeom>
            <a:noFill/>
          </p:spPr>
          <p:txBody>
            <a:bodyPr wrap="square" lIns="0" rIns="0" tIns="0" bIns="0">
              <a:spAutoFit/>
            </a:bodyPr>
            <a:lstStyle/>
            <a:p>
              <a:pPr algn="ctr"/>
              <a:r>
                <a:rPr sz="1200" b="0" i="1" u="none">
                  <a:solidFill>
                    <a:srgbClr val="555B66"/>
                  </a:solidFill>
                  <a:latin typeface="Calibri"/>
                </a:rPr>
                <a:t>Source: American Economic Association, “Conspiracies against the public” (aeaweb.org)</a:t>
              </a:r>
            </a:p>
          </p:txBody>
        </p:sp>
      </p:gr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2" name="TextBox 11"/>
          <p:cNvSpPr txBox="1"/>
          <p:nvPr/>
        </p:nvSpPr>
        <p:spPr>
          <a:xfrm>
            <a:off x="11475720" y="6583680"/>
            <a:ext cx="502920" cy="292608"/>
          </a:xfrm>
          <a:prstGeom prst="rect">
            <a:avLst/>
          </a:prstGeom>
          <a:noFill/>
        </p:spPr>
        <p:txBody>
          <a:bodyPr wrap="none" lIns="0" rIns="0" tIns="0" bIns="0">
            <a:spAutoFit/>
          </a:bodyPr>
          <a:lstStyle/>
          <a:p>
            <a:pPr algn="r"/>
            <a:fld id="{98F326A0-3490-544F-99CD-24119A0C88E5}" type="slidenum">
              <a:rPr lang="en-US" sz="1200" dirty="0">
                <a:solidFill>
                  <a:srgbClr val="555B66"/>
                </a:solidFill>
                <a:latin typeface="Calibri"/>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Cournot Competition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Outline of Module 7</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151333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1</a:t>
            </a:r>
          </a:p>
        </p:txBody>
      </p:sp>
      <p:sp>
        <p:nvSpPr>
          <p:cNvPr id="8" name="TextBox 7"/>
          <p:cNvSpPr txBox="1"/>
          <p:nvPr/>
        </p:nvSpPr>
        <p:spPr>
          <a:xfrm>
            <a:off x="1874519" y="1495044"/>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Collusion and Cartels</a:t>
            </a:r>
          </a:p>
        </p:txBody>
      </p:sp>
      <p:sp>
        <p:nvSpPr>
          <p:cNvPr id="9" name="Rounded Rectangle 8"/>
          <p:cNvSpPr/>
          <p:nvPr/>
        </p:nvSpPr>
        <p:spPr>
          <a:xfrm>
            <a:off x="822960" y="2272284"/>
            <a:ext cx="11109960" cy="822960"/>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51560" y="234543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2</a:t>
            </a:r>
          </a:p>
        </p:txBody>
      </p:sp>
      <p:sp>
        <p:nvSpPr>
          <p:cNvPr id="11" name="TextBox 10"/>
          <p:cNvSpPr txBox="1"/>
          <p:nvPr/>
        </p:nvSpPr>
        <p:spPr>
          <a:xfrm>
            <a:off x="1874519" y="2327148"/>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Cournot Competition</a:t>
            </a:r>
          </a:p>
          <a:p>
            <a:pPr algn="l">
              <a:spcBef>
                <a:spcPts val="0"/>
              </a:spcBef>
              <a:buNone/>
            </a:pPr>
            <a:r>
              <a:rPr sz="2200">
                <a:solidFill>
                  <a:srgbClr val="555B66"/>
                </a:solidFill>
                <a:latin typeface="Calibri"/>
              </a:rPr>
              <a:t>Competing by choosing quantities: capacity decisions in oligopoly</a:t>
            </a:r>
          </a:p>
        </p:txBody>
      </p:sp>
      <p:sp>
        <p:nvSpPr>
          <p:cNvPr id="12" name="Oval 11"/>
          <p:cNvSpPr/>
          <p:nvPr/>
        </p:nvSpPr>
        <p:spPr>
          <a:xfrm>
            <a:off x="1051560" y="317754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3</a:t>
            </a:r>
          </a:p>
        </p:txBody>
      </p:sp>
      <p:sp>
        <p:nvSpPr>
          <p:cNvPr id="13" name="TextBox 12"/>
          <p:cNvSpPr txBox="1"/>
          <p:nvPr/>
        </p:nvSpPr>
        <p:spPr>
          <a:xfrm>
            <a:off x="1874519" y="3159252"/>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Bertrand Competition</a:t>
            </a:r>
          </a:p>
        </p:txBody>
      </p:sp>
      <p:sp>
        <p:nvSpPr>
          <p:cNvPr id="14" name="Oval 13"/>
          <p:cNvSpPr/>
          <p:nvPr/>
        </p:nvSpPr>
        <p:spPr>
          <a:xfrm>
            <a:off x="1051560" y="400964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4</a:t>
            </a:r>
          </a:p>
        </p:txBody>
      </p:sp>
      <p:sp>
        <p:nvSpPr>
          <p:cNvPr id="15" name="TextBox 14"/>
          <p:cNvSpPr txBox="1"/>
          <p:nvPr/>
        </p:nvSpPr>
        <p:spPr>
          <a:xfrm>
            <a:off x="1874519" y="3991356"/>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Oligopoly with Differentiated Goods</a:t>
            </a:r>
          </a:p>
        </p:txBody>
      </p:sp>
      <p:sp>
        <p:nvSpPr>
          <p:cNvPr id="16" name="Oval 15"/>
          <p:cNvSpPr/>
          <p:nvPr/>
        </p:nvSpPr>
        <p:spPr>
          <a:xfrm>
            <a:off x="1051560" y="484174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5</a:t>
            </a:r>
          </a:p>
        </p:txBody>
      </p:sp>
      <p:sp>
        <p:nvSpPr>
          <p:cNvPr id="17" name="TextBox 16"/>
          <p:cNvSpPr txBox="1"/>
          <p:nvPr/>
        </p:nvSpPr>
        <p:spPr>
          <a:xfrm>
            <a:off x="1874519" y="4823460"/>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Strategic Thinking: Key Concepts</a:t>
            </a:r>
          </a:p>
        </p:txBody>
      </p:sp>
      <p:sp>
        <p:nvSpPr>
          <p:cNvPr id="18" name="Oval 17"/>
          <p:cNvSpPr/>
          <p:nvPr/>
        </p:nvSpPr>
        <p:spPr>
          <a:xfrm>
            <a:off x="1051560" y="567385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6</a:t>
            </a:r>
          </a:p>
        </p:txBody>
      </p:sp>
      <p:sp>
        <p:nvSpPr>
          <p:cNvPr id="19" name="TextBox 18"/>
          <p:cNvSpPr txBox="1"/>
          <p:nvPr/>
        </p:nvSpPr>
        <p:spPr>
          <a:xfrm>
            <a:off x="1874519" y="5655564"/>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Prisoner’s Dilemma, Game of Chicken…</a:t>
            </a:r>
          </a:p>
        </p:txBody>
      </p:sp>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23" name="TextBox 22"/>
          <p:cNvSpPr txBox="1"/>
          <p:nvPr/>
        </p:nvSpPr>
        <p:spPr>
          <a:xfrm>
            <a:off x="11475720" y="6583680"/>
            <a:ext cx="502920" cy="292608"/>
          </a:xfrm>
          <a:prstGeom prst="rect">
            <a:avLst/>
          </a:prstGeom>
          <a:noFill/>
        </p:spPr>
        <p:txBody>
          <a:bodyPr wrap="none" lIns="0" rIns="0" tIns="0" bIns="0">
            <a:spAutoFit/>
          </a:bodyPr>
          <a:lstStyle/>
          <a:p>
            <a:pPr algn="r"/>
            <a:fld id="{A2D712CC-5486-5658-A872-D3724133D855}" type="slidenum">
              <a:rPr lang="en-US" sz="1200" dirty="0">
                <a:solidFill>
                  <a:srgbClr val="555B66"/>
                </a:solidFill>
                <a:latin typeface="Calibri"/>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Cournot Competition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Note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981047" y="2560320"/>
            <a:ext cx="8229600" cy="219456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63927" y="2670048"/>
            <a:ext cx="7863840" cy="1975104"/>
          </a:xfrm>
          <a:prstGeom prst="rect">
            <a:avLst/>
          </a:prstGeom>
          <a:noFill/>
        </p:spPr>
        <p:txBody>
          <a:bodyPr wrap="square" lIns="45720" rIns="45720" tIns="0" bIns="0" anchor="ctr">
            <a:spAutoFit/>
          </a:bodyPr>
          <a:lstStyle/>
          <a:p>
            <a:pPr algn="l"/>
            <a:r>
              <a:rPr sz="2600" b="1" i="0" u="none">
                <a:solidFill>
                  <a:srgbClr val="0B2B4E"/>
                </a:solidFill>
                <a:latin typeface="Calibri"/>
              </a:rPr>
              <a:t>From now on:</a:t>
            </a:r>
          </a:p>
          <a:p>
            <a:pPr algn="l"/>
            <a:r>
              <a:rPr sz="4000" b="0" i="0" u="none">
                <a:solidFill>
                  <a:srgbClr val="0B2B4E"/>
                </a:solidFill>
                <a:latin typeface="Calibri"/>
              </a:rPr>
              <a:t>No collusion among competitors</a:t>
            </a:r>
          </a:p>
          <a:p>
            <a:pPr algn="l"/>
            <a:r>
              <a:rPr sz="2400" b="1" i="0" u="none">
                <a:solidFill>
                  <a:srgbClr val="0B2B4E"/>
                </a:solidFill>
                <a:latin typeface="Calibri"/>
              </a:rPr>
              <a:t>→  Firms compete strategically (“games”)</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2" name="TextBox 11"/>
          <p:cNvSpPr txBox="1"/>
          <p:nvPr/>
        </p:nvSpPr>
        <p:spPr>
          <a:xfrm>
            <a:off x="11475720" y="6583680"/>
            <a:ext cx="502920" cy="292608"/>
          </a:xfrm>
          <a:prstGeom prst="rect">
            <a:avLst/>
          </a:prstGeom>
          <a:noFill/>
        </p:spPr>
        <p:txBody>
          <a:bodyPr wrap="none" lIns="0" rIns="0" tIns="0" bIns="0">
            <a:spAutoFit/>
          </a:bodyPr>
          <a:lstStyle/>
          <a:p>
            <a:pPr algn="r"/>
            <a:fld id="{767D61CF-76F3-5E2A-A75B-17F69F126F1A}" type="slidenum">
              <a:rPr lang="en-US" sz="1200" dirty="0">
                <a:solidFill>
                  <a:srgbClr val="555B66"/>
                </a:solidFill>
                <a:latin typeface="Calibri"/>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Cournot Competition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Two Models of Oligopoly Competition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600200"/>
            <a:ext cx="4389120" cy="411480"/>
          </a:xfrm>
          <a:prstGeom prst="rect">
            <a:avLst/>
          </a:prstGeom>
          <a:noFill/>
        </p:spPr>
        <p:txBody>
          <a:bodyPr wrap="square" lIns="0" rIns="0" tIns="0" bIns="0">
            <a:spAutoFit/>
          </a:bodyPr>
          <a:lstStyle/>
          <a:p>
            <a:pPr algn="ctr"/>
            <a:r>
              <a:rPr sz="2400" b="1" i="0" u="none">
                <a:solidFill>
                  <a:srgbClr val="0B2B4E"/>
                </a:solidFill>
                <a:latin typeface="Calibri"/>
              </a:rPr>
              <a:t>Cournot (1801–1877)</a:t>
            </a:r>
          </a:p>
        </p:txBody>
      </p:sp>
      <p:pic>
        <p:nvPicPr>
          <p:cNvPr id="8" name="Picture 7" descr="image27.png"/>
          <p:cNvPicPr>
            <a:picLocks noChangeAspect="1"/>
          </p:cNvPicPr>
          <p:nvPr/>
        </p:nvPicPr>
        <p:blipFill>
          <a:blip r:embed="rId2"/>
          <a:stretch>
            <a:fillRect/>
          </a:stretch>
        </p:blipFill>
        <p:spPr>
          <a:xfrm>
            <a:off x="2267712" y="2039112"/>
            <a:ext cx="2039112" cy="2871216"/>
          </a:xfrm>
          <a:prstGeom prst="roundRect">
            <a:avLst>
              <a:gd name="adj" fmla="val 8000"/>
            </a:avLst>
          </a:prstGeom>
          <a:effectLst>
            <a:outerShdw blurRad="50800" dist="38100" dir="2700000" algn="tl" rotWithShape="0">
              <a:srgbClr val="000000">
                <a:alpha val="50000"/>
              </a:srgbClr>
            </a:outerShdw>
          </a:effectLst>
        </p:spPr>
      </p:pic>
      <p:sp>
        <p:nvSpPr>
          <p:cNvPr id="9" name="Rounded Rectangle 8"/>
          <p:cNvSpPr/>
          <p:nvPr/>
        </p:nvSpPr>
        <p:spPr>
          <a:xfrm>
            <a:off x="1051560" y="5120640"/>
            <a:ext cx="4389120" cy="77724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Cournot Model: Competition in Quantity</a:t>
            </a:r>
          </a:p>
        </p:txBody>
      </p:sp>
      <p:sp>
        <p:nvSpPr>
          <p:cNvPr id="10" name="TextBox 9"/>
          <p:cNvSpPr txBox="1"/>
          <p:nvPr/>
        </p:nvSpPr>
        <p:spPr>
          <a:xfrm>
            <a:off x="6748272" y="1600200"/>
            <a:ext cx="4389120" cy="411480"/>
          </a:xfrm>
          <a:prstGeom prst="rect">
            <a:avLst/>
          </a:prstGeom>
          <a:noFill/>
        </p:spPr>
        <p:txBody>
          <a:bodyPr wrap="square" lIns="0" rIns="0" tIns="0" bIns="0">
            <a:spAutoFit/>
          </a:bodyPr>
          <a:lstStyle/>
          <a:p>
            <a:pPr algn="ctr"/>
            <a:r>
              <a:rPr sz="2400" b="1" i="0" u="none">
                <a:solidFill>
                  <a:srgbClr val="0B2B4E"/>
                </a:solidFill>
                <a:latin typeface="Calibri"/>
              </a:rPr>
              <a:t>Bertrand (1822–1900)</a:t>
            </a:r>
          </a:p>
        </p:txBody>
      </p:sp>
      <p:pic>
        <p:nvPicPr>
          <p:cNvPr id="11" name="Picture 10" descr="image26.jpg"/>
          <p:cNvPicPr>
            <a:picLocks noChangeAspect="1"/>
          </p:cNvPicPr>
          <p:nvPr/>
        </p:nvPicPr>
        <p:blipFill>
          <a:blip r:embed="rId3"/>
          <a:stretch>
            <a:fillRect/>
          </a:stretch>
        </p:blipFill>
        <p:spPr>
          <a:xfrm>
            <a:off x="7891272" y="2057400"/>
            <a:ext cx="2368296" cy="2871216"/>
          </a:xfrm>
          <a:prstGeom prst="roundRect">
            <a:avLst>
              <a:gd name="adj" fmla="val 8000"/>
            </a:avLst>
          </a:prstGeom>
          <a:effectLst>
            <a:outerShdw blurRad="50800" dist="38100" dir="2700000" algn="tl" rotWithShape="0">
              <a:srgbClr val="000000">
                <a:alpha val="50000"/>
              </a:srgbClr>
            </a:outerShdw>
          </a:effectLst>
        </p:spPr>
      </p:pic>
      <p:sp>
        <p:nvSpPr>
          <p:cNvPr id="12" name="Rounded Rectangle 11"/>
          <p:cNvSpPr/>
          <p:nvPr/>
        </p:nvSpPr>
        <p:spPr>
          <a:xfrm>
            <a:off x="6748272" y="5120640"/>
            <a:ext cx="4389120" cy="77724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Bertrand Model: Competition in Price</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6" name="TextBox 15"/>
          <p:cNvSpPr txBox="1"/>
          <p:nvPr/>
        </p:nvSpPr>
        <p:spPr>
          <a:xfrm>
            <a:off x="11475720" y="6583680"/>
            <a:ext cx="502920" cy="292608"/>
          </a:xfrm>
          <a:prstGeom prst="rect">
            <a:avLst/>
          </a:prstGeom>
          <a:noFill/>
        </p:spPr>
        <p:txBody>
          <a:bodyPr wrap="none" lIns="0" rIns="0" tIns="0" bIns="0">
            <a:spAutoFit/>
          </a:bodyPr>
          <a:lstStyle/>
          <a:p>
            <a:pPr algn="r"/>
            <a:fld id="{99F61522-E0F5-5E55-941C-914BECEA8EC9}" type="slidenum">
              <a:rPr lang="en-US" sz="1200" dirty="0">
                <a:solidFill>
                  <a:srgbClr val="555B66"/>
                </a:solidFill>
                <a:latin typeface="Calibri"/>
              </a:rPr>
              <a:t>19</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Cournot Competition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Two Oligopoly Models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49427" y="1691640"/>
            <a:ext cx="5440680" cy="548640"/>
          </a:xfrm>
          <a:prstGeom prst="roundRect">
            <a:avLst>
              <a:gd name="adj" fmla="val 15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Calibri"/>
              </a:rPr>
              <a:t>Cournot</a:t>
            </a:r>
          </a:p>
        </p:txBody>
      </p:sp>
      <p:sp>
        <p:nvSpPr>
          <p:cNvPr id="8" name="Rounded Rectangle 7"/>
          <p:cNvSpPr/>
          <p:nvPr/>
        </p:nvSpPr>
        <p:spPr>
          <a:xfrm>
            <a:off x="6301587" y="1691640"/>
            <a:ext cx="5440680" cy="548640"/>
          </a:xfrm>
          <a:prstGeom prst="roundRect">
            <a:avLst>
              <a:gd name="adj" fmla="val 15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Calibri"/>
              </a:rPr>
              <a:t>Bertrand</a:t>
            </a:r>
          </a:p>
        </p:txBody>
      </p:sp>
      <p:sp>
        <p:nvSpPr>
          <p:cNvPr id="9" name="Rounded Rectangle 8"/>
          <p:cNvSpPr/>
          <p:nvPr/>
        </p:nvSpPr>
        <p:spPr>
          <a:xfrm>
            <a:off x="449427" y="2514600"/>
            <a:ext cx="5440680" cy="3246120"/>
          </a:xfrm>
          <a:prstGeom prst="roundRect">
            <a:avLst>
              <a:gd name="adj" fmla="val 5000"/>
            </a:avLst>
          </a:prstGeom>
          <a:solidFill>
            <a:srgbClr val="FFFFFF"/>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
            </a:r>
          </a:p>
        </p:txBody>
      </p:sp>
      <p:sp>
        <p:nvSpPr>
          <p:cNvPr id="10" name="Rounded Rectangle 9"/>
          <p:cNvSpPr/>
          <p:nvPr/>
        </p:nvSpPr>
        <p:spPr>
          <a:xfrm>
            <a:off x="6301587" y="2514600"/>
            <a:ext cx="5440680" cy="3246120"/>
          </a:xfrm>
          <a:prstGeom prst="roundRect">
            <a:avLst>
              <a:gd name="adj" fmla="val 5000"/>
            </a:avLst>
          </a:prstGeom>
          <a:solidFill>
            <a:srgbClr val="FFFFFF"/>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
            </a:r>
          </a:p>
        </p:txBody>
      </p:sp>
      <p:sp>
        <p:nvSpPr>
          <p:cNvPr id="11" name="TextBox 10"/>
          <p:cNvSpPr txBox="1"/>
          <p:nvPr/>
        </p:nvSpPr>
        <p:spPr>
          <a:xfrm>
            <a:off x="723747" y="2743200"/>
            <a:ext cx="4892040" cy="2834640"/>
          </a:xfrm>
          <a:prstGeom prst="rect">
            <a:avLst/>
          </a:prstGeom>
          <a:noFill/>
        </p:spPr>
        <p:txBody>
          <a:bodyPr wrap="square" lIns="0" rIns="0" tIns="0" bIns="0">
            <a:spAutoFit/>
          </a:bodyPr>
          <a:lstStyle/>
          <a:p>
            <a:pPr algn="l" marL="342900" indent="-342900">
              <a:buClr>
                <a:srgbClr val="0B2B4E"/>
              </a:buClr>
              <a:buFont typeface="Calibri"/>
              <a:buChar char="▪"/>
            </a:pPr>
            <a:r>
              <a:rPr sz="2200" b="0">
                <a:solidFill>
                  <a:srgbClr val="0B2B4E"/>
                </a:solidFill>
                <a:latin typeface="Calibri"/>
              </a:rPr>
              <a:t>The rival's supply is taken as given</a:t>
            </a:r>
          </a:p>
          <a:p>
            <a:pPr algn="l" marL="342900" indent="-342900">
              <a:spcBef>
                <a:spcPts val="1600"/>
              </a:spcBef>
              <a:buClr>
                <a:srgbClr val="0B2B4E"/>
              </a:buClr>
              <a:buFont typeface="Calibri"/>
              <a:buChar char="▪"/>
            </a:pPr>
            <a:r>
              <a:rPr sz="2200" b="0">
                <a:solidFill>
                  <a:srgbClr val="0B2B4E"/>
                </a:solidFill>
                <a:latin typeface="Calibri"/>
              </a:rPr>
              <a:t>Firm reacts by adjusting its own quantity accordingly</a:t>
            </a:r>
          </a:p>
          <a:p>
            <a:pPr algn="l" marL="342900" indent="-342900">
              <a:spcBef>
                <a:spcPts val="1600"/>
              </a:spcBef>
              <a:buClr>
                <a:srgbClr val="0B2B4E"/>
              </a:buClr>
              <a:buFont typeface="Calibri"/>
              <a:buChar char="▪"/>
            </a:pPr>
            <a:r>
              <a:rPr sz="2200" b="0">
                <a:solidFill>
                  <a:srgbClr val="0B2B4E"/>
                </a:solidFill>
                <a:latin typeface="Calibri"/>
              </a:rPr>
              <a:t>Price is determined in the market</a:t>
            </a:r>
          </a:p>
        </p:txBody>
      </p:sp>
      <p:sp>
        <p:nvSpPr>
          <p:cNvPr id="12" name="TextBox 11"/>
          <p:cNvSpPr txBox="1"/>
          <p:nvPr/>
        </p:nvSpPr>
        <p:spPr>
          <a:xfrm>
            <a:off x="6575907" y="2743200"/>
            <a:ext cx="4892040" cy="2834640"/>
          </a:xfrm>
          <a:prstGeom prst="rect">
            <a:avLst/>
          </a:prstGeom>
          <a:noFill/>
        </p:spPr>
        <p:txBody>
          <a:bodyPr wrap="square" lIns="0" rIns="0" tIns="0" bIns="0">
            <a:spAutoFit/>
          </a:bodyPr>
          <a:lstStyle/>
          <a:p>
            <a:pPr algn="l" marL="342900" indent="-342900">
              <a:buClr>
                <a:srgbClr val="0B2B4E"/>
              </a:buClr>
              <a:buFont typeface="Calibri"/>
              <a:buChar char="▪"/>
            </a:pPr>
            <a:r>
              <a:rPr sz="2200" b="0">
                <a:solidFill>
                  <a:srgbClr val="0B2B4E"/>
                </a:solidFill>
                <a:latin typeface="Calibri"/>
              </a:rPr>
              <a:t>The rival's price is taken as given</a:t>
            </a:r>
          </a:p>
          <a:p>
            <a:pPr algn="l" marL="342900" indent="-342900">
              <a:spcBef>
                <a:spcPts val="1600"/>
              </a:spcBef>
              <a:buClr>
                <a:srgbClr val="0B2B4E"/>
              </a:buClr>
              <a:buFont typeface="Calibri"/>
              <a:buChar char="▪"/>
            </a:pPr>
            <a:r>
              <a:rPr sz="2200" b="0">
                <a:solidFill>
                  <a:srgbClr val="0B2B4E"/>
                </a:solidFill>
                <a:latin typeface="Calibri"/>
              </a:rPr>
              <a:t>Firm reacts by adjusting its own price (underbidding, if feasible)</a:t>
            </a:r>
          </a:p>
          <a:p>
            <a:pPr algn="l" marL="342900" indent="-342900">
              <a:spcBef>
                <a:spcPts val="1600"/>
              </a:spcBef>
              <a:buClr>
                <a:srgbClr val="0B2B4E"/>
              </a:buClr>
              <a:buFont typeface="Calibri"/>
              <a:buChar char="▪"/>
            </a:pPr>
            <a:r>
              <a:rPr sz="2200" b="0">
                <a:solidFill>
                  <a:srgbClr val="0B2B4E"/>
                </a:solidFill>
                <a:latin typeface="Calibri"/>
              </a:rPr>
              <a:t>Firms then supply the quantity that is demanded at the price they set</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6" name="TextBox 15"/>
          <p:cNvSpPr txBox="1"/>
          <p:nvPr/>
        </p:nvSpPr>
        <p:spPr>
          <a:xfrm>
            <a:off x="11475720" y="6583680"/>
            <a:ext cx="502920" cy="292608"/>
          </a:xfrm>
          <a:prstGeom prst="rect">
            <a:avLst/>
          </a:prstGeom>
          <a:noFill/>
        </p:spPr>
        <p:txBody>
          <a:bodyPr wrap="none" lIns="0" rIns="0" tIns="0" bIns="0">
            <a:spAutoFit/>
          </a:bodyPr>
          <a:lstStyle/>
          <a:p>
            <a:pPr algn="r"/>
            <a:fld id="{948DC3A2-FC9C-5302-B94F-DE090F01F204}" type="slidenum">
              <a:rPr lang="en-US" sz="1200" dirty="0">
                <a:solidFill>
                  <a:srgbClr val="555B66"/>
                </a:solidFill>
                <a:latin typeface="Calibri"/>
              </a:rPr>
              <a:t>20</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Cournot Competition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Duopoly Example: Nickel</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9846" y="1572768"/>
            <a:ext cx="8964777" cy="4555540"/>
          </a:xfrm>
          <a:prstGeom prst="rect">
            <a:avLst/>
          </a:prstGeom>
          <a:noFill/>
        </p:spPr>
        <p:txBody>
          <a:bodyPr wrap="square" lIns="45720" rIns="45720" tIns="0" bIns="0">
            <a:spAutoFit/>
          </a:bodyPr>
          <a:lstStyle/>
          <a:p xmlns:m="http://schemas.openxmlformats.org/officeDocument/2006/math" xmlns:a14="http://schemas.microsoft.com/office/drawing/2010/main">
            <a:r>
              <a:rPr lang="en-US" sz="2400">
                <a:solidFill>
                  <a:srgbClr val="0B2B4E"/>
                </a:solidFill>
                <a:latin typeface="Calibri"/>
              </a:rPr>
              <a:t>▪  Two firms: Vale (Firm A) and Tsingshan (Firm B)</a:t>
            </a:r>
            <a:endParaRPr lang="en-US"/>
          </a:p>
          <a:p xmlns:m="http://schemas.openxmlformats.org/officeDocument/2006/math" xmlns:a14="http://schemas.microsoft.com/office/drawing/2010/main">
            <a:endParaRPr lang="en-US"/>
          </a:p>
          <a:p xmlns:m="http://schemas.openxmlformats.org/officeDocument/2006/math" xmlns:a14="http://schemas.microsoft.com/office/drawing/2010/main">
            <a:endParaRPr lang="en-US"/>
          </a:p>
          <a:p xmlns:m="http://schemas.openxmlformats.org/officeDocument/2006/math" xmlns:a14="http://schemas.microsoft.com/office/drawing/2010/main">
            <a:endParaRPr lang="en-US"/>
          </a:p>
          <a:p xmlns:m="http://schemas.openxmlformats.org/officeDocument/2006/math" xmlns:a14="http://schemas.microsoft.com/office/drawing/2010/main">
            <a:endParaRPr lang="en-US"/>
          </a:p>
          <a:p xmlns:m="http://schemas.openxmlformats.org/officeDocument/2006/math" xmlns:a14="http://schemas.microsoft.com/office/drawing/2010/main">
            <a:r>
              <a:rPr lang="en-US" sz="2400">
                <a:solidFill>
                  <a:srgbClr val="0B2B4E"/>
                </a:solidFill>
                <a:latin typeface="Calibri"/>
              </a:rPr>
              <a:t>▪  Homogeneous (identical) good</a:t>
            </a:r>
            <a:endParaRPr lang="en-US"/>
          </a:p>
          <a:p xmlns:m="http://schemas.openxmlformats.org/officeDocument/2006/math" xmlns:a14="http://schemas.microsoft.com/office/drawing/2010/main">
            <a:endParaRPr lang="en-US"/>
          </a:p>
          <a:p xmlns:m="http://schemas.openxmlformats.org/officeDocument/2006/math" xmlns:a14="http://schemas.microsoft.com/office/drawing/2010/main">
            <a:r>
              <a:rPr lang="en-US" sz="2400">
                <a:solidFill>
                  <a:srgbClr val="0B2B4E"/>
                </a:solidFill>
                <a:latin typeface="Calibri"/>
              </a:rPr>
              <a:t>▪  Market supply is the sum of the two firms' supply:</a:t>
            </a:r>
            <a:endParaRPr lang="en-US"/>
          </a:p>
          <a:p xmlns:m="http://schemas.openxmlformats.org/officeDocument/2006/math" xmlns:a14="http://schemas.microsoft.com/office/drawing/2010/main">
            <a:r>
              <a:rPr lang="en-US" sz="2400">
                <a:solidFill>
                  <a:srgbClr val="0B2B4E"/>
                </a:solidFill>
                <a:latin typeface="Calibri"/>
              </a:rPr>
              <a:t>        </a:t>
            </a:r>
            <a14:m>
              <m:oMath>
                <m:sSub>
                  <m:sSubPr>
                    <m:ctrlPr>
                      <a:rPr lang="en-US" i="1">
                        <a:latin typeface="Cambria Math"/>
                      </a:rPr>
                    </m:ctrlPr>
                  </m:sSubPr>
                  <m:e>
                    <m:r>
                      <a:rPr lang="en-US" b="0" i="1" sz="2400">
                        <a:solidFill>
                          <a:srgbClr val="0B2B4E"/>
                        </a:solidFill>
                        <a:latin typeface="Cambria Math"/>
                        <a:ea typeface="Cambria Math"/>
                      </a:rPr>
                      <m:t>Q</m:t>
                    </m:r>
                  </m:e>
                  <m:sub>
                    <m:r>
                      <m:rPr>
                        <m:sty m:val="p"/>
                      </m:rPr>
                      <a:rPr lang="en-US" b="0" i="0" sz="2400">
                        <a:solidFill>
                          <a:srgbClr val="0B2B4E"/>
                        </a:solidFill>
                        <a:latin typeface="Cambria Math"/>
                      </a:rPr>
                      <m:t xml:space="preserve">M</m:t>
                    </m:r>
                  </m:sub>
                </m:sSub>
                <m:r>
                  <m:rPr>
                    <m:sty m:val="p"/>
                  </m:rPr>
                  <a:rPr lang="en-US" b="0" i="0" sz="2400">
                    <a:solidFill>
                      <a:srgbClr val="0B2B4E"/>
                    </a:solidFill>
                    <a:latin typeface="Cambria Math"/>
                  </a:rPr>
                  <m:t xml:space="preserve"> = </m:t>
                </m:r>
                <m:sSub>
                  <m:sSubPr>
                    <m:ctrlPr>
                      <a:rPr lang="en-US" i="1">
                        <a:latin typeface="Cambria Math"/>
                      </a:rPr>
                    </m:ctrlPr>
                  </m:sSubPr>
                  <m:e>
                    <m:r>
                      <a:rPr lang="en-US" b="0" i="1" sz="2400">
                        <a:solidFill>
                          <a:srgbClr val="0B2B4E"/>
                        </a:solidFill>
                        <a:latin typeface="Cambria Math"/>
                        <a:ea typeface="Cambria Math"/>
                      </a:rPr>
                      <m:t>Q</m:t>
                    </m:r>
                  </m:e>
                  <m:sub>
                    <m:r>
                      <m:rPr>
                        <m:sty m:val="p"/>
                      </m:rPr>
                      <a:rPr lang="en-US" b="0" i="0" sz="2400">
                        <a:solidFill>
                          <a:srgbClr val="0B2B4E"/>
                        </a:solidFill>
                        <a:latin typeface="Cambria Math"/>
                      </a:rPr>
                      <m:t xml:space="preserve">A</m:t>
                    </m:r>
                  </m:sub>
                </m:sSub>
                <m:r>
                  <m:rPr>
                    <m:sty m:val="p"/>
                  </m:rPr>
                  <a:rPr lang="en-US" b="0" i="0" sz="2400">
                    <a:solidFill>
                      <a:srgbClr val="0B2B4E"/>
                    </a:solidFill>
                    <a:latin typeface="Cambria Math"/>
                  </a:rPr>
                  <m:t xml:space="preserve"> + </m:t>
                </m:r>
                <m:sSub>
                  <m:sSubPr>
                    <m:ctrlPr>
                      <a:rPr lang="en-US" i="1">
                        <a:latin typeface="Cambria Math"/>
                      </a:rPr>
                    </m:ctrlPr>
                  </m:sSubPr>
                  <m:e>
                    <m:r>
                      <a:rPr lang="en-US" b="0" i="1" sz="2400">
                        <a:solidFill>
                          <a:srgbClr val="0B2B4E"/>
                        </a:solidFill>
                        <a:latin typeface="Cambria Math"/>
                        <a:ea typeface="Cambria Math"/>
                      </a:rPr>
                      <m:t>Q</m:t>
                    </m:r>
                  </m:e>
                  <m:sub>
                    <m:r>
                      <m:rPr>
                        <m:sty m:val="p"/>
                      </m:rPr>
                      <a:rPr lang="en-US" b="0" i="0" sz="2400">
                        <a:solidFill>
                          <a:srgbClr val="0B2B4E"/>
                        </a:solidFill>
                        <a:latin typeface="Cambria Math"/>
                      </a:rPr>
                      <m:t xml:space="preserve">B</m:t>
                    </m:r>
                  </m:sub>
                </m:sSub>
              </m:oMath>
            </a14:m>
            <a:endParaRPr lang="en-US"/>
          </a:p>
          <a:p xmlns:m="http://schemas.openxmlformats.org/officeDocument/2006/math" xmlns:a14="http://schemas.microsoft.com/office/drawing/2010/main">
            <a:endParaRPr lang="en-US"/>
          </a:p>
          <a:p xmlns:m="http://schemas.openxmlformats.org/officeDocument/2006/math" xmlns:a14="http://schemas.microsoft.com/office/drawing/2010/main">
            <a:r>
              <a:rPr lang="en-US" sz="2400">
                <a:solidFill>
                  <a:srgbClr val="0B2B4E"/>
                </a:solidFill>
                <a:latin typeface="Calibri"/>
              </a:rPr>
              <a:t>▪  Market demand is:   </a:t>
            </a:r>
            <a14:m>
              <m:oMath>
                <m:r>
                  <a:rPr lang="en-US" b="0" i="1" sz="2400">
                    <a:solidFill>
                      <a:srgbClr val="0B2B4E"/>
                    </a:solidFill>
                    <a:latin typeface="Cambria Math"/>
                    <a:ea typeface="Cambria Math"/>
                  </a:rPr>
                  <m:t>P</m:t>
                </m:r>
                <m:r>
                  <m:rPr>
                    <m:sty m:val="p"/>
                  </m:rPr>
                  <a:rPr lang="en-US" b="0" i="0" sz="2400">
                    <a:solidFill>
                      <a:srgbClr val="0B2B4E"/>
                    </a:solidFill>
                    <a:latin typeface="Cambria Math"/>
                  </a:rPr>
                  <m:t xml:space="preserve"> = 100 − </m:t>
                </m:r>
                <m:sSub>
                  <m:sSubPr>
                    <m:ctrlPr>
                      <a:rPr lang="en-US" i="1">
                        <a:latin typeface="Cambria Math"/>
                      </a:rPr>
                    </m:ctrlPr>
                  </m:sSubPr>
                  <m:e>
                    <m:r>
                      <a:rPr lang="en-US" b="0" i="1" sz="2400">
                        <a:solidFill>
                          <a:srgbClr val="0B2B4E"/>
                        </a:solidFill>
                        <a:latin typeface="Cambria Math"/>
                        <a:ea typeface="Cambria Math"/>
                      </a:rPr>
                      <m:t>Q</m:t>
                    </m:r>
                  </m:e>
                  <m:sub>
                    <m:r>
                      <m:rPr>
                        <m:sty m:val="p"/>
                      </m:rPr>
                      <a:rPr lang="en-US" b="0" i="0" sz="2400">
                        <a:solidFill>
                          <a:srgbClr val="0B2B4E"/>
                        </a:solidFill>
                        <a:latin typeface="Cambria Math"/>
                      </a:rPr>
                      <m:t xml:space="preserve">M</m:t>
                    </m:r>
                  </m:sub>
                </m:sSub>
              </m:oMath>
            </a14:m>
            <a:endParaRPr lang="en-US"/>
          </a:p>
          <a:p xmlns:m="http://schemas.openxmlformats.org/officeDocument/2006/math" xmlns:a14="http://schemas.microsoft.com/office/drawing/2010/main">
            <a:endParaRPr lang="en-US"/>
          </a:p>
          <a:p xmlns:m="http://schemas.openxmlformats.org/officeDocument/2006/math" xmlns:a14="http://schemas.microsoft.com/office/drawing/2010/main">
            <a:r>
              <a:rPr lang="en-US" sz="2400">
                <a:solidFill>
                  <a:srgbClr val="0B2B4E"/>
                </a:solidFill>
                <a:latin typeface="Calibri"/>
              </a:rPr>
              <a:t>▪  The two firms have the same marginal cost of $10 per kg</a:t>
            </a:r>
            <a:endParaRPr lang="en-US"/>
          </a:p>
        </p:txBody>
      </p:sp>
      <p:pic>
        <p:nvPicPr>
          <p:cNvPr id="8" name="Picture 7" descr="image28.jpg"/>
          <p:cNvPicPr>
            <a:picLocks noChangeAspect="1"/>
          </p:cNvPicPr>
          <p:nvPr/>
        </p:nvPicPr>
        <p:blipFill>
          <a:blip r:embed="rId2"/>
          <a:stretch>
            <a:fillRect/>
          </a:stretch>
        </p:blipFill>
        <p:spPr>
          <a:xfrm>
            <a:off x="2267712" y="2050999"/>
            <a:ext cx="2194560" cy="988498"/>
          </a:xfrm>
          <a:prstGeom prst="rect">
            <a:avLst/>
          </a:prstGeom>
        </p:spPr>
      </p:pic>
      <p:sp>
        <p:nvSpPr>
          <p:cNvPr id="9" name="Rounded Rectangle 8"/>
          <p:cNvSpPr/>
          <p:nvPr/>
        </p:nvSpPr>
        <p:spPr>
          <a:xfrm>
            <a:off x="4998110" y="2050999"/>
            <a:ext cx="2194560" cy="960120"/>
          </a:xfrm>
          <a:prstGeom prst="roundRect">
            <a:avLst>
              <a:gd name="adj" fmla="val 6000"/>
            </a:avLst>
          </a:prstGeom>
          <a:solidFill>
            <a:srgbClr val="FFFFFF"/>
          </a:solidFill>
          <a:ln w="9525">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
            </a:r>
            <a:r>
              <a:rPr sz="2200" b="1">
                <a:solidFill>
                  <a:srgbClr val="006B3F"/>
                </a:solidFill>
                <a:latin typeface="Calibri"/>
              </a:rPr>
              <a:t>TSINGSHAN</a:t>
            </a:r>
          </a:p>
          <a:p>
            <a:pPr algn="ctr"/>
            <a:r>
              <a:rPr sz="1100">
                <a:solidFill>
                  <a:srgbClr val="555B66"/>
                </a:solidFill>
                <a:latin typeface="Calibri"/>
              </a:rPr>
              <a:t>HOLDING GROUP</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B914F248-C04B-539C-B111-436372A81D26}" type="slidenum">
              <a:rPr lang="en-US" sz="1200" dirty="0">
                <a:solidFill>
                  <a:srgbClr val="555B66"/>
                </a:solidFill>
                <a:latin typeface="Calibri"/>
              </a:rPr>
              <a:t>21</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animEffect transition="in" filter="fade">
                                      <p:cBhvr>
                                        <p:cTn id="7" dur="500"/>
                                        <p:tgtEl>
                                          <p:spTgt spid="7">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7" end="7"/>
                                            </p:txEl>
                                          </p:spTgt>
                                        </p:tgtEl>
                                        <p:attrNameLst>
                                          <p:attrName>style.visibility</p:attrName>
                                        </p:attrNameLst>
                                      </p:cBhvr>
                                      <p:to>
                                        <p:strVal val="visible"/>
                                      </p:to>
                                    </p:set>
                                    <p:animEffect transition="in" filter="fade">
                                      <p:cBhvr>
                                        <p:cTn id="12" dur="500"/>
                                        <p:tgtEl>
                                          <p:spTgt spid="7">
                                            <p:txEl>
                                              <p:pRg st="7" end="7"/>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8" end="8"/>
                                            </p:txEl>
                                          </p:spTgt>
                                        </p:tgtEl>
                                        <p:attrNameLst>
                                          <p:attrName>style.visibility</p:attrName>
                                        </p:attrNameLst>
                                      </p:cBhvr>
                                      <p:to>
                                        <p:strVal val="visible"/>
                                      </p:to>
                                    </p:set>
                                    <p:animEffect transition="in" filter="fade">
                                      <p:cBhvr>
                                        <p:cTn id="15" dur="500"/>
                                        <p:tgtEl>
                                          <p:spTgt spid="7">
                                            <p:txEl>
                                              <p:pRg st="8" end="8"/>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10" end="10"/>
                                            </p:txEl>
                                          </p:spTgt>
                                        </p:tgtEl>
                                        <p:attrNameLst>
                                          <p:attrName>style.visibility</p:attrName>
                                        </p:attrNameLst>
                                      </p:cBhvr>
                                      <p:to>
                                        <p:strVal val="visible"/>
                                      </p:to>
                                    </p:set>
                                    <p:animEffect transition="in" filter="fade">
                                      <p:cBhvr>
                                        <p:cTn id="20" dur="500"/>
                                        <p:tgtEl>
                                          <p:spTgt spid="7">
                                            <p:txEl>
                                              <p:pRg st="10" end="1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xEl>
                                              <p:pRg st="12" end="12"/>
                                            </p:txEl>
                                          </p:spTgt>
                                        </p:tgtEl>
                                        <p:attrNameLst>
                                          <p:attrName>style.visibility</p:attrName>
                                        </p:attrNameLst>
                                      </p:cBhvr>
                                      <p:to>
                                        <p:strVal val="visible"/>
                                      </p:to>
                                    </p:set>
                                    <p:animEffect transition="in" filter="fade">
                                      <p:cBhvr>
                                        <p:cTn id="25" dur="500"/>
                                        <p:tgtEl>
                                          <p:spTgt spid="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s21_image27.png"/>
          <p:cNvPicPr>
            <a:picLocks noChangeAspect="1"/>
          </p:cNvPicPr>
          <p:nvPr/>
        </p:nvPicPr>
        <p:blipFill>
          <a:blip r:embed="rId2"/>
          <a:stretch>
            <a:fillRect/>
          </a:stretch>
        </p:blipFill>
        <p:spPr>
          <a:xfrm>
            <a:off x="3658" y="0"/>
            <a:ext cx="12185294" cy="6858000"/>
          </a:xfrm>
          <a:prstGeom prst="rect">
            <a:avLst/>
          </a:prstGeom>
        </p:spPr>
      </p:pic>
      <p:sp>
        <p:nvSpPr>
          <p:cNvPr id="3" name="Rectangle 2"/>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Cournot Competition</a:t>
            </a:r>
          </a:p>
        </p:txBody>
      </p:sp>
      <p:sp>
        <p:nvSpPr>
          <p:cNvPr id="5" name="TextBox 4"/>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Cournot Competition (with Homogeneous Goods)</a:t>
            </a:r>
          </a:p>
        </p:txBody>
      </p:sp>
      <p:sp>
        <p:nvSpPr>
          <p:cNvPr id="6" name="Rectangle 5"/>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9500" name="Group 12">
            <a:extLst>
              <a:ext uri="{FF2B5EF4-FFF2-40B4-BE49-F238E27FC236}">
                <a16:creationId xmlns:a16="http://schemas.microsoft.com/office/drawing/2014/main" id="{3FC2C896-F331-7DD1-80CD-222E9950AFD8}"/>
              </a:ext>
            </a:extLst>
          </p:cNvPr>
          <p:cNvGrpSpPr/>
          <p:nvPr/>
        </p:nvGrpSpPr>
        <p:grpSpPr>
          <a:xfrm>
            <a:off x="2569463" y="1243584"/>
            <a:ext cx="6858001" cy="1371600"/>
            <a:chOff x="1752447" y="2651760"/>
            <a:chExt cx="8686800" cy="2011680"/>
          </a:xfrm>
        </p:grpSpPr>
        <p:sp>
          <p:nvSpPr>
            <p:cNvPr id="9501" name="Rounded Rectangle 6"/>
            <p:cNvSpPr/>
            <p:nvPr/>
          </p:nvSpPr>
          <p:spPr>
            <a:xfrm>
              <a:off x="1752447" y="2651760"/>
              <a:ext cx="8686800" cy="201168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02" name="TextBox 7"/>
            <p:cNvSpPr txBox="1"/>
            <p:nvPr/>
          </p:nvSpPr>
          <p:spPr>
            <a:xfrm>
              <a:off x="1935327" y="2993088"/>
              <a:ext cx="8321040" cy="1329022"/>
            </a:xfrm>
            <a:prstGeom prst="rect">
              <a:avLst/>
            </a:prstGeom>
            <a:noFill/>
          </p:spPr>
          <p:txBody>
            <a:bodyPr wrap="square" lIns="45720" tIns="0" rIns="45720" bIns="0" anchor="ctr">
              <a:spAutoFit/>
            </a:bodyPr>
            <a:lstStyle/>
            <a:p>
              <a:pPr algn="l">
                <a:lnSpc>
                  <a:spcPct val="140000"/>
                </a:lnSpc>
              </a:pPr>
              <a:r>
                <a:rPr sz="2600" b="1" i="0" dirty="0">
                  <a:solidFill>
                    <a:srgbClr val="0B2B4E"/>
                  </a:solidFill>
                  <a:latin typeface="Calibri"/>
                </a:rPr>
                <a:t>Assumptions:</a:t>
              </a:r>
            </a:p>
            <a:p>
              <a:pPr algn="l"/>
              <a:r>
                <a:rPr sz="2400" b="0" i="0" dirty="0">
                  <a:solidFill>
                    <a:srgbClr val="0B2B4E"/>
                  </a:solidFill>
                  <a:latin typeface="Calibri"/>
                </a:rPr>
                <a:t>▪  Firms make </a:t>
              </a:r>
              <a:r>
                <a:rPr sz="2400" b="0" i="0" u="sng" dirty="0">
                  <a:solidFill>
                    <a:srgbClr val="0B2B4E"/>
                  </a:solidFill>
                  <a:latin typeface="Calibri"/>
                </a:rPr>
                <a:t>identical products</a:t>
              </a:r>
            </a:p>
            <a:p>
              <a:pPr algn="l"/>
              <a:r>
                <a:rPr sz="2400" b="0" i="0" dirty="0">
                  <a:solidFill>
                    <a:srgbClr val="0B2B4E"/>
                  </a:solidFill>
                  <a:latin typeface="Calibri"/>
                </a:rPr>
                <a:t>▪  Firms compete by choosing a </a:t>
              </a:r>
              <a:r>
                <a:rPr sz="2400" b="0" i="0" u="sng" dirty="0">
                  <a:solidFill>
                    <a:srgbClr val="0B2B4E"/>
                  </a:solidFill>
                  <a:latin typeface="Calibri"/>
                </a:rPr>
                <a:t>quantity</a:t>
              </a:r>
              <a:r>
                <a:rPr sz="2400" b="0" i="0" dirty="0">
                  <a:solidFill>
                    <a:srgbClr val="0B2B4E"/>
                  </a:solidFill>
                  <a:latin typeface="Calibri"/>
                </a:rPr>
                <a:t> to produce</a:t>
              </a:r>
            </a:p>
          </p:txBody>
        </p:sp>
      </p:grpSp>
      <p:sp>
        <p:nvSpPr>
          <p:cNvPr id="9503" name="Rectangle 950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4" name="Rectangle 950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5" name="TextBox 950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9506" name="TextBox 9505"/>
          <p:cNvSpPr txBox="1"/>
          <p:nvPr/>
        </p:nvSpPr>
        <p:spPr>
          <a:xfrm>
            <a:off x="11475720" y="6583680"/>
            <a:ext cx="502920" cy="292608"/>
          </a:xfrm>
          <a:prstGeom prst="rect">
            <a:avLst/>
          </a:prstGeom>
          <a:noFill/>
        </p:spPr>
        <p:txBody>
          <a:bodyPr wrap="none" lIns="0" rIns="0" tIns="0" bIns="0">
            <a:spAutoFit/>
          </a:bodyPr>
          <a:lstStyle/>
          <a:p>
            <a:pPr algn="r"/>
            <a:fld id="{743D7CE8-A7AB-5873-9C1E-FFF8DB94D596}" type="slidenum">
              <a:rPr lang="en-US" sz="1200" dirty="0">
                <a:solidFill>
                  <a:srgbClr val="555B66"/>
                </a:solidFill>
                <a:latin typeface="Calibri"/>
              </a:rPr>
              <a:t>22</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Cournot Competition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Cournot Competition: Reaction Function (I)</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4048" y="1371600"/>
            <a:ext cx="11430000" cy="498348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flipV="1">
            <a:off x="1417320" y="1572767"/>
            <a:ext cx="0" cy="4233673"/>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417320" y="5806440"/>
            <a:ext cx="757123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51560" y="1234440"/>
            <a:ext cx="640080" cy="320040"/>
          </a:xfrm>
          <a:prstGeom prst="rect">
            <a:avLst/>
          </a:prstGeom>
          <a:noFill/>
        </p:spPr>
        <p:txBody>
          <a:bodyPr wrap="square" lIns="0" rIns="0" tIns="0" bIns="0">
            <a:spAutoFit/>
          </a:bodyPr>
          <a:lstStyle/>
          <a:p>
            <a:pPr algn="ctr"/>
            <a:r>
              <a:rPr sz="1800" b="1" i="1" u="none">
                <a:solidFill>
                  <a:srgbClr val="0B2B4E"/>
                </a:solidFill>
                <a:latin typeface="Calibri"/>
              </a:rPr>
              <a:t>P</a:t>
            </a:r>
          </a:p>
        </p:txBody>
      </p:sp>
      <p:sp>
        <p:nvSpPr>
          <p:cNvPr id="11" name="TextBox 10"/>
          <p:cNvSpPr txBox="1"/>
          <p:nvPr/>
        </p:nvSpPr>
        <p:spPr>
          <a:xfrm>
            <a:off x="8869680" y="5861304"/>
            <a:ext cx="548640" cy="320040"/>
          </a:xfrm>
          <a:prstGeom prst="rect">
            <a:avLst/>
          </a:prstGeom>
          <a:noFill/>
        </p:spPr>
        <p:txBody>
          <a:bodyPr wrap="square" lIns="0" rIns="0" tIns="0" bIns="0">
            <a:spAutoFit/>
          </a:bodyPr>
          <a:lstStyle/>
          <a:p>
            <a:pPr algn="l"/>
            <a:r>
              <a:rPr sz="1800" b="1" i="1" u="none">
                <a:solidFill>
                  <a:srgbClr val="0B2B4E"/>
                </a:solidFill>
                <a:latin typeface="Calibri"/>
              </a:rPr>
              <a:t>Q</a:t>
            </a:r>
          </a:p>
        </p:txBody>
      </p:sp>
      <p:cxnSp>
        <p:nvCxnSpPr>
          <p:cNvPr id="12" name="Connector 11"/>
          <p:cNvCxnSpPr/>
          <p:nvPr/>
        </p:nvCxnSpPr>
        <p:spPr>
          <a:xfrm>
            <a:off x="1417320" y="5443129"/>
            <a:ext cx="6943725" cy="0"/>
          </a:xfrm>
          <a:prstGeom prst="line">
            <a:avLst/>
          </a:prstGeom>
          <a:ln w="31750">
            <a:solidFill>
              <a:srgbClr val="555B6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964424" y="5114239"/>
            <a:ext cx="822960" cy="292608"/>
          </a:xfrm>
          <a:prstGeom prst="rect">
            <a:avLst/>
          </a:prstGeom>
          <a:noFill/>
        </p:spPr>
        <p:txBody>
          <a:bodyPr wrap="square" lIns="0" rIns="0" tIns="0" bIns="0">
            <a:spAutoFit/>
          </a:bodyPr>
          <a:lstStyle/>
          <a:p>
            <a:pPr algn="ctr"/>
            <a:r>
              <a:rPr sz="1600" b="1" i="0" u="none">
                <a:solidFill>
                  <a:srgbClr val="555B66"/>
                </a:solidFill>
                <a:latin typeface="Calibri"/>
              </a:rPr>
              <a:t>MC</a:t>
            </a:r>
          </a:p>
        </p:txBody>
      </p:sp>
      <p:cxnSp>
        <p:nvCxnSpPr>
          <p:cNvPr id="14" name="Connector 13"/>
          <p:cNvCxnSpPr/>
          <p:nvPr/>
        </p:nvCxnSpPr>
        <p:spPr>
          <a:xfrm>
            <a:off x="1417320" y="2173332"/>
            <a:ext cx="6613071" cy="3633108"/>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070555" y="2743200"/>
            <a:ext cx="2651760" cy="731520"/>
          </a:xfrm>
          <a:prstGeom prst="rect">
            <a:avLst/>
          </a:prstGeom>
          <a:noFill/>
        </p:spPr>
        <p:txBody>
          <a:bodyPr wrap="square" lIns="45720" rIns="45720" tIns="0" bIns="0">
            <a:spAutoFit/>
          </a:bodyPr>
          <a:lstStyle/>
          <a:p xmlns:m="http://schemas.openxmlformats.org/officeDocument/2006/math" xmlns:a14="http://schemas.microsoft.com/office/drawing/2010/main">
            <a:r>
              <a:rPr lang="en-US" sz="1700" b="1">
                <a:solidFill>
                  <a:srgbClr val="0B2B4E"/>
                </a:solidFill>
                <a:latin typeface="Calibri"/>
              </a:rPr>
              <a:t>Market Demand</a:t>
            </a:r>
            <a:endParaRPr lang="en-US"/>
          </a:p>
          <a:p xmlns:m="http://schemas.openxmlformats.org/officeDocument/2006/math" xmlns:a14="http://schemas.microsoft.com/office/drawing/2010/main">
            <a14:m>
              <m:oMath>
                <m:r>
                  <a:rPr lang="en-US" b="0" i="1" sz="1600">
                    <a:solidFill>
                      <a:srgbClr val="0B2B4E"/>
                    </a:solidFill>
                    <a:latin typeface="Cambria Math"/>
                    <a:ea typeface="Cambria Math"/>
                  </a:rPr>
                  <m:t>P</m:t>
                </m:r>
                <m:r>
                  <m:rPr>
                    <m:sty m:val="p"/>
                  </m:rPr>
                  <a:rPr lang="en-US" b="0" i="0" sz="1600">
                    <a:solidFill>
                      <a:srgbClr val="0B2B4E"/>
                    </a:solidFill>
                    <a:latin typeface="Cambria Math"/>
                  </a:rPr>
                  <m:t xml:space="preserve"> = 100 − </m:t>
                </m:r>
                <m:sSub>
                  <m:sSubPr>
                    <m:ctrlPr>
                      <a:rPr lang="en-US" i="1">
                        <a:latin typeface="Cambria Math"/>
                      </a:rPr>
                    </m:ctrlPr>
                  </m:sSubPr>
                  <m:e>
                    <m:r>
                      <a:rPr lang="en-US" b="0" i="1" sz="1600">
                        <a:solidFill>
                          <a:srgbClr val="0B2B4E"/>
                        </a:solidFill>
                        <a:latin typeface="Cambria Math"/>
                        <a:ea typeface="Cambria Math"/>
                      </a:rPr>
                      <m:t>Q</m:t>
                    </m:r>
                  </m:e>
                  <m:sub>
                    <m:r>
                      <m:rPr>
                        <m:sty m:val="p"/>
                      </m:rPr>
                      <a:rPr lang="en-US" b="0" i="0" sz="1600">
                        <a:solidFill>
                          <a:srgbClr val="0B2B4E"/>
                        </a:solidFill>
                        <a:latin typeface="Cambria Math"/>
                      </a:rPr>
                      <m:t xml:space="preserve">M</m:t>
                    </m:r>
                  </m:sub>
                </m:sSub>
              </m:oMath>
            </a14:m>
            <a:endParaRPr lang="en-US"/>
          </a:p>
        </p:txBody>
      </p:sp>
      <p:cxnSp>
        <p:nvCxnSpPr>
          <p:cNvPr id="16" name="Connector 15"/>
          <p:cNvCxnSpPr/>
          <p:nvPr/>
        </p:nvCxnSpPr>
        <p:spPr>
          <a:xfrm>
            <a:off x="1417320" y="3989886"/>
            <a:ext cx="3306535" cy="1816554"/>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649577" y="3738981"/>
            <a:ext cx="2743200" cy="1005840"/>
          </a:xfrm>
          <a:prstGeom prst="rect">
            <a:avLst/>
          </a:prstGeom>
          <a:noFill/>
        </p:spPr>
        <p:txBody>
          <a:bodyPr wrap="square" lIns="45720" rIns="45720" tIns="0" bIns="0">
            <a:spAutoFit/>
          </a:bodyPr>
          <a:lstStyle/>
          <a:p xmlns:m="http://schemas.openxmlformats.org/officeDocument/2006/math" xmlns:a14="http://schemas.microsoft.com/office/drawing/2010/main">
            <a:r>
              <a:rPr lang="en-US" sz="1600" b="1">
                <a:solidFill>
                  <a:srgbClr val="C00000"/>
                </a:solidFill>
                <a:latin typeface="Calibri"/>
              </a:rPr>
              <a:t>Firm A's Demand</a:t>
            </a:r>
            <a:endParaRPr lang="en-US"/>
          </a:p>
          <a:p xmlns:m="http://schemas.openxmlformats.org/officeDocument/2006/math" xmlns:a14="http://schemas.microsoft.com/office/drawing/2010/main">
            <a14:m>
              <m:oMath>
                <m:r>
                  <a:rPr lang="en-US" b="0" i="1" sz="1400">
                    <a:solidFill>
                      <a:srgbClr val="C00000"/>
                    </a:solidFill>
                    <a:latin typeface="Cambria Math"/>
                    <a:ea typeface="Cambria Math"/>
                  </a:rPr>
                  <m:t>P</m:t>
                </m:r>
                <m:r>
                  <m:rPr>
                    <m:sty m:val="p"/>
                  </m:rPr>
                  <a:rPr lang="en-US" b="0" i="0" sz="1400">
                    <a:solidFill>
                      <a:srgbClr val="C00000"/>
                    </a:solidFill>
                    <a:latin typeface="Cambria Math"/>
                  </a:rPr>
                  <m:t xml:space="preserve"> = 100 − (</m:t>
                </m:r>
                <m:sSub>
                  <m:sSubPr>
                    <m:ctrlPr>
                      <a:rPr lang="en-US" i="1">
                        <a:latin typeface="Cambria Math"/>
                      </a:rPr>
                    </m:ctrlPr>
                  </m:sSubPr>
                  <m:e>
                    <m:r>
                      <a:rPr lang="en-US" b="0" i="1" sz="1400">
                        <a:solidFill>
                          <a:srgbClr val="C00000"/>
                        </a:solidFill>
                        <a:latin typeface="Cambria Math"/>
                        <a:ea typeface="Cambria Math"/>
                      </a:rPr>
                      <m:t>Q</m:t>
                    </m:r>
                  </m:e>
                  <m:sub>
                    <m:r>
                      <m:rPr>
                        <m:sty m:val="p"/>
                      </m:rPr>
                      <a:rPr lang="en-US" b="0" i="0" sz="1400">
                        <a:solidFill>
                          <a:srgbClr val="C00000"/>
                        </a:solidFill>
                        <a:latin typeface="Cambria Math"/>
                      </a:rPr>
                      <m:t xml:space="preserve">A</m:t>
                    </m:r>
                  </m:sub>
                </m:sSub>
                <m:r>
                  <m:rPr>
                    <m:sty m:val="p"/>
                  </m:rPr>
                  <a:rPr lang="en-US" b="0" i="0" sz="1400">
                    <a:solidFill>
                      <a:srgbClr val="C00000"/>
                    </a:solidFill>
                    <a:latin typeface="Cambria Math"/>
                  </a:rPr>
                  <m:t xml:space="preserve"> + 50)</m:t>
                </m:r>
              </m:oMath>
            </a14:m>
            <a:endParaRPr lang="en-US"/>
          </a:p>
          <a:p xmlns:m="http://schemas.openxmlformats.org/officeDocument/2006/math" xmlns:a14="http://schemas.microsoft.com/office/drawing/2010/main">
            <a14:m>
              <m:oMath>
                <m:r>
                  <m:rPr>
                    <m:sty m:val="p"/>
                  </m:rPr>
                  <a:rPr lang="en-US" b="0" i="0" sz="1400">
                    <a:solidFill>
                      <a:srgbClr val="C00000"/>
                    </a:solidFill>
                    <a:latin typeface="Cambria Math"/>
                  </a:rPr>
                  <m:t xml:space="preserve">    = 50 − </m:t>
                </m:r>
                <m:sSub>
                  <m:sSubPr>
                    <m:ctrlPr>
                      <a:rPr lang="en-US" i="1">
                        <a:latin typeface="Cambria Math"/>
                      </a:rPr>
                    </m:ctrlPr>
                  </m:sSubPr>
                  <m:e>
                    <m:r>
                      <a:rPr lang="en-US" b="0" i="1" sz="1400">
                        <a:solidFill>
                          <a:srgbClr val="C00000"/>
                        </a:solidFill>
                        <a:latin typeface="Cambria Math"/>
                        <a:ea typeface="Cambria Math"/>
                      </a:rPr>
                      <m:t>Q</m:t>
                    </m:r>
                  </m:e>
                  <m:sub>
                    <m:r>
                      <m:rPr>
                        <m:sty m:val="p"/>
                      </m:rPr>
                      <a:rPr lang="en-US" b="0" i="0" sz="1400">
                        <a:solidFill>
                          <a:srgbClr val="C00000"/>
                        </a:solidFill>
                        <a:latin typeface="Cambria Math"/>
                      </a:rPr>
                      <m:t xml:space="preserve">A</m:t>
                    </m:r>
                  </m:sub>
                </m:sSub>
              </m:oMath>
            </a14:m>
            <a:endParaRPr lang="en-US"/>
          </a:p>
        </p:txBody>
      </p:sp>
      <p:cxnSp>
        <p:nvCxnSpPr>
          <p:cNvPr id="18" name="Connector 17"/>
          <p:cNvCxnSpPr/>
          <p:nvPr/>
        </p:nvCxnSpPr>
        <p:spPr>
          <a:xfrm>
            <a:off x="1417320" y="3989886"/>
            <a:ext cx="1653267" cy="1816554"/>
          </a:xfrm>
          <a:prstGeom prst="line">
            <a:avLst/>
          </a:prstGeom>
          <a:ln w="25400">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739542" y="5876848"/>
            <a:ext cx="868680" cy="329184"/>
          </a:xfrm>
          <a:prstGeom prst="rect">
            <a:avLst/>
          </a:prstGeom>
          <a:noFill/>
        </p:spPr>
        <p:txBody>
          <a:bodyPr wrap="square" anchor="ctr">
            <a:spAutoFit/>
          </a:bodyPr>
          <a:lstStyle/>
          <a:p xmlns:m="http://schemas.openxmlformats.org/officeDocument/2006/math" xmlns:a14="http://schemas.microsoft.com/office/drawing/2010/main">
            <a:pPr algn="ctr">
              <a:defRPr sz="1500" b="0" i="1">
                <a:solidFill>
                  <a:srgbClr val="C00000"/>
                </a:solidFill>
                <a:latin typeface="Cambria Math"/>
              </a:defRPr>
            </a:pPr>
            <a14:m>
              <m:oMathPara>
                <m:oMathParaPr>
                  <m:jc m:val="centerGroup"/>
                </m:oMathParaPr>
                <m:oMath>
                  <m:sSub>
                    <m:sSubPr>
                      <m:ctrlPr>
                        <a:rPr lang="en-US" i="1">
                          <a:latin typeface="Cambria Math"/>
                        </a:rPr>
                      </m:ctrlPr>
                    </m:sSubPr>
                    <m:e>
                      <m:r>
                        <m:rPr>
                          <m:sty m:val="p"/>
                        </m:rPr>
                        <a:rPr lang="en-US" b="0" i="0" sz="1500">
                          <a:solidFill>
                            <a:srgbClr val="C00000"/>
                          </a:solidFill>
                          <a:latin typeface="Cambria Math"/>
                        </a:rPr>
                        <m:t xml:space="preserve">MR</m:t>
                      </m:r>
                    </m:e>
                    <m:sub>
                      <m:r>
                        <m:rPr>
                          <m:sty m:val="p"/>
                        </m:rPr>
                        <a:rPr lang="en-US" b="0" i="0" sz="1500">
                          <a:solidFill>
                            <a:srgbClr val="C00000"/>
                          </a:solidFill>
                          <a:latin typeface="Cambria Math"/>
                        </a:rPr>
                        <m:t xml:space="preserve">A</m:t>
                      </m:r>
                    </m:sub>
                  </m:sSub>
                </m:oMath>
              </m:oMathPara>
            </a14:m>
            <a:endParaRPr lang="en-US" sz="1500"/>
          </a:p>
        </p:txBody>
      </p:sp>
      <p:cxnSp>
        <p:nvCxnSpPr>
          <p:cNvPr id="20" name="Connector 19"/>
          <p:cNvCxnSpPr/>
          <p:nvPr/>
        </p:nvCxnSpPr>
        <p:spPr>
          <a:xfrm flipH="1">
            <a:off x="3136718" y="4934494"/>
            <a:ext cx="3306536" cy="0"/>
          </a:xfrm>
          <a:prstGeom prst="line">
            <a:avLst/>
          </a:prstGeom>
          <a:ln w="22225">
            <a:solidFill>
              <a:srgbClr val="C00000"/>
            </a:solidFill>
            <a:tailEnd type="triangle" w="med" h="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185208" y="5023713"/>
            <a:ext cx="1463040" cy="274320"/>
          </a:xfrm>
          <a:prstGeom prst="rect">
            <a:avLst/>
          </a:prstGeom>
          <a:noFill/>
        </p:spPr>
        <p:txBody>
          <a:bodyPr wrap="square" lIns="0" rIns="0" tIns="0" bIns="0">
            <a:spAutoFit/>
          </a:bodyPr>
          <a:lstStyle/>
          <a:p>
            <a:pPr algn="ctr"/>
            <a:r>
              <a:rPr sz="1400" b="1" i="0" u="none">
                <a:solidFill>
                  <a:srgbClr val="C00000"/>
                </a:solidFill>
                <a:latin typeface="Calibri"/>
              </a:rPr>
              <a:t>50 units</a:t>
            </a:r>
          </a:p>
        </p:txBody>
      </p:sp>
      <p:cxnSp>
        <p:nvCxnSpPr>
          <p:cNvPr id="22" name="Connector 21"/>
          <p:cNvCxnSpPr/>
          <p:nvPr/>
        </p:nvCxnSpPr>
        <p:spPr>
          <a:xfrm flipV="1">
            <a:off x="2739934" y="4716507"/>
            <a:ext cx="0" cy="1089933"/>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417320" y="4716507"/>
            <a:ext cx="4629150"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2689642" y="5392837"/>
            <a:ext cx="100584" cy="100584"/>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689642" y="4666215"/>
            <a:ext cx="100584" cy="100584"/>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 y="2045316"/>
            <a:ext cx="868680" cy="274320"/>
          </a:xfrm>
          <a:prstGeom prst="rect">
            <a:avLst/>
          </a:prstGeom>
          <a:noFill/>
        </p:spPr>
        <p:txBody>
          <a:bodyPr wrap="square" lIns="0" rIns="0" tIns="0" bIns="0">
            <a:spAutoFit/>
          </a:bodyPr>
          <a:lstStyle/>
          <a:p>
            <a:pPr algn="r"/>
            <a:r>
              <a:rPr sz="1600" b="0" i="0" u="none">
                <a:solidFill>
                  <a:srgbClr val="0B2B4E"/>
                </a:solidFill>
                <a:latin typeface="Calibri"/>
              </a:rPr>
              <a:t>$100</a:t>
            </a:r>
          </a:p>
        </p:txBody>
      </p:sp>
      <p:sp>
        <p:nvSpPr>
          <p:cNvPr id="27" name="TextBox 26"/>
          <p:cNvSpPr txBox="1"/>
          <p:nvPr/>
        </p:nvSpPr>
        <p:spPr>
          <a:xfrm>
            <a:off x="438912" y="3861870"/>
            <a:ext cx="868680" cy="274320"/>
          </a:xfrm>
          <a:prstGeom prst="rect">
            <a:avLst/>
          </a:prstGeom>
          <a:noFill/>
        </p:spPr>
        <p:txBody>
          <a:bodyPr wrap="square" lIns="0" rIns="0" tIns="0" bIns="0">
            <a:spAutoFit/>
          </a:bodyPr>
          <a:lstStyle/>
          <a:p>
            <a:pPr algn="r"/>
            <a:r>
              <a:rPr sz="1600" b="0" i="0" u="none">
                <a:solidFill>
                  <a:srgbClr val="C00000"/>
                </a:solidFill>
                <a:latin typeface="Calibri"/>
              </a:rPr>
              <a:t>$50</a:t>
            </a:r>
          </a:p>
        </p:txBody>
      </p:sp>
      <p:sp>
        <p:nvSpPr>
          <p:cNvPr id="28" name="TextBox 27"/>
          <p:cNvSpPr txBox="1"/>
          <p:nvPr/>
        </p:nvSpPr>
        <p:spPr>
          <a:xfrm>
            <a:off x="438912" y="4588491"/>
            <a:ext cx="868680" cy="274320"/>
          </a:xfrm>
          <a:prstGeom prst="rect">
            <a:avLst/>
          </a:prstGeom>
          <a:noFill/>
        </p:spPr>
        <p:txBody>
          <a:bodyPr wrap="square" lIns="0" rIns="0" tIns="0" bIns="0">
            <a:spAutoFit/>
          </a:bodyPr>
          <a:lstStyle/>
          <a:p>
            <a:pPr algn="r"/>
            <a:r>
              <a:rPr sz="1600" b="1" i="0" u="none">
                <a:solidFill>
                  <a:srgbClr val="0B2B4E"/>
                </a:solidFill>
                <a:latin typeface="Calibri"/>
              </a:rPr>
              <a:t>$30</a:t>
            </a:r>
          </a:p>
        </p:txBody>
      </p:sp>
      <p:sp>
        <p:nvSpPr>
          <p:cNvPr id="29" name="TextBox 28"/>
          <p:cNvSpPr txBox="1"/>
          <p:nvPr/>
        </p:nvSpPr>
        <p:spPr>
          <a:xfrm>
            <a:off x="438912" y="5315113"/>
            <a:ext cx="868680" cy="274320"/>
          </a:xfrm>
          <a:prstGeom prst="rect">
            <a:avLst/>
          </a:prstGeom>
          <a:noFill/>
        </p:spPr>
        <p:txBody>
          <a:bodyPr wrap="square" lIns="0" rIns="0" tIns="0" bIns="0">
            <a:spAutoFit/>
          </a:bodyPr>
          <a:lstStyle/>
          <a:p>
            <a:pPr algn="r"/>
            <a:r>
              <a:rPr sz="1600" b="0" i="0" u="none">
                <a:solidFill>
                  <a:srgbClr val="555B66"/>
                </a:solidFill>
                <a:latin typeface="Calibri"/>
              </a:rPr>
              <a:t>$10</a:t>
            </a:r>
          </a:p>
        </p:txBody>
      </p:sp>
      <p:sp>
        <p:nvSpPr>
          <p:cNvPr id="30" name="TextBox 29"/>
          <p:cNvSpPr txBox="1"/>
          <p:nvPr/>
        </p:nvSpPr>
        <p:spPr>
          <a:xfrm>
            <a:off x="2282734" y="5861303"/>
            <a:ext cx="914400" cy="274320"/>
          </a:xfrm>
          <a:prstGeom prst="rect">
            <a:avLst/>
          </a:prstGeom>
          <a:noFill/>
        </p:spPr>
        <p:txBody>
          <a:bodyPr wrap="square" lIns="0" rIns="0" tIns="0" bIns="0">
            <a:spAutoFit/>
          </a:bodyPr>
          <a:lstStyle/>
          <a:p>
            <a:pPr algn="ctr"/>
            <a:r>
              <a:rPr sz="1600" b="1" i="0" u="none">
                <a:solidFill>
                  <a:srgbClr val="C00000"/>
                </a:solidFill>
                <a:latin typeface="Calibri"/>
              </a:rPr>
              <a:t>20</a:t>
            </a:r>
          </a:p>
        </p:txBody>
      </p:sp>
      <p:sp>
        <p:nvSpPr>
          <p:cNvPr id="31" name="TextBox 30"/>
          <p:cNvSpPr txBox="1"/>
          <p:nvPr/>
        </p:nvSpPr>
        <p:spPr>
          <a:xfrm>
            <a:off x="4266655" y="5861303"/>
            <a:ext cx="914400" cy="274320"/>
          </a:xfrm>
          <a:prstGeom prst="rect">
            <a:avLst/>
          </a:prstGeom>
          <a:noFill/>
        </p:spPr>
        <p:txBody>
          <a:bodyPr wrap="square" lIns="0" rIns="0" tIns="0" bIns="0">
            <a:spAutoFit/>
          </a:bodyPr>
          <a:lstStyle/>
          <a:p>
            <a:pPr algn="ctr"/>
            <a:r>
              <a:rPr sz="1600" b="0" i="0" u="none">
                <a:solidFill>
                  <a:srgbClr val="0B2B4E"/>
                </a:solidFill>
                <a:latin typeface="Calibri"/>
              </a:rPr>
              <a:t>50</a:t>
            </a:r>
          </a:p>
        </p:txBody>
      </p:sp>
      <p:sp>
        <p:nvSpPr>
          <p:cNvPr id="32" name="TextBox 31"/>
          <p:cNvSpPr txBox="1"/>
          <p:nvPr/>
        </p:nvSpPr>
        <p:spPr>
          <a:xfrm>
            <a:off x="7573191" y="5861303"/>
            <a:ext cx="914400" cy="274320"/>
          </a:xfrm>
          <a:prstGeom prst="rect">
            <a:avLst/>
          </a:prstGeom>
          <a:noFill/>
        </p:spPr>
        <p:txBody>
          <a:bodyPr wrap="square" lIns="0" rIns="0" tIns="0" bIns="0">
            <a:spAutoFit/>
          </a:bodyPr>
          <a:lstStyle/>
          <a:p>
            <a:pPr algn="ctr"/>
            <a:r>
              <a:rPr sz="1600" b="0" i="0" u="none">
                <a:solidFill>
                  <a:srgbClr val="0B2B4E"/>
                </a:solidFill>
                <a:latin typeface="Calibri"/>
              </a:rPr>
              <a:t>100</a:t>
            </a:r>
          </a:p>
        </p:txBody>
      </p:sp>
      <p:grpSp>
        <p:nvGrpSpPr>
          <p:cNvPr id="36" name="MktGuide 36"/>
          <p:cNvGrpSpPr/>
          <p:nvPr/>
        </p:nvGrpSpPr>
        <p:grpSpPr>
          <a:xfrm>
            <a:off x="5589270" y="4666215"/>
            <a:ext cx="914400" cy="1469408"/>
            <a:chOff x="5589270" y="4666215"/>
            <a:chExt cx="914400" cy="1469408"/>
          </a:xfrm>
        </p:grpSpPr>
        <p:cxnSp>
          <p:nvCxnSpPr>
            <p:cNvPr id="33" name="Connector 32"/>
            <p:cNvCxnSpPr/>
            <p:nvPr/>
          </p:nvCxnSpPr>
          <p:spPr>
            <a:xfrm>
              <a:off x="6046470" y="4716507"/>
              <a:ext cx="0" cy="1089933"/>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5996178" y="4666215"/>
              <a:ext cx="100584" cy="100584"/>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89270" y="5861303"/>
              <a:ext cx="914400" cy="274320"/>
            </a:xfrm>
            <a:prstGeom prst="rect">
              <a:avLst/>
            </a:prstGeom>
            <a:noFill/>
          </p:spPr>
          <p:txBody>
            <a:bodyPr wrap="square" lIns="0" rIns="0" tIns="0" bIns="0">
              <a:spAutoFit/>
            </a:bodyPr>
            <a:lstStyle/>
            <a:p>
              <a:pPr algn="ctr"/>
              <a:r>
                <a:rPr sz="1600" b="0" i="0" u="none">
                  <a:solidFill>
                    <a:srgbClr val="0B2B4E"/>
                  </a:solidFill>
                  <a:latin typeface="Calibri"/>
                </a:rPr>
                <a:t>70</a:t>
              </a:r>
            </a:p>
          </p:txBody>
        </p:sp>
      </p:grpSp>
      <p:sp>
        <p:nvSpPr>
          <p:cNvPr id="37" name="Rounded Rectangle 36"/>
          <p:cNvSpPr/>
          <p:nvPr/>
        </p:nvSpPr>
        <p:spPr>
          <a:xfrm>
            <a:off x="8485632" y="2130552"/>
            <a:ext cx="3172968" cy="914400"/>
          </a:xfrm>
          <a:prstGeom prst="roundRect">
            <a:avLst>
              <a:gd name="adj" fmla="val 16000"/>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
            </a:r>
          </a:p>
        </p:txBody>
      </p:sp>
      <p:sp>
        <p:nvSpPr>
          <p:cNvPr id="38" name="TextBox 37"/>
          <p:cNvSpPr txBox="1"/>
          <p:nvPr/>
        </p:nvSpPr>
        <p:spPr>
          <a:xfrm>
            <a:off x="8631936" y="2264968"/>
            <a:ext cx="2880360" cy="649224"/>
          </a:xfrm>
          <a:prstGeom prst="rect">
            <a:avLst/>
          </a:prstGeom>
          <a:noFill/>
        </p:spPr>
        <p:txBody>
          <a:bodyPr wrap="square" anchor="ctr">
            <a:spAutoFit/>
          </a:bodyPr>
          <a:lstStyle/>
          <a:p>
            <a:r>
              <a:rPr sz="1800" b="0">
                <a:solidFill>
                  <a:srgbClr val="C00000"/>
                </a:solidFill>
                <a:latin typeface="Calibri"/>
              </a:rPr>
              <a:t>Firm A assumes that B produces 50 units (</a:t>
            </a:r>
            <a:r>
              <a:rPr sz="1800" b="1">
                <a:solidFill>
                  <a:srgbClr val="4D5D2C"/>
                </a:solidFill>
                <a:latin typeface="Calibri"/>
              </a:rPr>
              <a:t>Q</a:t>
            </a:r>
            <a:r>
              <a:rPr sz="1800" b="1" baseline="-25000">
                <a:solidFill>
                  <a:srgbClr val="4D5D2C"/>
                </a:solidFill>
                <a:latin typeface="Calibri"/>
              </a:rPr>
              <a:t>B</a:t>
            </a:r>
            <a:r>
              <a:rPr sz="1800" b="1">
                <a:solidFill>
                  <a:srgbClr val="4D5D2C"/>
                </a:solidFill>
                <a:latin typeface="Calibri"/>
              </a:rPr>
              <a:t> = 50</a:t>
            </a:r>
            <a:r>
              <a:rPr sz="1800" b="0">
                <a:solidFill>
                  <a:srgbClr val="C00000"/>
                </a:solidFill>
                <a:latin typeface="Calibri"/>
              </a:rPr>
              <a:t>)</a:t>
            </a:r>
          </a:p>
        </p:txBody>
      </p:sp>
      <p:sp>
        <p:nvSpPr>
          <p:cNvPr id="39" name="TextBox 38"/>
          <p:cNvSpPr txBox="1"/>
          <p:nvPr/>
        </p:nvSpPr>
        <p:spPr>
          <a:xfrm>
            <a:off x="9098280" y="3154680"/>
            <a:ext cx="2130552" cy="822960"/>
          </a:xfrm>
          <a:prstGeom prst="rect">
            <a:avLst/>
          </a:prstGeom>
          <a:noFill/>
        </p:spPr>
        <p:txBody>
          <a:bodyPr wrap="square" lIns="0" rIns="0" tIns="0" bIns="0">
            <a:spAutoFit/>
          </a:bodyPr>
          <a:lstStyle/>
          <a:p>
            <a:pPr algn="l"/>
            <a:r>
              <a:rPr sz="1700" b="1" i="0" u="none">
                <a:solidFill>
                  <a:srgbClr val="C00000"/>
                </a:solidFill>
                <a:latin typeface="Calibri"/>
              </a:rPr>
              <a:t>→  Firm A's optimal response is 20 units</a:t>
            </a:r>
          </a:p>
        </p:txBody>
      </p:sp>
      <p:sp>
        <p:nvSpPr>
          <p:cNvPr id="40" name="Rectangle 3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43" name="TextBox 42"/>
          <p:cNvSpPr txBox="1"/>
          <p:nvPr/>
        </p:nvSpPr>
        <p:spPr>
          <a:xfrm>
            <a:off x="11475720" y="6583680"/>
            <a:ext cx="502920" cy="292608"/>
          </a:xfrm>
          <a:prstGeom prst="rect">
            <a:avLst/>
          </a:prstGeom>
          <a:noFill/>
        </p:spPr>
        <p:txBody>
          <a:bodyPr wrap="none" lIns="0" rIns="0" tIns="0" bIns="0">
            <a:spAutoFit/>
          </a:bodyPr>
          <a:lstStyle/>
          <a:p>
            <a:pPr algn="r"/>
            <a:fld id="{2E08368C-E20F-5A0A-B753-D95CA8D8D6E2}" type="slidenum">
              <a:rPr lang="en-US" sz="1200" dirty="0">
                <a:solidFill>
                  <a:srgbClr val="555B66"/>
                </a:solidFill>
                <a:latin typeface="Calibri"/>
              </a:rPr>
              <a:t>23</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500"/>
                                        <p:tgtEl>
                                          <p:spTgt spid="3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500"/>
                                        <p:tgtEl>
                                          <p:spTgt spid="3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500"/>
                                        <p:tgtEl>
                                          <p:spTgt spid="3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500"/>
                                        <p:tgtEl>
                                          <p:spTgt spid="2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500"/>
                                        <p:tgtEl>
                                          <p:spTgt spid="3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500"/>
                                        <p:tgtEl>
                                          <p:spTgt spid="1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00"/>
                                        <p:tgtEl>
                                          <p:spTgt spid="2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500"/>
                                        <p:tgtEl>
                                          <p:spTgt spid="30"/>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fade">
                                      <p:cBhvr>
                                        <p:cTn id="88" dur="500"/>
                                        <p:tgtEl>
                                          <p:spTgt spid="39"/>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36"/>
                                        </p:tgtEl>
                                        <p:attrNameLst>
                                          <p:attrName>style.visibility</p:attrName>
                                        </p:attrNameLst>
                                      </p:cBhvr>
                                      <p:to>
                                        <p:strVal val="visible"/>
                                      </p:to>
                                    </p:set>
                                    <p:animEffect transition="in" filter="fade">
                                      <p:cBhvr>
                                        <p:cTn id="9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Cournot Competition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Cournot Competition: Reaction Function (II)</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4048" y="1371600"/>
            <a:ext cx="11430000" cy="498348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flipV="1">
            <a:off x="1417320" y="1572767"/>
            <a:ext cx="0" cy="4233673"/>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417320" y="5806440"/>
            <a:ext cx="757123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51560" y="1234440"/>
            <a:ext cx="640080" cy="320040"/>
          </a:xfrm>
          <a:prstGeom prst="rect">
            <a:avLst/>
          </a:prstGeom>
          <a:noFill/>
        </p:spPr>
        <p:txBody>
          <a:bodyPr wrap="square" lIns="0" rIns="0" tIns="0" bIns="0">
            <a:spAutoFit/>
          </a:bodyPr>
          <a:lstStyle/>
          <a:p>
            <a:pPr algn="ctr"/>
            <a:r>
              <a:rPr sz="1800" b="1" i="1" u="none">
                <a:solidFill>
                  <a:srgbClr val="0B2B4E"/>
                </a:solidFill>
                <a:latin typeface="Calibri"/>
              </a:rPr>
              <a:t>P</a:t>
            </a:r>
          </a:p>
        </p:txBody>
      </p:sp>
      <p:sp>
        <p:nvSpPr>
          <p:cNvPr id="11" name="TextBox 10"/>
          <p:cNvSpPr txBox="1"/>
          <p:nvPr/>
        </p:nvSpPr>
        <p:spPr>
          <a:xfrm>
            <a:off x="8869680" y="5861304"/>
            <a:ext cx="548640" cy="320040"/>
          </a:xfrm>
          <a:prstGeom prst="rect">
            <a:avLst/>
          </a:prstGeom>
          <a:noFill/>
        </p:spPr>
        <p:txBody>
          <a:bodyPr wrap="square" lIns="0" rIns="0" tIns="0" bIns="0">
            <a:spAutoFit/>
          </a:bodyPr>
          <a:lstStyle/>
          <a:p>
            <a:pPr algn="l"/>
            <a:r>
              <a:rPr sz="1800" b="1" i="1" u="none">
                <a:solidFill>
                  <a:srgbClr val="0B2B4E"/>
                </a:solidFill>
                <a:latin typeface="Calibri"/>
              </a:rPr>
              <a:t>Q</a:t>
            </a:r>
          </a:p>
        </p:txBody>
      </p:sp>
      <p:cxnSp>
        <p:nvCxnSpPr>
          <p:cNvPr id="12" name="Connector 11"/>
          <p:cNvCxnSpPr/>
          <p:nvPr/>
        </p:nvCxnSpPr>
        <p:spPr>
          <a:xfrm>
            <a:off x="1417320" y="5443129"/>
            <a:ext cx="6943725" cy="0"/>
          </a:xfrm>
          <a:prstGeom prst="line">
            <a:avLst/>
          </a:prstGeom>
          <a:ln w="31750">
            <a:solidFill>
              <a:srgbClr val="555B6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964424" y="5114239"/>
            <a:ext cx="822960" cy="292608"/>
          </a:xfrm>
          <a:prstGeom prst="rect">
            <a:avLst/>
          </a:prstGeom>
          <a:noFill/>
        </p:spPr>
        <p:txBody>
          <a:bodyPr wrap="square" lIns="0" rIns="0" tIns="0" bIns="0">
            <a:spAutoFit/>
          </a:bodyPr>
          <a:lstStyle/>
          <a:p>
            <a:pPr algn="ctr"/>
            <a:r>
              <a:rPr sz="1600" b="1" i="0" u="none">
                <a:solidFill>
                  <a:srgbClr val="555B66"/>
                </a:solidFill>
                <a:latin typeface="Calibri"/>
              </a:rPr>
              <a:t>MC</a:t>
            </a:r>
          </a:p>
        </p:txBody>
      </p:sp>
      <p:cxnSp>
        <p:nvCxnSpPr>
          <p:cNvPr id="14" name="Connector 13"/>
          <p:cNvCxnSpPr/>
          <p:nvPr/>
        </p:nvCxnSpPr>
        <p:spPr>
          <a:xfrm>
            <a:off x="1417320" y="2173332"/>
            <a:ext cx="6613071" cy="3633108"/>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853074" y="4172407"/>
            <a:ext cx="2651760" cy="731520"/>
          </a:xfrm>
          <a:prstGeom prst="rect">
            <a:avLst/>
          </a:prstGeom>
          <a:noFill/>
        </p:spPr>
        <p:txBody>
          <a:bodyPr wrap="square" lIns="45720" rIns="45720" tIns="0" bIns="0">
            <a:spAutoFit/>
          </a:bodyPr>
          <a:lstStyle/>
          <a:p xmlns:m="http://schemas.openxmlformats.org/officeDocument/2006/math" xmlns:a14="http://schemas.microsoft.com/office/drawing/2010/main">
            <a:r>
              <a:rPr lang="en-US" sz="1700" b="1">
                <a:solidFill>
                  <a:srgbClr val="0B2B4E"/>
                </a:solidFill>
                <a:latin typeface="Calibri"/>
              </a:rPr>
              <a:t>Market Demand</a:t>
            </a:r>
            <a:endParaRPr lang="en-US"/>
          </a:p>
          <a:p xmlns:m="http://schemas.openxmlformats.org/officeDocument/2006/math" xmlns:a14="http://schemas.microsoft.com/office/drawing/2010/main">
            <a14:m>
              <m:oMath>
                <m:r>
                  <a:rPr lang="en-US" b="0" i="1" sz="1600">
                    <a:solidFill>
                      <a:srgbClr val="0B2B4E"/>
                    </a:solidFill>
                    <a:latin typeface="Cambria Math"/>
                    <a:ea typeface="Cambria Math"/>
                  </a:rPr>
                  <m:t>P</m:t>
                </m:r>
                <m:r>
                  <m:rPr>
                    <m:sty m:val="p"/>
                  </m:rPr>
                  <a:rPr lang="en-US" b="0" i="0" sz="1600">
                    <a:solidFill>
                      <a:srgbClr val="0B2B4E"/>
                    </a:solidFill>
                    <a:latin typeface="Cambria Math"/>
                  </a:rPr>
                  <m:t xml:space="preserve"> = 100 − </m:t>
                </m:r>
                <m:sSub>
                  <m:sSubPr>
                    <m:ctrlPr>
                      <a:rPr lang="en-US" i="1">
                        <a:latin typeface="Cambria Math"/>
                      </a:rPr>
                    </m:ctrlPr>
                  </m:sSubPr>
                  <m:e>
                    <m:r>
                      <a:rPr lang="en-US" b="0" i="1" sz="1600">
                        <a:solidFill>
                          <a:srgbClr val="0B2B4E"/>
                        </a:solidFill>
                        <a:latin typeface="Cambria Math"/>
                        <a:ea typeface="Cambria Math"/>
                      </a:rPr>
                      <m:t>Q</m:t>
                    </m:r>
                  </m:e>
                  <m:sub>
                    <m:r>
                      <m:rPr>
                        <m:sty m:val="p"/>
                      </m:rPr>
                      <a:rPr lang="en-US" b="0" i="0" sz="1600">
                        <a:solidFill>
                          <a:srgbClr val="0B2B4E"/>
                        </a:solidFill>
                        <a:latin typeface="Cambria Math"/>
                      </a:rPr>
                      <m:t xml:space="preserve">M</m:t>
                    </m:r>
                  </m:sub>
                </m:sSub>
              </m:oMath>
            </a14:m>
            <a:endParaRPr lang="en-US"/>
          </a:p>
        </p:txBody>
      </p:sp>
      <p:cxnSp>
        <p:nvCxnSpPr>
          <p:cNvPr id="16" name="Connector 15"/>
          <p:cNvCxnSpPr/>
          <p:nvPr/>
        </p:nvCxnSpPr>
        <p:spPr>
          <a:xfrm>
            <a:off x="1417320" y="2899954"/>
            <a:ext cx="5290457" cy="2906486"/>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141524" y="2553919"/>
            <a:ext cx="2249424" cy="457200"/>
          </a:xfrm>
          <a:prstGeom prst="rect">
            <a:avLst/>
          </a:prstGeom>
          <a:solidFill>
            <a:srgbClr val="FFFFFF"/>
          </a:solidFill>
        </p:spPr>
        <p:txBody>
          <a:bodyPr wrap="square" lIns="45720" rIns="45720" tIns="0" bIns="0">
            <a:spAutoFit/>
          </a:bodyPr>
          <a:lstStyle/>
          <a:p xmlns:m="http://schemas.openxmlformats.org/officeDocument/2006/math" xmlns:a14="http://schemas.microsoft.com/office/drawing/2010/main">
            <a:r>
              <a:rPr lang="en-US" sz="1600" b="1">
                <a:solidFill>
                  <a:srgbClr val="C00000"/>
                </a:solidFill>
                <a:latin typeface="Calibri"/>
              </a:rPr>
              <a:t>Firm A's Demand</a:t>
            </a:r>
            <a:endParaRPr lang="en-US"/>
          </a:p>
          <a:p xmlns:m="http://schemas.openxmlformats.org/officeDocument/2006/math" xmlns:a14="http://schemas.microsoft.com/office/drawing/2010/main">
            <a14:m>
              <m:oMath>
                <m:r>
                  <a:rPr lang="en-US" b="0" i="1" sz="1400">
                    <a:solidFill>
                      <a:srgbClr val="C00000"/>
                    </a:solidFill>
                    <a:latin typeface="Cambria Math"/>
                    <a:ea typeface="Cambria Math"/>
                  </a:rPr>
                  <m:t>P</m:t>
                </m:r>
                <m:r>
                  <m:rPr>
                    <m:sty m:val="p"/>
                  </m:rPr>
                  <a:rPr lang="en-US" b="0" i="0" sz="1400">
                    <a:solidFill>
                      <a:srgbClr val="C00000"/>
                    </a:solidFill>
                    <a:latin typeface="Cambria Math"/>
                  </a:rPr>
                  <m:t xml:space="preserve"> = 80 − </m:t>
                </m:r>
                <m:sSub>
                  <m:sSubPr>
                    <m:ctrlPr>
                      <a:rPr lang="en-US" i="1">
                        <a:latin typeface="Cambria Math"/>
                      </a:rPr>
                    </m:ctrlPr>
                  </m:sSubPr>
                  <m:e>
                    <m:r>
                      <a:rPr lang="en-US" b="0" i="1" sz="1400">
                        <a:solidFill>
                          <a:srgbClr val="C00000"/>
                        </a:solidFill>
                        <a:latin typeface="Cambria Math"/>
                        <a:ea typeface="Cambria Math"/>
                      </a:rPr>
                      <m:t>Q</m:t>
                    </m:r>
                  </m:e>
                  <m:sub>
                    <m:r>
                      <m:rPr>
                        <m:sty m:val="p"/>
                      </m:rPr>
                      <a:rPr lang="en-US" b="0" i="0" sz="1400">
                        <a:solidFill>
                          <a:srgbClr val="C00000"/>
                        </a:solidFill>
                        <a:latin typeface="Cambria Math"/>
                      </a:rPr>
                      <m:t xml:space="preserve">A</m:t>
                    </m:r>
                  </m:sub>
                </m:sSub>
              </m:oMath>
            </a14:m>
            <a:endParaRPr lang="en-US"/>
          </a:p>
        </p:txBody>
      </p:sp>
      <p:cxnSp>
        <p:nvCxnSpPr>
          <p:cNvPr id="18" name="Connector 17"/>
          <p:cNvCxnSpPr/>
          <p:nvPr/>
        </p:nvCxnSpPr>
        <p:spPr>
          <a:xfrm>
            <a:off x="1417320" y="2899954"/>
            <a:ext cx="2645228" cy="2906486"/>
          </a:xfrm>
          <a:prstGeom prst="line">
            <a:avLst/>
          </a:prstGeom>
          <a:ln w="25400">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781044" y="5886907"/>
            <a:ext cx="868680" cy="329184"/>
          </a:xfrm>
          <a:prstGeom prst="rect">
            <a:avLst/>
          </a:prstGeom>
          <a:noFill/>
        </p:spPr>
        <p:txBody>
          <a:bodyPr wrap="square" anchor="ctr">
            <a:spAutoFit/>
          </a:bodyPr>
          <a:lstStyle/>
          <a:p xmlns:m="http://schemas.openxmlformats.org/officeDocument/2006/math" xmlns:a14="http://schemas.microsoft.com/office/drawing/2010/main">
            <a:pPr algn="ctr">
              <a:defRPr sz="1500" b="0" i="1">
                <a:solidFill>
                  <a:srgbClr val="C00000"/>
                </a:solidFill>
                <a:latin typeface="Cambria Math"/>
              </a:defRPr>
            </a:pPr>
            <a14:m>
              <m:oMathPara>
                <m:oMathParaPr>
                  <m:jc m:val="centerGroup"/>
                </m:oMathParaPr>
                <m:oMath>
                  <m:sSub>
                    <m:sSubPr>
                      <m:ctrlPr>
                        <a:rPr lang="en-US" i="1">
                          <a:latin typeface="Cambria Math"/>
                        </a:rPr>
                      </m:ctrlPr>
                    </m:sSubPr>
                    <m:e>
                      <m:r>
                        <m:rPr>
                          <m:sty m:val="p"/>
                        </m:rPr>
                        <a:rPr lang="en-US" b="0" i="0" sz="1500">
                          <a:solidFill>
                            <a:srgbClr val="C00000"/>
                          </a:solidFill>
                          <a:latin typeface="Cambria Math"/>
                        </a:rPr>
                        <m:t xml:space="preserve">MR</m:t>
                      </m:r>
                    </m:e>
                    <m:sub>
                      <m:r>
                        <m:rPr>
                          <m:sty m:val="p"/>
                        </m:rPr>
                        <a:rPr lang="en-US" b="0" i="0" sz="1500">
                          <a:solidFill>
                            <a:srgbClr val="C00000"/>
                          </a:solidFill>
                          <a:latin typeface="Cambria Math"/>
                        </a:rPr>
                        <m:t xml:space="preserve">A</m:t>
                      </m:r>
                    </m:sub>
                  </m:sSub>
                </m:oMath>
              </m:oMathPara>
            </a14:m>
            <a:endParaRPr lang="en-US" sz="1500"/>
          </a:p>
        </p:txBody>
      </p:sp>
      <p:cxnSp>
        <p:nvCxnSpPr>
          <p:cNvPr id="20" name="Connector 19"/>
          <p:cNvCxnSpPr/>
          <p:nvPr/>
        </p:nvCxnSpPr>
        <p:spPr>
          <a:xfrm flipH="1">
            <a:off x="2078431" y="2899562"/>
            <a:ext cx="267919" cy="360274"/>
          </a:xfrm>
          <a:prstGeom prst="line">
            <a:avLst/>
          </a:prstGeom>
          <a:ln w="12700">
            <a:solidFill>
              <a:srgbClr val="C00000"/>
            </a:solidFill>
            <a:tailEnd type="triangle" w="sm" h="sm"/>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4393202" y="4534852"/>
            <a:ext cx="1322614" cy="0"/>
          </a:xfrm>
          <a:prstGeom prst="line">
            <a:avLst/>
          </a:prstGeom>
          <a:ln w="22225">
            <a:solidFill>
              <a:srgbClr val="C00000"/>
            </a:solidFill>
            <a:tailEnd type="triangle" w="med" h="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427524" y="4561941"/>
            <a:ext cx="1463040" cy="274320"/>
          </a:xfrm>
          <a:prstGeom prst="rect">
            <a:avLst/>
          </a:prstGeom>
          <a:noFill/>
        </p:spPr>
        <p:txBody>
          <a:bodyPr wrap="square" lIns="0" rIns="0" tIns="0" bIns="0">
            <a:spAutoFit/>
          </a:bodyPr>
          <a:lstStyle/>
          <a:p>
            <a:pPr algn="ctr"/>
            <a:r>
              <a:rPr sz="1400" b="1" i="0" u="none">
                <a:solidFill>
                  <a:srgbClr val="C00000"/>
                </a:solidFill>
                <a:latin typeface="Calibri"/>
              </a:rPr>
              <a:t>20 units</a:t>
            </a:r>
          </a:p>
        </p:txBody>
      </p:sp>
      <p:cxnSp>
        <p:nvCxnSpPr>
          <p:cNvPr id="23" name="Connector 22"/>
          <p:cNvCxnSpPr/>
          <p:nvPr/>
        </p:nvCxnSpPr>
        <p:spPr>
          <a:xfrm flipV="1">
            <a:off x="3731895" y="4171541"/>
            <a:ext cx="0" cy="1634899"/>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417320" y="4171541"/>
            <a:ext cx="3637189"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3681603" y="5392837"/>
            <a:ext cx="100584" cy="100584"/>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681603" y="4121249"/>
            <a:ext cx="100584" cy="100584"/>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8912" y="2045316"/>
            <a:ext cx="868680" cy="274320"/>
          </a:xfrm>
          <a:prstGeom prst="rect">
            <a:avLst/>
          </a:prstGeom>
          <a:noFill/>
        </p:spPr>
        <p:txBody>
          <a:bodyPr wrap="square" lIns="0" rIns="0" tIns="0" bIns="0">
            <a:spAutoFit/>
          </a:bodyPr>
          <a:lstStyle/>
          <a:p>
            <a:pPr algn="r"/>
            <a:r>
              <a:rPr sz="1600" b="0" i="0" u="none">
                <a:solidFill>
                  <a:srgbClr val="0B2B4E"/>
                </a:solidFill>
                <a:latin typeface="Calibri"/>
              </a:rPr>
              <a:t>$100</a:t>
            </a:r>
          </a:p>
        </p:txBody>
      </p:sp>
      <p:sp>
        <p:nvSpPr>
          <p:cNvPr id="28" name="TextBox 27"/>
          <p:cNvSpPr txBox="1"/>
          <p:nvPr/>
        </p:nvSpPr>
        <p:spPr>
          <a:xfrm>
            <a:off x="438912" y="2771938"/>
            <a:ext cx="868680" cy="274320"/>
          </a:xfrm>
          <a:prstGeom prst="rect">
            <a:avLst/>
          </a:prstGeom>
          <a:noFill/>
        </p:spPr>
        <p:txBody>
          <a:bodyPr wrap="square" lIns="0" rIns="0" tIns="0" bIns="0">
            <a:spAutoFit/>
          </a:bodyPr>
          <a:lstStyle/>
          <a:p>
            <a:pPr algn="r"/>
            <a:r>
              <a:rPr sz="1600" b="0" i="0" u="none">
                <a:solidFill>
                  <a:srgbClr val="C00000"/>
                </a:solidFill>
                <a:latin typeface="Calibri"/>
              </a:rPr>
              <a:t>$80</a:t>
            </a:r>
          </a:p>
        </p:txBody>
      </p:sp>
      <p:sp>
        <p:nvSpPr>
          <p:cNvPr id="29" name="TextBox 28"/>
          <p:cNvSpPr txBox="1"/>
          <p:nvPr/>
        </p:nvSpPr>
        <p:spPr>
          <a:xfrm>
            <a:off x="438912" y="4043525"/>
            <a:ext cx="868680" cy="274320"/>
          </a:xfrm>
          <a:prstGeom prst="rect">
            <a:avLst/>
          </a:prstGeom>
          <a:noFill/>
        </p:spPr>
        <p:txBody>
          <a:bodyPr wrap="square" lIns="0" rIns="0" tIns="0" bIns="0">
            <a:spAutoFit/>
          </a:bodyPr>
          <a:lstStyle/>
          <a:p>
            <a:pPr algn="r"/>
            <a:r>
              <a:rPr sz="1600" b="1" i="0" u="none">
                <a:solidFill>
                  <a:srgbClr val="0B2B4E"/>
                </a:solidFill>
                <a:latin typeface="Calibri"/>
              </a:rPr>
              <a:t>$45</a:t>
            </a:r>
          </a:p>
        </p:txBody>
      </p:sp>
      <p:sp>
        <p:nvSpPr>
          <p:cNvPr id="30" name="TextBox 29"/>
          <p:cNvSpPr txBox="1"/>
          <p:nvPr/>
        </p:nvSpPr>
        <p:spPr>
          <a:xfrm>
            <a:off x="438912" y="5315113"/>
            <a:ext cx="868680" cy="274320"/>
          </a:xfrm>
          <a:prstGeom prst="rect">
            <a:avLst/>
          </a:prstGeom>
          <a:noFill/>
        </p:spPr>
        <p:txBody>
          <a:bodyPr wrap="square" lIns="0" rIns="0" tIns="0" bIns="0">
            <a:spAutoFit/>
          </a:bodyPr>
          <a:lstStyle/>
          <a:p>
            <a:pPr algn="r"/>
            <a:r>
              <a:rPr sz="1600" b="0" i="0" u="none">
                <a:solidFill>
                  <a:srgbClr val="555B66"/>
                </a:solidFill>
                <a:latin typeface="Calibri"/>
              </a:rPr>
              <a:t>$10</a:t>
            </a:r>
          </a:p>
        </p:txBody>
      </p:sp>
      <p:sp>
        <p:nvSpPr>
          <p:cNvPr id="31" name="TextBox 30"/>
          <p:cNvSpPr txBox="1"/>
          <p:nvPr/>
        </p:nvSpPr>
        <p:spPr>
          <a:xfrm>
            <a:off x="3274695" y="5861303"/>
            <a:ext cx="914400" cy="274320"/>
          </a:xfrm>
          <a:prstGeom prst="rect">
            <a:avLst/>
          </a:prstGeom>
          <a:noFill/>
        </p:spPr>
        <p:txBody>
          <a:bodyPr wrap="square" lIns="0" rIns="0" tIns="0" bIns="0">
            <a:spAutoFit/>
          </a:bodyPr>
          <a:lstStyle/>
          <a:p>
            <a:pPr algn="ctr"/>
            <a:r>
              <a:rPr sz="1600" b="1" i="0" u="none">
                <a:solidFill>
                  <a:srgbClr val="C00000"/>
                </a:solidFill>
                <a:latin typeface="Calibri"/>
              </a:rPr>
              <a:t>35</a:t>
            </a:r>
          </a:p>
        </p:txBody>
      </p:sp>
      <p:sp>
        <p:nvSpPr>
          <p:cNvPr id="32" name="TextBox 31"/>
          <p:cNvSpPr txBox="1"/>
          <p:nvPr/>
        </p:nvSpPr>
        <p:spPr>
          <a:xfrm>
            <a:off x="6250577" y="5861303"/>
            <a:ext cx="914400" cy="274320"/>
          </a:xfrm>
          <a:prstGeom prst="rect">
            <a:avLst/>
          </a:prstGeom>
          <a:noFill/>
        </p:spPr>
        <p:txBody>
          <a:bodyPr wrap="square" lIns="0" rIns="0" tIns="0" bIns="0">
            <a:spAutoFit/>
          </a:bodyPr>
          <a:lstStyle/>
          <a:p>
            <a:pPr algn="ctr"/>
            <a:r>
              <a:rPr sz="1600" b="0" i="0" u="none">
                <a:solidFill>
                  <a:srgbClr val="0B2B4E"/>
                </a:solidFill>
                <a:latin typeface="Calibri"/>
              </a:rPr>
              <a:t>80</a:t>
            </a:r>
          </a:p>
        </p:txBody>
      </p:sp>
      <p:sp>
        <p:nvSpPr>
          <p:cNvPr id="33" name="TextBox 32"/>
          <p:cNvSpPr txBox="1"/>
          <p:nvPr/>
        </p:nvSpPr>
        <p:spPr>
          <a:xfrm>
            <a:off x="7573191" y="5861303"/>
            <a:ext cx="914400" cy="274320"/>
          </a:xfrm>
          <a:prstGeom prst="rect">
            <a:avLst/>
          </a:prstGeom>
          <a:noFill/>
        </p:spPr>
        <p:txBody>
          <a:bodyPr wrap="square" lIns="0" rIns="0" tIns="0" bIns="0">
            <a:spAutoFit/>
          </a:bodyPr>
          <a:lstStyle/>
          <a:p>
            <a:pPr algn="ctr"/>
            <a:r>
              <a:rPr sz="1600" b="0" i="0" u="none">
                <a:solidFill>
                  <a:srgbClr val="0B2B4E"/>
                </a:solidFill>
                <a:latin typeface="Calibri"/>
              </a:rPr>
              <a:t>100</a:t>
            </a:r>
          </a:p>
        </p:txBody>
      </p:sp>
      <p:grpSp>
        <p:nvGrpSpPr>
          <p:cNvPr id="37" name="MktGuide 37"/>
          <p:cNvGrpSpPr/>
          <p:nvPr/>
        </p:nvGrpSpPr>
        <p:grpSpPr>
          <a:xfrm>
            <a:off x="4597309" y="4121249"/>
            <a:ext cx="914400" cy="2014374"/>
            <a:chOff x="4597309" y="4121249"/>
            <a:chExt cx="914400" cy="2014374"/>
          </a:xfrm>
        </p:grpSpPr>
        <p:cxnSp>
          <p:nvCxnSpPr>
            <p:cNvPr id="34" name="Connector 33"/>
            <p:cNvCxnSpPr/>
            <p:nvPr/>
          </p:nvCxnSpPr>
          <p:spPr>
            <a:xfrm>
              <a:off x="5054509" y="4171541"/>
              <a:ext cx="0" cy="1634899"/>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5004217" y="4121249"/>
              <a:ext cx="100584" cy="100584"/>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97309" y="5861303"/>
              <a:ext cx="914400" cy="274320"/>
            </a:xfrm>
            <a:prstGeom prst="rect">
              <a:avLst/>
            </a:prstGeom>
            <a:noFill/>
          </p:spPr>
          <p:txBody>
            <a:bodyPr wrap="square" lIns="0" rIns="0" tIns="0" bIns="0">
              <a:spAutoFit/>
            </a:bodyPr>
            <a:lstStyle/>
            <a:p>
              <a:pPr algn="ctr"/>
              <a:r>
                <a:rPr sz="1600" b="0" i="0" u="none">
                  <a:solidFill>
                    <a:srgbClr val="0B2B4E"/>
                  </a:solidFill>
                  <a:latin typeface="Calibri"/>
                </a:rPr>
                <a:t>55</a:t>
              </a:r>
            </a:p>
          </p:txBody>
        </p:sp>
      </p:grpSp>
      <p:sp>
        <p:nvSpPr>
          <p:cNvPr id="38" name="Rounded Rectangle 37"/>
          <p:cNvSpPr/>
          <p:nvPr/>
        </p:nvSpPr>
        <p:spPr>
          <a:xfrm>
            <a:off x="8485632" y="2130552"/>
            <a:ext cx="3172968" cy="914400"/>
          </a:xfrm>
          <a:prstGeom prst="roundRect">
            <a:avLst>
              <a:gd name="adj" fmla="val 16000"/>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
            </a:r>
          </a:p>
        </p:txBody>
      </p:sp>
      <p:sp>
        <p:nvSpPr>
          <p:cNvPr id="39" name="TextBox 38"/>
          <p:cNvSpPr txBox="1"/>
          <p:nvPr/>
        </p:nvSpPr>
        <p:spPr>
          <a:xfrm>
            <a:off x="8631936" y="2264968"/>
            <a:ext cx="2880360" cy="649224"/>
          </a:xfrm>
          <a:prstGeom prst="rect">
            <a:avLst/>
          </a:prstGeom>
          <a:noFill/>
        </p:spPr>
        <p:txBody>
          <a:bodyPr wrap="square" anchor="ctr">
            <a:spAutoFit/>
          </a:bodyPr>
          <a:lstStyle/>
          <a:p>
            <a:r>
              <a:rPr sz="1800" b="0">
                <a:solidFill>
                  <a:srgbClr val="C00000"/>
                </a:solidFill>
                <a:latin typeface="Calibri"/>
              </a:rPr>
              <a:t>Now Firm A assumes that B produces 20 units (</a:t>
            </a:r>
            <a:r>
              <a:rPr sz="1800" b="1">
                <a:solidFill>
                  <a:srgbClr val="4D5D2C"/>
                </a:solidFill>
                <a:latin typeface="Calibri"/>
              </a:rPr>
              <a:t>Q</a:t>
            </a:r>
            <a:r>
              <a:rPr sz="1800" b="1" baseline="-25000">
                <a:solidFill>
                  <a:srgbClr val="4D5D2C"/>
                </a:solidFill>
                <a:latin typeface="Calibri"/>
              </a:rPr>
              <a:t>B</a:t>
            </a:r>
            <a:r>
              <a:rPr sz="1800" b="1">
                <a:solidFill>
                  <a:srgbClr val="4D5D2C"/>
                </a:solidFill>
                <a:latin typeface="Calibri"/>
              </a:rPr>
              <a:t> = 20</a:t>
            </a:r>
            <a:r>
              <a:rPr sz="1800" b="0">
                <a:solidFill>
                  <a:srgbClr val="C00000"/>
                </a:solidFill>
                <a:latin typeface="Calibri"/>
              </a:rPr>
              <a:t>)</a:t>
            </a:r>
          </a:p>
        </p:txBody>
      </p:sp>
      <p:sp>
        <p:nvSpPr>
          <p:cNvPr id="40" name="TextBox 39"/>
          <p:cNvSpPr txBox="1"/>
          <p:nvPr/>
        </p:nvSpPr>
        <p:spPr>
          <a:xfrm>
            <a:off x="9098280" y="3154680"/>
            <a:ext cx="2130552" cy="822960"/>
          </a:xfrm>
          <a:prstGeom prst="rect">
            <a:avLst/>
          </a:prstGeom>
          <a:noFill/>
        </p:spPr>
        <p:txBody>
          <a:bodyPr wrap="square" lIns="0" rIns="0" tIns="0" bIns="0">
            <a:spAutoFit/>
          </a:bodyPr>
          <a:lstStyle/>
          <a:p>
            <a:pPr algn="l"/>
            <a:r>
              <a:rPr sz="1700" b="1" i="0" u="none">
                <a:solidFill>
                  <a:srgbClr val="C00000"/>
                </a:solidFill>
                <a:latin typeface="Calibri"/>
              </a:rPr>
              <a:t>→  Firm A's optimal response is 35 units</a:t>
            </a:r>
          </a:p>
        </p:txBody>
      </p:sp>
      <p:sp>
        <p:nvSpPr>
          <p:cNvPr id="41" name="Rectangle 4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44" name="TextBox 43"/>
          <p:cNvSpPr txBox="1"/>
          <p:nvPr/>
        </p:nvSpPr>
        <p:spPr>
          <a:xfrm>
            <a:off x="11475720" y="6583680"/>
            <a:ext cx="502920" cy="292608"/>
          </a:xfrm>
          <a:prstGeom prst="rect">
            <a:avLst/>
          </a:prstGeom>
          <a:noFill/>
        </p:spPr>
        <p:txBody>
          <a:bodyPr wrap="none" lIns="0" rIns="0" tIns="0" bIns="0">
            <a:spAutoFit/>
          </a:bodyPr>
          <a:lstStyle/>
          <a:p>
            <a:pPr algn="r"/>
            <a:fld id="{54A555C4-A634-54BE-999C-D49D035C457D}" type="slidenum">
              <a:rPr lang="en-US" sz="1200" dirty="0">
                <a:solidFill>
                  <a:srgbClr val="555B66"/>
                </a:solidFill>
                <a:latin typeface="Calibri"/>
              </a:rPr>
              <a:t>24</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5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500"/>
                                        <p:tgtEl>
                                          <p:spTgt spid="2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500"/>
                                        <p:tgtEl>
                                          <p:spTgt spid="2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500"/>
                                        <p:tgtEl>
                                          <p:spTgt spid="2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500"/>
                                        <p:tgtEl>
                                          <p:spTgt spid="31"/>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500"/>
                                        <p:tgtEl>
                                          <p:spTgt spid="4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fade">
                                      <p:cBhvr>
                                        <p:cTn id="7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Cournot Competition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Firm A's Reaction Function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54480" y="1417320"/>
            <a:ext cx="9177832" cy="4608576"/>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flipV="1">
            <a:off x="3063240" y="1709928"/>
            <a:ext cx="0" cy="359359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063240" y="5303520"/>
            <a:ext cx="656539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rot="16200000">
            <a:off x="944575" y="3031236"/>
            <a:ext cx="3108960" cy="292608"/>
          </a:xfrm>
          <a:prstGeom prst="rect">
            <a:avLst/>
          </a:prstGeom>
          <a:noFill/>
        </p:spPr>
        <p:txBody>
          <a:bodyPr wrap="square" lIns="45720" rIns="45720" tIns="0" bIns="0">
            <a:spAutoFit/>
          </a:bodyPr>
          <a:lstStyle/>
          <a:p xmlns:m="http://schemas.openxmlformats.org/officeDocument/2006/math" xmlns:a14="http://schemas.microsoft.com/office/drawing/2010/main">
            <a:r>
              <a:rPr lang="en-US" sz="1600" b="1" i="1">
                <a:solidFill>
                  <a:srgbClr val="C00000"/>
                </a:solidFill>
                <a:latin typeface="Calibri"/>
              </a:rPr>
              <a:t>Firm A's Reaction (</a:t>
            </a:r>
            <a14:m>
              <m:oMath>
                <m:sSub>
                  <m:sSubPr>
                    <m:ctrlPr>
                      <a:rPr lang="en-US" i="1">
                        <a:latin typeface="Cambria Math"/>
                      </a:rPr>
                    </m:ctrlPr>
                  </m:sSubPr>
                  <m:e>
                    <m:r>
                      <a:rPr lang="en-US" b="0" i="1" sz="1600">
                        <a:solidFill>
                          <a:srgbClr val="C00000"/>
                        </a:solidFill>
                        <a:latin typeface="Cambria Math"/>
                        <a:ea typeface="Cambria Math"/>
                      </a:rPr>
                      <m:t>Q</m:t>
                    </m:r>
                  </m:e>
                  <m:sub>
                    <m:r>
                      <m:rPr>
                        <m:sty m:val="p"/>
                      </m:rPr>
                      <a:rPr lang="en-US" b="0" i="0" sz="1600">
                        <a:solidFill>
                          <a:srgbClr val="C00000"/>
                        </a:solidFill>
                        <a:latin typeface="Cambria Math"/>
                      </a:rPr>
                      <m:t xml:space="preserve">A</m:t>
                    </m:r>
                  </m:sub>
                </m:sSub>
              </m:oMath>
            </a14:m>
            <a:r>
              <a:rPr lang="en-US" sz="1600" b="1" i="1">
                <a:solidFill>
                  <a:srgbClr val="C00000"/>
                </a:solidFill>
                <a:latin typeface="Calibri"/>
              </a:rPr>
              <a:t>)</a:t>
            </a:r>
            <a:endParaRPr lang="en-US"/>
          </a:p>
        </p:txBody>
      </p:sp>
      <p:sp>
        <p:nvSpPr>
          <p:cNvPr id="11" name="TextBox 10"/>
          <p:cNvSpPr txBox="1"/>
          <p:nvPr/>
        </p:nvSpPr>
        <p:spPr>
          <a:xfrm>
            <a:off x="4983480" y="5632704"/>
            <a:ext cx="2926080" cy="292608"/>
          </a:xfrm>
          <a:prstGeom prst="rect">
            <a:avLst/>
          </a:prstGeom>
          <a:noFill/>
        </p:spPr>
        <p:txBody>
          <a:bodyPr wrap="square" lIns="45720" rIns="45720" tIns="0" bIns="0">
            <a:spAutoFit/>
          </a:bodyPr>
          <a:lstStyle/>
          <a:p xmlns:m="http://schemas.openxmlformats.org/officeDocument/2006/math" xmlns:a14="http://schemas.microsoft.com/office/drawing/2010/main">
            <a:r>
              <a:rPr lang="en-US" sz="1600" b="1" i="1">
                <a:solidFill>
                  <a:srgbClr val="4D5D2C"/>
                </a:solidFill>
                <a:latin typeface="Calibri"/>
              </a:rPr>
              <a:t>Firm B's Output (</a:t>
            </a:r>
            <a14:m>
              <m:oMath>
                <m:sSub>
                  <m:sSubPr>
                    <m:ctrlPr>
                      <a:rPr lang="en-US" i="1">
                        <a:latin typeface="Cambria Math"/>
                      </a:rPr>
                    </m:ctrlPr>
                  </m:sSubPr>
                  <m:e>
                    <m:r>
                      <a:rPr lang="en-US" b="0" i="1" sz="1600">
                        <a:solidFill>
                          <a:srgbClr val="4D5D2C"/>
                        </a:solidFill>
                        <a:latin typeface="Cambria Math"/>
                        <a:ea typeface="Cambria Math"/>
                      </a:rPr>
                      <m:t>Q</m:t>
                    </m:r>
                  </m:e>
                  <m:sub>
                    <m:r>
                      <m:rPr>
                        <m:sty m:val="p"/>
                      </m:rPr>
                      <a:rPr lang="en-US" b="0" i="0" sz="1600">
                        <a:solidFill>
                          <a:srgbClr val="4D5D2C"/>
                        </a:solidFill>
                        <a:latin typeface="Cambria Math"/>
                      </a:rPr>
                      <m:t xml:space="preserve">B</m:t>
                    </m:r>
                  </m:sub>
                </m:sSub>
              </m:oMath>
            </a14:m>
            <a:r>
              <a:rPr lang="en-US" sz="1600" b="1" i="1">
                <a:solidFill>
                  <a:srgbClr val="4D5D2C"/>
                </a:solidFill>
                <a:latin typeface="Calibri"/>
              </a:rPr>
              <a:t>)</a:t>
            </a:r>
            <a:endParaRPr lang="en-US"/>
          </a:p>
        </p:txBody>
      </p:sp>
      <p:cxnSp>
        <p:nvCxnSpPr>
          <p:cNvPr id="12" name="Connector 11"/>
          <p:cNvCxnSpPr/>
          <p:nvPr/>
        </p:nvCxnSpPr>
        <p:spPr>
          <a:xfrm>
            <a:off x="3063240" y="2497974"/>
            <a:ext cx="5760720" cy="2805546"/>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967728" y="4137660"/>
            <a:ext cx="3017520" cy="548640"/>
          </a:xfrm>
          <a:prstGeom prst="rect">
            <a:avLst/>
          </a:prstGeom>
          <a:noFill/>
        </p:spPr>
        <p:txBody>
          <a:bodyPr wrap="square" lIns="45720" rIns="45720" tIns="0" bIns="0">
            <a:spAutoFit/>
          </a:bodyPr>
          <a:lstStyle/>
          <a:p xmlns:m="http://schemas.openxmlformats.org/officeDocument/2006/math" xmlns:a14="http://schemas.microsoft.com/office/drawing/2010/main">
            <a:r>
              <a:rPr lang="en-US" sz="1600" b="1">
                <a:solidFill>
                  <a:srgbClr val="C00000"/>
                </a:solidFill>
                <a:latin typeface="Calibri"/>
              </a:rPr>
              <a:t>Firm A's reaction function</a:t>
            </a:r>
            <a:endParaRPr lang="en-US"/>
          </a:p>
          <a:p xmlns:m="http://schemas.openxmlformats.org/officeDocument/2006/math" xmlns:a14="http://schemas.microsoft.com/office/drawing/2010/main">
            <a14:m>
              <m:oMath>
                <m:sSub>
                  <m:sSubPr>
                    <m:ctrlPr>
                      <a:rPr lang="en-US" i="1">
                        <a:latin typeface="Cambria Math"/>
                      </a:rPr>
                    </m:ctrlPr>
                  </m:sSubPr>
                  <m:e>
                    <m:r>
                      <a:rPr lang="en-US" b="0" i="1" sz="1600">
                        <a:solidFill>
                          <a:srgbClr val="C00000"/>
                        </a:solidFill>
                        <a:latin typeface="Cambria Math"/>
                        <a:ea typeface="Cambria Math"/>
                      </a:rPr>
                      <m:t>Q</m:t>
                    </m:r>
                  </m:e>
                  <m:sub>
                    <m:r>
                      <m:rPr>
                        <m:sty m:val="p"/>
                      </m:rPr>
                      <a:rPr lang="en-US" b="0" i="0" sz="1600">
                        <a:solidFill>
                          <a:srgbClr val="C00000"/>
                        </a:solidFill>
                        <a:latin typeface="Cambria Math"/>
                      </a:rPr>
                      <m:t xml:space="preserve">A</m:t>
                    </m:r>
                  </m:sub>
                </m:sSub>
                <m:r>
                  <m:rPr>
                    <m:sty m:val="p"/>
                  </m:rPr>
                  <a:rPr lang="en-US" b="0" i="0" sz="1600">
                    <a:solidFill>
                      <a:srgbClr val="C00000"/>
                    </a:solidFill>
                    <a:latin typeface="Cambria Math"/>
                  </a:rPr>
                  <m:t xml:space="preserve"> = 45 − 0.5·</m:t>
                </m:r>
                <m:sSub>
                  <m:sSubPr>
                    <m:ctrlPr>
                      <a:rPr lang="en-US" i="1">
                        <a:latin typeface="Cambria Math"/>
                      </a:rPr>
                    </m:ctrlPr>
                  </m:sSubPr>
                  <m:e>
                    <m:r>
                      <a:rPr lang="en-US" b="0" i="1" sz="1600">
                        <a:solidFill>
                          <a:srgbClr val="4D5D2C"/>
                        </a:solidFill>
                        <a:latin typeface="Cambria Math"/>
                        <a:ea typeface="Cambria Math"/>
                      </a:rPr>
                      <m:t>Q</m:t>
                    </m:r>
                  </m:e>
                  <m:sub>
                    <m:r>
                      <m:rPr>
                        <m:sty m:val="p"/>
                      </m:rPr>
                      <a:rPr lang="en-US" b="0" i="0" sz="1600">
                        <a:solidFill>
                          <a:srgbClr val="4D5D2C"/>
                        </a:solidFill>
                        <a:latin typeface="Cambria Math"/>
                      </a:rPr>
                      <m:t xml:space="preserve">B</m:t>
                    </m:r>
                  </m:sub>
                </m:sSub>
              </m:oMath>
            </a14:m>
            <a:endParaRPr lang="en-US"/>
          </a:p>
        </p:txBody>
      </p:sp>
      <p:cxnSp>
        <p:nvCxnSpPr>
          <p:cNvPr id="14" name="Connector 13"/>
          <p:cNvCxnSpPr/>
          <p:nvPr/>
        </p:nvCxnSpPr>
        <p:spPr>
          <a:xfrm flipV="1">
            <a:off x="6263640" y="4056610"/>
            <a:ext cx="0" cy="1246910"/>
          </a:xfrm>
          <a:prstGeom prst="line">
            <a:avLst/>
          </a:prstGeom>
          <a:ln w="15875">
            <a:solidFill>
              <a:srgbClr val="B97034"/>
            </a:solidFill>
            <a:prstDash val="sysDot"/>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3063240" y="4056610"/>
            <a:ext cx="3200400" cy="0"/>
          </a:xfrm>
          <a:prstGeom prst="line">
            <a:avLst/>
          </a:prstGeom>
          <a:ln w="15875">
            <a:solidFill>
              <a:srgbClr val="B97034"/>
            </a:solidFill>
            <a:prstDash val="sysDot"/>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6204204" y="3997174"/>
            <a:ext cx="118872" cy="118872"/>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06440" y="5358383"/>
            <a:ext cx="914400" cy="274320"/>
          </a:xfrm>
          <a:prstGeom prst="rect">
            <a:avLst/>
          </a:prstGeom>
          <a:noFill/>
        </p:spPr>
        <p:txBody>
          <a:bodyPr wrap="square" lIns="0" rIns="0" tIns="0" bIns="0">
            <a:spAutoFit/>
          </a:bodyPr>
          <a:lstStyle/>
          <a:p>
            <a:pPr algn="ctr"/>
            <a:r>
              <a:rPr sz="1600" b="1" i="0" u="none">
                <a:solidFill>
                  <a:srgbClr val="B97034"/>
                </a:solidFill>
                <a:latin typeface="Calibri"/>
              </a:rPr>
              <a:t>50</a:t>
            </a:r>
          </a:p>
        </p:txBody>
      </p:sp>
      <p:sp>
        <p:nvSpPr>
          <p:cNvPr id="18" name="TextBox 17"/>
          <p:cNvSpPr txBox="1"/>
          <p:nvPr/>
        </p:nvSpPr>
        <p:spPr>
          <a:xfrm>
            <a:off x="2084832" y="3928594"/>
            <a:ext cx="868680" cy="274320"/>
          </a:xfrm>
          <a:prstGeom prst="rect">
            <a:avLst/>
          </a:prstGeom>
          <a:noFill/>
        </p:spPr>
        <p:txBody>
          <a:bodyPr wrap="square" lIns="0" rIns="0" tIns="0" bIns="0">
            <a:spAutoFit/>
          </a:bodyPr>
          <a:lstStyle/>
          <a:p>
            <a:pPr algn="r"/>
            <a:r>
              <a:rPr sz="1600" b="1" i="0" u="none">
                <a:solidFill>
                  <a:srgbClr val="B97034"/>
                </a:solidFill>
                <a:latin typeface="Calibri"/>
              </a:rPr>
              <a:t>20</a:t>
            </a:r>
          </a:p>
        </p:txBody>
      </p:sp>
      <p:cxnSp>
        <p:nvCxnSpPr>
          <p:cNvPr id="19" name="Connector 18"/>
          <p:cNvCxnSpPr/>
          <p:nvPr/>
        </p:nvCxnSpPr>
        <p:spPr>
          <a:xfrm flipV="1">
            <a:off x="4343400" y="3121429"/>
            <a:ext cx="0" cy="2182091"/>
          </a:xfrm>
          <a:prstGeom prst="line">
            <a:avLst/>
          </a:prstGeom>
          <a:ln w="15875">
            <a:solidFill>
              <a:srgbClr val="B97034"/>
            </a:solidFill>
            <a:prstDash val="sysDot"/>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3063240" y="3121429"/>
            <a:ext cx="1280160" cy="0"/>
          </a:xfrm>
          <a:prstGeom prst="line">
            <a:avLst/>
          </a:prstGeom>
          <a:ln w="15875">
            <a:solidFill>
              <a:srgbClr val="B97034"/>
            </a:solidFill>
            <a:prstDash val="sysDot"/>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4283964" y="3061993"/>
            <a:ext cx="118872" cy="118872"/>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86200" y="5358383"/>
            <a:ext cx="914400" cy="274320"/>
          </a:xfrm>
          <a:prstGeom prst="rect">
            <a:avLst/>
          </a:prstGeom>
          <a:noFill/>
        </p:spPr>
        <p:txBody>
          <a:bodyPr wrap="square" lIns="0" rIns="0" tIns="0" bIns="0">
            <a:spAutoFit/>
          </a:bodyPr>
          <a:lstStyle/>
          <a:p>
            <a:pPr algn="ctr"/>
            <a:r>
              <a:rPr sz="1600" b="1" i="0" u="none">
                <a:solidFill>
                  <a:srgbClr val="B97034"/>
                </a:solidFill>
                <a:latin typeface="Calibri"/>
              </a:rPr>
              <a:t>20</a:t>
            </a:r>
          </a:p>
        </p:txBody>
      </p:sp>
      <p:sp>
        <p:nvSpPr>
          <p:cNvPr id="23" name="TextBox 22"/>
          <p:cNvSpPr txBox="1"/>
          <p:nvPr/>
        </p:nvSpPr>
        <p:spPr>
          <a:xfrm>
            <a:off x="2084832" y="2993413"/>
            <a:ext cx="868680" cy="274320"/>
          </a:xfrm>
          <a:prstGeom prst="rect">
            <a:avLst/>
          </a:prstGeom>
          <a:noFill/>
        </p:spPr>
        <p:txBody>
          <a:bodyPr wrap="square" lIns="0" rIns="0" tIns="0" bIns="0">
            <a:spAutoFit/>
          </a:bodyPr>
          <a:lstStyle/>
          <a:p>
            <a:pPr algn="r"/>
            <a:r>
              <a:rPr sz="1600" b="1" i="0" u="none">
                <a:solidFill>
                  <a:srgbClr val="B97034"/>
                </a:solidFill>
                <a:latin typeface="Calibri"/>
              </a:rPr>
              <a:t>35</a:t>
            </a:r>
          </a:p>
        </p:txBody>
      </p:sp>
      <p:sp>
        <p:nvSpPr>
          <p:cNvPr id="24" name="TextBox 23"/>
          <p:cNvSpPr txBox="1"/>
          <p:nvPr/>
        </p:nvSpPr>
        <p:spPr>
          <a:xfrm>
            <a:off x="4083710" y="2553004"/>
            <a:ext cx="2011680" cy="256032"/>
          </a:xfrm>
          <a:prstGeom prst="rect">
            <a:avLst/>
          </a:prstGeom>
          <a:noFill/>
        </p:spPr>
        <p:txBody>
          <a:bodyPr wrap="square" lIns="0" rIns="0" tIns="0" bIns="0">
            <a:spAutoFit/>
          </a:bodyPr>
          <a:lstStyle/>
          <a:p>
            <a:pPr algn="l"/>
            <a:r>
              <a:rPr sz="1400" b="1" i="1" u="none">
                <a:solidFill>
                  <a:srgbClr val="B97034"/>
                </a:solidFill>
                <a:latin typeface="Calibri"/>
              </a:rPr>
              <a:t>Reaction point (II)</a:t>
            </a:r>
          </a:p>
        </p:txBody>
      </p:sp>
      <p:cxnSp>
        <p:nvCxnSpPr>
          <p:cNvPr id="25" name="Connector 24"/>
          <p:cNvCxnSpPr/>
          <p:nvPr/>
        </p:nvCxnSpPr>
        <p:spPr>
          <a:xfrm flipH="1">
            <a:off x="4395520" y="2799892"/>
            <a:ext cx="102413" cy="283464"/>
          </a:xfrm>
          <a:prstGeom prst="line">
            <a:avLst/>
          </a:prstGeom>
          <a:ln w="12700">
            <a:solidFill>
              <a:srgbClr val="B97034"/>
            </a:solidFill>
            <a:tailEnd type="triangle" w="sm" h="sm"/>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836615" y="3458260"/>
            <a:ext cx="2011680" cy="256032"/>
          </a:xfrm>
          <a:prstGeom prst="rect">
            <a:avLst/>
          </a:prstGeom>
          <a:noFill/>
        </p:spPr>
        <p:txBody>
          <a:bodyPr wrap="square" lIns="0" rIns="0" tIns="0" bIns="0">
            <a:spAutoFit/>
          </a:bodyPr>
          <a:lstStyle/>
          <a:p>
            <a:pPr algn="l"/>
            <a:r>
              <a:rPr sz="1400" b="1" i="1" u="none">
                <a:solidFill>
                  <a:srgbClr val="B97034"/>
                </a:solidFill>
                <a:latin typeface="Calibri"/>
              </a:rPr>
              <a:t>Reaction point (I)</a:t>
            </a:r>
          </a:p>
        </p:txBody>
      </p:sp>
      <p:cxnSp>
        <p:nvCxnSpPr>
          <p:cNvPr id="27" name="Connector 26"/>
          <p:cNvCxnSpPr/>
          <p:nvPr/>
        </p:nvCxnSpPr>
        <p:spPr>
          <a:xfrm flipH="1">
            <a:off x="6271869" y="3714292"/>
            <a:ext cx="102413" cy="283464"/>
          </a:xfrm>
          <a:prstGeom prst="line">
            <a:avLst/>
          </a:prstGeom>
          <a:ln w="12700">
            <a:solidFill>
              <a:srgbClr val="B97034"/>
            </a:solidFill>
            <a:tailEnd type="triangle" w="sm" h="sm"/>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084832" y="2369958"/>
            <a:ext cx="868680" cy="274320"/>
          </a:xfrm>
          <a:prstGeom prst="rect">
            <a:avLst/>
          </a:prstGeom>
          <a:noFill/>
        </p:spPr>
        <p:txBody>
          <a:bodyPr wrap="square" lIns="0" rIns="0" tIns="0" bIns="0">
            <a:spAutoFit/>
          </a:bodyPr>
          <a:lstStyle/>
          <a:p>
            <a:pPr algn="r"/>
            <a:r>
              <a:rPr sz="1600" b="0" i="0" u="none">
                <a:solidFill>
                  <a:srgbClr val="0B2B4E"/>
                </a:solidFill>
                <a:latin typeface="Calibri"/>
              </a:rPr>
              <a:t>45</a:t>
            </a:r>
          </a:p>
        </p:txBody>
      </p:sp>
      <p:sp>
        <p:nvSpPr>
          <p:cNvPr id="29" name="TextBox 28"/>
          <p:cNvSpPr txBox="1"/>
          <p:nvPr/>
        </p:nvSpPr>
        <p:spPr>
          <a:xfrm>
            <a:off x="8366760" y="5358383"/>
            <a:ext cx="914400" cy="274320"/>
          </a:xfrm>
          <a:prstGeom prst="rect">
            <a:avLst/>
          </a:prstGeom>
          <a:noFill/>
        </p:spPr>
        <p:txBody>
          <a:bodyPr wrap="square" lIns="0" rIns="0" tIns="0" bIns="0">
            <a:spAutoFit/>
          </a:bodyPr>
          <a:lstStyle/>
          <a:p>
            <a:pPr algn="ctr"/>
            <a:r>
              <a:rPr sz="1600" b="0" i="0" u="none">
                <a:solidFill>
                  <a:srgbClr val="0B2B4E"/>
                </a:solidFill>
                <a:latin typeface="Calibri"/>
              </a:rPr>
              <a:t>90</a:t>
            </a:r>
          </a:p>
        </p:txBody>
      </p:sp>
      <p:sp>
        <p:nvSpPr>
          <p:cNvPr id="30" name="Rectangle 2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33" name="TextBox 32"/>
          <p:cNvSpPr txBox="1"/>
          <p:nvPr/>
        </p:nvSpPr>
        <p:spPr>
          <a:xfrm>
            <a:off x="11475720" y="6583680"/>
            <a:ext cx="502920" cy="292608"/>
          </a:xfrm>
          <a:prstGeom prst="rect">
            <a:avLst/>
          </a:prstGeom>
          <a:noFill/>
        </p:spPr>
        <p:txBody>
          <a:bodyPr wrap="none" lIns="0" rIns="0" tIns="0" bIns="0">
            <a:spAutoFit/>
          </a:bodyPr>
          <a:lstStyle/>
          <a:p>
            <a:pPr algn="r"/>
            <a:fld id="{94BF10E8-5FFA-5D0D-9C77-A9C34730628B}" type="slidenum">
              <a:rPr lang="en-US" sz="1200" dirty="0">
                <a:solidFill>
                  <a:srgbClr val="555B66"/>
                </a:solidFill>
                <a:latin typeface="Calibri"/>
              </a:rPr>
              <a:t>25</a:t>
            </a:fld>
          </a:p>
        </p:txBody>
      </p:sp>
      <p:sp>
        <p:nvSpPr>
          <p:cNvPr id="34" name="Rounded Rectangle 33"/>
          <p:cNvSpPr/>
          <p:nvPr/>
        </p:nvSpPr>
        <p:spPr>
          <a:xfrm>
            <a:off x="6327648" y="6245352"/>
            <a:ext cx="5349240" cy="530352"/>
          </a:xfrm>
          <a:prstGeom prst="roundRect">
            <a:avLst>
              <a:gd name="adj" fmla="val 28000"/>
            </a:avLst>
          </a:prstGeom>
          <a:gradFill>
            <a:gsLst>
              <a:gs pos="0">
                <a:schemeClr val="bg1">
                  <a:lumMod val="65000"/>
                </a:schemeClr>
              </a:gs>
              <a:gs pos="54000">
                <a:schemeClr val="bg1">
                  <a:lumMod val="95000"/>
                </a:schemeClr>
              </a:gs>
              <a:gs pos="100000">
                <a:schemeClr val="bg1">
                  <a:lumMod val="65000"/>
                </a:schemeClr>
              </a:gs>
            </a:gsLst>
            <a:lin ang="5400000" scaled="1"/>
          </a:gra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E09F3E"/>
                </a:solidFill>
                <a:latin typeface="Calibri"/>
              </a:rPr>
              <a:t>▶  </a:t>
            </a:r>
            <a:r>
              <a:rPr sz="1600" b="1">
                <a:solidFill>
                  <a:srgbClr val="0B2B4E"/>
                </a:solidFill>
                <a:latin typeface="Calibri"/>
              </a:rPr>
              <a:t>Practice Video “Cournot Competition Math”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500"/>
                                        <p:tgtEl>
                                          <p:spTgt spid="1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500"/>
                                        <p:tgtEl>
                                          <p:spTgt spid="2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Cournot Competition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Cournot Equilibrium</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11567160" cy="498348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flipV="1">
            <a:off x="2606040" y="1572767"/>
            <a:ext cx="0" cy="4187953"/>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606040" y="5760720"/>
            <a:ext cx="629107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rot="16200000">
            <a:off x="665683" y="3470148"/>
            <a:ext cx="2743200" cy="292608"/>
          </a:xfrm>
          <a:prstGeom prst="rect">
            <a:avLst/>
          </a:prstGeom>
          <a:noFill/>
        </p:spPr>
        <p:txBody>
          <a:bodyPr wrap="square" lIns="45720" rIns="45720" tIns="0" bIns="0">
            <a:spAutoFit/>
          </a:bodyPr>
          <a:lstStyle/>
          <a:p xmlns:m="http://schemas.openxmlformats.org/officeDocument/2006/math" xmlns:a14="http://schemas.microsoft.com/office/drawing/2010/main">
            <a:r>
              <a:rPr lang="en-US" sz="1600" b="1" i="1">
                <a:solidFill>
                  <a:srgbClr val="C00000"/>
                </a:solidFill>
                <a:latin typeface="Calibri"/>
              </a:rPr>
              <a:t>Firm A's Output (</a:t>
            </a:r>
            <a14:m>
              <m:oMath>
                <m:sSub>
                  <m:sSubPr>
                    <m:ctrlPr>
                      <a:rPr lang="en-US" i="1">
                        <a:latin typeface="Cambria Math"/>
                      </a:rPr>
                    </m:ctrlPr>
                  </m:sSubPr>
                  <m:e>
                    <m:r>
                      <a:rPr lang="en-US" b="0" i="1" sz="1600">
                        <a:solidFill>
                          <a:srgbClr val="C00000"/>
                        </a:solidFill>
                        <a:latin typeface="Cambria Math"/>
                        <a:ea typeface="Cambria Math"/>
                      </a:rPr>
                      <m:t>Q</m:t>
                    </m:r>
                  </m:e>
                  <m:sub>
                    <m:r>
                      <m:rPr>
                        <m:sty m:val="p"/>
                      </m:rPr>
                      <a:rPr lang="en-US" b="0" i="0" sz="1600">
                        <a:solidFill>
                          <a:srgbClr val="C00000"/>
                        </a:solidFill>
                        <a:latin typeface="Cambria Math"/>
                      </a:rPr>
                      <m:t xml:space="preserve">A</m:t>
                    </m:r>
                  </m:sub>
                </m:sSub>
              </m:oMath>
            </a14:m>
            <a:r>
              <a:rPr lang="en-US" sz="1600" b="1" i="1">
                <a:solidFill>
                  <a:srgbClr val="C00000"/>
                </a:solidFill>
                <a:latin typeface="Calibri"/>
              </a:rPr>
              <a:t>)</a:t>
            </a:r>
            <a:endParaRPr lang="en-US"/>
          </a:p>
        </p:txBody>
      </p:sp>
      <p:sp>
        <p:nvSpPr>
          <p:cNvPr id="11" name="TextBox 10"/>
          <p:cNvSpPr txBox="1"/>
          <p:nvPr/>
        </p:nvSpPr>
        <p:spPr>
          <a:xfrm>
            <a:off x="4297680" y="6034125"/>
            <a:ext cx="2743200" cy="292608"/>
          </a:xfrm>
          <a:prstGeom prst="rect">
            <a:avLst/>
          </a:prstGeom>
          <a:noFill/>
        </p:spPr>
        <p:txBody>
          <a:bodyPr wrap="square" lIns="45720" rIns="45720" tIns="0" bIns="0">
            <a:spAutoFit/>
          </a:bodyPr>
          <a:lstStyle/>
          <a:p xmlns:m="http://schemas.openxmlformats.org/officeDocument/2006/math" xmlns:a14="http://schemas.microsoft.com/office/drawing/2010/main">
            <a:r>
              <a:rPr lang="en-US" sz="1600" b="1" i="1">
                <a:solidFill>
                  <a:srgbClr val="4D5D2C"/>
                </a:solidFill>
                <a:latin typeface="Calibri"/>
              </a:rPr>
              <a:t>Firm B's Output (</a:t>
            </a:r>
            <a14:m>
              <m:oMath>
                <m:sSub>
                  <m:sSubPr>
                    <m:ctrlPr>
                      <a:rPr lang="en-US" i="1">
                        <a:latin typeface="Cambria Math"/>
                      </a:rPr>
                    </m:ctrlPr>
                  </m:sSubPr>
                  <m:e>
                    <m:r>
                      <a:rPr lang="en-US" b="0" i="1" sz="1600">
                        <a:solidFill>
                          <a:srgbClr val="4D5D2C"/>
                        </a:solidFill>
                        <a:latin typeface="Cambria Math"/>
                        <a:ea typeface="Cambria Math"/>
                      </a:rPr>
                      <m:t>Q</m:t>
                    </m:r>
                  </m:e>
                  <m:sub>
                    <m:r>
                      <m:rPr>
                        <m:sty m:val="p"/>
                      </m:rPr>
                      <a:rPr lang="en-US" b="0" i="0" sz="1600">
                        <a:solidFill>
                          <a:srgbClr val="4D5D2C"/>
                        </a:solidFill>
                        <a:latin typeface="Cambria Math"/>
                      </a:rPr>
                      <m:t xml:space="preserve">B</m:t>
                    </m:r>
                  </m:sub>
                </m:sSub>
              </m:oMath>
            </a14:m>
            <a:r>
              <a:rPr lang="en-US" sz="1600" b="1" i="1">
                <a:solidFill>
                  <a:srgbClr val="4D5D2C"/>
                </a:solidFill>
                <a:latin typeface="Calibri"/>
              </a:rPr>
              <a:t>)</a:t>
            </a:r>
            <a:endParaRPr lang="en-US"/>
          </a:p>
        </p:txBody>
      </p:sp>
      <p:grpSp>
        <p:nvGrpSpPr>
          <p:cNvPr id="14" name="ReactionA 14"/>
          <p:cNvGrpSpPr/>
          <p:nvPr/>
        </p:nvGrpSpPr>
        <p:grpSpPr>
          <a:xfrm>
            <a:off x="2606040" y="3950207"/>
            <a:ext cx="5928969" cy="1810513"/>
            <a:chOff x="2606040" y="3950207"/>
            <a:chExt cx="5928969" cy="1810513"/>
          </a:xfrm>
        </p:grpSpPr>
        <p:cxnSp>
          <p:nvCxnSpPr>
            <p:cNvPr id="12" name="Connector 11"/>
            <p:cNvCxnSpPr/>
            <p:nvPr/>
          </p:nvCxnSpPr>
          <p:spPr>
            <a:xfrm>
              <a:off x="2606040" y="3950207"/>
              <a:ext cx="5513832" cy="1810513"/>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791809" y="4553712"/>
              <a:ext cx="2743200" cy="777240"/>
            </a:xfrm>
            <a:prstGeom prst="rect">
              <a:avLst/>
            </a:prstGeom>
            <a:noFill/>
          </p:spPr>
          <p:txBody>
            <a:bodyPr wrap="square" lIns="45720" rIns="45720" tIns="0" bIns="0">
              <a:spAutoFit/>
            </a:bodyPr>
            <a:lstStyle/>
            <a:p xmlns:m="http://schemas.openxmlformats.org/officeDocument/2006/math" xmlns:a14="http://schemas.microsoft.com/office/drawing/2010/main">
              <a:r>
                <a:rPr lang="en-US" sz="1400" b="1">
                  <a:solidFill>
                    <a:srgbClr val="C00000"/>
                  </a:solidFill>
                  <a:latin typeface="Calibri"/>
                </a:rPr>
                <a:t>Firm A's reaction function</a:t>
              </a:r>
              <a:endParaRPr lang="en-US"/>
            </a:p>
            <a:p xmlns:m="http://schemas.openxmlformats.org/officeDocument/2006/math" xmlns:a14="http://schemas.microsoft.com/office/drawing/2010/main">
              <a14:m>
                <m:oMath>
                  <m:sSub>
                    <m:sSubPr>
                      <m:ctrlPr>
                        <a:rPr lang="en-US" i="1">
                          <a:latin typeface="Cambria Math"/>
                        </a:rPr>
                      </m:ctrlPr>
                    </m:sSubPr>
                    <m:e>
                      <m:r>
                        <a:rPr lang="en-US" b="0" i="1" sz="1400">
                          <a:solidFill>
                            <a:srgbClr val="C00000"/>
                          </a:solidFill>
                          <a:latin typeface="Cambria Math"/>
                          <a:ea typeface="Cambria Math"/>
                        </a:rPr>
                        <m:t>Q</m:t>
                      </m:r>
                    </m:e>
                    <m:sub>
                      <m:r>
                        <m:rPr>
                          <m:sty m:val="p"/>
                        </m:rPr>
                        <a:rPr lang="en-US" b="0" i="0" sz="1400">
                          <a:solidFill>
                            <a:srgbClr val="C00000"/>
                          </a:solidFill>
                          <a:latin typeface="Cambria Math"/>
                        </a:rPr>
                        <m:t xml:space="preserve">A</m:t>
                      </m:r>
                    </m:sub>
                  </m:sSub>
                  <m:r>
                    <m:rPr>
                      <m:sty m:val="p"/>
                    </m:rPr>
                    <a:rPr lang="en-US" b="0" i="0" sz="1400">
                      <a:solidFill>
                        <a:srgbClr val="C00000"/>
                      </a:solidFill>
                      <a:latin typeface="Cambria Math"/>
                    </a:rPr>
                    <m:t xml:space="preserve"> = 45 − 0.5·</m:t>
                  </m:r>
                  <m:sSub>
                    <m:sSubPr>
                      <m:ctrlPr>
                        <a:rPr lang="en-US" i="1">
                          <a:latin typeface="Cambria Math"/>
                        </a:rPr>
                      </m:ctrlPr>
                    </m:sSubPr>
                    <m:e>
                      <m:r>
                        <a:rPr lang="en-US" b="0" i="1" sz="1400">
                          <a:solidFill>
                            <a:srgbClr val="4D5D2C"/>
                          </a:solidFill>
                          <a:latin typeface="Cambria Math"/>
                          <a:ea typeface="Cambria Math"/>
                        </a:rPr>
                        <m:t>Q</m:t>
                      </m:r>
                    </m:e>
                    <m:sub>
                      <m:r>
                        <m:rPr>
                          <m:sty m:val="p"/>
                        </m:rPr>
                        <a:rPr lang="en-US" b="0" i="0" sz="1400">
                          <a:solidFill>
                            <a:srgbClr val="4D5D2C"/>
                          </a:solidFill>
                          <a:latin typeface="Cambria Math"/>
                        </a:rPr>
                        <m:t xml:space="preserve">B</m:t>
                      </m:r>
                    </m:sub>
                  </m:sSub>
                </m:oMath>
              </a14:m>
              <a:endParaRPr lang="en-US"/>
            </a:p>
          </p:txBody>
        </p:sp>
      </p:grpSp>
      <p:grpSp>
        <p:nvGrpSpPr>
          <p:cNvPr id="18" name="ReactionB 18"/>
          <p:cNvGrpSpPr/>
          <p:nvPr/>
        </p:nvGrpSpPr>
        <p:grpSpPr>
          <a:xfrm>
            <a:off x="2606040" y="2104034"/>
            <a:ext cx="3214116" cy="3656686"/>
            <a:chOff x="2606040" y="2104034"/>
            <a:chExt cx="3214116" cy="3656686"/>
          </a:xfrm>
        </p:grpSpPr>
        <p:cxnSp>
          <p:nvCxnSpPr>
            <p:cNvPr id="15" name="Connector 14"/>
            <p:cNvCxnSpPr/>
            <p:nvPr/>
          </p:nvCxnSpPr>
          <p:spPr>
            <a:xfrm>
              <a:off x="2606040" y="2139695"/>
              <a:ext cx="2756916" cy="3621025"/>
            </a:xfrm>
            <a:prstGeom prst="line">
              <a:avLst/>
            </a:prstGeom>
            <a:ln w="31750">
              <a:solidFill>
                <a:srgbClr val="1B5E2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076956" y="2104034"/>
              <a:ext cx="2743200" cy="548640"/>
            </a:xfrm>
            <a:prstGeom prst="rect">
              <a:avLst/>
            </a:prstGeom>
            <a:noFill/>
          </p:spPr>
          <p:txBody>
            <a:bodyPr wrap="square" lIns="45720" rIns="45720" tIns="0" bIns="0">
              <a:spAutoFit/>
            </a:bodyPr>
            <a:lstStyle/>
            <a:p xmlns:m="http://schemas.openxmlformats.org/officeDocument/2006/math" xmlns:a14="http://schemas.microsoft.com/office/drawing/2010/main">
              <a:r>
                <a:rPr lang="en-US" sz="1400" b="1">
                  <a:solidFill>
                    <a:srgbClr val="4D5D2C"/>
                  </a:solidFill>
                  <a:latin typeface="Calibri"/>
                </a:rPr>
                <a:t>Firm B's reaction function</a:t>
              </a:r>
              <a:endParaRPr lang="en-US"/>
            </a:p>
            <a:p xmlns:m="http://schemas.openxmlformats.org/officeDocument/2006/math" xmlns:a14="http://schemas.microsoft.com/office/drawing/2010/main">
              <a14:m>
                <m:oMath>
                  <m:sSub>
                    <m:sSubPr>
                      <m:ctrlPr>
                        <a:rPr lang="en-US" i="1">
                          <a:latin typeface="Cambria Math"/>
                        </a:rPr>
                      </m:ctrlPr>
                    </m:sSubPr>
                    <m:e>
                      <m:r>
                        <a:rPr lang="en-US" b="0" i="1" sz="1400">
                          <a:solidFill>
                            <a:srgbClr val="4D5D2C"/>
                          </a:solidFill>
                          <a:latin typeface="Cambria Math"/>
                          <a:ea typeface="Cambria Math"/>
                        </a:rPr>
                        <m:t>Q</m:t>
                      </m:r>
                    </m:e>
                    <m:sub>
                      <m:r>
                        <m:rPr>
                          <m:sty m:val="p"/>
                        </m:rPr>
                        <a:rPr lang="en-US" b="0" i="0" sz="1400">
                          <a:solidFill>
                            <a:srgbClr val="4D5D2C"/>
                          </a:solidFill>
                          <a:latin typeface="Cambria Math"/>
                        </a:rPr>
                        <m:t xml:space="preserve">B</m:t>
                      </m:r>
                    </m:sub>
                  </m:sSub>
                  <m:r>
                    <m:rPr>
                      <m:sty m:val="p"/>
                    </m:rPr>
                    <a:rPr lang="en-US" b="0" i="0" sz="1400">
                      <a:solidFill>
                        <a:srgbClr val="4D5D2C"/>
                      </a:solidFill>
                      <a:latin typeface="Cambria Math"/>
                    </a:rPr>
                    <m:t xml:space="preserve"> = 45 − 0.5·</m:t>
                  </m:r>
                  <m:sSub>
                    <m:sSubPr>
                      <m:ctrlPr>
                        <a:rPr lang="en-US" i="1">
                          <a:latin typeface="Cambria Math"/>
                        </a:rPr>
                      </m:ctrlPr>
                    </m:sSubPr>
                    <m:e>
                      <m:r>
                        <a:rPr lang="en-US" b="0" i="1" sz="1400">
                          <a:solidFill>
                            <a:srgbClr val="C00000"/>
                          </a:solidFill>
                          <a:latin typeface="Cambria Math"/>
                          <a:ea typeface="Cambria Math"/>
                        </a:rPr>
                        <m:t>Q</m:t>
                      </m:r>
                    </m:e>
                    <m:sub>
                      <m:r>
                        <m:rPr>
                          <m:sty m:val="p"/>
                        </m:rPr>
                        <a:rPr lang="en-US" b="0" i="0" sz="1400">
                          <a:solidFill>
                            <a:srgbClr val="C00000"/>
                          </a:solidFill>
                          <a:latin typeface="Cambria Math"/>
                        </a:rPr>
                        <m:t xml:space="preserve">A</m:t>
                      </m:r>
                    </m:sub>
                  </m:sSub>
                </m:oMath>
              </a14:m>
              <a:endParaRPr lang="en-US"/>
            </a:p>
          </p:txBody>
        </p:sp>
        <p:cxnSp>
          <p:nvCxnSpPr>
            <p:cNvPr id="17" name="Connector 16"/>
            <p:cNvCxnSpPr/>
            <p:nvPr/>
          </p:nvCxnSpPr>
          <p:spPr>
            <a:xfrm flipH="1">
              <a:off x="3056839" y="2458821"/>
              <a:ext cx="456285" cy="206655"/>
            </a:xfrm>
            <a:prstGeom prst="line">
              <a:avLst/>
            </a:prstGeom>
            <a:ln w="31750">
              <a:solidFill>
                <a:srgbClr val="4D5D2C"/>
              </a:solidFill>
              <a:tailEnd type="arrow" w="med" h="med"/>
            </a:ln>
          </p:spPr>
          <p:style>
            <a:lnRef idx="2">
              <a:schemeClr val="accent1"/>
            </a:lnRef>
            <a:fillRef idx="0">
              <a:schemeClr val="accent1"/>
            </a:fillRef>
            <a:effectRef idx="1">
              <a:schemeClr val="accent1"/>
            </a:effectRef>
            <a:fontRef idx="minor">
              <a:schemeClr val="tx1"/>
            </a:fontRef>
          </p:style>
        </p:cxnSp>
      </p:grpSp>
      <p:grpSp>
        <p:nvGrpSpPr>
          <p:cNvPr id="24" name="Fifteen 24"/>
          <p:cNvGrpSpPr/>
          <p:nvPr/>
        </p:nvGrpSpPr>
        <p:grpSpPr>
          <a:xfrm>
            <a:off x="1627632" y="5029200"/>
            <a:ext cx="3275838" cy="274320"/>
            <a:chOff x="1627632" y="5029200"/>
            <a:chExt cx="3275838" cy="274320"/>
          </a:xfrm>
        </p:grpSpPr>
        <p:sp>
          <p:nvSpPr>
            <p:cNvPr id="19" name="TextBox 18"/>
            <p:cNvSpPr txBox="1"/>
            <p:nvPr/>
          </p:nvSpPr>
          <p:spPr>
            <a:xfrm>
              <a:off x="1627632" y="5029200"/>
              <a:ext cx="868680" cy="274320"/>
            </a:xfrm>
            <a:prstGeom prst="rect">
              <a:avLst/>
            </a:prstGeom>
            <a:noFill/>
          </p:spPr>
          <p:txBody>
            <a:bodyPr wrap="square" lIns="0" rIns="0" tIns="0" bIns="0">
              <a:spAutoFit/>
            </a:bodyPr>
            <a:lstStyle/>
            <a:p>
              <a:pPr algn="r"/>
              <a:r>
                <a:rPr sz="1600" b="0" i="0" u="none">
                  <a:solidFill>
                    <a:srgbClr val="0B2B4E"/>
                  </a:solidFill>
                  <a:latin typeface="Calibri"/>
                </a:rPr>
                <a:t>15</a:t>
              </a:r>
            </a:p>
          </p:txBody>
        </p:sp>
        <p:cxnSp>
          <p:nvCxnSpPr>
            <p:cNvPr id="20" name="Connector 19"/>
            <p:cNvCxnSpPr/>
            <p:nvPr/>
          </p:nvCxnSpPr>
          <p:spPr>
            <a:xfrm>
              <a:off x="2606040" y="5157216"/>
              <a:ext cx="2297430" cy="0"/>
            </a:xfrm>
            <a:prstGeom prst="line">
              <a:avLst/>
            </a:prstGeom>
            <a:ln w="19050">
              <a:solidFill>
                <a:srgbClr val="555B66"/>
              </a:solidFill>
              <a:prstDash val="sysDash"/>
              <a:tailEnd type="triangle" w="med" h="med"/>
            </a:ln>
          </p:spPr>
          <p:style>
            <a:lnRef idx="2">
              <a:schemeClr val="accent1"/>
            </a:lnRef>
            <a:fillRef idx="0">
              <a:schemeClr val="accent1"/>
            </a:fillRef>
            <a:effectRef idx="1">
              <a:schemeClr val="accent1"/>
            </a:effectRef>
            <a:fontRef idx="minor">
              <a:schemeClr val="tx1"/>
            </a:fontRef>
          </p:style>
        </p:cxnSp>
      </p:grpSp>
      <p:cxnSp>
        <p:nvCxnSpPr>
          <p:cNvPr id="21" name="Connector 20"/>
          <p:cNvCxnSpPr/>
          <p:nvPr/>
        </p:nvCxnSpPr>
        <p:spPr>
          <a:xfrm flipV="1">
            <a:off x="4903470" y="4704588"/>
            <a:ext cx="0" cy="452628"/>
          </a:xfrm>
          <a:prstGeom prst="line">
            <a:avLst/>
          </a:prstGeom>
          <a:ln w="19050">
            <a:solidFill>
              <a:srgbClr val="555B66"/>
            </a:solidFill>
            <a:prstDash val="sysDash"/>
            <a:tailEnd type="triangle" w="med" h="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4560387" y="4704588"/>
            <a:ext cx="343083" cy="0"/>
          </a:xfrm>
          <a:prstGeom prst="line">
            <a:avLst/>
          </a:prstGeom>
          <a:ln w="19050">
            <a:solidFill>
              <a:srgbClr val="555B66"/>
            </a:solidFill>
            <a:prstDash val="sysDash"/>
            <a:tailEnd type="triangle" w="med" h="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560387" y="4589922"/>
            <a:ext cx="0" cy="114666"/>
          </a:xfrm>
          <a:prstGeom prst="line">
            <a:avLst/>
          </a:prstGeom>
          <a:ln w="19050">
            <a:solidFill>
              <a:srgbClr val="555B66"/>
            </a:solidFill>
            <a:prstDash val="sysDash"/>
            <a:tailEnd type="triangle" w="med" h="med"/>
          </a:ln>
        </p:spPr>
        <p:style>
          <a:lnRef idx="2">
            <a:schemeClr val="accent1"/>
          </a:lnRef>
          <a:fillRef idx="0">
            <a:schemeClr val="accent1"/>
          </a:fillRef>
          <a:effectRef idx="1">
            <a:schemeClr val="accent1"/>
          </a:effectRef>
          <a:fontRef idx="minor">
            <a:schemeClr val="tx1"/>
          </a:fontRef>
        </p:style>
      </p:cxnSp>
      <p:grpSp>
        <p:nvGrpSpPr>
          <p:cNvPr id="29" name="Thirty 29"/>
          <p:cNvGrpSpPr/>
          <p:nvPr/>
        </p:nvGrpSpPr>
        <p:grpSpPr>
          <a:xfrm>
            <a:off x="1627632" y="4425696"/>
            <a:ext cx="3273551" cy="1664207"/>
            <a:chOff x="1627632" y="4425696"/>
            <a:chExt cx="3273551" cy="1664207"/>
          </a:xfrm>
        </p:grpSpPr>
        <p:cxnSp>
          <p:nvCxnSpPr>
            <p:cNvPr id="25" name="Connector 24"/>
            <p:cNvCxnSpPr/>
            <p:nvPr/>
          </p:nvCxnSpPr>
          <p:spPr>
            <a:xfrm flipV="1">
              <a:off x="4443983" y="4553712"/>
              <a:ext cx="0" cy="1207008"/>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606040" y="4553712"/>
              <a:ext cx="1837943"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5815583"/>
              <a:ext cx="914400" cy="274320"/>
            </a:xfrm>
            <a:prstGeom prst="rect">
              <a:avLst/>
            </a:prstGeom>
            <a:noFill/>
          </p:spPr>
          <p:txBody>
            <a:bodyPr wrap="square" lIns="0" rIns="0" tIns="0" bIns="0">
              <a:spAutoFit/>
            </a:bodyPr>
            <a:lstStyle/>
            <a:p>
              <a:pPr algn="ctr"/>
              <a:r>
                <a:rPr sz="1600" b="1" i="0" u="none">
                  <a:solidFill>
                    <a:srgbClr val="0B2B4E"/>
                  </a:solidFill>
                  <a:latin typeface="Calibri"/>
                </a:rPr>
                <a:t>30</a:t>
              </a:r>
            </a:p>
          </p:txBody>
        </p:sp>
        <p:sp>
          <p:nvSpPr>
            <p:cNvPr id="28" name="TextBox 27"/>
            <p:cNvSpPr txBox="1"/>
            <p:nvPr/>
          </p:nvSpPr>
          <p:spPr>
            <a:xfrm>
              <a:off x="1627632" y="4425696"/>
              <a:ext cx="868680" cy="274320"/>
            </a:xfrm>
            <a:prstGeom prst="rect">
              <a:avLst/>
            </a:prstGeom>
            <a:noFill/>
          </p:spPr>
          <p:txBody>
            <a:bodyPr wrap="square" lIns="0" rIns="0" tIns="0" bIns="0">
              <a:spAutoFit/>
            </a:bodyPr>
            <a:lstStyle/>
            <a:p>
              <a:pPr algn="r"/>
              <a:r>
                <a:rPr sz="1600" b="1" i="0" u="none">
                  <a:solidFill>
                    <a:srgbClr val="0B2B4E"/>
                  </a:solidFill>
                  <a:latin typeface="Calibri"/>
                </a:rPr>
                <a:t>30</a:t>
              </a:r>
            </a:p>
          </p:txBody>
        </p:sp>
      </p:grpSp>
      <p:sp>
        <p:nvSpPr>
          <p:cNvPr id="30" name="TextBox 29"/>
          <p:cNvSpPr txBox="1"/>
          <p:nvPr/>
        </p:nvSpPr>
        <p:spPr>
          <a:xfrm>
            <a:off x="4905756" y="5815583"/>
            <a:ext cx="914400" cy="274320"/>
          </a:xfrm>
          <a:prstGeom prst="rect">
            <a:avLst/>
          </a:prstGeom>
          <a:noFill/>
        </p:spPr>
        <p:txBody>
          <a:bodyPr wrap="square" lIns="0" rIns="0" tIns="0" bIns="0">
            <a:spAutoFit/>
          </a:bodyPr>
          <a:lstStyle/>
          <a:p>
            <a:pPr algn="ctr"/>
            <a:r>
              <a:rPr sz="1600" b="0" i="0" u="none">
                <a:solidFill>
                  <a:srgbClr val="0B2B4E"/>
                </a:solidFill>
                <a:latin typeface="Calibri"/>
              </a:rPr>
              <a:t>45</a:t>
            </a:r>
          </a:p>
        </p:txBody>
      </p:sp>
      <p:sp>
        <p:nvSpPr>
          <p:cNvPr id="31" name="TextBox 30"/>
          <p:cNvSpPr txBox="1"/>
          <p:nvPr/>
        </p:nvSpPr>
        <p:spPr>
          <a:xfrm>
            <a:off x="7662672" y="5815583"/>
            <a:ext cx="914400" cy="274320"/>
          </a:xfrm>
          <a:prstGeom prst="rect">
            <a:avLst/>
          </a:prstGeom>
          <a:noFill/>
        </p:spPr>
        <p:txBody>
          <a:bodyPr wrap="square" lIns="0" rIns="0" tIns="0" bIns="0">
            <a:spAutoFit/>
          </a:bodyPr>
          <a:lstStyle/>
          <a:p>
            <a:pPr algn="ctr"/>
            <a:r>
              <a:rPr sz="1600" b="0" i="0" u="none">
                <a:solidFill>
                  <a:srgbClr val="0B2B4E"/>
                </a:solidFill>
                <a:latin typeface="Calibri"/>
              </a:rPr>
              <a:t>90</a:t>
            </a:r>
          </a:p>
        </p:txBody>
      </p:sp>
      <p:sp>
        <p:nvSpPr>
          <p:cNvPr id="32" name="TextBox 31"/>
          <p:cNvSpPr txBox="1"/>
          <p:nvPr/>
        </p:nvSpPr>
        <p:spPr>
          <a:xfrm>
            <a:off x="1627632" y="3822191"/>
            <a:ext cx="868680" cy="274320"/>
          </a:xfrm>
          <a:prstGeom prst="rect">
            <a:avLst/>
          </a:prstGeom>
          <a:noFill/>
        </p:spPr>
        <p:txBody>
          <a:bodyPr wrap="square" lIns="0" rIns="0" tIns="0" bIns="0">
            <a:spAutoFit/>
          </a:bodyPr>
          <a:lstStyle/>
          <a:p>
            <a:pPr algn="r"/>
            <a:r>
              <a:rPr sz="1600" b="0" i="0" u="none">
                <a:solidFill>
                  <a:srgbClr val="0B2B4E"/>
                </a:solidFill>
                <a:latin typeface="Calibri"/>
              </a:rPr>
              <a:t>45</a:t>
            </a:r>
          </a:p>
        </p:txBody>
      </p:sp>
      <p:sp>
        <p:nvSpPr>
          <p:cNvPr id="33" name="TextBox 32"/>
          <p:cNvSpPr txBox="1"/>
          <p:nvPr/>
        </p:nvSpPr>
        <p:spPr>
          <a:xfrm>
            <a:off x="1627632" y="2011679"/>
            <a:ext cx="868680" cy="274320"/>
          </a:xfrm>
          <a:prstGeom prst="rect">
            <a:avLst/>
          </a:prstGeom>
          <a:noFill/>
        </p:spPr>
        <p:txBody>
          <a:bodyPr wrap="square" lIns="0" rIns="0" tIns="0" bIns="0">
            <a:spAutoFit/>
          </a:bodyPr>
          <a:lstStyle/>
          <a:p>
            <a:pPr algn="r"/>
            <a:r>
              <a:rPr sz="1600" b="0" i="0" u="none">
                <a:solidFill>
                  <a:srgbClr val="0B2B4E"/>
                </a:solidFill>
                <a:latin typeface="Calibri"/>
              </a:rPr>
              <a:t>90</a:t>
            </a:r>
          </a:p>
        </p:txBody>
      </p:sp>
      <p:grpSp>
        <p:nvGrpSpPr>
          <p:cNvPr id="38" name="Equilibrium 38"/>
          <p:cNvGrpSpPr/>
          <p:nvPr/>
        </p:nvGrpSpPr>
        <p:grpSpPr>
          <a:xfrm>
            <a:off x="4375403" y="3456432"/>
            <a:ext cx="3270809" cy="1165860"/>
            <a:chOff x="4375403" y="3456432"/>
            <a:chExt cx="3270809" cy="1165860"/>
          </a:xfrm>
        </p:grpSpPr>
        <p:sp>
          <p:nvSpPr>
            <p:cNvPr id="34" name="Oval 33"/>
            <p:cNvSpPr/>
            <p:nvPr/>
          </p:nvSpPr>
          <p:spPr>
            <a:xfrm>
              <a:off x="4375403" y="4485132"/>
              <a:ext cx="137160" cy="137160"/>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flipH="1">
              <a:off x="4505248" y="3950208"/>
              <a:ext cx="245060" cy="523036"/>
            </a:xfrm>
            <a:prstGeom prst="line">
              <a:avLst/>
            </a:prstGeom>
            <a:ln w="190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718304" y="3456432"/>
              <a:ext cx="2852928" cy="667512"/>
            </a:xfrm>
            <a:prstGeom prst="roundRect">
              <a:avLst>
                <a:gd name="adj" fmla="val 12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B2B4E"/>
                  </a:solidFill>
                  <a:latin typeface="Calibri"/>
                </a:rPr>
                <a:t/>
              </a:r>
            </a:p>
          </p:txBody>
        </p:sp>
        <p:sp>
          <p:nvSpPr>
            <p:cNvPr id="37" name="TextBox 36"/>
            <p:cNvSpPr txBox="1"/>
            <p:nvPr/>
          </p:nvSpPr>
          <p:spPr>
            <a:xfrm>
              <a:off x="4811572" y="3507638"/>
              <a:ext cx="2834640" cy="594360"/>
            </a:xfrm>
            <a:prstGeom prst="rect">
              <a:avLst/>
            </a:prstGeom>
            <a:noFill/>
          </p:spPr>
          <p:txBody>
            <a:bodyPr wrap="square" lIns="45720" rIns="45720" tIns="0" bIns="0">
              <a:spAutoFit/>
            </a:bodyPr>
            <a:lstStyle/>
            <a:p xmlns:m="http://schemas.openxmlformats.org/officeDocument/2006/math" xmlns:a14="http://schemas.microsoft.com/office/drawing/2010/main">
              <a:r>
                <a:rPr lang="en-US" sz="1500" b="1">
                  <a:solidFill>
                    <a:srgbClr val="0B2B4E"/>
                  </a:solidFill>
                  <a:latin typeface="Calibri"/>
                </a:rPr>
                <a:t>Cournot Equilibrium</a:t>
              </a:r>
              <a:endParaRPr lang="en-US"/>
            </a:p>
            <a:p xmlns:m="http://schemas.openxmlformats.org/officeDocument/2006/math" xmlns:a14="http://schemas.microsoft.com/office/drawing/2010/main">
              <a14:m>
                <m:oMath>
                  <m:sSub>
                    <m:sSubPr>
                      <m:ctrlPr>
                        <a:rPr lang="en-US" i="1">
                          <a:latin typeface="Cambria Math"/>
                        </a:rPr>
                      </m:ctrlPr>
                    </m:sSubPr>
                    <m:e>
                      <m:r>
                        <a:rPr lang="en-US" b="0" i="1" sz="1400">
                          <a:solidFill>
                            <a:srgbClr val="C00000"/>
                          </a:solidFill>
                          <a:latin typeface="Cambria Math"/>
                          <a:ea typeface="Cambria Math"/>
                        </a:rPr>
                        <m:t>Q</m:t>
                      </m:r>
                    </m:e>
                    <m:sub>
                      <m:r>
                        <m:rPr>
                          <m:sty m:val="p"/>
                        </m:rPr>
                        <a:rPr lang="en-US" b="0" i="0" sz="1400">
                          <a:solidFill>
                            <a:srgbClr val="C00000"/>
                          </a:solidFill>
                          <a:latin typeface="Cambria Math"/>
                        </a:rPr>
                        <m:t xml:space="preserve">A</m:t>
                      </m:r>
                    </m:sub>
                  </m:sSub>
                  <m:r>
                    <m:rPr>
                      <m:sty m:val="p"/>
                    </m:rPr>
                    <a:rPr lang="en-US" b="0" i="0" sz="1400">
                      <a:solidFill>
                        <a:srgbClr val="0B2B4E"/>
                      </a:solidFill>
                      <a:latin typeface="Cambria Math"/>
                    </a:rPr>
                    <m:t xml:space="preserve"> = </m:t>
                  </m:r>
                  <m:sSub>
                    <m:sSubPr>
                      <m:ctrlPr>
                        <a:rPr lang="en-US" i="1">
                          <a:latin typeface="Cambria Math"/>
                        </a:rPr>
                      </m:ctrlPr>
                    </m:sSubPr>
                    <m:e>
                      <m:r>
                        <a:rPr lang="en-US" b="0" i="1" sz="1400">
                          <a:solidFill>
                            <a:srgbClr val="4D5D2C"/>
                          </a:solidFill>
                          <a:latin typeface="Cambria Math"/>
                          <a:ea typeface="Cambria Math"/>
                        </a:rPr>
                        <m:t>Q</m:t>
                      </m:r>
                    </m:e>
                    <m:sub>
                      <m:r>
                        <m:rPr>
                          <m:sty m:val="p"/>
                        </m:rPr>
                        <a:rPr lang="en-US" b="0" i="0" sz="1400">
                          <a:solidFill>
                            <a:srgbClr val="4D5D2C"/>
                          </a:solidFill>
                          <a:latin typeface="Cambria Math"/>
                        </a:rPr>
                        <m:t xml:space="preserve">B</m:t>
                      </m:r>
                    </m:sub>
                  </m:sSub>
                  <m:r>
                    <m:rPr>
                      <m:sty m:val="p"/>
                    </m:rPr>
                    <a:rPr lang="en-US" b="0" i="0" sz="1400">
                      <a:solidFill>
                        <a:srgbClr val="0B2B4E"/>
                      </a:solidFill>
                      <a:latin typeface="Cambria Math"/>
                    </a:rPr>
                    <m:t xml:space="preserve"> = 30  and  </m:t>
                  </m:r>
                  <m:r>
                    <a:rPr lang="en-US" b="0" i="1" sz="1400">
                      <a:solidFill>
                        <a:srgbClr val="0B2B4E"/>
                      </a:solidFill>
                      <a:latin typeface="Cambria Math"/>
                      <a:ea typeface="Cambria Math"/>
                    </a:rPr>
                    <m:t>P</m:t>
                  </m:r>
                  <m:r>
                    <m:rPr>
                      <m:sty m:val="p"/>
                    </m:rPr>
                    <a:rPr lang="en-US" b="0" i="0" sz="1400">
                      <a:solidFill>
                        <a:srgbClr val="0B2B4E"/>
                      </a:solidFill>
                      <a:latin typeface="Cambria Math"/>
                    </a:rPr>
                    <m:t xml:space="preserve"> = 40</m:t>
                  </m:r>
                </m:oMath>
              </a14:m>
              <a:endParaRPr lang="en-US"/>
            </a:p>
          </p:txBody>
        </p:sp>
      </p:grpSp>
      <p:grpSp>
        <p:nvGrpSpPr>
          <p:cNvPr id="41" name="Callout 41"/>
          <p:cNvGrpSpPr/>
          <p:nvPr/>
        </p:nvGrpSpPr>
        <p:grpSpPr>
          <a:xfrm>
            <a:off x="7635240" y="1554480"/>
            <a:ext cx="4206240" cy="1143000"/>
            <a:chOff x="7635240" y="1554480"/>
            <a:chExt cx="4206240" cy="1143000"/>
          </a:xfrm>
        </p:grpSpPr>
        <p:sp>
          <p:nvSpPr>
            <p:cNvPr id="39" name="Rounded Rectangle 38"/>
            <p:cNvSpPr/>
            <p:nvPr/>
          </p:nvSpPr>
          <p:spPr>
            <a:xfrm>
              <a:off x="7635240" y="1554480"/>
              <a:ext cx="4206240" cy="1143000"/>
            </a:xfrm>
            <a:prstGeom prst="roundRect">
              <a:avLst>
                <a:gd name="adj" fmla="val 12000"/>
              </a:avLst>
            </a:prstGeom>
            <a:solidFill>
              <a:srgbClr val="FFFFFF"/>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18120" y="1664208"/>
              <a:ext cx="3840480" cy="923544"/>
            </a:xfrm>
            <a:prstGeom prst="rect">
              <a:avLst/>
            </a:prstGeom>
            <a:noFill/>
          </p:spPr>
          <p:txBody>
            <a:bodyPr wrap="square" lIns="45720" rIns="45720" tIns="0" bIns="0" anchor="ctr">
              <a:spAutoFit/>
            </a:bodyPr>
            <a:lstStyle/>
            <a:p>
              <a:pPr algn="l"/>
              <a:r>
                <a:rPr sz="1600" b="0" i="0" u="none">
                  <a:solidFill>
                    <a:srgbClr val="0B2B4E"/>
                  </a:solidFill>
                  <a:latin typeface="Calibri"/>
                </a:rPr>
                <a:t>Cournot equilibrium: neither firm would like to deviate</a:t>
              </a:r>
            </a:p>
            <a:p>
              <a:pPr algn="l"/>
              <a:r>
                <a:rPr sz="1600" b="1" i="0" u="none">
                  <a:solidFill>
                    <a:srgbClr val="0B2B4E"/>
                  </a:solidFill>
                  <a:latin typeface="Calibri"/>
                </a:rPr>
                <a:t>→  Look for intersection of reaction functions</a:t>
              </a:r>
            </a:p>
          </p:txBody>
        </p:sp>
      </p:grpSp>
      <p:grpSp>
        <p:nvGrpSpPr>
          <p:cNvPr id="44" name="Starting 44"/>
          <p:cNvGrpSpPr/>
          <p:nvPr/>
        </p:nvGrpSpPr>
        <p:grpSpPr>
          <a:xfrm>
            <a:off x="8092440" y="2926080"/>
            <a:ext cx="3749039" cy="868680"/>
            <a:chOff x="8092440" y="2926080"/>
            <a:chExt cx="3749039" cy="868680"/>
          </a:xfrm>
        </p:grpSpPr>
        <p:sp>
          <p:nvSpPr>
            <p:cNvPr id="42" name="Rounded Rectangle 41"/>
            <p:cNvSpPr/>
            <p:nvPr/>
          </p:nvSpPr>
          <p:spPr>
            <a:xfrm>
              <a:off x="8092440" y="2926080"/>
              <a:ext cx="3749039" cy="868680"/>
            </a:xfrm>
            <a:prstGeom prst="roundRect">
              <a:avLst>
                <a:gd name="adj" fmla="val 12000"/>
              </a:avLst>
            </a:prstGeom>
            <a:solidFill>
              <a:srgbClr val="FFFFFF"/>
            </a:solidFill>
            <a:ln w="12700">
              <a:solidFill>
                <a:srgbClr val="555B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75320" y="3035808"/>
              <a:ext cx="3383279" cy="649224"/>
            </a:xfrm>
            <a:prstGeom prst="rect">
              <a:avLst/>
            </a:prstGeom>
            <a:noFill/>
          </p:spPr>
          <p:txBody>
            <a:bodyPr wrap="square" lIns="45720" rIns="45720" tIns="0" bIns="0" anchor="ctr">
              <a:spAutoFit/>
            </a:bodyPr>
            <a:lstStyle/>
            <a:p>
              <a:pPr algn="l"/>
              <a:r>
                <a:rPr sz="1500" i="1">
                  <a:solidFill>
                    <a:srgbClr val="555B66"/>
                  </a:solidFill>
                  <a:latin typeface="Calibri"/>
                </a:rPr>
                <a:t>Starting point: Firm B contemplates its reaction to Q</a:t>
              </a:r>
              <a:r>
                <a:rPr sz="1500" i="1" baseline="-25000">
                  <a:solidFill>
                    <a:srgbClr val="555B66"/>
                  </a:solidFill>
                  <a:latin typeface="Calibri"/>
                </a:rPr>
                <a:t>A</a:t>
              </a:r>
              <a:r>
                <a:rPr sz="1500" i="1">
                  <a:solidFill>
                    <a:srgbClr val="555B66"/>
                  </a:solidFill>
                  <a:latin typeface="Calibri"/>
                </a:rPr>
                <a:t> = 15</a:t>
              </a:r>
            </a:p>
          </p:txBody>
        </p:sp>
      </p:grpSp>
      <p:sp>
        <p:nvSpPr>
          <p:cNvPr id="45" name="Rectangle 4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48" name="TextBox 47"/>
          <p:cNvSpPr txBox="1"/>
          <p:nvPr/>
        </p:nvSpPr>
        <p:spPr>
          <a:xfrm>
            <a:off x="11475720" y="6583680"/>
            <a:ext cx="502920" cy="292608"/>
          </a:xfrm>
          <a:prstGeom prst="rect">
            <a:avLst/>
          </a:prstGeom>
          <a:noFill/>
        </p:spPr>
        <p:txBody>
          <a:bodyPr wrap="none" lIns="0" rIns="0" tIns="0" bIns="0">
            <a:spAutoFit/>
          </a:bodyPr>
          <a:lstStyle/>
          <a:p>
            <a:pPr algn="r"/>
            <a:fld id="{C0DC02D0-69DE-540E-BA38-63A8E1F7EACF}" type="slidenum">
              <a:rPr lang="en-US" sz="1200" dirty="0">
                <a:solidFill>
                  <a:srgbClr val="555B66"/>
                </a:solidFill>
                <a:latin typeface="Calibri"/>
              </a:rPr>
              <a:t>26</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fade">
                                      <p:cBhvr>
                                        <p:cTn id="17" dur="50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500"/>
                                        <p:tgtEl>
                                          <p:spTgt spid="2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fade">
                                      <p:cBhvr>
                                        <p:cTn id="45" dur="500"/>
                                        <p:tgtEl>
                                          <p:spTgt spid="3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41"/>
                                        </p:tgtEl>
                                        <p:attrNameLst>
                                          <p:attrName>style.visibility</p:attrName>
                                        </p:attrNameLst>
                                      </p:cBhvr>
                                      <p:to>
                                        <p:strVal val="visible"/>
                                      </p:to>
                                    </p:set>
                                    <p:animEffect transition="in" filter="fade">
                                      <p:cBhvr>
                                        <p:cTn id="50"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Cournot Competition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Cournot: Math</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0" name="TextBox 9"/>
          <p:cNvSpPr txBox="1"/>
          <p:nvPr/>
        </p:nvSpPr>
        <p:spPr>
          <a:xfrm>
            <a:off x="11475720" y="6583680"/>
            <a:ext cx="502920" cy="292608"/>
          </a:xfrm>
          <a:prstGeom prst="rect">
            <a:avLst/>
          </a:prstGeom>
          <a:noFill/>
        </p:spPr>
        <p:txBody>
          <a:bodyPr wrap="none" lIns="0" rIns="0" tIns="0" bIns="0">
            <a:spAutoFit/>
          </a:bodyPr>
          <a:lstStyle/>
          <a:p>
            <a:pPr algn="r"/>
            <a:fld id="{7AC362A3-4ED0-5A65-836D-39E67ED44BFC}" type="slidenum">
              <a:rPr lang="en-US" sz="1200" dirty="0">
                <a:solidFill>
                  <a:srgbClr val="555B66"/>
                </a:solidFill>
                <a:latin typeface="Calibri"/>
              </a:rPr>
              <a:t>27</a:t>
            </a:fld>
          </a:p>
        </p:txBody>
      </p:sp>
      <p:sp>
        <p:nvSpPr>
          <p:cNvPr id="11" name="Rounded Rectangle 10"/>
          <p:cNvSpPr/>
          <p:nvPr/>
        </p:nvSpPr>
        <p:spPr>
          <a:xfrm>
            <a:off x="2804007" y="2286000"/>
            <a:ext cx="6583680" cy="777240"/>
          </a:xfrm>
          <a:prstGeom prst="roundRect">
            <a:avLst>
              <a:gd name="adj" fmla="val 28000"/>
            </a:avLst>
          </a:prstGeom>
          <a:gradFill>
            <a:gsLst>
              <a:gs pos="0">
                <a:schemeClr val="bg1">
                  <a:lumMod val="65000"/>
                </a:schemeClr>
              </a:gs>
              <a:gs pos="54000">
                <a:schemeClr val="bg1">
                  <a:lumMod val="95000"/>
                </a:schemeClr>
              </a:gs>
              <a:gs pos="100000">
                <a:schemeClr val="bg1">
                  <a:lumMod val="65000"/>
                </a:schemeClr>
              </a:gs>
            </a:gsLst>
            <a:lin ang="5400000" scaled="1"/>
          </a:gra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E09F3E"/>
                </a:solidFill>
                <a:latin typeface="Calibri"/>
              </a:rPr>
              <a:t>▶  </a:t>
            </a:r>
            <a:r>
              <a:rPr sz="2000" b="1">
                <a:solidFill>
                  <a:srgbClr val="0B2B4E"/>
                </a:solidFill>
                <a:latin typeface="Calibri"/>
              </a:rPr>
              <a:t>Practice Video “Cournot Competition Math”</a:t>
            </a:r>
          </a:p>
        </p:txBody>
      </p:sp>
      <p:sp>
        <p:nvSpPr>
          <p:cNvPr id="12" name="TextBox 11"/>
          <p:cNvSpPr txBox="1"/>
          <p:nvPr/>
        </p:nvSpPr>
        <p:spPr>
          <a:xfrm>
            <a:off x="251999" y="3899915"/>
            <a:ext cx="11687697" cy="365760"/>
          </a:xfrm>
          <a:prstGeom prst="rect">
            <a:avLst/>
          </a:prstGeom>
          <a:noFill/>
        </p:spPr>
        <p:txBody>
          <a:bodyPr wrap="square" lIns="0" rIns="0" tIns="0" bIns="0">
            <a:spAutoFit/>
          </a:bodyPr>
          <a:lstStyle/>
          <a:p>
            <a:pPr algn="ctr"/>
            <a:r>
              <a:rPr sz="2400" b="0" i="0" u="none">
                <a:solidFill>
                  <a:srgbClr val="0B2B4E"/>
                </a:solidFill>
                <a:latin typeface="Calibri"/>
              </a:rPr>
              <a:t>More general case with different MC:</a:t>
            </a:r>
          </a:p>
        </p:txBody>
      </p:sp>
      <p:sp>
        <p:nvSpPr>
          <p:cNvPr id="13" name="Rounded Rectangle 12"/>
          <p:cNvSpPr/>
          <p:nvPr/>
        </p:nvSpPr>
        <p:spPr>
          <a:xfrm>
            <a:off x="2804007" y="4343400"/>
            <a:ext cx="6583680" cy="777240"/>
          </a:xfrm>
          <a:prstGeom prst="roundRect">
            <a:avLst>
              <a:gd name="adj" fmla="val 28000"/>
            </a:avLst>
          </a:prstGeom>
          <a:gradFill>
            <a:gsLst>
              <a:gs pos="0">
                <a:schemeClr val="bg1">
                  <a:lumMod val="65000"/>
                </a:schemeClr>
              </a:gs>
              <a:gs pos="54000">
                <a:schemeClr val="bg1">
                  <a:lumMod val="95000"/>
                </a:schemeClr>
              </a:gs>
              <a:gs pos="100000">
                <a:schemeClr val="bg1">
                  <a:lumMod val="65000"/>
                </a:schemeClr>
              </a:gs>
            </a:gsLst>
            <a:lin ang="5400000" scaled="1"/>
          </a:gra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E09F3E"/>
                </a:solidFill>
                <a:latin typeface="Calibri"/>
              </a:rPr>
              <a:t>▶  </a:t>
            </a:r>
            <a:r>
              <a:rPr sz="2000" b="1">
                <a:solidFill>
                  <a:srgbClr val="0B2B4E"/>
                </a:solidFill>
                <a:latin typeface="Calibri"/>
              </a:rPr>
              <a:t>Practice Video “Oligopoly with different MC”</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Cournot Competition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Further Examples for Cournot Competition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2286000"/>
            <a:ext cx="6035040" cy="2743200"/>
          </a:xfrm>
          <a:prstGeom prst="rect">
            <a:avLst/>
          </a:prstGeom>
          <a:noFill/>
        </p:spPr>
        <p:txBody>
          <a:bodyPr wrap="square" lIns="0" rIns="0" tIns="0" bIns="0">
            <a:spAutoFit/>
          </a:bodyPr>
          <a:lstStyle>
            <a:lvl1pPr marL="342900" indent="-342900">
              <a:spcBef>
                <a:spcPts val="20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Oil</a:t>
            </a:r>
          </a:p>
          <a:p>
            <a:pPr algn="l" lvl="1"/>
            <a:r>
              <a:rPr>
                <a:latin typeface="Calibri"/>
              </a:rPr>
              <a:t>However: Includes a cartel (OPEC)</a:t>
            </a:r>
          </a:p>
          <a:p>
            <a:pPr algn="l"/>
            <a:r>
              <a:rPr>
                <a:latin typeface="Calibri"/>
              </a:rPr>
              <a:t>Steel producers</a:t>
            </a:r>
          </a:p>
        </p:txBody>
      </p:sp>
      <p:pic>
        <p:nvPicPr>
          <p:cNvPr id="8" name="Picture 7" descr="image30.jpg"/>
          <p:cNvPicPr>
            <a:picLocks noChangeAspect="1"/>
          </p:cNvPicPr>
          <p:nvPr/>
        </p:nvPicPr>
        <p:blipFill>
          <a:blip r:embed="rId2"/>
          <a:stretch>
            <a:fillRect/>
          </a:stretch>
        </p:blipFill>
        <p:spPr>
          <a:xfrm>
            <a:off x="5568696" y="1289304"/>
            <a:ext cx="3639312" cy="2052572"/>
          </a:xfrm>
          <a:prstGeom prst="rect">
            <a:avLst/>
          </a:prstGeom>
          <a:effectLst>
            <a:outerShdw blurRad="50800" dist="38100" dir="2700000" algn="tl" rotWithShape="0">
              <a:srgbClr val="000000">
                <a:alpha val="45000"/>
              </a:srgbClr>
            </a:outerShdw>
          </a:effectLst>
        </p:spPr>
      </p:pic>
      <p:sp>
        <p:nvSpPr>
          <p:cNvPr id="9" name="Rectangle 8"/>
          <p:cNvSpPr/>
          <p:nvPr/>
        </p:nvSpPr>
        <p:spPr>
          <a:xfrm>
            <a:off x="3099816" y="3502152"/>
            <a:ext cx="5486400" cy="278892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99816" y="3602736"/>
            <a:ext cx="5486400" cy="274320"/>
          </a:xfrm>
          <a:prstGeom prst="rect">
            <a:avLst/>
          </a:prstGeom>
          <a:noFill/>
        </p:spPr>
        <p:txBody>
          <a:bodyPr wrap="square" lIns="0" rIns="0" tIns="0" bIns="0">
            <a:spAutoFit/>
          </a:bodyPr>
          <a:lstStyle/>
          <a:p>
            <a:pPr algn="ctr"/>
            <a:r>
              <a:rPr sz="1300" b="1" i="1" u="none">
                <a:solidFill>
                  <a:srgbClr val="0B2B4E"/>
                </a:solidFill>
                <a:latin typeface="Calibri"/>
              </a:rPr>
              <a:t>US crude steel production by producer, 2024</a:t>
            </a:r>
          </a:p>
        </p:txBody>
      </p:sp>
      <p:graphicFrame>
        <p:nvGraphicFramePr>
          <p:cNvPr id="11" name="Chart 10"/>
          <p:cNvGraphicFramePr>
            <a:graphicFrameLocks noGrp="1"/>
          </p:cNvGraphicFramePr>
          <p:nvPr/>
        </p:nvGraphicFramePr>
        <p:xfrm>
          <a:off x="3236976" y="3858768"/>
          <a:ext cx="5212080" cy="2359152"/>
        </p:xfrm>
        <a:graphic>
          <a:graphicData uri="http://schemas.openxmlformats.org/drawingml/2006/chart">
            <c:chart xmlns:c="http://schemas.openxmlformats.org/drawingml/2006/chart" r:id="rId3"/>
          </a:graphicData>
        </a:graphic>
      </p:graphicFrame>
      <p:sp>
        <p:nvSpPr>
          <p:cNvPr id="12" name="TextBox 11"/>
          <p:cNvSpPr txBox="1"/>
          <p:nvPr/>
        </p:nvSpPr>
        <p:spPr>
          <a:xfrm>
            <a:off x="3099816" y="6044184"/>
            <a:ext cx="5486400" cy="228600"/>
          </a:xfrm>
          <a:prstGeom prst="rect">
            <a:avLst/>
          </a:prstGeom>
          <a:noFill/>
        </p:spPr>
        <p:txBody>
          <a:bodyPr wrap="square" lIns="0" rIns="0" tIns="0" bIns="0">
            <a:spAutoFit/>
          </a:bodyPr>
          <a:lstStyle/>
          <a:p>
            <a:pPr algn="ctr"/>
            <a:r>
              <a:rPr sz="900" b="0" i="1" u="none">
                <a:solidFill>
                  <a:srgbClr val="555B66"/>
                </a:solidFill>
                <a:latin typeface="Calibri"/>
              </a:rPr>
              <a:t>Source: worldsteel, company reports. U.S. Steel acquired by Nippon Steel, June 2025</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6" name="TextBox 15"/>
          <p:cNvSpPr txBox="1"/>
          <p:nvPr/>
        </p:nvSpPr>
        <p:spPr>
          <a:xfrm>
            <a:off x="11475720" y="6583680"/>
            <a:ext cx="502920" cy="292608"/>
          </a:xfrm>
          <a:prstGeom prst="rect">
            <a:avLst/>
          </a:prstGeom>
          <a:noFill/>
        </p:spPr>
        <p:txBody>
          <a:bodyPr wrap="none" lIns="0" rIns="0" tIns="0" bIns="0">
            <a:spAutoFit/>
          </a:bodyPr>
          <a:lstStyle/>
          <a:p>
            <a:pPr algn="r"/>
            <a:fld id="{EF0B26CF-279F-5229-996A-F3A73107C4C1}" type="slidenum">
              <a:rPr lang="en-US" sz="1200" dirty="0">
                <a:solidFill>
                  <a:srgbClr val="555B66"/>
                </a:solidFill>
                <a:latin typeface="Calibri"/>
              </a:rPr>
              <a:t>28</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Bertrand Competition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Outline of Module 7</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151333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1</a:t>
            </a:r>
          </a:p>
        </p:txBody>
      </p:sp>
      <p:sp>
        <p:nvSpPr>
          <p:cNvPr id="8" name="TextBox 7"/>
          <p:cNvSpPr txBox="1"/>
          <p:nvPr/>
        </p:nvSpPr>
        <p:spPr>
          <a:xfrm>
            <a:off x="1874519" y="1495044"/>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Collusion and Cartels</a:t>
            </a:r>
          </a:p>
        </p:txBody>
      </p:sp>
      <p:sp>
        <p:nvSpPr>
          <p:cNvPr id="9" name="Oval 8"/>
          <p:cNvSpPr/>
          <p:nvPr/>
        </p:nvSpPr>
        <p:spPr>
          <a:xfrm>
            <a:off x="1051560" y="234543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2</a:t>
            </a:r>
          </a:p>
        </p:txBody>
      </p:sp>
      <p:sp>
        <p:nvSpPr>
          <p:cNvPr id="10" name="TextBox 9"/>
          <p:cNvSpPr txBox="1"/>
          <p:nvPr/>
        </p:nvSpPr>
        <p:spPr>
          <a:xfrm>
            <a:off x="1874519" y="2327148"/>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Cournot Competition</a:t>
            </a:r>
          </a:p>
        </p:txBody>
      </p:sp>
      <p:sp>
        <p:nvSpPr>
          <p:cNvPr id="11" name="Rounded Rectangle 10"/>
          <p:cNvSpPr/>
          <p:nvPr/>
        </p:nvSpPr>
        <p:spPr>
          <a:xfrm>
            <a:off x="822960" y="3104388"/>
            <a:ext cx="11109960" cy="822960"/>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51560" y="317754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3</a:t>
            </a:r>
          </a:p>
        </p:txBody>
      </p:sp>
      <p:sp>
        <p:nvSpPr>
          <p:cNvPr id="13" name="TextBox 12"/>
          <p:cNvSpPr txBox="1"/>
          <p:nvPr/>
        </p:nvSpPr>
        <p:spPr>
          <a:xfrm>
            <a:off x="1874519" y="3159252"/>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Bertrand Competition</a:t>
            </a:r>
          </a:p>
          <a:p>
            <a:pPr algn="l">
              <a:spcBef>
                <a:spcPts val="0"/>
              </a:spcBef>
              <a:buNone/>
            </a:pPr>
            <a:r>
              <a:rPr sz="2200">
                <a:solidFill>
                  <a:srgbClr val="555B66"/>
                </a:solidFill>
                <a:latin typeface="Calibri"/>
              </a:rPr>
              <a:t>Competing by setting prices, and why it can compete profits away</a:t>
            </a:r>
          </a:p>
        </p:txBody>
      </p:sp>
      <p:sp>
        <p:nvSpPr>
          <p:cNvPr id="14" name="Oval 13"/>
          <p:cNvSpPr/>
          <p:nvPr/>
        </p:nvSpPr>
        <p:spPr>
          <a:xfrm>
            <a:off x="1051560" y="400964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4</a:t>
            </a:r>
          </a:p>
        </p:txBody>
      </p:sp>
      <p:sp>
        <p:nvSpPr>
          <p:cNvPr id="15" name="TextBox 14"/>
          <p:cNvSpPr txBox="1"/>
          <p:nvPr/>
        </p:nvSpPr>
        <p:spPr>
          <a:xfrm>
            <a:off x="1874519" y="3991356"/>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Oligopoly with Differentiated Goods</a:t>
            </a:r>
          </a:p>
        </p:txBody>
      </p:sp>
      <p:sp>
        <p:nvSpPr>
          <p:cNvPr id="16" name="Oval 15"/>
          <p:cNvSpPr/>
          <p:nvPr/>
        </p:nvSpPr>
        <p:spPr>
          <a:xfrm>
            <a:off x="1051560" y="484174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5</a:t>
            </a:r>
          </a:p>
        </p:txBody>
      </p:sp>
      <p:sp>
        <p:nvSpPr>
          <p:cNvPr id="17" name="TextBox 16"/>
          <p:cNvSpPr txBox="1"/>
          <p:nvPr/>
        </p:nvSpPr>
        <p:spPr>
          <a:xfrm>
            <a:off x="1874519" y="4823460"/>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Strategic Thinking: Key Concepts</a:t>
            </a:r>
          </a:p>
        </p:txBody>
      </p:sp>
      <p:sp>
        <p:nvSpPr>
          <p:cNvPr id="18" name="Oval 17"/>
          <p:cNvSpPr/>
          <p:nvPr/>
        </p:nvSpPr>
        <p:spPr>
          <a:xfrm>
            <a:off x="1051560" y="567385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6</a:t>
            </a:r>
          </a:p>
        </p:txBody>
      </p:sp>
      <p:sp>
        <p:nvSpPr>
          <p:cNvPr id="19" name="TextBox 18"/>
          <p:cNvSpPr txBox="1"/>
          <p:nvPr/>
        </p:nvSpPr>
        <p:spPr>
          <a:xfrm>
            <a:off x="1874519" y="5655564"/>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Prisoner’s Dilemma, Game of Chicken…</a:t>
            </a:r>
          </a:p>
        </p:txBody>
      </p:sp>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23" name="TextBox 22"/>
          <p:cNvSpPr txBox="1"/>
          <p:nvPr/>
        </p:nvSpPr>
        <p:spPr>
          <a:xfrm>
            <a:off x="11475720" y="6583680"/>
            <a:ext cx="502920" cy="292608"/>
          </a:xfrm>
          <a:prstGeom prst="rect">
            <a:avLst/>
          </a:prstGeom>
          <a:noFill/>
        </p:spPr>
        <p:txBody>
          <a:bodyPr wrap="none" lIns="0" rIns="0" tIns="0" bIns="0">
            <a:spAutoFit/>
          </a:bodyPr>
          <a:lstStyle/>
          <a:p>
            <a:pPr algn="r"/>
            <a:fld id="{26E24EAA-9395-56DB-92A0-F4B107E42537}" type="slidenum">
              <a:rPr lang="en-US" sz="1200" dirty="0">
                <a:solidFill>
                  <a:srgbClr val="555B66"/>
                </a:solidFill>
                <a:latin typeface="Calibri"/>
              </a:rPr>
              <a:t>29</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Bertrand Competition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Bertrand Competition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8604504" cy="2761488"/>
          </a:xfrm>
          <a:prstGeom prst="rect">
            <a:avLst/>
          </a:prstGeom>
          <a:noFill/>
        </p:spPr>
        <p:txBody>
          <a:bodyPr wrap="square" lIns="0" rIns="0" tIns="0" bIns="0">
            <a:spAutoFit/>
          </a:bodyPr>
          <a:lstStyle>
            <a:lvl1pPr marL="342900" indent="-342900">
              <a:spcBef>
                <a:spcPts val="20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Bertrand assumed that firms choose a </a:t>
            </a:r>
            <a:r>
              <a:rPr>
                <a:solidFill>
                  <a:srgbClr val="FF0000"/>
                </a:solidFill>
                <a:latin typeface="Calibri"/>
              </a:rPr>
              <a:t>price</a:t>
            </a:r>
            <a:r>
              <a:rPr>
                <a:latin typeface="Calibri"/>
              </a:rPr>
              <a:t> and stand ready to meet all demand at that price</a:t>
            </a:r>
          </a:p>
          <a:p>
            <a:pPr algn="l"/>
            <a:r>
              <a:rPr>
                <a:latin typeface="Calibri"/>
              </a:rPr>
              <a:t>Each firm sets a price that maximizes profits, conditional on the price set by the other firm</a:t>
            </a:r>
          </a:p>
          <a:p>
            <a:pPr algn="l"/>
            <a:r>
              <a:rPr>
                <a:latin typeface="Calibri"/>
              </a:rPr>
              <a:t>Contrast this with the Cournot case, where the game was played on quantities</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B1439C3A-C544-5107-AAF0-61C200AD1A35}" type="slidenum">
              <a:rPr lang="en-US" sz="1200" dirty="0">
                <a:solidFill>
                  <a:srgbClr val="555B66"/>
                </a:solidFill>
                <a:latin typeface="Calibri"/>
              </a:rPr>
              <a:t>30</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s30_image43.png"/>
          <p:cNvPicPr>
            <a:picLocks noChangeAspect="1"/>
          </p:cNvPicPr>
          <p:nvPr/>
        </p:nvPicPr>
        <p:blipFill>
          <a:blip r:embed="rId2"/>
          <a:stretch>
            <a:fillRect/>
          </a:stretch>
        </p:blipFill>
        <p:spPr>
          <a:xfrm>
            <a:off x="3658" y="0"/>
            <a:ext cx="12185294" cy="6858000"/>
          </a:xfrm>
          <a:prstGeom prst="rect">
            <a:avLst/>
          </a:prstGeom>
        </p:spPr>
      </p:pic>
      <p:sp>
        <p:nvSpPr>
          <p:cNvPr id="3" name="Rectangle 2"/>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Bertrand Competition</a:t>
            </a:r>
          </a:p>
        </p:txBody>
      </p:sp>
      <p:sp>
        <p:nvSpPr>
          <p:cNvPr id="5" name="TextBox 4"/>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Bertrand Competition (with Identical Goods)</a:t>
            </a:r>
          </a:p>
        </p:txBody>
      </p:sp>
      <p:sp>
        <p:nvSpPr>
          <p:cNvPr id="6" name="Rectangle 5"/>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9600" name="Group 12">
            <a:extLst>
              <a:ext uri="{FF2B5EF4-FFF2-40B4-BE49-F238E27FC236}">
                <a16:creationId xmlns:a16="http://schemas.microsoft.com/office/drawing/2014/main" id="{B93B62C4-CFD2-993E-9390-63E18F36D3A0}"/>
              </a:ext>
            </a:extLst>
          </p:cNvPr>
          <p:cNvGrpSpPr/>
          <p:nvPr/>
        </p:nvGrpSpPr>
        <p:grpSpPr>
          <a:xfrm>
            <a:off x="3444087" y="1051660"/>
            <a:ext cx="5480457" cy="1615373"/>
            <a:chOff x="1066647" y="2549581"/>
            <a:chExt cx="10058400" cy="1963218"/>
          </a:xfrm>
        </p:grpSpPr>
        <p:sp>
          <p:nvSpPr>
            <p:cNvPr id="9601" name="Rounded Rectangle 6"/>
            <p:cNvSpPr/>
            <p:nvPr/>
          </p:nvSpPr>
          <p:spPr>
            <a:xfrm>
              <a:off x="1066647" y="2651760"/>
              <a:ext cx="10058400" cy="1861039"/>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02" name="TextBox 7"/>
            <p:cNvSpPr txBox="1"/>
            <p:nvPr/>
          </p:nvSpPr>
          <p:spPr>
            <a:xfrm>
              <a:off x="1249528" y="2549581"/>
              <a:ext cx="9692641" cy="1946549"/>
            </a:xfrm>
            <a:prstGeom prst="rect">
              <a:avLst/>
            </a:prstGeom>
            <a:noFill/>
          </p:spPr>
          <p:txBody>
            <a:bodyPr wrap="square" lIns="45720" tIns="0" rIns="45720" bIns="0" anchor="ctr">
              <a:spAutoFit/>
            </a:bodyPr>
            <a:lstStyle/>
            <a:p>
              <a:pPr algn="l">
                <a:lnSpc>
                  <a:spcPct val="140000"/>
                </a:lnSpc>
              </a:pPr>
              <a:r>
                <a:rPr sz="2600" b="1" i="0" dirty="0">
                  <a:solidFill>
                    <a:srgbClr val="0B2B4E"/>
                  </a:solidFill>
                  <a:latin typeface="Calibri"/>
                </a:rPr>
                <a:t>Assumptions:</a:t>
              </a:r>
            </a:p>
            <a:p>
              <a:pPr algn="l"/>
              <a:r>
                <a:rPr sz="2400" b="0" i="0" dirty="0">
                  <a:solidFill>
                    <a:srgbClr val="0B2B4E"/>
                  </a:solidFill>
                  <a:latin typeface="Calibri"/>
                </a:rPr>
                <a:t>▪  Firms make identical products</a:t>
              </a:r>
            </a:p>
            <a:p>
              <a:pPr algn="l"/>
              <a:r>
                <a:rPr sz="2400" b="0" i="0" dirty="0">
                  <a:solidFill>
                    <a:srgbClr val="0B2B4E"/>
                  </a:solidFill>
                  <a:latin typeface="Calibri"/>
                </a:rPr>
                <a:t>▪  Firms compete by choosing the </a:t>
              </a:r>
              <a:r>
                <a:rPr sz="2400" b="0" i="0" u="sng" dirty="0">
                  <a:solidFill>
                    <a:srgbClr val="FF0000"/>
                  </a:solidFill>
                  <a:latin typeface="Calibri"/>
                </a:rPr>
                <a:t>price</a:t>
              </a:r>
              <a:r>
                <a:rPr sz="2400" b="0" i="0" dirty="0">
                  <a:solidFill>
                    <a:srgbClr val="0B2B4E"/>
                  </a:solidFill>
                  <a:latin typeface="Calibri"/>
                </a:rPr>
                <a:t> at</a:t>
              </a:r>
              <a:endParaRPr lang="en-US" sz="2400" b="0" i="0" dirty="0">
                <a:solidFill>
                  <a:srgbClr val="0B2B4E"/>
                </a:solidFill>
                <a:latin typeface="Calibri"/>
              </a:endParaRPr>
            </a:p>
            <a:p>
              <a:pPr algn="l">
                <a:lnSpc>
                  <a:spcPct val="80000"/>
                </a:lnSpc>
              </a:pPr>
              <a:r>
                <a:rPr lang="en-US" sz="2400" dirty="0">
                  <a:solidFill>
                    <a:srgbClr val="0B2B4E"/>
                  </a:solidFill>
                  <a:latin typeface="Calibri"/>
                </a:rPr>
                <a:t> </a:t>
              </a:r>
              <a:r>
                <a:rPr lang="en-US" sz="2400" b="0" i="0" dirty="0">
                  <a:solidFill>
                    <a:srgbClr val="0B2B4E"/>
                  </a:solidFill>
                  <a:latin typeface="Calibri"/>
                </a:rPr>
                <a:t>   </a:t>
              </a:r>
              <a:r>
                <a:rPr sz="2400" b="0" i="0" dirty="0">
                  <a:solidFill>
                    <a:srgbClr val="0B2B4E"/>
                  </a:solidFill>
                  <a:latin typeface="Calibri"/>
                </a:rPr>
                <a:t>which they sell their products</a:t>
              </a:r>
            </a:p>
          </p:txBody>
        </p:sp>
      </p:grpSp>
      <p:sp>
        <p:nvSpPr>
          <p:cNvPr id="9603" name="Rectangle 960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4" name="Rectangle 960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5" name="TextBox 960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9606" name="TextBox 9605"/>
          <p:cNvSpPr txBox="1"/>
          <p:nvPr/>
        </p:nvSpPr>
        <p:spPr>
          <a:xfrm>
            <a:off x="11475720" y="6583680"/>
            <a:ext cx="502920" cy="292608"/>
          </a:xfrm>
          <a:prstGeom prst="rect">
            <a:avLst/>
          </a:prstGeom>
          <a:noFill/>
        </p:spPr>
        <p:txBody>
          <a:bodyPr wrap="none" lIns="0" rIns="0" tIns="0" bIns="0">
            <a:spAutoFit/>
          </a:bodyPr>
          <a:lstStyle/>
          <a:p>
            <a:pPr algn="r"/>
            <a:fld id="{FC3F1D96-2A4D-5580-946B-FD165C06AC8D}" type="slidenum">
              <a:rPr lang="en-US" sz="1200" dirty="0">
                <a:solidFill>
                  <a:srgbClr val="555B66"/>
                </a:solidFill>
                <a:latin typeface="Calibri"/>
              </a:rPr>
              <a:t>31</a:t>
            </a:fld>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Bertrand Competition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Choose Your Concrete Price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783080"/>
            <a:ext cx="6675120" cy="384048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Two competitors, identical good: Concrete</a:t>
            </a:r>
          </a:p>
          <a:p>
            <a:pPr algn="l"/>
            <a:r>
              <a:rPr>
                <a:latin typeface="Calibri"/>
              </a:rPr>
              <a:t>Same marginal cost: MC = $120 per cubic yard</a:t>
            </a:r>
          </a:p>
          <a:p>
            <a:pPr algn="l"/>
            <a:r>
              <a:rPr>
                <a:latin typeface="Calibri"/>
              </a:rPr>
              <a:t>You and your competitor submit a sealed price bid for a huge project</a:t>
            </a:r>
          </a:p>
          <a:p>
            <a:pPr algn="l"/>
            <a:r>
              <a:rPr>
                <a:latin typeface="Calibri"/>
              </a:rPr>
              <a:t>What's your price bid?</a:t>
            </a:r>
          </a:p>
        </p:txBody>
      </p:sp>
      <p:pic>
        <p:nvPicPr>
          <p:cNvPr id="8" name="Picture 7" descr="image33.jpeg"/>
          <p:cNvPicPr>
            <a:picLocks noChangeAspect="1"/>
          </p:cNvPicPr>
          <p:nvPr/>
        </p:nvPicPr>
        <p:blipFill>
          <a:blip r:embed="rId2"/>
          <a:stretch>
            <a:fillRect/>
          </a:stretch>
        </p:blipFill>
        <p:spPr>
          <a:xfrm>
            <a:off x="7680960" y="1737360"/>
            <a:ext cx="3840480" cy="2560320"/>
          </a:xfrm>
          <a:prstGeom prst="roundRect">
            <a:avLst>
              <a:gd name="adj" fmla="val 8000"/>
            </a:avLst>
          </a:prstGeom>
          <a:effectLst>
            <a:outerShdw blurRad="50800" dist="38100" dir="2700000" algn="tl" rotWithShape="0">
              <a:srgbClr val="000000">
                <a:alpha val="50000"/>
              </a:srgbClr>
            </a:outerShdw>
          </a:effectLst>
        </p:spPr>
      </p:pic>
      <p:pic>
        <p:nvPicPr>
          <p:cNvPr id="9" name="Picture 8" descr="image32.jpg"/>
          <p:cNvPicPr>
            <a:picLocks noChangeAspect="1"/>
          </p:cNvPicPr>
          <p:nvPr/>
        </p:nvPicPr>
        <p:blipFill>
          <a:blip r:embed="rId3"/>
          <a:stretch>
            <a:fillRect/>
          </a:stretch>
        </p:blipFill>
        <p:spPr>
          <a:xfrm>
            <a:off x="8732520" y="4572000"/>
            <a:ext cx="1737360" cy="1228382"/>
          </a:xfrm>
          <a:prstGeom prst="rect">
            <a:avLst/>
          </a:prstGeom>
        </p:spPr>
      </p:pic>
      <p:sp>
        <p:nvSpPr>
          <p:cNvPr id="10" name="Rectangle 9"/>
          <p:cNvSpPr/>
          <p:nvPr/>
        </p:nvSpPr>
        <p:spPr>
          <a:xfrm>
            <a:off x="9196496" y="5715000"/>
            <a:ext cx="2743200" cy="658368"/>
          </a:xfrm>
          <a:custGeom>
            <a:avLst/>
            <a:gdLst/>
            <a:ahLst/>
            <a:cxnLst/>
            <a:rect l="24000" t="0" r="76000" b="100000"/>
            <a:pathLst>
              <a:path w="100000" h="100000">
                <a:moveTo>
                  <a:pt x="29000" y="0"/>
                </a:moveTo>
                <a:lnTo>
                  <a:pt x="95000" y="0"/>
                </a:lnTo>
                <a:cubicBezTo>
                  <a:pt x="100000" y="0"/>
                  <a:pt x="100000" y="0"/>
                  <a:pt x="98800" y="5000"/>
                </a:cubicBezTo>
                <a:lnTo>
                  <a:pt x="77200" y="95000"/>
                </a:lnTo>
                <a:cubicBezTo>
                  <a:pt x="76000" y="100000"/>
                  <a:pt x="76000" y="100000"/>
                  <a:pt x="71000" y="100000"/>
                </a:cubicBezTo>
                <a:lnTo>
                  <a:pt x="5000" y="100000"/>
                </a:lnTo>
                <a:cubicBezTo>
                  <a:pt x="0" y="100000"/>
                  <a:pt x="0" y="100000"/>
                  <a:pt x="1200" y="95000"/>
                </a:cubicBezTo>
                <a:lnTo>
                  <a:pt x="22800" y="5000"/>
                </a:lnTo>
                <a:cubicBezTo>
                  <a:pt x="24000" y="0"/>
                  <a:pt x="24000" y="0"/>
                  <a:pt x="29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54864" y="5715000"/>
            <a:ext cx="1426464" cy="658368"/>
          </a:xfrm>
          <a:prstGeom prst="rect">
            <a:avLst/>
          </a:prstGeom>
          <a:noFill/>
        </p:spPr>
        <p:txBody>
          <a:bodyPr wrap="none" anchor="ctr" lIns="45720" rIns="45720" tIns="18288" bIns="18288">
            <a:spAutoFit/>
          </a:bodyPr>
          <a:lstStyle/>
          <a:p>
            <a:pPr algn="ctr"/>
            <a:r>
              <a:rPr sz="2800" b="1">
                <a:solidFill>
                  <a:srgbClr val="0B2B4E"/>
                </a:solidFill>
                <a:latin typeface="Calibri"/>
              </a:rPr>
              <a:t>Poll Break</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5" name="TextBox 14"/>
          <p:cNvSpPr txBox="1"/>
          <p:nvPr/>
        </p:nvSpPr>
        <p:spPr>
          <a:xfrm>
            <a:off x="11475720" y="6583680"/>
            <a:ext cx="502920" cy="292608"/>
          </a:xfrm>
          <a:prstGeom prst="rect">
            <a:avLst/>
          </a:prstGeom>
          <a:noFill/>
        </p:spPr>
        <p:txBody>
          <a:bodyPr wrap="none" lIns="0" rIns="0" tIns="0" bIns="0">
            <a:spAutoFit/>
          </a:bodyPr>
          <a:lstStyle/>
          <a:p>
            <a:pPr algn="r"/>
            <a:fld id="{82D3A271-AB8A-57DF-B5F2-B198215DE772}" type="slidenum">
              <a:rPr lang="en-US" sz="1200" dirty="0">
                <a:solidFill>
                  <a:srgbClr val="555B66"/>
                </a:solidFill>
                <a:latin typeface="Calibri"/>
              </a:rPr>
              <a:t>32</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500"/>
                                        <p:tgtEl>
                                          <p:spTgt spid="7">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CE0856-424A-BE1B-6796-762DF355558D}"/>
              </a:ext>
            </a:extLst>
          </p:cNvPr>
          <p:cNvPicPr>
            <a:picLocks/>
          </p:cNvPicPr>
          <p:nvPr>
            <p:custDataLst>
              <p:tags r:id="rId1"/>
            </p:custDataLst>
          </p:nvPr>
        </p:nvPicPr>
        <p:blipFill>
          <a:blip r:embed="rId4"/>
          <a:stretch>
            <a:fillRect/>
          </a:stretch>
        </p:blipFill>
        <p:spPr>
          <a:xfrm>
            <a:off x="190500" y="190500"/>
            <a:ext cx="11811000" cy="6477000"/>
          </a:xfrm>
          <a:prstGeom prst="rect">
            <a:avLst/>
          </a:prstGeom>
        </p:spPr>
      </p:pic>
    </p:spTree>
    <p:extLst>
      <p:ext uri="{BB962C8B-B14F-4D97-AF65-F5344CB8AC3E}">
        <p14:creationId xmlns:p14="http://schemas.microsoft.com/office/powerpoint/2010/main" val="3206727379"/>
      </p:ext>
    </p:extLst>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Bertrand Competition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Bertrand Competition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4048" y="1417320"/>
            <a:ext cx="7269480" cy="484632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54480" y="4326940"/>
            <a:ext cx="1567281" cy="173736"/>
          </a:xfrm>
          <a:prstGeom prst="rect">
            <a:avLst/>
          </a:prstGeom>
          <a:solidFill>
            <a:srgbClr val="F2B8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121761" y="4500676"/>
            <a:ext cx="1619402" cy="867765"/>
          </a:xfrm>
          <a:prstGeom prst="rect">
            <a:avLst/>
          </a:prstGeom>
          <a:solidFill>
            <a:srgbClr val="C6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flipV="1">
            <a:off x="1554480" y="1664208"/>
            <a:ext cx="0" cy="405079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554480" y="5715000"/>
            <a:ext cx="6016751"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188720" y="1325880"/>
            <a:ext cx="640080" cy="320040"/>
          </a:xfrm>
          <a:prstGeom prst="rect">
            <a:avLst/>
          </a:prstGeom>
          <a:noFill/>
        </p:spPr>
        <p:txBody>
          <a:bodyPr wrap="square" lIns="0" rIns="0" tIns="0" bIns="0">
            <a:spAutoFit/>
          </a:bodyPr>
          <a:lstStyle/>
          <a:p>
            <a:pPr algn="ctr"/>
            <a:r>
              <a:rPr sz="1800" b="1" i="1" u="none">
                <a:solidFill>
                  <a:srgbClr val="0B2B4E"/>
                </a:solidFill>
                <a:latin typeface="Calibri"/>
              </a:rPr>
              <a:t>P</a:t>
            </a:r>
          </a:p>
        </p:txBody>
      </p:sp>
      <p:sp>
        <p:nvSpPr>
          <p:cNvPr id="13" name="TextBox 12"/>
          <p:cNvSpPr txBox="1"/>
          <p:nvPr/>
        </p:nvSpPr>
        <p:spPr>
          <a:xfrm>
            <a:off x="7452360" y="5769864"/>
            <a:ext cx="548640" cy="320040"/>
          </a:xfrm>
          <a:prstGeom prst="rect">
            <a:avLst/>
          </a:prstGeom>
          <a:noFill/>
        </p:spPr>
        <p:txBody>
          <a:bodyPr wrap="square" lIns="0" rIns="0" tIns="0" bIns="0">
            <a:spAutoFit/>
          </a:bodyPr>
          <a:lstStyle/>
          <a:p>
            <a:pPr algn="l"/>
            <a:r>
              <a:rPr sz="1800" b="1" i="1" u="none">
                <a:solidFill>
                  <a:srgbClr val="0B2B4E"/>
                </a:solidFill>
                <a:latin typeface="Calibri"/>
              </a:rPr>
              <a:t>Q</a:t>
            </a:r>
          </a:p>
        </p:txBody>
      </p:sp>
      <p:cxnSp>
        <p:nvCxnSpPr>
          <p:cNvPr id="14" name="Connector 13"/>
          <p:cNvCxnSpPr/>
          <p:nvPr/>
        </p:nvCxnSpPr>
        <p:spPr>
          <a:xfrm>
            <a:off x="1554480" y="2245178"/>
            <a:ext cx="5225142" cy="3469822"/>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999792" y="2366467"/>
            <a:ext cx="1828800" cy="365760"/>
          </a:xfrm>
          <a:prstGeom prst="rect">
            <a:avLst/>
          </a:prstGeom>
          <a:noFill/>
        </p:spPr>
        <p:txBody>
          <a:bodyPr wrap="square" anchor="ctr">
            <a:spAutoFit/>
          </a:bodyPr>
          <a:lstStyle/>
          <a:p xmlns:m="http://schemas.openxmlformats.org/officeDocument/2006/math" xmlns:a14="http://schemas.microsoft.com/office/drawing/2010/main">
            <a:pPr algn="ctr">
              <a:defRPr sz="1500" b="0" i="1">
                <a:solidFill>
                  <a:srgbClr val="0B2B4E"/>
                </a:solidFill>
                <a:latin typeface="Cambria Math"/>
              </a:defRPr>
            </a:pPr>
            <a14:m>
              <m:oMathPara>
                <m:oMathParaPr>
                  <m:jc m:val="centerGroup"/>
                </m:oMathParaPr>
                <m:oMath>
                  <m:r>
                    <a:rPr lang="en-US" b="0" i="1" sz="1500">
                      <a:solidFill>
                        <a:srgbClr val="0B2B4E"/>
                      </a:solidFill>
                      <a:latin typeface="Cambria Math"/>
                      <a:ea typeface="Cambria Math"/>
                    </a:rPr>
                    <m:t>P</m:t>
                  </m:r>
                  <m:r>
                    <m:rPr>
                      <m:sty m:val="p"/>
                    </m:rPr>
                    <a:rPr lang="en-US" b="0" i="0" sz="1500">
                      <a:solidFill>
                        <a:srgbClr val="0B2B4E"/>
                      </a:solidFill>
                      <a:latin typeface="Cambria Math"/>
                    </a:rPr>
                    <m:t xml:space="preserve"> = 100 − </m:t>
                  </m:r>
                  <m:sSub>
                    <m:sSubPr>
                      <m:ctrlPr>
                        <a:rPr lang="en-US" i="1">
                          <a:latin typeface="Cambria Math"/>
                        </a:rPr>
                      </m:ctrlPr>
                    </m:sSubPr>
                    <m:e>
                      <m:r>
                        <a:rPr lang="en-US" b="0" i="1" sz="1500">
                          <a:solidFill>
                            <a:srgbClr val="0B2B4E"/>
                          </a:solidFill>
                          <a:latin typeface="Cambria Math"/>
                          <a:ea typeface="Cambria Math"/>
                        </a:rPr>
                        <m:t>Q</m:t>
                      </m:r>
                    </m:e>
                    <m:sub>
                      <m:r>
                        <m:rPr>
                          <m:sty m:val="p"/>
                        </m:rPr>
                        <a:rPr lang="en-US" b="0" i="0" sz="1500">
                          <a:solidFill>
                            <a:srgbClr val="0B2B4E"/>
                          </a:solidFill>
                          <a:latin typeface="Cambria Math"/>
                        </a:rPr>
                        <m:t xml:space="preserve">M</m:t>
                      </m:r>
                    </m:sub>
                  </m:sSub>
                </m:oMath>
              </m:oMathPara>
            </a14:m>
            <a:endParaRPr lang="en-US" sz="1500"/>
          </a:p>
        </p:txBody>
      </p:sp>
      <p:cxnSp>
        <p:nvCxnSpPr>
          <p:cNvPr id="16" name="Connector 15"/>
          <p:cNvCxnSpPr/>
          <p:nvPr/>
        </p:nvCxnSpPr>
        <p:spPr>
          <a:xfrm>
            <a:off x="1554480" y="5368017"/>
            <a:ext cx="5486400" cy="0"/>
          </a:xfrm>
          <a:prstGeom prst="line">
            <a:avLst/>
          </a:prstGeom>
          <a:ln w="31750">
            <a:solidFill>
              <a:srgbClr val="555B66"/>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622999" y="5039258"/>
            <a:ext cx="822960" cy="274320"/>
          </a:xfrm>
          <a:prstGeom prst="rect">
            <a:avLst/>
          </a:prstGeom>
          <a:noFill/>
        </p:spPr>
        <p:txBody>
          <a:bodyPr wrap="square" lIns="0" rIns="0" tIns="0" bIns="0">
            <a:spAutoFit/>
          </a:bodyPr>
          <a:lstStyle/>
          <a:p>
            <a:pPr algn="ctr"/>
            <a:r>
              <a:rPr sz="1600" b="1" i="0" u="none">
                <a:solidFill>
                  <a:srgbClr val="555B66"/>
                </a:solidFill>
                <a:latin typeface="Calibri"/>
              </a:rPr>
              <a:t>MC</a:t>
            </a:r>
          </a:p>
        </p:txBody>
      </p:sp>
      <p:cxnSp>
        <p:nvCxnSpPr>
          <p:cNvPr id="18" name="Connector 17"/>
          <p:cNvCxnSpPr/>
          <p:nvPr/>
        </p:nvCxnSpPr>
        <p:spPr>
          <a:xfrm>
            <a:off x="1554480" y="4327071"/>
            <a:ext cx="3135085" cy="0"/>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89565" y="4327071"/>
            <a:ext cx="0" cy="1387929"/>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554480" y="4500562"/>
            <a:ext cx="3187337" cy="0"/>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741817" y="4500562"/>
            <a:ext cx="0" cy="1214438"/>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639273" y="4276779"/>
            <a:ext cx="100584" cy="100584"/>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691525" y="4450270"/>
            <a:ext cx="100584" cy="100584"/>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188528" y="5299437"/>
            <a:ext cx="137160" cy="137160"/>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58721" y="4308652"/>
            <a:ext cx="1463040" cy="237744"/>
          </a:xfrm>
          <a:prstGeom prst="rect">
            <a:avLst/>
          </a:prstGeom>
          <a:noFill/>
        </p:spPr>
        <p:txBody>
          <a:bodyPr wrap="square" lIns="0" rIns="0" tIns="0" bIns="0">
            <a:spAutoFit/>
          </a:bodyPr>
          <a:lstStyle/>
          <a:p>
            <a:pPr algn="l"/>
            <a:r>
              <a:rPr sz="1300" b="1" i="0" u="none">
                <a:solidFill>
                  <a:srgbClr val="C00000"/>
                </a:solidFill>
                <a:latin typeface="Calibri"/>
              </a:rPr>
              <a:t>Lost by A</a:t>
            </a:r>
          </a:p>
        </p:txBody>
      </p:sp>
      <p:sp>
        <p:nvSpPr>
          <p:cNvPr id="26" name="TextBox 25"/>
          <p:cNvSpPr txBox="1"/>
          <p:nvPr/>
        </p:nvSpPr>
        <p:spPr>
          <a:xfrm>
            <a:off x="3279038" y="4812487"/>
            <a:ext cx="1645920" cy="292608"/>
          </a:xfrm>
          <a:prstGeom prst="rect">
            <a:avLst/>
          </a:prstGeom>
          <a:noFill/>
        </p:spPr>
        <p:txBody>
          <a:bodyPr wrap="square" lIns="0" rIns="0" tIns="0" bIns="0">
            <a:spAutoFit/>
          </a:bodyPr>
          <a:lstStyle/>
          <a:p>
            <a:pPr algn="l"/>
            <a:r>
              <a:rPr sz="1500" b="1" i="0" u="none">
                <a:solidFill>
                  <a:srgbClr val="1B5E20"/>
                </a:solidFill>
                <a:latin typeface="Calibri"/>
              </a:rPr>
              <a:t>Gained by A</a:t>
            </a:r>
          </a:p>
        </p:txBody>
      </p:sp>
      <p:sp>
        <p:nvSpPr>
          <p:cNvPr id="27" name="Rounded Rectangle 26"/>
          <p:cNvSpPr/>
          <p:nvPr/>
        </p:nvSpPr>
        <p:spPr>
          <a:xfrm>
            <a:off x="5532120" y="4498848"/>
            <a:ext cx="2011680" cy="402336"/>
          </a:xfrm>
          <a:prstGeom prst="roundRect">
            <a:avLst>
              <a:gd name="adj" fmla="val 12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0B2B4E"/>
                </a:solidFill>
                <a:latin typeface="Calibri"/>
              </a:rPr>
              <a:t>Bertrand Equilibrium</a:t>
            </a:r>
          </a:p>
        </p:txBody>
      </p:sp>
      <p:cxnSp>
        <p:nvCxnSpPr>
          <p:cNvPr id="28" name="Connector 27"/>
          <p:cNvCxnSpPr/>
          <p:nvPr/>
        </p:nvCxnSpPr>
        <p:spPr>
          <a:xfrm flipH="1">
            <a:off x="6291072" y="4846320"/>
            <a:ext cx="118872" cy="453542"/>
          </a:xfrm>
          <a:prstGeom prst="line">
            <a:avLst/>
          </a:prstGeom>
          <a:ln w="15875">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76071" y="2117162"/>
            <a:ext cx="868680" cy="274320"/>
          </a:xfrm>
          <a:prstGeom prst="rect">
            <a:avLst/>
          </a:prstGeom>
          <a:noFill/>
        </p:spPr>
        <p:txBody>
          <a:bodyPr wrap="square" lIns="0" rIns="0" tIns="0" bIns="0">
            <a:spAutoFit/>
          </a:bodyPr>
          <a:lstStyle/>
          <a:p>
            <a:pPr algn="r"/>
            <a:r>
              <a:rPr sz="1600" b="0" i="0" u="none">
                <a:solidFill>
                  <a:srgbClr val="0B2B4E"/>
                </a:solidFill>
                <a:latin typeface="Calibri"/>
              </a:rPr>
              <a:t>$100</a:t>
            </a:r>
          </a:p>
        </p:txBody>
      </p:sp>
      <p:sp>
        <p:nvSpPr>
          <p:cNvPr id="30" name="TextBox 29"/>
          <p:cNvSpPr txBox="1"/>
          <p:nvPr/>
        </p:nvSpPr>
        <p:spPr>
          <a:xfrm>
            <a:off x="576071" y="4199055"/>
            <a:ext cx="868680" cy="274320"/>
          </a:xfrm>
          <a:prstGeom prst="rect">
            <a:avLst/>
          </a:prstGeom>
          <a:noFill/>
        </p:spPr>
        <p:txBody>
          <a:bodyPr wrap="square" lIns="0" rIns="0" tIns="0" bIns="0">
            <a:spAutoFit/>
          </a:bodyPr>
          <a:lstStyle/>
          <a:p>
            <a:pPr algn="r"/>
            <a:r>
              <a:rPr sz="1600" b="1" i="0" u="none">
                <a:solidFill>
                  <a:srgbClr val="0B2B4E"/>
                </a:solidFill>
                <a:latin typeface="Calibri"/>
              </a:rPr>
              <a:t>$40</a:t>
            </a:r>
          </a:p>
        </p:txBody>
      </p:sp>
      <p:sp>
        <p:nvSpPr>
          <p:cNvPr id="31" name="TextBox 30"/>
          <p:cNvSpPr txBox="1"/>
          <p:nvPr/>
        </p:nvSpPr>
        <p:spPr>
          <a:xfrm>
            <a:off x="576071" y="4372546"/>
            <a:ext cx="868680" cy="274320"/>
          </a:xfrm>
          <a:prstGeom prst="rect">
            <a:avLst/>
          </a:prstGeom>
          <a:noFill/>
        </p:spPr>
        <p:txBody>
          <a:bodyPr wrap="square" lIns="0" rIns="0" tIns="0" bIns="0">
            <a:spAutoFit/>
          </a:bodyPr>
          <a:lstStyle/>
          <a:p>
            <a:pPr algn="r"/>
            <a:r>
              <a:rPr sz="1600" b="1" i="0" u="none">
                <a:solidFill>
                  <a:srgbClr val="E09F3E"/>
                </a:solidFill>
                <a:latin typeface="Calibri"/>
              </a:rPr>
              <a:t>$39</a:t>
            </a:r>
          </a:p>
        </p:txBody>
      </p:sp>
      <p:sp>
        <p:nvSpPr>
          <p:cNvPr id="32" name="TextBox 31"/>
          <p:cNvSpPr txBox="1"/>
          <p:nvPr/>
        </p:nvSpPr>
        <p:spPr>
          <a:xfrm>
            <a:off x="576071" y="5240001"/>
            <a:ext cx="868680" cy="274320"/>
          </a:xfrm>
          <a:prstGeom prst="rect">
            <a:avLst/>
          </a:prstGeom>
          <a:noFill/>
        </p:spPr>
        <p:txBody>
          <a:bodyPr wrap="square" lIns="0" rIns="0" tIns="0" bIns="0">
            <a:spAutoFit/>
          </a:bodyPr>
          <a:lstStyle/>
          <a:p>
            <a:pPr algn="r"/>
            <a:r>
              <a:rPr sz="1600" b="0" i="0" u="none">
                <a:solidFill>
                  <a:srgbClr val="555B66"/>
                </a:solidFill>
                <a:latin typeface="Calibri"/>
              </a:rPr>
              <a:t>$10</a:t>
            </a:r>
          </a:p>
        </p:txBody>
      </p:sp>
      <p:sp>
        <p:nvSpPr>
          <p:cNvPr id="33" name="TextBox 32"/>
          <p:cNvSpPr txBox="1"/>
          <p:nvPr/>
        </p:nvSpPr>
        <p:spPr>
          <a:xfrm>
            <a:off x="2664822" y="5769864"/>
            <a:ext cx="914400" cy="274320"/>
          </a:xfrm>
          <a:prstGeom prst="rect">
            <a:avLst/>
          </a:prstGeom>
          <a:noFill/>
        </p:spPr>
        <p:txBody>
          <a:bodyPr wrap="square" lIns="0" rIns="0" tIns="0" bIns="0">
            <a:spAutoFit/>
          </a:bodyPr>
          <a:lstStyle/>
          <a:p>
            <a:pPr algn="ctr"/>
            <a:r>
              <a:rPr sz="1600" b="0" i="0" u="none">
                <a:solidFill>
                  <a:srgbClr val="0B2B4E"/>
                </a:solidFill>
                <a:latin typeface="Calibri"/>
              </a:rPr>
              <a:t>30</a:t>
            </a:r>
          </a:p>
        </p:txBody>
      </p:sp>
      <p:sp>
        <p:nvSpPr>
          <p:cNvPr id="34" name="TextBox 33"/>
          <p:cNvSpPr txBox="1"/>
          <p:nvPr/>
        </p:nvSpPr>
        <p:spPr>
          <a:xfrm>
            <a:off x="4462272" y="5769864"/>
            <a:ext cx="329184" cy="246888"/>
          </a:xfrm>
          <a:prstGeom prst="rect">
            <a:avLst/>
          </a:prstGeom>
          <a:noFill/>
        </p:spPr>
        <p:txBody>
          <a:bodyPr wrap="square" lIns="0" rIns="0" tIns="0" bIns="0">
            <a:spAutoFit/>
          </a:bodyPr>
          <a:lstStyle/>
          <a:p>
            <a:pPr algn="ctr"/>
            <a:r>
              <a:rPr sz="1600" b="0" i="0" u="none">
                <a:solidFill>
                  <a:srgbClr val="0B2B4E"/>
                </a:solidFill>
                <a:latin typeface="Calibri"/>
              </a:rPr>
              <a:t>60</a:t>
            </a:r>
          </a:p>
        </p:txBody>
      </p:sp>
      <p:sp>
        <p:nvSpPr>
          <p:cNvPr id="35" name="TextBox 34"/>
          <p:cNvSpPr txBox="1"/>
          <p:nvPr/>
        </p:nvSpPr>
        <p:spPr>
          <a:xfrm>
            <a:off x="4709160" y="5779008"/>
            <a:ext cx="374904" cy="246888"/>
          </a:xfrm>
          <a:prstGeom prst="rect">
            <a:avLst/>
          </a:prstGeom>
          <a:noFill/>
        </p:spPr>
        <p:txBody>
          <a:bodyPr wrap="square" lIns="0" rIns="0" tIns="0" bIns="0">
            <a:spAutoFit/>
          </a:bodyPr>
          <a:lstStyle/>
          <a:p>
            <a:pPr algn="ctr"/>
            <a:r>
              <a:rPr sz="1600" b="0" i="0" u="none">
                <a:solidFill>
                  <a:srgbClr val="E09F3E"/>
                </a:solidFill>
                <a:latin typeface="Calibri"/>
              </a:rPr>
              <a:t>61</a:t>
            </a:r>
          </a:p>
        </p:txBody>
      </p:sp>
      <p:sp>
        <p:nvSpPr>
          <p:cNvPr id="36" name="TextBox 35"/>
          <p:cNvSpPr txBox="1"/>
          <p:nvPr/>
        </p:nvSpPr>
        <p:spPr>
          <a:xfrm>
            <a:off x="5799908" y="5769864"/>
            <a:ext cx="914400" cy="274320"/>
          </a:xfrm>
          <a:prstGeom prst="rect">
            <a:avLst/>
          </a:prstGeom>
          <a:noFill/>
        </p:spPr>
        <p:txBody>
          <a:bodyPr wrap="square" lIns="0" rIns="0" tIns="0" bIns="0">
            <a:spAutoFit/>
          </a:bodyPr>
          <a:lstStyle/>
          <a:p>
            <a:pPr algn="ctr"/>
            <a:r>
              <a:rPr sz="1600" b="1" i="0" u="none">
                <a:solidFill>
                  <a:srgbClr val="0B2B4E"/>
                </a:solidFill>
                <a:latin typeface="Calibri"/>
              </a:rPr>
              <a:t>90</a:t>
            </a:r>
          </a:p>
        </p:txBody>
      </p:sp>
      <p:sp>
        <p:nvSpPr>
          <p:cNvPr id="37" name="TextBox 36"/>
          <p:cNvSpPr txBox="1"/>
          <p:nvPr/>
        </p:nvSpPr>
        <p:spPr>
          <a:xfrm>
            <a:off x="6322422" y="5769864"/>
            <a:ext cx="914400" cy="274320"/>
          </a:xfrm>
          <a:prstGeom prst="rect">
            <a:avLst/>
          </a:prstGeom>
          <a:noFill/>
        </p:spPr>
        <p:txBody>
          <a:bodyPr wrap="square" lIns="0" rIns="0" tIns="0" bIns="0">
            <a:spAutoFit/>
          </a:bodyPr>
          <a:lstStyle/>
          <a:p>
            <a:pPr algn="ctr"/>
            <a:r>
              <a:rPr sz="1600" b="0" i="0" u="none">
                <a:solidFill>
                  <a:srgbClr val="0B2B4E"/>
                </a:solidFill>
                <a:latin typeface="Calibri"/>
              </a:rPr>
              <a:t>100</a:t>
            </a:r>
          </a:p>
        </p:txBody>
      </p:sp>
      <p:sp>
        <p:nvSpPr>
          <p:cNvPr id="38" name="Rounded Rectangle 37"/>
          <p:cNvSpPr/>
          <p:nvPr/>
        </p:nvSpPr>
        <p:spPr>
          <a:xfrm>
            <a:off x="7863840" y="1691640"/>
            <a:ext cx="3977639" cy="2286000"/>
          </a:xfrm>
          <a:prstGeom prst="roundRect">
            <a:avLst>
              <a:gd name="adj" fmla="val 12000"/>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6720" y="1801368"/>
            <a:ext cx="3611879" cy="2066544"/>
          </a:xfrm>
          <a:prstGeom prst="rect">
            <a:avLst/>
          </a:prstGeom>
          <a:noFill/>
        </p:spPr>
        <p:txBody>
          <a:bodyPr wrap="square" lIns="45720" rIns="45720" tIns="0" bIns="0" anchor="ctr">
            <a:spAutoFit/>
          </a:bodyPr>
          <a:lstStyle/>
          <a:p>
            <a:pPr algn="l">
              <a:lnSpc>
                <a:spcPct val="110000"/>
              </a:lnSpc>
            </a:pPr>
            <a:r>
              <a:rPr sz="1800" b="0" i="0" u="none">
                <a:solidFill>
                  <a:srgbClr val="0B2B4E"/>
                </a:solidFill>
                <a:latin typeface="Calibri"/>
              </a:rPr>
              <a:t>Suppose Firms A and B start at a price of $40, where each supplies Q=30</a:t>
            </a:r>
          </a:p>
          <a:p>
            <a:pPr algn="l">
              <a:lnSpc>
                <a:spcPct val="110000"/>
              </a:lnSpc>
            </a:pPr>
            <a:r>
              <a:rPr sz="1800" b="1" i="0" u="none">
                <a:solidFill>
                  <a:srgbClr val="0B2B4E"/>
                </a:solidFill>
                <a:latin typeface="Calibri"/>
              </a:rPr>
              <a:t>A believes that B will maintain its price. What will A do? How will B respond?</a:t>
            </a:r>
          </a:p>
        </p:txBody>
      </p:sp>
      <p:sp>
        <p:nvSpPr>
          <p:cNvPr id="40" name="Rounded Rectangle 39"/>
          <p:cNvSpPr/>
          <p:nvPr/>
        </p:nvSpPr>
        <p:spPr>
          <a:xfrm>
            <a:off x="7863840" y="4846320"/>
            <a:ext cx="3977639" cy="1143000"/>
          </a:xfrm>
          <a:prstGeom prst="roundRect">
            <a:avLst>
              <a:gd name="adj" fmla="val 12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0B2B4E"/>
                </a:solidFill>
                <a:latin typeface="Calibri"/>
              </a:rPr>
              <a:t>→  A and B will continue to lower their price until they reach P = MC</a:t>
            </a:r>
          </a:p>
        </p:txBody>
      </p:sp>
      <p:sp>
        <p:nvSpPr>
          <p:cNvPr id="41" name="Rectangle 4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44" name="TextBox 43"/>
          <p:cNvSpPr txBox="1"/>
          <p:nvPr/>
        </p:nvSpPr>
        <p:spPr>
          <a:xfrm>
            <a:off x="11475720" y="6583680"/>
            <a:ext cx="502920" cy="292608"/>
          </a:xfrm>
          <a:prstGeom prst="rect">
            <a:avLst/>
          </a:prstGeom>
          <a:noFill/>
        </p:spPr>
        <p:txBody>
          <a:bodyPr wrap="none" lIns="0" rIns="0" tIns="0" bIns="0">
            <a:spAutoFit/>
          </a:bodyPr>
          <a:lstStyle/>
          <a:p>
            <a:pPr algn="r"/>
            <a:fld id="{7EE73389-7161-5C8B-9BF5-E73DAC4330DE}" type="slidenum">
              <a:rPr lang="en-US" sz="1200" dirty="0">
                <a:solidFill>
                  <a:srgbClr val="555B66"/>
                </a:solidFill>
                <a:latin typeface="Calibri"/>
              </a:rPr>
              <a:t>34</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fade">
                                      <p:cBhvr>
                                        <p:cTn id="16" dur="500"/>
                                        <p:tgtEl>
                                          <p:spTgt spid="3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500"/>
                                        <p:tgtEl>
                                          <p:spTgt spid="3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500"/>
                                        <p:tgtEl>
                                          <p:spTgt spid="3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5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500"/>
                                        <p:tgtEl>
                                          <p:spTgt spid="3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500"/>
                                        <p:tgtEl>
                                          <p:spTgt spid="3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fade">
                                      <p:cBhvr>
                                        <p:cTn id="69" dur="500"/>
                                        <p:tgtEl>
                                          <p:spTgt spid="35"/>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8"/>
                                        </p:tgtEl>
                                        <p:attrNameLst>
                                          <p:attrName>style.visibility</p:attrName>
                                        </p:attrNameLst>
                                      </p:cBhvr>
                                      <p:to>
                                        <p:strVal val="visible"/>
                                      </p:to>
                                    </p:set>
                                    <p:animEffect transition="in" filter="fade">
                                      <p:cBhvr>
                                        <p:cTn id="74" dur="500"/>
                                        <p:tgtEl>
                                          <p:spTgt spid="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9"/>
                                        </p:tgtEl>
                                        <p:attrNameLst>
                                          <p:attrName>style.visibility</p:attrName>
                                        </p:attrNameLst>
                                      </p:cBhvr>
                                      <p:to>
                                        <p:strVal val="visible"/>
                                      </p:to>
                                    </p:set>
                                    <p:animEffect transition="in" filter="fade">
                                      <p:cBhvr>
                                        <p:cTn id="80" dur="500"/>
                                        <p:tgtEl>
                                          <p:spTgt spid="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500"/>
                                        <p:tgtEl>
                                          <p:spTgt spid="2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3"/>
                                        </p:tgtEl>
                                        <p:attrNameLst>
                                          <p:attrName>style.visibility</p:attrName>
                                        </p:attrNameLst>
                                      </p:cBhvr>
                                      <p:to>
                                        <p:strVal val="visible"/>
                                      </p:to>
                                    </p:set>
                                    <p:animEffect transition="in" filter="fade">
                                      <p:cBhvr>
                                        <p:cTn id="86" dur="500"/>
                                        <p:tgtEl>
                                          <p:spTgt spid="33"/>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27"/>
                                        </p:tgtEl>
                                        <p:attrNameLst>
                                          <p:attrName>style.visibility</p:attrName>
                                        </p:attrNameLst>
                                      </p:cBhvr>
                                      <p:to>
                                        <p:strVal val="visible"/>
                                      </p:to>
                                    </p:set>
                                    <p:animEffect transition="in" filter="fade">
                                      <p:cBhvr>
                                        <p:cTn id="91" dur="500"/>
                                        <p:tgtEl>
                                          <p:spTgt spid="27"/>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8"/>
                                        </p:tgtEl>
                                        <p:attrNameLst>
                                          <p:attrName>style.visibility</p:attrName>
                                        </p:attrNameLst>
                                      </p:cBhvr>
                                      <p:to>
                                        <p:strVal val="visible"/>
                                      </p:to>
                                    </p:set>
                                    <p:animEffect transition="in" filter="fade">
                                      <p:cBhvr>
                                        <p:cTn id="94" dur="500"/>
                                        <p:tgtEl>
                                          <p:spTgt spid="28"/>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4"/>
                                        </p:tgtEl>
                                        <p:attrNameLst>
                                          <p:attrName>style.visibility</p:attrName>
                                        </p:attrNameLst>
                                      </p:cBhvr>
                                      <p:to>
                                        <p:strVal val="visible"/>
                                      </p:to>
                                    </p:set>
                                    <p:animEffect transition="in" filter="fade">
                                      <p:cBhvr>
                                        <p:cTn id="97" dur="500"/>
                                        <p:tgtEl>
                                          <p:spTgt spid="2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Bertrand Competition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Oligopoly Outcomes: Comparison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4048" y="1417320"/>
            <a:ext cx="6949440" cy="4846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flipV="1">
            <a:off x="1554480" y="1664208"/>
            <a:ext cx="0" cy="405079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554480" y="5715000"/>
            <a:ext cx="565099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188720" y="1325880"/>
            <a:ext cx="640080" cy="320040"/>
          </a:xfrm>
          <a:prstGeom prst="rect">
            <a:avLst/>
          </a:prstGeom>
          <a:noFill/>
        </p:spPr>
        <p:txBody>
          <a:bodyPr wrap="square" lIns="0" rIns="0" tIns="0" bIns="0">
            <a:spAutoFit/>
          </a:bodyPr>
          <a:lstStyle/>
          <a:p>
            <a:pPr algn="ctr"/>
            <a:r>
              <a:rPr sz="1800" b="1" i="1" u="none">
                <a:solidFill>
                  <a:srgbClr val="0B2B4E"/>
                </a:solidFill>
                <a:latin typeface="Calibri"/>
              </a:rPr>
              <a:t>P</a:t>
            </a:r>
          </a:p>
        </p:txBody>
      </p:sp>
      <p:sp>
        <p:nvSpPr>
          <p:cNvPr id="11" name="TextBox 10"/>
          <p:cNvSpPr txBox="1"/>
          <p:nvPr/>
        </p:nvSpPr>
        <p:spPr>
          <a:xfrm>
            <a:off x="7086600" y="5769864"/>
            <a:ext cx="548640" cy="320040"/>
          </a:xfrm>
          <a:prstGeom prst="rect">
            <a:avLst/>
          </a:prstGeom>
          <a:noFill/>
        </p:spPr>
        <p:txBody>
          <a:bodyPr wrap="square" lIns="0" rIns="0" tIns="0" bIns="0">
            <a:spAutoFit/>
          </a:bodyPr>
          <a:lstStyle/>
          <a:p>
            <a:pPr algn="l"/>
            <a:r>
              <a:rPr sz="1800" b="1" i="1" u="none">
                <a:solidFill>
                  <a:srgbClr val="0B2B4E"/>
                </a:solidFill>
                <a:latin typeface="Calibri"/>
              </a:rPr>
              <a:t>Q</a:t>
            </a:r>
          </a:p>
        </p:txBody>
      </p:sp>
      <p:cxnSp>
        <p:nvCxnSpPr>
          <p:cNvPr id="12" name="Connector 11"/>
          <p:cNvCxnSpPr/>
          <p:nvPr/>
        </p:nvCxnSpPr>
        <p:spPr>
          <a:xfrm>
            <a:off x="1554480" y="2245178"/>
            <a:ext cx="4898571" cy="3469822"/>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664208" y="2060143"/>
            <a:ext cx="1828800" cy="365760"/>
          </a:xfrm>
          <a:prstGeom prst="rect">
            <a:avLst/>
          </a:prstGeom>
          <a:noFill/>
        </p:spPr>
        <p:txBody>
          <a:bodyPr wrap="square" anchor="ctr">
            <a:spAutoFit/>
          </a:bodyPr>
          <a:lstStyle/>
          <a:p xmlns:m="http://schemas.openxmlformats.org/officeDocument/2006/math" xmlns:a14="http://schemas.microsoft.com/office/drawing/2010/main">
            <a:pPr algn="ctr">
              <a:defRPr sz="1500" b="0" i="1">
                <a:solidFill>
                  <a:srgbClr val="0B2B4E"/>
                </a:solidFill>
                <a:latin typeface="Cambria Math"/>
              </a:defRPr>
            </a:pPr>
            <a14:m>
              <m:oMathPara>
                <m:oMathParaPr>
                  <m:jc m:val="centerGroup"/>
                </m:oMathParaPr>
                <m:oMath>
                  <m:r>
                    <a:rPr lang="en-US" b="0" i="1" sz="1500">
                      <a:solidFill>
                        <a:srgbClr val="0B2B4E"/>
                      </a:solidFill>
                      <a:latin typeface="Cambria Math"/>
                      <a:ea typeface="Cambria Math"/>
                    </a:rPr>
                    <m:t>P</m:t>
                  </m:r>
                  <m:r>
                    <m:rPr>
                      <m:sty m:val="p"/>
                    </m:rPr>
                    <a:rPr lang="en-US" b="0" i="0" sz="1500">
                      <a:solidFill>
                        <a:srgbClr val="0B2B4E"/>
                      </a:solidFill>
                      <a:latin typeface="Cambria Math"/>
                    </a:rPr>
                    <m:t xml:space="preserve"> = 100 − </m:t>
                  </m:r>
                  <m:sSub>
                    <m:sSubPr>
                      <m:ctrlPr>
                        <a:rPr lang="en-US" i="1">
                          <a:latin typeface="Cambria Math"/>
                        </a:rPr>
                      </m:ctrlPr>
                    </m:sSubPr>
                    <m:e>
                      <m:r>
                        <a:rPr lang="en-US" b="0" i="1" sz="1500">
                          <a:solidFill>
                            <a:srgbClr val="0B2B4E"/>
                          </a:solidFill>
                          <a:latin typeface="Cambria Math"/>
                          <a:ea typeface="Cambria Math"/>
                        </a:rPr>
                        <m:t>Q</m:t>
                      </m:r>
                    </m:e>
                    <m:sub>
                      <m:r>
                        <m:rPr>
                          <m:sty m:val="p"/>
                        </m:rPr>
                        <a:rPr lang="en-US" b="0" i="0" sz="1500">
                          <a:solidFill>
                            <a:srgbClr val="0B2B4E"/>
                          </a:solidFill>
                          <a:latin typeface="Cambria Math"/>
                        </a:rPr>
                        <m:t xml:space="preserve">M</m:t>
                      </m:r>
                    </m:sub>
                  </m:sSub>
                </m:oMath>
              </m:oMathPara>
            </a14:m>
            <a:endParaRPr lang="en-US" sz="1500"/>
          </a:p>
        </p:txBody>
      </p:sp>
      <p:cxnSp>
        <p:nvCxnSpPr>
          <p:cNvPr id="14" name="Connector 13"/>
          <p:cNvCxnSpPr/>
          <p:nvPr/>
        </p:nvCxnSpPr>
        <p:spPr>
          <a:xfrm>
            <a:off x="1554480" y="2245178"/>
            <a:ext cx="2449285" cy="3469822"/>
          </a:xfrm>
          <a:prstGeom prst="line">
            <a:avLst/>
          </a:prstGeom>
          <a:ln w="22225">
            <a:solidFill>
              <a:srgbClr val="0B2B4E"/>
            </a:solidFill>
            <a:prstDash val="dash"/>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031236" y="4772253"/>
            <a:ext cx="731520" cy="292608"/>
          </a:xfrm>
          <a:prstGeom prst="rect">
            <a:avLst/>
          </a:prstGeom>
          <a:noFill/>
        </p:spPr>
        <p:txBody>
          <a:bodyPr wrap="square" lIns="0" rIns="0" tIns="0" bIns="0">
            <a:spAutoFit/>
          </a:bodyPr>
          <a:lstStyle/>
          <a:p>
            <a:pPr algn="l"/>
            <a:r>
              <a:rPr sz="1600" b="1" i="0" u="none">
                <a:solidFill>
                  <a:srgbClr val="0B2B4E"/>
                </a:solidFill>
                <a:latin typeface="Calibri"/>
              </a:rPr>
              <a:t>MR</a:t>
            </a:r>
          </a:p>
        </p:txBody>
      </p:sp>
      <p:cxnSp>
        <p:nvCxnSpPr>
          <p:cNvPr id="16" name="Connector 15"/>
          <p:cNvCxnSpPr/>
          <p:nvPr/>
        </p:nvCxnSpPr>
        <p:spPr>
          <a:xfrm>
            <a:off x="1554480" y="5368017"/>
            <a:ext cx="5143500" cy="0"/>
          </a:xfrm>
          <a:prstGeom prst="line">
            <a:avLst/>
          </a:prstGeom>
          <a:ln w="31750">
            <a:solidFill>
              <a:srgbClr val="555B66"/>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05702" y="5039258"/>
            <a:ext cx="822960" cy="274320"/>
          </a:xfrm>
          <a:prstGeom prst="rect">
            <a:avLst/>
          </a:prstGeom>
          <a:noFill/>
        </p:spPr>
        <p:txBody>
          <a:bodyPr wrap="square" lIns="0" rIns="0" tIns="0" bIns="0">
            <a:spAutoFit/>
          </a:bodyPr>
          <a:lstStyle/>
          <a:p>
            <a:pPr algn="ctr"/>
            <a:r>
              <a:rPr sz="1600" b="1" i="0" u="none">
                <a:solidFill>
                  <a:srgbClr val="555B66"/>
                </a:solidFill>
                <a:latin typeface="Calibri"/>
              </a:rPr>
              <a:t>MC</a:t>
            </a:r>
          </a:p>
        </p:txBody>
      </p:sp>
      <p:cxnSp>
        <p:nvCxnSpPr>
          <p:cNvPr id="18" name="Connector 17"/>
          <p:cNvCxnSpPr/>
          <p:nvPr/>
        </p:nvCxnSpPr>
        <p:spPr>
          <a:xfrm>
            <a:off x="1554480" y="3806598"/>
            <a:ext cx="2204357" cy="0"/>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758837" y="3806598"/>
            <a:ext cx="0" cy="1908402"/>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708545" y="3756306"/>
            <a:ext cx="100584" cy="100584"/>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1554480" y="4327071"/>
            <a:ext cx="2939142" cy="0"/>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493622" y="4327071"/>
            <a:ext cx="0" cy="1387929"/>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443330" y="4276779"/>
            <a:ext cx="100584" cy="100584"/>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1554480" y="5368017"/>
            <a:ext cx="4408714" cy="0"/>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76071" y="2117162"/>
            <a:ext cx="868680" cy="274320"/>
          </a:xfrm>
          <a:prstGeom prst="rect">
            <a:avLst/>
          </a:prstGeom>
          <a:noFill/>
        </p:spPr>
        <p:txBody>
          <a:bodyPr wrap="square" lIns="0" rIns="0" tIns="0" bIns="0">
            <a:spAutoFit/>
          </a:bodyPr>
          <a:lstStyle/>
          <a:p>
            <a:pPr algn="r"/>
            <a:r>
              <a:rPr sz="1600" b="0" i="0" u="none">
                <a:solidFill>
                  <a:srgbClr val="0B2B4E"/>
                </a:solidFill>
                <a:latin typeface="Calibri"/>
              </a:rPr>
              <a:t>$100</a:t>
            </a:r>
          </a:p>
        </p:txBody>
      </p:sp>
      <p:sp>
        <p:nvSpPr>
          <p:cNvPr id="26" name="TextBox 25"/>
          <p:cNvSpPr txBox="1"/>
          <p:nvPr/>
        </p:nvSpPr>
        <p:spPr>
          <a:xfrm>
            <a:off x="576071" y="3678582"/>
            <a:ext cx="868680" cy="274320"/>
          </a:xfrm>
          <a:prstGeom prst="rect">
            <a:avLst/>
          </a:prstGeom>
          <a:noFill/>
        </p:spPr>
        <p:txBody>
          <a:bodyPr wrap="square" lIns="0" rIns="0" tIns="0" bIns="0">
            <a:spAutoFit/>
          </a:bodyPr>
          <a:lstStyle/>
          <a:p>
            <a:pPr algn="r"/>
            <a:r>
              <a:rPr sz="1600" b="1" i="0" u="none">
                <a:solidFill>
                  <a:srgbClr val="0B2B4E"/>
                </a:solidFill>
                <a:latin typeface="Calibri"/>
              </a:rPr>
              <a:t>$55</a:t>
            </a:r>
          </a:p>
        </p:txBody>
      </p:sp>
      <p:sp>
        <p:nvSpPr>
          <p:cNvPr id="27" name="TextBox 26"/>
          <p:cNvSpPr txBox="1"/>
          <p:nvPr/>
        </p:nvSpPr>
        <p:spPr>
          <a:xfrm>
            <a:off x="576071" y="4199055"/>
            <a:ext cx="868680" cy="274320"/>
          </a:xfrm>
          <a:prstGeom prst="rect">
            <a:avLst/>
          </a:prstGeom>
          <a:noFill/>
        </p:spPr>
        <p:txBody>
          <a:bodyPr wrap="square" lIns="0" rIns="0" tIns="0" bIns="0">
            <a:spAutoFit/>
          </a:bodyPr>
          <a:lstStyle/>
          <a:p>
            <a:pPr algn="r"/>
            <a:r>
              <a:rPr sz="1600" b="1" i="0" u="none">
                <a:solidFill>
                  <a:srgbClr val="0B2B4E"/>
                </a:solidFill>
                <a:latin typeface="Calibri"/>
              </a:rPr>
              <a:t>$40</a:t>
            </a:r>
          </a:p>
        </p:txBody>
      </p:sp>
      <p:sp>
        <p:nvSpPr>
          <p:cNvPr id="28" name="TextBox 27"/>
          <p:cNvSpPr txBox="1"/>
          <p:nvPr/>
        </p:nvSpPr>
        <p:spPr>
          <a:xfrm>
            <a:off x="576071" y="5240001"/>
            <a:ext cx="868680" cy="274320"/>
          </a:xfrm>
          <a:prstGeom prst="rect">
            <a:avLst/>
          </a:prstGeom>
          <a:noFill/>
        </p:spPr>
        <p:txBody>
          <a:bodyPr wrap="square" lIns="0" rIns="0" tIns="0" bIns="0">
            <a:spAutoFit/>
          </a:bodyPr>
          <a:lstStyle/>
          <a:p>
            <a:pPr algn="r"/>
            <a:r>
              <a:rPr sz="1600" b="0" i="0" u="none">
                <a:solidFill>
                  <a:srgbClr val="555B66"/>
                </a:solidFill>
                <a:latin typeface="Calibri"/>
              </a:rPr>
              <a:t>$10</a:t>
            </a:r>
          </a:p>
        </p:txBody>
      </p:sp>
      <p:sp>
        <p:nvSpPr>
          <p:cNvPr id="29" name="TextBox 28"/>
          <p:cNvSpPr txBox="1"/>
          <p:nvPr/>
        </p:nvSpPr>
        <p:spPr>
          <a:xfrm>
            <a:off x="3301637" y="5769864"/>
            <a:ext cx="914400" cy="274320"/>
          </a:xfrm>
          <a:prstGeom prst="rect">
            <a:avLst/>
          </a:prstGeom>
          <a:noFill/>
        </p:spPr>
        <p:txBody>
          <a:bodyPr wrap="square" lIns="0" rIns="0" tIns="0" bIns="0">
            <a:spAutoFit/>
          </a:bodyPr>
          <a:lstStyle/>
          <a:p>
            <a:pPr algn="ctr"/>
            <a:r>
              <a:rPr sz="1600" b="0" i="0" u="none">
                <a:solidFill>
                  <a:srgbClr val="0B2B4E"/>
                </a:solidFill>
                <a:latin typeface="Calibri"/>
              </a:rPr>
              <a:t>45</a:t>
            </a:r>
          </a:p>
        </p:txBody>
      </p:sp>
      <p:sp>
        <p:nvSpPr>
          <p:cNvPr id="30" name="TextBox 29"/>
          <p:cNvSpPr txBox="1"/>
          <p:nvPr/>
        </p:nvSpPr>
        <p:spPr>
          <a:xfrm>
            <a:off x="4036422" y="5769864"/>
            <a:ext cx="914400" cy="274320"/>
          </a:xfrm>
          <a:prstGeom prst="rect">
            <a:avLst/>
          </a:prstGeom>
          <a:noFill/>
        </p:spPr>
        <p:txBody>
          <a:bodyPr wrap="square" lIns="0" rIns="0" tIns="0" bIns="0">
            <a:spAutoFit/>
          </a:bodyPr>
          <a:lstStyle/>
          <a:p>
            <a:pPr algn="ctr"/>
            <a:r>
              <a:rPr sz="1600" b="0" i="0" u="none">
                <a:solidFill>
                  <a:srgbClr val="0B2B4E"/>
                </a:solidFill>
                <a:latin typeface="Calibri"/>
              </a:rPr>
              <a:t>60</a:t>
            </a:r>
          </a:p>
        </p:txBody>
      </p:sp>
      <p:sp>
        <p:nvSpPr>
          <p:cNvPr id="31" name="TextBox 30"/>
          <p:cNvSpPr txBox="1"/>
          <p:nvPr/>
        </p:nvSpPr>
        <p:spPr>
          <a:xfrm>
            <a:off x="6208776" y="5769864"/>
            <a:ext cx="493776" cy="246888"/>
          </a:xfrm>
          <a:prstGeom prst="rect">
            <a:avLst/>
          </a:prstGeom>
          <a:noFill/>
        </p:spPr>
        <p:txBody>
          <a:bodyPr wrap="square" lIns="0" rIns="0" tIns="0" bIns="0">
            <a:spAutoFit/>
          </a:bodyPr>
          <a:lstStyle/>
          <a:p>
            <a:pPr algn="ctr"/>
            <a:r>
              <a:rPr sz="1600" b="0" i="0" u="none">
                <a:solidFill>
                  <a:srgbClr val="0B2B4E"/>
                </a:solidFill>
                <a:latin typeface="Calibri"/>
              </a:rPr>
              <a:t>100</a:t>
            </a:r>
          </a:p>
        </p:txBody>
      </p:sp>
      <p:sp>
        <p:nvSpPr>
          <p:cNvPr id="32" name="TextBox 31"/>
          <p:cNvSpPr txBox="1"/>
          <p:nvPr/>
        </p:nvSpPr>
        <p:spPr>
          <a:xfrm>
            <a:off x="4258360" y="2121408"/>
            <a:ext cx="2828239" cy="256032"/>
          </a:xfrm>
          <a:prstGeom prst="rect">
            <a:avLst/>
          </a:prstGeom>
          <a:noFill/>
        </p:spPr>
        <p:txBody>
          <a:bodyPr wrap="square" lIns="0" rIns="0" tIns="0" bIns="0">
            <a:spAutoFit/>
          </a:bodyPr>
          <a:lstStyle/>
          <a:p>
            <a:pPr algn="l"/>
            <a:r>
              <a:rPr sz="1600" b="1" i="0" u="none">
                <a:solidFill>
                  <a:srgbClr val="0B2B4E"/>
                </a:solidFill>
                <a:latin typeface="Calibri"/>
              </a:rPr>
              <a:t>Monopoly Equilibrium</a:t>
            </a:r>
          </a:p>
        </p:txBody>
      </p:sp>
      <p:sp>
        <p:nvSpPr>
          <p:cNvPr id="33" name="TextBox 32"/>
          <p:cNvSpPr txBox="1"/>
          <p:nvPr/>
        </p:nvSpPr>
        <p:spPr>
          <a:xfrm>
            <a:off x="4258360" y="2395728"/>
            <a:ext cx="2870301" cy="245973"/>
          </a:xfrm>
          <a:prstGeom prst="rect">
            <a:avLst/>
          </a:prstGeom>
          <a:noFill/>
        </p:spPr>
        <p:txBody>
          <a:bodyPr wrap="square" lIns="0" rIns="0" tIns="0" bIns="0">
            <a:spAutoFit/>
          </a:bodyPr>
          <a:lstStyle/>
          <a:p>
            <a:pPr algn="l"/>
            <a:r>
              <a:rPr sz="1600" b="0" i="0" u="none">
                <a:solidFill>
                  <a:srgbClr val="0B2B4E"/>
                </a:solidFill>
                <a:latin typeface="Calibri"/>
              </a:rPr>
              <a:t>(also collusive/cartel equilibrium)</a:t>
            </a:r>
          </a:p>
        </p:txBody>
      </p:sp>
      <p:cxnSp>
        <p:nvCxnSpPr>
          <p:cNvPr id="34" name="Connector 33"/>
          <p:cNvCxnSpPr/>
          <p:nvPr/>
        </p:nvCxnSpPr>
        <p:spPr>
          <a:xfrm flipH="1">
            <a:off x="3850538" y="2770632"/>
            <a:ext cx="735178" cy="985723"/>
          </a:xfrm>
          <a:prstGeom prst="line">
            <a:avLst/>
          </a:prstGeom>
          <a:ln w="12700">
            <a:solidFill>
              <a:srgbClr val="0B2B4E"/>
            </a:solidFill>
            <a:tailEnd type="triangle" w="sm" h="sm"/>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715560" y="3621938"/>
            <a:ext cx="2080260" cy="245973"/>
          </a:xfrm>
          <a:prstGeom prst="rect">
            <a:avLst/>
          </a:prstGeom>
          <a:noFill/>
        </p:spPr>
        <p:txBody>
          <a:bodyPr wrap="square" lIns="0" rIns="0" tIns="0" bIns="0">
            <a:spAutoFit/>
          </a:bodyPr>
          <a:lstStyle/>
          <a:p>
            <a:pPr algn="l"/>
            <a:r>
              <a:rPr sz="1600" b="1" i="0" u="none">
                <a:solidFill>
                  <a:srgbClr val="0B2B4E"/>
                </a:solidFill>
                <a:latin typeface="Calibri"/>
              </a:rPr>
              <a:t>Cournot Equilibrium</a:t>
            </a:r>
          </a:p>
        </p:txBody>
      </p:sp>
      <p:cxnSp>
        <p:nvCxnSpPr>
          <p:cNvPr id="36" name="Connector 35"/>
          <p:cNvCxnSpPr/>
          <p:nvPr/>
        </p:nvCxnSpPr>
        <p:spPr>
          <a:xfrm flipH="1">
            <a:off x="4529023" y="3925519"/>
            <a:ext cx="695858" cy="367589"/>
          </a:xfrm>
          <a:prstGeom prst="line">
            <a:avLst/>
          </a:prstGeom>
          <a:ln w="12700">
            <a:solidFill>
              <a:srgbClr val="0B2B4E"/>
            </a:solidFill>
            <a:tailEnd type="triangle" w="sm" h="sm"/>
          </a:ln>
        </p:spPr>
        <p:style>
          <a:lnRef idx="2">
            <a:schemeClr val="accent1"/>
          </a:lnRef>
          <a:fillRef idx="0">
            <a:schemeClr val="accent1"/>
          </a:fillRef>
          <a:effectRef idx="1">
            <a:schemeClr val="accent1"/>
          </a:effectRef>
          <a:fontRef idx="minor">
            <a:schemeClr val="tx1"/>
          </a:fontRef>
        </p:style>
      </p:cxnSp>
      <p:grpSp>
        <p:nvGrpSpPr>
          <p:cNvPr id="44" name="BertrandCluster 44"/>
          <p:cNvGrpSpPr/>
          <p:nvPr/>
        </p:nvGrpSpPr>
        <p:grpSpPr>
          <a:xfrm>
            <a:off x="5505994" y="4050791"/>
            <a:ext cx="6216614" cy="1993393"/>
            <a:chOff x="5505994" y="4050791"/>
            <a:chExt cx="6216614" cy="1993393"/>
          </a:xfrm>
        </p:grpSpPr>
        <p:cxnSp>
          <p:nvCxnSpPr>
            <p:cNvPr id="37" name="Connector 36"/>
            <p:cNvCxnSpPr/>
            <p:nvPr/>
          </p:nvCxnSpPr>
          <p:spPr>
            <a:xfrm>
              <a:off x="5963194" y="5368017"/>
              <a:ext cx="0" cy="346983"/>
            </a:xfrm>
            <a:prstGeom prst="line">
              <a:avLst/>
            </a:prstGeom>
            <a:ln w="1270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5912902" y="5317725"/>
              <a:ext cx="100584" cy="100584"/>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05994" y="5769864"/>
              <a:ext cx="914400" cy="274320"/>
            </a:xfrm>
            <a:prstGeom prst="rect">
              <a:avLst/>
            </a:prstGeom>
            <a:noFill/>
          </p:spPr>
          <p:txBody>
            <a:bodyPr wrap="square" lIns="0" rIns="0" tIns="0" bIns="0">
              <a:spAutoFit/>
            </a:bodyPr>
            <a:lstStyle/>
            <a:p>
              <a:pPr algn="ctr"/>
              <a:r>
                <a:rPr sz="1600" b="0" i="0" u="none">
                  <a:solidFill>
                    <a:srgbClr val="0B2B4E"/>
                  </a:solidFill>
                  <a:latin typeface="Calibri"/>
                </a:rPr>
                <a:t>90</a:t>
              </a:r>
            </a:p>
          </p:txBody>
        </p:sp>
        <p:sp>
          <p:nvSpPr>
            <p:cNvPr id="40" name="TextBox 39"/>
            <p:cNvSpPr txBox="1"/>
            <p:nvPr/>
          </p:nvSpPr>
          <p:spPr>
            <a:xfrm>
              <a:off x="7333488" y="4050791"/>
              <a:ext cx="4389120" cy="292608"/>
            </a:xfrm>
            <a:prstGeom prst="rect">
              <a:avLst/>
            </a:prstGeom>
            <a:noFill/>
          </p:spPr>
          <p:txBody>
            <a:bodyPr wrap="square" lIns="0" rIns="0" tIns="0" bIns="0">
              <a:spAutoFit/>
            </a:bodyPr>
            <a:lstStyle/>
            <a:p>
              <a:pPr algn="l"/>
              <a:r>
                <a:rPr sz="1600" b="1" i="0" u="none">
                  <a:solidFill>
                    <a:srgbClr val="0B2B4E"/>
                  </a:solidFill>
                  <a:latin typeface="Calibri"/>
                </a:rPr>
                <a:t>Bertrand Equilibrium</a:t>
              </a:r>
            </a:p>
          </p:txBody>
        </p:sp>
        <p:sp>
          <p:nvSpPr>
            <p:cNvPr id="41" name="TextBox 40"/>
            <p:cNvSpPr txBox="1"/>
            <p:nvPr/>
          </p:nvSpPr>
          <p:spPr>
            <a:xfrm>
              <a:off x="7333488" y="4325112"/>
              <a:ext cx="4389120" cy="292608"/>
            </a:xfrm>
            <a:prstGeom prst="rect">
              <a:avLst/>
            </a:prstGeom>
            <a:noFill/>
          </p:spPr>
          <p:txBody>
            <a:bodyPr wrap="square" lIns="0" rIns="0" tIns="0" bIns="0">
              <a:spAutoFit/>
            </a:bodyPr>
            <a:lstStyle/>
            <a:p>
              <a:pPr algn="l"/>
              <a:r>
                <a:rPr sz="1600" b="0" i="0" u="none">
                  <a:solidFill>
                    <a:srgbClr val="0B2B4E"/>
                  </a:solidFill>
                  <a:latin typeface="Calibri"/>
                </a:rPr>
                <a:t>(same as Perfect Competition</a:t>
              </a:r>
            </a:p>
          </p:txBody>
        </p:sp>
        <p:sp>
          <p:nvSpPr>
            <p:cNvPr id="42" name="TextBox 41"/>
            <p:cNvSpPr txBox="1"/>
            <p:nvPr/>
          </p:nvSpPr>
          <p:spPr>
            <a:xfrm>
              <a:off x="7333488" y="4599432"/>
              <a:ext cx="4389120" cy="292608"/>
            </a:xfrm>
            <a:prstGeom prst="rect">
              <a:avLst/>
            </a:prstGeom>
            <a:noFill/>
          </p:spPr>
          <p:txBody>
            <a:bodyPr wrap="square" lIns="0" rIns="0" tIns="0" bIns="0">
              <a:spAutoFit/>
            </a:bodyPr>
            <a:lstStyle/>
            <a:p>
              <a:pPr algn="l"/>
              <a:r>
                <a:rPr sz="1600" b="0" i="0" u="none">
                  <a:solidFill>
                    <a:srgbClr val="0B2B4E"/>
                  </a:solidFill>
                  <a:latin typeface="Calibri"/>
                </a:rPr>
                <a:t>when both firms have same MC)</a:t>
              </a:r>
            </a:p>
          </p:txBody>
        </p:sp>
        <p:cxnSp>
          <p:nvCxnSpPr>
            <p:cNvPr id="43" name="Connector 42"/>
            <p:cNvCxnSpPr/>
            <p:nvPr/>
          </p:nvCxnSpPr>
          <p:spPr>
            <a:xfrm flipH="1">
              <a:off x="5985662" y="4251960"/>
              <a:ext cx="1251814" cy="1061618"/>
            </a:xfrm>
            <a:prstGeom prst="line">
              <a:avLst/>
            </a:prstGeom>
            <a:ln w="12700">
              <a:solidFill>
                <a:srgbClr val="0B2B4E"/>
              </a:solidFill>
              <a:tailEnd type="triangle" w="sm" h="sm"/>
            </a:ln>
          </p:spPr>
          <p:style>
            <a:lnRef idx="2">
              <a:schemeClr val="accent1"/>
            </a:lnRef>
            <a:fillRef idx="0">
              <a:schemeClr val="accent1"/>
            </a:fillRef>
            <a:effectRef idx="1">
              <a:schemeClr val="accent1"/>
            </a:effectRef>
            <a:fontRef idx="minor">
              <a:schemeClr val="tx1"/>
            </a:fontRef>
          </p:style>
        </p:cxnSp>
      </p:grpSp>
      <p:sp>
        <p:nvSpPr>
          <p:cNvPr id="45" name="Rectangle 4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48" name="TextBox 47"/>
          <p:cNvSpPr txBox="1"/>
          <p:nvPr/>
        </p:nvSpPr>
        <p:spPr>
          <a:xfrm>
            <a:off x="11475720" y="6583680"/>
            <a:ext cx="502920" cy="292608"/>
          </a:xfrm>
          <a:prstGeom prst="rect">
            <a:avLst/>
          </a:prstGeom>
          <a:noFill/>
        </p:spPr>
        <p:txBody>
          <a:bodyPr wrap="none" lIns="0" rIns="0" tIns="0" bIns="0">
            <a:spAutoFit/>
          </a:bodyPr>
          <a:lstStyle/>
          <a:p>
            <a:pPr algn="r"/>
            <a:fld id="{B104896E-9955-53AC-B33E-B8BB244B239A}" type="slidenum">
              <a:rPr lang="en-US" sz="1200" dirty="0">
                <a:solidFill>
                  <a:srgbClr val="555B66"/>
                </a:solidFill>
                <a:latin typeface="Calibri"/>
              </a:rPr>
              <a:t>35</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500"/>
                                        <p:tgtEl>
                                          <p:spTgt spid="2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500"/>
                                        <p:tgtEl>
                                          <p:spTgt spid="2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5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500"/>
                                        <p:tgtEl>
                                          <p:spTgt spid="3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500"/>
                                        <p:tgtEl>
                                          <p:spTgt spid="34"/>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500"/>
                                        <p:tgtEl>
                                          <p:spTgt spid="2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500"/>
                                        <p:tgtEl>
                                          <p:spTgt spid="3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81" dur="500"/>
                                        <p:tgtEl>
                                          <p:spTgt spid="3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6"/>
                                        </p:tgtEl>
                                        <p:attrNameLst>
                                          <p:attrName>style.visibility</p:attrName>
                                        </p:attrNameLst>
                                      </p:cBhvr>
                                      <p:to>
                                        <p:strVal val="visible"/>
                                      </p:to>
                                    </p:set>
                                    <p:animEffect transition="in" filter="fade">
                                      <p:cBhvr>
                                        <p:cTn id="84" dur="500"/>
                                        <p:tgtEl>
                                          <p:spTgt spid="36"/>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24"/>
                                        </p:tgtEl>
                                        <p:attrNameLst>
                                          <p:attrName>style.visibility</p:attrName>
                                        </p:attrNameLst>
                                      </p:cBhvr>
                                      <p:to>
                                        <p:strVal val="visible"/>
                                      </p:to>
                                    </p:set>
                                    <p:animEffect transition="in" filter="fade">
                                      <p:cBhvr>
                                        <p:cTn id="89" dur="500"/>
                                        <p:tgtEl>
                                          <p:spTgt spid="24"/>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44"/>
                                        </p:tgtEl>
                                        <p:attrNameLst>
                                          <p:attrName>style.visibility</p:attrName>
                                        </p:attrNameLst>
                                      </p:cBhvr>
                                      <p:to>
                                        <p:strVal val="visible"/>
                                      </p:to>
                                    </p:set>
                                    <p:animEffect transition="in" filter="fade">
                                      <p:cBhvr>
                                        <p:cTn id="9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Bertrand Competition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Comparison of Outcomes: Math (for your reference)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49039" y="1444752"/>
            <a:ext cx="4663440" cy="457200"/>
          </a:xfrm>
          <a:prstGeom prst="rect">
            <a:avLst/>
          </a:prstGeom>
          <a:noFill/>
        </p:spPr>
        <p:txBody>
          <a:bodyPr wrap="square" anchor="ctr">
            <a:spAutoFit/>
          </a:bodyPr>
          <a:lstStyle/>
          <a:p xmlns:m="http://schemas.openxmlformats.org/officeDocument/2006/math" xmlns:a14="http://schemas.microsoft.com/office/drawing/2010/main">
            <a:pPr algn="ctr">
              <a:defRPr sz="2000" b="0" i="1">
                <a:solidFill>
                  <a:srgbClr val="555B66"/>
                </a:solidFill>
                <a:latin typeface="Cambria Math"/>
              </a:defRPr>
            </a:pPr>
            <a14:m>
              <m:oMathPara>
                <m:oMathParaPr>
                  <m:jc m:val="centerGroup"/>
                </m:oMathParaPr>
                <m:oMath>
                  <m:r>
                    <m:rPr>
                      <m:sty m:val="bi"/>
                    </m:rPr>
                    <a:rPr lang="en-US" b="1" i="1" sz="2000">
                      <a:solidFill>
                        <a:srgbClr val="555B66"/>
                      </a:solidFill>
                      <a:latin typeface="Cambria Math"/>
                      <a:ea typeface="Cambria Math"/>
                    </a:rPr>
                    <m:t>P</m:t>
                  </m:r>
                  <m:r>
                    <m:rPr>
                      <m:sty m:val="b"/>
                    </m:rPr>
                    <a:rPr lang="en-US" b="1" i="0" sz="2000">
                      <a:solidFill>
                        <a:srgbClr val="555B66"/>
                      </a:solidFill>
                      <a:latin typeface="Cambria Math"/>
                    </a:rPr>
                    <m:t xml:space="preserve"> = 100 − </m:t>
                  </m:r>
                  <m:r>
                    <m:rPr>
                      <m:sty m:val="bi"/>
                    </m:rPr>
                    <a:rPr lang="en-US" b="1" i="1" sz="2000">
                      <a:solidFill>
                        <a:srgbClr val="555B66"/>
                      </a:solidFill>
                      <a:latin typeface="Cambria Math"/>
                      <a:ea typeface="Cambria Math"/>
                    </a:rPr>
                    <m:t>Q</m:t>
                  </m:r>
                  <m:r>
                    <m:rPr>
                      <m:sty m:val="b"/>
                    </m:rPr>
                    <a:rPr lang="en-US" b="1" i="0" sz="2000">
                      <a:solidFill>
                        <a:srgbClr val="555B66"/>
                      </a:solidFill>
                      <a:latin typeface="Cambria Math"/>
                    </a:rPr>
                    <m:t xml:space="preserve">   and   MC = 10</m:t>
                  </m:r>
                </m:oMath>
              </m:oMathPara>
            </a14:m>
            <a:endParaRPr lang="en-US" sz="2000"/>
          </a:p>
        </p:txBody>
      </p:sp>
      <p:sp>
        <p:nvSpPr>
          <p:cNvPr id="8" name="TextBox 7"/>
          <p:cNvSpPr txBox="1"/>
          <p:nvPr/>
        </p:nvSpPr>
        <p:spPr>
          <a:xfrm>
            <a:off x="576072" y="2075688"/>
            <a:ext cx="8686800" cy="4251960"/>
          </a:xfrm>
          <a:prstGeom prst="rect">
            <a:avLst/>
          </a:prstGeom>
          <a:noFill/>
        </p:spPr>
        <p:txBody>
          <a:bodyPr wrap="square" lIns="45720" rIns="45720" tIns="0" bIns="0">
            <a:spAutoFit/>
          </a:bodyPr>
          <a:lstStyle/>
          <a:p xmlns:m="http://schemas.openxmlformats.org/officeDocument/2006/math" xmlns:a14="http://schemas.microsoft.com/office/drawing/2010/main">
            <a:r>
              <a:rPr lang="en-US" sz="2400" b="1">
                <a:solidFill>
                  <a:srgbClr val="0B2B4E"/>
                </a:solidFill>
                <a:latin typeface="Calibri"/>
              </a:rPr>
              <a:t>Monopoly:</a:t>
            </a:r>
            <a:endParaRPr lang="en-US"/>
          </a:p>
          <a:p xmlns:m="http://schemas.openxmlformats.org/officeDocument/2006/math" xmlns:a14="http://schemas.microsoft.com/office/drawing/2010/main">
            <a14:m>
              <m:oMath>
                <m:r>
                  <m:rPr>
                    <m:sty m:val="p"/>
                  </m:rPr>
                  <a:rPr lang="en-US" b="0" i="0" sz="2000">
                    <a:solidFill>
                      <a:srgbClr val="0B2B4E"/>
                    </a:solidFill>
                    <a:latin typeface="Cambria Math"/>
                  </a:rPr>
                  <m:t xml:space="preserve">TR = </m:t>
                </m:r>
                <m:r>
                  <a:rPr lang="en-US" b="0" i="1" sz="2000">
                    <a:solidFill>
                      <a:srgbClr val="0B2B4E"/>
                    </a:solidFill>
                    <a:latin typeface="Cambria Math"/>
                    <a:ea typeface="Cambria Math"/>
                  </a:rPr>
                  <m:t>P</m:t>
                </m:r>
                <m:r>
                  <m:rPr>
                    <m:sty m:val="p"/>
                  </m:rPr>
                  <a:rPr lang="en-US" b="0" i="0" sz="2000">
                    <a:solidFill>
                      <a:srgbClr val="0B2B4E"/>
                    </a:solidFill>
                    <a:latin typeface="Cambria Math"/>
                  </a:rPr>
                  <m:t xml:space="preserve">·</m:t>
                </m:r>
                <m:r>
                  <a:rPr lang="en-US" b="0" i="1" sz="2000">
                    <a:solidFill>
                      <a:srgbClr val="0B2B4E"/>
                    </a:solidFill>
                    <a:latin typeface="Cambria Math"/>
                    <a:ea typeface="Cambria Math"/>
                  </a:rPr>
                  <m:t>Q</m:t>
                </m:r>
                <m:r>
                  <m:rPr>
                    <m:sty m:val="p"/>
                  </m:rPr>
                  <a:rPr lang="en-US" b="0" i="0" sz="2000">
                    <a:solidFill>
                      <a:srgbClr val="0B2B4E"/>
                    </a:solidFill>
                    <a:latin typeface="Cambria Math"/>
                  </a:rPr>
                  <m:t xml:space="preserve"> = (100 − </m:t>
                </m:r>
                <m:r>
                  <a:rPr lang="en-US" b="0" i="1" sz="2000">
                    <a:solidFill>
                      <a:srgbClr val="0B2B4E"/>
                    </a:solidFill>
                    <a:latin typeface="Cambria Math"/>
                    <a:ea typeface="Cambria Math"/>
                  </a:rPr>
                  <m:t>Q</m:t>
                </m:r>
                <m:r>
                  <m:rPr>
                    <m:sty m:val="p"/>
                  </m:rPr>
                  <a:rPr lang="en-US" b="0" i="0" sz="2000">
                    <a:solidFill>
                      <a:srgbClr val="0B2B4E"/>
                    </a:solidFill>
                    <a:latin typeface="Cambria Math"/>
                  </a:rPr>
                  <m:t xml:space="preserve">)·</m:t>
                </m:r>
                <m:r>
                  <a:rPr lang="en-US" b="0" i="1" sz="2000">
                    <a:solidFill>
                      <a:srgbClr val="0B2B4E"/>
                    </a:solidFill>
                    <a:latin typeface="Cambria Math"/>
                    <a:ea typeface="Cambria Math"/>
                  </a:rPr>
                  <m:t>Q</m:t>
                </m:r>
                <m:r>
                  <m:rPr>
                    <m:sty m:val="p"/>
                  </m:rPr>
                  <a:rPr lang="en-US" b="0" i="0" sz="2000">
                    <a:solidFill>
                      <a:srgbClr val="0B2B4E"/>
                    </a:solidFill>
                    <a:latin typeface="Cambria Math"/>
                  </a:rPr>
                  <m:t xml:space="preserve"> = 100</m:t>
                </m:r>
                <m:r>
                  <a:rPr lang="en-US" b="0" i="1" sz="2000">
                    <a:solidFill>
                      <a:srgbClr val="0B2B4E"/>
                    </a:solidFill>
                    <a:latin typeface="Cambria Math"/>
                    <a:ea typeface="Cambria Math"/>
                  </a:rPr>
                  <m:t>Q</m:t>
                </m:r>
                <m:r>
                  <m:rPr>
                    <m:sty m:val="p"/>
                  </m:rPr>
                  <a:rPr lang="en-US" b="0" i="0" sz="2000">
                    <a:solidFill>
                      <a:srgbClr val="0B2B4E"/>
                    </a:solidFill>
                    <a:latin typeface="Cambria Math"/>
                  </a:rPr>
                  <m:t xml:space="preserve"> − </m:t>
                </m:r>
                <m:sSup>
                  <m:sSupPr>
                    <m:ctrlPr>
                      <a:rPr lang="en-US" i="1">
                        <a:latin typeface="Cambria Math"/>
                      </a:rPr>
                    </m:ctrlPr>
                  </m:sSupPr>
                  <m:e>
                    <m:r>
                      <a:rPr lang="en-US" b="0" i="1" sz="2000">
                        <a:solidFill>
                          <a:srgbClr val="0B2B4E"/>
                        </a:solidFill>
                        <a:latin typeface="Cambria Math"/>
                        <a:ea typeface="Cambria Math"/>
                      </a:rPr>
                      <m:t>Q</m:t>
                    </m:r>
                  </m:e>
                  <m:sup>
                    <m:r>
                      <m:rPr>
                        <m:sty m:val="p"/>
                      </m:rPr>
                      <a:rPr lang="en-US" b="0" i="0" sz="2000">
                        <a:solidFill>
                          <a:srgbClr val="0B2B4E"/>
                        </a:solidFill>
                        <a:latin typeface="Cambria Math"/>
                      </a:rPr>
                      <m:t xml:space="preserve">2</m:t>
                    </m:r>
                  </m:sup>
                </m:sSup>
              </m:oMath>
            </a14:m>
            <a:endParaRPr lang="en-US"/>
          </a:p>
          <a:p xmlns:m="http://schemas.openxmlformats.org/officeDocument/2006/math" xmlns:a14="http://schemas.microsoft.com/office/drawing/2010/main">
            <a14:m>
              <m:oMath>
                <m:r>
                  <m:rPr>
                    <m:sty m:val="p"/>
                  </m:rPr>
                  <a:rPr lang="en-US" b="0" i="0" sz="2000">
                    <a:solidFill>
                      <a:srgbClr val="0B2B4E"/>
                    </a:solidFill>
                    <a:latin typeface="Cambria Math"/>
                  </a:rPr>
                  <m:t xml:space="preserve">MR = 100 − 2</m:t>
                </m:r>
                <m:r>
                  <a:rPr lang="en-US" b="0" i="1" sz="2000">
                    <a:solidFill>
                      <a:srgbClr val="0B2B4E"/>
                    </a:solidFill>
                    <a:latin typeface="Cambria Math"/>
                    <a:ea typeface="Cambria Math"/>
                  </a:rPr>
                  <m:t>Q</m:t>
                </m:r>
              </m:oMath>
            </a14:m>
            <a:endParaRPr lang="en-US"/>
          </a:p>
          <a:p xmlns:m="http://schemas.openxmlformats.org/officeDocument/2006/math" xmlns:a14="http://schemas.microsoft.com/office/drawing/2010/main">
            <a14:m>
              <m:oMath>
                <m:r>
                  <m:rPr>
                    <m:sty m:val="p"/>
                  </m:rPr>
                  <a:rPr lang="en-US" b="0" i="0" sz="2000">
                    <a:solidFill>
                      <a:srgbClr val="0B2B4E"/>
                    </a:solidFill>
                    <a:latin typeface="Cambria Math"/>
                  </a:rPr>
                  <m:t xml:space="preserve">MR = MC   →   100 − 2</m:t>
                </m:r>
                <m:r>
                  <a:rPr lang="en-US" b="0" i="1" sz="2000">
                    <a:solidFill>
                      <a:srgbClr val="0B2B4E"/>
                    </a:solidFill>
                    <a:latin typeface="Cambria Math"/>
                    <a:ea typeface="Cambria Math"/>
                  </a:rPr>
                  <m:t>Q</m:t>
                </m:r>
                <m:r>
                  <m:rPr>
                    <m:sty m:val="p"/>
                  </m:rPr>
                  <a:rPr lang="en-US" b="0" i="0" sz="2000">
                    <a:solidFill>
                      <a:srgbClr val="0B2B4E"/>
                    </a:solidFill>
                    <a:latin typeface="Cambria Math"/>
                  </a:rPr>
                  <m:t xml:space="preserve"> = 10</m:t>
                </m:r>
              </m:oMath>
            </a14:m>
            <a:endParaRPr lang="en-US"/>
          </a:p>
          <a:p xmlns:m="http://schemas.openxmlformats.org/officeDocument/2006/math" xmlns:a14="http://schemas.microsoft.com/office/drawing/2010/main">
            <a:r>
              <a:rPr lang="en-US" sz="2000" b="1">
                <a:solidFill>
                  <a:srgbClr val="C00000"/>
                </a:solidFill>
                <a:latin typeface="Calibri"/>
              </a:rPr>
              <a:t>➜  Q = 45,  P = 55</a:t>
            </a:r>
            <a:endParaRPr lang="en-US"/>
          </a:p>
          <a:p xmlns:m="http://schemas.openxmlformats.org/officeDocument/2006/math" xmlns:a14="http://schemas.microsoft.com/office/drawing/2010/main">
            <a:endParaRPr lang="en-US"/>
          </a:p>
          <a:p xmlns:m="http://schemas.openxmlformats.org/officeDocument/2006/math" xmlns:a14="http://schemas.microsoft.com/office/drawing/2010/main">
            <a:endParaRPr lang="en-US"/>
          </a:p>
          <a:p xmlns:m="http://schemas.openxmlformats.org/officeDocument/2006/math" xmlns:a14="http://schemas.microsoft.com/office/drawing/2010/main">
            <a:r>
              <a:rPr lang="en-US" sz="2400" b="1">
                <a:solidFill>
                  <a:srgbClr val="0B2B4E"/>
                </a:solidFill>
                <a:latin typeface="Calibri"/>
              </a:rPr>
              <a:t>Cournot:  </a:t>
            </a:r>
            <a:r>
              <a:rPr lang="en-US" sz="2000" b="1">
                <a:solidFill>
                  <a:srgbClr val="C00000"/>
                </a:solidFill>
                <a:latin typeface="Calibri"/>
              </a:rPr>
              <a:t>Q = 60,  P = 40</a:t>
            </a:r>
            <a:endParaRPr lang="en-US"/>
          </a:p>
          <a:p xmlns:m="http://schemas.openxmlformats.org/officeDocument/2006/math" xmlns:a14="http://schemas.microsoft.com/office/drawing/2010/main">
            <a:endParaRPr lang="en-US"/>
          </a:p>
          <a:p xmlns:m="http://schemas.openxmlformats.org/officeDocument/2006/math" xmlns:a14="http://schemas.microsoft.com/office/drawing/2010/main">
            <a:endParaRPr lang="en-US"/>
          </a:p>
          <a:p xmlns:m="http://schemas.openxmlformats.org/officeDocument/2006/math" xmlns:a14="http://schemas.microsoft.com/office/drawing/2010/main">
            <a:r>
              <a:rPr lang="en-US" sz="2400" b="1">
                <a:solidFill>
                  <a:srgbClr val="0B2B4E"/>
                </a:solidFill>
                <a:latin typeface="Calibri"/>
              </a:rPr>
              <a:t>Perfect competition / Bertrand:</a:t>
            </a:r>
            <a:endParaRPr lang="en-US"/>
          </a:p>
          <a:p xmlns:m="http://schemas.openxmlformats.org/officeDocument/2006/math" xmlns:a14="http://schemas.microsoft.com/office/drawing/2010/main">
            <a14:m>
              <m:oMath>
                <m:r>
                  <a:rPr lang="en-US" b="0" i="1" sz="2000">
                    <a:solidFill>
                      <a:srgbClr val="0B2B4E"/>
                    </a:solidFill>
                    <a:latin typeface="Cambria Math"/>
                    <a:ea typeface="Cambria Math"/>
                  </a:rPr>
                  <m:t>P</m:t>
                </m:r>
                <m:r>
                  <m:rPr>
                    <m:sty m:val="p"/>
                  </m:rPr>
                  <a:rPr lang="en-US" b="0" i="0" sz="2000">
                    <a:solidFill>
                      <a:srgbClr val="0B2B4E"/>
                    </a:solidFill>
                    <a:latin typeface="Cambria Math"/>
                  </a:rPr>
                  <m:t xml:space="preserve"> = MC   →   100 − </m:t>
                </m:r>
                <m:r>
                  <a:rPr lang="en-US" b="0" i="1" sz="2000">
                    <a:solidFill>
                      <a:srgbClr val="0B2B4E"/>
                    </a:solidFill>
                    <a:latin typeface="Cambria Math"/>
                    <a:ea typeface="Cambria Math"/>
                  </a:rPr>
                  <m:t>Q</m:t>
                </m:r>
                <m:r>
                  <m:rPr>
                    <m:sty m:val="p"/>
                  </m:rPr>
                  <a:rPr lang="en-US" b="0" i="0" sz="2000">
                    <a:solidFill>
                      <a:srgbClr val="0B2B4E"/>
                    </a:solidFill>
                    <a:latin typeface="Cambria Math"/>
                  </a:rPr>
                  <m:t xml:space="preserve"> = 10</m:t>
                </m:r>
              </m:oMath>
            </a14:m>
            <a:endParaRPr lang="en-US"/>
          </a:p>
          <a:p xmlns:m="http://schemas.openxmlformats.org/officeDocument/2006/math" xmlns:a14="http://schemas.microsoft.com/office/drawing/2010/main">
            <a:r>
              <a:rPr lang="en-US" sz="2000" b="1">
                <a:solidFill>
                  <a:srgbClr val="C00000"/>
                </a:solidFill>
                <a:latin typeface="Calibri"/>
              </a:rPr>
              <a:t>➜  Q = 90,  P = 10</a:t>
            </a:r>
            <a:endParaRPr lang="en-US"/>
          </a:p>
        </p:txBody>
      </p:sp>
      <p:sp>
        <p:nvSpPr>
          <p:cNvPr id="9" name="Rectangle 8"/>
          <p:cNvSpPr/>
          <p:nvPr/>
        </p:nvSpPr>
        <p:spPr>
          <a:xfrm>
            <a:off x="576072" y="2011680"/>
            <a:ext cx="8686800" cy="25603"/>
          </a:xfrm>
          <a:prstGeom prst="rect">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6072" y="4133087"/>
            <a:ext cx="8686800" cy="25603"/>
          </a:xfrm>
          <a:prstGeom prst="rect">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6072" y="5056632"/>
            <a:ext cx="8686800" cy="25603"/>
          </a:xfrm>
          <a:prstGeom prst="rect">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5" name="TextBox 14"/>
          <p:cNvSpPr txBox="1"/>
          <p:nvPr/>
        </p:nvSpPr>
        <p:spPr>
          <a:xfrm>
            <a:off x="11475720" y="6583680"/>
            <a:ext cx="502920" cy="292608"/>
          </a:xfrm>
          <a:prstGeom prst="rect">
            <a:avLst/>
          </a:prstGeom>
          <a:noFill/>
        </p:spPr>
        <p:txBody>
          <a:bodyPr wrap="none" lIns="0" rIns="0" tIns="0" bIns="0">
            <a:spAutoFit/>
          </a:bodyPr>
          <a:lstStyle/>
          <a:p>
            <a:pPr algn="r"/>
            <a:fld id="{2B5B4370-7704-5A3F-BB10-FD5703AAD1AC}" type="slidenum">
              <a:rPr lang="en-US" sz="1200" dirty="0">
                <a:solidFill>
                  <a:srgbClr val="555B66"/>
                </a:solidFill>
                <a:latin typeface="Calibri"/>
              </a:rPr>
              <a:t>36</a:t>
            </a:fld>
          </a:p>
        </p:txBody>
      </p:sp>
      <p:sp>
        <p:nvSpPr>
          <p:cNvPr id="16" name="Rounded Rectangle 15"/>
          <p:cNvSpPr/>
          <p:nvPr/>
        </p:nvSpPr>
        <p:spPr>
          <a:xfrm>
            <a:off x="6327648" y="6245352"/>
            <a:ext cx="5349240" cy="530352"/>
          </a:xfrm>
          <a:prstGeom prst="roundRect">
            <a:avLst>
              <a:gd name="adj" fmla="val 28000"/>
            </a:avLst>
          </a:prstGeom>
          <a:gradFill>
            <a:gsLst>
              <a:gs pos="0">
                <a:schemeClr val="bg1">
                  <a:lumMod val="65000"/>
                </a:schemeClr>
              </a:gs>
              <a:gs pos="54000">
                <a:schemeClr val="bg1">
                  <a:lumMod val="95000"/>
                </a:schemeClr>
              </a:gs>
              <a:gs pos="100000">
                <a:schemeClr val="bg1">
                  <a:lumMod val="65000"/>
                </a:schemeClr>
              </a:gs>
            </a:gsLst>
            <a:lin ang="5400000" scaled="1"/>
          </a:gra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E09F3E"/>
                </a:solidFill>
                <a:latin typeface="Calibri"/>
              </a:rPr>
              <a:t>▶  </a:t>
            </a:r>
            <a:r>
              <a:rPr sz="1600" b="1">
                <a:solidFill>
                  <a:srgbClr val="0B2B4E"/>
                </a:solidFill>
                <a:latin typeface="Calibri"/>
              </a:rPr>
              <a:t>Practice Video “Cournot Competition Math”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500"/>
                                        <p:tgtEl>
                                          <p:spTgt spid="8">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xEl>
                                              <p:pRg st="3" end="3"/>
                                            </p:txEl>
                                          </p:spTgt>
                                        </p:tgtEl>
                                        <p:attrNameLst>
                                          <p:attrName>style.visibility</p:attrName>
                                        </p:attrNameLst>
                                      </p:cBhvr>
                                      <p:to>
                                        <p:strVal val="visible"/>
                                      </p:to>
                                    </p:set>
                                    <p:animEffect transition="in" filter="fade">
                                      <p:cBhvr>
                                        <p:cTn id="16" dur="500"/>
                                        <p:tgtEl>
                                          <p:spTgt spid="8">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Effect transition="in" filter="fade">
                                      <p:cBhvr>
                                        <p:cTn id="19" dur="500"/>
                                        <p:tgtEl>
                                          <p:spTgt spid="8">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xEl>
                                              <p:pRg st="7" end="7"/>
                                            </p:txEl>
                                          </p:spTgt>
                                        </p:tgtEl>
                                        <p:attrNameLst>
                                          <p:attrName>style.visibility</p:attrName>
                                        </p:attrNameLst>
                                      </p:cBhvr>
                                      <p:to>
                                        <p:strVal val="visible"/>
                                      </p:to>
                                    </p:set>
                                    <p:animEffect transition="in" filter="fade">
                                      <p:cBhvr>
                                        <p:cTn id="27" dur="500"/>
                                        <p:tgtEl>
                                          <p:spTgt spid="8">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8">
                                            <p:txEl>
                                              <p:pRg st="10" end="10"/>
                                            </p:txEl>
                                          </p:spTgt>
                                        </p:tgtEl>
                                        <p:attrNameLst>
                                          <p:attrName>style.visibility</p:attrName>
                                        </p:attrNameLst>
                                      </p:cBhvr>
                                      <p:to>
                                        <p:strVal val="visible"/>
                                      </p:to>
                                    </p:set>
                                    <p:animEffect transition="in" filter="fade">
                                      <p:cBhvr>
                                        <p:cTn id="35" dur="500"/>
                                        <p:tgtEl>
                                          <p:spTgt spid="8">
                                            <p:txEl>
                                              <p:pRg st="10" end="10"/>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8">
                                            <p:txEl>
                                              <p:pRg st="11" end="11"/>
                                            </p:txEl>
                                          </p:spTgt>
                                        </p:tgtEl>
                                        <p:attrNameLst>
                                          <p:attrName>style.visibility</p:attrName>
                                        </p:attrNameLst>
                                      </p:cBhvr>
                                      <p:to>
                                        <p:strVal val="visible"/>
                                      </p:to>
                                    </p:set>
                                    <p:animEffect transition="in" filter="fade">
                                      <p:cBhvr>
                                        <p:cTn id="38" dur="500"/>
                                        <p:tgtEl>
                                          <p:spTgt spid="8">
                                            <p:txEl>
                                              <p:pRg st="11" end="11"/>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8">
                                            <p:txEl>
                                              <p:pRg st="12" end="12"/>
                                            </p:txEl>
                                          </p:spTgt>
                                        </p:tgtEl>
                                        <p:attrNameLst>
                                          <p:attrName>style.visibility</p:attrName>
                                        </p:attrNameLst>
                                      </p:cBhvr>
                                      <p:to>
                                        <p:strVal val="visible"/>
                                      </p:to>
                                    </p:set>
                                    <p:animEffect transition="in" filter="fade">
                                      <p:cBhvr>
                                        <p:cTn id="41" dur="500"/>
                                        <p:tgtEl>
                                          <p:spTgt spid="8">
                                            <p:txEl>
                                              <p:pRg st="12" end="1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Bertrand Competition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Overview: Cournot vs. Bertrand</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49427" y="1691640"/>
            <a:ext cx="5440680" cy="548640"/>
          </a:xfrm>
          <a:prstGeom prst="roundRect">
            <a:avLst>
              <a:gd name="adj" fmla="val 15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Cournot: quantity competition</a:t>
            </a:r>
          </a:p>
        </p:txBody>
      </p:sp>
      <p:sp>
        <p:nvSpPr>
          <p:cNvPr id="8" name="Rounded Rectangle 7"/>
          <p:cNvSpPr/>
          <p:nvPr/>
        </p:nvSpPr>
        <p:spPr>
          <a:xfrm>
            <a:off x="6301587" y="1691640"/>
            <a:ext cx="5440680" cy="548640"/>
          </a:xfrm>
          <a:prstGeom prst="roundRect">
            <a:avLst>
              <a:gd name="adj" fmla="val 15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Bertrand: price competition</a:t>
            </a:r>
          </a:p>
        </p:txBody>
      </p:sp>
      <p:sp>
        <p:nvSpPr>
          <p:cNvPr id="9" name="TextBox 8"/>
          <p:cNvSpPr txBox="1"/>
          <p:nvPr/>
        </p:nvSpPr>
        <p:spPr>
          <a:xfrm>
            <a:off x="540867" y="2468880"/>
            <a:ext cx="5257800" cy="822960"/>
          </a:xfrm>
          <a:prstGeom prst="rect">
            <a:avLst/>
          </a:prstGeom>
          <a:noFill/>
        </p:spPr>
        <p:txBody>
          <a:bodyPr wrap="square" lIns="0" rIns="0" tIns="0" bIns="0">
            <a:spAutoFit/>
          </a:bodyPr>
          <a:lstStyle/>
          <a:p>
            <a:pPr algn="l" marL="342900" indent="-342900">
              <a:buClr>
                <a:srgbClr val="0B2B4E"/>
              </a:buClr>
              <a:buFont typeface="Calibri"/>
              <a:buChar char="▪"/>
            </a:pPr>
            <a:r>
              <a:rPr sz="2200" b="0">
                <a:solidFill>
                  <a:srgbClr val="0B2B4E"/>
                </a:solidFill>
                <a:latin typeface="Calibri"/>
              </a:rPr>
              <a:t>Firms set capacity strategically</a:t>
            </a:r>
          </a:p>
        </p:txBody>
      </p:sp>
      <p:sp>
        <p:nvSpPr>
          <p:cNvPr id="10" name="TextBox 9"/>
          <p:cNvSpPr txBox="1"/>
          <p:nvPr/>
        </p:nvSpPr>
        <p:spPr>
          <a:xfrm>
            <a:off x="6393027" y="2468880"/>
            <a:ext cx="5257800" cy="822960"/>
          </a:xfrm>
          <a:prstGeom prst="rect">
            <a:avLst/>
          </a:prstGeom>
          <a:noFill/>
        </p:spPr>
        <p:txBody>
          <a:bodyPr wrap="square" lIns="0" rIns="0" tIns="0" bIns="0">
            <a:spAutoFit/>
          </a:bodyPr>
          <a:lstStyle/>
          <a:p>
            <a:pPr algn="l" marL="342900" indent="-342900">
              <a:buClr>
                <a:srgbClr val="0B2B4E"/>
              </a:buClr>
              <a:buFont typeface="Calibri"/>
              <a:buChar char="▪"/>
            </a:pPr>
            <a:r>
              <a:rPr sz="2200" b="0">
                <a:solidFill>
                  <a:srgbClr val="0B2B4E"/>
                </a:solidFill>
                <a:latin typeface="Calibri"/>
              </a:rPr>
              <a:t>Firms set price strategically</a:t>
            </a:r>
          </a:p>
        </p:txBody>
      </p:sp>
      <p:sp>
        <p:nvSpPr>
          <p:cNvPr id="11" name="TextBox 10"/>
          <p:cNvSpPr txBox="1"/>
          <p:nvPr/>
        </p:nvSpPr>
        <p:spPr>
          <a:xfrm>
            <a:off x="434879" y="3566160"/>
            <a:ext cx="11155680" cy="2377440"/>
          </a:xfrm>
          <a:prstGeom prst="rect">
            <a:avLst/>
          </a:prstGeom>
          <a:noFill/>
        </p:spPr>
        <p:txBody>
          <a:bodyPr wrap="square" lIns="0" rIns="0" tIns="0" bIns="0">
            <a:spAutoFit/>
          </a:bodyPr>
          <a:lstStyle>
            <a:lvl1pPr marL="342900" indent="-342900">
              <a:spcBef>
                <a:spcPts val="14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There isn't a “correct” and an “incorrect” model, they just make different assumptions</a:t>
            </a:r>
          </a:p>
          <a:p>
            <a:pPr algn="l" lvl="1"/>
            <a:r>
              <a:rPr>
                <a:latin typeface="Calibri"/>
              </a:rPr>
              <a:t>Often Bertrand (price) competition in the short run</a:t>
            </a:r>
          </a:p>
          <a:p>
            <a:pPr algn="l" lvl="1"/>
            <a:r>
              <a:rPr>
                <a:latin typeface="Calibri"/>
              </a:rPr>
              <a:t>Cournot (quantity) competition in the long run (e.g., by setting up production capacities)</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5" name="TextBox 14"/>
          <p:cNvSpPr txBox="1"/>
          <p:nvPr/>
        </p:nvSpPr>
        <p:spPr>
          <a:xfrm>
            <a:off x="11475720" y="6583680"/>
            <a:ext cx="502920" cy="292608"/>
          </a:xfrm>
          <a:prstGeom prst="rect">
            <a:avLst/>
          </a:prstGeom>
          <a:noFill/>
        </p:spPr>
        <p:txBody>
          <a:bodyPr wrap="none" lIns="0" rIns="0" tIns="0" bIns="0">
            <a:spAutoFit/>
          </a:bodyPr>
          <a:lstStyle/>
          <a:p>
            <a:pPr algn="r"/>
            <a:fld id="{13E27167-12E7-5B98-9571-2FFD3E6BA233}" type="slidenum">
              <a:rPr lang="en-US" sz="1200" dirty="0">
                <a:solidFill>
                  <a:srgbClr val="555B66"/>
                </a:solidFill>
                <a:latin typeface="Calibri"/>
              </a:rPr>
              <a:t>37</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Differentiated Goods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Outline of Module 7</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151333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1</a:t>
            </a:r>
          </a:p>
        </p:txBody>
      </p:sp>
      <p:sp>
        <p:nvSpPr>
          <p:cNvPr id="8" name="TextBox 7"/>
          <p:cNvSpPr txBox="1"/>
          <p:nvPr/>
        </p:nvSpPr>
        <p:spPr>
          <a:xfrm>
            <a:off x="1874519" y="1495044"/>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Collusion and Cartels</a:t>
            </a:r>
          </a:p>
        </p:txBody>
      </p:sp>
      <p:sp>
        <p:nvSpPr>
          <p:cNvPr id="9" name="Oval 8"/>
          <p:cNvSpPr/>
          <p:nvPr/>
        </p:nvSpPr>
        <p:spPr>
          <a:xfrm>
            <a:off x="1051560" y="234543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2</a:t>
            </a:r>
          </a:p>
        </p:txBody>
      </p:sp>
      <p:sp>
        <p:nvSpPr>
          <p:cNvPr id="10" name="TextBox 9"/>
          <p:cNvSpPr txBox="1"/>
          <p:nvPr/>
        </p:nvSpPr>
        <p:spPr>
          <a:xfrm>
            <a:off x="1874519" y="2327148"/>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Cournot Competition</a:t>
            </a:r>
          </a:p>
        </p:txBody>
      </p:sp>
      <p:sp>
        <p:nvSpPr>
          <p:cNvPr id="11" name="Oval 10"/>
          <p:cNvSpPr/>
          <p:nvPr/>
        </p:nvSpPr>
        <p:spPr>
          <a:xfrm>
            <a:off x="1051560" y="317754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3</a:t>
            </a:r>
          </a:p>
        </p:txBody>
      </p:sp>
      <p:sp>
        <p:nvSpPr>
          <p:cNvPr id="12" name="TextBox 11"/>
          <p:cNvSpPr txBox="1"/>
          <p:nvPr/>
        </p:nvSpPr>
        <p:spPr>
          <a:xfrm>
            <a:off x="1874519" y="3159252"/>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Bertrand Competition</a:t>
            </a:r>
          </a:p>
        </p:txBody>
      </p:sp>
      <p:sp>
        <p:nvSpPr>
          <p:cNvPr id="13" name="Rounded Rectangle 12"/>
          <p:cNvSpPr/>
          <p:nvPr/>
        </p:nvSpPr>
        <p:spPr>
          <a:xfrm>
            <a:off x="822960" y="3936492"/>
            <a:ext cx="11109960" cy="822960"/>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51560" y="400964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4</a:t>
            </a:r>
          </a:p>
        </p:txBody>
      </p:sp>
      <p:sp>
        <p:nvSpPr>
          <p:cNvPr id="15" name="TextBox 14"/>
          <p:cNvSpPr txBox="1"/>
          <p:nvPr/>
        </p:nvSpPr>
        <p:spPr>
          <a:xfrm>
            <a:off x="1874519" y="3991356"/>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Oligopoly with Differentiated Goods</a:t>
            </a:r>
          </a:p>
          <a:p>
            <a:pPr algn="l">
              <a:spcBef>
                <a:spcPts val="0"/>
              </a:spcBef>
              <a:buNone/>
            </a:pPr>
            <a:r>
              <a:rPr sz="2200">
                <a:solidFill>
                  <a:srgbClr val="555B66"/>
                </a:solidFill>
                <a:latin typeface="Calibri"/>
              </a:rPr>
              <a:t>How differentiation softens price competition</a:t>
            </a:r>
          </a:p>
        </p:txBody>
      </p:sp>
      <p:sp>
        <p:nvSpPr>
          <p:cNvPr id="16" name="Oval 15"/>
          <p:cNvSpPr/>
          <p:nvPr/>
        </p:nvSpPr>
        <p:spPr>
          <a:xfrm>
            <a:off x="1051560" y="484174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5</a:t>
            </a:r>
          </a:p>
        </p:txBody>
      </p:sp>
      <p:sp>
        <p:nvSpPr>
          <p:cNvPr id="17" name="TextBox 16"/>
          <p:cNvSpPr txBox="1"/>
          <p:nvPr/>
        </p:nvSpPr>
        <p:spPr>
          <a:xfrm>
            <a:off x="1874519" y="4823460"/>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Strategic Thinking: Key Concepts</a:t>
            </a:r>
          </a:p>
        </p:txBody>
      </p:sp>
      <p:sp>
        <p:nvSpPr>
          <p:cNvPr id="18" name="Oval 17"/>
          <p:cNvSpPr/>
          <p:nvPr/>
        </p:nvSpPr>
        <p:spPr>
          <a:xfrm>
            <a:off x="1051560" y="567385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6</a:t>
            </a:r>
          </a:p>
        </p:txBody>
      </p:sp>
      <p:sp>
        <p:nvSpPr>
          <p:cNvPr id="19" name="TextBox 18"/>
          <p:cNvSpPr txBox="1"/>
          <p:nvPr/>
        </p:nvSpPr>
        <p:spPr>
          <a:xfrm>
            <a:off x="1874519" y="5655564"/>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Prisoner’s Dilemma, Game of Chicken…</a:t>
            </a:r>
          </a:p>
        </p:txBody>
      </p:sp>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23" name="TextBox 22"/>
          <p:cNvSpPr txBox="1"/>
          <p:nvPr/>
        </p:nvSpPr>
        <p:spPr>
          <a:xfrm>
            <a:off x="11475720" y="6583680"/>
            <a:ext cx="502920" cy="292608"/>
          </a:xfrm>
          <a:prstGeom prst="rect">
            <a:avLst/>
          </a:prstGeom>
          <a:noFill/>
        </p:spPr>
        <p:txBody>
          <a:bodyPr wrap="none" lIns="0" rIns="0" tIns="0" bIns="0">
            <a:spAutoFit/>
          </a:bodyPr>
          <a:lstStyle/>
          <a:p>
            <a:pPr algn="r"/>
            <a:fld id="{4D4FB6AD-DCAF-58D5-B9CC-24BEF5C8C788}" type="slidenum">
              <a:rPr lang="en-US" sz="1200" dirty="0">
                <a:solidFill>
                  <a:srgbClr val="555B66"/>
                </a:solidFill>
                <a:latin typeface="Calibri"/>
              </a:rPr>
              <a:t>38</a:t>
            </a:fld>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Differentiated Goods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Bertrand Competition with Differentiated Products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3282696"/>
          </a:xfrm>
          <a:prstGeom prst="rect">
            <a:avLst/>
          </a:prstGeom>
          <a:noFill/>
        </p:spPr>
        <p:txBody>
          <a:bodyPr wrap="square" lIns="0" rIns="0" tIns="0" bIns="0">
            <a:spAutoFit/>
          </a:bodyPr>
          <a:lstStyle>
            <a:lvl1pPr marL="342900" indent="-342900">
              <a:spcBef>
                <a:spcPts val="14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So far: We assumed that all firms produce </a:t>
            </a:r>
            <a:r>
              <a:rPr u="sng">
                <a:latin typeface="Calibri"/>
              </a:rPr>
              <a:t>identical products</a:t>
            </a:r>
          </a:p>
          <a:p>
            <a:pPr algn="l"/>
            <a:r>
              <a:rPr>
                <a:latin typeface="Calibri"/>
              </a:rPr>
              <a:t>More common situation: </a:t>
            </a:r>
            <a:r>
              <a:rPr u="sng">
                <a:latin typeface="Calibri"/>
              </a:rPr>
              <a:t>Differentiated</a:t>
            </a:r>
            <a:r>
              <a:rPr>
                <a:latin typeface="Calibri"/>
              </a:rPr>
              <a:t> products</a:t>
            </a:r>
          </a:p>
          <a:p>
            <a:pPr algn="l" lvl="1"/>
            <a:r>
              <a:rPr>
                <a:latin typeface="Calibri"/>
              </a:rPr>
              <a:t>Pepsi and Coke</a:t>
            </a:r>
          </a:p>
          <a:p>
            <a:pPr algn="l" lvl="1"/>
            <a:r>
              <a:rPr>
                <a:latin typeface="Calibri"/>
              </a:rPr>
              <a:t>Airbus A320 vs. Boeing 737 (medium-range)</a:t>
            </a:r>
          </a:p>
          <a:p>
            <a:pPr algn="l" lvl="1"/>
            <a:r>
              <a:rPr>
                <a:latin typeface="Calibri"/>
              </a:rPr>
              <a:t>Airbus A350 vs. Boeing 787 (long-range)</a:t>
            </a:r>
          </a:p>
          <a:p>
            <a:pPr algn="l"/>
            <a:r>
              <a:rPr>
                <a:latin typeface="Calibri"/>
              </a:rPr>
              <a:t>Setting now:</a:t>
            </a:r>
          </a:p>
          <a:p>
            <a:pPr algn="l" lvl="1"/>
            <a:r>
              <a:rPr>
                <a:latin typeface="Calibri"/>
              </a:rPr>
              <a:t>2 firms producing </a:t>
            </a:r>
            <a:r>
              <a:rPr u="sng">
                <a:latin typeface="Calibri"/>
              </a:rPr>
              <a:t>differentiated</a:t>
            </a:r>
            <a:r>
              <a:rPr>
                <a:latin typeface="Calibri"/>
              </a:rPr>
              <a:t> products</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8242E1E5-89AE-558D-9248-EBAECAC371A0}" type="slidenum">
              <a:rPr lang="en-US" sz="1200" dirty="0">
                <a:solidFill>
                  <a:srgbClr val="555B66"/>
                </a:solidFill>
                <a:latin typeface="Calibri"/>
              </a:rPr>
              <a:t>39</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fade">
                                      <p:cBhvr>
                                        <p:cTn id="13" dur="500"/>
                                        <p:tgtEl>
                                          <p:spTgt spid="7">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xEl>
                                              <p:pRg st="4" end="4"/>
                                            </p:txEl>
                                          </p:spTgt>
                                        </p:tgtEl>
                                        <p:attrNameLst>
                                          <p:attrName>style.visibility</p:attrName>
                                        </p:attrNameLst>
                                      </p:cBhvr>
                                      <p:to>
                                        <p:strVal val="visible"/>
                                      </p:to>
                                    </p:set>
                                    <p:animEffect transition="in" filter="fade">
                                      <p:cBhvr>
                                        <p:cTn id="16" dur="500"/>
                                        <p:tgtEl>
                                          <p:spTgt spid="7">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animEffect transition="in" filter="fade">
                                      <p:cBhvr>
                                        <p:cTn id="21" dur="500"/>
                                        <p:tgtEl>
                                          <p:spTgt spid="7">
                                            <p:txEl>
                                              <p:pRg st="5" end="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xEl>
                                              <p:pRg st="6" end="6"/>
                                            </p:txEl>
                                          </p:spTgt>
                                        </p:tgtEl>
                                        <p:attrNameLst>
                                          <p:attrName>style.visibility</p:attrName>
                                        </p:attrNameLst>
                                      </p:cBhvr>
                                      <p:to>
                                        <p:strVal val="visible"/>
                                      </p:to>
                                    </p:set>
                                    <p:animEffect transition="in" filter="fade">
                                      <p:cBhvr>
                                        <p:cTn id="24"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Differentiated Goods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a:solidFill>
                  <a:srgbClr val="0B2B4E"/>
                </a:solidFill>
                <a:latin typeface="Calibri"/>
              </a:rPr>
              <a:t>Bertrand Competition (with </a:t>
            </a:r>
            <a:r>
              <a:rPr sz="3200" b="1">
                <a:solidFill>
                  <a:srgbClr val="C00000"/>
                </a:solidFill>
                <a:latin typeface="Calibri"/>
              </a:rPr>
              <a:t>Differentiated</a:t>
            </a:r>
            <a:r>
              <a:rPr sz="3200" b="1">
                <a:solidFill>
                  <a:srgbClr val="0B2B4E"/>
                </a:solidFill>
                <a:latin typeface="Calibri"/>
              </a:rPr>
              <a:t> Goods)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249527" y="2468880"/>
            <a:ext cx="9692640" cy="237744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32407" y="2578608"/>
            <a:ext cx="9326880" cy="2157984"/>
          </a:xfrm>
          <a:prstGeom prst="rect">
            <a:avLst/>
          </a:prstGeom>
          <a:noFill/>
        </p:spPr>
        <p:txBody>
          <a:bodyPr wrap="square" lIns="45720" rIns="45720" tIns="0" bIns="0" anchor="ctr">
            <a:spAutoFit/>
          </a:bodyPr>
          <a:lstStyle/>
          <a:p>
            <a:pPr algn="l">
              <a:lnSpc>
                <a:spcPct val="135000"/>
              </a:lnSpc>
            </a:pPr>
            <a:r>
              <a:rPr sz="2600" b="1" i="0" u="none">
                <a:solidFill>
                  <a:srgbClr val="0B2B4E"/>
                </a:solidFill>
                <a:latin typeface="Calibri"/>
              </a:rPr>
              <a:t>Assumptions:</a:t>
            </a:r>
          </a:p>
          <a:p>
            <a:pPr algn="l">
              <a:lnSpc>
                <a:spcPct val="135000"/>
              </a:lnSpc>
            </a:pPr>
            <a:r>
              <a:rPr sz="2400" b="0" i="0" u="none">
                <a:solidFill>
                  <a:srgbClr val="0B2B4E"/>
                </a:solidFill>
                <a:latin typeface="Calibri"/>
              </a:rPr>
              <a:t>▪  Firms do not sell identical products. They sell </a:t>
            </a:r>
            <a:r>
              <a:rPr sz="2400" b="0" i="0" u="none">
                <a:solidFill>
                  <a:srgbClr val="C00000"/>
                </a:solidFill>
                <a:latin typeface="Calibri"/>
              </a:rPr>
              <a:t>differentiated</a:t>
            </a:r>
            <a:r>
              <a:rPr sz="2400" b="0" i="0" u="none">
                <a:solidFill>
                  <a:srgbClr val="0B2B4E"/>
                </a:solidFill>
                <a:latin typeface="Calibri"/>
              </a:rPr>
              <a:t> products</a:t>
            </a:r>
          </a:p>
          <a:p>
            <a:pPr algn="l">
              <a:lnSpc>
                <a:spcPct val="135000"/>
              </a:lnSpc>
            </a:pPr>
            <a:r>
              <a:rPr sz="2400" b="0" i="0" u="none">
                <a:solidFill>
                  <a:srgbClr val="0B2B4E"/>
                </a:solidFill>
                <a:latin typeface="Calibri"/>
              </a:rPr>
              <a:t>▪  Each firm faces its own demand function!</a:t>
            </a:r>
          </a:p>
          <a:p>
            <a:pPr algn="l">
              <a:lnSpc>
                <a:spcPct val="135000"/>
              </a:lnSpc>
            </a:pPr>
            <a:r>
              <a:rPr sz="2400" b="0" i="0" u="none">
                <a:solidFill>
                  <a:srgbClr val="0B2B4E"/>
                </a:solidFill>
                <a:latin typeface="Calibri"/>
              </a:rPr>
              <a:t>▪  Each firm </a:t>
            </a:r>
            <a:r>
              <a:rPr sz="2400" b="0" i="0" u="sng">
                <a:solidFill>
                  <a:srgbClr val="0B2B4E"/>
                </a:solidFill>
                <a:latin typeface="Calibri"/>
              </a:rPr>
              <a:t>simultaneously</a:t>
            </a:r>
            <a:r>
              <a:rPr sz="2400" b="0" i="0" u="none">
                <a:solidFill>
                  <a:srgbClr val="0B2B4E"/>
                </a:solidFill>
                <a:latin typeface="Calibri"/>
              </a:rPr>
              <a:t> chooses the price at which it sells its product</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2" name="TextBox 11"/>
          <p:cNvSpPr txBox="1"/>
          <p:nvPr/>
        </p:nvSpPr>
        <p:spPr>
          <a:xfrm>
            <a:off x="11475720" y="6583680"/>
            <a:ext cx="502920" cy="292608"/>
          </a:xfrm>
          <a:prstGeom prst="rect">
            <a:avLst/>
          </a:prstGeom>
          <a:noFill/>
        </p:spPr>
        <p:txBody>
          <a:bodyPr wrap="none" lIns="0" rIns="0" tIns="0" bIns="0">
            <a:spAutoFit/>
          </a:bodyPr>
          <a:lstStyle/>
          <a:p>
            <a:pPr algn="r"/>
            <a:fld id="{E59025D1-26D8-5C45-B3FF-D00A983CF645}" type="slidenum">
              <a:rPr lang="en-US" sz="1200" dirty="0">
                <a:solidFill>
                  <a:srgbClr val="555B66"/>
                </a:solidFill>
                <a:latin typeface="Calibri"/>
              </a:rPr>
              <a:t>40</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Differentiated Goods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Oligopoly with Differentiated Goods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554480"/>
            <a:ext cx="7589520" cy="1371600"/>
          </a:xfrm>
          <a:prstGeom prst="rect">
            <a:avLst/>
          </a:prstGeom>
          <a:noFill/>
        </p:spPr>
        <p:txBody>
          <a:bodyPr wrap="square" lIns="0" rIns="0" tIns="0" bIns="0">
            <a:spAutoFit/>
          </a:bodyPr>
          <a:lstStyle>
            <a:lvl1pPr marL="342900" indent="-342900">
              <a:spcBef>
                <a:spcPts val="8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Oligopoly on long-range aircraft:</a:t>
            </a:r>
          </a:p>
          <a:p>
            <a:pPr algn="l" lvl="1"/>
            <a:r>
              <a:rPr>
                <a:latin typeface="Calibri"/>
              </a:rPr>
              <a:t>Airbus A350 </a:t>
            </a:r>
            <a:r>
              <a:rPr b="1">
                <a:solidFill>
                  <a:srgbClr val="C00000"/>
                </a:solidFill>
                <a:latin typeface="Calibri"/>
              </a:rPr>
              <a:t>(Firm A)</a:t>
            </a:r>
          </a:p>
          <a:p>
            <a:pPr algn="l" lvl="1"/>
            <a:r>
              <a:rPr>
                <a:latin typeface="Calibri"/>
              </a:rPr>
              <a:t>Boeing 787 </a:t>
            </a:r>
            <a:r>
              <a:rPr b="1">
                <a:solidFill>
                  <a:srgbClr val="1B5E20"/>
                </a:solidFill>
                <a:latin typeface="Calibri"/>
              </a:rPr>
              <a:t>(Firm B)</a:t>
            </a:r>
          </a:p>
        </p:txBody>
      </p:sp>
      <p:pic>
        <p:nvPicPr>
          <p:cNvPr id="8" name="Picture 7" descr="image35.png"/>
          <p:cNvPicPr>
            <a:picLocks noChangeAspect="1"/>
          </p:cNvPicPr>
          <p:nvPr/>
        </p:nvPicPr>
        <p:blipFill>
          <a:blip r:embed="rId2"/>
          <a:stretch>
            <a:fillRect/>
          </a:stretch>
        </p:blipFill>
        <p:spPr>
          <a:xfrm>
            <a:off x="7927848" y="1339596"/>
            <a:ext cx="3730752" cy="1438191"/>
          </a:xfrm>
          <a:prstGeom prst="roundRect">
            <a:avLst>
              <a:gd name="adj" fmla="val 8000"/>
            </a:avLst>
          </a:prstGeom>
          <a:effectLst>
            <a:outerShdw blurRad="50800" dist="38100" dir="2700000" algn="tl" rotWithShape="0">
              <a:srgbClr val="000000">
                <a:alpha val="50000"/>
              </a:srgbClr>
            </a:outerShdw>
          </a:effectLst>
        </p:spPr>
      </p:pic>
      <p:pic>
        <p:nvPicPr>
          <p:cNvPr id="9" name="Picture 8" descr="image36.png"/>
          <p:cNvPicPr>
            <a:picLocks noChangeAspect="1"/>
          </p:cNvPicPr>
          <p:nvPr/>
        </p:nvPicPr>
        <p:blipFill>
          <a:blip r:embed="rId3"/>
          <a:stretch>
            <a:fillRect/>
          </a:stretch>
        </p:blipFill>
        <p:spPr>
          <a:xfrm>
            <a:off x="7048195" y="3063240"/>
            <a:ext cx="4610404" cy="1312246"/>
          </a:xfrm>
          <a:prstGeom prst="roundRect">
            <a:avLst>
              <a:gd name="adj" fmla="val 8000"/>
            </a:avLst>
          </a:prstGeom>
          <a:effectLst>
            <a:outerShdw blurRad="50800" dist="38100" dir="2700000" algn="tl" rotWithShape="0">
              <a:srgbClr val="000000">
                <a:alpha val="50000"/>
              </a:srgbClr>
            </a:outerShdw>
          </a:effectLst>
        </p:spPr>
      </p:pic>
      <p:sp>
        <p:nvSpPr>
          <p:cNvPr id="10" name="TextBox 9"/>
          <p:cNvSpPr txBox="1"/>
          <p:nvPr/>
        </p:nvSpPr>
        <p:spPr>
          <a:xfrm>
            <a:off x="251999" y="3246120"/>
            <a:ext cx="4572000" cy="411480"/>
          </a:xfrm>
          <a:prstGeom prst="rect">
            <a:avLst/>
          </a:prstGeom>
          <a:noFill/>
        </p:spPr>
        <p:txBody>
          <a:bodyPr wrap="square" lIns="0" rIns="0" tIns="0" bIns="0">
            <a:spAutoFit/>
          </a:bodyPr>
          <a:lstStyle/>
          <a:p>
            <a:pPr algn="l"/>
            <a:r>
              <a:rPr sz="2600" b="0" i="0" u="none">
                <a:solidFill>
                  <a:srgbClr val="0B2B4E"/>
                </a:solidFill>
                <a:latin typeface="Calibri"/>
              </a:rPr>
              <a:t>Interdependent demand:</a:t>
            </a:r>
          </a:p>
        </p:txBody>
      </p:sp>
      <p:sp>
        <p:nvSpPr>
          <p:cNvPr id="11" name="TextBox 10"/>
          <p:cNvSpPr txBox="1"/>
          <p:nvPr/>
        </p:nvSpPr>
        <p:spPr>
          <a:xfrm>
            <a:off x="1554480" y="3703320"/>
            <a:ext cx="4023360" cy="457200"/>
          </a:xfrm>
          <a:prstGeom prst="rect">
            <a:avLst/>
          </a:prstGeom>
          <a:noFill/>
        </p:spPr>
        <p:txBody>
          <a:bodyPr wrap="square" anchor="ctr">
            <a:spAutoFit/>
          </a:bodyPr>
          <a:lstStyle/>
          <a:p xmlns:m="http://schemas.openxmlformats.org/officeDocument/2006/math" xmlns:a14="http://schemas.microsoft.com/office/drawing/2010/main">
            <a:pPr algn="ctr">
              <a:defRPr sz="2400" b="0" i="1">
                <a:solidFill>
                  <a:srgbClr val="0B2B4E"/>
                </a:solidFill>
                <a:latin typeface="Cambria Math"/>
              </a:defRPr>
            </a:pPr>
            <a14:m>
              <m:oMathPara>
                <m:oMathParaPr>
                  <m:jc m:val="centerGroup"/>
                </m:oMathParaPr>
                <m:oMath>
                  <m:sSub>
                    <m:sSubPr>
                      <m:ctrlPr>
                        <a:rPr lang="en-US" i="1">
                          <a:latin typeface="Cambria Math"/>
                        </a:rPr>
                      </m:ctrlPr>
                    </m:sSubPr>
                    <m:e>
                      <m:r>
                        <a:rPr lang="en-US" b="0" i="1" sz="2400">
                          <a:solidFill>
                            <a:srgbClr val="C00000"/>
                          </a:solidFill>
                          <a:latin typeface="Cambria Math"/>
                          <a:ea typeface="Cambria Math"/>
                        </a:rPr>
                        <m:t>Q</m:t>
                      </m:r>
                    </m:e>
                    <m:sub>
                      <m:r>
                        <m:rPr>
                          <m:sty m:val="p"/>
                        </m:rPr>
                        <a:rPr lang="en-US" b="0" i="0" sz="2400">
                          <a:solidFill>
                            <a:srgbClr val="C00000"/>
                          </a:solidFill>
                          <a:latin typeface="Cambria Math"/>
                        </a:rPr>
                        <m:t xml:space="preserve">A</m:t>
                      </m:r>
                    </m:sub>
                  </m:sSub>
                  <m:r>
                    <m:rPr>
                      <m:sty m:val="p"/>
                    </m:rPr>
                    <a:rPr lang="en-US" b="0" i="0" sz="2400">
                      <a:solidFill>
                        <a:srgbClr val="0B2B4E"/>
                      </a:solidFill>
                      <a:latin typeface="Cambria Math"/>
                    </a:rPr>
                    <m:t xml:space="preserve"> = 400 − 2</m:t>
                  </m:r>
                  <m:sSub>
                    <m:sSubPr>
                      <m:ctrlPr>
                        <a:rPr lang="en-US" i="1">
                          <a:latin typeface="Cambria Math"/>
                        </a:rPr>
                      </m:ctrlPr>
                    </m:sSubPr>
                    <m:e>
                      <m:r>
                        <a:rPr lang="en-US" b="0" i="1" sz="2400">
                          <a:solidFill>
                            <a:srgbClr val="C00000"/>
                          </a:solidFill>
                          <a:latin typeface="Cambria Math"/>
                          <a:ea typeface="Cambria Math"/>
                        </a:rPr>
                        <m:t>P</m:t>
                      </m:r>
                    </m:e>
                    <m:sub>
                      <m:r>
                        <m:rPr>
                          <m:sty m:val="p"/>
                        </m:rPr>
                        <a:rPr lang="en-US" b="0" i="0" sz="2400">
                          <a:solidFill>
                            <a:srgbClr val="C00000"/>
                          </a:solidFill>
                          <a:latin typeface="Cambria Math"/>
                        </a:rPr>
                        <m:t xml:space="preserve">A</m:t>
                      </m:r>
                    </m:sub>
                  </m:sSub>
                  <m:r>
                    <m:rPr>
                      <m:sty m:val="p"/>
                    </m:rPr>
                    <a:rPr lang="en-US" b="0" i="0" sz="2400">
                      <a:solidFill>
                        <a:srgbClr val="0B2B4E"/>
                      </a:solidFill>
                      <a:latin typeface="Cambria Math"/>
                    </a:rPr>
                    <m:t xml:space="preserve"> + </m:t>
                  </m:r>
                  <m:sSub>
                    <m:sSubPr>
                      <m:ctrlPr>
                        <a:rPr lang="en-US" i="1">
                          <a:latin typeface="Cambria Math"/>
                        </a:rPr>
                      </m:ctrlPr>
                    </m:sSubPr>
                    <m:e>
                      <m:r>
                        <a:rPr lang="en-US" b="0" i="1" sz="2400">
                          <a:solidFill>
                            <a:srgbClr val="4D5D2C"/>
                          </a:solidFill>
                          <a:latin typeface="Cambria Math"/>
                          <a:ea typeface="Cambria Math"/>
                        </a:rPr>
                        <m:t>P</m:t>
                      </m:r>
                    </m:e>
                    <m:sub>
                      <m:r>
                        <m:rPr>
                          <m:sty m:val="p"/>
                        </m:rPr>
                        <a:rPr lang="en-US" b="0" i="0" sz="2400">
                          <a:solidFill>
                            <a:srgbClr val="4D5D2C"/>
                          </a:solidFill>
                          <a:latin typeface="Cambria Math"/>
                        </a:rPr>
                        <m:t xml:space="preserve">B</m:t>
                      </m:r>
                    </m:sub>
                  </m:sSub>
                </m:oMath>
              </m:oMathPara>
            </a14:m>
            <a:endParaRPr lang="en-US" sz="2400"/>
          </a:p>
        </p:txBody>
      </p:sp>
      <p:sp>
        <p:nvSpPr>
          <p:cNvPr id="12" name="TextBox 11"/>
          <p:cNvSpPr txBox="1"/>
          <p:nvPr/>
        </p:nvSpPr>
        <p:spPr>
          <a:xfrm>
            <a:off x="1554480" y="4206240"/>
            <a:ext cx="4023360" cy="457200"/>
          </a:xfrm>
          <a:prstGeom prst="rect">
            <a:avLst/>
          </a:prstGeom>
          <a:noFill/>
        </p:spPr>
        <p:txBody>
          <a:bodyPr wrap="square" anchor="ctr">
            <a:spAutoFit/>
          </a:bodyPr>
          <a:lstStyle/>
          <a:p xmlns:m="http://schemas.openxmlformats.org/officeDocument/2006/math" xmlns:a14="http://schemas.microsoft.com/office/drawing/2010/main">
            <a:pPr algn="ctr">
              <a:defRPr sz="2400" b="0" i="1">
                <a:solidFill>
                  <a:srgbClr val="0B2B4E"/>
                </a:solidFill>
                <a:latin typeface="Cambria Math"/>
              </a:defRPr>
            </a:pPr>
            <a14:m>
              <m:oMathPara>
                <m:oMathParaPr>
                  <m:jc m:val="centerGroup"/>
                </m:oMathParaPr>
                <m:oMath>
                  <m:sSub>
                    <m:sSubPr>
                      <m:ctrlPr>
                        <a:rPr lang="en-US" i="1">
                          <a:latin typeface="Cambria Math"/>
                        </a:rPr>
                      </m:ctrlPr>
                    </m:sSubPr>
                    <m:e>
                      <m:r>
                        <a:rPr lang="en-US" b="0" i="1" sz="2400">
                          <a:solidFill>
                            <a:srgbClr val="4D5D2C"/>
                          </a:solidFill>
                          <a:latin typeface="Cambria Math"/>
                          <a:ea typeface="Cambria Math"/>
                        </a:rPr>
                        <m:t>Q</m:t>
                      </m:r>
                    </m:e>
                    <m:sub>
                      <m:r>
                        <m:rPr>
                          <m:sty m:val="p"/>
                        </m:rPr>
                        <a:rPr lang="en-US" b="0" i="0" sz="2400">
                          <a:solidFill>
                            <a:srgbClr val="4D5D2C"/>
                          </a:solidFill>
                          <a:latin typeface="Cambria Math"/>
                        </a:rPr>
                        <m:t xml:space="preserve">B</m:t>
                      </m:r>
                    </m:sub>
                  </m:sSub>
                  <m:r>
                    <m:rPr>
                      <m:sty m:val="p"/>
                    </m:rPr>
                    <a:rPr lang="en-US" b="0" i="0" sz="2400">
                      <a:solidFill>
                        <a:srgbClr val="0B2B4E"/>
                      </a:solidFill>
                      <a:latin typeface="Cambria Math"/>
                    </a:rPr>
                    <m:t xml:space="preserve"> = 400 − 2</m:t>
                  </m:r>
                  <m:sSub>
                    <m:sSubPr>
                      <m:ctrlPr>
                        <a:rPr lang="en-US" i="1">
                          <a:latin typeface="Cambria Math"/>
                        </a:rPr>
                      </m:ctrlPr>
                    </m:sSubPr>
                    <m:e>
                      <m:r>
                        <a:rPr lang="en-US" b="0" i="1" sz="2400">
                          <a:solidFill>
                            <a:srgbClr val="4D5D2C"/>
                          </a:solidFill>
                          <a:latin typeface="Cambria Math"/>
                          <a:ea typeface="Cambria Math"/>
                        </a:rPr>
                        <m:t>P</m:t>
                      </m:r>
                    </m:e>
                    <m:sub>
                      <m:r>
                        <m:rPr>
                          <m:sty m:val="p"/>
                        </m:rPr>
                        <a:rPr lang="en-US" b="0" i="0" sz="2400">
                          <a:solidFill>
                            <a:srgbClr val="4D5D2C"/>
                          </a:solidFill>
                          <a:latin typeface="Cambria Math"/>
                        </a:rPr>
                        <m:t xml:space="preserve">B</m:t>
                      </m:r>
                    </m:sub>
                  </m:sSub>
                  <m:r>
                    <m:rPr>
                      <m:sty m:val="p"/>
                    </m:rPr>
                    <a:rPr lang="en-US" b="0" i="0" sz="2400">
                      <a:solidFill>
                        <a:srgbClr val="0B2B4E"/>
                      </a:solidFill>
                      <a:latin typeface="Cambria Math"/>
                    </a:rPr>
                    <m:t xml:space="preserve"> + </m:t>
                  </m:r>
                  <m:sSub>
                    <m:sSubPr>
                      <m:ctrlPr>
                        <a:rPr lang="en-US" i="1">
                          <a:latin typeface="Cambria Math"/>
                        </a:rPr>
                      </m:ctrlPr>
                    </m:sSubPr>
                    <m:e>
                      <m:r>
                        <a:rPr lang="en-US" b="0" i="1" sz="2400">
                          <a:solidFill>
                            <a:srgbClr val="C00000"/>
                          </a:solidFill>
                          <a:latin typeface="Cambria Math"/>
                          <a:ea typeface="Cambria Math"/>
                        </a:rPr>
                        <m:t>P</m:t>
                      </m:r>
                    </m:e>
                    <m:sub>
                      <m:r>
                        <m:rPr>
                          <m:sty m:val="p"/>
                        </m:rPr>
                        <a:rPr lang="en-US" b="0" i="0" sz="2400">
                          <a:solidFill>
                            <a:srgbClr val="C00000"/>
                          </a:solidFill>
                          <a:latin typeface="Cambria Math"/>
                        </a:rPr>
                        <m:t xml:space="preserve">A</m:t>
                      </m:r>
                    </m:sub>
                  </m:sSub>
                </m:oMath>
              </m:oMathPara>
            </a14:m>
            <a:endParaRPr lang="en-US" sz="2400"/>
          </a:p>
        </p:txBody>
      </p:sp>
      <p:sp>
        <p:nvSpPr>
          <p:cNvPr id="13" name="Oval 12"/>
          <p:cNvSpPr/>
          <p:nvPr/>
        </p:nvSpPr>
        <p:spPr>
          <a:xfrm>
            <a:off x="4373575" y="4169663"/>
            <a:ext cx="957376" cy="566928"/>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20740" y="4087368"/>
            <a:ext cx="1554480" cy="320040"/>
          </a:xfrm>
          <a:prstGeom prst="rect">
            <a:avLst/>
          </a:prstGeom>
          <a:noFill/>
        </p:spPr>
        <p:txBody>
          <a:bodyPr wrap="square" lIns="0" rIns="0" tIns="0" bIns="0">
            <a:spAutoFit/>
          </a:bodyPr>
          <a:lstStyle/>
          <a:p>
            <a:pPr algn="l"/>
            <a:r>
              <a:rPr sz="1600" b="1" i="1" u="none">
                <a:solidFill>
                  <a:srgbClr val="E09F3E"/>
                </a:solidFill>
                <a:latin typeface="Calibri"/>
              </a:rPr>
              <a:t>substitutes</a:t>
            </a:r>
          </a:p>
        </p:txBody>
      </p:sp>
      <p:cxnSp>
        <p:nvCxnSpPr>
          <p:cNvPr id="15" name="Connector 14"/>
          <p:cNvCxnSpPr/>
          <p:nvPr/>
        </p:nvCxnSpPr>
        <p:spPr>
          <a:xfrm flipH="1">
            <a:off x="5294376" y="4261104"/>
            <a:ext cx="566928" cy="114300"/>
          </a:xfrm>
          <a:prstGeom prst="line">
            <a:avLst/>
          </a:prstGeom>
          <a:ln w="38100">
            <a:solidFill>
              <a:srgbClr val="E09F3E"/>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327648" y="4754880"/>
            <a:ext cx="3904487" cy="68580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0528" y="4864608"/>
            <a:ext cx="3538727" cy="466344"/>
          </a:xfrm>
          <a:prstGeom prst="rect">
            <a:avLst/>
          </a:prstGeom>
          <a:noFill/>
        </p:spPr>
        <p:txBody>
          <a:bodyPr wrap="square" lIns="45720" rIns="45720" tIns="0" bIns="0" anchor="ctr">
            <a:spAutoFit/>
          </a:bodyPr>
          <a:lstStyle/>
          <a:p>
            <a:pPr algn="l"/>
            <a:r>
              <a:rPr sz="1800" b="1" i="0" u="none">
                <a:solidFill>
                  <a:srgbClr val="0B2B4E"/>
                </a:solidFill>
                <a:latin typeface="Calibri"/>
              </a:rPr>
              <a:t>Note:  </a:t>
            </a:r>
            <a:r>
              <a:rPr sz="1800" b="0" i="0" u="none">
                <a:solidFill>
                  <a:srgbClr val="0B2B4E"/>
                </a:solidFill>
                <a:latin typeface="Calibri"/>
              </a:rPr>
              <a:t>Now we have 2 demand functions! (Differentiated products)</a:t>
            </a:r>
          </a:p>
        </p:txBody>
      </p:sp>
      <p:sp>
        <p:nvSpPr>
          <p:cNvPr id="18" name="TextBox 17"/>
          <p:cNvSpPr txBox="1"/>
          <p:nvPr/>
        </p:nvSpPr>
        <p:spPr>
          <a:xfrm>
            <a:off x="251999" y="5074920"/>
            <a:ext cx="5943600" cy="411480"/>
          </a:xfrm>
          <a:prstGeom prst="rect">
            <a:avLst/>
          </a:prstGeom>
          <a:noFill/>
        </p:spPr>
        <p:txBody>
          <a:bodyPr wrap="square" lIns="0" rIns="0" tIns="0" bIns="0">
            <a:spAutoFit/>
          </a:bodyPr>
          <a:lstStyle/>
          <a:p>
            <a:pPr algn="l"/>
            <a:r>
              <a:rPr sz="2600" b="0" i="0" u="none">
                <a:solidFill>
                  <a:srgbClr val="0B2B4E"/>
                </a:solidFill>
                <a:latin typeface="Calibri"/>
              </a:rPr>
              <a:t>Same marginal cost (all in $Million):</a:t>
            </a:r>
          </a:p>
        </p:txBody>
      </p:sp>
      <p:sp>
        <p:nvSpPr>
          <p:cNvPr id="19" name="TextBox 18"/>
          <p:cNvSpPr txBox="1"/>
          <p:nvPr/>
        </p:nvSpPr>
        <p:spPr>
          <a:xfrm>
            <a:off x="1554480" y="5532120"/>
            <a:ext cx="3840480" cy="457200"/>
          </a:xfrm>
          <a:prstGeom prst="rect">
            <a:avLst/>
          </a:prstGeom>
          <a:noFill/>
        </p:spPr>
        <p:txBody>
          <a:bodyPr wrap="square" anchor="ctr">
            <a:spAutoFit/>
          </a:bodyPr>
          <a:lstStyle/>
          <a:p xmlns:m="http://schemas.openxmlformats.org/officeDocument/2006/math" xmlns:a14="http://schemas.microsoft.com/office/drawing/2010/main">
            <a:pPr algn="ctr">
              <a:defRPr sz="2400" b="0" i="1">
                <a:solidFill>
                  <a:srgbClr val="0B2B4E"/>
                </a:solidFill>
                <a:latin typeface="Cambria Math"/>
              </a:defRPr>
            </a:pPr>
            <a14:m>
              <m:oMathPara>
                <m:oMathParaPr>
                  <m:jc m:val="centerGroup"/>
                </m:oMathParaPr>
                <m:oMath>
                  <m:sSub>
                    <m:sSubPr>
                      <m:ctrlPr>
                        <a:rPr lang="en-US" i="1">
                          <a:latin typeface="Cambria Math"/>
                        </a:rPr>
                      </m:ctrlPr>
                    </m:sSubPr>
                    <m:e>
                      <m:r>
                        <m:rPr>
                          <m:sty m:val="p"/>
                        </m:rPr>
                        <a:rPr lang="en-US" b="0" i="0" sz="2400">
                          <a:solidFill>
                            <a:srgbClr val="C00000"/>
                          </a:solidFill>
                          <a:latin typeface="Cambria Math"/>
                        </a:rPr>
                        <m:t xml:space="preserve">MC</m:t>
                      </m:r>
                    </m:e>
                    <m:sub>
                      <m:r>
                        <m:rPr>
                          <m:sty m:val="p"/>
                        </m:rPr>
                        <a:rPr lang="en-US" b="0" i="0" sz="2400">
                          <a:solidFill>
                            <a:srgbClr val="C00000"/>
                          </a:solidFill>
                          <a:latin typeface="Cambria Math"/>
                        </a:rPr>
                        <m:t xml:space="preserve">A</m:t>
                      </m:r>
                    </m:sub>
                  </m:sSub>
                  <m:r>
                    <m:rPr>
                      <m:sty m:val="p"/>
                    </m:rPr>
                    <a:rPr lang="en-US" b="0" i="0" sz="2400">
                      <a:solidFill>
                        <a:srgbClr val="0B2B4E"/>
                      </a:solidFill>
                      <a:latin typeface="Cambria Math"/>
                    </a:rPr>
                    <m:t xml:space="preserve"> = </m:t>
                  </m:r>
                  <m:sSub>
                    <m:sSubPr>
                      <m:ctrlPr>
                        <a:rPr lang="en-US" i="1">
                          <a:latin typeface="Cambria Math"/>
                        </a:rPr>
                      </m:ctrlPr>
                    </m:sSubPr>
                    <m:e>
                      <m:r>
                        <m:rPr>
                          <m:sty m:val="p"/>
                        </m:rPr>
                        <a:rPr lang="en-US" b="0" i="0" sz="2400">
                          <a:solidFill>
                            <a:srgbClr val="4D5D2C"/>
                          </a:solidFill>
                          <a:latin typeface="Cambria Math"/>
                        </a:rPr>
                        <m:t xml:space="preserve">MC</m:t>
                      </m:r>
                    </m:e>
                    <m:sub>
                      <m:r>
                        <m:rPr>
                          <m:sty m:val="p"/>
                        </m:rPr>
                        <a:rPr lang="en-US" b="0" i="0" sz="2400">
                          <a:solidFill>
                            <a:srgbClr val="4D5D2C"/>
                          </a:solidFill>
                          <a:latin typeface="Cambria Math"/>
                        </a:rPr>
                        <m:t xml:space="preserve">B</m:t>
                      </m:r>
                    </m:sub>
                  </m:sSub>
                  <m:r>
                    <m:rPr>
                      <m:sty m:val="p"/>
                    </m:rPr>
                    <a:rPr lang="en-US" b="0" i="0" sz="2400">
                      <a:solidFill>
                        <a:srgbClr val="0B2B4E"/>
                      </a:solidFill>
                      <a:latin typeface="Cambria Math"/>
                    </a:rPr>
                    <m:t xml:space="preserve"> = 200</m:t>
                  </m:r>
                </m:oMath>
              </m:oMathPara>
            </a14:m>
            <a:endParaRPr lang="en-US" sz="2400"/>
          </a:p>
        </p:txBody>
      </p:sp>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23" name="TextBox 22"/>
          <p:cNvSpPr txBox="1"/>
          <p:nvPr/>
        </p:nvSpPr>
        <p:spPr>
          <a:xfrm>
            <a:off x="11475720" y="6583680"/>
            <a:ext cx="502920" cy="292608"/>
          </a:xfrm>
          <a:prstGeom prst="rect">
            <a:avLst/>
          </a:prstGeom>
          <a:noFill/>
        </p:spPr>
        <p:txBody>
          <a:bodyPr wrap="none" lIns="0" rIns="0" tIns="0" bIns="0">
            <a:spAutoFit/>
          </a:bodyPr>
          <a:lstStyle/>
          <a:p>
            <a:pPr algn="r"/>
            <a:fld id="{A9BC6C3E-F103-5696-AB79-FDFC4595D1A3}" type="slidenum">
              <a:rPr lang="en-US" sz="1200" dirty="0">
                <a:solidFill>
                  <a:srgbClr val="555B66"/>
                </a:solidFill>
                <a:latin typeface="Calibri"/>
              </a:rPr>
              <a:t>41</a:t>
            </a:fld>
          </a:p>
        </p:txBody>
      </p:sp>
      <p:sp>
        <p:nvSpPr>
          <p:cNvPr id="24" name="Rounded Rectangle 23"/>
          <p:cNvSpPr/>
          <p:nvPr/>
        </p:nvSpPr>
        <p:spPr>
          <a:xfrm>
            <a:off x="6327648" y="6245352"/>
            <a:ext cx="5349240" cy="530352"/>
          </a:xfrm>
          <a:prstGeom prst="roundRect">
            <a:avLst>
              <a:gd name="adj" fmla="val 28000"/>
            </a:avLst>
          </a:prstGeom>
          <a:gradFill>
            <a:gsLst>
              <a:gs pos="0">
                <a:schemeClr val="bg1">
                  <a:lumMod val="65000"/>
                </a:schemeClr>
              </a:gs>
              <a:gs pos="54000">
                <a:schemeClr val="bg1">
                  <a:lumMod val="95000"/>
                </a:schemeClr>
              </a:gs>
              <a:gs pos="100000">
                <a:schemeClr val="bg1">
                  <a:lumMod val="65000"/>
                </a:schemeClr>
              </a:gs>
            </a:gsLst>
            <a:lin ang="5400000" scaled="1"/>
          </a:gra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E09F3E"/>
                </a:solidFill>
                <a:latin typeface="Calibri"/>
              </a:rPr>
              <a:t>▶  </a:t>
            </a:r>
            <a:r>
              <a:rPr sz="1300" b="1">
                <a:solidFill>
                  <a:srgbClr val="0B2B4E"/>
                </a:solidFill>
                <a:latin typeface="Calibri"/>
              </a:rPr>
              <a:t>Optional Advanced Practice Video: “Bertrand Competition with Differentiated Goods – Math”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Differentiated Goods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Reaction Function: Airbus' Reaction to Boeing's Price (I)</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2194560" y="1527047"/>
            <a:ext cx="0" cy="4279393"/>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194560" y="5806440"/>
            <a:ext cx="5925311"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728216" y="1389888"/>
            <a:ext cx="640080" cy="320040"/>
          </a:xfrm>
          <a:prstGeom prst="rect">
            <a:avLst/>
          </a:prstGeom>
          <a:noFill/>
        </p:spPr>
        <p:txBody>
          <a:bodyPr wrap="square" lIns="0" rIns="0" tIns="0" bIns="0">
            <a:spAutoFit/>
          </a:bodyPr>
          <a:lstStyle/>
          <a:p>
            <a:pPr algn="ctr"/>
            <a:r>
              <a:rPr sz="1800" b="1" i="1" u="none">
                <a:solidFill>
                  <a:srgbClr val="0B2B4E"/>
                </a:solidFill>
                <a:latin typeface="Calibri"/>
              </a:rPr>
              <a:t>P</a:t>
            </a:r>
          </a:p>
        </p:txBody>
      </p:sp>
      <p:sp>
        <p:nvSpPr>
          <p:cNvPr id="10" name="TextBox 9"/>
          <p:cNvSpPr txBox="1"/>
          <p:nvPr/>
        </p:nvSpPr>
        <p:spPr>
          <a:xfrm>
            <a:off x="8092440" y="5861304"/>
            <a:ext cx="548640" cy="320040"/>
          </a:xfrm>
          <a:prstGeom prst="rect">
            <a:avLst/>
          </a:prstGeom>
          <a:noFill/>
        </p:spPr>
        <p:txBody>
          <a:bodyPr wrap="square" lIns="0" rIns="0" tIns="0" bIns="0">
            <a:spAutoFit/>
          </a:bodyPr>
          <a:lstStyle/>
          <a:p>
            <a:pPr algn="l"/>
            <a:r>
              <a:rPr sz="1800" b="1" i="1" u="none">
                <a:solidFill>
                  <a:srgbClr val="0B2B4E"/>
                </a:solidFill>
                <a:latin typeface="Calibri"/>
              </a:rPr>
              <a:t>Q</a:t>
            </a:r>
          </a:p>
        </p:txBody>
      </p:sp>
      <p:cxnSp>
        <p:nvCxnSpPr>
          <p:cNvPr id="11" name="Connector 10"/>
          <p:cNvCxnSpPr/>
          <p:nvPr/>
        </p:nvCxnSpPr>
        <p:spPr>
          <a:xfrm>
            <a:off x="2194560" y="3122874"/>
            <a:ext cx="3927763" cy="2683566"/>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grpSp>
        <p:nvGrpSpPr>
          <p:cNvPr id="32" name="MRGroup 32"/>
          <p:cNvGrpSpPr/>
          <p:nvPr/>
        </p:nvGrpSpPr>
        <p:grpSpPr>
          <a:xfrm>
            <a:off x="2194560" y="3122874"/>
            <a:ext cx="2528316" cy="3012749"/>
            <a:chOff x="2194560" y="3122874"/>
            <a:chExt cx="2528316" cy="3012749"/>
          </a:xfrm>
        </p:grpSpPr>
        <p:cxnSp>
          <p:nvCxnSpPr>
            <p:cNvPr id="12" name="Connector 11"/>
            <p:cNvCxnSpPr/>
            <p:nvPr/>
          </p:nvCxnSpPr>
          <p:spPr>
            <a:xfrm>
              <a:off x="2194560" y="3122874"/>
              <a:ext cx="1963881" cy="2683566"/>
            </a:xfrm>
            <a:prstGeom prst="line">
              <a:avLst/>
            </a:prstGeom>
            <a:ln w="25400">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854196" y="5303520"/>
              <a:ext cx="868680" cy="329184"/>
            </a:xfrm>
            <a:prstGeom prst="rect">
              <a:avLst/>
            </a:prstGeom>
            <a:noFill/>
          </p:spPr>
          <p:txBody>
            <a:bodyPr wrap="square" anchor="ctr">
              <a:spAutoFit/>
            </a:bodyPr>
            <a:lstStyle/>
            <a:p xmlns:m="http://schemas.openxmlformats.org/officeDocument/2006/math" xmlns:a14="http://schemas.microsoft.com/office/drawing/2010/main">
              <a:pPr algn="ctr">
                <a:defRPr sz="1500" b="0" i="1">
                  <a:solidFill>
                    <a:srgbClr val="C00000"/>
                  </a:solidFill>
                  <a:latin typeface="Cambria Math"/>
                </a:defRPr>
              </a:pPr>
              <a14:m>
                <m:oMathPara>
                  <m:oMathParaPr>
                    <m:jc m:val="centerGroup"/>
                  </m:oMathParaPr>
                  <m:oMath>
                    <m:sSub>
                      <m:sSubPr>
                        <m:ctrlPr>
                          <a:rPr lang="en-US" i="1">
                            <a:latin typeface="Cambria Math"/>
                          </a:rPr>
                        </m:ctrlPr>
                      </m:sSubPr>
                      <m:e>
                        <m:r>
                          <m:rPr>
                            <m:sty m:val="p"/>
                          </m:rPr>
                          <a:rPr lang="en-US" b="0" i="0" sz="1500">
                            <a:solidFill>
                              <a:srgbClr val="C00000"/>
                            </a:solidFill>
                            <a:latin typeface="Cambria Math"/>
                          </a:rPr>
                          <m:t xml:space="preserve">MR</m:t>
                        </m:r>
                      </m:e>
                      <m:sub>
                        <m:r>
                          <m:rPr>
                            <m:sty m:val="p"/>
                          </m:rPr>
                          <a:rPr lang="en-US" b="0" i="0" sz="1500">
                            <a:solidFill>
                              <a:srgbClr val="C00000"/>
                            </a:solidFill>
                            <a:latin typeface="Cambria Math"/>
                          </a:rPr>
                          <m:t xml:space="preserve">A</m:t>
                        </m:r>
                      </m:sub>
                    </m:sSub>
                  </m:oMath>
                </m:oMathPara>
              </a14:m>
              <a:endParaRPr lang="en-US" sz="1500"/>
            </a:p>
          </p:txBody>
        </p:sp>
        <p:sp>
          <p:nvSpPr>
            <p:cNvPr id="30" name="TextBox 29"/>
            <p:cNvSpPr txBox="1"/>
            <p:nvPr/>
          </p:nvSpPr>
          <p:spPr>
            <a:xfrm>
              <a:off x="3701241" y="5861303"/>
              <a:ext cx="914400" cy="274320"/>
            </a:xfrm>
            <a:prstGeom prst="rect">
              <a:avLst/>
            </a:prstGeom>
            <a:noFill/>
          </p:spPr>
          <p:txBody>
            <a:bodyPr wrap="square" lIns="0" rIns="0" tIns="0" bIns="0">
              <a:spAutoFit/>
            </a:bodyPr>
            <a:lstStyle/>
            <a:p>
              <a:pPr algn="ctr"/>
              <a:r>
                <a:rPr sz="1600" b="0" i="0" u="none">
                  <a:solidFill>
                    <a:srgbClr val="0B2B4E"/>
                  </a:solidFill>
                  <a:latin typeface="Calibri"/>
                </a:rPr>
                <a:t>300</a:t>
              </a:r>
            </a:p>
          </p:txBody>
        </p:sp>
      </p:grpSp>
      <p:sp>
        <p:nvSpPr>
          <p:cNvPr id="14" name="TextBox 13"/>
          <p:cNvSpPr txBox="1"/>
          <p:nvPr/>
        </p:nvSpPr>
        <p:spPr>
          <a:xfrm>
            <a:off x="2573121" y="2617012"/>
            <a:ext cx="2834640" cy="1051560"/>
          </a:xfrm>
          <a:prstGeom prst="rect">
            <a:avLst/>
          </a:prstGeom>
          <a:noFill/>
        </p:spPr>
        <p:txBody>
          <a:bodyPr wrap="square" lIns="45720" rIns="45720" tIns="0" bIns="0">
            <a:spAutoFit/>
          </a:bodyPr>
          <a:lstStyle/>
          <a:p xmlns:m="http://schemas.openxmlformats.org/officeDocument/2006/math" xmlns:a14="http://schemas.microsoft.com/office/drawing/2010/main">
            <a:r>
              <a:rPr lang="en-US" sz="1500" b="1">
                <a:solidFill>
                  <a:srgbClr val="C00000"/>
                </a:solidFill>
                <a:latin typeface="Calibri"/>
              </a:rPr>
              <a:t>Airbus' (inverse) Demand</a:t>
            </a:r>
            <a:endParaRPr lang="en-US"/>
          </a:p>
          <a:p xmlns:m="http://schemas.openxmlformats.org/officeDocument/2006/math" xmlns:a14="http://schemas.microsoft.com/office/drawing/2010/main">
            <a14:m>
              <m:oMath>
                <m:sSub>
                  <m:sSubPr>
                    <m:ctrlPr>
                      <a:rPr lang="en-US" i="1">
                        <a:latin typeface="Cambria Math"/>
                      </a:rPr>
                    </m:ctrlPr>
                  </m:sSubPr>
                  <m:e>
                    <m:r>
                      <a:rPr lang="en-US" b="0" i="1" sz="1400">
                        <a:solidFill>
                          <a:srgbClr val="C00000"/>
                        </a:solidFill>
                        <a:latin typeface="Cambria Math"/>
                        <a:ea typeface="Cambria Math"/>
                      </a:rPr>
                      <m:t>P</m:t>
                    </m:r>
                  </m:e>
                  <m:sub>
                    <m:r>
                      <m:rPr>
                        <m:sty m:val="p"/>
                      </m:rPr>
                      <a:rPr lang="en-US" b="0" i="0" sz="1400">
                        <a:solidFill>
                          <a:srgbClr val="C00000"/>
                        </a:solidFill>
                        <a:latin typeface="Cambria Math"/>
                      </a:rPr>
                      <m:t xml:space="preserve">A</m:t>
                    </m:r>
                  </m:sub>
                </m:sSub>
                <m:r>
                  <m:rPr>
                    <m:sty m:val="p"/>
                  </m:rPr>
                  <a:rPr lang="en-US" b="0" i="0" sz="1400">
                    <a:solidFill>
                      <a:srgbClr val="C00000"/>
                    </a:solidFill>
                    <a:latin typeface="Cambria Math"/>
                  </a:rPr>
                  <m:t xml:space="preserve"> = 200 − 0.5·</m:t>
                </m:r>
                <m:sSub>
                  <m:sSubPr>
                    <m:ctrlPr>
                      <a:rPr lang="en-US" i="1">
                        <a:latin typeface="Cambria Math"/>
                      </a:rPr>
                    </m:ctrlPr>
                  </m:sSubPr>
                  <m:e>
                    <m:r>
                      <a:rPr lang="en-US" b="0" i="1" sz="1400">
                        <a:solidFill>
                          <a:srgbClr val="C00000"/>
                        </a:solidFill>
                        <a:latin typeface="Cambria Math"/>
                        <a:ea typeface="Cambria Math"/>
                      </a:rPr>
                      <m:t>Q</m:t>
                    </m:r>
                  </m:e>
                  <m:sub>
                    <m:r>
                      <m:rPr>
                        <m:sty m:val="p"/>
                      </m:rPr>
                      <a:rPr lang="en-US" b="0" i="0" sz="1400">
                        <a:solidFill>
                          <a:srgbClr val="C00000"/>
                        </a:solidFill>
                        <a:latin typeface="Cambria Math"/>
                      </a:rPr>
                      <m:t xml:space="preserve">A</m:t>
                    </m:r>
                  </m:sub>
                </m:sSub>
                <m:r>
                  <m:rPr>
                    <m:sty m:val="p"/>
                  </m:rPr>
                  <a:rPr lang="en-US" b="0" i="0" sz="1400">
                    <a:solidFill>
                      <a:srgbClr val="4D5D2C"/>
                    </a:solidFill>
                    <a:latin typeface="Cambria Math"/>
                  </a:rPr>
                  <m:t xml:space="preserve"> + 0.5·</m:t>
                </m:r>
                <m:sSub>
                  <m:sSubPr>
                    <m:ctrlPr>
                      <a:rPr lang="en-US" i="1">
                        <a:latin typeface="Cambria Math"/>
                      </a:rPr>
                    </m:ctrlPr>
                  </m:sSubPr>
                  <m:e>
                    <m:r>
                      <a:rPr lang="en-US" b="0" i="1" sz="1400">
                        <a:solidFill>
                          <a:srgbClr val="4D5D2C"/>
                        </a:solidFill>
                        <a:latin typeface="Cambria Math"/>
                        <a:ea typeface="Cambria Math"/>
                      </a:rPr>
                      <m:t>P</m:t>
                    </m:r>
                  </m:e>
                  <m:sub>
                    <m:r>
                      <m:rPr>
                        <m:sty m:val="p"/>
                      </m:rPr>
                      <a:rPr lang="en-US" b="0" i="0" sz="1400">
                        <a:solidFill>
                          <a:srgbClr val="4D5D2C"/>
                        </a:solidFill>
                        <a:latin typeface="Cambria Math"/>
                      </a:rPr>
                      <m:t xml:space="preserve">B</m:t>
                    </m:r>
                  </m:sub>
                </m:sSub>
              </m:oMath>
            </a14:m>
            <a:endParaRPr lang="en-US"/>
          </a:p>
          <a:p xmlns:m="http://schemas.openxmlformats.org/officeDocument/2006/math" xmlns:a14="http://schemas.microsoft.com/office/drawing/2010/main">
            <a14:m>
              <m:oMath>
                <m:r>
                  <m:rPr>
                    <m:sty m:val="p"/>
                  </m:rPr>
                  <a:rPr lang="en-US" b="0" i="0" sz="1400">
                    <a:solidFill>
                      <a:srgbClr val="C00000"/>
                    </a:solidFill>
                    <a:latin typeface="Cambria Math"/>
                  </a:rPr>
                  <m:t xml:space="preserve">    = 200 − 0.5·</m:t>
                </m:r>
                <m:sSub>
                  <m:sSubPr>
                    <m:ctrlPr>
                      <a:rPr lang="en-US" i="1">
                        <a:latin typeface="Cambria Math"/>
                      </a:rPr>
                    </m:ctrlPr>
                  </m:sSubPr>
                  <m:e>
                    <m:r>
                      <a:rPr lang="en-US" b="0" i="1" sz="1400">
                        <a:solidFill>
                          <a:srgbClr val="C00000"/>
                        </a:solidFill>
                        <a:latin typeface="Cambria Math"/>
                        <a:ea typeface="Cambria Math"/>
                      </a:rPr>
                      <m:t>Q</m:t>
                    </m:r>
                  </m:e>
                  <m:sub>
                    <m:r>
                      <m:rPr>
                        <m:sty m:val="p"/>
                      </m:rPr>
                      <a:rPr lang="en-US" b="0" i="0" sz="1400">
                        <a:solidFill>
                          <a:srgbClr val="C00000"/>
                        </a:solidFill>
                        <a:latin typeface="Cambria Math"/>
                      </a:rPr>
                      <m:t xml:space="preserve">A</m:t>
                    </m:r>
                  </m:sub>
                </m:sSub>
                <m:r>
                  <m:rPr>
                    <m:sty m:val="p"/>
                  </m:rPr>
                  <a:rPr lang="en-US" b="0" i="0" sz="1400">
                    <a:solidFill>
                      <a:srgbClr val="C00000"/>
                    </a:solidFill>
                    <a:latin typeface="Cambria Math"/>
                  </a:rPr>
                  <m:t xml:space="preserve"> + </m:t>
                </m:r>
                <m:r>
                  <m:rPr>
                    <m:sty m:val="p"/>
                  </m:rPr>
                  <a:rPr lang="en-US" b="0" i="0" sz="1400">
                    <a:solidFill>
                      <a:srgbClr val="4D5D2C"/>
                    </a:solidFill>
                    <a:latin typeface="Cambria Math"/>
                  </a:rPr>
                  <m:t xml:space="preserve">100</m:t>
                </m:r>
              </m:oMath>
            </a14:m>
            <a:endParaRPr lang="en-US"/>
          </a:p>
          <a:p xmlns:m="http://schemas.openxmlformats.org/officeDocument/2006/math" xmlns:a14="http://schemas.microsoft.com/office/drawing/2010/main">
            <a14:m>
              <m:oMath>
                <m:r>
                  <m:rPr>
                    <m:sty m:val="p"/>
                  </m:rPr>
                  <a:rPr lang="en-US" b="0" i="0" sz="1400">
                    <a:solidFill>
                      <a:srgbClr val="C00000"/>
                    </a:solidFill>
                    <a:latin typeface="Cambria Math"/>
                  </a:rPr>
                  <m:t xml:space="preserve">    = 300 − 0.5·</m:t>
                </m:r>
                <m:sSub>
                  <m:sSubPr>
                    <m:ctrlPr>
                      <a:rPr lang="en-US" i="1">
                        <a:latin typeface="Cambria Math"/>
                      </a:rPr>
                    </m:ctrlPr>
                  </m:sSubPr>
                  <m:e>
                    <m:r>
                      <a:rPr lang="en-US" b="0" i="1" sz="1400">
                        <a:solidFill>
                          <a:srgbClr val="C00000"/>
                        </a:solidFill>
                        <a:latin typeface="Cambria Math"/>
                        <a:ea typeface="Cambria Math"/>
                      </a:rPr>
                      <m:t>Q</m:t>
                    </m:r>
                  </m:e>
                  <m:sub>
                    <m:r>
                      <m:rPr>
                        <m:sty m:val="p"/>
                      </m:rPr>
                      <a:rPr lang="en-US" b="0" i="0" sz="1400">
                        <a:solidFill>
                          <a:srgbClr val="C00000"/>
                        </a:solidFill>
                        <a:latin typeface="Cambria Math"/>
                      </a:rPr>
                      <m:t xml:space="preserve">A</m:t>
                    </m:r>
                  </m:sub>
                </m:sSub>
              </m:oMath>
            </a14:m>
            <a:endParaRPr lang="en-US"/>
          </a:p>
        </p:txBody>
      </p:sp>
      <p:sp>
        <p:nvSpPr>
          <p:cNvPr id="15" name="Oval 14"/>
          <p:cNvSpPr/>
          <p:nvPr/>
        </p:nvSpPr>
        <p:spPr>
          <a:xfrm>
            <a:off x="5029200" y="2795320"/>
            <a:ext cx="237744" cy="365760"/>
          </a:xfrm>
          <a:prstGeom prst="ellipse">
            <a:avLst/>
          </a:prstGeom>
          <a:noFill/>
          <a:ln w="25400">
            <a:solidFill>
              <a:srgbClr val="4D5D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35524" y="2395728"/>
            <a:ext cx="822960" cy="320040"/>
          </a:xfrm>
          <a:prstGeom prst="rect">
            <a:avLst/>
          </a:prstGeom>
          <a:noFill/>
        </p:spPr>
        <p:txBody>
          <a:bodyPr wrap="square" lIns="0" rIns="0" tIns="0" bIns="0">
            <a:spAutoFit/>
          </a:bodyPr>
          <a:lstStyle/>
          <a:p>
            <a:pPr algn="l"/>
            <a:r>
              <a:rPr sz="1600" b="0" i="1" u="none">
                <a:solidFill>
                  <a:srgbClr val="4D5D2C"/>
                </a:solidFill>
                <a:latin typeface="Calibri"/>
              </a:rPr>
              <a:t>200</a:t>
            </a:r>
          </a:p>
        </p:txBody>
      </p:sp>
      <p:cxnSp>
        <p:nvCxnSpPr>
          <p:cNvPr id="17" name="Connector 16"/>
          <p:cNvCxnSpPr/>
          <p:nvPr/>
        </p:nvCxnSpPr>
        <p:spPr>
          <a:xfrm flipH="1">
            <a:off x="5198364" y="2606954"/>
            <a:ext cx="137160" cy="192024"/>
          </a:xfrm>
          <a:prstGeom prst="line">
            <a:avLst/>
          </a:prstGeom>
          <a:ln w="25400">
            <a:solidFill>
              <a:srgbClr val="4D5D2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545836" y="3072384"/>
            <a:ext cx="3108960" cy="731520"/>
          </a:xfrm>
          <a:prstGeom prst="rect">
            <a:avLst/>
          </a:prstGeom>
          <a:noFill/>
        </p:spPr>
        <p:txBody>
          <a:bodyPr wrap="square" lIns="45720" rIns="45720" tIns="0" bIns="0">
            <a:spAutoFit/>
          </a:bodyPr>
          <a:lstStyle/>
          <a:p xmlns:m="http://schemas.openxmlformats.org/officeDocument/2006/math" xmlns:a14="http://schemas.microsoft.com/office/drawing/2010/main">
            <a:r>
              <a:rPr lang="en-US" sz="1700" b="1">
                <a:solidFill>
                  <a:srgbClr val="4D5D2C"/>
                </a:solidFill>
                <a:latin typeface="Calibri"/>
              </a:rPr>
              <a:t>A higher price </a:t>
            </a:r>
            <a14:m>
              <m:oMath>
                <m:sSub>
                  <m:sSubPr>
                    <m:ctrlPr>
                      <a:rPr lang="en-US" i="1">
                        <a:latin typeface="Cambria Math"/>
                      </a:rPr>
                    </m:ctrlPr>
                  </m:sSubPr>
                  <m:e>
                    <m:r>
                      <a:rPr lang="en-US" b="0" i="1" sz="1700">
                        <a:solidFill>
                          <a:srgbClr val="4D5D2C"/>
                        </a:solidFill>
                        <a:latin typeface="Cambria Math"/>
                        <a:ea typeface="Cambria Math"/>
                      </a:rPr>
                      <m:t>P</m:t>
                    </m:r>
                  </m:e>
                  <m:sub>
                    <m:r>
                      <m:rPr>
                        <m:sty m:val="p"/>
                      </m:rPr>
                      <a:rPr lang="en-US" b="0" i="0" sz="1700">
                        <a:solidFill>
                          <a:srgbClr val="4D5D2C"/>
                        </a:solidFill>
                        <a:latin typeface="Cambria Math"/>
                      </a:rPr>
                      <m:t xml:space="preserve">B</m:t>
                    </m:r>
                  </m:sub>
                </m:sSub>
              </m:oMath>
            </a14:m>
            <a:r>
              <a:rPr lang="en-US" sz="1700" b="1">
                <a:solidFill>
                  <a:srgbClr val="4D5D2C"/>
                </a:solidFill>
                <a:latin typeface="Calibri"/>
              </a:rPr>
              <a:t> increases demand for Airbus</a:t>
            </a:r>
            <a:endParaRPr lang="en-US"/>
          </a:p>
        </p:txBody>
      </p:sp>
      <p:cxnSp>
        <p:nvCxnSpPr>
          <p:cNvPr id="19" name="Connector 18"/>
          <p:cNvCxnSpPr/>
          <p:nvPr/>
        </p:nvCxnSpPr>
        <p:spPr>
          <a:xfrm flipH="1" flipV="1">
            <a:off x="5257800" y="3070555"/>
            <a:ext cx="288950" cy="143561"/>
          </a:xfrm>
          <a:prstGeom prst="line">
            <a:avLst/>
          </a:prstGeom>
          <a:ln w="25400">
            <a:solidFill>
              <a:srgbClr val="4D5D2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194560" y="4017396"/>
            <a:ext cx="5564331" cy="0"/>
          </a:xfrm>
          <a:prstGeom prst="line">
            <a:avLst/>
          </a:prstGeom>
          <a:ln w="31750">
            <a:solidFill>
              <a:srgbClr val="555B66"/>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269480" y="4086453"/>
            <a:ext cx="731520" cy="245973"/>
          </a:xfrm>
          <a:prstGeom prst="rect">
            <a:avLst/>
          </a:prstGeom>
          <a:noFill/>
        </p:spPr>
        <p:txBody>
          <a:bodyPr wrap="square" lIns="0" rIns="0" tIns="0" bIns="0">
            <a:spAutoFit/>
          </a:bodyPr>
          <a:lstStyle/>
          <a:p>
            <a:pPr algn="ctr"/>
            <a:r>
              <a:rPr sz="1600" b="1" i="1" u="none">
                <a:solidFill>
                  <a:srgbClr val="555B66"/>
                </a:solidFill>
                <a:latin typeface="Calibri"/>
              </a:rPr>
              <a:t>MC</a:t>
            </a:r>
          </a:p>
        </p:txBody>
      </p:sp>
      <p:cxnSp>
        <p:nvCxnSpPr>
          <p:cNvPr id="22" name="Connector 21"/>
          <p:cNvCxnSpPr/>
          <p:nvPr/>
        </p:nvCxnSpPr>
        <p:spPr>
          <a:xfrm flipV="1">
            <a:off x="2849187" y="3570135"/>
            <a:ext cx="0" cy="2236305"/>
          </a:xfrm>
          <a:prstGeom prst="line">
            <a:avLst/>
          </a:prstGeom>
          <a:ln w="12700">
            <a:solidFill>
              <a:srgbClr val="555B66"/>
            </a:solidFill>
            <a:prstDash val="sysDot"/>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194560" y="3570135"/>
            <a:ext cx="654627" cy="0"/>
          </a:xfrm>
          <a:prstGeom prst="line">
            <a:avLst/>
          </a:prstGeom>
          <a:ln w="12700">
            <a:solidFill>
              <a:srgbClr val="555B66"/>
            </a:solidFill>
            <a:prstDash val="sysDot"/>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2798895" y="3967104"/>
            <a:ext cx="100584" cy="100584"/>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798895" y="3519843"/>
            <a:ext cx="100584" cy="100584"/>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16151" y="2994858"/>
            <a:ext cx="868680" cy="274320"/>
          </a:xfrm>
          <a:prstGeom prst="rect">
            <a:avLst/>
          </a:prstGeom>
          <a:noFill/>
        </p:spPr>
        <p:txBody>
          <a:bodyPr wrap="square" lIns="0" rIns="0" tIns="0" bIns="0">
            <a:spAutoFit/>
          </a:bodyPr>
          <a:lstStyle/>
          <a:p>
            <a:pPr algn="r"/>
            <a:r>
              <a:rPr sz="1600" b="0" i="0" u="none">
                <a:solidFill>
                  <a:srgbClr val="0B2B4E"/>
                </a:solidFill>
                <a:latin typeface="Calibri"/>
              </a:rPr>
              <a:t>300</a:t>
            </a:r>
          </a:p>
        </p:txBody>
      </p:sp>
      <p:sp>
        <p:nvSpPr>
          <p:cNvPr id="27" name="TextBox 26"/>
          <p:cNvSpPr txBox="1"/>
          <p:nvPr/>
        </p:nvSpPr>
        <p:spPr>
          <a:xfrm>
            <a:off x="1216151" y="3442119"/>
            <a:ext cx="868680" cy="274320"/>
          </a:xfrm>
          <a:prstGeom prst="rect">
            <a:avLst/>
          </a:prstGeom>
          <a:noFill/>
        </p:spPr>
        <p:txBody>
          <a:bodyPr wrap="square" lIns="0" rIns="0" tIns="0" bIns="0">
            <a:spAutoFit/>
          </a:bodyPr>
          <a:lstStyle/>
          <a:p>
            <a:pPr algn="r"/>
            <a:r>
              <a:rPr sz="1600" b="1" i="0" u="none">
                <a:solidFill>
                  <a:srgbClr val="0B2B4E"/>
                </a:solidFill>
                <a:latin typeface="Calibri"/>
              </a:rPr>
              <a:t>250</a:t>
            </a:r>
          </a:p>
        </p:txBody>
      </p:sp>
      <p:sp>
        <p:nvSpPr>
          <p:cNvPr id="28" name="TextBox 27"/>
          <p:cNvSpPr txBox="1"/>
          <p:nvPr/>
        </p:nvSpPr>
        <p:spPr>
          <a:xfrm>
            <a:off x="1216151" y="3889380"/>
            <a:ext cx="868680" cy="274320"/>
          </a:xfrm>
          <a:prstGeom prst="rect">
            <a:avLst/>
          </a:prstGeom>
          <a:noFill/>
        </p:spPr>
        <p:txBody>
          <a:bodyPr wrap="square" lIns="0" rIns="0" tIns="0" bIns="0">
            <a:spAutoFit/>
          </a:bodyPr>
          <a:lstStyle/>
          <a:p>
            <a:pPr algn="r"/>
            <a:r>
              <a:rPr sz="1600" b="0" i="0" u="none">
                <a:solidFill>
                  <a:srgbClr val="555B66"/>
                </a:solidFill>
                <a:latin typeface="Calibri"/>
              </a:rPr>
              <a:t>200</a:t>
            </a:r>
          </a:p>
        </p:txBody>
      </p:sp>
      <p:sp>
        <p:nvSpPr>
          <p:cNvPr id="29" name="TextBox 28"/>
          <p:cNvSpPr txBox="1"/>
          <p:nvPr/>
        </p:nvSpPr>
        <p:spPr>
          <a:xfrm>
            <a:off x="2391987" y="5861303"/>
            <a:ext cx="914400" cy="274320"/>
          </a:xfrm>
          <a:prstGeom prst="rect">
            <a:avLst/>
          </a:prstGeom>
          <a:noFill/>
        </p:spPr>
        <p:txBody>
          <a:bodyPr wrap="square" lIns="0" rIns="0" tIns="0" bIns="0">
            <a:spAutoFit/>
          </a:bodyPr>
          <a:lstStyle/>
          <a:p>
            <a:pPr algn="ctr"/>
            <a:r>
              <a:rPr sz="1600" b="1" i="0" u="none">
                <a:solidFill>
                  <a:srgbClr val="0B2B4E"/>
                </a:solidFill>
                <a:latin typeface="Calibri"/>
              </a:rPr>
              <a:t>100</a:t>
            </a:r>
          </a:p>
        </p:txBody>
      </p:sp>
      <p:sp>
        <p:nvSpPr>
          <p:cNvPr id="31" name="TextBox 30"/>
          <p:cNvSpPr txBox="1"/>
          <p:nvPr/>
        </p:nvSpPr>
        <p:spPr>
          <a:xfrm>
            <a:off x="5665123" y="5861303"/>
            <a:ext cx="914400" cy="274320"/>
          </a:xfrm>
          <a:prstGeom prst="rect">
            <a:avLst/>
          </a:prstGeom>
          <a:noFill/>
        </p:spPr>
        <p:txBody>
          <a:bodyPr wrap="square" lIns="0" rIns="0" tIns="0" bIns="0">
            <a:spAutoFit/>
          </a:bodyPr>
          <a:lstStyle/>
          <a:p>
            <a:pPr algn="ctr"/>
            <a:r>
              <a:rPr sz="1600" b="0" i="0" u="none">
                <a:solidFill>
                  <a:srgbClr val="0B2B4E"/>
                </a:solidFill>
                <a:latin typeface="Calibri"/>
              </a:rPr>
              <a:t>600</a:t>
            </a:r>
          </a:p>
        </p:txBody>
      </p:sp>
      <p:sp>
        <p:nvSpPr>
          <p:cNvPr id="33" name="Rectangle 32"/>
          <p:cNvSpPr/>
          <p:nvPr/>
        </p:nvSpPr>
        <p:spPr>
          <a:xfrm>
            <a:off x="8823960" y="1572768"/>
            <a:ext cx="3017520" cy="822960"/>
          </a:xfrm>
          <a:prstGeom prst="rect">
            <a:avLst/>
          </a:prstGeom>
          <a:solidFill>
            <a:srgbClr val="FFFFFF"/>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
            </a:r>
            <a:r>
              <a:rPr sz="1800" b="0" i="0">
                <a:solidFill>
                  <a:srgbClr val="C00000"/>
                </a:solidFill>
                <a:latin typeface="Calibri"/>
              </a:rPr>
              <a:t>Airbus assumes that Boeing charges </a:t>
            </a:r>
            <a:r>
              <a:rPr sz="1800" b="1" i="1">
                <a:solidFill>
                  <a:srgbClr val="4D5D2C"/>
                </a:solidFill>
                <a:latin typeface="Calibri"/>
              </a:rPr>
              <a:t>P</a:t>
            </a:r>
            <a:r>
              <a:rPr sz="1800" b="1" i="1" baseline="-25000">
                <a:solidFill>
                  <a:srgbClr val="4D5D2C"/>
                </a:solidFill>
                <a:latin typeface="Calibri"/>
              </a:rPr>
              <a:t>B</a:t>
            </a:r>
            <a:r>
              <a:rPr sz="1800" b="1" i="1">
                <a:solidFill>
                  <a:srgbClr val="4D5D2C"/>
                </a:solidFill>
                <a:latin typeface="Calibri"/>
              </a:rPr>
              <a:t> = 200</a:t>
            </a:r>
          </a:p>
        </p:txBody>
      </p:sp>
      <p:sp>
        <p:nvSpPr>
          <p:cNvPr id="34" name="Rectangle 33"/>
          <p:cNvSpPr/>
          <p:nvPr/>
        </p:nvSpPr>
        <p:spPr>
          <a:xfrm>
            <a:off x="8823960" y="2578608"/>
            <a:ext cx="3017520" cy="868680"/>
          </a:xfrm>
          <a:prstGeom prst="rect">
            <a:avLst/>
          </a:prstGeom>
          <a:solidFill>
            <a:srgbClr val="FFFFFF"/>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
            </a:r>
            <a:r>
              <a:rPr sz="1800" b="1" i="0">
                <a:solidFill>
                  <a:srgbClr val="C00000"/>
                </a:solidFill>
                <a:latin typeface="Calibri"/>
              </a:rPr>
              <a:t>→ Airbus' optimal price response is </a:t>
            </a:r>
            <a:r>
              <a:rPr sz="1800" b="1" i="1">
                <a:solidFill>
                  <a:srgbClr val="C00000"/>
                </a:solidFill>
                <a:latin typeface="Calibri"/>
              </a:rPr>
              <a:t>P</a:t>
            </a:r>
            <a:r>
              <a:rPr sz="1800" b="1" i="1" baseline="-25000">
                <a:solidFill>
                  <a:srgbClr val="C00000"/>
                </a:solidFill>
                <a:latin typeface="Calibri"/>
              </a:rPr>
              <a:t>A</a:t>
            </a:r>
            <a:r>
              <a:rPr sz="1800" b="1" i="0">
                <a:solidFill>
                  <a:srgbClr val="C00000"/>
                </a:solidFill>
                <a:latin typeface="Calibri"/>
              </a:rPr>
              <a:t> = 250</a:t>
            </a:r>
          </a:p>
        </p:txBody>
      </p:sp>
      <p:sp>
        <p:nvSpPr>
          <p:cNvPr id="35" name="Rectangle 3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38" name="TextBox 37"/>
          <p:cNvSpPr txBox="1"/>
          <p:nvPr/>
        </p:nvSpPr>
        <p:spPr>
          <a:xfrm>
            <a:off x="11475720" y="6583680"/>
            <a:ext cx="502920" cy="292608"/>
          </a:xfrm>
          <a:prstGeom prst="rect">
            <a:avLst/>
          </a:prstGeom>
          <a:noFill/>
        </p:spPr>
        <p:txBody>
          <a:bodyPr wrap="none" lIns="0" rIns="0" tIns="0" bIns="0">
            <a:spAutoFit/>
          </a:bodyPr>
          <a:lstStyle/>
          <a:p>
            <a:pPr algn="r"/>
            <a:fld id="{2F0AEDB8-CD06-55B4-B1FB-8261E86F8336}" type="slidenum">
              <a:rPr lang="en-US" sz="1200" dirty="0">
                <a:solidFill>
                  <a:srgbClr val="555B66"/>
                </a:solidFill>
                <a:latin typeface="Calibri"/>
              </a:rPr>
              <a:t>42</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500"/>
                                        <p:tgtEl>
                                          <p:spTgt spid="2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500"/>
                                        <p:tgtEl>
                                          <p:spTgt spid="3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500"/>
                                        <p:tgtEl>
                                          <p:spTgt spid="2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500"/>
                                        <p:tgtEl>
                                          <p:spTgt spid="2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500"/>
                                        <p:tgtEl>
                                          <p:spTgt spid="28"/>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5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500"/>
                                        <p:tgtEl>
                                          <p:spTgt spid="2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500"/>
                                        <p:tgtEl>
                                          <p:spTgt spid="29"/>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fade">
                                      <p:cBhvr>
                                        <p:cTn id="7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Differentiated Goods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Reaction Function: Airbus' Reaction to Boeing's Price (II)</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2194560" y="1527047"/>
            <a:ext cx="0" cy="4279393"/>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194560" y="5806440"/>
            <a:ext cx="5925311"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764792" y="1389888"/>
            <a:ext cx="640080" cy="320040"/>
          </a:xfrm>
          <a:prstGeom prst="rect">
            <a:avLst/>
          </a:prstGeom>
          <a:noFill/>
        </p:spPr>
        <p:txBody>
          <a:bodyPr wrap="square" lIns="0" rIns="0" tIns="0" bIns="0">
            <a:spAutoFit/>
          </a:bodyPr>
          <a:lstStyle/>
          <a:p>
            <a:pPr algn="ctr"/>
            <a:r>
              <a:rPr sz="1800" b="1" i="1" u="none">
                <a:solidFill>
                  <a:srgbClr val="0B2B4E"/>
                </a:solidFill>
                <a:latin typeface="Calibri"/>
              </a:rPr>
              <a:t>P</a:t>
            </a:r>
          </a:p>
        </p:txBody>
      </p:sp>
      <p:sp>
        <p:nvSpPr>
          <p:cNvPr id="10" name="TextBox 9"/>
          <p:cNvSpPr txBox="1"/>
          <p:nvPr/>
        </p:nvSpPr>
        <p:spPr>
          <a:xfrm>
            <a:off x="8092440" y="5861304"/>
            <a:ext cx="548640" cy="320040"/>
          </a:xfrm>
          <a:prstGeom prst="rect">
            <a:avLst/>
          </a:prstGeom>
          <a:noFill/>
        </p:spPr>
        <p:txBody>
          <a:bodyPr wrap="square" lIns="0" rIns="0" tIns="0" bIns="0">
            <a:spAutoFit/>
          </a:bodyPr>
          <a:lstStyle/>
          <a:p>
            <a:pPr algn="l"/>
            <a:r>
              <a:rPr sz="1800" b="1" i="1" u="none">
                <a:solidFill>
                  <a:srgbClr val="0B2B4E"/>
                </a:solidFill>
                <a:latin typeface="Calibri"/>
              </a:rPr>
              <a:t>Q</a:t>
            </a:r>
          </a:p>
        </p:txBody>
      </p:sp>
      <p:cxnSp>
        <p:nvCxnSpPr>
          <p:cNvPr id="11" name="Connector 10"/>
          <p:cNvCxnSpPr/>
          <p:nvPr/>
        </p:nvCxnSpPr>
        <p:spPr>
          <a:xfrm>
            <a:off x="2194560" y="3122874"/>
            <a:ext cx="3927763" cy="2683566"/>
          </a:xfrm>
          <a:prstGeom prst="line">
            <a:avLst/>
          </a:prstGeom>
          <a:ln w="25400">
            <a:solidFill>
              <a:srgbClr val="C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383426" y="5407761"/>
            <a:ext cx="2667304" cy="292608"/>
          </a:xfrm>
          <a:prstGeom prst="rect">
            <a:avLst/>
          </a:prstGeom>
          <a:noFill/>
        </p:spPr>
        <p:txBody>
          <a:bodyPr wrap="square" lIns="45720" rIns="45720" tIns="0" bIns="0">
            <a:spAutoFit/>
          </a:bodyPr>
          <a:lstStyle/>
          <a:p xmlns:m="http://schemas.openxmlformats.org/officeDocument/2006/math" xmlns:a14="http://schemas.microsoft.com/office/drawing/2010/main">
            <a:r>
              <a:rPr lang="en-US" sz="1400" b="1">
                <a:solidFill>
                  <a:srgbClr val="C00000"/>
                </a:solidFill>
                <a:latin typeface="Calibri"/>
              </a:rPr>
              <a:t>Previous demand at </a:t>
            </a:r>
            <a14:m>
              <m:oMath>
                <m:sSub>
                  <m:sSubPr>
                    <m:ctrlPr>
                      <a:rPr lang="en-US" i="1">
                        <a:latin typeface="Cambria Math"/>
                      </a:rPr>
                    </m:ctrlPr>
                  </m:sSubPr>
                  <m:e>
                    <m:r>
                      <a:rPr lang="en-US" b="0" i="1" sz="1400">
                        <a:solidFill>
                          <a:srgbClr val="C00000"/>
                        </a:solidFill>
                        <a:latin typeface="Cambria Math"/>
                        <a:ea typeface="Cambria Math"/>
                      </a:rPr>
                      <m:t>P</m:t>
                    </m:r>
                  </m:e>
                  <m:sub>
                    <m:r>
                      <m:rPr>
                        <m:sty m:val="p"/>
                      </m:rPr>
                      <a:rPr lang="en-US" b="0" i="0" sz="1400">
                        <a:solidFill>
                          <a:srgbClr val="C00000"/>
                        </a:solidFill>
                        <a:latin typeface="Cambria Math"/>
                      </a:rPr>
                      <m:t xml:space="preserve">B</m:t>
                    </m:r>
                  </m:sub>
                </m:sSub>
                <m:r>
                  <m:rPr>
                    <m:sty m:val="p"/>
                  </m:rPr>
                  <a:rPr lang="en-US" b="0" i="0" sz="1400">
                    <a:solidFill>
                      <a:srgbClr val="C00000"/>
                    </a:solidFill>
                    <a:latin typeface="Cambria Math"/>
                  </a:rPr>
                  <m:t xml:space="preserve"> = 200</m:t>
                </m:r>
              </m:oMath>
            </a14:m>
            <a:endParaRPr lang="en-US"/>
          </a:p>
        </p:txBody>
      </p:sp>
      <p:cxnSp>
        <p:nvCxnSpPr>
          <p:cNvPr id="13" name="Connector 12"/>
          <p:cNvCxnSpPr/>
          <p:nvPr/>
        </p:nvCxnSpPr>
        <p:spPr>
          <a:xfrm flipH="1">
            <a:off x="6017666" y="5589727"/>
            <a:ext cx="347472" cy="137160"/>
          </a:xfrm>
          <a:prstGeom prst="line">
            <a:avLst/>
          </a:prstGeom>
          <a:ln w="254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5748832" y="5016398"/>
            <a:ext cx="443484" cy="523951"/>
          </a:xfrm>
          <a:prstGeom prst="line">
            <a:avLst/>
          </a:prstGeom>
          <a:ln w="34925">
            <a:solidFill>
              <a:srgbClr val="1B5E2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94560" y="2228353"/>
            <a:ext cx="5237018" cy="3578087"/>
          </a:xfrm>
          <a:prstGeom prst="line">
            <a:avLst/>
          </a:prstGeom>
          <a:ln w="31750">
            <a:solidFill>
              <a:srgbClr val="1B5E2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94560" y="2228353"/>
            <a:ext cx="2618509" cy="3578087"/>
          </a:xfrm>
          <a:prstGeom prst="line">
            <a:avLst/>
          </a:prstGeom>
          <a:ln w="25400">
            <a:solidFill>
              <a:srgbClr val="1B5E20"/>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339742" y="5102352"/>
            <a:ext cx="868680" cy="329184"/>
          </a:xfrm>
          <a:prstGeom prst="rect">
            <a:avLst/>
          </a:prstGeom>
          <a:noFill/>
        </p:spPr>
        <p:txBody>
          <a:bodyPr wrap="square" anchor="ctr">
            <a:spAutoFit/>
          </a:bodyPr>
          <a:lstStyle/>
          <a:p xmlns:m="http://schemas.openxmlformats.org/officeDocument/2006/math" xmlns:a14="http://schemas.microsoft.com/office/drawing/2010/main">
            <a:pPr algn="ctr">
              <a:defRPr sz="1500" b="0" i="1">
                <a:solidFill>
                  <a:srgbClr val="4D5D2C"/>
                </a:solidFill>
                <a:latin typeface="Cambria Math"/>
              </a:defRPr>
            </a:pPr>
            <a14:m>
              <m:oMathPara>
                <m:oMathParaPr>
                  <m:jc m:val="centerGroup"/>
                </m:oMathParaPr>
                <m:oMath>
                  <m:sSub>
                    <m:sSubPr>
                      <m:ctrlPr>
                        <a:rPr lang="en-US" i="1">
                          <a:latin typeface="Cambria Math"/>
                        </a:rPr>
                      </m:ctrlPr>
                    </m:sSubPr>
                    <m:e>
                      <m:r>
                        <m:rPr>
                          <m:sty m:val="p"/>
                        </m:rPr>
                        <a:rPr lang="en-US" b="0" i="0" sz="1500">
                          <a:solidFill>
                            <a:srgbClr val="4D5D2C"/>
                          </a:solidFill>
                          <a:latin typeface="Cambria Math"/>
                        </a:rPr>
                        <m:t xml:space="preserve">MR</m:t>
                      </m:r>
                    </m:e>
                    <m:sub>
                      <m:r>
                        <m:rPr>
                          <m:sty m:val="p"/>
                        </m:rPr>
                        <a:rPr lang="en-US" b="0" i="0" sz="1500">
                          <a:solidFill>
                            <a:srgbClr val="4D5D2C"/>
                          </a:solidFill>
                          <a:latin typeface="Cambria Math"/>
                        </a:rPr>
                        <m:t xml:space="preserve">A</m:t>
                      </m:r>
                    </m:sub>
                  </m:sSub>
                </m:oMath>
              </m:oMathPara>
            </a14:m>
            <a:endParaRPr lang="en-US" sz="1500"/>
          </a:p>
        </p:txBody>
      </p:sp>
      <p:sp>
        <p:nvSpPr>
          <p:cNvPr id="18" name="TextBox 17"/>
          <p:cNvSpPr txBox="1"/>
          <p:nvPr/>
        </p:nvSpPr>
        <p:spPr>
          <a:xfrm>
            <a:off x="2738628" y="1995220"/>
            <a:ext cx="2834640" cy="1051560"/>
          </a:xfrm>
          <a:prstGeom prst="rect">
            <a:avLst/>
          </a:prstGeom>
          <a:noFill/>
        </p:spPr>
        <p:txBody>
          <a:bodyPr wrap="square" lIns="45720" rIns="45720" tIns="0" bIns="0">
            <a:spAutoFit/>
          </a:bodyPr>
          <a:lstStyle/>
          <a:p xmlns:m="http://schemas.openxmlformats.org/officeDocument/2006/math" xmlns:a14="http://schemas.microsoft.com/office/drawing/2010/main">
            <a:r>
              <a:rPr lang="en-US" sz="1500" b="1">
                <a:solidFill>
                  <a:srgbClr val="4D5D2C"/>
                </a:solidFill>
                <a:latin typeface="Calibri"/>
              </a:rPr>
              <a:t>Airbus' (inverse) Demand</a:t>
            </a:r>
            <a:endParaRPr lang="en-US"/>
          </a:p>
          <a:p xmlns:m="http://schemas.openxmlformats.org/officeDocument/2006/math" xmlns:a14="http://schemas.microsoft.com/office/drawing/2010/main">
            <a14:m>
              <m:oMath>
                <m:sSub>
                  <m:sSubPr>
                    <m:ctrlPr>
                      <a:rPr lang="en-US" i="1">
                        <a:latin typeface="Cambria Math"/>
                      </a:rPr>
                    </m:ctrlPr>
                  </m:sSubPr>
                  <m:e>
                    <m:r>
                      <a:rPr lang="en-US" b="0" i="1" sz="1400">
                        <a:solidFill>
                          <a:srgbClr val="C00000"/>
                        </a:solidFill>
                        <a:latin typeface="Cambria Math"/>
                        <a:ea typeface="Cambria Math"/>
                      </a:rPr>
                      <m:t>P</m:t>
                    </m:r>
                  </m:e>
                  <m:sub>
                    <m:r>
                      <m:rPr>
                        <m:sty m:val="p"/>
                      </m:rPr>
                      <a:rPr lang="en-US" b="0" i="0" sz="1400">
                        <a:solidFill>
                          <a:srgbClr val="C00000"/>
                        </a:solidFill>
                        <a:latin typeface="Cambria Math"/>
                      </a:rPr>
                      <m:t xml:space="preserve">A</m:t>
                    </m:r>
                  </m:sub>
                </m:sSub>
                <m:r>
                  <m:rPr>
                    <m:sty m:val="p"/>
                  </m:rPr>
                  <a:rPr lang="en-US" b="0" i="0" sz="1400">
                    <a:solidFill>
                      <a:srgbClr val="4D5D2C"/>
                    </a:solidFill>
                    <a:latin typeface="Cambria Math"/>
                  </a:rPr>
                  <m:t xml:space="preserve"> = 200 − 0.5·</m:t>
                </m:r>
                <m:sSub>
                  <m:sSubPr>
                    <m:ctrlPr>
                      <a:rPr lang="en-US" i="1">
                        <a:latin typeface="Cambria Math"/>
                      </a:rPr>
                    </m:ctrlPr>
                  </m:sSubPr>
                  <m:e>
                    <m:r>
                      <a:rPr lang="en-US" b="0" i="1" sz="1400">
                        <a:solidFill>
                          <a:srgbClr val="C00000"/>
                        </a:solidFill>
                        <a:latin typeface="Cambria Math"/>
                        <a:ea typeface="Cambria Math"/>
                      </a:rPr>
                      <m:t>Q</m:t>
                    </m:r>
                  </m:e>
                  <m:sub>
                    <m:r>
                      <m:rPr>
                        <m:sty m:val="p"/>
                      </m:rPr>
                      <a:rPr lang="en-US" b="0" i="0" sz="1400">
                        <a:solidFill>
                          <a:srgbClr val="C00000"/>
                        </a:solidFill>
                        <a:latin typeface="Cambria Math"/>
                      </a:rPr>
                      <m:t xml:space="preserve">A</m:t>
                    </m:r>
                  </m:sub>
                </m:sSub>
                <m:r>
                  <m:rPr>
                    <m:sty m:val="p"/>
                  </m:rPr>
                  <a:rPr lang="en-US" b="0" i="0" sz="1400">
                    <a:solidFill>
                      <a:srgbClr val="4D5D2C"/>
                    </a:solidFill>
                    <a:latin typeface="Cambria Math"/>
                  </a:rPr>
                  <m:t xml:space="preserve"> + 0.5·</m:t>
                </m:r>
                <m:sSub>
                  <m:sSubPr>
                    <m:ctrlPr>
                      <a:rPr lang="en-US" i="1">
                        <a:latin typeface="Cambria Math"/>
                      </a:rPr>
                    </m:ctrlPr>
                  </m:sSubPr>
                  <m:e>
                    <m:r>
                      <a:rPr lang="en-US" b="0" i="1" sz="1400">
                        <a:solidFill>
                          <a:srgbClr val="4D5D2C"/>
                        </a:solidFill>
                        <a:latin typeface="Cambria Math"/>
                        <a:ea typeface="Cambria Math"/>
                      </a:rPr>
                      <m:t>P</m:t>
                    </m:r>
                  </m:e>
                  <m:sub>
                    <m:r>
                      <m:rPr>
                        <m:sty m:val="p"/>
                      </m:rPr>
                      <a:rPr lang="en-US" b="0" i="0" sz="1400">
                        <a:solidFill>
                          <a:srgbClr val="4D5D2C"/>
                        </a:solidFill>
                        <a:latin typeface="Cambria Math"/>
                      </a:rPr>
                      <m:t xml:space="preserve">B</m:t>
                    </m:r>
                  </m:sub>
                </m:sSub>
              </m:oMath>
            </a14:m>
            <a:endParaRPr lang="en-US"/>
          </a:p>
          <a:p xmlns:m="http://schemas.openxmlformats.org/officeDocument/2006/math" xmlns:a14="http://schemas.microsoft.com/office/drawing/2010/main">
            <a14:m>
              <m:oMath>
                <m:r>
                  <m:rPr>
                    <m:sty m:val="p"/>
                  </m:rPr>
                  <a:rPr lang="en-US" b="0" i="0" sz="1400">
                    <a:solidFill>
                      <a:srgbClr val="4D5D2C"/>
                    </a:solidFill>
                    <a:latin typeface="Cambria Math"/>
                  </a:rPr>
                  <m:t xml:space="preserve">    = 400 − 0.5·</m:t>
                </m:r>
                <m:sSub>
                  <m:sSubPr>
                    <m:ctrlPr>
                      <a:rPr lang="en-US" i="1">
                        <a:latin typeface="Cambria Math"/>
                      </a:rPr>
                    </m:ctrlPr>
                  </m:sSubPr>
                  <m:e>
                    <m:r>
                      <a:rPr lang="en-US" b="0" i="1" sz="1400">
                        <a:solidFill>
                          <a:srgbClr val="C00000"/>
                        </a:solidFill>
                        <a:latin typeface="Cambria Math"/>
                        <a:ea typeface="Cambria Math"/>
                      </a:rPr>
                      <m:t>Q</m:t>
                    </m:r>
                  </m:e>
                  <m:sub>
                    <m:r>
                      <m:rPr>
                        <m:sty m:val="p"/>
                      </m:rPr>
                      <a:rPr lang="en-US" b="0" i="0" sz="1400">
                        <a:solidFill>
                          <a:srgbClr val="C00000"/>
                        </a:solidFill>
                        <a:latin typeface="Cambria Math"/>
                      </a:rPr>
                      <m:t xml:space="preserve">A</m:t>
                    </m:r>
                  </m:sub>
                </m:sSub>
              </m:oMath>
            </a14:m>
            <a:endParaRPr lang="en-US"/>
          </a:p>
        </p:txBody>
      </p:sp>
      <p:grpSp>
        <p:nvGrpSpPr>
          <p:cNvPr id="21" name="CircleTag 21"/>
          <p:cNvGrpSpPr/>
          <p:nvPr/>
        </p:nvGrpSpPr>
        <p:grpSpPr>
          <a:xfrm>
            <a:off x="5181904" y="1786737"/>
            <a:ext cx="1314908" cy="779983"/>
            <a:chOff x="5181904" y="1786737"/>
            <a:chExt cx="1314908" cy="779983"/>
          </a:xfrm>
        </p:grpSpPr>
        <p:sp>
          <p:nvSpPr>
            <p:cNvPr id="19" name="Oval 18"/>
            <p:cNvSpPr/>
            <p:nvPr/>
          </p:nvSpPr>
          <p:spPr>
            <a:xfrm>
              <a:off x="5181904" y="2182672"/>
              <a:ext cx="307238" cy="384048"/>
            </a:xfrm>
            <a:prstGeom prst="ellipse">
              <a:avLst/>
            </a:prstGeom>
            <a:noFill/>
            <a:ln w="25400">
              <a:solidFill>
                <a:srgbClr val="4D5D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73852" y="1786737"/>
              <a:ext cx="822960" cy="320040"/>
            </a:xfrm>
            <a:prstGeom prst="rect">
              <a:avLst/>
            </a:prstGeom>
            <a:noFill/>
          </p:spPr>
          <p:txBody>
            <a:bodyPr wrap="square" lIns="0" rIns="0" tIns="0" bIns="0">
              <a:spAutoFit/>
            </a:bodyPr>
            <a:lstStyle/>
            <a:p>
              <a:pPr algn="l"/>
              <a:r>
                <a:rPr sz="1600" b="0" i="1" u="none">
                  <a:solidFill>
                    <a:srgbClr val="4D5D2C"/>
                  </a:solidFill>
                  <a:latin typeface="Calibri"/>
                </a:rPr>
                <a:t>400</a:t>
              </a:r>
            </a:p>
          </p:txBody>
        </p:sp>
      </p:grpSp>
      <p:cxnSp>
        <p:nvCxnSpPr>
          <p:cNvPr id="22" name="Connector 21"/>
          <p:cNvCxnSpPr/>
          <p:nvPr/>
        </p:nvCxnSpPr>
        <p:spPr>
          <a:xfrm flipH="1">
            <a:off x="5445252" y="2015337"/>
            <a:ext cx="182880" cy="192024"/>
          </a:xfrm>
          <a:prstGeom prst="line">
            <a:avLst/>
          </a:prstGeom>
          <a:ln w="25400">
            <a:solidFill>
              <a:srgbClr val="4D5D2C"/>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127748" y="4398264"/>
            <a:ext cx="3108960" cy="731520"/>
          </a:xfrm>
          <a:prstGeom prst="rect">
            <a:avLst/>
          </a:prstGeom>
          <a:noFill/>
        </p:spPr>
        <p:txBody>
          <a:bodyPr wrap="square" lIns="45720" rIns="45720" tIns="0" bIns="0">
            <a:spAutoFit/>
          </a:bodyPr>
          <a:lstStyle/>
          <a:p xmlns:m="http://schemas.openxmlformats.org/officeDocument/2006/math" xmlns:a14="http://schemas.microsoft.com/office/drawing/2010/main">
            <a:r>
              <a:rPr lang="en-US" sz="1700" b="1">
                <a:solidFill>
                  <a:srgbClr val="4D5D2C"/>
                </a:solidFill>
                <a:latin typeface="Calibri"/>
              </a:rPr>
              <a:t>Higher demand for Airbus because </a:t>
            </a:r>
            <a14:m>
              <m:oMath>
                <m:sSub>
                  <m:sSubPr>
                    <m:ctrlPr>
                      <a:rPr lang="en-US" i="1">
                        <a:latin typeface="Cambria Math"/>
                      </a:rPr>
                    </m:ctrlPr>
                  </m:sSubPr>
                  <m:e>
                    <m:r>
                      <a:rPr lang="en-US" b="0" i="1" sz="1700">
                        <a:solidFill>
                          <a:srgbClr val="4D5D2C"/>
                        </a:solidFill>
                        <a:latin typeface="Cambria Math"/>
                        <a:ea typeface="Cambria Math"/>
                      </a:rPr>
                      <m:t>P</m:t>
                    </m:r>
                  </m:e>
                  <m:sub>
                    <m:r>
                      <m:rPr>
                        <m:sty m:val="p"/>
                      </m:rPr>
                      <a:rPr lang="en-US" b="0" i="0" sz="1700">
                        <a:solidFill>
                          <a:srgbClr val="4D5D2C"/>
                        </a:solidFill>
                        <a:latin typeface="Cambria Math"/>
                      </a:rPr>
                      <m:t xml:space="preserve">B</m:t>
                    </m:r>
                  </m:sub>
                </m:sSub>
              </m:oMath>
            </a14:m>
            <a:r>
              <a:rPr lang="en-US" sz="1700" b="1">
                <a:solidFill>
                  <a:srgbClr val="4D5D2C"/>
                </a:solidFill>
                <a:latin typeface="Calibri"/>
              </a:rPr>
              <a:t> has increased</a:t>
            </a:r>
            <a:endParaRPr lang="en-US"/>
          </a:p>
        </p:txBody>
      </p:sp>
      <p:cxnSp>
        <p:nvCxnSpPr>
          <p:cNvPr id="24" name="Connector 23"/>
          <p:cNvCxnSpPr/>
          <p:nvPr/>
        </p:nvCxnSpPr>
        <p:spPr>
          <a:xfrm flipH="1">
            <a:off x="6461150" y="4676241"/>
            <a:ext cx="597103" cy="408737"/>
          </a:xfrm>
          <a:prstGeom prst="line">
            <a:avLst/>
          </a:prstGeom>
          <a:ln w="25400">
            <a:solidFill>
              <a:srgbClr val="4D5D2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194560" y="4017396"/>
            <a:ext cx="5564331" cy="0"/>
          </a:xfrm>
          <a:prstGeom prst="line">
            <a:avLst/>
          </a:prstGeom>
          <a:ln w="31750">
            <a:solidFill>
              <a:srgbClr val="555B66"/>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366406" y="3687775"/>
            <a:ext cx="731520" cy="245973"/>
          </a:xfrm>
          <a:prstGeom prst="rect">
            <a:avLst/>
          </a:prstGeom>
          <a:noFill/>
        </p:spPr>
        <p:txBody>
          <a:bodyPr wrap="square" lIns="0" rIns="0" tIns="0" bIns="0">
            <a:spAutoFit/>
          </a:bodyPr>
          <a:lstStyle/>
          <a:p>
            <a:pPr algn="ctr"/>
            <a:r>
              <a:rPr sz="1600" b="1" i="1" u="none">
                <a:solidFill>
                  <a:srgbClr val="555B66"/>
                </a:solidFill>
                <a:latin typeface="Calibri"/>
              </a:rPr>
              <a:t>MC</a:t>
            </a:r>
          </a:p>
        </p:txBody>
      </p:sp>
      <p:cxnSp>
        <p:nvCxnSpPr>
          <p:cNvPr id="27" name="Connector 26"/>
          <p:cNvCxnSpPr/>
          <p:nvPr/>
        </p:nvCxnSpPr>
        <p:spPr>
          <a:xfrm flipV="1">
            <a:off x="3503814" y="3122874"/>
            <a:ext cx="0" cy="2683566"/>
          </a:xfrm>
          <a:prstGeom prst="line">
            <a:avLst/>
          </a:prstGeom>
          <a:ln w="12700">
            <a:solidFill>
              <a:srgbClr val="555B66"/>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194560" y="3122874"/>
            <a:ext cx="1309254" cy="0"/>
          </a:xfrm>
          <a:prstGeom prst="line">
            <a:avLst/>
          </a:prstGeom>
          <a:ln w="12700">
            <a:solidFill>
              <a:srgbClr val="555B66"/>
            </a:solidFill>
            <a:prstDash val="sysDot"/>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3453522" y="3967104"/>
            <a:ext cx="100584" cy="100584"/>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453522" y="3072582"/>
            <a:ext cx="100584" cy="100584"/>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16151" y="2100337"/>
            <a:ext cx="868680" cy="274320"/>
          </a:xfrm>
          <a:prstGeom prst="rect">
            <a:avLst/>
          </a:prstGeom>
          <a:noFill/>
        </p:spPr>
        <p:txBody>
          <a:bodyPr wrap="square" lIns="0" rIns="0" tIns="0" bIns="0">
            <a:spAutoFit/>
          </a:bodyPr>
          <a:lstStyle/>
          <a:p>
            <a:pPr algn="r"/>
            <a:r>
              <a:rPr sz="1600" b="0" i="0" u="none">
                <a:solidFill>
                  <a:srgbClr val="0B2B4E"/>
                </a:solidFill>
                <a:latin typeface="Calibri"/>
              </a:rPr>
              <a:t>400</a:t>
            </a:r>
          </a:p>
        </p:txBody>
      </p:sp>
      <p:sp>
        <p:nvSpPr>
          <p:cNvPr id="32" name="TextBox 31"/>
          <p:cNvSpPr txBox="1"/>
          <p:nvPr/>
        </p:nvSpPr>
        <p:spPr>
          <a:xfrm>
            <a:off x="1216151" y="2994858"/>
            <a:ext cx="868680" cy="274320"/>
          </a:xfrm>
          <a:prstGeom prst="rect">
            <a:avLst/>
          </a:prstGeom>
          <a:noFill/>
        </p:spPr>
        <p:txBody>
          <a:bodyPr wrap="square" lIns="0" rIns="0" tIns="0" bIns="0">
            <a:spAutoFit/>
          </a:bodyPr>
          <a:lstStyle/>
          <a:p>
            <a:pPr algn="r"/>
            <a:r>
              <a:rPr sz="1600" b="1" i="0" u="none">
                <a:solidFill>
                  <a:srgbClr val="0B2B4E"/>
                </a:solidFill>
                <a:latin typeface="Calibri"/>
              </a:rPr>
              <a:t>300</a:t>
            </a:r>
          </a:p>
        </p:txBody>
      </p:sp>
      <p:sp>
        <p:nvSpPr>
          <p:cNvPr id="33" name="TextBox 32"/>
          <p:cNvSpPr txBox="1"/>
          <p:nvPr/>
        </p:nvSpPr>
        <p:spPr>
          <a:xfrm>
            <a:off x="1216151" y="3889380"/>
            <a:ext cx="868680" cy="274320"/>
          </a:xfrm>
          <a:prstGeom prst="rect">
            <a:avLst/>
          </a:prstGeom>
          <a:noFill/>
        </p:spPr>
        <p:txBody>
          <a:bodyPr wrap="square" lIns="0" rIns="0" tIns="0" bIns="0">
            <a:spAutoFit/>
          </a:bodyPr>
          <a:lstStyle/>
          <a:p>
            <a:pPr algn="r"/>
            <a:r>
              <a:rPr sz="1600" b="0" i="0" u="none">
                <a:solidFill>
                  <a:srgbClr val="555B66"/>
                </a:solidFill>
                <a:latin typeface="Calibri"/>
              </a:rPr>
              <a:t>200</a:t>
            </a:r>
          </a:p>
        </p:txBody>
      </p:sp>
      <p:sp>
        <p:nvSpPr>
          <p:cNvPr id="34" name="TextBox 33"/>
          <p:cNvSpPr txBox="1"/>
          <p:nvPr/>
        </p:nvSpPr>
        <p:spPr>
          <a:xfrm>
            <a:off x="3046614" y="5861303"/>
            <a:ext cx="914400" cy="274320"/>
          </a:xfrm>
          <a:prstGeom prst="rect">
            <a:avLst/>
          </a:prstGeom>
          <a:noFill/>
        </p:spPr>
        <p:txBody>
          <a:bodyPr wrap="square" lIns="0" rIns="0" tIns="0" bIns="0">
            <a:spAutoFit/>
          </a:bodyPr>
          <a:lstStyle/>
          <a:p>
            <a:pPr algn="ctr"/>
            <a:r>
              <a:rPr sz="1600" b="1" i="0" u="none">
                <a:solidFill>
                  <a:srgbClr val="0B2B4E"/>
                </a:solidFill>
                <a:latin typeface="Calibri"/>
              </a:rPr>
              <a:t>200</a:t>
            </a:r>
          </a:p>
        </p:txBody>
      </p:sp>
      <p:sp>
        <p:nvSpPr>
          <p:cNvPr id="35" name="TextBox 34"/>
          <p:cNvSpPr txBox="1"/>
          <p:nvPr/>
        </p:nvSpPr>
        <p:spPr>
          <a:xfrm>
            <a:off x="4355869" y="5861303"/>
            <a:ext cx="914400" cy="274320"/>
          </a:xfrm>
          <a:prstGeom prst="rect">
            <a:avLst/>
          </a:prstGeom>
          <a:noFill/>
        </p:spPr>
        <p:txBody>
          <a:bodyPr wrap="square" lIns="0" rIns="0" tIns="0" bIns="0">
            <a:spAutoFit/>
          </a:bodyPr>
          <a:lstStyle/>
          <a:p>
            <a:pPr algn="ctr"/>
            <a:r>
              <a:rPr sz="1600" b="0" i="0" u="none">
                <a:solidFill>
                  <a:srgbClr val="0B2B4E"/>
                </a:solidFill>
                <a:latin typeface="Calibri"/>
              </a:rPr>
              <a:t>400</a:t>
            </a:r>
          </a:p>
        </p:txBody>
      </p:sp>
      <p:sp>
        <p:nvSpPr>
          <p:cNvPr id="36" name="TextBox 35"/>
          <p:cNvSpPr txBox="1"/>
          <p:nvPr/>
        </p:nvSpPr>
        <p:spPr>
          <a:xfrm>
            <a:off x="6974378" y="5861303"/>
            <a:ext cx="914400" cy="274320"/>
          </a:xfrm>
          <a:prstGeom prst="rect">
            <a:avLst/>
          </a:prstGeom>
          <a:noFill/>
        </p:spPr>
        <p:txBody>
          <a:bodyPr wrap="square" lIns="0" rIns="0" tIns="0" bIns="0">
            <a:spAutoFit/>
          </a:bodyPr>
          <a:lstStyle/>
          <a:p>
            <a:pPr algn="ctr"/>
            <a:r>
              <a:rPr sz="1600" b="0" i="0" u="none">
                <a:solidFill>
                  <a:srgbClr val="0B2B4E"/>
                </a:solidFill>
                <a:latin typeface="Calibri"/>
              </a:rPr>
              <a:t>800</a:t>
            </a:r>
          </a:p>
        </p:txBody>
      </p:sp>
      <p:sp>
        <p:nvSpPr>
          <p:cNvPr id="37" name="Rectangle 36"/>
          <p:cNvSpPr/>
          <p:nvPr/>
        </p:nvSpPr>
        <p:spPr>
          <a:xfrm>
            <a:off x="8823960" y="1572768"/>
            <a:ext cx="3017520" cy="822960"/>
          </a:xfrm>
          <a:prstGeom prst="rect">
            <a:avLst/>
          </a:prstGeom>
          <a:solidFill>
            <a:srgbClr val="FFFFFF"/>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
            </a:r>
            <a:r>
              <a:rPr sz="1800" b="0" i="0">
                <a:solidFill>
                  <a:srgbClr val="C00000"/>
                </a:solidFill>
                <a:latin typeface="Calibri"/>
              </a:rPr>
              <a:t>Airbus assumes that Boeing charges </a:t>
            </a:r>
            <a:r>
              <a:rPr sz="1800" b="1" i="1">
                <a:solidFill>
                  <a:srgbClr val="4D5D2C"/>
                </a:solidFill>
                <a:latin typeface="Calibri"/>
              </a:rPr>
              <a:t>P</a:t>
            </a:r>
            <a:r>
              <a:rPr sz="1800" b="1" i="1" baseline="-25000">
                <a:solidFill>
                  <a:srgbClr val="4D5D2C"/>
                </a:solidFill>
                <a:latin typeface="Calibri"/>
              </a:rPr>
              <a:t>B</a:t>
            </a:r>
            <a:r>
              <a:rPr sz="1800" b="1" i="1">
                <a:solidFill>
                  <a:srgbClr val="4D5D2C"/>
                </a:solidFill>
                <a:latin typeface="Calibri"/>
              </a:rPr>
              <a:t> = 400</a:t>
            </a:r>
          </a:p>
        </p:txBody>
      </p:sp>
      <p:sp>
        <p:nvSpPr>
          <p:cNvPr id="38" name="Rectangle 37"/>
          <p:cNvSpPr/>
          <p:nvPr/>
        </p:nvSpPr>
        <p:spPr>
          <a:xfrm>
            <a:off x="8823960" y="2578608"/>
            <a:ext cx="3017520" cy="868680"/>
          </a:xfrm>
          <a:prstGeom prst="rect">
            <a:avLst/>
          </a:prstGeom>
          <a:solidFill>
            <a:srgbClr val="FFFFFF"/>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
            </a:r>
            <a:r>
              <a:rPr sz="1800" b="1" i="0">
                <a:solidFill>
                  <a:srgbClr val="C00000"/>
                </a:solidFill>
                <a:latin typeface="Calibri"/>
              </a:rPr>
              <a:t>→ Airbus' optimal price response is </a:t>
            </a:r>
            <a:r>
              <a:rPr sz="1800" b="1" i="1">
                <a:solidFill>
                  <a:srgbClr val="C00000"/>
                </a:solidFill>
                <a:latin typeface="Calibri"/>
              </a:rPr>
              <a:t>P</a:t>
            </a:r>
            <a:r>
              <a:rPr sz="1800" b="1" i="1" baseline="-25000">
                <a:solidFill>
                  <a:srgbClr val="C00000"/>
                </a:solidFill>
                <a:latin typeface="Calibri"/>
              </a:rPr>
              <a:t>A</a:t>
            </a:r>
            <a:r>
              <a:rPr sz="1800" b="1" i="0">
                <a:solidFill>
                  <a:srgbClr val="C00000"/>
                </a:solidFill>
                <a:latin typeface="Calibri"/>
              </a:rPr>
              <a:t> = 300</a:t>
            </a:r>
          </a:p>
        </p:txBody>
      </p:sp>
      <p:sp>
        <p:nvSpPr>
          <p:cNvPr id="39" name="Rectangle 3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42" name="TextBox 41"/>
          <p:cNvSpPr txBox="1"/>
          <p:nvPr/>
        </p:nvSpPr>
        <p:spPr>
          <a:xfrm>
            <a:off x="11475720" y="6583680"/>
            <a:ext cx="502920" cy="292608"/>
          </a:xfrm>
          <a:prstGeom prst="rect">
            <a:avLst/>
          </a:prstGeom>
          <a:noFill/>
        </p:spPr>
        <p:txBody>
          <a:bodyPr wrap="none" lIns="0" rIns="0" tIns="0" bIns="0">
            <a:spAutoFit/>
          </a:bodyPr>
          <a:lstStyle/>
          <a:p>
            <a:pPr algn="r"/>
            <a:fld id="{6C97A614-7507-5736-87E3-9F0EC5285CBC}" type="slidenum">
              <a:rPr lang="en-US" sz="1200" dirty="0">
                <a:solidFill>
                  <a:srgbClr val="555B66"/>
                </a:solidFill>
                <a:latin typeface="Calibri"/>
              </a:rPr>
              <a:t>43</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fade">
                                      <p:cBhvr>
                                        <p:cTn id="38" dur="500"/>
                                        <p:tgtEl>
                                          <p:spTgt spid="3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500"/>
                                        <p:tgtEl>
                                          <p:spTgt spid="3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500"/>
                                        <p:tgtEl>
                                          <p:spTgt spid="2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500"/>
                                        <p:tgtEl>
                                          <p:spTgt spid="2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500"/>
                                        <p:tgtEl>
                                          <p:spTgt spid="3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fade">
                                      <p:cBhvr>
                                        <p:cTn id="69" dur="500"/>
                                        <p:tgtEl>
                                          <p:spTgt spid="35"/>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5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5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50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500"/>
                                        <p:tgtEl>
                                          <p:spTgt spid="3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500"/>
                                        <p:tgtEl>
                                          <p:spTgt spid="32"/>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4"/>
                                        </p:tgtEl>
                                        <p:attrNameLst>
                                          <p:attrName>style.visibility</p:attrName>
                                        </p:attrNameLst>
                                      </p:cBhvr>
                                      <p:to>
                                        <p:strVal val="visible"/>
                                      </p:to>
                                    </p:set>
                                    <p:animEffect transition="in" filter="fade">
                                      <p:cBhvr>
                                        <p:cTn id="89" dur="5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38"/>
                                        </p:tgtEl>
                                        <p:attrNameLst>
                                          <p:attrName>style.visibility</p:attrName>
                                        </p:attrNameLst>
                                      </p:cBhvr>
                                      <p:to>
                                        <p:strVal val="visible"/>
                                      </p:to>
                                    </p:set>
                                    <p:animEffect transition="in" filter="fade">
                                      <p:cBhvr>
                                        <p:cTn id="9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Differentiated Goods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Equilibrium Prices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2514600" y="1435608"/>
            <a:ext cx="0" cy="450799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14600" y="5943600"/>
            <a:ext cx="601675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rot="16200000">
            <a:off x="491947" y="3187598"/>
            <a:ext cx="2743200" cy="292608"/>
          </a:xfrm>
          <a:prstGeom prst="rect">
            <a:avLst/>
          </a:prstGeom>
          <a:noFill/>
        </p:spPr>
        <p:txBody>
          <a:bodyPr wrap="square" lIns="45720" rIns="45720" tIns="0" bIns="0">
            <a:spAutoFit/>
          </a:bodyPr>
          <a:lstStyle/>
          <a:p xmlns:m="http://schemas.openxmlformats.org/officeDocument/2006/math" xmlns:a14="http://schemas.microsoft.com/office/drawing/2010/main">
            <a:r>
              <a:rPr lang="en-US" sz="1600" b="1" i="1">
                <a:solidFill>
                  <a:srgbClr val="C00000"/>
                </a:solidFill>
                <a:latin typeface="Calibri"/>
              </a:rPr>
              <a:t>Airbus' Price (</a:t>
            </a:r>
            <a14:m>
              <m:oMath>
                <m:sSub>
                  <m:sSubPr>
                    <m:ctrlPr>
                      <a:rPr lang="en-US" i="1">
                        <a:latin typeface="Cambria Math"/>
                      </a:rPr>
                    </m:ctrlPr>
                  </m:sSubPr>
                  <m:e>
                    <m:r>
                      <a:rPr lang="en-US" b="0" i="1" sz="1600">
                        <a:solidFill>
                          <a:srgbClr val="C00000"/>
                        </a:solidFill>
                        <a:latin typeface="Cambria Math"/>
                        <a:ea typeface="Cambria Math"/>
                      </a:rPr>
                      <m:t>P</m:t>
                    </m:r>
                  </m:e>
                  <m:sub>
                    <m:r>
                      <m:rPr>
                        <m:sty m:val="p"/>
                      </m:rPr>
                      <a:rPr lang="en-US" b="0" i="0" sz="1600">
                        <a:solidFill>
                          <a:srgbClr val="C00000"/>
                        </a:solidFill>
                        <a:latin typeface="Cambria Math"/>
                      </a:rPr>
                      <m:t xml:space="preserve">A</m:t>
                    </m:r>
                  </m:sub>
                </m:sSub>
              </m:oMath>
            </a14:m>
            <a:r>
              <a:rPr lang="en-US" sz="1600" b="1" i="1">
                <a:solidFill>
                  <a:srgbClr val="C00000"/>
                </a:solidFill>
                <a:latin typeface="Calibri"/>
              </a:rPr>
              <a:t>)</a:t>
            </a:r>
            <a:endParaRPr lang="en-US"/>
          </a:p>
        </p:txBody>
      </p:sp>
      <p:sp>
        <p:nvSpPr>
          <p:cNvPr id="10" name="TextBox 9"/>
          <p:cNvSpPr txBox="1"/>
          <p:nvPr/>
        </p:nvSpPr>
        <p:spPr>
          <a:xfrm>
            <a:off x="4572000" y="6263640"/>
            <a:ext cx="2743200" cy="320040"/>
          </a:xfrm>
          <a:prstGeom prst="rect">
            <a:avLst/>
          </a:prstGeom>
          <a:noFill/>
        </p:spPr>
        <p:txBody>
          <a:bodyPr wrap="square" lIns="45720" rIns="45720" tIns="0" bIns="0">
            <a:spAutoFit/>
          </a:bodyPr>
          <a:lstStyle/>
          <a:p xmlns:m="http://schemas.openxmlformats.org/officeDocument/2006/math" xmlns:a14="http://schemas.microsoft.com/office/drawing/2010/main">
            <a:r>
              <a:rPr lang="en-US" sz="1600" b="1" i="1">
                <a:solidFill>
                  <a:srgbClr val="4D5D2C"/>
                </a:solidFill>
                <a:latin typeface="Calibri"/>
              </a:rPr>
              <a:t>Boeing's Price (</a:t>
            </a:r>
            <a14:m>
              <m:oMath>
                <m:sSub>
                  <m:sSubPr>
                    <m:ctrlPr>
                      <a:rPr lang="en-US" i="1">
                        <a:latin typeface="Cambria Math"/>
                      </a:rPr>
                    </m:ctrlPr>
                  </m:sSubPr>
                  <m:e>
                    <m:r>
                      <a:rPr lang="en-US" b="0" i="1" sz="1600">
                        <a:solidFill>
                          <a:srgbClr val="4D5D2C"/>
                        </a:solidFill>
                        <a:latin typeface="Cambria Math"/>
                        <a:ea typeface="Cambria Math"/>
                      </a:rPr>
                      <m:t>P</m:t>
                    </m:r>
                  </m:e>
                  <m:sub>
                    <m:r>
                      <m:rPr>
                        <m:sty m:val="p"/>
                      </m:rPr>
                      <a:rPr lang="en-US" b="0" i="0" sz="1600">
                        <a:solidFill>
                          <a:srgbClr val="4D5D2C"/>
                        </a:solidFill>
                        <a:latin typeface="Cambria Math"/>
                      </a:rPr>
                      <m:t xml:space="preserve">B</m:t>
                    </m:r>
                  </m:sub>
                </m:sSub>
              </m:oMath>
            </a14:m>
            <a:r>
              <a:rPr lang="en-US" sz="1600" b="1" i="1">
                <a:solidFill>
                  <a:srgbClr val="4D5D2C"/>
                </a:solidFill>
                <a:latin typeface="Calibri"/>
              </a:rPr>
              <a:t>)</a:t>
            </a:r>
            <a:endParaRPr lang="en-US"/>
          </a:p>
        </p:txBody>
      </p:sp>
      <p:grpSp>
        <p:nvGrpSpPr>
          <p:cNvPr id="14" name="ReactionA 14"/>
          <p:cNvGrpSpPr/>
          <p:nvPr/>
        </p:nvGrpSpPr>
        <p:grpSpPr>
          <a:xfrm>
            <a:off x="1536192" y="1881835"/>
            <a:ext cx="9308592" cy="1726126"/>
            <a:chOff x="1536192" y="1881835"/>
            <a:chExt cx="9308592" cy="1726126"/>
          </a:xfrm>
        </p:grpSpPr>
        <p:cxnSp>
          <p:nvCxnSpPr>
            <p:cNvPr id="11" name="Connector 10"/>
            <p:cNvCxnSpPr/>
            <p:nvPr/>
          </p:nvCxnSpPr>
          <p:spPr>
            <a:xfrm flipV="1">
              <a:off x="2514600" y="2065564"/>
              <a:ext cx="5603131" cy="1396093"/>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93024" y="1881835"/>
              <a:ext cx="2651760" cy="731520"/>
            </a:xfrm>
            <a:prstGeom prst="rect">
              <a:avLst/>
            </a:prstGeom>
            <a:noFill/>
          </p:spPr>
          <p:txBody>
            <a:bodyPr wrap="square" lIns="45720" rIns="45720" tIns="0" bIns="0">
              <a:spAutoFit/>
            </a:bodyPr>
            <a:lstStyle/>
            <a:p xmlns:m="http://schemas.openxmlformats.org/officeDocument/2006/math" xmlns:a14="http://schemas.microsoft.com/office/drawing/2010/main">
              <a:r>
                <a:rPr lang="en-US" sz="1400" b="1">
                  <a:solidFill>
                    <a:srgbClr val="C00000"/>
                  </a:solidFill>
                  <a:latin typeface="Calibri"/>
                </a:rPr>
                <a:t>Airbus' reaction function</a:t>
              </a:r>
              <a:endParaRPr lang="en-US"/>
            </a:p>
            <a:p xmlns:m="http://schemas.openxmlformats.org/officeDocument/2006/math" xmlns:a14="http://schemas.microsoft.com/office/drawing/2010/main">
              <a14:m>
                <m:oMath>
                  <m:sSub>
                    <m:sSubPr>
                      <m:ctrlPr>
                        <a:rPr lang="en-US" i="1">
                          <a:latin typeface="Cambria Math"/>
                        </a:rPr>
                      </m:ctrlPr>
                    </m:sSubPr>
                    <m:e>
                      <m:r>
                        <a:rPr lang="en-US" b="0" i="1" sz="1400">
                          <a:solidFill>
                            <a:srgbClr val="C00000"/>
                          </a:solidFill>
                          <a:latin typeface="Cambria Math"/>
                          <a:ea typeface="Cambria Math"/>
                        </a:rPr>
                        <m:t>P</m:t>
                      </m:r>
                    </m:e>
                    <m:sub>
                      <m:r>
                        <m:rPr>
                          <m:sty m:val="p"/>
                        </m:rPr>
                        <a:rPr lang="en-US" b="0" i="0" sz="1400">
                          <a:solidFill>
                            <a:srgbClr val="C00000"/>
                          </a:solidFill>
                          <a:latin typeface="Cambria Math"/>
                        </a:rPr>
                        <m:t xml:space="preserve">A</m:t>
                      </m:r>
                    </m:sub>
                  </m:sSub>
                  <m:r>
                    <m:rPr>
                      <m:sty m:val="p"/>
                    </m:rPr>
                    <a:rPr lang="en-US" b="0" i="0" sz="1400">
                      <a:solidFill>
                        <a:srgbClr val="C00000"/>
                      </a:solidFill>
                      <a:latin typeface="Cambria Math"/>
                    </a:rPr>
                    <m:t xml:space="preserve"> = 200 + 0.25·</m:t>
                  </m:r>
                  <m:sSub>
                    <m:sSubPr>
                      <m:ctrlPr>
                        <a:rPr lang="en-US" i="1">
                          <a:latin typeface="Cambria Math"/>
                        </a:rPr>
                      </m:ctrlPr>
                    </m:sSubPr>
                    <m:e>
                      <m:r>
                        <a:rPr lang="en-US" b="0" i="1" sz="1400">
                          <a:solidFill>
                            <a:srgbClr val="4D5D2C"/>
                          </a:solidFill>
                          <a:latin typeface="Cambria Math"/>
                          <a:ea typeface="Cambria Math"/>
                        </a:rPr>
                        <m:t>P</m:t>
                      </m:r>
                    </m:e>
                    <m:sub>
                      <m:r>
                        <m:rPr>
                          <m:sty m:val="p"/>
                        </m:rPr>
                        <a:rPr lang="en-US" b="0" i="0" sz="1400">
                          <a:solidFill>
                            <a:srgbClr val="4D5D2C"/>
                          </a:solidFill>
                          <a:latin typeface="Cambria Math"/>
                        </a:rPr>
                        <m:t xml:space="preserve">B</m:t>
                      </m:r>
                    </m:sub>
                  </m:sSub>
                </m:oMath>
              </a14:m>
              <a:endParaRPr lang="en-US"/>
            </a:p>
          </p:txBody>
        </p:sp>
        <p:sp>
          <p:nvSpPr>
            <p:cNvPr id="13" name="TextBox 12"/>
            <p:cNvSpPr txBox="1"/>
            <p:nvPr/>
          </p:nvSpPr>
          <p:spPr>
            <a:xfrm>
              <a:off x="1536192" y="3333641"/>
              <a:ext cx="868680" cy="274320"/>
            </a:xfrm>
            <a:prstGeom prst="rect">
              <a:avLst/>
            </a:prstGeom>
            <a:noFill/>
          </p:spPr>
          <p:txBody>
            <a:bodyPr wrap="square" lIns="0" rIns="0" tIns="0" bIns="0">
              <a:spAutoFit/>
            </a:bodyPr>
            <a:lstStyle/>
            <a:p>
              <a:pPr algn="r"/>
              <a:r>
                <a:rPr sz="1600" b="0" i="0" u="none">
                  <a:solidFill>
                    <a:srgbClr val="555B66"/>
                  </a:solidFill>
                  <a:latin typeface="Calibri"/>
                </a:rPr>
                <a:t>200</a:t>
              </a:r>
            </a:p>
          </p:txBody>
        </p:sp>
      </p:grpSp>
      <p:grpSp>
        <p:nvGrpSpPr>
          <p:cNvPr id="17" name="ReactionB 17"/>
          <p:cNvGrpSpPr/>
          <p:nvPr/>
        </p:nvGrpSpPr>
        <p:grpSpPr>
          <a:xfrm>
            <a:off x="5004880" y="1289304"/>
            <a:ext cx="3380168" cy="4654296"/>
            <a:chOff x="5004880" y="1289304"/>
            <a:chExt cx="3380168" cy="4654296"/>
          </a:xfrm>
        </p:grpSpPr>
        <p:cxnSp>
          <p:nvCxnSpPr>
            <p:cNvPr id="15" name="Connector 14"/>
            <p:cNvCxnSpPr/>
            <p:nvPr/>
          </p:nvCxnSpPr>
          <p:spPr>
            <a:xfrm flipV="1">
              <a:off x="5004880" y="1600200"/>
              <a:ext cx="1089498" cy="4343400"/>
            </a:xfrm>
            <a:prstGeom prst="line">
              <a:avLst/>
            </a:prstGeom>
            <a:ln w="31750">
              <a:solidFill>
                <a:srgbClr val="1B5E2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733288" y="1289304"/>
              <a:ext cx="2651760" cy="731520"/>
            </a:xfrm>
            <a:prstGeom prst="rect">
              <a:avLst/>
            </a:prstGeom>
            <a:noFill/>
          </p:spPr>
          <p:txBody>
            <a:bodyPr wrap="square" lIns="45720" rIns="45720" tIns="0" bIns="0">
              <a:spAutoFit/>
            </a:bodyPr>
            <a:lstStyle/>
            <a:p xmlns:m="http://schemas.openxmlformats.org/officeDocument/2006/math" xmlns:a14="http://schemas.microsoft.com/office/drawing/2010/main">
              <a:r>
                <a:rPr lang="en-US" sz="1400" b="1">
                  <a:solidFill>
                    <a:srgbClr val="4D5D2C"/>
                  </a:solidFill>
                  <a:latin typeface="Calibri"/>
                </a:rPr>
                <a:t>Boeing's reaction function</a:t>
              </a:r>
              <a:endParaRPr lang="en-US"/>
            </a:p>
            <a:p xmlns:m="http://schemas.openxmlformats.org/officeDocument/2006/math" xmlns:a14="http://schemas.microsoft.com/office/drawing/2010/main">
              <a14:m>
                <m:oMath>
                  <m:sSub>
                    <m:sSubPr>
                      <m:ctrlPr>
                        <a:rPr lang="en-US" i="1">
                          <a:latin typeface="Cambria Math"/>
                        </a:rPr>
                      </m:ctrlPr>
                    </m:sSubPr>
                    <m:e>
                      <m:r>
                        <a:rPr lang="en-US" b="0" i="1" sz="1400">
                          <a:solidFill>
                            <a:srgbClr val="4D5D2C"/>
                          </a:solidFill>
                          <a:latin typeface="Cambria Math"/>
                          <a:ea typeface="Cambria Math"/>
                        </a:rPr>
                        <m:t>P</m:t>
                      </m:r>
                    </m:e>
                    <m:sub>
                      <m:r>
                        <m:rPr>
                          <m:sty m:val="p"/>
                        </m:rPr>
                        <a:rPr lang="en-US" b="0" i="0" sz="1400">
                          <a:solidFill>
                            <a:srgbClr val="4D5D2C"/>
                          </a:solidFill>
                          <a:latin typeface="Cambria Math"/>
                        </a:rPr>
                        <m:t xml:space="preserve">B</m:t>
                      </m:r>
                    </m:sub>
                  </m:sSub>
                  <m:r>
                    <m:rPr>
                      <m:sty m:val="p"/>
                    </m:rPr>
                    <a:rPr lang="en-US" b="0" i="0" sz="1400">
                      <a:solidFill>
                        <a:srgbClr val="4D5D2C"/>
                      </a:solidFill>
                      <a:latin typeface="Cambria Math"/>
                    </a:rPr>
                    <m:t xml:space="preserve"> = 200 + 0.25·</m:t>
                  </m:r>
                  <m:sSub>
                    <m:sSubPr>
                      <m:ctrlPr>
                        <a:rPr lang="en-US" i="1">
                          <a:latin typeface="Cambria Math"/>
                        </a:rPr>
                      </m:ctrlPr>
                    </m:sSubPr>
                    <m:e>
                      <m:r>
                        <a:rPr lang="en-US" b="0" i="1" sz="1400">
                          <a:solidFill>
                            <a:srgbClr val="C00000"/>
                          </a:solidFill>
                          <a:latin typeface="Cambria Math"/>
                          <a:ea typeface="Cambria Math"/>
                        </a:rPr>
                        <m:t>P</m:t>
                      </m:r>
                    </m:e>
                    <m:sub>
                      <m:r>
                        <m:rPr>
                          <m:sty m:val="p"/>
                        </m:rPr>
                        <a:rPr lang="en-US" b="0" i="0" sz="1400">
                          <a:solidFill>
                            <a:srgbClr val="C00000"/>
                          </a:solidFill>
                          <a:latin typeface="Cambria Math"/>
                        </a:rPr>
                        <m:t xml:space="preserve">A</m:t>
                      </m:r>
                    </m:sub>
                  </m:sSub>
                </m:oMath>
              </a14:m>
              <a:endParaRPr lang="en-US"/>
            </a:p>
          </p:txBody>
        </p:sp>
      </p:grpSp>
      <p:grpSp>
        <p:nvGrpSpPr>
          <p:cNvPr id="21" name="Starting 21"/>
          <p:cNvGrpSpPr/>
          <p:nvPr/>
        </p:nvGrpSpPr>
        <p:grpSpPr>
          <a:xfrm>
            <a:off x="1536192" y="3954126"/>
            <a:ext cx="9498787" cy="1440834"/>
            <a:chOff x="1536192" y="3954126"/>
            <a:chExt cx="9498787" cy="1440834"/>
          </a:xfrm>
        </p:grpSpPr>
        <p:sp>
          <p:nvSpPr>
            <p:cNvPr id="18" name="TextBox 17"/>
            <p:cNvSpPr txBox="1"/>
            <p:nvPr/>
          </p:nvSpPr>
          <p:spPr>
            <a:xfrm>
              <a:off x="1536192" y="3954126"/>
              <a:ext cx="868680" cy="274320"/>
            </a:xfrm>
            <a:prstGeom prst="rect">
              <a:avLst/>
            </a:prstGeom>
            <a:noFill/>
          </p:spPr>
          <p:txBody>
            <a:bodyPr wrap="square" lIns="0" rIns="0" tIns="0" bIns="0">
              <a:spAutoFit/>
            </a:bodyPr>
            <a:lstStyle/>
            <a:p>
              <a:pPr algn="r"/>
              <a:r>
                <a:rPr sz="1600" b="0" i="0" u="none">
                  <a:solidFill>
                    <a:srgbClr val="555B66"/>
                  </a:solidFill>
                  <a:latin typeface="Calibri"/>
                </a:rPr>
                <a:t>150</a:t>
              </a:r>
            </a:p>
          </p:txBody>
        </p:sp>
        <p:cxnSp>
          <p:nvCxnSpPr>
            <p:cNvPr id="19" name="Connector 18"/>
            <p:cNvCxnSpPr/>
            <p:nvPr/>
          </p:nvCxnSpPr>
          <p:spPr>
            <a:xfrm>
              <a:off x="2514600" y="4082142"/>
              <a:ext cx="2957208" cy="0"/>
            </a:xfrm>
            <a:prstGeom prst="line">
              <a:avLst/>
            </a:prstGeom>
            <a:ln w="19050">
              <a:solidFill>
                <a:srgbClr val="555B66"/>
              </a:solidFill>
              <a:prstDash val="sysDot"/>
              <a:tailEnd type="triangle" w="med" h="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7971739" y="4572000"/>
              <a:ext cx="3063240" cy="822960"/>
            </a:xfrm>
            <a:prstGeom prst="rect">
              <a:avLst/>
            </a:prstGeom>
            <a:solidFill>
              <a:srgbClr val="FFFFFF"/>
            </a:solidFill>
            <a:ln w="25400">
              <a:solidFill>
                <a:srgbClr val="555B66"/>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
              </a:r>
              <a:r>
                <a:rPr sz="1500" i="1">
                  <a:solidFill>
                    <a:srgbClr val="555B66"/>
                  </a:solidFill>
                  <a:latin typeface="Calibri"/>
                </a:rPr>
                <a:t>Starting point: Airbus contemplates charging </a:t>
              </a:r>
              <a:r>
                <a:rPr sz="1500" i="1">
                  <a:solidFill>
                    <a:srgbClr val="555B66"/>
                  </a:solidFill>
                  <a:latin typeface="Calibri"/>
                </a:rPr>
                <a:t>P</a:t>
              </a:r>
              <a:r>
                <a:rPr sz="1500" i="1" baseline="-25000">
                  <a:solidFill>
                    <a:srgbClr val="555B66"/>
                  </a:solidFill>
                  <a:latin typeface="Calibri"/>
                </a:rPr>
                <a:t>A</a:t>
              </a:r>
              <a:r>
                <a:rPr sz="1500" i="1">
                  <a:solidFill>
                    <a:srgbClr val="555B66"/>
                  </a:solidFill>
                  <a:latin typeface="Calibri"/>
                </a:rPr>
                <a:t> = 150</a:t>
              </a:r>
            </a:p>
          </p:txBody>
        </p:sp>
      </p:grpSp>
      <p:grpSp>
        <p:nvGrpSpPr>
          <p:cNvPr id="29" name="ReactionPoint 29"/>
          <p:cNvGrpSpPr/>
          <p:nvPr/>
        </p:nvGrpSpPr>
        <p:grpSpPr>
          <a:xfrm>
            <a:off x="1536192" y="2713155"/>
            <a:ext cx="6528816" cy="3559629"/>
            <a:chOff x="1536192" y="2713155"/>
            <a:chExt cx="6528816" cy="3559629"/>
          </a:xfrm>
        </p:grpSpPr>
        <p:cxnSp>
          <p:nvCxnSpPr>
            <p:cNvPr id="22" name="Connector 21"/>
            <p:cNvCxnSpPr/>
            <p:nvPr/>
          </p:nvCxnSpPr>
          <p:spPr>
            <a:xfrm>
              <a:off x="2514600" y="2841171"/>
              <a:ext cx="2490280" cy="0"/>
            </a:xfrm>
            <a:prstGeom prst="line">
              <a:avLst/>
            </a:prstGeom>
            <a:ln w="19050">
              <a:solidFill>
                <a:srgbClr val="B97034"/>
              </a:solidFill>
              <a:prstDash val="sysDot"/>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004880" y="2841171"/>
              <a:ext cx="0" cy="3102429"/>
            </a:xfrm>
            <a:prstGeom prst="line">
              <a:avLst/>
            </a:prstGeom>
            <a:ln w="19050">
              <a:solidFill>
                <a:srgbClr val="B97034"/>
              </a:solidFill>
              <a:prstDash val="sysDot"/>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4945444" y="2781735"/>
              <a:ext cx="118872" cy="118872"/>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36192" y="2713155"/>
              <a:ext cx="868680" cy="274320"/>
            </a:xfrm>
            <a:prstGeom prst="rect">
              <a:avLst/>
            </a:prstGeom>
            <a:noFill/>
          </p:spPr>
          <p:txBody>
            <a:bodyPr wrap="square" lIns="0" rIns="0" tIns="0" bIns="0">
              <a:spAutoFit/>
            </a:bodyPr>
            <a:lstStyle/>
            <a:p>
              <a:pPr algn="r"/>
              <a:r>
                <a:rPr sz="1600" b="0" i="0" u="none">
                  <a:solidFill>
                    <a:srgbClr val="B97034"/>
                  </a:solidFill>
                  <a:latin typeface="Calibri"/>
                </a:rPr>
                <a:t>250</a:t>
              </a:r>
            </a:p>
          </p:txBody>
        </p:sp>
        <p:sp>
          <p:nvSpPr>
            <p:cNvPr id="26" name="TextBox 25"/>
            <p:cNvSpPr txBox="1"/>
            <p:nvPr/>
          </p:nvSpPr>
          <p:spPr>
            <a:xfrm>
              <a:off x="4547680" y="5998464"/>
              <a:ext cx="914400" cy="274320"/>
            </a:xfrm>
            <a:prstGeom prst="rect">
              <a:avLst/>
            </a:prstGeom>
            <a:noFill/>
          </p:spPr>
          <p:txBody>
            <a:bodyPr wrap="square" lIns="0" rIns="0" tIns="0" bIns="0">
              <a:spAutoFit/>
            </a:bodyPr>
            <a:lstStyle/>
            <a:p>
              <a:pPr algn="ctr"/>
              <a:r>
                <a:rPr sz="1600" b="0" i="0" u="none">
                  <a:solidFill>
                    <a:srgbClr val="B97034"/>
                  </a:solidFill>
                  <a:latin typeface="Calibri"/>
                </a:rPr>
                <a:t>200</a:t>
              </a:r>
            </a:p>
          </p:txBody>
        </p:sp>
        <p:sp>
          <p:nvSpPr>
            <p:cNvPr id="27" name="TextBox 26"/>
            <p:cNvSpPr txBox="1"/>
            <p:nvPr/>
          </p:nvSpPr>
          <p:spPr>
            <a:xfrm>
              <a:off x="6053328" y="4224528"/>
              <a:ext cx="2011680" cy="274320"/>
            </a:xfrm>
            <a:prstGeom prst="rect">
              <a:avLst/>
            </a:prstGeom>
            <a:noFill/>
          </p:spPr>
          <p:txBody>
            <a:bodyPr wrap="square" lIns="0" rIns="0" tIns="0" bIns="0">
              <a:spAutoFit/>
            </a:bodyPr>
            <a:lstStyle/>
            <a:p>
              <a:pPr algn="l"/>
              <a:r>
                <a:rPr sz="1400" b="1" i="1" u="none">
                  <a:solidFill>
                    <a:srgbClr val="B97034"/>
                  </a:solidFill>
                  <a:latin typeface="Calibri"/>
                </a:rPr>
                <a:t>Reaction point (I)</a:t>
              </a:r>
            </a:p>
          </p:txBody>
        </p:sp>
        <p:cxnSp>
          <p:nvCxnSpPr>
            <p:cNvPr id="28" name="Connector 27"/>
            <p:cNvCxnSpPr/>
            <p:nvPr/>
          </p:nvCxnSpPr>
          <p:spPr>
            <a:xfrm flipH="1" flipV="1">
              <a:off x="5074920" y="2944368"/>
              <a:ext cx="950976" cy="1307592"/>
            </a:xfrm>
            <a:prstGeom prst="line">
              <a:avLst/>
            </a:prstGeom>
            <a:ln w="25400">
              <a:solidFill>
                <a:srgbClr val="B97034"/>
              </a:solidFill>
            </a:ln>
          </p:spPr>
          <p:style>
            <a:lnRef idx="2">
              <a:schemeClr val="accent1"/>
            </a:lnRef>
            <a:fillRef idx="0">
              <a:schemeClr val="accent1"/>
            </a:fillRef>
            <a:effectRef idx="1">
              <a:schemeClr val="accent1"/>
            </a:effectRef>
            <a:fontRef idx="minor">
              <a:schemeClr val="tx1"/>
            </a:fontRef>
          </p:style>
        </p:cxnSp>
      </p:grpSp>
      <p:grpSp>
        <p:nvGrpSpPr>
          <p:cNvPr id="37" name="ReactionPoint 37"/>
          <p:cNvGrpSpPr/>
          <p:nvPr/>
        </p:nvGrpSpPr>
        <p:grpSpPr>
          <a:xfrm>
            <a:off x="1536192" y="2092669"/>
            <a:ext cx="8447227" cy="4180115"/>
            <a:chOff x="1536192" y="2092669"/>
            <a:chExt cx="8447227" cy="4180115"/>
          </a:xfrm>
        </p:grpSpPr>
        <p:cxnSp>
          <p:nvCxnSpPr>
            <p:cNvPr id="30" name="Connector 29"/>
            <p:cNvCxnSpPr/>
            <p:nvPr/>
          </p:nvCxnSpPr>
          <p:spPr>
            <a:xfrm>
              <a:off x="2514600" y="2220685"/>
              <a:ext cx="4980561" cy="0"/>
            </a:xfrm>
            <a:prstGeom prst="line">
              <a:avLst/>
            </a:prstGeom>
            <a:ln w="19050">
              <a:solidFill>
                <a:srgbClr val="B97034"/>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495161" y="2220685"/>
              <a:ext cx="0" cy="3722915"/>
            </a:xfrm>
            <a:prstGeom prst="line">
              <a:avLst/>
            </a:prstGeom>
            <a:ln w="19050">
              <a:solidFill>
                <a:srgbClr val="B97034"/>
              </a:solidFill>
              <a:prstDash val="sysDot"/>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7435725" y="2161249"/>
              <a:ext cx="118872" cy="118872"/>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36192" y="2092669"/>
              <a:ext cx="868680" cy="274320"/>
            </a:xfrm>
            <a:prstGeom prst="rect">
              <a:avLst/>
            </a:prstGeom>
            <a:noFill/>
          </p:spPr>
          <p:txBody>
            <a:bodyPr wrap="square" lIns="0" rIns="0" tIns="0" bIns="0">
              <a:spAutoFit/>
            </a:bodyPr>
            <a:lstStyle/>
            <a:p>
              <a:pPr algn="r"/>
              <a:r>
                <a:rPr sz="1600" b="0" i="0" u="none">
                  <a:solidFill>
                    <a:srgbClr val="B97034"/>
                  </a:solidFill>
                  <a:latin typeface="Calibri"/>
                </a:rPr>
                <a:t>300</a:t>
              </a:r>
            </a:p>
          </p:txBody>
        </p:sp>
        <p:sp>
          <p:nvSpPr>
            <p:cNvPr id="34" name="TextBox 33"/>
            <p:cNvSpPr txBox="1"/>
            <p:nvPr/>
          </p:nvSpPr>
          <p:spPr>
            <a:xfrm>
              <a:off x="7037961" y="5998464"/>
              <a:ext cx="914400" cy="274320"/>
            </a:xfrm>
            <a:prstGeom prst="rect">
              <a:avLst/>
            </a:prstGeom>
            <a:noFill/>
          </p:spPr>
          <p:txBody>
            <a:bodyPr wrap="square" lIns="0" rIns="0" tIns="0" bIns="0">
              <a:spAutoFit/>
            </a:bodyPr>
            <a:lstStyle/>
            <a:p>
              <a:pPr algn="ctr"/>
              <a:r>
                <a:rPr sz="1600" b="0" i="0" u="none">
                  <a:solidFill>
                    <a:srgbClr val="B97034"/>
                  </a:solidFill>
                  <a:latin typeface="Calibri"/>
                </a:rPr>
                <a:t>400</a:t>
              </a:r>
            </a:p>
          </p:txBody>
        </p:sp>
        <p:sp>
          <p:nvSpPr>
            <p:cNvPr id="35" name="TextBox 34"/>
            <p:cNvSpPr txBox="1"/>
            <p:nvPr/>
          </p:nvSpPr>
          <p:spPr>
            <a:xfrm>
              <a:off x="7971739" y="3038551"/>
              <a:ext cx="2011680" cy="274320"/>
            </a:xfrm>
            <a:prstGeom prst="rect">
              <a:avLst/>
            </a:prstGeom>
            <a:noFill/>
          </p:spPr>
          <p:txBody>
            <a:bodyPr wrap="square" lIns="0" rIns="0" tIns="0" bIns="0">
              <a:spAutoFit/>
            </a:bodyPr>
            <a:lstStyle/>
            <a:p>
              <a:pPr algn="l"/>
              <a:r>
                <a:rPr sz="1400" b="1" i="1" u="none">
                  <a:solidFill>
                    <a:srgbClr val="B97034"/>
                  </a:solidFill>
                  <a:latin typeface="Calibri"/>
                </a:rPr>
                <a:t>Reaction point (II)</a:t>
              </a:r>
            </a:p>
          </p:txBody>
        </p:sp>
        <p:cxnSp>
          <p:nvCxnSpPr>
            <p:cNvPr id="36" name="Connector 35"/>
            <p:cNvCxnSpPr/>
            <p:nvPr/>
          </p:nvCxnSpPr>
          <p:spPr>
            <a:xfrm flipH="1" flipV="1">
              <a:off x="7534656" y="2275941"/>
              <a:ext cx="345643" cy="828447"/>
            </a:xfrm>
            <a:prstGeom prst="line">
              <a:avLst/>
            </a:prstGeom>
            <a:ln w="25400">
              <a:solidFill>
                <a:srgbClr val="B97034"/>
              </a:solidFill>
            </a:ln>
          </p:spPr>
          <p:style>
            <a:lnRef idx="2">
              <a:schemeClr val="accent1"/>
            </a:lnRef>
            <a:fillRef idx="0">
              <a:schemeClr val="accent1"/>
            </a:fillRef>
            <a:effectRef idx="1">
              <a:schemeClr val="accent1"/>
            </a:effectRef>
            <a:fontRef idx="minor">
              <a:schemeClr val="tx1"/>
            </a:fontRef>
          </p:style>
        </p:cxnSp>
      </p:grpSp>
      <p:cxnSp>
        <p:nvCxnSpPr>
          <p:cNvPr id="38" name="Connector 37"/>
          <p:cNvCxnSpPr/>
          <p:nvPr/>
        </p:nvCxnSpPr>
        <p:spPr>
          <a:xfrm flipV="1">
            <a:off x="5447995" y="2743200"/>
            <a:ext cx="0" cy="1338681"/>
          </a:xfrm>
          <a:prstGeom prst="line">
            <a:avLst/>
          </a:prstGeom>
          <a:ln w="19050">
            <a:solidFill>
              <a:srgbClr val="555B66"/>
            </a:solidFill>
            <a:prstDash val="sysDot"/>
            <a:tailEnd type="triangle" w="med" h="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449824" y="2781604"/>
            <a:ext cx="320040" cy="0"/>
          </a:xfrm>
          <a:prstGeom prst="line">
            <a:avLst/>
          </a:prstGeom>
          <a:ln w="19050">
            <a:solidFill>
              <a:srgbClr val="555B66"/>
            </a:solidFill>
            <a:prstDash val="sysDot"/>
            <a:tailEnd type="triangle" w="med" h="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5760720" y="2643530"/>
            <a:ext cx="0" cy="142646"/>
          </a:xfrm>
          <a:prstGeom prst="line">
            <a:avLst/>
          </a:prstGeom>
          <a:ln w="19050">
            <a:solidFill>
              <a:srgbClr val="555B66"/>
            </a:solidFill>
            <a:prstDash val="sysDot"/>
            <a:tailEnd type="triangle" w="med" h="med"/>
          </a:ln>
        </p:spPr>
        <p:style>
          <a:lnRef idx="2">
            <a:schemeClr val="accent1"/>
          </a:lnRef>
          <a:fillRef idx="0">
            <a:schemeClr val="accent1"/>
          </a:fillRef>
          <a:effectRef idx="1">
            <a:schemeClr val="accent1"/>
          </a:effectRef>
          <a:fontRef idx="minor">
            <a:schemeClr val="tx1"/>
          </a:fontRef>
        </p:style>
      </p:cxnSp>
      <p:grpSp>
        <p:nvGrpSpPr>
          <p:cNvPr id="45" name="TwoSixtySeven 45"/>
          <p:cNvGrpSpPr/>
          <p:nvPr/>
        </p:nvGrpSpPr>
        <p:grpSpPr>
          <a:xfrm>
            <a:off x="1536192" y="2502190"/>
            <a:ext cx="4760132" cy="3770594"/>
            <a:chOff x="1536192" y="2502190"/>
            <a:chExt cx="4760132" cy="3770594"/>
          </a:xfrm>
        </p:grpSpPr>
        <p:cxnSp>
          <p:nvCxnSpPr>
            <p:cNvPr id="41" name="Connector 40"/>
            <p:cNvCxnSpPr/>
            <p:nvPr/>
          </p:nvCxnSpPr>
          <p:spPr>
            <a:xfrm>
              <a:off x="2514600" y="2630206"/>
              <a:ext cx="3324524" cy="0"/>
            </a:xfrm>
            <a:prstGeom prst="line">
              <a:avLst/>
            </a:prstGeom>
            <a:ln w="22225">
              <a:solidFill>
                <a:srgbClr val="0B2B4E"/>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839124" y="2630206"/>
              <a:ext cx="0" cy="3313394"/>
            </a:xfrm>
            <a:prstGeom prst="line">
              <a:avLst/>
            </a:prstGeom>
            <a:ln w="22225">
              <a:solidFill>
                <a:srgbClr val="0B2B4E"/>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536192" y="2502190"/>
              <a:ext cx="868680" cy="274320"/>
            </a:xfrm>
            <a:prstGeom prst="rect">
              <a:avLst/>
            </a:prstGeom>
            <a:noFill/>
          </p:spPr>
          <p:txBody>
            <a:bodyPr wrap="square" lIns="0" rIns="0" tIns="0" bIns="0">
              <a:spAutoFit/>
            </a:bodyPr>
            <a:lstStyle/>
            <a:p>
              <a:pPr algn="r"/>
              <a:r>
                <a:rPr sz="1600" b="1" i="0" u="none">
                  <a:solidFill>
                    <a:srgbClr val="0B2B4E"/>
                  </a:solidFill>
                  <a:latin typeface="Calibri"/>
                </a:rPr>
                <a:t>267</a:t>
              </a:r>
            </a:p>
          </p:txBody>
        </p:sp>
        <p:sp>
          <p:nvSpPr>
            <p:cNvPr id="44" name="TextBox 43"/>
            <p:cNvSpPr txBox="1"/>
            <p:nvPr/>
          </p:nvSpPr>
          <p:spPr>
            <a:xfrm>
              <a:off x="5381924" y="5998464"/>
              <a:ext cx="914400" cy="274320"/>
            </a:xfrm>
            <a:prstGeom prst="rect">
              <a:avLst/>
            </a:prstGeom>
            <a:noFill/>
          </p:spPr>
          <p:txBody>
            <a:bodyPr wrap="square" lIns="0" rIns="0" tIns="0" bIns="0">
              <a:spAutoFit/>
            </a:bodyPr>
            <a:lstStyle/>
            <a:p>
              <a:pPr algn="ctr"/>
              <a:r>
                <a:rPr sz="1600" b="1" i="0" u="none">
                  <a:solidFill>
                    <a:srgbClr val="0B2B4E"/>
                  </a:solidFill>
                  <a:latin typeface="Calibri"/>
                </a:rPr>
                <a:t>267</a:t>
              </a:r>
            </a:p>
          </p:txBody>
        </p:sp>
      </p:grpSp>
      <p:grpSp>
        <p:nvGrpSpPr>
          <p:cNvPr id="50" name="Equilibrium 50"/>
          <p:cNvGrpSpPr/>
          <p:nvPr/>
        </p:nvGrpSpPr>
        <p:grpSpPr>
          <a:xfrm>
            <a:off x="5770544" y="2561626"/>
            <a:ext cx="2550495" cy="1416014"/>
            <a:chOff x="5770544" y="2561626"/>
            <a:chExt cx="2550495" cy="1416014"/>
          </a:xfrm>
        </p:grpSpPr>
        <p:sp>
          <p:nvSpPr>
            <p:cNvPr id="46" name="Oval 45"/>
            <p:cNvSpPr/>
            <p:nvPr/>
          </p:nvSpPr>
          <p:spPr>
            <a:xfrm>
              <a:off x="5770544" y="2561626"/>
              <a:ext cx="137160" cy="137160"/>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flipH="1" flipV="1">
              <a:off x="5943600" y="2743200"/>
              <a:ext cx="457200" cy="621792"/>
            </a:xfrm>
            <a:prstGeom prst="line">
              <a:avLst/>
            </a:prstGeom>
            <a:ln w="22225">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6446520" y="3310128"/>
              <a:ext cx="1874519" cy="667512"/>
            </a:xfrm>
            <a:prstGeom prst="roundRect">
              <a:avLst>
                <a:gd name="adj" fmla="val 12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B2B4E"/>
                  </a:solidFill>
                  <a:latin typeface="Calibri"/>
                </a:rPr>
                <a:t/>
              </a:r>
            </a:p>
          </p:txBody>
        </p:sp>
        <p:sp>
          <p:nvSpPr>
            <p:cNvPr id="49" name="TextBox 48"/>
            <p:cNvSpPr txBox="1"/>
            <p:nvPr/>
          </p:nvSpPr>
          <p:spPr>
            <a:xfrm>
              <a:off x="6492240" y="3346704"/>
              <a:ext cx="1783080" cy="594360"/>
            </a:xfrm>
            <a:prstGeom prst="rect">
              <a:avLst/>
            </a:prstGeom>
            <a:noFill/>
          </p:spPr>
          <p:txBody>
            <a:bodyPr wrap="square" lIns="45720" rIns="45720" tIns="0" bIns="0">
              <a:spAutoFit/>
            </a:bodyPr>
            <a:lstStyle/>
            <a:p xmlns:m="http://schemas.openxmlformats.org/officeDocument/2006/math" xmlns:a14="http://schemas.microsoft.com/office/drawing/2010/main">
              <a:r>
                <a:rPr lang="en-US" sz="1500" b="1">
                  <a:solidFill>
                    <a:srgbClr val="0B2B4E"/>
                  </a:solidFill>
                  <a:latin typeface="Calibri"/>
                </a:rPr>
                <a:t>Equilibrium</a:t>
              </a:r>
              <a:endParaRPr lang="en-US"/>
            </a:p>
            <a:p xmlns:m="http://schemas.openxmlformats.org/officeDocument/2006/math" xmlns:a14="http://schemas.microsoft.com/office/drawing/2010/main">
              <a14:m>
                <m:oMath>
                  <m:sSub>
                    <m:sSubPr>
                      <m:ctrlPr>
                        <a:rPr lang="en-US" i="1">
                          <a:latin typeface="Cambria Math"/>
                        </a:rPr>
                      </m:ctrlPr>
                    </m:sSubPr>
                    <m:e>
                      <m:r>
                        <a:rPr lang="en-US" b="0" i="1" sz="1400">
                          <a:solidFill>
                            <a:srgbClr val="C00000"/>
                          </a:solidFill>
                          <a:latin typeface="Cambria Math"/>
                          <a:ea typeface="Cambria Math"/>
                        </a:rPr>
                        <m:t>P</m:t>
                      </m:r>
                    </m:e>
                    <m:sub>
                      <m:r>
                        <m:rPr>
                          <m:sty m:val="p"/>
                        </m:rPr>
                        <a:rPr lang="en-US" b="0" i="0" sz="1400">
                          <a:solidFill>
                            <a:srgbClr val="C00000"/>
                          </a:solidFill>
                          <a:latin typeface="Cambria Math"/>
                        </a:rPr>
                        <m:t xml:space="preserve">A</m:t>
                      </m:r>
                    </m:sub>
                  </m:sSub>
                  <m:r>
                    <m:rPr>
                      <m:sty m:val="p"/>
                    </m:rPr>
                    <a:rPr lang="en-US" b="0" i="0" sz="1400">
                      <a:solidFill>
                        <a:srgbClr val="0B2B4E"/>
                      </a:solidFill>
                      <a:latin typeface="Cambria Math"/>
                    </a:rPr>
                    <m:t xml:space="preserve"> = </m:t>
                  </m:r>
                  <m:sSub>
                    <m:sSubPr>
                      <m:ctrlPr>
                        <a:rPr lang="en-US" i="1">
                          <a:latin typeface="Cambria Math"/>
                        </a:rPr>
                      </m:ctrlPr>
                    </m:sSubPr>
                    <m:e>
                      <m:r>
                        <a:rPr lang="en-US" b="0" i="1" sz="1400">
                          <a:solidFill>
                            <a:srgbClr val="4D5D2C"/>
                          </a:solidFill>
                          <a:latin typeface="Cambria Math"/>
                          <a:ea typeface="Cambria Math"/>
                        </a:rPr>
                        <m:t>P</m:t>
                      </m:r>
                    </m:e>
                    <m:sub>
                      <m:r>
                        <m:rPr>
                          <m:sty m:val="p"/>
                        </m:rPr>
                        <a:rPr lang="en-US" b="0" i="0" sz="1400">
                          <a:solidFill>
                            <a:srgbClr val="4D5D2C"/>
                          </a:solidFill>
                          <a:latin typeface="Cambria Math"/>
                        </a:rPr>
                        <m:t xml:space="preserve">B</m:t>
                      </m:r>
                    </m:sub>
                  </m:sSub>
                  <m:r>
                    <m:rPr>
                      <m:sty m:val="p"/>
                    </m:rPr>
                    <a:rPr lang="en-US" b="0" i="0" sz="1400">
                      <a:solidFill>
                        <a:srgbClr val="0B2B4E"/>
                      </a:solidFill>
                      <a:latin typeface="Cambria Math"/>
                    </a:rPr>
                    <m:t xml:space="preserve"> = 267</m:t>
                  </m:r>
                </m:oMath>
              </a14:m>
              <a:endParaRPr lang="en-US"/>
            </a:p>
          </p:txBody>
        </p:sp>
      </p:grpSp>
      <p:sp>
        <p:nvSpPr>
          <p:cNvPr id="51" name="Rectangle 5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54" name="TextBox 53"/>
          <p:cNvSpPr txBox="1"/>
          <p:nvPr/>
        </p:nvSpPr>
        <p:spPr>
          <a:xfrm>
            <a:off x="11475720" y="6583680"/>
            <a:ext cx="502920" cy="292608"/>
          </a:xfrm>
          <a:prstGeom prst="rect">
            <a:avLst/>
          </a:prstGeom>
          <a:noFill/>
        </p:spPr>
        <p:txBody>
          <a:bodyPr wrap="none" lIns="0" rIns="0" tIns="0" bIns="0">
            <a:spAutoFit/>
          </a:bodyPr>
          <a:lstStyle/>
          <a:p>
            <a:pPr algn="r"/>
            <a:fld id="{70FF98FA-5485-5875-B564-2222EE6DFB70}" type="slidenum">
              <a:rPr lang="en-US" sz="1200" dirty="0">
                <a:solidFill>
                  <a:srgbClr val="555B66"/>
                </a:solidFill>
                <a:latin typeface="Calibri"/>
              </a:rPr>
              <a:t>44</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500"/>
                                        <p:tgtEl>
                                          <p:spTgt spid="3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500"/>
                                        <p:tgtEl>
                                          <p:spTgt spid="3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fade">
                                      <p:cBhvr>
                                        <p:cTn id="47" dur="500"/>
                                        <p:tgtEl>
                                          <p:spTgt spid="4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5"/>
                                        </p:tgtEl>
                                        <p:attrNameLst>
                                          <p:attrName>style.visibility</p:attrName>
                                        </p:attrNameLst>
                                      </p:cBhvr>
                                      <p:to>
                                        <p:strVal val="visible"/>
                                      </p:to>
                                    </p:set>
                                    <p:animEffect transition="in" filter="fade">
                                      <p:cBhvr>
                                        <p:cTn id="52" dur="500"/>
                                        <p:tgtEl>
                                          <p:spTgt spid="4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50"/>
                                        </p:tgtEl>
                                        <p:attrNameLst>
                                          <p:attrName>style.visibility</p:attrName>
                                        </p:attrNameLst>
                                      </p:cBhvr>
                                      <p:to>
                                        <p:strVal val="visible"/>
                                      </p:to>
                                    </p:set>
                                    <p:animEffect transition="in" filter="fade">
                                      <p:cBhvr>
                                        <p:cTn id="5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Differentiated Goods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Play This Game on Bruinlearn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920240"/>
            <a:ext cx="11247120" cy="292608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Under Module 7 / In-Class Content</a:t>
            </a:r>
          </a:p>
          <a:p>
            <a:pPr algn="l"/>
            <a:r>
              <a:rPr>
                <a:latin typeface="Calibri"/>
              </a:rPr>
              <a:t>You can choose Boeing's price and observe Airbus's reaction (price)</a:t>
            </a:r>
          </a:p>
          <a:p>
            <a:pPr algn="l" lvl="1"/>
            <a:r>
              <a:rPr>
                <a:latin typeface="Calibri"/>
              </a:rPr>
              <a:t>You also see the profits of both companies</a:t>
            </a:r>
          </a:p>
          <a:p>
            <a:pPr algn="l"/>
            <a:r>
              <a:rPr>
                <a:latin typeface="Calibri"/>
              </a:rPr>
              <a:t>You can also change the demand functions (make payoffs asymmetric)</a:t>
            </a:r>
          </a:p>
        </p:txBody>
      </p:sp>
      <p:sp>
        <p:nvSpPr>
          <p:cNvPr id="8" name="Rounded Rectangle 7"/>
          <p:cNvSpPr/>
          <p:nvPr/>
        </p:nvSpPr>
        <p:spPr>
          <a:xfrm>
            <a:off x="3355848" y="4700016"/>
            <a:ext cx="5486400" cy="777240"/>
          </a:xfrm>
          <a:prstGeom prst="roundRect">
            <a:avLst>
              <a:gd name="adj" fmla="val 20000"/>
            </a:avLst>
          </a:prstGeom>
          <a:solidFill>
            <a:srgbClr val="FFFFFF"/>
          </a:soli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BruinLearn  →  Module 7 / In-Class Content</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2" name="TextBox 11"/>
          <p:cNvSpPr txBox="1"/>
          <p:nvPr/>
        </p:nvSpPr>
        <p:spPr>
          <a:xfrm>
            <a:off x="11475720" y="6583680"/>
            <a:ext cx="502920" cy="292608"/>
          </a:xfrm>
          <a:prstGeom prst="rect">
            <a:avLst/>
          </a:prstGeom>
          <a:noFill/>
        </p:spPr>
        <p:txBody>
          <a:bodyPr wrap="none" lIns="0" rIns="0" tIns="0" bIns="0">
            <a:spAutoFit/>
          </a:bodyPr>
          <a:lstStyle/>
          <a:p>
            <a:pPr algn="r"/>
            <a:fld id="{6B33B752-A3F5-5060-B64C-BB97663B4C86}" type="slidenum">
              <a:rPr lang="en-US" sz="1200" dirty="0">
                <a:solidFill>
                  <a:srgbClr val="555B66"/>
                </a:solidFill>
                <a:latin typeface="Calibri"/>
              </a:rPr>
              <a:t>45</a:t>
            </a:fld>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Differentiated Goods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Take-Aways: Oligopoly with Differentiated Goods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4572000"/>
          </a:xfrm>
          <a:prstGeom prst="rect">
            <a:avLst/>
          </a:prstGeom>
          <a:noFill/>
        </p:spPr>
        <p:txBody>
          <a:bodyPr wrap="square" lIns="0" rIns="0" tIns="0" bIns="0">
            <a:spAutoFit/>
          </a:bodyPr>
          <a:lstStyle>
            <a:lvl1pPr marL="342900" indent="-342900">
              <a:spcBef>
                <a:spcPts val="12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The two firms produce differentiated products, so each has its own demand curve</a:t>
            </a:r>
          </a:p>
          <a:p>
            <a:pPr algn="l"/>
            <a:r>
              <a:rPr>
                <a:latin typeface="Calibri"/>
              </a:rPr>
              <a:t>However, each firm's demand curve is affected by the other firm's price</a:t>
            </a:r>
          </a:p>
          <a:p>
            <a:pPr algn="l"/>
            <a:r>
              <a:rPr>
                <a:latin typeface="Calibri"/>
              </a:rPr>
              <a:t>When the competitor raises its price, the optimal response is for the other firm to </a:t>
            </a:r>
            <a:r>
              <a:rPr u="sng">
                <a:latin typeface="Calibri"/>
              </a:rPr>
              <a:t>also raise</a:t>
            </a:r>
            <a:r>
              <a:rPr>
                <a:latin typeface="Calibri"/>
              </a:rPr>
              <a:t> its price</a:t>
            </a:r>
          </a:p>
          <a:p>
            <a:pPr algn="l"/>
            <a:r>
              <a:rPr>
                <a:latin typeface="Calibri"/>
              </a:rPr>
              <a:t>In equilibrium, neither firm has an incentive to deviate</a:t>
            </a:r>
          </a:p>
          <a:p>
            <a:pPr algn="l"/>
            <a:r>
              <a:rPr>
                <a:latin typeface="Calibri"/>
              </a:rPr>
              <a:t>If MC are different, the optimal prices will be different for the two firms</a:t>
            </a:r>
          </a:p>
          <a:p>
            <a:pPr algn="l"/>
            <a:r>
              <a:rPr>
                <a:latin typeface="Calibri"/>
              </a:rPr>
              <a:t>Note: Math on this problem is </a:t>
            </a:r>
            <a:r>
              <a:rPr u="sng">
                <a:latin typeface="Calibri"/>
              </a:rPr>
              <a:t>optional</a:t>
            </a:r>
            <a:r>
              <a:rPr>
                <a:latin typeface="Calibri"/>
              </a:rPr>
              <a:t> (will not be in final exam)</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908A2817-22D3-575A-91D6-6A6F3F892761}" type="slidenum">
              <a:rPr lang="en-US" sz="1200" dirty="0">
                <a:solidFill>
                  <a:srgbClr val="555B66"/>
                </a:solidFill>
                <a:latin typeface="Calibri"/>
              </a:rPr>
              <a:t>46</a:t>
            </a:fld>
          </a:p>
        </p:txBody>
      </p:sp>
      <p:sp>
        <p:nvSpPr>
          <p:cNvPr id="12" name="Rounded Rectangle 11"/>
          <p:cNvSpPr/>
          <p:nvPr/>
        </p:nvSpPr>
        <p:spPr>
          <a:xfrm>
            <a:off x="6327648" y="6245352"/>
            <a:ext cx="5349240" cy="530352"/>
          </a:xfrm>
          <a:prstGeom prst="roundRect">
            <a:avLst>
              <a:gd name="adj" fmla="val 28000"/>
            </a:avLst>
          </a:prstGeom>
          <a:gradFill>
            <a:gsLst>
              <a:gs pos="0">
                <a:schemeClr val="bg1">
                  <a:lumMod val="65000"/>
                </a:schemeClr>
              </a:gs>
              <a:gs pos="54000">
                <a:schemeClr val="bg1">
                  <a:lumMod val="95000"/>
                </a:schemeClr>
              </a:gs>
              <a:gs pos="100000">
                <a:schemeClr val="bg1">
                  <a:lumMod val="65000"/>
                </a:schemeClr>
              </a:gs>
            </a:gsLst>
            <a:lin ang="5400000" scaled="1"/>
          </a:gra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E09F3E"/>
                </a:solidFill>
                <a:latin typeface="Calibri"/>
              </a:rPr>
              <a:t>▶  </a:t>
            </a:r>
            <a:r>
              <a:rPr sz="1300" b="1">
                <a:solidFill>
                  <a:srgbClr val="0B2B4E"/>
                </a:solidFill>
                <a:latin typeface="Calibri"/>
              </a:rPr>
              <a:t>Optional Advanced Practice Video: “Bertrand Competition with Differentiated Goods – Math”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1 · Differentiated Goods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Oligopoly: Concluding Discussion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2011680"/>
            <a:ext cx="11247120" cy="2926080"/>
          </a:xfrm>
          <a:prstGeom prst="rect">
            <a:avLst/>
          </a:prstGeom>
          <a:noFill/>
        </p:spPr>
        <p:txBody>
          <a:bodyPr wrap="square" lIns="0" rIns="0" tIns="0" bIns="0">
            <a:spAutoFit/>
          </a:bodyPr>
          <a:lstStyle>
            <a:lvl1pPr marL="342900" indent="-342900">
              <a:spcBef>
                <a:spcPts val="22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If you could pick one type of Oligopoly competition for your firm, which would you choose? Why?</a:t>
            </a:r>
          </a:p>
          <a:p>
            <a:pPr algn="l"/>
            <a:r>
              <a:rPr>
                <a:latin typeface="Calibri"/>
              </a:rPr>
              <a:t>In which oligopoly case can you improve your product?</a:t>
            </a:r>
          </a:p>
          <a:p>
            <a:pPr algn="l" lvl="1"/>
            <a:r>
              <a:rPr>
                <a:latin typeface="Calibri"/>
              </a:rPr>
              <a:t>What is the effect of improving your product?</a:t>
            </a:r>
          </a:p>
        </p:txBody>
      </p:sp>
      <p:sp>
        <p:nvSpPr>
          <p:cNvPr id="8" name="Rectangle 7"/>
          <p:cNvSpPr/>
          <p:nvPr/>
        </p:nvSpPr>
        <p:spPr>
          <a:xfrm>
            <a:off x="7550576" y="5715000"/>
            <a:ext cx="4389120"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08944" y="5715000"/>
            <a:ext cx="3072384" cy="658368"/>
          </a:xfrm>
          <a:prstGeom prst="rect">
            <a:avLst/>
          </a:prstGeom>
          <a:noFill/>
        </p:spPr>
        <p:txBody>
          <a:bodyPr wrap="none" anchor="ctr" lIns="45720" rIns="45720" tIns="18288" bIns="18288">
            <a:spAutoFit/>
          </a:bodyPr>
          <a:lstStyle/>
          <a:p>
            <a:pPr algn="ctr"/>
            <a:r>
              <a:rPr sz="2800" b="1">
                <a:solidFill>
                  <a:srgbClr val="0B2B4E"/>
                </a:solidFill>
                <a:latin typeface="Calibri"/>
              </a:rPr>
              <a:t>Discussion Break</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D12D4074-B0BE-5BCD-BDD5-101436439726}" type="slidenum">
              <a:rPr lang="en-US" sz="1200" dirty="0">
                <a:solidFill>
                  <a:srgbClr val="555B66"/>
                </a:solidFill>
                <a:latin typeface="Calibri"/>
              </a:rPr>
              <a:t>47</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Key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Outline of Module 7</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151333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1</a:t>
            </a:r>
          </a:p>
        </p:txBody>
      </p:sp>
      <p:sp>
        <p:nvSpPr>
          <p:cNvPr id="8" name="TextBox 7"/>
          <p:cNvSpPr txBox="1"/>
          <p:nvPr/>
        </p:nvSpPr>
        <p:spPr>
          <a:xfrm>
            <a:off x="1874519" y="1495044"/>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Collusion and Cartels</a:t>
            </a:r>
          </a:p>
        </p:txBody>
      </p:sp>
      <p:sp>
        <p:nvSpPr>
          <p:cNvPr id="9" name="Oval 8"/>
          <p:cNvSpPr/>
          <p:nvPr/>
        </p:nvSpPr>
        <p:spPr>
          <a:xfrm>
            <a:off x="1051560" y="234543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2</a:t>
            </a:r>
          </a:p>
        </p:txBody>
      </p:sp>
      <p:sp>
        <p:nvSpPr>
          <p:cNvPr id="10" name="TextBox 9"/>
          <p:cNvSpPr txBox="1"/>
          <p:nvPr/>
        </p:nvSpPr>
        <p:spPr>
          <a:xfrm>
            <a:off x="1874519" y="2327148"/>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Cournot Competition</a:t>
            </a:r>
          </a:p>
        </p:txBody>
      </p:sp>
      <p:sp>
        <p:nvSpPr>
          <p:cNvPr id="11" name="Oval 10"/>
          <p:cNvSpPr/>
          <p:nvPr/>
        </p:nvSpPr>
        <p:spPr>
          <a:xfrm>
            <a:off x="1051560" y="317754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3</a:t>
            </a:r>
          </a:p>
        </p:txBody>
      </p:sp>
      <p:sp>
        <p:nvSpPr>
          <p:cNvPr id="12" name="TextBox 11"/>
          <p:cNvSpPr txBox="1"/>
          <p:nvPr/>
        </p:nvSpPr>
        <p:spPr>
          <a:xfrm>
            <a:off x="1874519" y="3159252"/>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Bertrand Competition</a:t>
            </a:r>
          </a:p>
        </p:txBody>
      </p:sp>
      <p:sp>
        <p:nvSpPr>
          <p:cNvPr id="13" name="Oval 12"/>
          <p:cNvSpPr/>
          <p:nvPr/>
        </p:nvSpPr>
        <p:spPr>
          <a:xfrm>
            <a:off x="1051560" y="400964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4</a:t>
            </a:r>
          </a:p>
        </p:txBody>
      </p:sp>
      <p:sp>
        <p:nvSpPr>
          <p:cNvPr id="14" name="TextBox 13"/>
          <p:cNvSpPr txBox="1"/>
          <p:nvPr/>
        </p:nvSpPr>
        <p:spPr>
          <a:xfrm>
            <a:off x="1874519" y="3991356"/>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Oligopoly with Differentiated Goods</a:t>
            </a:r>
          </a:p>
        </p:txBody>
      </p:sp>
      <p:sp>
        <p:nvSpPr>
          <p:cNvPr id="15" name="Rounded Rectangle 14"/>
          <p:cNvSpPr/>
          <p:nvPr/>
        </p:nvSpPr>
        <p:spPr>
          <a:xfrm>
            <a:off x="822960" y="4768596"/>
            <a:ext cx="11109960" cy="822960"/>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51560" y="484174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5</a:t>
            </a:r>
          </a:p>
        </p:txBody>
      </p:sp>
      <p:sp>
        <p:nvSpPr>
          <p:cNvPr id="17" name="TextBox 16"/>
          <p:cNvSpPr txBox="1"/>
          <p:nvPr/>
        </p:nvSpPr>
        <p:spPr>
          <a:xfrm>
            <a:off x="1874519" y="4823460"/>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Strategic Thinking: Key Concepts</a:t>
            </a:r>
          </a:p>
          <a:p>
            <a:pPr algn="l">
              <a:spcBef>
                <a:spcPts val="0"/>
              </a:spcBef>
              <a:buNone/>
            </a:pPr>
            <a:r>
              <a:rPr sz="2200">
                <a:solidFill>
                  <a:srgbClr val="555B66"/>
                </a:solidFill>
                <a:latin typeface="Calibri"/>
              </a:rPr>
              <a:t>Best responses, dominant strategies, and Nash equilibrium</a:t>
            </a:r>
          </a:p>
        </p:txBody>
      </p:sp>
      <p:sp>
        <p:nvSpPr>
          <p:cNvPr id="18" name="Oval 17"/>
          <p:cNvSpPr/>
          <p:nvPr/>
        </p:nvSpPr>
        <p:spPr>
          <a:xfrm>
            <a:off x="1051560" y="567385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6</a:t>
            </a:r>
          </a:p>
        </p:txBody>
      </p:sp>
      <p:sp>
        <p:nvSpPr>
          <p:cNvPr id="19" name="TextBox 18"/>
          <p:cNvSpPr txBox="1"/>
          <p:nvPr/>
        </p:nvSpPr>
        <p:spPr>
          <a:xfrm>
            <a:off x="1874519" y="5655564"/>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Prisoner’s Dilemma, Game of Chicken…</a:t>
            </a:r>
          </a:p>
        </p:txBody>
      </p:sp>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23" name="TextBox 22"/>
          <p:cNvSpPr txBox="1"/>
          <p:nvPr/>
        </p:nvSpPr>
        <p:spPr>
          <a:xfrm>
            <a:off x="11475720" y="6583680"/>
            <a:ext cx="502920" cy="292608"/>
          </a:xfrm>
          <a:prstGeom prst="rect">
            <a:avLst/>
          </a:prstGeom>
          <a:noFill/>
        </p:spPr>
        <p:txBody>
          <a:bodyPr wrap="none" lIns="0" rIns="0" tIns="0" bIns="0">
            <a:spAutoFit/>
          </a:bodyPr>
          <a:lstStyle/>
          <a:p>
            <a:pPr algn="r"/>
            <a:fld id="{C4CAA8AC-7182-521F-AE52-DDDE5792E462}" type="slidenum">
              <a:rPr lang="en-US" sz="1200" dirty="0">
                <a:solidFill>
                  <a:srgbClr val="555B66"/>
                </a:solidFill>
                <a:latin typeface="Calibri"/>
              </a:rPr>
              <a:t>48</a:t>
            </a:fld>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Key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What Is Game Theory?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737360"/>
            <a:ext cx="7589520" cy="4206240"/>
          </a:xfrm>
          <a:prstGeom prst="rect">
            <a:avLst/>
          </a:prstGeom>
          <a:noFill/>
        </p:spPr>
        <p:txBody>
          <a:bodyPr wrap="square" lIns="0" rIns="0" tIns="0" bIns="0">
            <a:spAutoFit/>
          </a:bodyPr>
          <a:lstStyle>
            <a:lvl1pPr marL="342900" indent="-342900">
              <a:spcBef>
                <a:spcPts val="14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Branch of economics concerned with interdependent situations</a:t>
            </a:r>
          </a:p>
          <a:p>
            <a:pPr algn="l" lvl="1"/>
            <a:r>
              <a:rPr>
                <a:latin typeface="Calibri"/>
              </a:rPr>
              <a:t>The outcome of a participant's choice depends critically on the actions of other participants</a:t>
            </a:r>
          </a:p>
          <a:p>
            <a:pPr algn="l"/>
            <a:r>
              <a:rPr>
                <a:latin typeface="Calibri"/>
              </a:rPr>
              <a:t>Game theory has transformed not only economics, but also the study of war, of business strategy, and of biological systems</a:t>
            </a:r>
          </a:p>
          <a:p>
            <a:pPr algn="l"/>
            <a:r>
              <a:rPr>
                <a:latin typeface="Calibri"/>
              </a:rPr>
              <a:t>Father of Game Theory: John Nash</a:t>
            </a:r>
          </a:p>
          <a:p>
            <a:pPr algn="l" lvl="1"/>
            <a:r>
              <a:rPr>
                <a:latin typeface="Calibri"/>
              </a:rPr>
              <a:t>1994 Nobel Prize in Economics</a:t>
            </a:r>
          </a:p>
          <a:p>
            <a:pPr algn="l" lvl="1"/>
            <a:r>
              <a:rPr>
                <a:latin typeface="Calibri"/>
              </a:rPr>
              <a:t>Inspired the movie “A Beautiful Mind”</a:t>
            </a:r>
          </a:p>
        </p:txBody>
      </p:sp>
      <p:pic>
        <p:nvPicPr>
          <p:cNvPr id="8" name="Picture 7" descr="image38.jpeg"/>
          <p:cNvPicPr>
            <a:picLocks noChangeAspect="1"/>
          </p:cNvPicPr>
          <p:nvPr/>
        </p:nvPicPr>
        <p:blipFill>
          <a:blip r:embed="rId2"/>
          <a:stretch>
            <a:fillRect/>
          </a:stretch>
        </p:blipFill>
        <p:spPr>
          <a:xfrm>
            <a:off x="9997135" y="1783080"/>
            <a:ext cx="2194560" cy="1463040"/>
          </a:xfrm>
          <a:prstGeom prst="rect">
            <a:avLst/>
          </a:prstGeom>
        </p:spPr>
      </p:pic>
      <p:grpSp>
        <p:nvGrpSpPr>
          <p:cNvPr id="16" name="PicCaption 16"/>
          <p:cNvGrpSpPr/>
          <p:nvPr/>
        </p:nvGrpSpPr>
        <p:grpSpPr>
          <a:xfrm>
            <a:off x="8058607" y="1281074"/>
            <a:ext cx="2103321" cy="3025749"/>
            <a:chOff x="8058607" y="1281074"/>
            <a:chExt cx="2103321" cy="3025749"/>
          </a:xfrm>
        </p:grpSpPr>
        <p:pic>
          <p:nvPicPr>
            <p:cNvPr id="9" name="Picture 8" descr="image37.jpeg"/>
            <p:cNvPicPr>
              <a:picLocks noChangeAspect="1"/>
            </p:cNvPicPr>
            <p:nvPr/>
          </p:nvPicPr>
          <p:blipFill>
            <a:blip r:embed="rId3"/>
            <a:stretch>
              <a:fillRect/>
            </a:stretch>
          </p:blipFill>
          <p:spPr>
            <a:xfrm>
              <a:off x="8058607" y="1281074"/>
              <a:ext cx="2103321" cy="2696565"/>
            </a:xfrm>
            <a:prstGeom prst="roundRect">
              <a:avLst>
                <a:gd name="adj" fmla="val 8000"/>
              </a:avLst>
            </a:prstGeom>
            <a:effectLst>
              <a:outerShdw blurRad="50800" dist="38100" dir="2700000" algn="tl" rotWithShape="0">
                <a:srgbClr val="000000">
                  <a:alpha val="50000"/>
                </a:srgbClr>
              </a:outerShdw>
            </a:effectLst>
          </p:spPr>
        </p:pic>
        <p:sp>
          <p:nvSpPr>
            <p:cNvPr id="10" name="TextBox 9"/>
            <p:cNvSpPr txBox="1"/>
            <p:nvPr/>
          </p:nvSpPr>
          <p:spPr>
            <a:xfrm>
              <a:off x="8264347" y="4050791"/>
              <a:ext cx="1783080" cy="256032"/>
            </a:xfrm>
            <a:prstGeom prst="rect">
              <a:avLst/>
            </a:prstGeom>
            <a:noFill/>
          </p:spPr>
          <p:txBody>
            <a:bodyPr wrap="square" lIns="0" rIns="0" tIns="0" bIns="0">
              <a:spAutoFit/>
            </a:bodyPr>
            <a:lstStyle/>
            <a:p>
              <a:pPr algn="ctr"/>
              <a:r>
                <a:rPr sz="1100" b="0" i="1" u="none">
                  <a:solidFill>
                    <a:srgbClr val="555B66"/>
                  </a:solidFill>
                  <a:latin typeface="Calibri"/>
                </a:rPr>
                <a:t>John Nash (1928–2015)</a:t>
              </a:r>
            </a:p>
          </p:txBody>
        </p:sp>
      </p:grpSp>
      <p:pic>
        <p:nvPicPr>
          <p:cNvPr id="11" name="Picture 10" descr="image39.jpeg"/>
          <p:cNvPicPr>
            <a:picLocks noChangeAspect="1"/>
          </p:cNvPicPr>
          <p:nvPr/>
        </p:nvPicPr>
        <p:blipFill>
          <a:blip r:embed="rId4"/>
          <a:stretch>
            <a:fillRect/>
          </a:stretch>
        </p:blipFill>
        <p:spPr>
          <a:xfrm>
            <a:off x="5912510" y="4224528"/>
            <a:ext cx="1750847" cy="2537460"/>
          </a:xfrm>
          <a:prstGeom prst="rect">
            <a:avLst/>
          </a:prstGeom>
          <a:effectLst>
            <a:outerShdw blurRad="50800" dist="38100" dir="2700000" algn="tl" rotWithShape="0">
              <a:srgbClr val="000000">
                <a:alpha val="45000"/>
              </a:srgbClr>
            </a:outerShdw>
          </a:effectLst>
        </p:spPr>
      </p:pic>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5" name="TextBox 14"/>
          <p:cNvSpPr txBox="1"/>
          <p:nvPr/>
        </p:nvSpPr>
        <p:spPr>
          <a:xfrm>
            <a:off x="11475720" y="6583680"/>
            <a:ext cx="502920" cy="292608"/>
          </a:xfrm>
          <a:prstGeom prst="rect">
            <a:avLst/>
          </a:prstGeom>
          <a:noFill/>
        </p:spPr>
        <p:txBody>
          <a:bodyPr wrap="none" lIns="0" rIns="0" tIns="0" bIns="0">
            <a:spAutoFit/>
          </a:bodyPr>
          <a:lstStyle/>
          <a:p>
            <a:pPr algn="r"/>
            <a:fld id="{BC887B02-DCDE-5D19-BED1-4C9A3C71FD32}" type="slidenum">
              <a:rPr lang="en-US" sz="1200" dirty="0">
                <a:solidFill>
                  <a:srgbClr val="555B66"/>
                </a:solidFill>
                <a:latin typeface="Calibri"/>
              </a:rPr>
              <a:t>49</a:t>
            </a:fld>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Key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A Warm-Up Game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737360"/>
            <a:ext cx="7315200" cy="4206240"/>
          </a:xfrm>
          <a:prstGeom prst="rect">
            <a:avLst/>
          </a:prstGeom>
          <a:noFill/>
        </p:spPr>
        <p:txBody>
          <a:bodyPr wrap="square" lIns="0" rIns="0" tIns="0" bIns="0">
            <a:spAutoFit/>
          </a:bodyPr>
          <a:lstStyle>
            <a:lvl1pPr marL="342900" indent="-342900">
              <a:spcBef>
                <a:spcPts val="12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I brought 5 yellow and 5 red cards</a:t>
            </a:r>
          </a:p>
          <a:p>
            <a:pPr algn="l"/>
            <a:r>
              <a:rPr>
                <a:latin typeface="Calibri"/>
              </a:rPr>
              <a:t>But this is not about soccer…</a:t>
            </a:r>
          </a:p>
          <a:p>
            <a:pPr algn="l"/>
            <a:r>
              <a:rPr>
                <a:latin typeface="Calibri"/>
              </a:rPr>
              <a:t>Instead:</a:t>
            </a:r>
          </a:p>
          <a:p>
            <a:pPr algn="l" lvl="1"/>
            <a:r>
              <a:rPr>
                <a:latin typeface="Calibri"/>
              </a:rPr>
              <a:t>I distribute the 5 yellow cards to students</a:t>
            </a:r>
          </a:p>
          <a:p>
            <a:pPr algn="l" lvl="1"/>
            <a:r>
              <a:rPr>
                <a:latin typeface="Calibri"/>
              </a:rPr>
              <a:t>Suppose I get $100 from the Dean for each red-yellow pair that I take back to her after class</a:t>
            </a:r>
          </a:p>
          <a:p>
            <a:pPr algn="l" lvl="1"/>
            <a:r>
              <a:rPr>
                <a:latin typeface="Calibri"/>
              </a:rPr>
              <a:t>You can ‘sell’ your yellow card back to me</a:t>
            </a:r>
          </a:p>
          <a:p>
            <a:pPr algn="l" lvl="1"/>
            <a:r>
              <a:rPr>
                <a:latin typeface="Calibri"/>
              </a:rPr>
              <a:t>What's your asking price for your yellow card?</a:t>
            </a:r>
          </a:p>
        </p:txBody>
      </p:sp>
      <p:pic>
        <p:nvPicPr>
          <p:cNvPr id="8" name="Picture 7" descr="image40.jpeg"/>
          <p:cNvPicPr>
            <a:picLocks noChangeAspect="1"/>
          </p:cNvPicPr>
          <p:nvPr/>
        </p:nvPicPr>
        <p:blipFill>
          <a:blip r:embed="rId2"/>
          <a:stretch>
            <a:fillRect/>
          </a:stretch>
        </p:blipFill>
        <p:spPr>
          <a:xfrm>
            <a:off x="8229600" y="2103120"/>
            <a:ext cx="3383280" cy="2469794"/>
          </a:xfrm>
          <a:prstGeom prst="roundRect">
            <a:avLst>
              <a:gd name="adj" fmla="val 8000"/>
            </a:avLst>
          </a:prstGeom>
          <a:effectLst>
            <a:outerShdw blurRad="50800" dist="38100" dir="2700000" algn="tl" rotWithShape="0">
              <a:srgbClr val="000000">
                <a:alpha val="50000"/>
              </a:srgbClr>
            </a:outerShdw>
          </a:effectLst>
        </p:spPr>
      </p:pic>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2" name="TextBox 11"/>
          <p:cNvSpPr txBox="1"/>
          <p:nvPr/>
        </p:nvSpPr>
        <p:spPr>
          <a:xfrm>
            <a:off x="11475720" y="6583680"/>
            <a:ext cx="502920" cy="292608"/>
          </a:xfrm>
          <a:prstGeom prst="rect">
            <a:avLst/>
          </a:prstGeom>
          <a:noFill/>
        </p:spPr>
        <p:txBody>
          <a:bodyPr wrap="none" lIns="0" rIns="0" tIns="0" bIns="0">
            <a:spAutoFit/>
          </a:bodyPr>
          <a:lstStyle/>
          <a:p>
            <a:pPr algn="r"/>
            <a:fld id="{C2BD278C-8F54-5CC4-A3BF-69168DCAEEF2}" type="slidenum">
              <a:rPr lang="en-US" sz="1200" dirty="0">
                <a:solidFill>
                  <a:srgbClr val="555B66"/>
                </a:solidFill>
                <a:latin typeface="Calibri"/>
              </a:rPr>
              <a:t>50</a:t>
            </a:fld>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Key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Strategic Thinking: The Beauty Contest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737360"/>
            <a:ext cx="6267297" cy="2977286"/>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Prominent game in newspapers in the 1930s:</a:t>
            </a:r>
          </a:p>
          <a:p>
            <a:pPr algn="l" lvl="1"/>
            <a:r>
              <a:rPr>
                <a:latin typeface="Calibri"/>
              </a:rPr>
              <a:t>Get a reward if you select the face that is the most popular among others (not the one that </a:t>
            </a:r>
            <a:r>
              <a:rPr u="sng">
                <a:latin typeface="Calibri"/>
              </a:rPr>
              <a:t>you</a:t>
            </a:r>
            <a:r>
              <a:rPr>
                <a:latin typeface="Calibri"/>
              </a:rPr>
              <a:t> find most attractive)</a:t>
            </a:r>
          </a:p>
          <a:p>
            <a:pPr algn="l"/>
            <a:r>
              <a:rPr>
                <a:latin typeface="Calibri"/>
              </a:rPr>
              <a:t>John Maynard Keynes (1936) used it as analogy</a:t>
            </a:r>
          </a:p>
        </p:txBody>
      </p:sp>
      <p:grpSp>
        <p:nvGrpSpPr>
          <p:cNvPr id="14" name="PicCaption 14"/>
          <p:cNvGrpSpPr/>
          <p:nvPr/>
        </p:nvGrpSpPr>
        <p:grpSpPr>
          <a:xfrm>
            <a:off x="6766560" y="3209544"/>
            <a:ext cx="5102352" cy="3144620"/>
            <a:chOff x="6766560" y="3209544"/>
            <a:chExt cx="5102352" cy="3144620"/>
          </a:xfrm>
        </p:grpSpPr>
        <p:pic>
          <p:nvPicPr>
            <p:cNvPr id="8" name="Picture 7" descr="image41.jpeg"/>
            <p:cNvPicPr>
              <a:picLocks noChangeAspect="1"/>
            </p:cNvPicPr>
            <p:nvPr/>
          </p:nvPicPr>
          <p:blipFill>
            <a:blip r:embed="rId2"/>
            <a:stretch>
              <a:fillRect/>
            </a:stretch>
          </p:blipFill>
          <p:spPr>
            <a:xfrm>
              <a:off x="6766560" y="3209544"/>
              <a:ext cx="5102352" cy="2732227"/>
            </a:xfrm>
            <a:prstGeom prst="roundRect">
              <a:avLst>
                <a:gd name="adj" fmla="val 8000"/>
              </a:avLst>
            </a:prstGeom>
            <a:effectLst>
              <a:outerShdw blurRad="50800" dist="38100" dir="2700000" algn="tl" rotWithShape="0">
                <a:srgbClr val="000000">
                  <a:alpha val="50000"/>
                </a:srgbClr>
              </a:outerShdw>
            </a:effectLst>
          </p:spPr>
        </p:pic>
        <p:sp>
          <p:nvSpPr>
            <p:cNvPr id="9" name="TextBox 8"/>
            <p:cNvSpPr txBox="1"/>
            <p:nvPr/>
          </p:nvSpPr>
          <p:spPr>
            <a:xfrm>
              <a:off x="6766560" y="6014008"/>
              <a:ext cx="5102352" cy="340156"/>
            </a:xfrm>
            <a:prstGeom prst="rect">
              <a:avLst/>
            </a:prstGeom>
            <a:noFill/>
          </p:spPr>
          <p:txBody>
            <a:bodyPr wrap="square" lIns="0" rIns="0" tIns="0" bIns="0">
              <a:spAutoFit/>
            </a:bodyPr>
            <a:lstStyle/>
            <a:p>
              <a:pPr algn="ctr"/>
              <a:r>
                <a:rPr sz="1100" b="0" i="1" u="none">
                  <a:solidFill>
                    <a:srgbClr val="555B66"/>
                  </a:solidFill>
                  <a:latin typeface="Calibri"/>
                </a:rPr>
                <a:t>John Maynard Keynes</a:t>
              </a:r>
            </a:p>
          </p:txBody>
        </p:sp>
      </p:gr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2D160668-B2A5-5CFB-BC42-7A6343B11653}" type="slidenum">
              <a:rPr lang="en-US" sz="1200" dirty="0">
                <a:solidFill>
                  <a:srgbClr val="555B66"/>
                </a:solidFill>
                <a:latin typeface="Calibri"/>
              </a:rPr>
              <a:t>51</a:t>
            </a:fld>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Key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Strategic Thinking: Numerical Beauty Contest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2194560"/>
            <a:ext cx="11247120" cy="256032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Numerical application:</a:t>
            </a:r>
          </a:p>
          <a:p>
            <a:pPr algn="l" lvl="1"/>
            <a:r>
              <a:rPr>
                <a:latin typeface="Calibri"/>
              </a:rPr>
              <a:t>All participants are asked to pick a number between 0 and 100</a:t>
            </a:r>
          </a:p>
          <a:p>
            <a:pPr algn="l" lvl="1"/>
            <a:r>
              <a:rPr>
                <a:latin typeface="Calibri"/>
              </a:rPr>
              <a:t>Winner: the number that is closest to 2/3 of the average of all numbers submitted</a:t>
            </a:r>
          </a:p>
        </p:txBody>
      </p:sp>
      <p:sp>
        <p:nvSpPr>
          <p:cNvPr id="8" name="Rectangle 7"/>
          <p:cNvSpPr/>
          <p:nvPr/>
        </p:nvSpPr>
        <p:spPr>
          <a:xfrm>
            <a:off x="9196496" y="5715000"/>
            <a:ext cx="2743200" cy="658368"/>
          </a:xfrm>
          <a:custGeom>
            <a:avLst/>
            <a:gdLst/>
            <a:ahLst/>
            <a:cxnLst/>
            <a:rect l="24000" t="0" r="76000" b="100000"/>
            <a:pathLst>
              <a:path w="100000" h="100000">
                <a:moveTo>
                  <a:pt x="29000" y="0"/>
                </a:moveTo>
                <a:lnTo>
                  <a:pt x="95000" y="0"/>
                </a:lnTo>
                <a:cubicBezTo>
                  <a:pt x="100000" y="0"/>
                  <a:pt x="100000" y="0"/>
                  <a:pt x="98800" y="5000"/>
                </a:cubicBezTo>
                <a:lnTo>
                  <a:pt x="77200" y="95000"/>
                </a:lnTo>
                <a:cubicBezTo>
                  <a:pt x="76000" y="100000"/>
                  <a:pt x="76000" y="100000"/>
                  <a:pt x="71000" y="100000"/>
                </a:cubicBezTo>
                <a:lnTo>
                  <a:pt x="5000" y="100000"/>
                </a:lnTo>
                <a:cubicBezTo>
                  <a:pt x="0" y="100000"/>
                  <a:pt x="0" y="100000"/>
                  <a:pt x="1200" y="95000"/>
                </a:cubicBezTo>
                <a:lnTo>
                  <a:pt x="22800" y="5000"/>
                </a:lnTo>
                <a:cubicBezTo>
                  <a:pt x="24000" y="0"/>
                  <a:pt x="24000" y="0"/>
                  <a:pt x="29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54864" y="5715000"/>
            <a:ext cx="1426464" cy="658368"/>
          </a:xfrm>
          <a:prstGeom prst="rect">
            <a:avLst/>
          </a:prstGeom>
          <a:noFill/>
        </p:spPr>
        <p:txBody>
          <a:bodyPr wrap="none" anchor="ctr" lIns="45720" rIns="45720" tIns="18288" bIns="18288">
            <a:spAutoFit/>
          </a:bodyPr>
          <a:lstStyle/>
          <a:p>
            <a:pPr algn="ctr"/>
            <a:r>
              <a:rPr sz="2800" b="1">
                <a:solidFill>
                  <a:srgbClr val="0B2B4E"/>
                </a:solidFill>
                <a:latin typeface="Calibri"/>
              </a:rPr>
              <a:t>Poll Break</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4246C941-1EE2-5FF6-BE71-F651F3B8FDC7}" type="slidenum">
              <a:rPr lang="en-US" sz="1200" dirty="0">
                <a:solidFill>
                  <a:srgbClr val="555B66"/>
                </a:solidFill>
                <a:latin typeface="Calibri"/>
              </a:rPr>
              <a:t>52</a:t>
            </a:fld>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Key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Poll</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3108960"/>
            <a:ext cx="11687697" cy="731520"/>
          </a:xfrm>
          <a:prstGeom prst="rect">
            <a:avLst/>
          </a:prstGeom>
          <a:noFill/>
        </p:spPr>
        <p:txBody>
          <a:bodyPr wrap="square" lIns="0" rIns="0" tIns="0" bIns="0">
            <a:spAutoFit/>
          </a:bodyPr>
          <a:lstStyle/>
          <a:p>
            <a:pPr algn="ctr"/>
            <a:r>
              <a:rPr sz="2000" b="0" i="1" u="none">
                <a:solidFill>
                  <a:srgbClr val="555B66"/>
                </a:solidFill>
                <a:latin typeface="Calibri"/>
              </a:rPr>
              <a:t>[ PHASE 3 — PollEverywhere slide, spliced from source deck ]</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B7FC1D5B-DB15-578D-B8B6-E99664C4B95E}" type="slidenum">
              <a:rPr lang="en-US" sz="1200" dirty="0">
                <a:solidFill>
                  <a:srgbClr val="555B66"/>
                </a:solidFill>
                <a:latin typeface="Calibri"/>
              </a:rPr>
              <a:t>53</a:t>
            </a:fld>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Key Concepts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Key Concepts of Game Theory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783080"/>
            <a:ext cx="11338560" cy="4206240"/>
          </a:xfrm>
          <a:prstGeom prst="rect">
            <a:avLst/>
          </a:prstGeom>
          <a:noFill/>
        </p:spPr>
        <p:txBody>
          <a:bodyPr wrap="square" lIns="0" rIns="0" tIns="0" bIns="0">
            <a:spAutoFit/>
          </a:bodyPr>
          <a:lstStyle>
            <a:lvl1pPr marL="342900" indent="-342900">
              <a:spcBef>
                <a:spcPts val="14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Strategic behavior by all participants</a:t>
            </a:r>
          </a:p>
          <a:p>
            <a:pPr algn="l" lvl="1"/>
            <a:r>
              <a:rPr>
                <a:latin typeface="Calibri"/>
              </a:rPr>
              <a:t>Optimization: maximize </a:t>
            </a:r>
            <a:r>
              <a:rPr i="1">
                <a:latin typeface="Calibri"/>
              </a:rPr>
              <a:t>individual</a:t>
            </a:r>
            <a:r>
              <a:rPr>
                <a:latin typeface="Calibri"/>
              </a:rPr>
              <a:t> payoff</a:t>
            </a:r>
          </a:p>
          <a:p>
            <a:pPr algn="l"/>
            <a:r>
              <a:rPr>
                <a:latin typeface="Calibri"/>
              </a:rPr>
              <a:t>To study strategic behavior:</a:t>
            </a:r>
          </a:p>
          <a:p>
            <a:pPr algn="l" lvl="1"/>
            <a:r>
              <a:rPr b="1">
                <a:solidFill>
                  <a:srgbClr val="0070C0"/>
                </a:solidFill>
                <a:latin typeface="Calibri"/>
              </a:rPr>
              <a:t>Best response</a:t>
            </a:r>
            <a:r>
              <a:rPr>
                <a:latin typeface="Calibri"/>
              </a:rPr>
              <a:t>: optimal decision given what the other player does</a:t>
            </a:r>
          </a:p>
          <a:p>
            <a:pPr algn="l" lvl="1"/>
            <a:r>
              <a:rPr b="1">
                <a:solidFill>
                  <a:srgbClr val="0070C0"/>
                </a:solidFill>
                <a:latin typeface="Calibri"/>
              </a:rPr>
              <a:t>Dominant strategy</a:t>
            </a:r>
            <a:r>
              <a:rPr>
                <a:latin typeface="Calibri"/>
              </a:rPr>
              <a:t>: optimal action no matter what the other player does</a:t>
            </a:r>
          </a:p>
          <a:p>
            <a:pPr algn="l" lvl="1"/>
            <a:r>
              <a:rPr b="1">
                <a:solidFill>
                  <a:srgbClr val="0070C0"/>
                </a:solidFill>
                <a:latin typeface="Calibri"/>
              </a:rPr>
              <a:t>Nash equilibrium</a:t>
            </a:r>
            <a:r>
              <a:rPr>
                <a:latin typeface="Calibri"/>
              </a:rPr>
              <a:t>: «intersection of best responses»</a:t>
            </a:r>
          </a:p>
          <a:p>
            <a:pPr algn="l" lvl="2" marL="1028700" indent="-228600">
              <a:spcBef>
                <a:spcPts val="300"/>
              </a:spcBef>
              <a:buClr>
                <a:srgbClr val="555B66"/>
              </a:buClr>
              <a:buFont typeface="Calibri"/>
              <a:buChar char="–"/>
            </a:pPr>
            <a:r>
              <a:rPr sz="2200">
                <a:solidFill>
                  <a:srgbClr val="555B66"/>
                </a:solidFill>
                <a:latin typeface="Calibri"/>
              </a:rPr>
              <a:t>Position from which neither player would find it advantageous to deviate (e.g., Cournot equilibrium)</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216A2F35-312F-5488-930B-4C4508214782}" type="slidenum">
              <a:rPr lang="en-US" sz="1200" dirty="0">
                <a:solidFill>
                  <a:srgbClr val="555B66"/>
                </a:solidFill>
                <a:latin typeface="Calibri"/>
              </a:rPr>
              <a:t>54</a:t>
            </a:fld>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Outline of Module 7</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151333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1</a:t>
            </a:r>
          </a:p>
        </p:txBody>
      </p:sp>
      <p:sp>
        <p:nvSpPr>
          <p:cNvPr id="8" name="TextBox 7"/>
          <p:cNvSpPr txBox="1"/>
          <p:nvPr/>
        </p:nvSpPr>
        <p:spPr>
          <a:xfrm>
            <a:off x="1874519" y="1495044"/>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Collusion and Cartels</a:t>
            </a:r>
          </a:p>
        </p:txBody>
      </p:sp>
      <p:sp>
        <p:nvSpPr>
          <p:cNvPr id="9" name="Oval 8"/>
          <p:cNvSpPr/>
          <p:nvPr/>
        </p:nvSpPr>
        <p:spPr>
          <a:xfrm>
            <a:off x="1051560" y="234543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2</a:t>
            </a:r>
          </a:p>
        </p:txBody>
      </p:sp>
      <p:sp>
        <p:nvSpPr>
          <p:cNvPr id="10" name="TextBox 9"/>
          <p:cNvSpPr txBox="1"/>
          <p:nvPr/>
        </p:nvSpPr>
        <p:spPr>
          <a:xfrm>
            <a:off x="1874519" y="2327148"/>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Cournot Competition</a:t>
            </a:r>
          </a:p>
        </p:txBody>
      </p:sp>
      <p:sp>
        <p:nvSpPr>
          <p:cNvPr id="11" name="Oval 10"/>
          <p:cNvSpPr/>
          <p:nvPr/>
        </p:nvSpPr>
        <p:spPr>
          <a:xfrm>
            <a:off x="1051560" y="317754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3</a:t>
            </a:r>
          </a:p>
        </p:txBody>
      </p:sp>
      <p:sp>
        <p:nvSpPr>
          <p:cNvPr id="12" name="TextBox 11"/>
          <p:cNvSpPr txBox="1"/>
          <p:nvPr/>
        </p:nvSpPr>
        <p:spPr>
          <a:xfrm>
            <a:off x="1874519" y="3159252"/>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Bertrand Competition</a:t>
            </a:r>
          </a:p>
        </p:txBody>
      </p:sp>
      <p:sp>
        <p:nvSpPr>
          <p:cNvPr id="13" name="Oval 12"/>
          <p:cNvSpPr/>
          <p:nvPr/>
        </p:nvSpPr>
        <p:spPr>
          <a:xfrm>
            <a:off x="1051560" y="400964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4</a:t>
            </a:r>
          </a:p>
        </p:txBody>
      </p:sp>
      <p:sp>
        <p:nvSpPr>
          <p:cNvPr id="14" name="TextBox 13"/>
          <p:cNvSpPr txBox="1"/>
          <p:nvPr/>
        </p:nvSpPr>
        <p:spPr>
          <a:xfrm>
            <a:off x="1874519" y="3991356"/>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Oligopoly with Differentiated Goods</a:t>
            </a:r>
          </a:p>
        </p:txBody>
      </p:sp>
      <p:sp>
        <p:nvSpPr>
          <p:cNvPr id="15" name="Oval 14"/>
          <p:cNvSpPr/>
          <p:nvPr/>
        </p:nvSpPr>
        <p:spPr>
          <a:xfrm>
            <a:off x="1051560" y="484174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5</a:t>
            </a:r>
          </a:p>
        </p:txBody>
      </p:sp>
      <p:sp>
        <p:nvSpPr>
          <p:cNvPr id="16" name="TextBox 15"/>
          <p:cNvSpPr txBox="1"/>
          <p:nvPr/>
        </p:nvSpPr>
        <p:spPr>
          <a:xfrm>
            <a:off x="1874519" y="4823460"/>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Strategic Thinking: Key Concepts</a:t>
            </a:r>
          </a:p>
        </p:txBody>
      </p:sp>
      <p:sp>
        <p:nvSpPr>
          <p:cNvPr id="17" name="Rounded Rectangle 16"/>
          <p:cNvSpPr/>
          <p:nvPr/>
        </p:nvSpPr>
        <p:spPr>
          <a:xfrm>
            <a:off x="822960" y="5600700"/>
            <a:ext cx="11109960" cy="822960"/>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51560" y="567385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6</a:t>
            </a:r>
          </a:p>
        </p:txBody>
      </p:sp>
      <p:sp>
        <p:nvSpPr>
          <p:cNvPr id="19" name="TextBox 18"/>
          <p:cNvSpPr txBox="1"/>
          <p:nvPr/>
        </p:nvSpPr>
        <p:spPr>
          <a:xfrm>
            <a:off x="1874519" y="5655564"/>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Prisoner’s Dilemma, Game of Chicken…</a:t>
            </a:r>
          </a:p>
          <a:p>
            <a:pPr algn="l">
              <a:spcBef>
                <a:spcPts val="0"/>
              </a:spcBef>
              <a:buNone/>
            </a:pPr>
            <a:r>
              <a:rPr sz="2200">
                <a:solidFill>
                  <a:srgbClr val="555B66"/>
                </a:solidFill>
                <a:latin typeface="Calibri"/>
              </a:rPr>
              <a:t>Classic games and what they teach about business strategy</a:t>
            </a:r>
          </a:p>
        </p:txBody>
      </p:sp>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23" name="TextBox 22"/>
          <p:cNvSpPr txBox="1"/>
          <p:nvPr/>
        </p:nvSpPr>
        <p:spPr>
          <a:xfrm>
            <a:off x="11475720" y="6583680"/>
            <a:ext cx="502920" cy="292608"/>
          </a:xfrm>
          <a:prstGeom prst="rect">
            <a:avLst/>
          </a:prstGeom>
          <a:noFill/>
        </p:spPr>
        <p:txBody>
          <a:bodyPr wrap="none" lIns="0" rIns="0" tIns="0" bIns="0">
            <a:spAutoFit/>
          </a:bodyPr>
          <a:lstStyle/>
          <a:p>
            <a:pPr algn="r"/>
            <a:fld id="{073D4881-39FC-5E55-B354-D3717B72CD81}" type="slidenum">
              <a:rPr lang="en-US" sz="1200" dirty="0">
                <a:solidFill>
                  <a:srgbClr val="555B66"/>
                </a:solidFill>
                <a:latin typeface="Calibri"/>
              </a:rPr>
              <a:t>65</a:t>
            </a:fld>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Prisoner's Dilemma: Setup and Payoffs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60520" y="1435608"/>
            <a:ext cx="4206240" cy="384048"/>
          </a:xfrm>
          <a:prstGeom prst="rect">
            <a:avLst/>
          </a:prstGeom>
          <a:noFill/>
        </p:spPr>
        <p:txBody>
          <a:bodyPr wrap="square" lIns="0" rIns="0" tIns="0" bIns="0">
            <a:spAutoFit/>
          </a:bodyPr>
          <a:lstStyle/>
          <a:p>
            <a:pPr algn="ctr"/>
            <a:r>
              <a:rPr sz="2200" b="1" i="0" u="none">
                <a:solidFill>
                  <a:srgbClr val="E09F3E"/>
                </a:solidFill>
                <a:latin typeface="Calibri"/>
              </a:rPr>
              <a:t>Prisoner 2</a:t>
            </a:r>
          </a:p>
        </p:txBody>
      </p:sp>
      <p:sp>
        <p:nvSpPr>
          <p:cNvPr id="8" name="TextBox 7"/>
          <p:cNvSpPr txBox="1"/>
          <p:nvPr/>
        </p:nvSpPr>
        <p:spPr>
          <a:xfrm>
            <a:off x="4160520" y="1819656"/>
            <a:ext cx="2103120" cy="457200"/>
          </a:xfrm>
          <a:prstGeom prst="rect">
            <a:avLst/>
          </a:prstGeom>
          <a:noFill/>
        </p:spPr>
        <p:txBody>
          <a:bodyPr wrap="square" lIns="0" rIns="0" tIns="0" bIns="0" anchor="b">
            <a:spAutoFit/>
          </a:bodyPr>
          <a:lstStyle/>
          <a:p>
            <a:pPr algn="ctr"/>
            <a:r>
              <a:rPr sz="1800" b="1" i="0" u="none">
                <a:solidFill>
                  <a:srgbClr val="0B2B4E"/>
                </a:solidFill>
                <a:latin typeface="Calibri"/>
              </a:rPr>
              <a:t>Silent</a:t>
            </a:r>
          </a:p>
        </p:txBody>
      </p:sp>
      <p:sp>
        <p:nvSpPr>
          <p:cNvPr id="9" name="TextBox 8"/>
          <p:cNvSpPr txBox="1"/>
          <p:nvPr/>
        </p:nvSpPr>
        <p:spPr>
          <a:xfrm>
            <a:off x="6263640" y="1819656"/>
            <a:ext cx="2103120" cy="457200"/>
          </a:xfrm>
          <a:prstGeom prst="rect">
            <a:avLst/>
          </a:prstGeom>
          <a:noFill/>
        </p:spPr>
        <p:txBody>
          <a:bodyPr wrap="square" lIns="0" rIns="0" tIns="0" bIns="0" anchor="b">
            <a:spAutoFit/>
          </a:bodyPr>
          <a:lstStyle/>
          <a:p>
            <a:pPr algn="ctr"/>
            <a:r>
              <a:rPr sz="1800" b="1" i="0" u="none">
                <a:solidFill>
                  <a:srgbClr val="0B2B4E"/>
                </a:solidFill>
                <a:latin typeface="Calibri"/>
              </a:rPr>
              <a:t>Betray</a:t>
            </a:r>
          </a:p>
        </p:txBody>
      </p:sp>
      <p:sp>
        <p:nvSpPr>
          <p:cNvPr id="10" name="TextBox 9"/>
          <p:cNvSpPr txBox="1"/>
          <p:nvPr/>
        </p:nvSpPr>
        <p:spPr>
          <a:xfrm rot="16200000">
            <a:off x="987552" y="3099816"/>
            <a:ext cx="1920240" cy="384048"/>
          </a:xfrm>
          <a:prstGeom prst="rect">
            <a:avLst/>
          </a:prstGeom>
          <a:noFill/>
        </p:spPr>
        <p:txBody>
          <a:bodyPr wrap="square" lIns="0" rIns="0" tIns="0" bIns="0">
            <a:spAutoFit/>
          </a:bodyPr>
          <a:lstStyle/>
          <a:p>
            <a:pPr algn="ctr"/>
            <a:r>
              <a:rPr sz="2200" b="1" i="0" u="none">
                <a:solidFill>
                  <a:srgbClr val="0070C0"/>
                </a:solidFill>
                <a:latin typeface="Calibri"/>
              </a:rPr>
              <a:t>Prisoner 1</a:t>
            </a:r>
          </a:p>
        </p:txBody>
      </p:sp>
      <p:sp>
        <p:nvSpPr>
          <p:cNvPr id="11" name="TextBox 10"/>
          <p:cNvSpPr txBox="1"/>
          <p:nvPr/>
        </p:nvSpPr>
        <p:spPr>
          <a:xfrm>
            <a:off x="2313432" y="246888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Silent</a:t>
            </a:r>
          </a:p>
        </p:txBody>
      </p:sp>
      <p:sp>
        <p:nvSpPr>
          <p:cNvPr id="12" name="TextBox 11"/>
          <p:cNvSpPr txBox="1"/>
          <p:nvPr/>
        </p:nvSpPr>
        <p:spPr>
          <a:xfrm>
            <a:off x="2313432" y="342900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Betray</a:t>
            </a:r>
          </a:p>
        </p:txBody>
      </p:sp>
      <p:sp>
        <p:nvSpPr>
          <p:cNvPr id="13" name="Rectangle 12"/>
          <p:cNvSpPr/>
          <p:nvPr/>
        </p:nvSpPr>
        <p:spPr>
          <a:xfrm>
            <a:off x="4160520" y="2331720"/>
            <a:ext cx="210312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a:t>
            </a:r>
            <a:r>
              <a:rPr sz="2400" b="1">
                <a:solidFill>
                  <a:srgbClr val="0B2B4E"/>
                </a:solidFill>
                <a:latin typeface="Calibri"/>
              </a:rPr>
              <a:t> , </a:t>
            </a:r>
            <a:r>
              <a:rPr sz="2400" b="1">
                <a:solidFill>
                  <a:srgbClr val="E09F3E"/>
                </a:solidFill>
                <a:latin typeface="Calibri"/>
              </a:rPr>
              <a:t>-1</a:t>
            </a:r>
          </a:p>
        </p:txBody>
      </p:sp>
      <p:sp>
        <p:nvSpPr>
          <p:cNvPr id="14" name="Rectangle 13"/>
          <p:cNvSpPr/>
          <p:nvPr/>
        </p:nvSpPr>
        <p:spPr>
          <a:xfrm>
            <a:off x="6263640" y="2331720"/>
            <a:ext cx="210312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-10</a:t>
            </a:r>
            <a:r>
              <a:rPr sz="2400" b="1">
                <a:solidFill>
                  <a:srgbClr val="0B2B4E"/>
                </a:solidFill>
                <a:latin typeface="Calibri"/>
              </a:rPr>
              <a:t> , </a:t>
            </a:r>
            <a:r>
              <a:rPr sz="2400" b="1">
                <a:solidFill>
                  <a:srgbClr val="E09F3E"/>
                </a:solidFill>
                <a:latin typeface="Calibri"/>
              </a:rPr>
              <a:t>0</a:t>
            </a:r>
          </a:p>
        </p:txBody>
      </p:sp>
      <p:sp>
        <p:nvSpPr>
          <p:cNvPr id="15" name="Rectangle 14"/>
          <p:cNvSpPr/>
          <p:nvPr/>
        </p:nvSpPr>
        <p:spPr>
          <a:xfrm>
            <a:off x="4160520" y="3291840"/>
            <a:ext cx="210312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0</a:t>
            </a:r>
            <a:r>
              <a:rPr sz="2400" b="1">
                <a:solidFill>
                  <a:srgbClr val="0B2B4E"/>
                </a:solidFill>
                <a:latin typeface="Calibri"/>
              </a:rPr>
              <a:t> , </a:t>
            </a:r>
            <a:r>
              <a:rPr sz="2400" b="1">
                <a:solidFill>
                  <a:srgbClr val="E09F3E"/>
                </a:solidFill>
                <a:latin typeface="Calibri"/>
              </a:rPr>
              <a:t>-10</a:t>
            </a:r>
          </a:p>
        </p:txBody>
      </p:sp>
      <p:sp>
        <p:nvSpPr>
          <p:cNvPr id="16" name="Rectangle 15"/>
          <p:cNvSpPr/>
          <p:nvPr/>
        </p:nvSpPr>
        <p:spPr>
          <a:xfrm>
            <a:off x="6263640" y="3291840"/>
            <a:ext cx="210312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-8</a:t>
            </a:r>
            <a:r>
              <a:rPr sz="2400" b="1">
                <a:solidFill>
                  <a:srgbClr val="0B2B4E"/>
                </a:solidFill>
                <a:latin typeface="Calibri"/>
              </a:rPr>
              <a:t> , </a:t>
            </a:r>
            <a:r>
              <a:rPr sz="2400" b="1">
                <a:solidFill>
                  <a:srgbClr val="E09F3E"/>
                </a:solidFill>
                <a:latin typeface="Calibri"/>
              </a:rPr>
              <a:t>-8</a:t>
            </a:r>
          </a:p>
        </p:txBody>
      </p:sp>
      <p:sp>
        <p:nvSpPr>
          <p:cNvPr id="17" name="TextBox 16"/>
          <p:cNvSpPr txBox="1"/>
          <p:nvPr/>
        </p:nvSpPr>
        <p:spPr>
          <a:xfrm>
            <a:off x="3794760" y="4379976"/>
            <a:ext cx="4937760" cy="320040"/>
          </a:xfrm>
          <a:prstGeom prst="rect">
            <a:avLst/>
          </a:prstGeom>
          <a:noFill/>
        </p:spPr>
        <p:txBody>
          <a:bodyPr wrap="none">
            <a:spAutoFit/>
          </a:bodyPr>
          <a:lstStyle/>
          <a:p>
            <a:pPr algn="ctr"/>
            <a:r>
              <a:rPr sz="1500" i="1" b="0">
                <a:solidFill>
                  <a:srgbClr val="0B2B4E"/>
                </a:solidFill>
                <a:latin typeface="Calibri"/>
              </a:rPr>
              <a:t>Payoffs to (</a:t>
            </a:r>
            <a:r>
              <a:rPr sz="1500" i="1" b="1">
                <a:solidFill>
                  <a:srgbClr val="0070C0"/>
                </a:solidFill>
                <a:latin typeface="Calibri"/>
              </a:rPr>
              <a:t>Prisoner 1</a:t>
            </a:r>
            <a:r>
              <a:rPr sz="1500" i="1" b="0">
                <a:solidFill>
                  <a:srgbClr val="0B2B4E"/>
                </a:solidFill>
                <a:latin typeface="Calibri"/>
              </a:rPr>
              <a:t>, </a:t>
            </a:r>
            <a:r>
              <a:rPr sz="1500" i="1" b="1">
                <a:solidFill>
                  <a:srgbClr val="E09F3E"/>
                </a:solidFill>
                <a:latin typeface="Calibri"/>
              </a:rPr>
              <a:t>Prisoner 2</a:t>
            </a:r>
            <a:r>
              <a:rPr sz="1500" i="1" b="0">
                <a:solidFill>
                  <a:srgbClr val="0B2B4E"/>
                </a:solidFill>
                <a:latin typeface="Calibri"/>
              </a:rPr>
              <a:t>)</a:t>
            </a:r>
          </a:p>
        </p:txBody>
      </p:sp>
      <p:sp>
        <p:nvSpPr>
          <p:cNvPr id="18" name="Rounded Rectangle 17"/>
          <p:cNvSpPr/>
          <p:nvPr/>
        </p:nvSpPr>
        <p:spPr>
          <a:xfrm>
            <a:off x="457200" y="5120640"/>
            <a:ext cx="4480560" cy="105156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30368"/>
            <a:ext cx="4114800" cy="832104"/>
          </a:xfrm>
          <a:prstGeom prst="rect">
            <a:avLst/>
          </a:prstGeom>
          <a:noFill/>
        </p:spPr>
        <p:txBody>
          <a:bodyPr wrap="square" lIns="45720" rIns="45720" tIns="0" bIns="0" anchor="ctr">
            <a:spAutoFit/>
          </a:bodyPr>
          <a:lstStyle/>
          <a:p>
            <a:pPr algn="l"/>
            <a:r>
              <a:rPr sz="1800" b="0" i="0" u="sng">
                <a:solidFill>
                  <a:srgbClr val="0B2B4E"/>
                </a:solidFill>
                <a:latin typeface="Calibri"/>
              </a:rPr>
              <a:t>Interpretation of payoffs:</a:t>
            </a:r>
          </a:p>
          <a:p>
            <a:pPr algn="l"/>
            <a:r>
              <a:rPr sz="1700" b="0" i="0" u="none">
                <a:solidFill>
                  <a:srgbClr val="0B2B4E"/>
                </a:solidFill>
                <a:latin typeface="Calibri"/>
              </a:rPr>
              <a:t>Negative values, because they indicate years in prison</a:t>
            </a:r>
          </a:p>
        </p:txBody>
      </p:sp>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23" name="TextBox 22"/>
          <p:cNvSpPr txBox="1"/>
          <p:nvPr/>
        </p:nvSpPr>
        <p:spPr>
          <a:xfrm>
            <a:off x="11475720" y="6583680"/>
            <a:ext cx="502920" cy="292608"/>
          </a:xfrm>
          <a:prstGeom prst="rect">
            <a:avLst/>
          </a:prstGeom>
          <a:noFill/>
        </p:spPr>
        <p:txBody>
          <a:bodyPr wrap="none" lIns="0" rIns="0" tIns="0" bIns="0">
            <a:spAutoFit/>
          </a:bodyPr>
          <a:lstStyle/>
          <a:p>
            <a:pPr algn="r"/>
            <a:fld id="{23BA4089-91A7-52FF-A3AA-3F3B3620A2E7}" type="slidenum">
              <a:rPr lang="en-US" sz="1200" dirty="0">
                <a:solidFill>
                  <a:srgbClr val="555B66"/>
                </a:solidFill>
                <a:latin typeface="Calibri"/>
              </a:rPr>
              <a:t>56</a:t>
            </a:fld>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Prisoner's Dilemma: Strategy of Prisoner 1</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60520" y="1435608"/>
            <a:ext cx="4206240" cy="384048"/>
          </a:xfrm>
          <a:prstGeom prst="rect">
            <a:avLst/>
          </a:prstGeom>
          <a:noFill/>
        </p:spPr>
        <p:txBody>
          <a:bodyPr wrap="square" lIns="0" rIns="0" tIns="0" bIns="0">
            <a:spAutoFit/>
          </a:bodyPr>
          <a:lstStyle/>
          <a:p>
            <a:pPr algn="ctr"/>
            <a:r>
              <a:rPr sz="2200" b="1" i="0" u="none">
                <a:solidFill>
                  <a:srgbClr val="E09F3E"/>
                </a:solidFill>
                <a:latin typeface="Calibri"/>
              </a:rPr>
              <a:t>Prisoner 2</a:t>
            </a:r>
          </a:p>
        </p:txBody>
      </p:sp>
      <p:sp>
        <p:nvSpPr>
          <p:cNvPr id="8" name="TextBox 7"/>
          <p:cNvSpPr txBox="1"/>
          <p:nvPr/>
        </p:nvSpPr>
        <p:spPr>
          <a:xfrm>
            <a:off x="4160520" y="1819656"/>
            <a:ext cx="2103120" cy="457200"/>
          </a:xfrm>
          <a:prstGeom prst="rect">
            <a:avLst/>
          </a:prstGeom>
          <a:noFill/>
        </p:spPr>
        <p:txBody>
          <a:bodyPr wrap="square" lIns="0" rIns="0" tIns="0" bIns="0" anchor="b">
            <a:spAutoFit/>
          </a:bodyPr>
          <a:lstStyle/>
          <a:p>
            <a:pPr algn="ctr"/>
            <a:r>
              <a:rPr sz="1800" b="1" i="0" u="none">
                <a:solidFill>
                  <a:srgbClr val="0B2B4E"/>
                </a:solidFill>
                <a:latin typeface="Calibri"/>
              </a:rPr>
              <a:t>Silent</a:t>
            </a:r>
          </a:p>
        </p:txBody>
      </p:sp>
      <p:sp>
        <p:nvSpPr>
          <p:cNvPr id="9" name="TextBox 8"/>
          <p:cNvSpPr txBox="1"/>
          <p:nvPr/>
        </p:nvSpPr>
        <p:spPr>
          <a:xfrm>
            <a:off x="6263640" y="1819656"/>
            <a:ext cx="2103120" cy="457200"/>
          </a:xfrm>
          <a:prstGeom prst="rect">
            <a:avLst/>
          </a:prstGeom>
          <a:noFill/>
        </p:spPr>
        <p:txBody>
          <a:bodyPr wrap="square" lIns="0" rIns="0" tIns="0" bIns="0" anchor="b">
            <a:spAutoFit/>
          </a:bodyPr>
          <a:lstStyle/>
          <a:p>
            <a:pPr algn="ctr"/>
            <a:r>
              <a:rPr sz="1800" b="1" i="0" u="none">
                <a:solidFill>
                  <a:srgbClr val="0B2B4E"/>
                </a:solidFill>
                <a:latin typeface="Calibri"/>
              </a:rPr>
              <a:t>Betray</a:t>
            </a:r>
          </a:p>
        </p:txBody>
      </p:sp>
      <p:sp>
        <p:nvSpPr>
          <p:cNvPr id="10" name="TextBox 9"/>
          <p:cNvSpPr txBox="1"/>
          <p:nvPr/>
        </p:nvSpPr>
        <p:spPr>
          <a:xfrm rot="16200000">
            <a:off x="987552" y="3099816"/>
            <a:ext cx="1920240" cy="384048"/>
          </a:xfrm>
          <a:prstGeom prst="rect">
            <a:avLst/>
          </a:prstGeom>
          <a:noFill/>
        </p:spPr>
        <p:txBody>
          <a:bodyPr wrap="square" lIns="0" rIns="0" tIns="0" bIns="0">
            <a:spAutoFit/>
          </a:bodyPr>
          <a:lstStyle/>
          <a:p>
            <a:pPr algn="ctr"/>
            <a:r>
              <a:rPr sz="2200" b="1" i="0" u="none">
                <a:solidFill>
                  <a:srgbClr val="0070C0"/>
                </a:solidFill>
                <a:latin typeface="Calibri"/>
              </a:rPr>
              <a:t>Prisoner 1</a:t>
            </a:r>
          </a:p>
        </p:txBody>
      </p:sp>
      <p:sp>
        <p:nvSpPr>
          <p:cNvPr id="11" name="TextBox 10"/>
          <p:cNvSpPr txBox="1"/>
          <p:nvPr/>
        </p:nvSpPr>
        <p:spPr>
          <a:xfrm>
            <a:off x="2313432" y="246888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Silent</a:t>
            </a:r>
          </a:p>
        </p:txBody>
      </p:sp>
      <p:sp>
        <p:nvSpPr>
          <p:cNvPr id="12" name="TextBox 11"/>
          <p:cNvSpPr txBox="1"/>
          <p:nvPr/>
        </p:nvSpPr>
        <p:spPr>
          <a:xfrm>
            <a:off x="2313432" y="342900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Betray</a:t>
            </a:r>
          </a:p>
        </p:txBody>
      </p:sp>
      <p:sp>
        <p:nvSpPr>
          <p:cNvPr id="13" name="Rectangle 12"/>
          <p:cNvSpPr/>
          <p:nvPr/>
        </p:nvSpPr>
        <p:spPr>
          <a:xfrm>
            <a:off x="4160520" y="2331720"/>
            <a:ext cx="210312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a:t>
            </a:r>
            <a:r>
              <a:rPr sz="2400" b="1">
                <a:solidFill>
                  <a:srgbClr val="0B2B4E"/>
                </a:solidFill>
                <a:latin typeface="Calibri"/>
              </a:rPr>
              <a:t> , </a:t>
            </a:r>
            <a:r>
              <a:rPr sz="2400" b="1">
                <a:solidFill>
                  <a:srgbClr val="FFFFFF"/>
                </a:solidFill>
                <a:latin typeface="Calibri"/>
              </a:rPr>
              <a:t>-1</a:t>
            </a:r>
          </a:p>
        </p:txBody>
      </p:sp>
      <p:sp>
        <p:nvSpPr>
          <p:cNvPr id="14" name="Rectangle 13"/>
          <p:cNvSpPr/>
          <p:nvPr/>
        </p:nvSpPr>
        <p:spPr>
          <a:xfrm>
            <a:off x="5338267" y="2656332"/>
            <a:ext cx="420624" cy="310896"/>
          </a:xfrm>
          <a:prstGeom prst="rect">
            <a:avLst/>
          </a:prstGeom>
          <a:solidFill>
            <a:srgbClr val="555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2331720"/>
            <a:ext cx="210312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-10</a:t>
            </a:r>
            <a:r>
              <a:rPr sz="2400" b="1">
                <a:solidFill>
                  <a:srgbClr val="0B2B4E"/>
                </a:solidFill>
                <a:latin typeface="Calibri"/>
              </a:rPr>
              <a:t> , </a:t>
            </a:r>
            <a:r>
              <a:rPr sz="2400" b="1">
                <a:solidFill>
                  <a:srgbClr val="FFFFFF"/>
                </a:solidFill>
                <a:latin typeface="Calibri"/>
              </a:rPr>
              <a:t>0</a:t>
            </a:r>
          </a:p>
        </p:txBody>
      </p:sp>
      <p:sp>
        <p:nvSpPr>
          <p:cNvPr id="16" name="Rectangle 15"/>
          <p:cNvSpPr/>
          <p:nvPr/>
        </p:nvSpPr>
        <p:spPr>
          <a:xfrm>
            <a:off x="7441387" y="2656332"/>
            <a:ext cx="420624" cy="310896"/>
          </a:xfrm>
          <a:prstGeom prst="rect">
            <a:avLst/>
          </a:prstGeom>
          <a:solidFill>
            <a:srgbClr val="555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60520" y="3291840"/>
            <a:ext cx="210312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0</a:t>
            </a:r>
            <a:r>
              <a:rPr sz="2400" b="1">
                <a:solidFill>
                  <a:srgbClr val="0B2B4E"/>
                </a:solidFill>
                <a:latin typeface="Calibri"/>
              </a:rPr>
              <a:t> , </a:t>
            </a:r>
            <a:r>
              <a:rPr sz="2400" b="1">
                <a:solidFill>
                  <a:srgbClr val="FFFFFF"/>
                </a:solidFill>
                <a:latin typeface="Calibri"/>
              </a:rPr>
              <a:t>-10</a:t>
            </a:r>
          </a:p>
        </p:txBody>
      </p:sp>
      <p:sp>
        <p:nvSpPr>
          <p:cNvPr id="18" name="Rectangle 17"/>
          <p:cNvSpPr/>
          <p:nvPr/>
        </p:nvSpPr>
        <p:spPr>
          <a:xfrm>
            <a:off x="5338267" y="3616452"/>
            <a:ext cx="420624" cy="310896"/>
          </a:xfrm>
          <a:prstGeom prst="rect">
            <a:avLst/>
          </a:prstGeom>
          <a:solidFill>
            <a:srgbClr val="555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3291840"/>
            <a:ext cx="210312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-8</a:t>
            </a:r>
            <a:r>
              <a:rPr sz="2400" b="1">
                <a:solidFill>
                  <a:srgbClr val="0B2B4E"/>
                </a:solidFill>
                <a:latin typeface="Calibri"/>
              </a:rPr>
              <a:t> , </a:t>
            </a:r>
            <a:r>
              <a:rPr sz="2400" b="1">
                <a:solidFill>
                  <a:srgbClr val="FFFFFF"/>
                </a:solidFill>
                <a:latin typeface="Calibri"/>
              </a:rPr>
              <a:t>-8</a:t>
            </a:r>
          </a:p>
        </p:txBody>
      </p:sp>
      <p:sp>
        <p:nvSpPr>
          <p:cNvPr id="20" name="Rectangle 19"/>
          <p:cNvSpPr/>
          <p:nvPr/>
        </p:nvSpPr>
        <p:spPr>
          <a:xfrm>
            <a:off x="7441387" y="3616452"/>
            <a:ext cx="420624" cy="310896"/>
          </a:xfrm>
          <a:prstGeom prst="rect">
            <a:avLst/>
          </a:prstGeom>
          <a:solidFill>
            <a:srgbClr val="555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94760" y="4379976"/>
            <a:ext cx="4937760" cy="320040"/>
          </a:xfrm>
          <a:prstGeom prst="rect">
            <a:avLst/>
          </a:prstGeom>
          <a:noFill/>
        </p:spPr>
        <p:txBody>
          <a:bodyPr wrap="none">
            <a:spAutoFit/>
          </a:bodyPr>
          <a:lstStyle/>
          <a:p>
            <a:pPr algn="ctr"/>
            <a:r>
              <a:rPr sz="1500" i="1" b="0">
                <a:solidFill>
                  <a:srgbClr val="0B2B4E"/>
                </a:solidFill>
                <a:latin typeface="Calibri"/>
              </a:rPr>
              <a:t>Payoffs to (</a:t>
            </a:r>
            <a:r>
              <a:rPr sz="1500" i="1" b="1">
                <a:solidFill>
                  <a:srgbClr val="0070C0"/>
                </a:solidFill>
                <a:latin typeface="Calibri"/>
              </a:rPr>
              <a:t>Prisoner 1</a:t>
            </a:r>
            <a:r>
              <a:rPr sz="1500" i="1" b="0">
                <a:solidFill>
                  <a:srgbClr val="0B2B4E"/>
                </a:solidFill>
                <a:latin typeface="Calibri"/>
              </a:rPr>
              <a:t>, </a:t>
            </a:r>
            <a:r>
              <a:rPr sz="1500" i="1" b="1">
                <a:solidFill>
                  <a:srgbClr val="E09F3E"/>
                </a:solidFill>
                <a:latin typeface="Calibri"/>
              </a:rPr>
              <a:t>Prisoner 2</a:t>
            </a:r>
            <a:r>
              <a:rPr sz="1500" i="1" b="0">
                <a:solidFill>
                  <a:srgbClr val="0B2B4E"/>
                </a:solidFill>
                <a:latin typeface="Calibri"/>
              </a:rPr>
              <a:t>)</a:t>
            </a:r>
          </a:p>
        </p:txBody>
      </p:sp>
      <p:cxnSp>
        <p:nvCxnSpPr>
          <p:cNvPr id="22" name="Connector 21"/>
          <p:cNvCxnSpPr/>
          <p:nvPr/>
        </p:nvCxnSpPr>
        <p:spPr>
          <a:xfrm>
            <a:off x="4875580" y="3049524"/>
            <a:ext cx="0" cy="35661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592116" y="3561588"/>
            <a:ext cx="566928" cy="420624"/>
          </a:xfrm>
          <a:prstGeom prst="ellipse">
            <a:avLst/>
          </a:prstGeom>
          <a:noFill/>
          <a:ln w="285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6978700" y="3049524"/>
            <a:ext cx="0" cy="35661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695236" y="3561588"/>
            <a:ext cx="566928" cy="420624"/>
          </a:xfrm>
          <a:prstGeom prst="ellipse">
            <a:avLst/>
          </a:prstGeom>
          <a:noFill/>
          <a:ln w="285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57200" y="5120640"/>
            <a:ext cx="4480560" cy="118872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5230368"/>
            <a:ext cx="4114800" cy="969264"/>
          </a:xfrm>
          <a:prstGeom prst="rect">
            <a:avLst/>
          </a:prstGeom>
          <a:noFill/>
        </p:spPr>
        <p:txBody>
          <a:bodyPr wrap="square" lIns="45720" rIns="45720" tIns="0" bIns="0" anchor="ctr">
            <a:spAutoFit/>
          </a:bodyPr>
          <a:lstStyle/>
          <a:p>
            <a:pPr algn="l"/>
            <a:r>
              <a:rPr sz="1800" b="0" i="0" u="sng">
                <a:solidFill>
                  <a:srgbClr val="0B2B4E"/>
                </a:solidFill>
                <a:latin typeface="Calibri"/>
              </a:rPr>
              <a:t>Interpretation of arrows:</a:t>
            </a:r>
          </a:p>
          <a:p>
            <a:pPr algn="l"/>
            <a:r>
              <a:rPr sz="1700" b="0" i="0" u="none">
                <a:solidFill>
                  <a:srgbClr val="0B2B4E"/>
                </a:solidFill>
                <a:latin typeface="Calibri"/>
              </a:rPr>
              <a:t>Prisoner 1 picks his best response to Prisoner 2's (hypothetical) choices</a:t>
            </a:r>
          </a:p>
        </p:txBody>
      </p:sp>
      <p:sp>
        <p:nvSpPr>
          <p:cNvPr id="28" name="Rectangle 2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31" name="TextBox 30"/>
          <p:cNvSpPr txBox="1"/>
          <p:nvPr/>
        </p:nvSpPr>
        <p:spPr>
          <a:xfrm>
            <a:off x="11475720" y="6583680"/>
            <a:ext cx="502920" cy="292608"/>
          </a:xfrm>
          <a:prstGeom prst="rect">
            <a:avLst/>
          </a:prstGeom>
          <a:noFill/>
        </p:spPr>
        <p:txBody>
          <a:bodyPr wrap="none" lIns="0" rIns="0" tIns="0" bIns="0">
            <a:spAutoFit/>
          </a:bodyPr>
          <a:lstStyle/>
          <a:p>
            <a:pPr algn="r"/>
            <a:fld id="{1E1B4166-CBC3-53C6-80D7-88DA9E112C89}" type="slidenum">
              <a:rPr lang="en-US" sz="1200" dirty="0">
                <a:solidFill>
                  <a:srgbClr val="555B66"/>
                </a:solidFill>
                <a:latin typeface="Calibri"/>
              </a:rPr>
              <a:t>57</a:t>
            </a:fld>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Prisoner's Dilemma: Strategy of Prisoner 2</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60520" y="1435608"/>
            <a:ext cx="4206240" cy="384048"/>
          </a:xfrm>
          <a:prstGeom prst="rect">
            <a:avLst/>
          </a:prstGeom>
          <a:noFill/>
        </p:spPr>
        <p:txBody>
          <a:bodyPr wrap="square" lIns="0" rIns="0" tIns="0" bIns="0">
            <a:spAutoFit/>
          </a:bodyPr>
          <a:lstStyle/>
          <a:p>
            <a:pPr algn="ctr"/>
            <a:r>
              <a:rPr sz="2200" b="1" i="0" u="none">
                <a:solidFill>
                  <a:srgbClr val="E09F3E"/>
                </a:solidFill>
                <a:latin typeface="Calibri"/>
              </a:rPr>
              <a:t>Prisoner 2</a:t>
            </a:r>
          </a:p>
        </p:txBody>
      </p:sp>
      <p:sp>
        <p:nvSpPr>
          <p:cNvPr id="8" name="TextBox 7"/>
          <p:cNvSpPr txBox="1"/>
          <p:nvPr/>
        </p:nvSpPr>
        <p:spPr>
          <a:xfrm>
            <a:off x="4160520" y="1819656"/>
            <a:ext cx="2103120" cy="457200"/>
          </a:xfrm>
          <a:prstGeom prst="rect">
            <a:avLst/>
          </a:prstGeom>
          <a:noFill/>
        </p:spPr>
        <p:txBody>
          <a:bodyPr wrap="square" lIns="0" rIns="0" tIns="0" bIns="0" anchor="b">
            <a:spAutoFit/>
          </a:bodyPr>
          <a:lstStyle/>
          <a:p>
            <a:pPr algn="ctr"/>
            <a:r>
              <a:rPr sz="1800" b="1" i="0" u="none">
                <a:solidFill>
                  <a:srgbClr val="0B2B4E"/>
                </a:solidFill>
                <a:latin typeface="Calibri"/>
              </a:rPr>
              <a:t>Silent</a:t>
            </a:r>
          </a:p>
        </p:txBody>
      </p:sp>
      <p:sp>
        <p:nvSpPr>
          <p:cNvPr id="9" name="TextBox 8"/>
          <p:cNvSpPr txBox="1"/>
          <p:nvPr/>
        </p:nvSpPr>
        <p:spPr>
          <a:xfrm>
            <a:off x="6263640" y="1819656"/>
            <a:ext cx="2103120" cy="457200"/>
          </a:xfrm>
          <a:prstGeom prst="rect">
            <a:avLst/>
          </a:prstGeom>
          <a:noFill/>
        </p:spPr>
        <p:txBody>
          <a:bodyPr wrap="square" lIns="0" rIns="0" tIns="0" bIns="0" anchor="b">
            <a:spAutoFit/>
          </a:bodyPr>
          <a:lstStyle/>
          <a:p>
            <a:pPr algn="ctr"/>
            <a:r>
              <a:rPr sz="1800" b="1" i="0" u="none">
                <a:solidFill>
                  <a:srgbClr val="0B2B4E"/>
                </a:solidFill>
                <a:latin typeface="Calibri"/>
              </a:rPr>
              <a:t>Betray</a:t>
            </a:r>
          </a:p>
        </p:txBody>
      </p:sp>
      <p:sp>
        <p:nvSpPr>
          <p:cNvPr id="10" name="TextBox 9"/>
          <p:cNvSpPr txBox="1"/>
          <p:nvPr/>
        </p:nvSpPr>
        <p:spPr>
          <a:xfrm rot="16200000">
            <a:off x="987552" y="3099816"/>
            <a:ext cx="1920240" cy="384048"/>
          </a:xfrm>
          <a:prstGeom prst="rect">
            <a:avLst/>
          </a:prstGeom>
          <a:noFill/>
        </p:spPr>
        <p:txBody>
          <a:bodyPr wrap="square" lIns="0" rIns="0" tIns="0" bIns="0">
            <a:spAutoFit/>
          </a:bodyPr>
          <a:lstStyle/>
          <a:p>
            <a:pPr algn="ctr"/>
            <a:r>
              <a:rPr sz="2200" b="1" i="0" u="none">
                <a:solidFill>
                  <a:srgbClr val="0070C0"/>
                </a:solidFill>
                <a:latin typeface="Calibri"/>
              </a:rPr>
              <a:t>Prisoner 1</a:t>
            </a:r>
          </a:p>
        </p:txBody>
      </p:sp>
      <p:sp>
        <p:nvSpPr>
          <p:cNvPr id="11" name="TextBox 10"/>
          <p:cNvSpPr txBox="1"/>
          <p:nvPr/>
        </p:nvSpPr>
        <p:spPr>
          <a:xfrm>
            <a:off x="2313432" y="246888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Silent</a:t>
            </a:r>
          </a:p>
        </p:txBody>
      </p:sp>
      <p:sp>
        <p:nvSpPr>
          <p:cNvPr id="12" name="TextBox 11"/>
          <p:cNvSpPr txBox="1"/>
          <p:nvPr/>
        </p:nvSpPr>
        <p:spPr>
          <a:xfrm>
            <a:off x="2313432" y="342900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Betray</a:t>
            </a:r>
          </a:p>
        </p:txBody>
      </p:sp>
      <p:sp>
        <p:nvSpPr>
          <p:cNvPr id="13" name="Rectangle 12"/>
          <p:cNvSpPr/>
          <p:nvPr/>
        </p:nvSpPr>
        <p:spPr>
          <a:xfrm>
            <a:off x="4160520" y="2331720"/>
            <a:ext cx="210312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Calibri"/>
              </a:rPr>
              <a:t>-1</a:t>
            </a:r>
            <a:r>
              <a:rPr sz="2400" b="1">
                <a:solidFill>
                  <a:srgbClr val="0B2B4E"/>
                </a:solidFill>
                <a:latin typeface="Calibri"/>
              </a:rPr>
              <a:t> , </a:t>
            </a:r>
            <a:r>
              <a:rPr sz="2400" b="1">
                <a:solidFill>
                  <a:srgbClr val="E09F3E"/>
                </a:solidFill>
                <a:latin typeface="Calibri"/>
              </a:rPr>
              <a:t>-1</a:t>
            </a:r>
          </a:p>
        </p:txBody>
      </p:sp>
      <p:sp>
        <p:nvSpPr>
          <p:cNvPr id="14" name="Rectangle 13"/>
          <p:cNvSpPr/>
          <p:nvPr/>
        </p:nvSpPr>
        <p:spPr>
          <a:xfrm>
            <a:off x="4665268" y="2656332"/>
            <a:ext cx="420624" cy="310896"/>
          </a:xfrm>
          <a:prstGeom prst="rect">
            <a:avLst/>
          </a:prstGeom>
          <a:solidFill>
            <a:srgbClr val="555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2331720"/>
            <a:ext cx="210312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Calibri"/>
              </a:rPr>
              <a:t>-10</a:t>
            </a:r>
            <a:r>
              <a:rPr sz="2400" b="1">
                <a:solidFill>
                  <a:srgbClr val="0B2B4E"/>
                </a:solidFill>
                <a:latin typeface="Calibri"/>
              </a:rPr>
              <a:t> , </a:t>
            </a:r>
            <a:r>
              <a:rPr sz="2400" b="1">
                <a:solidFill>
                  <a:srgbClr val="E09F3E"/>
                </a:solidFill>
                <a:latin typeface="Calibri"/>
              </a:rPr>
              <a:t>0</a:t>
            </a:r>
          </a:p>
        </p:txBody>
      </p:sp>
      <p:sp>
        <p:nvSpPr>
          <p:cNvPr id="16" name="Rectangle 15"/>
          <p:cNvSpPr/>
          <p:nvPr/>
        </p:nvSpPr>
        <p:spPr>
          <a:xfrm>
            <a:off x="6768388" y="2656332"/>
            <a:ext cx="420624" cy="310896"/>
          </a:xfrm>
          <a:prstGeom prst="rect">
            <a:avLst/>
          </a:prstGeom>
          <a:solidFill>
            <a:srgbClr val="555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60520" y="3291840"/>
            <a:ext cx="210312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Calibri"/>
              </a:rPr>
              <a:t>0</a:t>
            </a:r>
            <a:r>
              <a:rPr sz="2400" b="1">
                <a:solidFill>
                  <a:srgbClr val="0B2B4E"/>
                </a:solidFill>
                <a:latin typeface="Calibri"/>
              </a:rPr>
              <a:t> , </a:t>
            </a:r>
            <a:r>
              <a:rPr sz="2400" b="1">
                <a:solidFill>
                  <a:srgbClr val="E09F3E"/>
                </a:solidFill>
                <a:latin typeface="Calibri"/>
              </a:rPr>
              <a:t>-10</a:t>
            </a:r>
          </a:p>
        </p:txBody>
      </p:sp>
      <p:sp>
        <p:nvSpPr>
          <p:cNvPr id="18" name="Rectangle 17"/>
          <p:cNvSpPr/>
          <p:nvPr/>
        </p:nvSpPr>
        <p:spPr>
          <a:xfrm>
            <a:off x="4665268" y="3616452"/>
            <a:ext cx="420624" cy="310896"/>
          </a:xfrm>
          <a:prstGeom prst="rect">
            <a:avLst/>
          </a:prstGeom>
          <a:solidFill>
            <a:srgbClr val="555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3291840"/>
            <a:ext cx="210312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Calibri"/>
              </a:rPr>
              <a:t>-8</a:t>
            </a:r>
            <a:r>
              <a:rPr sz="2400" b="1">
                <a:solidFill>
                  <a:srgbClr val="0B2B4E"/>
                </a:solidFill>
                <a:latin typeface="Calibri"/>
              </a:rPr>
              <a:t> , </a:t>
            </a:r>
            <a:r>
              <a:rPr sz="2400" b="1">
                <a:solidFill>
                  <a:srgbClr val="E09F3E"/>
                </a:solidFill>
                <a:latin typeface="Calibri"/>
              </a:rPr>
              <a:t>-8</a:t>
            </a:r>
          </a:p>
        </p:txBody>
      </p:sp>
      <p:sp>
        <p:nvSpPr>
          <p:cNvPr id="20" name="Rectangle 19"/>
          <p:cNvSpPr/>
          <p:nvPr/>
        </p:nvSpPr>
        <p:spPr>
          <a:xfrm>
            <a:off x="6768388" y="3616452"/>
            <a:ext cx="420624" cy="310896"/>
          </a:xfrm>
          <a:prstGeom prst="rect">
            <a:avLst/>
          </a:prstGeom>
          <a:solidFill>
            <a:srgbClr val="555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94760" y="4379976"/>
            <a:ext cx="4937760" cy="320040"/>
          </a:xfrm>
          <a:prstGeom prst="rect">
            <a:avLst/>
          </a:prstGeom>
          <a:noFill/>
        </p:spPr>
        <p:txBody>
          <a:bodyPr wrap="none">
            <a:spAutoFit/>
          </a:bodyPr>
          <a:lstStyle/>
          <a:p>
            <a:pPr algn="ctr"/>
            <a:r>
              <a:rPr sz="1500" i="1" b="0">
                <a:solidFill>
                  <a:srgbClr val="0B2B4E"/>
                </a:solidFill>
                <a:latin typeface="Calibri"/>
              </a:rPr>
              <a:t>Payoffs to (</a:t>
            </a:r>
            <a:r>
              <a:rPr sz="1500" i="1" b="1">
                <a:solidFill>
                  <a:srgbClr val="0070C0"/>
                </a:solidFill>
                <a:latin typeface="Calibri"/>
              </a:rPr>
              <a:t>Prisoner 1</a:t>
            </a:r>
            <a:r>
              <a:rPr sz="1500" i="1" b="0">
                <a:solidFill>
                  <a:srgbClr val="0B2B4E"/>
                </a:solidFill>
                <a:latin typeface="Calibri"/>
              </a:rPr>
              <a:t>, </a:t>
            </a:r>
            <a:r>
              <a:rPr sz="1500" i="1" b="1">
                <a:solidFill>
                  <a:srgbClr val="E09F3E"/>
                </a:solidFill>
                <a:latin typeface="Calibri"/>
              </a:rPr>
              <a:t>Prisoner 2</a:t>
            </a:r>
            <a:r>
              <a:rPr sz="1500" i="1" b="0">
                <a:solidFill>
                  <a:srgbClr val="0B2B4E"/>
                </a:solidFill>
                <a:latin typeface="Calibri"/>
              </a:rPr>
              <a:t>)</a:t>
            </a:r>
          </a:p>
        </p:txBody>
      </p:sp>
      <p:cxnSp>
        <p:nvCxnSpPr>
          <p:cNvPr id="22" name="Connector 21"/>
          <p:cNvCxnSpPr/>
          <p:nvPr/>
        </p:nvCxnSpPr>
        <p:spPr>
          <a:xfrm>
            <a:off x="5594299" y="2537460"/>
            <a:ext cx="172821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368235" y="2601468"/>
            <a:ext cx="566928" cy="420624"/>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5594299" y="3497580"/>
            <a:ext cx="172821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7368235" y="3561588"/>
            <a:ext cx="566928" cy="420624"/>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57200" y="5120640"/>
            <a:ext cx="4480560" cy="118872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5230368"/>
            <a:ext cx="4114800" cy="969264"/>
          </a:xfrm>
          <a:prstGeom prst="rect">
            <a:avLst/>
          </a:prstGeom>
          <a:noFill/>
        </p:spPr>
        <p:txBody>
          <a:bodyPr wrap="square" lIns="45720" rIns="45720" tIns="0" bIns="0" anchor="ctr">
            <a:spAutoFit/>
          </a:bodyPr>
          <a:lstStyle/>
          <a:p>
            <a:pPr algn="l"/>
            <a:r>
              <a:rPr sz="1800" b="0" i="0" u="sng">
                <a:solidFill>
                  <a:srgbClr val="0B2B4E"/>
                </a:solidFill>
                <a:latin typeface="Calibri"/>
              </a:rPr>
              <a:t>Interpretation of arrows:</a:t>
            </a:r>
          </a:p>
          <a:p>
            <a:pPr algn="l"/>
            <a:r>
              <a:rPr sz="1700" b="0" i="0" u="none">
                <a:solidFill>
                  <a:srgbClr val="0B2B4E"/>
                </a:solidFill>
                <a:latin typeface="Calibri"/>
              </a:rPr>
              <a:t>Prisoner 2 picks his best response to Prisoner 1's (hypothetical) choices</a:t>
            </a:r>
          </a:p>
        </p:txBody>
      </p:sp>
      <p:sp>
        <p:nvSpPr>
          <p:cNvPr id="28" name="Rectangle 2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31" name="TextBox 30"/>
          <p:cNvSpPr txBox="1"/>
          <p:nvPr/>
        </p:nvSpPr>
        <p:spPr>
          <a:xfrm>
            <a:off x="11475720" y="6583680"/>
            <a:ext cx="502920" cy="292608"/>
          </a:xfrm>
          <a:prstGeom prst="rect">
            <a:avLst/>
          </a:prstGeom>
          <a:noFill/>
        </p:spPr>
        <p:txBody>
          <a:bodyPr wrap="none" lIns="0" rIns="0" tIns="0" bIns="0">
            <a:spAutoFit/>
          </a:bodyPr>
          <a:lstStyle/>
          <a:p>
            <a:pPr algn="r"/>
            <a:fld id="{D0002651-E365-528E-891F-1D4174B104F1}" type="slidenum">
              <a:rPr lang="en-US" sz="1200" dirty="0">
                <a:solidFill>
                  <a:srgbClr val="555B66"/>
                </a:solidFill>
                <a:latin typeface="Calibri"/>
              </a:rPr>
              <a:t>58</a:t>
            </a:fld>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Prisoner's Dilemma: Equilibrium</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60520" y="1435608"/>
            <a:ext cx="4206240" cy="384048"/>
          </a:xfrm>
          <a:prstGeom prst="rect">
            <a:avLst/>
          </a:prstGeom>
          <a:noFill/>
        </p:spPr>
        <p:txBody>
          <a:bodyPr wrap="square" lIns="0" rIns="0" tIns="0" bIns="0">
            <a:spAutoFit/>
          </a:bodyPr>
          <a:lstStyle/>
          <a:p>
            <a:pPr algn="ctr"/>
            <a:r>
              <a:rPr sz="2200" b="1" i="0" u="none">
                <a:solidFill>
                  <a:srgbClr val="E09F3E"/>
                </a:solidFill>
                <a:latin typeface="Calibri"/>
              </a:rPr>
              <a:t>Prisoner 2</a:t>
            </a:r>
          </a:p>
        </p:txBody>
      </p:sp>
      <p:sp>
        <p:nvSpPr>
          <p:cNvPr id="8" name="TextBox 7"/>
          <p:cNvSpPr txBox="1"/>
          <p:nvPr/>
        </p:nvSpPr>
        <p:spPr>
          <a:xfrm>
            <a:off x="4160520" y="1819656"/>
            <a:ext cx="2103120" cy="457200"/>
          </a:xfrm>
          <a:prstGeom prst="rect">
            <a:avLst/>
          </a:prstGeom>
          <a:noFill/>
        </p:spPr>
        <p:txBody>
          <a:bodyPr wrap="square" lIns="0" rIns="0" tIns="0" bIns="0" anchor="b">
            <a:spAutoFit/>
          </a:bodyPr>
          <a:lstStyle/>
          <a:p>
            <a:pPr algn="ctr"/>
            <a:r>
              <a:rPr sz="1800" b="1" i="0" u="none">
                <a:solidFill>
                  <a:srgbClr val="0B2B4E"/>
                </a:solidFill>
                <a:latin typeface="Calibri"/>
              </a:rPr>
              <a:t>Silent</a:t>
            </a:r>
          </a:p>
        </p:txBody>
      </p:sp>
      <p:sp>
        <p:nvSpPr>
          <p:cNvPr id="9" name="TextBox 8"/>
          <p:cNvSpPr txBox="1"/>
          <p:nvPr/>
        </p:nvSpPr>
        <p:spPr>
          <a:xfrm>
            <a:off x="6263640" y="1819656"/>
            <a:ext cx="2103120" cy="457200"/>
          </a:xfrm>
          <a:prstGeom prst="rect">
            <a:avLst/>
          </a:prstGeom>
          <a:noFill/>
        </p:spPr>
        <p:txBody>
          <a:bodyPr wrap="square" lIns="0" rIns="0" tIns="0" bIns="0" anchor="b">
            <a:spAutoFit/>
          </a:bodyPr>
          <a:lstStyle/>
          <a:p>
            <a:pPr algn="ctr"/>
            <a:r>
              <a:rPr sz="1800" b="1" i="0" u="none">
                <a:solidFill>
                  <a:srgbClr val="0B2B4E"/>
                </a:solidFill>
                <a:latin typeface="Calibri"/>
              </a:rPr>
              <a:t>Betray</a:t>
            </a:r>
          </a:p>
        </p:txBody>
      </p:sp>
      <p:sp>
        <p:nvSpPr>
          <p:cNvPr id="10" name="TextBox 9"/>
          <p:cNvSpPr txBox="1"/>
          <p:nvPr/>
        </p:nvSpPr>
        <p:spPr>
          <a:xfrm rot="16200000">
            <a:off x="987552" y="3099816"/>
            <a:ext cx="1920240" cy="384048"/>
          </a:xfrm>
          <a:prstGeom prst="rect">
            <a:avLst/>
          </a:prstGeom>
          <a:noFill/>
        </p:spPr>
        <p:txBody>
          <a:bodyPr wrap="square" lIns="0" rIns="0" tIns="0" bIns="0">
            <a:spAutoFit/>
          </a:bodyPr>
          <a:lstStyle/>
          <a:p>
            <a:pPr algn="ctr"/>
            <a:r>
              <a:rPr sz="2200" b="1" i="0" u="none">
                <a:solidFill>
                  <a:srgbClr val="0070C0"/>
                </a:solidFill>
                <a:latin typeface="Calibri"/>
              </a:rPr>
              <a:t>Prisoner 1</a:t>
            </a:r>
          </a:p>
        </p:txBody>
      </p:sp>
      <p:sp>
        <p:nvSpPr>
          <p:cNvPr id="11" name="TextBox 10"/>
          <p:cNvSpPr txBox="1"/>
          <p:nvPr/>
        </p:nvSpPr>
        <p:spPr>
          <a:xfrm>
            <a:off x="2313432" y="246888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Silent</a:t>
            </a:r>
          </a:p>
        </p:txBody>
      </p:sp>
      <p:sp>
        <p:nvSpPr>
          <p:cNvPr id="12" name="TextBox 11"/>
          <p:cNvSpPr txBox="1"/>
          <p:nvPr/>
        </p:nvSpPr>
        <p:spPr>
          <a:xfrm>
            <a:off x="2313432" y="342900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Betray</a:t>
            </a:r>
          </a:p>
        </p:txBody>
      </p:sp>
      <p:sp>
        <p:nvSpPr>
          <p:cNvPr id="13" name="Rectangle 12"/>
          <p:cNvSpPr/>
          <p:nvPr/>
        </p:nvSpPr>
        <p:spPr>
          <a:xfrm>
            <a:off x="4160520" y="2331720"/>
            <a:ext cx="210312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a:t>
            </a:r>
            <a:r>
              <a:rPr sz="2400" b="1">
                <a:solidFill>
                  <a:srgbClr val="0B2B4E"/>
                </a:solidFill>
                <a:latin typeface="Calibri"/>
              </a:rPr>
              <a:t> , </a:t>
            </a:r>
            <a:r>
              <a:rPr sz="2400" b="1">
                <a:solidFill>
                  <a:srgbClr val="E09F3E"/>
                </a:solidFill>
                <a:latin typeface="Calibri"/>
              </a:rPr>
              <a:t>-1</a:t>
            </a:r>
          </a:p>
        </p:txBody>
      </p:sp>
      <p:sp>
        <p:nvSpPr>
          <p:cNvPr id="14" name="Rectangle 13"/>
          <p:cNvSpPr/>
          <p:nvPr/>
        </p:nvSpPr>
        <p:spPr>
          <a:xfrm>
            <a:off x="6263640" y="2331720"/>
            <a:ext cx="210312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-10</a:t>
            </a:r>
            <a:r>
              <a:rPr sz="2400" b="1">
                <a:solidFill>
                  <a:srgbClr val="0B2B4E"/>
                </a:solidFill>
                <a:latin typeface="Calibri"/>
              </a:rPr>
              <a:t> , </a:t>
            </a:r>
            <a:r>
              <a:rPr sz="2400" b="1">
                <a:solidFill>
                  <a:srgbClr val="E09F3E"/>
                </a:solidFill>
                <a:latin typeface="Calibri"/>
              </a:rPr>
              <a:t>0</a:t>
            </a:r>
          </a:p>
        </p:txBody>
      </p:sp>
      <p:sp>
        <p:nvSpPr>
          <p:cNvPr id="15" name="Rectangle 14"/>
          <p:cNvSpPr/>
          <p:nvPr/>
        </p:nvSpPr>
        <p:spPr>
          <a:xfrm>
            <a:off x="4160520" y="3291840"/>
            <a:ext cx="210312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0</a:t>
            </a:r>
            <a:r>
              <a:rPr sz="2400" b="1">
                <a:solidFill>
                  <a:srgbClr val="0B2B4E"/>
                </a:solidFill>
                <a:latin typeface="Calibri"/>
              </a:rPr>
              <a:t> , </a:t>
            </a:r>
            <a:r>
              <a:rPr sz="2400" b="1">
                <a:solidFill>
                  <a:srgbClr val="E09F3E"/>
                </a:solidFill>
                <a:latin typeface="Calibri"/>
              </a:rPr>
              <a:t>-10</a:t>
            </a:r>
          </a:p>
        </p:txBody>
      </p:sp>
      <p:sp>
        <p:nvSpPr>
          <p:cNvPr id="16" name="Rectangle 15"/>
          <p:cNvSpPr/>
          <p:nvPr/>
        </p:nvSpPr>
        <p:spPr>
          <a:xfrm>
            <a:off x="6263640" y="3291840"/>
            <a:ext cx="210312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-8</a:t>
            </a:r>
            <a:r>
              <a:rPr sz="2400" b="1">
                <a:solidFill>
                  <a:srgbClr val="0B2B4E"/>
                </a:solidFill>
                <a:latin typeface="Calibri"/>
              </a:rPr>
              <a:t> , </a:t>
            </a:r>
            <a:r>
              <a:rPr sz="2400" b="1">
                <a:solidFill>
                  <a:srgbClr val="E09F3E"/>
                </a:solidFill>
                <a:latin typeface="Calibri"/>
              </a:rPr>
              <a:t>-8</a:t>
            </a:r>
          </a:p>
        </p:txBody>
      </p:sp>
      <p:sp>
        <p:nvSpPr>
          <p:cNvPr id="17" name="Oval 16"/>
          <p:cNvSpPr/>
          <p:nvPr/>
        </p:nvSpPr>
        <p:spPr>
          <a:xfrm>
            <a:off x="6163056" y="3200400"/>
            <a:ext cx="2304288" cy="1143000"/>
          </a:xfrm>
          <a:prstGeom prst="ellipse">
            <a:avLst/>
          </a:prstGeom>
          <a:noFill/>
          <a:ln w="349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94760" y="4379976"/>
            <a:ext cx="4937760" cy="320040"/>
          </a:xfrm>
          <a:prstGeom prst="rect">
            <a:avLst/>
          </a:prstGeom>
          <a:noFill/>
        </p:spPr>
        <p:txBody>
          <a:bodyPr wrap="none">
            <a:spAutoFit/>
          </a:bodyPr>
          <a:lstStyle/>
          <a:p>
            <a:pPr algn="ctr"/>
            <a:r>
              <a:rPr sz="1500" i="1" b="0">
                <a:solidFill>
                  <a:srgbClr val="0B2B4E"/>
                </a:solidFill>
                <a:latin typeface="Calibri"/>
              </a:rPr>
              <a:t>Payoffs to (</a:t>
            </a:r>
            <a:r>
              <a:rPr sz="1500" i="1" b="1">
                <a:solidFill>
                  <a:srgbClr val="0070C0"/>
                </a:solidFill>
                <a:latin typeface="Calibri"/>
              </a:rPr>
              <a:t>Prisoner 1</a:t>
            </a:r>
            <a:r>
              <a:rPr sz="1500" i="1" b="0">
                <a:solidFill>
                  <a:srgbClr val="0B2B4E"/>
                </a:solidFill>
                <a:latin typeface="Calibri"/>
              </a:rPr>
              <a:t>, </a:t>
            </a:r>
            <a:r>
              <a:rPr sz="1500" i="1" b="1">
                <a:solidFill>
                  <a:srgbClr val="E09F3E"/>
                </a:solidFill>
                <a:latin typeface="Calibri"/>
              </a:rPr>
              <a:t>Prisoner 2</a:t>
            </a:r>
            <a:r>
              <a:rPr sz="1500" i="1" b="0">
                <a:solidFill>
                  <a:srgbClr val="0B2B4E"/>
                </a:solidFill>
                <a:latin typeface="Calibri"/>
              </a:rPr>
              <a:t>)</a:t>
            </a:r>
          </a:p>
        </p:txBody>
      </p:sp>
      <p:cxnSp>
        <p:nvCxnSpPr>
          <p:cNvPr id="19" name="Connector 18"/>
          <p:cNvCxnSpPr/>
          <p:nvPr/>
        </p:nvCxnSpPr>
        <p:spPr>
          <a:xfrm>
            <a:off x="4875580" y="3049524"/>
            <a:ext cx="0" cy="35661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592116" y="3561588"/>
            <a:ext cx="566928" cy="420624"/>
          </a:xfrm>
          <a:prstGeom prst="ellipse">
            <a:avLst/>
          </a:prstGeom>
          <a:noFill/>
          <a:ln w="285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6978700" y="3049524"/>
            <a:ext cx="0" cy="35661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6695236" y="3561588"/>
            <a:ext cx="566928" cy="420624"/>
          </a:xfrm>
          <a:prstGeom prst="ellipse">
            <a:avLst/>
          </a:prstGeom>
          <a:noFill/>
          <a:ln w="285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5594299" y="2537460"/>
            <a:ext cx="172821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368235" y="2601468"/>
            <a:ext cx="566928" cy="420624"/>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5594299" y="3497580"/>
            <a:ext cx="172821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7368235" y="3561588"/>
            <a:ext cx="566928" cy="420624"/>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464040" y="3017520"/>
            <a:ext cx="2423160" cy="566928"/>
          </a:xfrm>
          <a:prstGeom prst="roundRect">
            <a:avLst>
              <a:gd name="adj" fmla="val 25000"/>
            </a:avLst>
          </a:prstGeom>
          <a:solidFill>
            <a:srgbClr val="FFFFFF"/>
          </a:soli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Nash Equilibrium</a:t>
            </a:r>
          </a:p>
        </p:txBody>
      </p:sp>
      <p:cxnSp>
        <p:nvCxnSpPr>
          <p:cNvPr id="28" name="Connector 27"/>
          <p:cNvCxnSpPr/>
          <p:nvPr/>
        </p:nvCxnSpPr>
        <p:spPr>
          <a:xfrm flipH="1">
            <a:off x="8229600" y="3584448"/>
            <a:ext cx="1600200" cy="4572"/>
          </a:xfrm>
          <a:prstGeom prst="line">
            <a:avLst/>
          </a:prstGeom>
          <a:ln w="22225">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65760" y="5120640"/>
            <a:ext cx="4663440" cy="123444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5230368"/>
            <a:ext cx="4297680" cy="1014984"/>
          </a:xfrm>
          <a:prstGeom prst="rect">
            <a:avLst/>
          </a:prstGeom>
          <a:noFill/>
        </p:spPr>
        <p:txBody>
          <a:bodyPr wrap="square" lIns="45720" rIns="45720" tIns="0" bIns="0" anchor="ctr">
            <a:spAutoFit/>
          </a:bodyPr>
          <a:lstStyle/>
          <a:p>
            <a:pPr algn="l"/>
            <a:r>
              <a:rPr sz="1700" b="0" i="0" u="none">
                <a:solidFill>
                  <a:srgbClr val="0B2B4E"/>
                </a:solidFill>
                <a:latin typeface="Calibri"/>
              </a:rPr>
              <a:t>Both players' </a:t>
            </a:r>
            <a:r>
              <a:rPr sz="1700" b="0" i="1" u="none">
                <a:solidFill>
                  <a:srgbClr val="0B2B4E"/>
                </a:solidFill>
                <a:latin typeface="Calibri"/>
              </a:rPr>
              <a:t>dominant strategy</a:t>
            </a:r>
            <a:r>
              <a:rPr sz="1700" b="0" i="0" u="none">
                <a:solidFill>
                  <a:srgbClr val="0B2B4E"/>
                </a:solidFill>
                <a:latin typeface="Calibri"/>
              </a:rPr>
              <a:t> is to betray, so individual optimization produces a “socially” sub-optimal outcome</a:t>
            </a:r>
          </a:p>
        </p:txBody>
      </p:sp>
      <p:sp>
        <p:nvSpPr>
          <p:cNvPr id="31" name="Rectangle 3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34" name="TextBox 33"/>
          <p:cNvSpPr txBox="1"/>
          <p:nvPr/>
        </p:nvSpPr>
        <p:spPr>
          <a:xfrm>
            <a:off x="11475720" y="6583680"/>
            <a:ext cx="502920" cy="292608"/>
          </a:xfrm>
          <a:prstGeom prst="rect">
            <a:avLst/>
          </a:prstGeom>
          <a:noFill/>
        </p:spPr>
        <p:txBody>
          <a:bodyPr wrap="none" lIns="0" rIns="0" tIns="0" bIns="0">
            <a:spAutoFit/>
          </a:bodyPr>
          <a:lstStyle/>
          <a:p>
            <a:pPr algn="r"/>
            <a:fld id="{D28DBA78-C604-5C08-BF39-0632A7010A64}" type="slidenum">
              <a:rPr lang="en-US" sz="1200" dirty="0">
                <a:solidFill>
                  <a:srgbClr val="555B66"/>
                </a:solidFill>
                <a:latin typeface="Calibri"/>
              </a:rPr>
              <a:t>59</a:t>
            </a:fld>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Ways to Solve the Dilemma</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4572000"/>
          </a:xfrm>
          <a:prstGeom prst="rect">
            <a:avLst/>
          </a:prstGeom>
          <a:noFill/>
        </p:spPr>
        <p:txBody>
          <a:bodyPr wrap="square" lIns="0" rIns="0" tIns="0" bIns="0">
            <a:spAutoFit/>
          </a:bodyPr>
          <a:lstStyle>
            <a:lvl1pPr marL="342900" indent="-342900">
              <a:spcBef>
                <a:spcPts val="14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Communication:</a:t>
            </a:r>
          </a:p>
          <a:p>
            <a:pPr algn="l" lvl="1"/>
            <a:r>
              <a:rPr>
                <a:latin typeface="Calibri"/>
              </a:rPr>
              <a:t>What would a lawyer do?</a:t>
            </a:r>
          </a:p>
          <a:p>
            <a:pPr algn="l"/>
            <a:r>
              <a:rPr>
                <a:latin typeface="Calibri"/>
              </a:rPr>
              <a:t>External solutions:</a:t>
            </a:r>
          </a:p>
          <a:p>
            <a:pPr algn="l" lvl="1"/>
            <a:r>
              <a:rPr>
                <a:latin typeface="Calibri"/>
              </a:rPr>
              <a:t>What would the Mafia do?</a:t>
            </a:r>
          </a:p>
          <a:p>
            <a:pPr algn="l" lvl="1"/>
            <a:r>
              <a:rPr>
                <a:latin typeface="Calibri"/>
              </a:rPr>
              <a:t>Commitment</a:t>
            </a:r>
          </a:p>
          <a:p>
            <a:pPr algn="l" lvl="1"/>
            <a:r>
              <a:rPr>
                <a:latin typeface="Calibri"/>
              </a:rPr>
              <a:t>Moral rules (guilt/“conscience”)</a:t>
            </a:r>
          </a:p>
          <a:p>
            <a:pPr algn="l"/>
            <a:r>
              <a:rPr>
                <a:latin typeface="Calibri"/>
              </a:rPr>
              <a:t>Repetition</a:t>
            </a:r>
          </a:p>
          <a:p>
            <a:pPr algn="l" lvl="1"/>
            <a:r>
              <a:rPr>
                <a:latin typeface="Calibri"/>
              </a:rPr>
              <a:t>Podcast (next slide)</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A35B05B6-3A12-5B2A-A5D3-F295264D4127}" type="slidenum">
              <a:rPr lang="en-US" sz="1200" dirty="0">
                <a:solidFill>
                  <a:srgbClr val="555B66"/>
                </a:solidFill>
                <a:latin typeface="Calibri"/>
              </a:rPr>
              <a:t>60</a:t>
            </a:fld>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Podcast on Prisoner's Dilemma</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828800"/>
            <a:ext cx="11247120" cy="1463040"/>
          </a:xfrm>
          <a:prstGeom prst="rect">
            <a:avLst/>
          </a:prstGeom>
          <a:noFill/>
        </p:spPr>
        <p:txBody>
          <a:bodyPr wrap="square" lIns="0" rIns="0" tIns="0" bIns="0">
            <a:spAutoFit/>
          </a:bodyPr>
          <a:lstStyle>
            <a:lvl1pPr marL="342900" indent="-342900">
              <a:spcBef>
                <a:spcPts val="16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What's the experiment that Bob Axelrod ran in the 1980s?</a:t>
            </a:r>
          </a:p>
          <a:p>
            <a:pPr algn="l"/>
            <a:r>
              <a:rPr>
                <a:latin typeface="Calibri"/>
              </a:rPr>
              <a:t>What was the winning strategy?</a:t>
            </a:r>
          </a:p>
        </p:txBody>
      </p:sp>
      <p:pic>
        <p:nvPicPr>
          <p:cNvPr id="8" name="Picture 7" descr="image45.png"/>
          <p:cNvPicPr>
            <a:picLocks noChangeAspect="1"/>
          </p:cNvPicPr>
          <p:nvPr/>
        </p:nvPicPr>
        <p:blipFill>
          <a:blip r:embed="rId2"/>
          <a:stretch>
            <a:fillRect/>
          </a:stretch>
        </p:blipFill>
        <p:spPr>
          <a:xfrm>
            <a:off x="3108960" y="3566160"/>
            <a:ext cx="5943600" cy="1827320"/>
          </a:xfrm>
          <a:prstGeom prst="rect">
            <a:avLst/>
          </a:prstGeom>
          <a:effectLst>
            <a:outerShdw blurRad="50800" dist="38100" dir="2700000" algn="tl" rotWithShape="0">
              <a:srgbClr val="000000">
                <a:alpha val="45000"/>
              </a:srgbClr>
            </a:outerShdw>
          </a:effectLst>
        </p:spPr>
      </p:pic>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2" name="TextBox 11"/>
          <p:cNvSpPr txBox="1"/>
          <p:nvPr/>
        </p:nvSpPr>
        <p:spPr>
          <a:xfrm>
            <a:off x="11475720" y="6583680"/>
            <a:ext cx="502920" cy="292608"/>
          </a:xfrm>
          <a:prstGeom prst="rect">
            <a:avLst/>
          </a:prstGeom>
          <a:noFill/>
        </p:spPr>
        <p:txBody>
          <a:bodyPr wrap="none" lIns="0" rIns="0" tIns="0" bIns="0">
            <a:spAutoFit/>
          </a:bodyPr>
          <a:lstStyle/>
          <a:p>
            <a:pPr algn="r"/>
            <a:fld id="{B36D137A-616F-50A2-A61A-42A0216094FB}" type="slidenum">
              <a:rPr lang="en-US" sz="1200" dirty="0">
                <a:solidFill>
                  <a:srgbClr val="555B66"/>
                </a:solidFill>
                <a:latin typeface="Calibri"/>
              </a:rPr>
              <a:t>61</a:t>
            </a:fld>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Fair Play vs. “Dirty” Play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34840" y="1481328"/>
            <a:ext cx="4206240" cy="384048"/>
          </a:xfrm>
          <a:prstGeom prst="rect">
            <a:avLst/>
          </a:prstGeom>
          <a:noFill/>
        </p:spPr>
        <p:txBody>
          <a:bodyPr wrap="square" lIns="0" rIns="0" tIns="0" bIns="0">
            <a:spAutoFit/>
          </a:bodyPr>
          <a:lstStyle/>
          <a:p>
            <a:pPr algn="ctr"/>
            <a:r>
              <a:rPr sz="2200" b="1" i="0" u="none">
                <a:solidFill>
                  <a:srgbClr val="E09F3E"/>
                </a:solidFill>
                <a:latin typeface="Calibri"/>
              </a:rPr>
              <a:t>Team 2</a:t>
            </a:r>
          </a:p>
        </p:txBody>
      </p:sp>
      <p:sp>
        <p:nvSpPr>
          <p:cNvPr id="8" name="TextBox 7"/>
          <p:cNvSpPr txBox="1"/>
          <p:nvPr/>
        </p:nvSpPr>
        <p:spPr>
          <a:xfrm>
            <a:off x="4434840" y="1865376"/>
            <a:ext cx="2103120" cy="457200"/>
          </a:xfrm>
          <a:prstGeom prst="rect">
            <a:avLst/>
          </a:prstGeom>
          <a:noFill/>
        </p:spPr>
        <p:txBody>
          <a:bodyPr wrap="square" lIns="0" rIns="0" tIns="0" bIns="0" anchor="b">
            <a:spAutoFit/>
          </a:bodyPr>
          <a:lstStyle/>
          <a:p>
            <a:pPr algn="ctr"/>
            <a:r>
              <a:rPr sz="1800" b="1" i="0" u="none">
                <a:solidFill>
                  <a:srgbClr val="0B2B4E"/>
                </a:solidFill>
                <a:latin typeface="Calibri"/>
              </a:rPr>
              <a:t>Play fair</a:t>
            </a:r>
          </a:p>
        </p:txBody>
      </p:sp>
      <p:sp>
        <p:nvSpPr>
          <p:cNvPr id="9" name="TextBox 8"/>
          <p:cNvSpPr txBox="1"/>
          <p:nvPr/>
        </p:nvSpPr>
        <p:spPr>
          <a:xfrm>
            <a:off x="6537960" y="1865376"/>
            <a:ext cx="2103120" cy="457200"/>
          </a:xfrm>
          <a:prstGeom prst="rect">
            <a:avLst/>
          </a:prstGeom>
          <a:noFill/>
        </p:spPr>
        <p:txBody>
          <a:bodyPr wrap="square" lIns="0" rIns="0" tIns="0" bIns="0" anchor="b">
            <a:spAutoFit/>
          </a:bodyPr>
          <a:lstStyle/>
          <a:p>
            <a:pPr algn="ctr"/>
            <a:r>
              <a:rPr sz="1800" b="1" i="0" u="none">
                <a:solidFill>
                  <a:srgbClr val="0B2B4E"/>
                </a:solidFill>
                <a:latin typeface="Calibri"/>
              </a:rPr>
              <a:t>Play dirty</a:t>
            </a:r>
          </a:p>
        </p:txBody>
      </p:sp>
      <p:sp>
        <p:nvSpPr>
          <p:cNvPr id="10" name="TextBox 9"/>
          <p:cNvSpPr txBox="1"/>
          <p:nvPr/>
        </p:nvSpPr>
        <p:spPr>
          <a:xfrm rot="16200000">
            <a:off x="1261872" y="3145536"/>
            <a:ext cx="1920240" cy="384048"/>
          </a:xfrm>
          <a:prstGeom prst="rect">
            <a:avLst/>
          </a:prstGeom>
          <a:noFill/>
        </p:spPr>
        <p:txBody>
          <a:bodyPr wrap="square" lIns="0" rIns="0" tIns="0" bIns="0">
            <a:spAutoFit/>
          </a:bodyPr>
          <a:lstStyle/>
          <a:p>
            <a:pPr algn="ctr"/>
            <a:r>
              <a:rPr sz="2200" b="1" i="0" u="none">
                <a:solidFill>
                  <a:srgbClr val="0070C0"/>
                </a:solidFill>
                <a:latin typeface="Calibri"/>
              </a:rPr>
              <a:t>Team 1</a:t>
            </a:r>
          </a:p>
        </p:txBody>
      </p:sp>
      <p:sp>
        <p:nvSpPr>
          <p:cNvPr id="11" name="TextBox 10"/>
          <p:cNvSpPr txBox="1"/>
          <p:nvPr/>
        </p:nvSpPr>
        <p:spPr>
          <a:xfrm>
            <a:off x="2587752" y="251460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Play fair</a:t>
            </a:r>
          </a:p>
        </p:txBody>
      </p:sp>
      <p:sp>
        <p:nvSpPr>
          <p:cNvPr id="12" name="TextBox 11"/>
          <p:cNvSpPr txBox="1"/>
          <p:nvPr/>
        </p:nvSpPr>
        <p:spPr>
          <a:xfrm>
            <a:off x="2587752" y="347472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Play dirty</a:t>
            </a:r>
          </a:p>
        </p:txBody>
      </p:sp>
      <p:sp>
        <p:nvSpPr>
          <p:cNvPr id="13" name="Rectangle 12"/>
          <p:cNvSpPr/>
          <p:nvPr/>
        </p:nvSpPr>
        <p:spPr>
          <a:xfrm>
            <a:off x="4434840" y="2377440"/>
            <a:ext cx="210312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0.5</a:t>
            </a:r>
            <a:r>
              <a:rPr sz="2400" b="1">
                <a:solidFill>
                  <a:srgbClr val="0B2B4E"/>
                </a:solidFill>
                <a:latin typeface="Calibri"/>
              </a:rPr>
              <a:t> , </a:t>
            </a:r>
            <a:r>
              <a:rPr sz="2400" b="1">
                <a:solidFill>
                  <a:srgbClr val="E09F3E"/>
                </a:solidFill>
                <a:latin typeface="Calibri"/>
              </a:rPr>
              <a:t>0.5</a:t>
            </a:r>
          </a:p>
        </p:txBody>
      </p:sp>
      <p:sp>
        <p:nvSpPr>
          <p:cNvPr id="14" name="Rectangle 13"/>
          <p:cNvSpPr/>
          <p:nvPr/>
        </p:nvSpPr>
        <p:spPr>
          <a:xfrm>
            <a:off x="6537960" y="2377440"/>
            <a:ext cx="210312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0.3</a:t>
            </a:r>
            <a:r>
              <a:rPr sz="2400" b="1">
                <a:solidFill>
                  <a:srgbClr val="0B2B4E"/>
                </a:solidFill>
                <a:latin typeface="Calibri"/>
              </a:rPr>
              <a:t> , </a:t>
            </a:r>
            <a:r>
              <a:rPr sz="2400" b="1">
                <a:solidFill>
                  <a:srgbClr val="E09F3E"/>
                </a:solidFill>
                <a:latin typeface="Calibri"/>
              </a:rPr>
              <a:t>0.7</a:t>
            </a:r>
          </a:p>
        </p:txBody>
      </p:sp>
      <p:sp>
        <p:nvSpPr>
          <p:cNvPr id="15" name="Rectangle 14"/>
          <p:cNvSpPr/>
          <p:nvPr/>
        </p:nvSpPr>
        <p:spPr>
          <a:xfrm>
            <a:off x="4434840" y="3337560"/>
            <a:ext cx="210312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0.7</a:t>
            </a:r>
            <a:r>
              <a:rPr sz="2400" b="1">
                <a:solidFill>
                  <a:srgbClr val="0B2B4E"/>
                </a:solidFill>
                <a:latin typeface="Calibri"/>
              </a:rPr>
              <a:t> , </a:t>
            </a:r>
            <a:r>
              <a:rPr sz="2400" b="1">
                <a:solidFill>
                  <a:srgbClr val="E09F3E"/>
                </a:solidFill>
                <a:latin typeface="Calibri"/>
              </a:rPr>
              <a:t>0.3</a:t>
            </a:r>
          </a:p>
        </p:txBody>
      </p:sp>
      <p:sp>
        <p:nvSpPr>
          <p:cNvPr id="16" name="Rectangle 15"/>
          <p:cNvSpPr/>
          <p:nvPr/>
        </p:nvSpPr>
        <p:spPr>
          <a:xfrm>
            <a:off x="6537960" y="3337560"/>
            <a:ext cx="210312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0.5</a:t>
            </a:r>
            <a:r>
              <a:rPr sz="2400" b="1">
                <a:solidFill>
                  <a:srgbClr val="0B2B4E"/>
                </a:solidFill>
                <a:latin typeface="Calibri"/>
              </a:rPr>
              <a:t> , </a:t>
            </a:r>
            <a:r>
              <a:rPr sz="2400" b="1">
                <a:solidFill>
                  <a:srgbClr val="E09F3E"/>
                </a:solidFill>
                <a:latin typeface="Calibri"/>
              </a:rPr>
              <a:t>0.5</a:t>
            </a:r>
          </a:p>
        </p:txBody>
      </p:sp>
      <p:sp>
        <p:nvSpPr>
          <p:cNvPr id="17" name="Oval 16"/>
          <p:cNvSpPr/>
          <p:nvPr/>
        </p:nvSpPr>
        <p:spPr>
          <a:xfrm>
            <a:off x="6437376" y="3246120"/>
            <a:ext cx="2304288" cy="1143000"/>
          </a:xfrm>
          <a:prstGeom prst="ellipse">
            <a:avLst/>
          </a:prstGeom>
          <a:noFill/>
          <a:ln w="349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69080" y="4425696"/>
            <a:ext cx="4937760" cy="320040"/>
          </a:xfrm>
          <a:prstGeom prst="rect">
            <a:avLst/>
          </a:prstGeom>
          <a:noFill/>
        </p:spPr>
        <p:txBody>
          <a:bodyPr wrap="none">
            <a:spAutoFit/>
          </a:bodyPr>
          <a:lstStyle/>
          <a:p>
            <a:pPr algn="ctr"/>
            <a:r>
              <a:rPr sz="1500" i="1" b="0">
                <a:solidFill>
                  <a:srgbClr val="0B2B4E"/>
                </a:solidFill>
                <a:latin typeface="Calibri"/>
              </a:rPr>
              <a:t>Payoffs to (</a:t>
            </a:r>
            <a:r>
              <a:rPr sz="1500" i="1" b="1">
                <a:solidFill>
                  <a:srgbClr val="0070C0"/>
                </a:solidFill>
                <a:latin typeface="Calibri"/>
              </a:rPr>
              <a:t>Team 1</a:t>
            </a:r>
            <a:r>
              <a:rPr sz="1500" i="1" b="0">
                <a:solidFill>
                  <a:srgbClr val="0B2B4E"/>
                </a:solidFill>
                <a:latin typeface="Calibri"/>
              </a:rPr>
              <a:t>, </a:t>
            </a:r>
            <a:r>
              <a:rPr sz="1500" i="1" b="1">
                <a:solidFill>
                  <a:srgbClr val="E09F3E"/>
                </a:solidFill>
                <a:latin typeface="Calibri"/>
              </a:rPr>
              <a:t>Team 2</a:t>
            </a:r>
            <a:r>
              <a:rPr sz="1500" i="1" b="0">
                <a:solidFill>
                  <a:srgbClr val="0B2B4E"/>
                </a:solidFill>
                <a:latin typeface="Calibri"/>
              </a:rPr>
              <a:t>)</a:t>
            </a:r>
          </a:p>
        </p:txBody>
      </p:sp>
      <p:cxnSp>
        <p:nvCxnSpPr>
          <p:cNvPr id="19" name="Connector 18"/>
          <p:cNvCxnSpPr/>
          <p:nvPr/>
        </p:nvCxnSpPr>
        <p:spPr>
          <a:xfrm>
            <a:off x="5149900" y="3095244"/>
            <a:ext cx="0" cy="35661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866436" y="3607308"/>
            <a:ext cx="566928" cy="420624"/>
          </a:xfrm>
          <a:prstGeom prst="ellipse">
            <a:avLst/>
          </a:prstGeom>
          <a:noFill/>
          <a:ln w="285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7253020" y="3095244"/>
            <a:ext cx="0" cy="35661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6969556" y="3607308"/>
            <a:ext cx="566928" cy="420624"/>
          </a:xfrm>
          <a:prstGeom prst="ellipse">
            <a:avLst/>
          </a:prstGeom>
          <a:noFill/>
          <a:ln w="285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5868619" y="2583180"/>
            <a:ext cx="172821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642555" y="2647188"/>
            <a:ext cx="566928" cy="420624"/>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5868619" y="3543300"/>
            <a:ext cx="172821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7642555" y="3607308"/>
            <a:ext cx="566928" cy="420624"/>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646920" y="3108960"/>
            <a:ext cx="2331720" cy="566928"/>
          </a:xfrm>
          <a:prstGeom prst="roundRect">
            <a:avLst>
              <a:gd name="adj" fmla="val 25000"/>
            </a:avLst>
          </a:prstGeom>
          <a:solidFill>
            <a:srgbClr val="FFFFFF"/>
          </a:soli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0B2B4E"/>
                </a:solidFill>
                <a:latin typeface="Calibri"/>
              </a:rPr>
              <a:t>Nash Equilibrium</a:t>
            </a:r>
          </a:p>
        </p:txBody>
      </p:sp>
      <p:cxnSp>
        <p:nvCxnSpPr>
          <p:cNvPr id="28" name="Connector 27"/>
          <p:cNvCxnSpPr/>
          <p:nvPr/>
        </p:nvCxnSpPr>
        <p:spPr>
          <a:xfrm flipH="1" flipV="1">
            <a:off x="8503920" y="3634740"/>
            <a:ext cx="1554480" cy="41147"/>
          </a:xfrm>
          <a:prstGeom prst="line">
            <a:avLst/>
          </a:prstGeom>
          <a:ln w="22225">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20040" y="5257800"/>
            <a:ext cx="3108960" cy="100584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5367528"/>
            <a:ext cx="2743200" cy="786384"/>
          </a:xfrm>
          <a:prstGeom prst="rect">
            <a:avLst/>
          </a:prstGeom>
          <a:noFill/>
        </p:spPr>
        <p:txBody>
          <a:bodyPr wrap="square" lIns="45720" rIns="45720" tIns="0" bIns="0" anchor="ctr">
            <a:spAutoFit/>
          </a:bodyPr>
          <a:lstStyle/>
          <a:p>
            <a:pPr algn="l"/>
            <a:r>
              <a:rPr sz="1600" b="0" i="0" u="sng">
                <a:solidFill>
                  <a:srgbClr val="0B2B4E"/>
                </a:solidFill>
                <a:latin typeface="Calibri"/>
              </a:rPr>
              <a:t>Interpretation of payoffs:</a:t>
            </a:r>
          </a:p>
          <a:p>
            <a:pPr algn="l"/>
            <a:r>
              <a:rPr sz="1600" b="0" i="0" u="none">
                <a:solidFill>
                  <a:srgbClr val="0B2B4E"/>
                </a:solidFill>
                <a:latin typeface="Calibri"/>
              </a:rPr>
              <a:t>Teams' odds of winning</a:t>
            </a:r>
          </a:p>
        </p:txBody>
      </p:sp>
      <p:sp>
        <p:nvSpPr>
          <p:cNvPr id="31" name="Rounded Rectangle 30"/>
          <p:cNvSpPr/>
          <p:nvPr/>
        </p:nvSpPr>
        <p:spPr>
          <a:xfrm>
            <a:off x="3794760" y="5623560"/>
            <a:ext cx="5943600" cy="640080"/>
          </a:xfrm>
          <a:prstGeom prst="roundRect">
            <a:avLst>
              <a:gd name="adj" fmla="val 15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Each team's dominant strategy is to play dirty</a:t>
            </a:r>
          </a:p>
        </p:txBody>
      </p:sp>
      <p:sp>
        <p:nvSpPr>
          <p:cNvPr id="32" name="Rectangle 3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35" name="TextBox 34"/>
          <p:cNvSpPr txBox="1"/>
          <p:nvPr/>
        </p:nvSpPr>
        <p:spPr>
          <a:xfrm>
            <a:off x="11475720" y="6583680"/>
            <a:ext cx="502920" cy="292608"/>
          </a:xfrm>
          <a:prstGeom prst="rect">
            <a:avLst/>
          </a:prstGeom>
          <a:noFill/>
        </p:spPr>
        <p:txBody>
          <a:bodyPr wrap="none" lIns="0" rIns="0" tIns="0" bIns="0">
            <a:spAutoFit/>
          </a:bodyPr>
          <a:lstStyle/>
          <a:p>
            <a:pPr algn="r"/>
            <a:fld id="{B13D0551-79EC-5487-8A29-56E7AF148B53}" type="slidenum">
              <a:rPr lang="en-US" sz="1200" dirty="0">
                <a:solidFill>
                  <a:srgbClr val="555B66"/>
                </a:solidFill>
                <a:latin typeface="Calibri"/>
              </a:rPr>
              <a:t>62</a:t>
            </a:fld>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Game Theory and Trade Wars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3439" y="1481328"/>
            <a:ext cx="11338560" cy="411480"/>
          </a:xfrm>
          <a:prstGeom prst="rect">
            <a:avLst/>
          </a:prstGeom>
          <a:noFill/>
        </p:spPr>
        <p:txBody>
          <a:bodyPr wrap="square" lIns="0" rIns="0" tIns="0" bIns="0">
            <a:spAutoFit/>
          </a:bodyPr>
          <a:lstStyle/>
          <a:p>
            <a:pPr algn="l"/>
            <a:r>
              <a:rPr sz="2400" b="0" i="0" u="none">
                <a:solidFill>
                  <a:srgbClr val="0B2B4E"/>
                </a:solidFill>
                <a:latin typeface="Calibri"/>
              </a:rPr>
              <a:t>In a trade war, each country's dominant strategy is to set high tariffs</a:t>
            </a:r>
          </a:p>
        </p:txBody>
      </p:sp>
      <p:sp>
        <p:nvSpPr>
          <p:cNvPr id="8" name="TextBox 7"/>
          <p:cNvSpPr txBox="1"/>
          <p:nvPr/>
        </p:nvSpPr>
        <p:spPr>
          <a:xfrm>
            <a:off x="3977639" y="1892808"/>
            <a:ext cx="4297680" cy="384048"/>
          </a:xfrm>
          <a:prstGeom prst="rect">
            <a:avLst/>
          </a:prstGeom>
          <a:noFill/>
        </p:spPr>
        <p:txBody>
          <a:bodyPr wrap="square" lIns="0" rIns="0" tIns="0" bIns="0">
            <a:spAutoFit/>
          </a:bodyPr>
          <a:lstStyle/>
          <a:p>
            <a:pPr algn="ctr"/>
            <a:r>
              <a:rPr sz="2200" b="1" i="0" u="none">
                <a:solidFill>
                  <a:srgbClr val="E09F3E"/>
                </a:solidFill>
                <a:latin typeface="Calibri"/>
              </a:rPr>
              <a:t>China</a:t>
            </a:r>
          </a:p>
        </p:txBody>
      </p:sp>
      <p:sp>
        <p:nvSpPr>
          <p:cNvPr id="9" name="TextBox 8"/>
          <p:cNvSpPr txBox="1"/>
          <p:nvPr/>
        </p:nvSpPr>
        <p:spPr>
          <a:xfrm>
            <a:off x="3977639" y="2276856"/>
            <a:ext cx="2148840" cy="457200"/>
          </a:xfrm>
          <a:prstGeom prst="rect">
            <a:avLst/>
          </a:prstGeom>
          <a:noFill/>
        </p:spPr>
        <p:txBody>
          <a:bodyPr wrap="square" lIns="0" rIns="0" tIns="0" bIns="0" anchor="b">
            <a:spAutoFit/>
          </a:bodyPr>
          <a:lstStyle/>
          <a:p>
            <a:pPr algn="ctr"/>
            <a:r>
              <a:rPr sz="1800" b="1" i="0" u="none">
                <a:solidFill>
                  <a:srgbClr val="0B2B4E"/>
                </a:solidFill>
                <a:latin typeface="Calibri"/>
              </a:rPr>
              <a:t>Low Tariffs</a:t>
            </a:r>
          </a:p>
        </p:txBody>
      </p:sp>
      <p:sp>
        <p:nvSpPr>
          <p:cNvPr id="10" name="TextBox 9"/>
          <p:cNvSpPr txBox="1"/>
          <p:nvPr/>
        </p:nvSpPr>
        <p:spPr>
          <a:xfrm>
            <a:off x="6126479" y="2276856"/>
            <a:ext cx="2148840" cy="457200"/>
          </a:xfrm>
          <a:prstGeom prst="rect">
            <a:avLst/>
          </a:prstGeom>
          <a:noFill/>
        </p:spPr>
        <p:txBody>
          <a:bodyPr wrap="square" lIns="0" rIns="0" tIns="0" bIns="0" anchor="b">
            <a:spAutoFit/>
          </a:bodyPr>
          <a:lstStyle/>
          <a:p>
            <a:pPr algn="ctr"/>
            <a:r>
              <a:rPr sz="1800" b="1" i="0" u="none">
                <a:solidFill>
                  <a:srgbClr val="0B2B4E"/>
                </a:solidFill>
                <a:latin typeface="Calibri"/>
              </a:rPr>
              <a:t>High Tariffs</a:t>
            </a:r>
          </a:p>
        </p:txBody>
      </p:sp>
      <p:sp>
        <p:nvSpPr>
          <p:cNvPr id="11" name="TextBox 10"/>
          <p:cNvSpPr txBox="1"/>
          <p:nvPr/>
        </p:nvSpPr>
        <p:spPr>
          <a:xfrm rot="16200000">
            <a:off x="804671" y="3557016"/>
            <a:ext cx="1920240" cy="384048"/>
          </a:xfrm>
          <a:prstGeom prst="rect">
            <a:avLst/>
          </a:prstGeom>
          <a:noFill/>
        </p:spPr>
        <p:txBody>
          <a:bodyPr wrap="square" lIns="0" rIns="0" tIns="0" bIns="0">
            <a:spAutoFit/>
          </a:bodyPr>
          <a:lstStyle/>
          <a:p>
            <a:pPr algn="ctr"/>
            <a:r>
              <a:rPr sz="2200" b="1" i="0" u="none">
                <a:solidFill>
                  <a:srgbClr val="0070C0"/>
                </a:solidFill>
                <a:latin typeface="Calibri"/>
              </a:rPr>
              <a:t>US</a:t>
            </a:r>
          </a:p>
        </p:txBody>
      </p:sp>
      <p:sp>
        <p:nvSpPr>
          <p:cNvPr id="12" name="TextBox 11"/>
          <p:cNvSpPr txBox="1"/>
          <p:nvPr/>
        </p:nvSpPr>
        <p:spPr>
          <a:xfrm>
            <a:off x="2130551" y="292608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Low Tariffs</a:t>
            </a:r>
          </a:p>
        </p:txBody>
      </p:sp>
      <p:sp>
        <p:nvSpPr>
          <p:cNvPr id="13" name="TextBox 12"/>
          <p:cNvSpPr txBox="1"/>
          <p:nvPr/>
        </p:nvSpPr>
        <p:spPr>
          <a:xfrm>
            <a:off x="2130551" y="388620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High Tariffs</a:t>
            </a:r>
          </a:p>
        </p:txBody>
      </p:sp>
      <p:sp>
        <p:nvSpPr>
          <p:cNvPr id="14" name="Rectangle 13"/>
          <p:cNvSpPr/>
          <p:nvPr/>
        </p:nvSpPr>
        <p:spPr>
          <a:xfrm>
            <a:off x="3977639" y="2788920"/>
            <a:ext cx="214884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20</a:t>
            </a:r>
            <a:r>
              <a:rPr sz="2400" b="1">
                <a:solidFill>
                  <a:srgbClr val="0B2B4E"/>
                </a:solidFill>
                <a:latin typeface="Calibri"/>
              </a:rPr>
              <a:t> , </a:t>
            </a:r>
            <a:r>
              <a:rPr sz="2400" b="1">
                <a:solidFill>
                  <a:srgbClr val="E09F3E"/>
                </a:solidFill>
                <a:latin typeface="Calibri"/>
              </a:rPr>
              <a:t>20</a:t>
            </a:r>
          </a:p>
        </p:txBody>
      </p:sp>
      <p:sp>
        <p:nvSpPr>
          <p:cNvPr id="15" name="Rectangle 14"/>
          <p:cNvSpPr/>
          <p:nvPr/>
        </p:nvSpPr>
        <p:spPr>
          <a:xfrm>
            <a:off x="6126479" y="2788920"/>
            <a:ext cx="214884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13</a:t>
            </a:r>
            <a:r>
              <a:rPr sz="2400" b="1">
                <a:solidFill>
                  <a:srgbClr val="0B2B4E"/>
                </a:solidFill>
                <a:latin typeface="Calibri"/>
              </a:rPr>
              <a:t> , </a:t>
            </a:r>
            <a:r>
              <a:rPr sz="2400" b="1">
                <a:solidFill>
                  <a:srgbClr val="E09F3E"/>
                </a:solidFill>
                <a:latin typeface="Calibri"/>
              </a:rPr>
              <a:t>24</a:t>
            </a:r>
          </a:p>
        </p:txBody>
      </p:sp>
      <p:sp>
        <p:nvSpPr>
          <p:cNvPr id="16" name="Rectangle 15"/>
          <p:cNvSpPr/>
          <p:nvPr/>
        </p:nvSpPr>
        <p:spPr>
          <a:xfrm>
            <a:off x="3977639" y="3749040"/>
            <a:ext cx="214884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24</a:t>
            </a:r>
            <a:r>
              <a:rPr sz="2400" b="1">
                <a:solidFill>
                  <a:srgbClr val="0B2B4E"/>
                </a:solidFill>
                <a:latin typeface="Calibri"/>
              </a:rPr>
              <a:t> , </a:t>
            </a:r>
            <a:r>
              <a:rPr sz="2400" b="1">
                <a:solidFill>
                  <a:srgbClr val="E09F3E"/>
                </a:solidFill>
                <a:latin typeface="Calibri"/>
              </a:rPr>
              <a:t>13</a:t>
            </a:r>
          </a:p>
        </p:txBody>
      </p:sp>
      <p:sp>
        <p:nvSpPr>
          <p:cNvPr id="17" name="Rectangle 16"/>
          <p:cNvSpPr/>
          <p:nvPr/>
        </p:nvSpPr>
        <p:spPr>
          <a:xfrm>
            <a:off x="6126479" y="3749040"/>
            <a:ext cx="214884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15</a:t>
            </a:r>
            <a:r>
              <a:rPr sz="2400" b="1">
                <a:solidFill>
                  <a:srgbClr val="0B2B4E"/>
                </a:solidFill>
                <a:latin typeface="Calibri"/>
              </a:rPr>
              <a:t> , </a:t>
            </a:r>
            <a:r>
              <a:rPr sz="2400" b="1">
                <a:solidFill>
                  <a:srgbClr val="E09F3E"/>
                </a:solidFill>
                <a:latin typeface="Calibri"/>
              </a:rPr>
              <a:t>15</a:t>
            </a:r>
          </a:p>
        </p:txBody>
      </p:sp>
      <p:sp>
        <p:nvSpPr>
          <p:cNvPr id="18" name="Oval 17"/>
          <p:cNvSpPr/>
          <p:nvPr/>
        </p:nvSpPr>
        <p:spPr>
          <a:xfrm>
            <a:off x="6025895" y="3657600"/>
            <a:ext cx="2350008" cy="1143000"/>
          </a:xfrm>
          <a:prstGeom prst="ellipse">
            <a:avLst/>
          </a:prstGeom>
          <a:noFill/>
          <a:ln w="349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11879" y="4837176"/>
            <a:ext cx="5029200" cy="320040"/>
          </a:xfrm>
          <a:prstGeom prst="rect">
            <a:avLst/>
          </a:prstGeom>
          <a:noFill/>
        </p:spPr>
        <p:txBody>
          <a:bodyPr wrap="none">
            <a:spAutoFit/>
          </a:bodyPr>
          <a:lstStyle/>
          <a:p>
            <a:pPr algn="ctr"/>
            <a:r>
              <a:rPr sz="1500" i="1" b="0">
                <a:solidFill>
                  <a:srgbClr val="0B2B4E"/>
                </a:solidFill>
                <a:latin typeface="Calibri"/>
              </a:rPr>
              <a:t>Payoffs to (</a:t>
            </a:r>
            <a:r>
              <a:rPr sz="1500" i="1" b="1">
                <a:solidFill>
                  <a:srgbClr val="0070C0"/>
                </a:solidFill>
                <a:latin typeface="Calibri"/>
              </a:rPr>
              <a:t>US</a:t>
            </a:r>
            <a:r>
              <a:rPr sz="1500" i="1" b="0">
                <a:solidFill>
                  <a:srgbClr val="0B2B4E"/>
                </a:solidFill>
                <a:latin typeface="Calibri"/>
              </a:rPr>
              <a:t>, </a:t>
            </a:r>
            <a:r>
              <a:rPr sz="1500" i="1" b="1">
                <a:solidFill>
                  <a:srgbClr val="E09F3E"/>
                </a:solidFill>
                <a:latin typeface="Calibri"/>
              </a:rPr>
              <a:t>China</a:t>
            </a:r>
            <a:r>
              <a:rPr sz="1500" i="1" b="0">
                <a:solidFill>
                  <a:srgbClr val="0B2B4E"/>
                </a:solidFill>
                <a:latin typeface="Calibri"/>
              </a:rPr>
              <a:t>)</a:t>
            </a:r>
          </a:p>
        </p:txBody>
      </p:sp>
      <p:sp>
        <p:nvSpPr>
          <p:cNvPr id="20" name="Rounded Rectangle 19"/>
          <p:cNvSpPr/>
          <p:nvPr/>
        </p:nvSpPr>
        <p:spPr>
          <a:xfrm>
            <a:off x="9281160" y="3429000"/>
            <a:ext cx="2423160" cy="566928"/>
          </a:xfrm>
          <a:prstGeom prst="roundRect">
            <a:avLst>
              <a:gd name="adj" fmla="val 25000"/>
            </a:avLst>
          </a:prstGeom>
          <a:solidFill>
            <a:srgbClr val="FFFFFF"/>
          </a:soli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Nash Equilibrium</a:t>
            </a:r>
          </a:p>
        </p:txBody>
      </p:sp>
      <p:cxnSp>
        <p:nvCxnSpPr>
          <p:cNvPr id="21" name="Connector 20"/>
          <p:cNvCxnSpPr/>
          <p:nvPr/>
        </p:nvCxnSpPr>
        <p:spPr>
          <a:xfrm flipH="1" flipV="1">
            <a:off x="8161019" y="3973068"/>
            <a:ext cx="1485901" cy="22860"/>
          </a:xfrm>
          <a:prstGeom prst="line">
            <a:avLst/>
          </a:prstGeom>
          <a:ln w="22225">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43439" y="5349240"/>
            <a:ext cx="5852160" cy="365760"/>
          </a:xfrm>
          <a:prstGeom prst="rect">
            <a:avLst/>
          </a:prstGeom>
          <a:noFill/>
        </p:spPr>
        <p:txBody>
          <a:bodyPr wrap="square" lIns="0" rIns="0" tIns="0" bIns="0">
            <a:spAutoFit/>
          </a:bodyPr>
          <a:lstStyle/>
          <a:p>
            <a:pPr algn="l"/>
            <a:r>
              <a:rPr sz="2000" b="0" i="0" u="sng">
                <a:solidFill>
                  <a:srgbClr val="0B2B4E"/>
                </a:solidFill>
                <a:latin typeface="Calibri"/>
              </a:rPr>
              <a:t>Interpretation of payoffs:</a:t>
            </a:r>
          </a:p>
        </p:txBody>
      </p:sp>
      <p:sp>
        <p:nvSpPr>
          <p:cNvPr id="23" name="TextBox 22"/>
          <p:cNvSpPr txBox="1"/>
          <p:nvPr/>
        </p:nvSpPr>
        <p:spPr>
          <a:xfrm>
            <a:off x="343439" y="5687568"/>
            <a:ext cx="5852160" cy="365760"/>
          </a:xfrm>
          <a:prstGeom prst="rect">
            <a:avLst/>
          </a:prstGeom>
          <a:noFill/>
        </p:spPr>
        <p:txBody>
          <a:bodyPr wrap="square" lIns="0" rIns="0" tIns="0" bIns="0">
            <a:spAutoFit/>
          </a:bodyPr>
          <a:lstStyle/>
          <a:p>
            <a:pPr algn="l"/>
            <a:r>
              <a:rPr sz="2000" b="0" i="0" u="none">
                <a:solidFill>
                  <a:srgbClr val="0B2B4E"/>
                </a:solidFill>
                <a:latin typeface="Calibri"/>
              </a:rPr>
              <a:t>Countries' real GDP ($ trillion, price-adjusted)</a:t>
            </a:r>
          </a:p>
        </p:txBody>
      </p:sp>
      <p:sp>
        <p:nvSpPr>
          <p:cNvPr id="24" name="TextBox 23"/>
          <p:cNvSpPr txBox="1"/>
          <p:nvPr/>
        </p:nvSpPr>
        <p:spPr>
          <a:xfrm>
            <a:off x="6492240" y="5779008"/>
            <a:ext cx="5394960" cy="548640"/>
          </a:xfrm>
          <a:prstGeom prst="rect">
            <a:avLst/>
          </a:prstGeom>
          <a:noFill/>
        </p:spPr>
        <p:txBody>
          <a:bodyPr wrap="square" lIns="0" rIns="0" tIns="0" bIns="0">
            <a:spAutoFit/>
          </a:bodyPr>
          <a:lstStyle/>
          <a:p>
            <a:pPr algn="r"/>
            <a:r>
              <a:rPr sz="1400" b="0" i="1" u="none">
                <a:solidFill>
                  <a:srgbClr val="555B66"/>
                </a:solidFill>
                <a:latin typeface="Calibri"/>
              </a:rPr>
              <a:t>2025–26 tariff war: US average tariff on Chinese goods ≈ 48%; China's on US goods ≈ 32% (PIIE)</a:t>
            </a:r>
          </a:p>
        </p:txBody>
      </p:sp>
      <p:sp>
        <p:nvSpPr>
          <p:cNvPr id="25" name="Rectangle 2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28" name="TextBox 27"/>
          <p:cNvSpPr txBox="1"/>
          <p:nvPr/>
        </p:nvSpPr>
        <p:spPr>
          <a:xfrm>
            <a:off x="11475720" y="6583680"/>
            <a:ext cx="502920" cy="292608"/>
          </a:xfrm>
          <a:prstGeom prst="rect">
            <a:avLst/>
          </a:prstGeom>
          <a:noFill/>
        </p:spPr>
        <p:txBody>
          <a:bodyPr wrap="none" lIns="0" rIns="0" tIns="0" bIns="0">
            <a:spAutoFit/>
          </a:bodyPr>
          <a:lstStyle/>
          <a:p>
            <a:pPr algn="r"/>
            <a:fld id="{5581294D-3410-54B9-8C06-C44A4EBBAD79}" type="slidenum">
              <a:rPr lang="en-US" sz="1200" dirty="0">
                <a:solidFill>
                  <a:srgbClr val="555B66"/>
                </a:solidFill>
                <a:latin typeface="Calibri"/>
              </a:rPr>
              <a:t>63</a:t>
            </a:fld>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General Lesson: Collective Action Problem</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554480"/>
            <a:ext cx="11338560" cy="1463040"/>
          </a:xfrm>
          <a:prstGeom prst="rect">
            <a:avLst/>
          </a:prstGeom>
          <a:noFill/>
        </p:spPr>
        <p:txBody>
          <a:bodyPr wrap="square" lIns="0" rIns="0" tIns="0" bIns="0">
            <a:spAutoFit/>
          </a:bodyPr>
          <a:lstStyle>
            <a:lvl1pPr marL="342900" indent="-342900">
              <a:spcBef>
                <a:spcPts val="8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Acting selfishly can lead to socially suboptimal outcomes</a:t>
            </a:r>
          </a:p>
          <a:p>
            <a:pPr algn="l" lvl="1"/>
            <a:r>
              <a:rPr>
                <a:latin typeface="Calibri"/>
              </a:rPr>
              <a:t>Also holds in situations with more than 2 players</a:t>
            </a:r>
          </a:p>
          <a:p>
            <a:pPr algn="l" lvl="1"/>
            <a:r>
              <a:rPr>
                <a:latin typeface="Calibri"/>
              </a:rPr>
              <a:t>Known as “tragedy of the commons”</a:t>
            </a:r>
          </a:p>
        </p:txBody>
      </p:sp>
      <p:pic>
        <p:nvPicPr>
          <p:cNvPr id="8" name="Picture 7" descr="_s63_commons.png"/>
          <p:cNvPicPr>
            <a:picLocks noChangeAspect="1"/>
          </p:cNvPicPr>
          <p:nvPr/>
        </p:nvPicPr>
        <p:blipFill>
          <a:blip r:embed="rId2"/>
          <a:stretch>
            <a:fillRect/>
          </a:stretch>
        </p:blipFill>
        <p:spPr>
          <a:xfrm>
            <a:off x="1150467" y="3063240"/>
            <a:ext cx="9890760" cy="2697480"/>
          </a:xfrm>
          <a:prstGeom prst="roundRect">
            <a:avLst>
              <a:gd name="adj" fmla="val 8000"/>
            </a:avLst>
          </a:prstGeom>
          <a:effectLst>
            <a:outerShdw blurRad="50800" dist="38100" dir="2700000" algn="tl" rotWithShape="0">
              <a:srgbClr val="000000">
                <a:alpha val="50000"/>
              </a:srgbClr>
            </a:outerShdw>
          </a:effectLst>
        </p:spPr>
      </p:pic>
      <p:sp>
        <p:nvSpPr>
          <p:cNvPr id="9" name="TextBox 8"/>
          <p:cNvSpPr txBox="1"/>
          <p:nvPr/>
        </p:nvSpPr>
        <p:spPr>
          <a:xfrm>
            <a:off x="251999" y="5943600"/>
            <a:ext cx="11338560" cy="457200"/>
          </a:xfrm>
          <a:prstGeom prst="rect">
            <a:avLst/>
          </a:prstGeom>
          <a:noFill/>
        </p:spPr>
        <p:txBody>
          <a:bodyPr wrap="square" lIns="0" rIns="0" tIns="0" bIns="0">
            <a:spAutoFit/>
          </a:bodyPr>
          <a:lstStyle/>
          <a:p>
            <a:pPr algn="l"/>
            <a:r>
              <a:rPr sz="2600" b="0" i="0" u="none">
                <a:solidFill>
                  <a:srgbClr val="0B2B4E"/>
                </a:solidFill>
                <a:latin typeface="Calibri"/>
              </a:rPr>
              <a:t>▪  Stark contrast with “invisible hand” principle (Adam Smith)</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EEC74C02-6D43-5FE2-993E-B261AE07A2E4}" type="slidenum">
              <a:rPr lang="en-US" sz="1200" dirty="0">
                <a:solidFill>
                  <a:srgbClr val="555B66"/>
                </a:solidFill>
                <a:latin typeface="Calibri"/>
              </a:rPr>
              <a:t>64</a:t>
            </a:fld>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The Game of Chicken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207008"/>
            <a:ext cx="8686800" cy="320040"/>
          </a:xfrm>
          <a:prstGeom prst="rect">
            <a:avLst/>
          </a:prstGeom>
          <a:noFill/>
        </p:spPr>
        <p:txBody>
          <a:bodyPr wrap="square" lIns="0" rIns="0" tIns="0" bIns="0">
            <a:spAutoFit/>
          </a:bodyPr>
          <a:lstStyle/>
          <a:p>
            <a:pPr algn="l"/>
            <a:r>
              <a:rPr sz="1500" b="0" i="1" u="none">
                <a:solidFill>
                  <a:srgbClr val="555B66"/>
                </a:solidFill>
                <a:latin typeface="Calibri"/>
              </a:rPr>
              <a:t>You and your arch-enemy drive towards each other on a narrow street</a:t>
            </a:r>
          </a:p>
        </p:txBody>
      </p:sp>
      <p:sp>
        <p:nvSpPr>
          <p:cNvPr id="8" name="TextBox 7"/>
          <p:cNvSpPr txBox="1"/>
          <p:nvPr/>
        </p:nvSpPr>
        <p:spPr>
          <a:xfrm>
            <a:off x="4160520" y="1481328"/>
            <a:ext cx="4206240" cy="384048"/>
          </a:xfrm>
          <a:prstGeom prst="rect">
            <a:avLst/>
          </a:prstGeom>
          <a:noFill/>
        </p:spPr>
        <p:txBody>
          <a:bodyPr wrap="square" lIns="0" rIns="0" tIns="0" bIns="0">
            <a:spAutoFit/>
          </a:bodyPr>
          <a:lstStyle/>
          <a:p>
            <a:pPr algn="ctr"/>
            <a:r>
              <a:rPr sz="2200" b="1" i="0" u="none">
                <a:solidFill>
                  <a:srgbClr val="E09F3E"/>
                </a:solidFill>
                <a:latin typeface="Calibri"/>
              </a:rPr>
              <a:t>You</a:t>
            </a:r>
          </a:p>
        </p:txBody>
      </p:sp>
      <p:sp>
        <p:nvSpPr>
          <p:cNvPr id="9" name="TextBox 8"/>
          <p:cNvSpPr txBox="1"/>
          <p:nvPr/>
        </p:nvSpPr>
        <p:spPr>
          <a:xfrm>
            <a:off x="4160520" y="1865376"/>
            <a:ext cx="2103120" cy="457200"/>
          </a:xfrm>
          <a:prstGeom prst="rect">
            <a:avLst/>
          </a:prstGeom>
          <a:noFill/>
        </p:spPr>
        <p:txBody>
          <a:bodyPr wrap="square" lIns="0" rIns="0" tIns="0" bIns="0" anchor="b">
            <a:spAutoFit/>
          </a:bodyPr>
          <a:lstStyle/>
          <a:p>
            <a:pPr algn="ctr"/>
            <a:r>
              <a:rPr sz="1800" b="1" i="0" u="none">
                <a:solidFill>
                  <a:srgbClr val="0B2B4E"/>
                </a:solidFill>
                <a:latin typeface="Calibri"/>
              </a:rPr>
              <a:t>avoid</a:t>
            </a:r>
          </a:p>
        </p:txBody>
      </p:sp>
      <p:sp>
        <p:nvSpPr>
          <p:cNvPr id="10" name="TextBox 9"/>
          <p:cNvSpPr txBox="1"/>
          <p:nvPr/>
        </p:nvSpPr>
        <p:spPr>
          <a:xfrm>
            <a:off x="6263640" y="1865376"/>
            <a:ext cx="2103120" cy="457200"/>
          </a:xfrm>
          <a:prstGeom prst="rect">
            <a:avLst/>
          </a:prstGeom>
          <a:noFill/>
        </p:spPr>
        <p:txBody>
          <a:bodyPr wrap="square" lIns="0" rIns="0" tIns="0" bIns="0" anchor="b">
            <a:spAutoFit/>
          </a:bodyPr>
          <a:lstStyle/>
          <a:p>
            <a:pPr algn="ctr"/>
            <a:r>
              <a:rPr sz="1800" b="1" i="0" u="none">
                <a:solidFill>
                  <a:srgbClr val="0B2B4E"/>
                </a:solidFill>
                <a:latin typeface="Calibri"/>
              </a:rPr>
              <a:t>drive on</a:t>
            </a:r>
          </a:p>
        </p:txBody>
      </p:sp>
      <p:sp>
        <p:nvSpPr>
          <p:cNvPr id="11" name="TextBox 10"/>
          <p:cNvSpPr txBox="1"/>
          <p:nvPr/>
        </p:nvSpPr>
        <p:spPr>
          <a:xfrm rot="16200000">
            <a:off x="1033272" y="3099816"/>
            <a:ext cx="1828800" cy="384048"/>
          </a:xfrm>
          <a:prstGeom prst="rect">
            <a:avLst/>
          </a:prstGeom>
          <a:noFill/>
        </p:spPr>
        <p:txBody>
          <a:bodyPr wrap="square" lIns="0" rIns="0" tIns="0" bIns="0">
            <a:spAutoFit/>
          </a:bodyPr>
          <a:lstStyle/>
          <a:p>
            <a:pPr algn="ctr"/>
            <a:r>
              <a:rPr sz="2200" b="1" i="0" u="none">
                <a:solidFill>
                  <a:srgbClr val="0070C0"/>
                </a:solidFill>
                <a:latin typeface="Calibri"/>
              </a:rPr>
              <a:t>Arch enemy</a:t>
            </a:r>
          </a:p>
        </p:txBody>
      </p:sp>
      <p:sp>
        <p:nvSpPr>
          <p:cNvPr id="12" name="TextBox 11"/>
          <p:cNvSpPr txBox="1"/>
          <p:nvPr/>
        </p:nvSpPr>
        <p:spPr>
          <a:xfrm>
            <a:off x="2313432" y="249174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avoid</a:t>
            </a:r>
          </a:p>
        </p:txBody>
      </p:sp>
      <p:sp>
        <p:nvSpPr>
          <p:cNvPr id="13" name="TextBox 12"/>
          <p:cNvSpPr txBox="1"/>
          <p:nvPr/>
        </p:nvSpPr>
        <p:spPr>
          <a:xfrm>
            <a:off x="2313432" y="340614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drive on</a:t>
            </a:r>
          </a:p>
        </p:txBody>
      </p:sp>
      <p:sp>
        <p:nvSpPr>
          <p:cNvPr id="14" name="Rectangle 13"/>
          <p:cNvSpPr/>
          <p:nvPr/>
        </p:nvSpPr>
        <p:spPr>
          <a:xfrm>
            <a:off x="4160520" y="2377440"/>
            <a:ext cx="210312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0</a:t>
            </a:r>
            <a:r>
              <a:rPr sz="2400" b="1">
                <a:solidFill>
                  <a:srgbClr val="0B2B4E"/>
                </a:solidFill>
                <a:latin typeface="Calibri"/>
              </a:rPr>
              <a:t> , </a:t>
            </a:r>
            <a:r>
              <a:rPr sz="2400" b="1">
                <a:solidFill>
                  <a:srgbClr val="E09F3E"/>
                </a:solidFill>
                <a:latin typeface="Calibri"/>
              </a:rPr>
              <a:t>0</a:t>
            </a:r>
          </a:p>
        </p:txBody>
      </p:sp>
      <p:sp>
        <p:nvSpPr>
          <p:cNvPr id="15" name="Rectangle 14"/>
          <p:cNvSpPr/>
          <p:nvPr/>
        </p:nvSpPr>
        <p:spPr>
          <a:xfrm>
            <a:off x="6263640" y="2377440"/>
            <a:ext cx="210312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-10</a:t>
            </a:r>
            <a:r>
              <a:rPr sz="2400" b="1">
                <a:solidFill>
                  <a:srgbClr val="0B2B4E"/>
                </a:solidFill>
                <a:latin typeface="Calibri"/>
              </a:rPr>
              <a:t> , </a:t>
            </a:r>
            <a:r>
              <a:rPr sz="2400" b="1">
                <a:solidFill>
                  <a:srgbClr val="E09F3E"/>
                </a:solidFill>
                <a:latin typeface="Calibri"/>
              </a:rPr>
              <a:t>10</a:t>
            </a:r>
          </a:p>
        </p:txBody>
      </p:sp>
      <p:sp>
        <p:nvSpPr>
          <p:cNvPr id="16" name="Rectangle 15"/>
          <p:cNvSpPr/>
          <p:nvPr/>
        </p:nvSpPr>
        <p:spPr>
          <a:xfrm>
            <a:off x="4160520" y="3291840"/>
            <a:ext cx="210312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10</a:t>
            </a:r>
            <a:r>
              <a:rPr sz="2400" b="1">
                <a:solidFill>
                  <a:srgbClr val="0B2B4E"/>
                </a:solidFill>
                <a:latin typeface="Calibri"/>
              </a:rPr>
              <a:t> , </a:t>
            </a:r>
            <a:r>
              <a:rPr sz="2400" b="1">
                <a:solidFill>
                  <a:srgbClr val="E09F3E"/>
                </a:solidFill>
                <a:latin typeface="Calibri"/>
              </a:rPr>
              <a:t>-10</a:t>
            </a:r>
          </a:p>
        </p:txBody>
      </p:sp>
      <p:sp>
        <p:nvSpPr>
          <p:cNvPr id="17" name="Rectangle 16"/>
          <p:cNvSpPr/>
          <p:nvPr/>
        </p:nvSpPr>
        <p:spPr>
          <a:xfrm>
            <a:off x="6263640" y="3291840"/>
            <a:ext cx="210312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-100</a:t>
            </a:r>
            <a:r>
              <a:rPr sz="2400" b="1">
                <a:solidFill>
                  <a:srgbClr val="0B2B4E"/>
                </a:solidFill>
                <a:latin typeface="Calibri"/>
              </a:rPr>
              <a:t> , </a:t>
            </a:r>
            <a:r>
              <a:rPr sz="2400" b="1">
                <a:solidFill>
                  <a:srgbClr val="E09F3E"/>
                </a:solidFill>
                <a:latin typeface="Calibri"/>
              </a:rPr>
              <a:t>-100</a:t>
            </a:r>
          </a:p>
        </p:txBody>
      </p:sp>
      <p:sp>
        <p:nvSpPr>
          <p:cNvPr id="18" name="Oval 17"/>
          <p:cNvSpPr/>
          <p:nvPr/>
        </p:nvSpPr>
        <p:spPr>
          <a:xfrm>
            <a:off x="6163056" y="2286000"/>
            <a:ext cx="2304288" cy="1097280"/>
          </a:xfrm>
          <a:prstGeom prst="ellipse">
            <a:avLst/>
          </a:prstGeom>
          <a:noFill/>
          <a:ln w="349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059936" y="3200400"/>
            <a:ext cx="2304288" cy="1097280"/>
          </a:xfrm>
          <a:prstGeom prst="ellipse">
            <a:avLst/>
          </a:prstGeom>
          <a:noFill/>
          <a:ln w="349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94760" y="4334256"/>
            <a:ext cx="4937760" cy="320040"/>
          </a:xfrm>
          <a:prstGeom prst="rect">
            <a:avLst/>
          </a:prstGeom>
          <a:noFill/>
        </p:spPr>
        <p:txBody>
          <a:bodyPr wrap="none">
            <a:spAutoFit/>
          </a:bodyPr>
          <a:lstStyle/>
          <a:p>
            <a:pPr algn="ctr"/>
            <a:r>
              <a:rPr sz="1500" i="1" b="0">
                <a:solidFill>
                  <a:srgbClr val="0B2B4E"/>
                </a:solidFill>
                <a:latin typeface="Calibri"/>
              </a:rPr>
              <a:t>Payoffs to (</a:t>
            </a:r>
            <a:r>
              <a:rPr sz="1500" i="1" b="1">
                <a:solidFill>
                  <a:srgbClr val="0070C0"/>
                </a:solidFill>
                <a:latin typeface="Calibri"/>
              </a:rPr>
              <a:t>Arch enemy</a:t>
            </a:r>
            <a:r>
              <a:rPr sz="1500" i="1" b="0">
                <a:solidFill>
                  <a:srgbClr val="0B2B4E"/>
                </a:solidFill>
                <a:latin typeface="Calibri"/>
              </a:rPr>
              <a:t>, </a:t>
            </a:r>
            <a:r>
              <a:rPr sz="1500" i="1" b="1">
                <a:solidFill>
                  <a:srgbClr val="E09F3E"/>
                </a:solidFill>
                <a:latin typeface="Calibri"/>
              </a:rPr>
              <a:t>You</a:t>
            </a:r>
            <a:r>
              <a:rPr sz="1500" i="1" b="0">
                <a:solidFill>
                  <a:srgbClr val="0B2B4E"/>
                </a:solidFill>
                <a:latin typeface="Calibri"/>
              </a:rPr>
              <a:t>)</a:t>
            </a:r>
          </a:p>
        </p:txBody>
      </p:sp>
      <p:cxnSp>
        <p:nvCxnSpPr>
          <p:cNvPr id="21" name="Connector 20"/>
          <p:cNvCxnSpPr/>
          <p:nvPr/>
        </p:nvCxnSpPr>
        <p:spPr>
          <a:xfrm>
            <a:off x="4875580" y="3072384"/>
            <a:ext cx="0" cy="31089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592116" y="3538728"/>
            <a:ext cx="566928" cy="420624"/>
          </a:xfrm>
          <a:prstGeom prst="ellipse">
            <a:avLst/>
          </a:prstGeom>
          <a:noFill/>
          <a:ln w="285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V="1">
            <a:off x="6978700" y="3200400"/>
            <a:ext cx="0" cy="31089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6695236" y="2624328"/>
            <a:ext cx="566928" cy="420624"/>
          </a:xfrm>
          <a:prstGeom prst="ellipse">
            <a:avLst/>
          </a:prstGeom>
          <a:noFill/>
          <a:ln w="285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5594299" y="2560320"/>
            <a:ext cx="172821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7368235" y="2624328"/>
            <a:ext cx="566928" cy="420624"/>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flipH="1">
            <a:off x="5877763" y="3474720"/>
            <a:ext cx="172821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5265115" y="3538728"/>
            <a:ext cx="566928" cy="420624"/>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46920" y="3063240"/>
            <a:ext cx="2240280" cy="640080"/>
          </a:xfrm>
          <a:prstGeom prst="roundRect">
            <a:avLst>
              <a:gd name="adj" fmla="val 25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0B2B4E"/>
                </a:solidFill>
                <a:latin typeface="Calibri"/>
              </a:rPr>
              <a:t>2 Nash Equilibria</a:t>
            </a:r>
          </a:p>
        </p:txBody>
      </p:sp>
      <p:sp>
        <p:nvSpPr>
          <p:cNvPr id="30" name="TextBox 29"/>
          <p:cNvSpPr txBox="1"/>
          <p:nvPr/>
        </p:nvSpPr>
        <p:spPr>
          <a:xfrm>
            <a:off x="8732520" y="1600200"/>
            <a:ext cx="3017520" cy="320040"/>
          </a:xfrm>
          <a:prstGeom prst="rect">
            <a:avLst/>
          </a:prstGeom>
          <a:noFill/>
        </p:spPr>
        <p:txBody>
          <a:bodyPr wrap="square" lIns="0" rIns="0" tIns="0" bIns="0">
            <a:spAutoFit/>
          </a:bodyPr>
          <a:lstStyle/>
          <a:p>
            <a:pPr algn="r"/>
            <a:r>
              <a:rPr sz="1400" b="0" i="1" u="none">
                <a:solidFill>
                  <a:srgbClr val="0B2B4E"/>
                </a:solidFill>
                <a:latin typeface="Calibri"/>
                <a:hlinkClick r:id="rId2"/>
              </a:rPr>
              <a:t>Similar game in “Rebel Without a Cause”</a:t>
            </a:r>
          </a:p>
        </p:txBody>
      </p:sp>
      <p:sp>
        <p:nvSpPr>
          <p:cNvPr id="31" name="TextBox 30"/>
          <p:cNvSpPr txBox="1"/>
          <p:nvPr/>
        </p:nvSpPr>
        <p:spPr>
          <a:xfrm>
            <a:off x="251999" y="5349240"/>
            <a:ext cx="11247120" cy="1097280"/>
          </a:xfrm>
          <a:prstGeom prst="rect">
            <a:avLst/>
          </a:prstGeom>
          <a:noFill/>
        </p:spPr>
        <p:txBody>
          <a:bodyPr wrap="square" lIns="0" rIns="0" tIns="0" bIns="0">
            <a:spAutoFit/>
          </a:bodyPr>
          <a:lstStyle>
            <a:lvl1pPr marL="342900" indent="-342900">
              <a:spcBef>
                <a:spcPts val="4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Real world examples:</a:t>
            </a:r>
          </a:p>
          <a:p>
            <a:pPr algn="l" lvl="1"/>
            <a:r>
              <a:rPr>
                <a:latin typeface="Calibri"/>
              </a:rPr>
              <a:t>Entry into a market that can only sustain one firm profitably (natural monopoly)</a:t>
            </a:r>
          </a:p>
          <a:p>
            <a:pPr algn="l" lvl="1"/>
            <a:r>
              <a:rPr>
                <a:latin typeface="Calibri"/>
              </a:rPr>
              <a:t>The Cold War (next slide)</a:t>
            </a:r>
          </a:p>
        </p:txBody>
      </p:sp>
      <p:sp>
        <p:nvSpPr>
          <p:cNvPr id="32" name="Rectangle 3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35" name="TextBox 34"/>
          <p:cNvSpPr txBox="1"/>
          <p:nvPr/>
        </p:nvSpPr>
        <p:spPr>
          <a:xfrm>
            <a:off x="11475720" y="6583680"/>
            <a:ext cx="502920" cy="292608"/>
          </a:xfrm>
          <a:prstGeom prst="rect">
            <a:avLst/>
          </a:prstGeom>
          <a:noFill/>
        </p:spPr>
        <p:txBody>
          <a:bodyPr wrap="none" lIns="0" rIns="0" tIns="0" bIns="0">
            <a:spAutoFit/>
          </a:bodyPr>
          <a:lstStyle/>
          <a:p>
            <a:pPr algn="r"/>
            <a:fld id="{073D4881-39FC-5E55-B354-D3717B72CD81}" type="slidenum">
              <a:rPr lang="en-US" sz="1200" dirty="0">
                <a:solidFill>
                  <a:srgbClr val="555B66"/>
                </a:solidFill>
                <a:latin typeface="Calibri"/>
              </a:rPr>
              <a:t>65</a:t>
            </a:fld>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The Cold War and M.A.D.</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554480"/>
            <a:ext cx="8412480" cy="1097280"/>
          </a:xfrm>
          <a:prstGeom prst="rect">
            <a:avLst/>
          </a:prstGeom>
          <a:noFill/>
        </p:spPr>
        <p:txBody>
          <a:bodyPr wrap="square" lIns="0" rIns="0" tIns="0" bIns="0">
            <a:spAutoFit/>
          </a:bodyPr>
          <a:lstStyle>
            <a:lvl1pPr marL="342900" indent="-342900">
              <a:spcBef>
                <a:spcPts val="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Why did none of the two super-powers use nukes?</a:t>
            </a:r>
          </a:p>
          <a:p>
            <a:pPr algn="l" lvl="1"/>
            <a:r>
              <a:rPr>
                <a:latin typeface="Calibri"/>
              </a:rPr>
              <a:t>Mutually Assured Destruction (M.A.D.)</a:t>
            </a:r>
          </a:p>
        </p:txBody>
      </p:sp>
      <p:sp>
        <p:nvSpPr>
          <p:cNvPr id="8" name="TextBox 7"/>
          <p:cNvSpPr txBox="1"/>
          <p:nvPr/>
        </p:nvSpPr>
        <p:spPr>
          <a:xfrm>
            <a:off x="4343400" y="2395728"/>
            <a:ext cx="4480560" cy="384048"/>
          </a:xfrm>
          <a:prstGeom prst="rect">
            <a:avLst/>
          </a:prstGeom>
          <a:noFill/>
        </p:spPr>
        <p:txBody>
          <a:bodyPr wrap="square" lIns="0" rIns="0" tIns="0" bIns="0">
            <a:spAutoFit/>
          </a:bodyPr>
          <a:lstStyle/>
          <a:p>
            <a:pPr algn="ctr"/>
            <a:r>
              <a:rPr sz="2200" b="1" i="0" u="none">
                <a:solidFill>
                  <a:srgbClr val="E09F3E"/>
                </a:solidFill>
                <a:latin typeface="Calibri"/>
              </a:rPr>
              <a:t>USSR</a:t>
            </a:r>
          </a:p>
        </p:txBody>
      </p:sp>
      <p:sp>
        <p:nvSpPr>
          <p:cNvPr id="9" name="TextBox 8"/>
          <p:cNvSpPr txBox="1"/>
          <p:nvPr/>
        </p:nvSpPr>
        <p:spPr>
          <a:xfrm>
            <a:off x="4343400" y="2779776"/>
            <a:ext cx="2240280" cy="457200"/>
          </a:xfrm>
          <a:prstGeom prst="rect">
            <a:avLst/>
          </a:prstGeom>
          <a:noFill/>
        </p:spPr>
        <p:txBody>
          <a:bodyPr wrap="square" lIns="0" rIns="0" tIns="0" bIns="0" anchor="b">
            <a:spAutoFit/>
          </a:bodyPr>
          <a:lstStyle/>
          <a:p>
            <a:pPr algn="ctr"/>
            <a:r>
              <a:rPr sz="1800" b="1" i="0" u="none">
                <a:solidFill>
                  <a:srgbClr val="0B2B4E"/>
                </a:solidFill>
                <a:latin typeface="Calibri"/>
              </a:rPr>
              <a:t>Don't use
nuclear weapons</a:t>
            </a:r>
          </a:p>
        </p:txBody>
      </p:sp>
      <p:sp>
        <p:nvSpPr>
          <p:cNvPr id="10" name="TextBox 9"/>
          <p:cNvSpPr txBox="1"/>
          <p:nvPr/>
        </p:nvSpPr>
        <p:spPr>
          <a:xfrm>
            <a:off x="6583680" y="2779776"/>
            <a:ext cx="2240280" cy="457200"/>
          </a:xfrm>
          <a:prstGeom prst="rect">
            <a:avLst/>
          </a:prstGeom>
          <a:noFill/>
        </p:spPr>
        <p:txBody>
          <a:bodyPr wrap="square" lIns="0" rIns="0" tIns="0" bIns="0" anchor="b">
            <a:spAutoFit/>
          </a:bodyPr>
          <a:lstStyle/>
          <a:p>
            <a:pPr algn="ctr"/>
            <a:r>
              <a:rPr sz="1800" b="1" i="0" u="none">
                <a:solidFill>
                  <a:srgbClr val="0B2B4E"/>
                </a:solidFill>
                <a:latin typeface="Calibri"/>
              </a:rPr>
              <a:t>Use nuclear
weapons</a:t>
            </a:r>
          </a:p>
        </p:txBody>
      </p:sp>
      <p:sp>
        <p:nvSpPr>
          <p:cNvPr id="11" name="TextBox 10"/>
          <p:cNvSpPr txBox="1"/>
          <p:nvPr/>
        </p:nvSpPr>
        <p:spPr>
          <a:xfrm rot="16200000">
            <a:off x="1216152" y="4014216"/>
            <a:ext cx="1828800" cy="384048"/>
          </a:xfrm>
          <a:prstGeom prst="rect">
            <a:avLst/>
          </a:prstGeom>
          <a:noFill/>
        </p:spPr>
        <p:txBody>
          <a:bodyPr wrap="square" lIns="0" rIns="0" tIns="0" bIns="0">
            <a:spAutoFit/>
          </a:bodyPr>
          <a:lstStyle/>
          <a:p>
            <a:pPr algn="ctr"/>
            <a:r>
              <a:rPr sz="2200" b="1" i="0" u="none">
                <a:solidFill>
                  <a:srgbClr val="0070C0"/>
                </a:solidFill>
                <a:latin typeface="Calibri"/>
              </a:rPr>
              <a:t>USA</a:t>
            </a:r>
          </a:p>
        </p:txBody>
      </p:sp>
      <p:sp>
        <p:nvSpPr>
          <p:cNvPr id="12" name="TextBox 11"/>
          <p:cNvSpPr txBox="1"/>
          <p:nvPr/>
        </p:nvSpPr>
        <p:spPr>
          <a:xfrm>
            <a:off x="2496312" y="340614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No
nukes</a:t>
            </a:r>
          </a:p>
        </p:txBody>
      </p:sp>
      <p:sp>
        <p:nvSpPr>
          <p:cNvPr id="13" name="TextBox 12"/>
          <p:cNvSpPr txBox="1"/>
          <p:nvPr/>
        </p:nvSpPr>
        <p:spPr>
          <a:xfrm>
            <a:off x="2496312" y="432054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Use
nukes</a:t>
            </a:r>
          </a:p>
        </p:txBody>
      </p:sp>
      <p:sp>
        <p:nvSpPr>
          <p:cNvPr id="14" name="Rectangle 13"/>
          <p:cNvSpPr/>
          <p:nvPr/>
        </p:nvSpPr>
        <p:spPr>
          <a:xfrm>
            <a:off x="4343400" y="3291840"/>
            <a:ext cx="224028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0</a:t>
            </a:r>
            <a:r>
              <a:rPr sz="2400" b="1">
                <a:solidFill>
                  <a:srgbClr val="0B2B4E"/>
                </a:solidFill>
                <a:latin typeface="Calibri"/>
              </a:rPr>
              <a:t> , </a:t>
            </a:r>
            <a:r>
              <a:rPr sz="2400" b="1">
                <a:solidFill>
                  <a:srgbClr val="E09F3E"/>
                </a:solidFill>
                <a:latin typeface="Calibri"/>
              </a:rPr>
              <a:t>0</a:t>
            </a:r>
          </a:p>
        </p:txBody>
      </p:sp>
      <p:sp>
        <p:nvSpPr>
          <p:cNvPr id="15" name="Rectangle 14"/>
          <p:cNvSpPr/>
          <p:nvPr/>
        </p:nvSpPr>
        <p:spPr>
          <a:xfrm>
            <a:off x="6583680" y="3291840"/>
            <a:ext cx="224028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-20</a:t>
            </a:r>
            <a:r>
              <a:rPr sz="2400" b="1">
                <a:solidFill>
                  <a:srgbClr val="0B2B4E"/>
                </a:solidFill>
                <a:latin typeface="Calibri"/>
              </a:rPr>
              <a:t> , </a:t>
            </a:r>
            <a:r>
              <a:rPr sz="2400" b="1">
                <a:solidFill>
                  <a:srgbClr val="E09F3E"/>
                </a:solidFill>
                <a:latin typeface="Calibri"/>
              </a:rPr>
              <a:t>10</a:t>
            </a:r>
          </a:p>
        </p:txBody>
      </p:sp>
      <p:sp>
        <p:nvSpPr>
          <p:cNvPr id="16" name="Rectangle 15"/>
          <p:cNvSpPr/>
          <p:nvPr/>
        </p:nvSpPr>
        <p:spPr>
          <a:xfrm>
            <a:off x="4343400" y="4206240"/>
            <a:ext cx="224028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10</a:t>
            </a:r>
            <a:r>
              <a:rPr sz="2400" b="1">
                <a:solidFill>
                  <a:srgbClr val="0B2B4E"/>
                </a:solidFill>
                <a:latin typeface="Calibri"/>
              </a:rPr>
              <a:t> , </a:t>
            </a:r>
            <a:r>
              <a:rPr sz="2400" b="1">
                <a:solidFill>
                  <a:srgbClr val="E09F3E"/>
                </a:solidFill>
                <a:latin typeface="Calibri"/>
              </a:rPr>
              <a:t>-20</a:t>
            </a:r>
          </a:p>
        </p:txBody>
      </p:sp>
      <p:sp>
        <p:nvSpPr>
          <p:cNvPr id="17" name="Rectangle 16"/>
          <p:cNvSpPr/>
          <p:nvPr/>
        </p:nvSpPr>
        <p:spPr>
          <a:xfrm>
            <a:off x="6583680" y="4206240"/>
            <a:ext cx="224028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-100</a:t>
            </a:r>
            <a:r>
              <a:rPr sz="2400" b="1">
                <a:solidFill>
                  <a:srgbClr val="0B2B4E"/>
                </a:solidFill>
                <a:latin typeface="Calibri"/>
              </a:rPr>
              <a:t> , </a:t>
            </a:r>
            <a:r>
              <a:rPr sz="2400" b="1">
                <a:solidFill>
                  <a:srgbClr val="E09F3E"/>
                </a:solidFill>
                <a:latin typeface="Calibri"/>
              </a:rPr>
              <a:t>-100</a:t>
            </a:r>
          </a:p>
        </p:txBody>
      </p:sp>
      <p:sp>
        <p:nvSpPr>
          <p:cNvPr id="18" name="Oval 17"/>
          <p:cNvSpPr/>
          <p:nvPr/>
        </p:nvSpPr>
        <p:spPr>
          <a:xfrm>
            <a:off x="6483096" y="3200400"/>
            <a:ext cx="2441448" cy="1097280"/>
          </a:xfrm>
          <a:prstGeom prst="ellipse">
            <a:avLst/>
          </a:prstGeom>
          <a:noFill/>
          <a:ln w="349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242816" y="4114800"/>
            <a:ext cx="2441448" cy="1097280"/>
          </a:xfrm>
          <a:prstGeom prst="ellipse">
            <a:avLst/>
          </a:prstGeom>
          <a:noFill/>
          <a:ln w="349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77640" y="5248656"/>
            <a:ext cx="5212080" cy="320040"/>
          </a:xfrm>
          <a:prstGeom prst="rect">
            <a:avLst/>
          </a:prstGeom>
          <a:noFill/>
        </p:spPr>
        <p:txBody>
          <a:bodyPr wrap="none">
            <a:spAutoFit/>
          </a:bodyPr>
          <a:lstStyle/>
          <a:p>
            <a:pPr algn="ctr"/>
            <a:r>
              <a:rPr sz="1500" i="1" b="0">
                <a:solidFill>
                  <a:srgbClr val="0B2B4E"/>
                </a:solidFill>
                <a:latin typeface="Calibri"/>
              </a:rPr>
              <a:t>Payoffs to (</a:t>
            </a:r>
            <a:r>
              <a:rPr sz="1500" i="1" b="1">
                <a:solidFill>
                  <a:srgbClr val="0070C0"/>
                </a:solidFill>
                <a:latin typeface="Calibri"/>
              </a:rPr>
              <a:t>USA</a:t>
            </a:r>
            <a:r>
              <a:rPr sz="1500" i="1" b="0">
                <a:solidFill>
                  <a:srgbClr val="0B2B4E"/>
                </a:solidFill>
                <a:latin typeface="Calibri"/>
              </a:rPr>
              <a:t>, </a:t>
            </a:r>
            <a:r>
              <a:rPr sz="1500" i="1" b="1">
                <a:solidFill>
                  <a:srgbClr val="E09F3E"/>
                </a:solidFill>
                <a:latin typeface="Calibri"/>
              </a:rPr>
              <a:t>USSR</a:t>
            </a:r>
            <a:r>
              <a:rPr sz="1500" i="1" b="0">
                <a:solidFill>
                  <a:srgbClr val="0B2B4E"/>
                </a:solidFill>
                <a:latin typeface="Calibri"/>
              </a:rPr>
              <a:t>)</a:t>
            </a:r>
          </a:p>
        </p:txBody>
      </p:sp>
      <p:cxnSp>
        <p:nvCxnSpPr>
          <p:cNvPr id="21" name="Connector 20"/>
          <p:cNvCxnSpPr/>
          <p:nvPr/>
        </p:nvCxnSpPr>
        <p:spPr>
          <a:xfrm>
            <a:off x="5105095" y="3986784"/>
            <a:ext cx="0" cy="31089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821631" y="4453128"/>
            <a:ext cx="566928" cy="420624"/>
          </a:xfrm>
          <a:prstGeom prst="ellipse">
            <a:avLst/>
          </a:prstGeom>
          <a:noFill/>
          <a:ln w="285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V="1">
            <a:off x="7345375" y="4114800"/>
            <a:ext cx="0" cy="31089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061911" y="3538728"/>
            <a:ext cx="566928" cy="420624"/>
          </a:xfrm>
          <a:prstGeom prst="ellipse">
            <a:avLst/>
          </a:prstGeom>
          <a:noFill/>
          <a:ln w="285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5867704" y="3474720"/>
            <a:ext cx="186537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7778800" y="3538728"/>
            <a:ext cx="566928" cy="420624"/>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flipH="1">
            <a:off x="6151168" y="4389120"/>
            <a:ext cx="186537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5538520" y="4453128"/>
            <a:ext cx="566928" cy="420624"/>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92640" y="3977639"/>
            <a:ext cx="2240280" cy="640080"/>
          </a:xfrm>
          <a:prstGeom prst="roundRect">
            <a:avLst>
              <a:gd name="adj" fmla="val 25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0B2B4E"/>
                </a:solidFill>
                <a:latin typeface="Calibri"/>
              </a:rPr>
              <a:t>2 Nash Equilibria</a:t>
            </a:r>
          </a:p>
        </p:txBody>
      </p:sp>
      <p:pic>
        <p:nvPicPr>
          <p:cNvPr id="30" name="Picture 29" descr="image48.png"/>
          <p:cNvPicPr>
            <a:picLocks noChangeAspect="1"/>
          </p:cNvPicPr>
          <p:nvPr/>
        </p:nvPicPr>
        <p:blipFill>
          <a:blip r:embed="rId2"/>
          <a:stretch>
            <a:fillRect/>
          </a:stretch>
        </p:blipFill>
        <p:spPr>
          <a:xfrm>
            <a:off x="502920" y="2926080"/>
            <a:ext cx="2364935" cy="3108960"/>
          </a:xfrm>
          <a:prstGeom prst="roundRect">
            <a:avLst>
              <a:gd name="adj" fmla="val 8000"/>
            </a:avLst>
          </a:prstGeom>
          <a:effectLst>
            <a:outerShdw blurRad="50800" dist="38100" dir="2700000" algn="tl" rotWithShape="0">
              <a:srgbClr val="000000">
                <a:alpha val="50000"/>
              </a:srgbClr>
            </a:outerShdw>
          </a:effectLst>
        </p:spPr>
      </p:pic>
      <p:pic>
        <p:nvPicPr>
          <p:cNvPr id="31" name="Picture 30" descr="image47.png"/>
          <p:cNvPicPr>
            <a:picLocks noChangeAspect="1"/>
          </p:cNvPicPr>
          <p:nvPr/>
        </p:nvPicPr>
        <p:blipFill>
          <a:blip r:embed="rId3"/>
          <a:stretch>
            <a:fillRect/>
          </a:stretch>
        </p:blipFill>
        <p:spPr>
          <a:xfrm>
            <a:off x="8869680" y="1371600"/>
            <a:ext cx="2926080" cy="1345605"/>
          </a:xfrm>
          <a:prstGeom prst="roundRect">
            <a:avLst>
              <a:gd name="adj" fmla="val 8000"/>
            </a:avLst>
          </a:prstGeom>
          <a:effectLst>
            <a:outerShdw blurRad="50800" dist="38100" dir="2700000" algn="tl" rotWithShape="0">
              <a:srgbClr val="000000">
                <a:alpha val="50000"/>
              </a:srgbClr>
            </a:outerShdw>
          </a:effectLst>
        </p:spPr>
      </p:pic>
      <p:sp>
        <p:nvSpPr>
          <p:cNvPr id="32" name="Rectangle 3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35" name="TextBox 34"/>
          <p:cNvSpPr txBox="1"/>
          <p:nvPr/>
        </p:nvSpPr>
        <p:spPr>
          <a:xfrm>
            <a:off x="11475720" y="6583680"/>
            <a:ext cx="502920" cy="292608"/>
          </a:xfrm>
          <a:prstGeom prst="rect">
            <a:avLst/>
          </a:prstGeom>
          <a:noFill/>
        </p:spPr>
        <p:txBody>
          <a:bodyPr wrap="none" lIns="0" rIns="0" tIns="0" bIns="0">
            <a:spAutoFit/>
          </a:bodyPr>
          <a:lstStyle/>
          <a:p>
            <a:pPr algn="r"/>
            <a:fld id="{A91B7F7E-92FE-5CDD-B5FC-A607830C5FA0}" type="slidenum">
              <a:rPr lang="en-US" sz="1200" dirty="0">
                <a:solidFill>
                  <a:srgbClr val="555B66"/>
                </a:solidFill>
                <a:latin typeface="Calibri"/>
              </a:rPr>
              <a:t>66</a:t>
            </a:fld>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Group Work</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554480"/>
            <a:ext cx="11247120" cy="1097280"/>
          </a:xfrm>
          <a:prstGeom prst="rect">
            <a:avLst/>
          </a:prstGeom>
          <a:noFill/>
        </p:spPr>
        <p:txBody>
          <a:bodyPr wrap="square" lIns="0" rIns="0" tIns="0" bIns="0">
            <a:spAutoFit/>
          </a:bodyPr>
          <a:lstStyle>
            <a:lvl1pPr marL="342900" indent="-342900">
              <a:spcBef>
                <a:spcPts val="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How does the payoff table change under M.A.D.?</a:t>
            </a:r>
          </a:p>
          <a:p>
            <a:pPr algn="l" lvl="1"/>
            <a:r>
              <a:rPr>
                <a:latin typeface="Calibri"/>
              </a:rPr>
              <a:t>“Doomsday device” (also explained by </a:t>
            </a:r>
            <a:r>
              <a:rPr u="sng">
                <a:solidFill>
                  <a:srgbClr val="0563C1"/>
                </a:solidFill>
                <a:latin typeface="Calibri"/>
                <a:hlinkClick r:id="rId2"/>
              </a:rPr>
              <a:t>Dr. Strangelove</a:t>
            </a:r>
            <a:r>
              <a:rPr>
                <a:latin typeface="Calibri"/>
              </a:rPr>
              <a:t>)</a:t>
            </a:r>
          </a:p>
        </p:txBody>
      </p:sp>
      <p:sp>
        <p:nvSpPr>
          <p:cNvPr id="8" name="TextBox 7"/>
          <p:cNvSpPr txBox="1"/>
          <p:nvPr/>
        </p:nvSpPr>
        <p:spPr>
          <a:xfrm>
            <a:off x="4343400" y="2395728"/>
            <a:ext cx="4480560" cy="384048"/>
          </a:xfrm>
          <a:prstGeom prst="rect">
            <a:avLst/>
          </a:prstGeom>
          <a:noFill/>
        </p:spPr>
        <p:txBody>
          <a:bodyPr wrap="square" lIns="0" rIns="0" tIns="0" bIns="0">
            <a:spAutoFit/>
          </a:bodyPr>
          <a:lstStyle/>
          <a:p>
            <a:pPr algn="ctr"/>
            <a:r>
              <a:rPr sz="2200" b="1" i="0" u="none">
                <a:solidFill>
                  <a:srgbClr val="E09F3E"/>
                </a:solidFill>
                <a:latin typeface="Calibri"/>
              </a:rPr>
              <a:t>USSR</a:t>
            </a:r>
          </a:p>
        </p:txBody>
      </p:sp>
      <p:sp>
        <p:nvSpPr>
          <p:cNvPr id="9" name="TextBox 8"/>
          <p:cNvSpPr txBox="1"/>
          <p:nvPr/>
        </p:nvSpPr>
        <p:spPr>
          <a:xfrm>
            <a:off x="4343400" y="2779776"/>
            <a:ext cx="2240280" cy="457200"/>
          </a:xfrm>
          <a:prstGeom prst="rect">
            <a:avLst/>
          </a:prstGeom>
          <a:noFill/>
        </p:spPr>
        <p:txBody>
          <a:bodyPr wrap="square" lIns="0" rIns="0" tIns="0" bIns="0" anchor="b">
            <a:spAutoFit/>
          </a:bodyPr>
          <a:lstStyle/>
          <a:p>
            <a:pPr algn="ctr"/>
            <a:r>
              <a:rPr sz="1800" b="1" i="0" u="none">
                <a:solidFill>
                  <a:srgbClr val="0B2B4E"/>
                </a:solidFill>
                <a:latin typeface="Calibri"/>
              </a:rPr>
              <a:t>Don't use
nuclear weapons</a:t>
            </a:r>
          </a:p>
        </p:txBody>
      </p:sp>
      <p:sp>
        <p:nvSpPr>
          <p:cNvPr id="10" name="TextBox 9"/>
          <p:cNvSpPr txBox="1"/>
          <p:nvPr/>
        </p:nvSpPr>
        <p:spPr>
          <a:xfrm>
            <a:off x="6583680" y="2779776"/>
            <a:ext cx="2240280" cy="457200"/>
          </a:xfrm>
          <a:prstGeom prst="rect">
            <a:avLst/>
          </a:prstGeom>
          <a:noFill/>
        </p:spPr>
        <p:txBody>
          <a:bodyPr wrap="square" lIns="0" rIns="0" tIns="0" bIns="0" anchor="b">
            <a:spAutoFit/>
          </a:bodyPr>
          <a:lstStyle/>
          <a:p>
            <a:pPr algn="ctr"/>
            <a:r>
              <a:rPr sz="1800" b="1" i="0" u="none">
                <a:solidFill>
                  <a:srgbClr val="0B2B4E"/>
                </a:solidFill>
                <a:latin typeface="Calibri"/>
              </a:rPr>
              <a:t>Use nuclear
weapons</a:t>
            </a:r>
          </a:p>
        </p:txBody>
      </p:sp>
      <p:sp>
        <p:nvSpPr>
          <p:cNvPr id="11" name="TextBox 10"/>
          <p:cNvSpPr txBox="1"/>
          <p:nvPr/>
        </p:nvSpPr>
        <p:spPr>
          <a:xfrm rot="16200000">
            <a:off x="1216152" y="4014216"/>
            <a:ext cx="1828800" cy="384048"/>
          </a:xfrm>
          <a:prstGeom prst="rect">
            <a:avLst/>
          </a:prstGeom>
          <a:noFill/>
        </p:spPr>
        <p:txBody>
          <a:bodyPr wrap="square" lIns="0" rIns="0" tIns="0" bIns="0">
            <a:spAutoFit/>
          </a:bodyPr>
          <a:lstStyle/>
          <a:p>
            <a:pPr algn="ctr"/>
            <a:r>
              <a:rPr sz="2200" b="1" i="0" u="none">
                <a:solidFill>
                  <a:srgbClr val="0070C0"/>
                </a:solidFill>
                <a:latin typeface="Calibri"/>
              </a:rPr>
              <a:t>USA</a:t>
            </a:r>
          </a:p>
        </p:txBody>
      </p:sp>
      <p:sp>
        <p:nvSpPr>
          <p:cNvPr id="12" name="TextBox 11"/>
          <p:cNvSpPr txBox="1"/>
          <p:nvPr/>
        </p:nvSpPr>
        <p:spPr>
          <a:xfrm>
            <a:off x="2496312" y="340614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No
nukes</a:t>
            </a:r>
          </a:p>
        </p:txBody>
      </p:sp>
      <p:sp>
        <p:nvSpPr>
          <p:cNvPr id="13" name="TextBox 12"/>
          <p:cNvSpPr txBox="1"/>
          <p:nvPr/>
        </p:nvSpPr>
        <p:spPr>
          <a:xfrm>
            <a:off x="2496312" y="432054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Use
nukes</a:t>
            </a:r>
          </a:p>
        </p:txBody>
      </p:sp>
      <p:sp>
        <p:nvSpPr>
          <p:cNvPr id="14" name="Rectangle 13"/>
          <p:cNvSpPr/>
          <p:nvPr/>
        </p:nvSpPr>
        <p:spPr>
          <a:xfrm>
            <a:off x="4343400" y="3291840"/>
            <a:ext cx="224028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0</a:t>
            </a:r>
            <a:r>
              <a:rPr sz="2400" b="1">
                <a:solidFill>
                  <a:srgbClr val="0B2B4E"/>
                </a:solidFill>
                <a:latin typeface="Calibri"/>
              </a:rPr>
              <a:t> , </a:t>
            </a:r>
            <a:r>
              <a:rPr sz="2400" b="1">
                <a:solidFill>
                  <a:srgbClr val="E09F3E"/>
                </a:solidFill>
                <a:latin typeface="Calibri"/>
              </a:rPr>
              <a:t>0</a:t>
            </a:r>
          </a:p>
        </p:txBody>
      </p:sp>
      <p:sp>
        <p:nvSpPr>
          <p:cNvPr id="15" name="Rectangle 14"/>
          <p:cNvSpPr/>
          <p:nvPr/>
        </p:nvSpPr>
        <p:spPr>
          <a:xfrm>
            <a:off x="6583680" y="3291840"/>
            <a:ext cx="224028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a:lstStyle/>
          <a:p>
            <a:pPr algn="ctr"/>
            <a:r>
              <a:rPr sz="1200" i="1">
                <a:solidFill>
                  <a:srgbClr val="555B66"/>
                </a:solidFill>
                <a:latin typeface="Calibri"/>
              </a:rPr>
              <a:t>(Cell impossible due to M.A.D.)</a:t>
            </a:r>
          </a:p>
        </p:txBody>
      </p:sp>
      <p:sp>
        <p:nvSpPr>
          <p:cNvPr id="16" name="Rectangle 15"/>
          <p:cNvSpPr/>
          <p:nvPr/>
        </p:nvSpPr>
        <p:spPr>
          <a:xfrm>
            <a:off x="4343400" y="4206240"/>
            <a:ext cx="224028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a:lstStyle/>
          <a:p>
            <a:pPr algn="ctr"/>
            <a:r>
              <a:rPr sz="1200" i="1">
                <a:solidFill>
                  <a:srgbClr val="555B66"/>
                </a:solidFill>
                <a:latin typeface="Calibri"/>
              </a:rPr>
              <a:t>(Cell impossible due to M.A.D.)</a:t>
            </a:r>
          </a:p>
        </p:txBody>
      </p:sp>
      <p:sp>
        <p:nvSpPr>
          <p:cNvPr id="17" name="Rectangle 16"/>
          <p:cNvSpPr/>
          <p:nvPr/>
        </p:nvSpPr>
        <p:spPr>
          <a:xfrm>
            <a:off x="6583680" y="4206240"/>
            <a:ext cx="224028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-100</a:t>
            </a:r>
            <a:r>
              <a:rPr sz="2400" b="1">
                <a:solidFill>
                  <a:srgbClr val="0B2B4E"/>
                </a:solidFill>
                <a:latin typeface="Calibri"/>
              </a:rPr>
              <a:t> , </a:t>
            </a:r>
            <a:r>
              <a:rPr sz="2400" b="1">
                <a:solidFill>
                  <a:srgbClr val="E09F3E"/>
                </a:solidFill>
                <a:latin typeface="Calibri"/>
              </a:rPr>
              <a:t>-100</a:t>
            </a:r>
          </a:p>
        </p:txBody>
      </p:sp>
      <p:sp>
        <p:nvSpPr>
          <p:cNvPr id="18" name="TextBox 17"/>
          <p:cNvSpPr txBox="1"/>
          <p:nvPr/>
        </p:nvSpPr>
        <p:spPr>
          <a:xfrm>
            <a:off x="3977640" y="5248656"/>
            <a:ext cx="5212080" cy="320040"/>
          </a:xfrm>
          <a:prstGeom prst="rect">
            <a:avLst/>
          </a:prstGeom>
          <a:noFill/>
        </p:spPr>
        <p:txBody>
          <a:bodyPr wrap="none">
            <a:spAutoFit/>
          </a:bodyPr>
          <a:lstStyle/>
          <a:p>
            <a:pPr algn="ctr"/>
            <a:r>
              <a:rPr sz="1500" i="1" b="0">
                <a:solidFill>
                  <a:srgbClr val="0B2B4E"/>
                </a:solidFill>
                <a:latin typeface="Calibri"/>
              </a:rPr>
              <a:t>Payoffs to (</a:t>
            </a:r>
            <a:r>
              <a:rPr sz="1500" i="1" b="1">
                <a:solidFill>
                  <a:srgbClr val="0070C0"/>
                </a:solidFill>
                <a:latin typeface="Calibri"/>
              </a:rPr>
              <a:t>USA</a:t>
            </a:r>
            <a:r>
              <a:rPr sz="1500" i="1" b="0">
                <a:solidFill>
                  <a:srgbClr val="0B2B4E"/>
                </a:solidFill>
                <a:latin typeface="Calibri"/>
              </a:rPr>
              <a:t>, </a:t>
            </a:r>
            <a:r>
              <a:rPr sz="1500" i="1" b="1">
                <a:solidFill>
                  <a:srgbClr val="E09F3E"/>
                </a:solidFill>
                <a:latin typeface="Calibri"/>
              </a:rPr>
              <a:t>USSR</a:t>
            </a:r>
            <a:r>
              <a:rPr sz="1500" i="1" b="0">
                <a:solidFill>
                  <a:srgbClr val="0B2B4E"/>
                </a:solidFill>
                <a:latin typeface="Calibri"/>
              </a:rPr>
              <a:t>)</a:t>
            </a:r>
          </a:p>
        </p:txBody>
      </p:sp>
      <p:sp>
        <p:nvSpPr>
          <p:cNvPr id="19" name="Oval 18"/>
          <p:cNvSpPr/>
          <p:nvPr/>
        </p:nvSpPr>
        <p:spPr>
          <a:xfrm>
            <a:off x="4823460" y="3497580"/>
            <a:ext cx="1280160" cy="502920"/>
          </a:xfrm>
          <a:prstGeom prst="ellipse">
            <a:avLst/>
          </a:prstGeom>
          <a:noFill/>
          <a:ln w="349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5105095" y="4114800"/>
            <a:ext cx="0" cy="31089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345375" y="4114800"/>
            <a:ext cx="0" cy="31089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6151168" y="3474720"/>
            <a:ext cx="186537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6151168" y="4389120"/>
            <a:ext cx="186537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4370832" y="3319272"/>
            <a:ext cx="4425696" cy="1773936"/>
          </a:xfrm>
          <a:prstGeom prst="rect">
            <a:avLst/>
          </a:prstGeom>
          <a:gradFill rotWithShape="1">
            <a:gsLst>
              <a:gs pos="0">
                <a:srgbClr val="F2F7FC"/>
              </a:gs>
              <a:gs pos="100000">
                <a:srgbClr val="C9DCEE"/>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1999" y="5806440"/>
            <a:ext cx="7315200" cy="457200"/>
          </a:xfrm>
          <a:prstGeom prst="rect">
            <a:avLst/>
          </a:prstGeom>
          <a:noFill/>
        </p:spPr>
        <p:txBody>
          <a:bodyPr wrap="square" lIns="45720" rIns="45720" tIns="0" bIns="0">
            <a:spAutoFit/>
          </a:bodyPr>
          <a:lstStyle/>
          <a:p xmlns:m="http://schemas.openxmlformats.org/officeDocument/2006/math" xmlns:a14="http://schemas.microsoft.com/office/drawing/2010/main">
            <a:r>
              <a:rPr lang="en-US" sz="2000">
                <a:solidFill>
                  <a:srgbClr val="0B2B4E"/>
                </a:solidFill>
                <a:latin typeface="Calibri"/>
              </a:rPr>
              <a:t>The world came very close to destruction:  </a:t>
            </a:r>
            <a:r>
              <a:rPr lang="en-US" sz="2000" b="1">
                <a:solidFill>
                  <a:srgbClr val="0563C1"/>
                </a:solidFill>
                <a:latin typeface="Calibri"/>
                <a:hlinkClick r:id="rId3"/>
              </a:rPr>
              <a:t>Documentary</a:t>
            </a:r>
            <a:endParaRPr lang="en-US"/>
          </a:p>
        </p:txBody>
      </p:sp>
      <p:sp>
        <p:nvSpPr>
          <p:cNvPr id="26" name="Rectangle 25"/>
          <p:cNvSpPr/>
          <p:nvPr/>
        </p:nvSpPr>
        <p:spPr>
          <a:xfrm>
            <a:off x="7550576" y="5715000"/>
            <a:ext cx="4389120"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08944" y="5715000"/>
            <a:ext cx="3072384" cy="658368"/>
          </a:xfrm>
          <a:prstGeom prst="rect">
            <a:avLst/>
          </a:prstGeom>
          <a:noFill/>
        </p:spPr>
        <p:txBody>
          <a:bodyPr wrap="none" anchor="ctr" lIns="45720" rIns="45720" tIns="18288" bIns="18288">
            <a:spAutoFit/>
          </a:bodyPr>
          <a:lstStyle/>
          <a:p>
            <a:pPr algn="ctr"/>
            <a:r>
              <a:rPr sz="2800" b="1">
                <a:solidFill>
                  <a:srgbClr val="0B2B4E"/>
                </a:solidFill>
                <a:latin typeface="Calibri"/>
              </a:rPr>
              <a:t>Discussion Break</a:t>
            </a:r>
          </a:p>
        </p:txBody>
      </p:sp>
      <p:sp>
        <p:nvSpPr>
          <p:cNvPr id="28" name="Rectangle 2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31" name="TextBox 30"/>
          <p:cNvSpPr txBox="1"/>
          <p:nvPr/>
        </p:nvSpPr>
        <p:spPr>
          <a:xfrm>
            <a:off x="11475720" y="6583680"/>
            <a:ext cx="502920" cy="292608"/>
          </a:xfrm>
          <a:prstGeom prst="rect">
            <a:avLst/>
          </a:prstGeom>
          <a:noFill/>
        </p:spPr>
        <p:txBody>
          <a:bodyPr wrap="none" lIns="0" rIns="0" tIns="0" bIns="0">
            <a:spAutoFit/>
          </a:bodyPr>
          <a:lstStyle/>
          <a:p>
            <a:pPr algn="r"/>
            <a:fld id="{D0D9AF38-FB62-53EC-8410-F9A2076D5AE5}" type="slidenum">
              <a:rPr lang="en-US" sz="1200" dirty="0">
                <a:solidFill>
                  <a:srgbClr val="555B66"/>
                </a:solidFill>
                <a:latin typeface="Calibri"/>
              </a:rPr>
              <a:t>67</a:t>
            </a:fld>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Commitment and Strategy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508760"/>
            <a:ext cx="11247120" cy="822960"/>
          </a:xfrm>
          <a:prstGeom prst="rect">
            <a:avLst/>
          </a:prstGeom>
          <a:noFill/>
        </p:spPr>
        <p:txBody>
          <a:bodyPr wrap="square" lIns="0" rIns="0" tIns="0" bIns="0">
            <a:spAutoFit/>
          </a:bodyPr>
          <a:lstStyle>
            <a:lvl1pPr marL="342900" indent="-342900">
              <a:spcBef>
                <a:spcPts val="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Note that M.A.D. represents a </a:t>
            </a:r>
            <a:r>
              <a:rPr u="sng">
                <a:latin typeface="Calibri"/>
              </a:rPr>
              <a:t>commitment</a:t>
            </a:r>
            <a:r>
              <a:rPr>
                <a:latin typeface="Calibri"/>
              </a:rPr>
              <a:t> (to retaliate)</a:t>
            </a:r>
          </a:p>
        </p:txBody>
      </p:sp>
      <p:sp>
        <p:nvSpPr>
          <p:cNvPr id="8" name="TextBox 7"/>
          <p:cNvSpPr txBox="1"/>
          <p:nvPr/>
        </p:nvSpPr>
        <p:spPr>
          <a:xfrm>
            <a:off x="4343400" y="2167128"/>
            <a:ext cx="4480560" cy="384048"/>
          </a:xfrm>
          <a:prstGeom prst="rect">
            <a:avLst/>
          </a:prstGeom>
          <a:noFill/>
        </p:spPr>
        <p:txBody>
          <a:bodyPr wrap="square" lIns="0" rIns="0" tIns="0" bIns="0">
            <a:spAutoFit/>
          </a:bodyPr>
          <a:lstStyle/>
          <a:p>
            <a:pPr algn="ctr"/>
            <a:r>
              <a:rPr sz="2200" b="1" i="0" u="none">
                <a:solidFill>
                  <a:srgbClr val="E09F3E"/>
                </a:solidFill>
                <a:latin typeface="Calibri"/>
              </a:rPr>
              <a:t>USSR</a:t>
            </a:r>
          </a:p>
        </p:txBody>
      </p:sp>
      <p:sp>
        <p:nvSpPr>
          <p:cNvPr id="9" name="TextBox 8"/>
          <p:cNvSpPr txBox="1"/>
          <p:nvPr/>
        </p:nvSpPr>
        <p:spPr>
          <a:xfrm>
            <a:off x="4343400" y="2551176"/>
            <a:ext cx="2240280" cy="457200"/>
          </a:xfrm>
          <a:prstGeom prst="rect">
            <a:avLst/>
          </a:prstGeom>
          <a:noFill/>
        </p:spPr>
        <p:txBody>
          <a:bodyPr wrap="square" lIns="0" rIns="0" tIns="0" bIns="0" anchor="b">
            <a:spAutoFit/>
          </a:bodyPr>
          <a:lstStyle/>
          <a:p>
            <a:pPr algn="ctr"/>
            <a:r>
              <a:rPr sz="1800" b="1" i="0" u="none">
                <a:solidFill>
                  <a:srgbClr val="0B2B4E"/>
                </a:solidFill>
                <a:latin typeface="Calibri"/>
              </a:rPr>
              <a:t>Don't use
nuclear weapons</a:t>
            </a:r>
          </a:p>
        </p:txBody>
      </p:sp>
      <p:sp>
        <p:nvSpPr>
          <p:cNvPr id="10" name="TextBox 9"/>
          <p:cNvSpPr txBox="1"/>
          <p:nvPr/>
        </p:nvSpPr>
        <p:spPr>
          <a:xfrm>
            <a:off x="6583680" y="2551176"/>
            <a:ext cx="2240280" cy="457200"/>
          </a:xfrm>
          <a:prstGeom prst="rect">
            <a:avLst/>
          </a:prstGeom>
          <a:noFill/>
        </p:spPr>
        <p:txBody>
          <a:bodyPr wrap="square" lIns="0" rIns="0" tIns="0" bIns="0" anchor="b">
            <a:spAutoFit/>
          </a:bodyPr>
          <a:lstStyle/>
          <a:p>
            <a:pPr algn="ctr"/>
            <a:r>
              <a:rPr sz="1800" b="1" i="0" u="none">
                <a:solidFill>
                  <a:srgbClr val="0B2B4E"/>
                </a:solidFill>
                <a:latin typeface="Calibri"/>
              </a:rPr>
              <a:t>Use nuclear
weapons</a:t>
            </a:r>
          </a:p>
        </p:txBody>
      </p:sp>
      <p:sp>
        <p:nvSpPr>
          <p:cNvPr id="11" name="TextBox 10"/>
          <p:cNvSpPr txBox="1"/>
          <p:nvPr/>
        </p:nvSpPr>
        <p:spPr>
          <a:xfrm rot="16200000">
            <a:off x="1216152" y="3785616"/>
            <a:ext cx="1828800" cy="384048"/>
          </a:xfrm>
          <a:prstGeom prst="rect">
            <a:avLst/>
          </a:prstGeom>
          <a:noFill/>
        </p:spPr>
        <p:txBody>
          <a:bodyPr wrap="square" lIns="0" rIns="0" tIns="0" bIns="0">
            <a:spAutoFit/>
          </a:bodyPr>
          <a:lstStyle/>
          <a:p>
            <a:pPr algn="ctr"/>
            <a:r>
              <a:rPr sz="2200" b="1" i="0" u="none">
                <a:solidFill>
                  <a:srgbClr val="0070C0"/>
                </a:solidFill>
                <a:latin typeface="Calibri"/>
              </a:rPr>
              <a:t>USA</a:t>
            </a:r>
          </a:p>
        </p:txBody>
      </p:sp>
      <p:sp>
        <p:nvSpPr>
          <p:cNvPr id="12" name="TextBox 11"/>
          <p:cNvSpPr txBox="1"/>
          <p:nvPr/>
        </p:nvSpPr>
        <p:spPr>
          <a:xfrm>
            <a:off x="2496312" y="317754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No
nukes</a:t>
            </a:r>
          </a:p>
        </p:txBody>
      </p:sp>
      <p:sp>
        <p:nvSpPr>
          <p:cNvPr id="13" name="TextBox 12"/>
          <p:cNvSpPr txBox="1"/>
          <p:nvPr/>
        </p:nvSpPr>
        <p:spPr>
          <a:xfrm>
            <a:off x="2496312" y="409194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Use
nukes</a:t>
            </a:r>
          </a:p>
        </p:txBody>
      </p:sp>
      <p:sp>
        <p:nvSpPr>
          <p:cNvPr id="14" name="Rectangle 13"/>
          <p:cNvSpPr/>
          <p:nvPr/>
        </p:nvSpPr>
        <p:spPr>
          <a:xfrm>
            <a:off x="4343400" y="3063240"/>
            <a:ext cx="224028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0</a:t>
            </a:r>
            <a:r>
              <a:rPr sz="2400" b="1">
                <a:solidFill>
                  <a:srgbClr val="0B2B4E"/>
                </a:solidFill>
                <a:latin typeface="Calibri"/>
              </a:rPr>
              <a:t> , </a:t>
            </a:r>
            <a:r>
              <a:rPr sz="2400" b="1">
                <a:solidFill>
                  <a:srgbClr val="E09F3E"/>
                </a:solidFill>
                <a:latin typeface="Calibri"/>
              </a:rPr>
              <a:t>0</a:t>
            </a:r>
          </a:p>
        </p:txBody>
      </p:sp>
      <p:sp>
        <p:nvSpPr>
          <p:cNvPr id="15" name="Rectangle 14"/>
          <p:cNvSpPr/>
          <p:nvPr/>
        </p:nvSpPr>
        <p:spPr>
          <a:xfrm>
            <a:off x="6583680" y="3063240"/>
            <a:ext cx="224028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a:lstStyle/>
          <a:p>
            <a:pPr algn="ctr"/>
            <a:r>
              <a:rPr sz="1200" i="1">
                <a:solidFill>
                  <a:srgbClr val="555B66"/>
                </a:solidFill>
                <a:latin typeface="Calibri"/>
              </a:rPr>
              <a:t>(Cell empty due to USA's commitment to retaliate)</a:t>
            </a:r>
          </a:p>
        </p:txBody>
      </p:sp>
      <p:sp>
        <p:nvSpPr>
          <p:cNvPr id="16" name="Rectangle 15"/>
          <p:cNvSpPr/>
          <p:nvPr/>
        </p:nvSpPr>
        <p:spPr>
          <a:xfrm>
            <a:off x="4343400" y="3977640"/>
            <a:ext cx="224028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a:lstStyle/>
          <a:p>
            <a:pPr algn="ctr"/>
            <a:r>
              <a:rPr sz="1200" i="1">
                <a:solidFill>
                  <a:srgbClr val="555B66"/>
                </a:solidFill>
                <a:latin typeface="Calibri"/>
              </a:rPr>
              <a:t>(Cell empty due to USSR's commitment to retaliate)</a:t>
            </a:r>
          </a:p>
        </p:txBody>
      </p:sp>
      <p:sp>
        <p:nvSpPr>
          <p:cNvPr id="17" name="Rectangle 16"/>
          <p:cNvSpPr/>
          <p:nvPr/>
        </p:nvSpPr>
        <p:spPr>
          <a:xfrm>
            <a:off x="6583680" y="3977640"/>
            <a:ext cx="224028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-100</a:t>
            </a:r>
            <a:r>
              <a:rPr sz="2400" b="1">
                <a:solidFill>
                  <a:srgbClr val="0B2B4E"/>
                </a:solidFill>
                <a:latin typeface="Calibri"/>
              </a:rPr>
              <a:t> , </a:t>
            </a:r>
            <a:r>
              <a:rPr sz="2400" b="1">
                <a:solidFill>
                  <a:srgbClr val="E09F3E"/>
                </a:solidFill>
                <a:latin typeface="Calibri"/>
              </a:rPr>
              <a:t>-100</a:t>
            </a:r>
          </a:p>
        </p:txBody>
      </p:sp>
      <p:sp>
        <p:nvSpPr>
          <p:cNvPr id="18" name="TextBox 17"/>
          <p:cNvSpPr txBox="1"/>
          <p:nvPr/>
        </p:nvSpPr>
        <p:spPr>
          <a:xfrm>
            <a:off x="3977640" y="5020056"/>
            <a:ext cx="5212080" cy="320040"/>
          </a:xfrm>
          <a:prstGeom prst="rect">
            <a:avLst/>
          </a:prstGeom>
          <a:noFill/>
        </p:spPr>
        <p:txBody>
          <a:bodyPr wrap="none">
            <a:spAutoFit/>
          </a:bodyPr>
          <a:lstStyle/>
          <a:p>
            <a:pPr algn="ctr"/>
            <a:r>
              <a:rPr sz="1500" i="1" b="0">
                <a:solidFill>
                  <a:srgbClr val="0B2B4E"/>
                </a:solidFill>
                <a:latin typeface="Calibri"/>
              </a:rPr>
              <a:t>Payoffs to (</a:t>
            </a:r>
            <a:r>
              <a:rPr sz="1500" i="1" b="1">
                <a:solidFill>
                  <a:srgbClr val="0070C0"/>
                </a:solidFill>
                <a:latin typeface="Calibri"/>
              </a:rPr>
              <a:t>USA</a:t>
            </a:r>
            <a:r>
              <a:rPr sz="1500" i="1" b="0">
                <a:solidFill>
                  <a:srgbClr val="0B2B4E"/>
                </a:solidFill>
                <a:latin typeface="Calibri"/>
              </a:rPr>
              <a:t>, </a:t>
            </a:r>
            <a:r>
              <a:rPr sz="1500" i="1" b="1">
                <a:solidFill>
                  <a:srgbClr val="E09F3E"/>
                </a:solidFill>
                <a:latin typeface="Calibri"/>
              </a:rPr>
              <a:t>USSR</a:t>
            </a:r>
            <a:r>
              <a:rPr sz="1500" i="1" b="0">
                <a:solidFill>
                  <a:srgbClr val="0B2B4E"/>
                </a:solidFill>
                <a:latin typeface="Calibri"/>
              </a:rPr>
              <a:t>)</a:t>
            </a:r>
          </a:p>
        </p:txBody>
      </p:sp>
      <p:cxnSp>
        <p:nvCxnSpPr>
          <p:cNvPr id="19" name="Connector 18"/>
          <p:cNvCxnSpPr/>
          <p:nvPr/>
        </p:nvCxnSpPr>
        <p:spPr>
          <a:xfrm>
            <a:off x="6789420" y="3547872"/>
            <a:ext cx="1828800" cy="374904"/>
          </a:xfrm>
          <a:prstGeom prst="line">
            <a:avLst/>
          </a:prstGeom>
          <a:ln w="254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6789420" y="3547872"/>
            <a:ext cx="1828800" cy="374904"/>
          </a:xfrm>
          <a:prstGeom prst="line">
            <a:avLst/>
          </a:prstGeom>
          <a:ln w="254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549140" y="4462272"/>
            <a:ext cx="1828800" cy="374904"/>
          </a:xfrm>
          <a:prstGeom prst="line">
            <a:avLst/>
          </a:prstGeom>
          <a:ln w="254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4549140" y="4462272"/>
            <a:ext cx="1828800" cy="374904"/>
          </a:xfrm>
          <a:prstGeom prst="line">
            <a:avLst/>
          </a:prstGeom>
          <a:ln w="25400">
            <a:solidFill>
              <a:srgbClr val="C0000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51999" y="5486400"/>
            <a:ext cx="11247120" cy="914400"/>
          </a:xfrm>
          <a:prstGeom prst="rect">
            <a:avLst/>
          </a:prstGeom>
          <a:noFill/>
        </p:spPr>
        <p:txBody>
          <a:bodyPr wrap="square" lIns="0" rIns="0" tIns="0" bIns="0">
            <a:spAutoFit/>
          </a:bodyPr>
          <a:lstStyle>
            <a:lvl1pPr marL="342900" indent="-342900">
              <a:spcBef>
                <a:spcPts val="40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a:latin typeface="Calibri"/>
              </a:rPr>
              <a:t>(Much) more on commitment in your Strategy class!</a:t>
            </a:r>
          </a:p>
          <a:p>
            <a:pPr algn="l" lvl="1"/>
            <a:r>
              <a:rPr>
                <a:latin typeface="Calibri"/>
              </a:rPr>
              <a:t>Crucial: Is the player's “commitment” credible?</a:t>
            </a:r>
          </a:p>
        </p:txBody>
      </p:sp>
      <p:sp>
        <p:nvSpPr>
          <p:cNvPr id="24" name="Rectangle 2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27" name="TextBox 26"/>
          <p:cNvSpPr txBox="1"/>
          <p:nvPr/>
        </p:nvSpPr>
        <p:spPr>
          <a:xfrm>
            <a:off x="11475720" y="6583680"/>
            <a:ext cx="502920" cy="292608"/>
          </a:xfrm>
          <a:prstGeom prst="rect">
            <a:avLst/>
          </a:prstGeom>
          <a:noFill/>
        </p:spPr>
        <p:txBody>
          <a:bodyPr wrap="none" lIns="0" rIns="0" tIns="0" bIns="0">
            <a:spAutoFit/>
          </a:bodyPr>
          <a:lstStyle/>
          <a:p>
            <a:pPr algn="r"/>
            <a:fld id="{455A7276-18FB-55CC-8224-25A908F46850}" type="slidenum">
              <a:rPr lang="en-US" sz="1200" dirty="0">
                <a:solidFill>
                  <a:srgbClr val="555B66"/>
                </a:solidFill>
                <a:latin typeface="Calibri"/>
              </a:rPr>
              <a:t>68</a:t>
            </a:fld>
          </a:p>
        </p:txBody>
      </p:sp>
      <p:sp>
        <p:nvSpPr>
          <p:cNvPr id="28" name="Rounded Rectangle 27">
            <a:hlinkClick r:id="rId2" action="ppaction://hlinksldjump"/>
          </p:cNvPr>
          <p:cNvSpPr/>
          <p:nvPr/>
        </p:nvSpPr>
        <p:spPr>
          <a:xfrm>
            <a:off x="10716768" y="6035040"/>
            <a:ext cx="1417320" cy="420624"/>
          </a:xfrm>
          <a:prstGeom prst="roundRect">
            <a:avLst>
              <a:gd name="adj" fmla="val 5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Tickets  →</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Penalty Kicks: Find the (Pure-Strategy) Nash Equilibrium</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508760"/>
            <a:ext cx="11338560" cy="1554480"/>
          </a:xfrm>
          <a:prstGeom prst="rect">
            <a:avLst/>
          </a:prstGeom>
          <a:noFill/>
        </p:spPr>
        <p:txBody>
          <a:bodyPr wrap="square" lIns="0" rIns="0" tIns="0" bIns="0">
            <a:spAutoFit/>
          </a:bodyPr>
          <a:lstStyle>
            <a:lvl1pPr marL="342900" indent="-342900">
              <a:spcBef>
                <a:spcPts val="60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a:latin typeface="Calibri"/>
              </a:rPr>
              <a:t>Note:</a:t>
            </a:r>
          </a:p>
          <a:p>
            <a:pPr algn="l" lvl="1"/>
            <a:r>
              <a:rPr u="sng">
                <a:latin typeface="Calibri"/>
              </a:rPr>
              <a:t>Pure Strategy</a:t>
            </a:r>
            <a:r>
              <a:rPr>
                <a:latin typeface="Calibri"/>
              </a:rPr>
              <a:t>: Each player picks either “Left” or “Right” (as in all games we've seen thus far)</a:t>
            </a:r>
          </a:p>
          <a:p>
            <a:pPr algn="l" lvl="1"/>
            <a:r>
              <a:rPr u="sng">
                <a:latin typeface="Calibri"/>
              </a:rPr>
              <a:t>Mixed Strategy</a:t>
            </a:r>
            <a:r>
              <a:rPr>
                <a:latin typeface="Calibri"/>
              </a:rPr>
              <a:t>: Players can also assign probabilities with which they pick Left or Right (not relevant for our class)</a:t>
            </a:r>
          </a:p>
        </p:txBody>
      </p:sp>
      <p:sp>
        <p:nvSpPr>
          <p:cNvPr id="8" name="TextBox 7"/>
          <p:cNvSpPr txBox="1"/>
          <p:nvPr/>
        </p:nvSpPr>
        <p:spPr>
          <a:xfrm>
            <a:off x="4343400" y="2944368"/>
            <a:ext cx="4206240" cy="384048"/>
          </a:xfrm>
          <a:prstGeom prst="rect">
            <a:avLst/>
          </a:prstGeom>
          <a:noFill/>
        </p:spPr>
        <p:txBody>
          <a:bodyPr wrap="square" lIns="0" rIns="0" tIns="0" bIns="0">
            <a:spAutoFit/>
          </a:bodyPr>
          <a:lstStyle/>
          <a:p>
            <a:pPr algn="ctr"/>
            <a:r>
              <a:rPr sz="2200" b="1" i="0" u="none">
                <a:solidFill>
                  <a:srgbClr val="E09F3E"/>
                </a:solidFill>
                <a:latin typeface="Calibri"/>
              </a:rPr>
              <a:t>Goalie</a:t>
            </a:r>
          </a:p>
        </p:txBody>
      </p:sp>
      <p:sp>
        <p:nvSpPr>
          <p:cNvPr id="9" name="TextBox 8"/>
          <p:cNvSpPr txBox="1"/>
          <p:nvPr/>
        </p:nvSpPr>
        <p:spPr>
          <a:xfrm>
            <a:off x="4343400" y="3328416"/>
            <a:ext cx="2103120" cy="457200"/>
          </a:xfrm>
          <a:prstGeom prst="rect">
            <a:avLst/>
          </a:prstGeom>
          <a:noFill/>
        </p:spPr>
        <p:txBody>
          <a:bodyPr wrap="square" lIns="0" rIns="0" tIns="0" bIns="0" anchor="b">
            <a:spAutoFit/>
          </a:bodyPr>
          <a:lstStyle/>
          <a:p>
            <a:pPr algn="ctr"/>
            <a:r>
              <a:rPr sz="1800" b="1" i="0" u="none">
                <a:solidFill>
                  <a:srgbClr val="0B2B4E"/>
                </a:solidFill>
                <a:latin typeface="Calibri"/>
              </a:rPr>
              <a:t>Left</a:t>
            </a:r>
          </a:p>
        </p:txBody>
      </p:sp>
      <p:sp>
        <p:nvSpPr>
          <p:cNvPr id="10" name="TextBox 9"/>
          <p:cNvSpPr txBox="1"/>
          <p:nvPr/>
        </p:nvSpPr>
        <p:spPr>
          <a:xfrm>
            <a:off x="6446520" y="3328416"/>
            <a:ext cx="2103120" cy="457200"/>
          </a:xfrm>
          <a:prstGeom prst="rect">
            <a:avLst/>
          </a:prstGeom>
          <a:noFill/>
        </p:spPr>
        <p:txBody>
          <a:bodyPr wrap="square" lIns="0" rIns="0" tIns="0" bIns="0" anchor="b">
            <a:spAutoFit/>
          </a:bodyPr>
          <a:lstStyle/>
          <a:p>
            <a:pPr algn="ctr"/>
            <a:r>
              <a:rPr sz="1800" b="1" i="0" u="none">
                <a:solidFill>
                  <a:srgbClr val="0B2B4E"/>
                </a:solidFill>
                <a:latin typeface="Calibri"/>
              </a:rPr>
              <a:t>Right</a:t>
            </a:r>
          </a:p>
        </p:txBody>
      </p:sp>
      <p:sp>
        <p:nvSpPr>
          <p:cNvPr id="11" name="TextBox 10"/>
          <p:cNvSpPr txBox="1"/>
          <p:nvPr/>
        </p:nvSpPr>
        <p:spPr>
          <a:xfrm rot="16200000">
            <a:off x="1261872" y="4517136"/>
            <a:ext cx="1737360" cy="384048"/>
          </a:xfrm>
          <a:prstGeom prst="rect">
            <a:avLst/>
          </a:prstGeom>
          <a:noFill/>
        </p:spPr>
        <p:txBody>
          <a:bodyPr wrap="square" lIns="0" rIns="0" tIns="0" bIns="0">
            <a:spAutoFit/>
          </a:bodyPr>
          <a:lstStyle/>
          <a:p>
            <a:pPr algn="ctr"/>
            <a:r>
              <a:rPr sz="2200" b="1" i="0" u="none">
                <a:solidFill>
                  <a:srgbClr val="0070C0"/>
                </a:solidFill>
                <a:latin typeface="Calibri"/>
              </a:rPr>
              <a:t>Kicker</a:t>
            </a:r>
          </a:p>
        </p:txBody>
      </p:sp>
      <p:sp>
        <p:nvSpPr>
          <p:cNvPr id="12" name="TextBox 11"/>
          <p:cNvSpPr txBox="1"/>
          <p:nvPr/>
        </p:nvSpPr>
        <p:spPr>
          <a:xfrm>
            <a:off x="2496312" y="393192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Left</a:t>
            </a:r>
          </a:p>
        </p:txBody>
      </p:sp>
      <p:sp>
        <p:nvSpPr>
          <p:cNvPr id="13" name="TextBox 12"/>
          <p:cNvSpPr txBox="1"/>
          <p:nvPr/>
        </p:nvSpPr>
        <p:spPr>
          <a:xfrm>
            <a:off x="2496312" y="480060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Right</a:t>
            </a:r>
          </a:p>
        </p:txBody>
      </p:sp>
      <p:sp>
        <p:nvSpPr>
          <p:cNvPr id="14" name="Rectangle 13"/>
          <p:cNvSpPr/>
          <p:nvPr/>
        </p:nvSpPr>
        <p:spPr>
          <a:xfrm>
            <a:off x="4343400" y="3840480"/>
            <a:ext cx="2103120" cy="86868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a:t>
            </a:r>
            <a:r>
              <a:rPr sz="2400" b="1">
                <a:solidFill>
                  <a:srgbClr val="0B2B4E"/>
                </a:solidFill>
                <a:latin typeface="Calibri"/>
              </a:rPr>
              <a:t> , </a:t>
            </a:r>
            <a:r>
              <a:rPr sz="2400" b="1">
                <a:solidFill>
                  <a:srgbClr val="E09F3E"/>
                </a:solidFill>
                <a:latin typeface="Calibri"/>
              </a:rPr>
              <a:t>1</a:t>
            </a:r>
          </a:p>
        </p:txBody>
      </p:sp>
      <p:sp>
        <p:nvSpPr>
          <p:cNvPr id="15" name="Rectangle 14"/>
          <p:cNvSpPr/>
          <p:nvPr/>
        </p:nvSpPr>
        <p:spPr>
          <a:xfrm>
            <a:off x="6446520" y="3840480"/>
            <a:ext cx="2103120" cy="86868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a:t>
            </a:r>
            <a:r>
              <a:rPr sz="2400" b="1">
                <a:solidFill>
                  <a:srgbClr val="0B2B4E"/>
                </a:solidFill>
                <a:latin typeface="Calibri"/>
              </a:rPr>
              <a:t> , </a:t>
            </a:r>
            <a:r>
              <a:rPr sz="2400" b="1">
                <a:solidFill>
                  <a:srgbClr val="E09F3E"/>
                </a:solidFill>
                <a:latin typeface="Calibri"/>
              </a:rPr>
              <a:t>-1</a:t>
            </a:r>
          </a:p>
        </p:txBody>
      </p:sp>
      <p:sp>
        <p:nvSpPr>
          <p:cNvPr id="16" name="Rectangle 15"/>
          <p:cNvSpPr/>
          <p:nvPr/>
        </p:nvSpPr>
        <p:spPr>
          <a:xfrm>
            <a:off x="4343400" y="4709160"/>
            <a:ext cx="2103120" cy="86868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a:t>
            </a:r>
            <a:r>
              <a:rPr sz="2400" b="1">
                <a:solidFill>
                  <a:srgbClr val="0B2B4E"/>
                </a:solidFill>
                <a:latin typeface="Calibri"/>
              </a:rPr>
              <a:t> , </a:t>
            </a:r>
            <a:r>
              <a:rPr sz="2400" b="1">
                <a:solidFill>
                  <a:srgbClr val="E09F3E"/>
                </a:solidFill>
                <a:latin typeface="Calibri"/>
              </a:rPr>
              <a:t>-1</a:t>
            </a:r>
          </a:p>
        </p:txBody>
      </p:sp>
      <p:sp>
        <p:nvSpPr>
          <p:cNvPr id="17" name="Rectangle 16"/>
          <p:cNvSpPr/>
          <p:nvPr/>
        </p:nvSpPr>
        <p:spPr>
          <a:xfrm>
            <a:off x="6446520" y="4709160"/>
            <a:ext cx="2103120" cy="86868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a:t>
            </a:r>
            <a:r>
              <a:rPr sz="2400" b="1">
                <a:solidFill>
                  <a:srgbClr val="0B2B4E"/>
                </a:solidFill>
                <a:latin typeface="Calibri"/>
              </a:rPr>
              <a:t> , </a:t>
            </a:r>
            <a:r>
              <a:rPr sz="2400" b="1">
                <a:solidFill>
                  <a:srgbClr val="E09F3E"/>
                </a:solidFill>
                <a:latin typeface="Calibri"/>
              </a:rPr>
              <a:t>1</a:t>
            </a:r>
          </a:p>
        </p:txBody>
      </p:sp>
      <p:sp>
        <p:nvSpPr>
          <p:cNvPr id="18" name="TextBox 17"/>
          <p:cNvSpPr txBox="1"/>
          <p:nvPr/>
        </p:nvSpPr>
        <p:spPr>
          <a:xfrm>
            <a:off x="3977640" y="5705856"/>
            <a:ext cx="4937760" cy="320040"/>
          </a:xfrm>
          <a:prstGeom prst="rect">
            <a:avLst/>
          </a:prstGeom>
          <a:noFill/>
        </p:spPr>
        <p:txBody>
          <a:bodyPr wrap="none">
            <a:spAutoFit/>
          </a:bodyPr>
          <a:lstStyle/>
          <a:p>
            <a:pPr algn="ctr"/>
            <a:r>
              <a:rPr sz="1500" i="1" b="0">
                <a:solidFill>
                  <a:srgbClr val="0B2B4E"/>
                </a:solidFill>
                <a:latin typeface="Calibri"/>
              </a:rPr>
              <a:t>Payoffs to (</a:t>
            </a:r>
            <a:r>
              <a:rPr sz="1500" i="1" b="1">
                <a:solidFill>
                  <a:srgbClr val="0070C0"/>
                </a:solidFill>
                <a:latin typeface="Calibri"/>
              </a:rPr>
              <a:t>Kicker</a:t>
            </a:r>
            <a:r>
              <a:rPr sz="1500" i="1" b="0">
                <a:solidFill>
                  <a:srgbClr val="0B2B4E"/>
                </a:solidFill>
                <a:latin typeface="Calibri"/>
              </a:rPr>
              <a:t>, </a:t>
            </a:r>
            <a:r>
              <a:rPr sz="1500" i="1" b="1">
                <a:solidFill>
                  <a:srgbClr val="E09F3E"/>
                </a:solidFill>
                <a:latin typeface="Calibri"/>
              </a:rPr>
              <a:t>Goalie</a:t>
            </a:r>
            <a:r>
              <a:rPr sz="1500" i="1" b="0">
                <a:solidFill>
                  <a:srgbClr val="0B2B4E"/>
                </a:solidFill>
                <a:latin typeface="Calibri"/>
              </a:rPr>
              <a:t>)</a:t>
            </a:r>
          </a:p>
        </p:txBody>
      </p:sp>
      <p:sp>
        <p:nvSpPr>
          <p:cNvPr id="19" name="Rectangle 18"/>
          <p:cNvSpPr/>
          <p:nvPr/>
        </p:nvSpPr>
        <p:spPr>
          <a:xfrm>
            <a:off x="9196496" y="5715000"/>
            <a:ext cx="2743200" cy="658368"/>
          </a:xfrm>
          <a:custGeom>
            <a:avLst/>
            <a:gdLst/>
            <a:ahLst/>
            <a:cxnLst/>
            <a:rect l="24000" t="0" r="76000" b="100000"/>
            <a:pathLst>
              <a:path w="100000" h="100000">
                <a:moveTo>
                  <a:pt x="29000" y="0"/>
                </a:moveTo>
                <a:lnTo>
                  <a:pt x="95000" y="0"/>
                </a:lnTo>
                <a:cubicBezTo>
                  <a:pt x="100000" y="0"/>
                  <a:pt x="100000" y="0"/>
                  <a:pt x="98800" y="5000"/>
                </a:cubicBezTo>
                <a:lnTo>
                  <a:pt x="77200" y="95000"/>
                </a:lnTo>
                <a:cubicBezTo>
                  <a:pt x="76000" y="100000"/>
                  <a:pt x="76000" y="100000"/>
                  <a:pt x="71000" y="100000"/>
                </a:cubicBezTo>
                <a:lnTo>
                  <a:pt x="5000" y="100000"/>
                </a:lnTo>
                <a:cubicBezTo>
                  <a:pt x="0" y="100000"/>
                  <a:pt x="0" y="100000"/>
                  <a:pt x="1200" y="95000"/>
                </a:cubicBezTo>
                <a:lnTo>
                  <a:pt x="22800" y="5000"/>
                </a:lnTo>
                <a:cubicBezTo>
                  <a:pt x="24000" y="0"/>
                  <a:pt x="24000" y="0"/>
                  <a:pt x="29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54864" y="5715000"/>
            <a:ext cx="1426464" cy="658368"/>
          </a:xfrm>
          <a:prstGeom prst="rect">
            <a:avLst/>
          </a:prstGeom>
          <a:noFill/>
        </p:spPr>
        <p:txBody>
          <a:bodyPr wrap="none" anchor="ctr" lIns="45720" rIns="45720" tIns="18288" bIns="18288">
            <a:spAutoFit/>
          </a:bodyPr>
          <a:lstStyle/>
          <a:p>
            <a:pPr algn="ctr"/>
            <a:r>
              <a:rPr sz="2800" b="1">
                <a:solidFill>
                  <a:srgbClr val="0B2B4E"/>
                </a:solidFill>
                <a:latin typeface="Calibri"/>
              </a:rPr>
              <a:t>Poll Break</a:t>
            </a:r>
          </a:p>
        </p:txBody>
      </p:sp>
      <p:sp>
        <p:nvSpPr>
          <p:cNvPr id="21" name="Rectangle 2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24" name="TextBox 23"/>
          <p:cNvSpPr txBox="1"/>
          <p:nvPr/>
        </p:nvSpPr>
        <p:spPr>
          <a:xfrm>
            <a:off x="11475720" y="6583680"/>
            <a:ext cx="502920" cy="292608"/>
          </a:xfrm>
          <a:prstGeom prst="rect">
            <a:avLst/>
          </a:prstGeom>
          <a:noFill/>
        </p:spPr>
        <p:txBody>
          <a:bodyPr wrap="none" lIns="0" rIns="0" tIns="0" bIns="0">
            <a:spAutoFit/>
          </a:bodyPr>
          <a:lstStyle/>
          <a:p>
            <a:pPr algn="r"/>
            <a:fld id="{95F52A97-9110-5D3A-9812-8ED842350C16}" type="slidenum">
              <a:rPr lang="en-US" sz="1200" dirty="0">
                <a:solidFill>
                  <a:srgbClr val="555B66"/>
                </a:solidFill>
                <a:latin typeface="Calibri"/>
              </a:rPr>
              <a:t>69</a:t>
            </a:fld>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Poll</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3108960"/>
            <a:ext cx="11687697" cy="731520"/>
          </a:xfrm>
          <a:prstGeom prst="rect">
            <a:avLst/>
          </a:prstGeom>
          <a:noFill/>
        </p:spPr>
        <p:txBody>
          <a:bodyPr wrap="square" lIns="0" rIns="0" tIns="0" bIns="0">
            <a:spAutoFit/>
          </a:bodyPr>
          <a:lstStyle/>
          <a:p>
            <a:pPr algn="ctr"/>
            <a:r>
              <a:rPr sz="2000" b="0" i="1" u="none">
                <a:solidFill>
                  <a:srgbClr val="555B66"/>
                </a:solidFill>
                <a:latin typeface="Calibri"/>
              </a:rPr>
              <a:t>[ PHASE 3 — PollEverywhere slide, spliced from source deck ]</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327A2D29-71F6-5585-9D62-197490195E56}" type="slidenum">
              <a:rPr lang="en-US" sz="1200" dirty="0">
                <a:solidFill>
                  <a:srgbClr val="555B66"/>
                </a:solidFill>
                <a:latin typeface="Calibri"/>
              </a:rPr>
              <a:t>70</a:t>
            </a:fld>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Penalty Kicks: Solution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43400" y="1709928"/>
            <a:ext cx="4206240" cy="384048"/>
          </a:xfrm>
          <a:prstGeom prst="rect">
            <a:avLst/>
          </a:prstGeom>
          <a:noFill/>
        </p:spPr>
        <p:txBody>
          <a:bodyPr wrap="square" lIns="0" rIns="0" tIns="0" bIns="0">
            <a:spAutoFit/>
          </a:bodyPr>
          <a:lstStyle/>
          <a:p>
            <a:pPr algn="ctr"/>
            <a:r>
              <a:rPr sz="2200" b="1" i="0" u="none">
                <a:solidFill>
                  <a:srgbClr val="E09F3E"/>
                </a:solidFill>
                <a:latin typeface="Calibri"/>
              </a:rPr>
              <a:t>Goalie</a:t>
            </a:r>
          </a:p>
        </p:txBody>
      </p:sp>
      <p:sp>
        <p:nvSpPr>
          <p:cNvPr id="8" name="TextBox 7"/>
          <p:cNvSpPr txBox="1"/>
          <p:nvPr/>
        </p:nvSpPr>
        <p:spPr>
          <a:xfrm>
            <a:off x="4343400" y="2093976"/>
            <a:ext cx="2103120" cy="457200"/>
          </a:xfrm>
          <a:prstGeom prst="rect">
            <a:avLst/>
          </a:prstGeom>
          <a:noFill/>
        </p:spPr>
        <p:txBody>
          <a:bodyPr wrap="square" lIns="0" rIns="0" tIns="0" bIns="0" anchor="b">
            <a:spAutoFit/>
          </a:bodyPr>
          <a:lstStyle/>
          <a:p>
            <a:pPr algn="ctr"/>
            <a:r>
              <a:rPr sz="1800" b="1" i="0" u="none">
                <a:solidFill>
                  <a:srgbClr val="0B2B4E"/>
                </a:solidFill>
                <a:latin typeface="Calibri"/>
              </a:rPr>
              <a:t>Left</a:t>
            </a:r>
          </a:p>
        </p:txBody>
      </p:sp>
      <p:sp>
        <p:nvSpPr>
          <p:cNvPr id="9" name="TextBox 8"/>
          <p:cNvSpPr txBox="1"/>
          <p:nvPr/>
        </p:nvSpPr>
        <p:spPr>
          <a:xfrm>
            <a:off x="6446520" y="2093976"/>
            <a:ext cx="2103120" cy="457200"/>
          </a:xfrm>
          <a:prstGeom prst="rect">
            <a:avLst/>
          </a:prstGeom>
          <a:noFill/>
        </p:spPr>
        <p:txBody>
          <a:bodyPr wrap="square" lIns="0" rIns="0" tIns="0" bIns="0" anchor="b">
            <a:spAutoFit/>
          </a:bodyPr>
          <a:lstStyle/>
          <a:p>
            <a:pPr algn="ctr"/>
            <a:r>
              <a:rPr sz="1800" b="1" i="0" u="none">
                <a:solidFill>
                  <a:srgbClr val="0B2B4E"/>
                </a:solidFill>
                <a:latin typeface="Calibri"/>
              </a:rPr>
              <a:t>Right</a:t>
            </a:r>
          </a:p>
        </p:txBody>
      </p:sp>
      <p:sp>
        <p:nvSpPr>
          <p:cNvPr id="10" name="TextBox 9"/>
          <p:cNvSpPr txBox="1"/>
          <p:nvPr/>
        </p:nvSpPr>
        <p:spPr>
          <a:xfrm rot="16200000">
            <a:off x="1216152" y="3328416"/>
            <a:ext cx="1828800" cy="384048"/>
          </a:xfrm>
          <a:prstGeom prst="rect">
            <a:avLst/>
          </a:prstGeom>
          <a:noFill/>
        </p:spPr>
        <p:txBody>
          <a:bodyPr wrap="square" lIns="0" rIns="0" tIns="0" bIns="0">
            <a:spAutoFit/>
          </a:bodyPr>
          <a:lstStyle/>
          <a:p>
            <a:pPr algn="ctr"/>
            <a:r>
              <a:rPr sz="2200" b="1" i="0" u="none">
                <a:solidFill>
                  <a:srgbClr val="0070C0"/>
                </a:solidFill>
                <a:latin typeface="Calibri"/>
              </a:rPr>
              <a:t>Kicker</a:t>
            </a:r>
          </a:p>
        </p:txBody>
      </p:sp>
      <p:sp>
        <p:nvSpPr>
          <p:cNvPr id="11" name="TextBox 10"/>
          <p:cNvSpPr txBox="1"/>
          <p:nvPr/>
        </p:nvSpPr>
        <p:spPr>
          <a:xfrm>
            <a:off x="2496312" y="272034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Left</a:t>
            </a:r>
          </a:p>
        </p:txBody>
      </p:sp>
      <p:sp>
        <p:nvSpPr>
          <p:cNvPr id="12" name="TextBox 11"/>
          <p:cNvSpPr txBox="1"/>
          <p:nvPr/>
        </p:nvSpPr>
        <p:spPr>
          <a:xfrm>
            <a:off x="2496312" y="363474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Right</a:t>
            </a:r>
          </a:p>
        </p:txBody>
      </p:sp>
      <p:sp>
        <p:nvSpPr>
          <p:cNvPr id="13" name="Rectangle 12"/>
          <p:cNvSpPr/>
          <p:nvPr/>
        </p:nvSpPr>
        <p:spPr>
          <a:xfrm>
            <a:off x="4343400" y="2606040"/>
            <a:ext cx="210312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a:t>
            </a:r>
            <a:r>
              <a:rPr sz="2400" b="1">
                <a:solidFill>
                  <a:srgbClr val="0B2B4E"/>
                </a:solidFill>
                <a:latin typeface="Calibri"/>
              </a:rPr>
              <a:t> , </a:t>
            </a:r>
            <a:r>
              <a:rPr sz="2400" b="1">
                <a:solidFill>
                  <a:srgbClr val="E09F3E"/>
                </a:solidFill>
                <a:latin typeface="Calibri"/>
              </a:rPr>
              <a:t>1</a:t>
            </a:r>
          </a:p>
        </p:txBody>
      </p:sp>
      <p:sp>
        <p:nvSpPr>
          <p:cNvPr id="14" name="Rectangle 13"/>
          <p:cNvSpPr/>
          <p:nvPr/>
        </p:nvSpPr>
        <p:spPr>
          <a:xfrm>
            <a:off x="6446520" y="2606040"/>
            <a:ext cx="210312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a:t>
            </a:r>
            <a:r>
              <a:rPr sz="2400" b="1">
                <a:solidFill>
                  <a:srgbClr val="0B2B4E"/>
                </a:solidFill>
                <a:latin typeface="Calibri"/>
              </a:rPr>
              <a:t> , </a:t>
            </a:r>
            <a:r>
              <a:rPr sz="2400" b="1">
                <a:solidFill>
                  <a:srgbClr val="E09F3E"/>
                </a:solidFill>
                <a:latin typeface="Calibri"/>
              </a:rPr>
              <a:t>-1</a:t>
            </a:r>
          </a:p>
        </p:txBody>
      </p:sp>
      <p:sp>
        <p:nvSpPr>
          <p:cNvPr id="15" name="Rectangle 14"/>
          <p:cNvSpPr/>
          <p:nvPr/>
        </p:nvSpPr>
        <p:spPr>
          <a:xfrm>
            <a:off x="4343400" y="3520440"/>
            <a:ext cx="210312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a:t>
            </a:r>
            <a:r>
              <a:rPr sz="2400" b="1">
                <a:solidFill>
                  <a:srgbClr val="0B2B4E"/>
                </a:solidFill>
                <a:latin typeface="Calibri"/>
              </a:rPr>
              <a:t> , </a:t>
            </a:r>
            <a:r>
              <a:rPr sz="2400" b="1">
                <a:solidFill>
                  <a:srgbClr val="E09F3E"/>
                </a:solidFill>
                <a:latin typeface="Calibri"/>
              </a:rPr>
              <a:t>-1</a:t>
            </a:r>
          </a:p>
        </p:txBody>
      </p:sp>
      <p:sp>
        <p:nvSpPr>
          <p:cNvPr id="16" name="Rectangle 15"/>
          <p:cNvSpPr/>
          <p:nvPr/>
        </p:nvSpPr>
        <p:spPr>
          <a:xfrm>
            <a:off x="6446520" y="3520440"/>
            <a:ext cx="210312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a:t>
            </a:r>
            <a:r>
              <a:rPr sz="2400" b="1">
                <a:solidFill>
                  <a:srgbClr val="0B2B4E"/>
                </a:solidFill>
                <a:latin typeface="Calibri"/>
              </a:rPr>
              <a:t> , </a:t>
            </a:r>
            <a:r>
              <a:rPr sz="2400" b="1">
                <a:solidFill>
                  <a:srgbClr val="E09F3E"/>
                </a:solidFill>
                <a:latin typeface="Calibri"/>
              </a:rPr>
              <a:t>1</a:t>
            </a:r>
          </a:p>
        </p:txBody>
      </p:sp>
      <p:sp>
        <p:nvSpPr>
          <p:cNvPr id="17" name="TextBox 16"/>
          <p:cNvSpPr txBox="1"/>
          <p:nvPr/>
        </p:nvSpPr>
        <p:spPr>
          <a:xfrm>
            <a:off x="3977640" y="4562856"/>
            <a:ext cx="4937760" cy="320040"/>
          </a:xfrm>
          <a:prstGeom prst="rect">
            <a:avLst/>
          </a:prstGeom>
          <a:noFill/>
        </p:spPr>
        <p:txBody>
          <a:bodyPr wrap="none">
            <a:spAutoFit/>
          </a:bodyPr>
          <a:lstStyle/>
          <a:p>
            <a:pPr algn="ctr"/>
            <a:r>
              <a:rPr sz="1500" i="1" b="0">
                <a:solidFill>
                  <a:srgbClr val="0B2B4E"/>
                </a:solidFill>
                <a:latin typeface="Calibri"/>
              </a:rPr>
              <a:t>Payoffs to (</a:t>
            </a:r>
            <a:r>
              <a:rPr sz="1500" i="1" b="1">
                <a:solidFill>
                  <a:srgbClr val="0070C0"/>
                </a:solidFill>
                <a:latin typeface="Calibri"/>
              </a:rPr>
              <a:t>Kicker</a:t>
            </a:r>
            <a:r>
              <a:rPr sz="1500" i="1" b="0">
                <a:solidFill>
                  <a:srgbClr val="0B2B4E"/>
                </a:solidFill>
                <a:latin typeface="Calibri"/>
              </a:rPr>
              <a:t>, </a:t>
            </a:r>
            <a:r>
              <a:rPr sz="1500" i="1" b="1">
                <a:solidFill>
                  <a:srgbClr val="E09F3E"/>
                </a:solidFill>
                <a:latin typeface="Calibri"/>
              </a:rPr>
              <a:t>Goalie</a:t>
            </a:r>
            <a:r>
              <a:rPr sz="1500" i="1" b="0">
                <a:solidFill>
                  <a:srgbClr val="0B2B4E"/>
                </a:solidFill>
                <a:latin typeface="Calibri"/>
              </a:rPr>
              <a:t>)</a:t>
            </a:r>
          </a:p>
        </p:txBody>
      </p:sp>
      <p:cxnSp>
        <p:nvCxnSpPr>
          <p:cNvPr id="18" name="Connector 17"/>
          <p:cNvCxnSpPr/>
          <p:nvPr/>
        </p:nvCxnSpPr>
        <p:spPr>
          <a:xfrm>
            <a:off x="5058460" y="3300984"/>
            <a:ext cx="0" cy="31089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774996" y="3767328"/>
            <a:ext cx="566928" cy="420624"/>
          </a:xfrm>
          <a:prstGeom prst="ellipse">
            <a:avLst/>
          </a:prstGeom>
          <a:noFill/>
          <a:ln w="285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7161580" y="3429000"/>
            <a:ext cx="0" cy="31089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6878116" y="2852928"/>
            <a:ext cx="566928" cy="420624"/>
          </a:xfrm>
          <a:prstGeom prst="ellipse">
            <a:avLst/>
          </a:prstGeom>
          <a:noFill/>
          <a:ln w="285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flipH="1">
            <a:off x="6060643" y="2788920"/>
            <a:ext cx="172821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5447995" y="2852928"/>
            <a:ext cx="566928" cy="420624"/>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5777179" y="3703320"/>
            <a:ext cx="172821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7551115" y="3767328"/>
            <a:ext cx="566928" cy="420624"/>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108960" y="5577840"/>
            <a:ext cx="5943600" cy="685800"/>
          </a:xfrm>
          <a:prstGeom prst="roundRect">
            <a:avLst>
              <a:gd name="adj" fmla="val 15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B2B4E"/>
                </a:solidFill>
                <a:latin typeface="Calibri"/>
              </a:rPr>
              <a:t>There is no (pure-strategy) Nash Equilibrium</a:t>
            </a:r>
          </a:p>
        </p:txBody>
      </p:sp>
      <p:sp>
        <p:nvSpPr>
          <p:cNvPr id="27" name="Rectangle 2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30" name="TextBox 29"/>
          <p:cNvSpPr txBox="1"/>
          <p:nvPr/>
        </p:nvSpPr>
        <p:spPr>
          <a:xfrm>
            <a:off x="11475720" y="6583680"/>
            <a:ext cx="502920" cy="292608"/>
          </a:xfrm>
          <a:prstGeom prst="rect">
            <a:avLst/>
          </a:prstGeom>
          <a:noFill/>
        </p:spPr>
        <p:txBody>
          <a:bodyPr wrap="none" lIns="0" rIns="0" tIns="0" bIns="0">
            <a:spAutoFit/>
          </a:bodyPr>
          <a:lstStyle/>
          <a:p>
            <a:pPr algn="r"/>
            <a:fld id="{4CA4096E-F3DD-5F43-98B5-CE734C20C66C}" type="slidenum">
              <a:rPr lang="en-US" sz="1200" dirty="0">
                <a:solidFill>
                  <a:srgbClr val="555B66"/>
                </a:solidFill>
                <a:latin typeface="Calibri"/>
              </a:rPr>
              <a:t>71</a:t>
            </a:fld>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Find the (Pure-Strategy) Nash Equilibrium</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20040" y="5257800"/>
            <a:ext cx="3017520" cy="100584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5367528"/>
            <a:ext cx="2651760" cy="786384"/>
          </a:xfrm>
          <a:prstGeom prst="rect">
            <a:avLst/>
          </a:prstGeom>
          <a:noFill/>
        </p:spPr>
        <p:txBody>
          <a:bodyPr wrap="square" lIns="45720" rIns="45720" tIns="0" bIns="0" anchor="ctr">
            <a:spAutoFit/>
          </a:bodyPr>
          <a:lstStyle/>
          <a:p>
            <a:pPr algn="l"/>
            <a:r>
              <a:rPr sz="1600" b="0" i="0" u="sng">
                <a:solidFill>
                  <a:srgbClr val="0B2B4E"/>
                </a:solidFill>
                <a:latin typeface="Calibri"/>
              </a:rPr>
              <a:t>Interpretation of payoffs:</a:t>
            </a:r>
          </a:p>
          <a:p>
            <a:pPr algn="l"/>
            <a:r>
              <a:rPr sz="1600" b="0" i="0" u="none">
                <a:solidFill>
                  <a:srgbClr val="0B2B4E"/>
                </a:solidFill>
                <a:latin typeface="Calibri"/>
              </a:rPr>
              <a:t>Firms' profits</a:t>
            </a:r>
          </a:p>
        </p:txBody>
      </p:sp>
      <p:sp>
        <p:nvSpPr>
          <p:cNvPr id="9" name="TextBox 8"/>
          <p:cNvSpPr txBox="1"/>
          <p:nvPr/>
        </p:nvSpPr>
        <p:spPr>
          <a:xfrm>
            <a:off x="4846320" y="1709928"/>
            <a:ext cx="5029200" cy="384048"/>
          </a:xfrm>
          <a:prstGeom prst="rect">
            <a:avLst/>
          </a:prstGeom>
          <a:noFill/>
        </p:spPr>
        <p:txBody>
          <a:bodyPr wrap="square" lIns="0" rIns="0" tIns="0" bIns="0">
            <a:spAutoFit/>
          </a:bodyPr>
          <a:lstStyle/>
          <a:p>
            <a:pPr algn="ctr"/>
            <a:r>
              <a:rPr sz="2200" b="1" i="0" u="none">
                <a:solidFill>
                  <a:srgbClr val="E09F3E"/>
                </a:solidFill>
                <a:latin typeface="Calibri"/>
              </a:rPr>
              <a:t>Pepsi</a:t>
            </a:r>
          </a:p>
        </p:txBody>
      </p:sp>
      <p:sp>
        <p:nvSpPr>
          <p:cNvPr id="10" name="TextBox 9"/>
          <p:cNvSpPr txBox="1"/>
          <p:nvPr/>
        </p:nvSpPr>
        <p:spPr>
          <a:xfrm>
            <a:off x="4846320" y="2093976"/>
            <a:ext cx="2514600" cy="457200"/>
          </a:xfrm>
          <a:prstGeom prst="rect">
            <a:avLst/>
          </a:prstGeom>
          <a:noFill/>
        </p:spPr>
        <p:txBody>
          <a:bodyPr wrap="square" lIns="0" rIns="0" tIns="0" bIns="0" anchor="b">
            <a:spAutoFit/>
          </a:bodyPr>
          <a:lstStyle/>
          <a:p>
            <a:pPr algn="ctr"/>
            <a:r>
              <a:rPr sz="1800" b="1" i="0" u="none">
                <a:solidFill>
                  <a:srgbClr val="0B2B4E"/>
                </a:solidFill>
                <a:latin typeface="Calibri"/>
              </a:rPr>
              <a:t>Advertise</a:t>
            </a:r>
          </a:p>
        </p:txBody>
      </p:sp>
      <p:sp>
        <p:nvSpPr>
          <p:cNvPr id="11" name="TextBox 10"/>
          <p:cNvSpPr txBox="1"/>
          <p:nvPr/>
        </p:nvSpPr>
        <p:spPr>
          <a:xfrm>
            <a:off x="7360920" y="2093976"/>
            <a:ext cx="2514600" cy="457200"/>
          </a:xfrm>
          <a:prstGeom prst="rect">
            <a:avLst/>
          </a:prstGeom>
          <a:noFill/>
        </p:spPr>
        <p:txBody>
          <a:bodyPr wrap="square" lIns="0" rIns="0" tIns="0" bIns="0" anchor="b">
            <a:spAutoFit/>
          </a:bodyPr>
          <a:lstStyle/>
          <a:p>
            <a:pPr algn="ctr"/>
            <a:r>
              <a:rPr sz="1800" b="1" i="0" u="none">
                <a:solidFill>
                  <a:srgbClr val="0B2B4E"/>
                </a:solidFill>
                <a:latin typeface="Calibri"/>
              </a:rPr>
              <a:t>Don't Advertise</a:t>
            </a:r>
          </a:p>
        </p:txBody>
      </p:sp>
      <p:sp>
        <p:nvSpPr>
          <p:cNvPr id="12" name="TextBox 11"/>
          <p:cNvSpPr txBox="1"/>
          <p:nvPr/>
        </p:nvSpPr>
        <p:spPr>
          <a:xfrm rot="16200000">
            <a:off x="1673352" y="3374136"/>
            <a:ext cx="1920240" cy="384048"/>
          </a:xfrm>
          <a:prstGeom prst="rect">
            <a:avLst/>
          </a:prstGeom>
          <a:noFill/>
        </p:spPr>
        <p:txBody>
          <a:bodyPr wrap="square" lIns="0" rIns="0" tIns="0" bIns="0">
            <a:spAutoFit/>
          </a:bodyPr>
          <a:lstStyle/>
          <a:p>
            <a:pPr algn="ctr"/>
            <a:r>
              <a:rPr sz="2200" b="1" i="0" u="none">
                <a:solidFill>
                  <a:srgbClr val="0070C0"/>
                </a:solidFill>
                <a:latin typeface="Calibri"/>
              </a:rPr>
              <a:t>Coke</a:t>
            </a:r>
          </a:p>
        </p:txBody>
      </p:sp>
      <p:sp>
        <p:nvSpPr>
          <p:cNvPr id="13" name="TextBox 12"/>
          <p:cNvSpPr txBox="1"/>
          <p:nvPr/>
        </p:nvSpPr>
        <p:spPr>
          <a:xfrm>
            <a:off x="2999232" y="274320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Advertise</a:t>
            </a:r>
          </a:p>
        </p:txBody>
      </p:sp>
      <p:sp>
        <p:nvSpPr>
          <p:cNvPr id="14" name="TextBox 13"/>
          <p:cNvSpPr txBox="1"/>
          <p:nvPr/>
        </p:nvSpPr>
        <p:spPr>
          <a:xfrm>
            <a:off x="2999232" y="370332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Don't
Advertise</a:t>
            </a:r>
          </a:p>
        </p:txBody>
      </p:sp>
      <p:sp>
        <p:nvSpPr>
          <p:cNvPr id="15" name="Rectangle 14"/>
          <p:cNvSpPr/>
          <p:nvPr/>
        </p:nvSpPr>
        <p:spPr>
          <a:xfrm>
            <a:off x="4846320" y="2606040"/>
            <a:ext cx="25146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150</a:t>
            </a:r>
            <a:r>
              <a:rPr sz="2400" b="1">
                <a:solidFill>
                  <a:srgbClr val="0B2B4E"/>
                </a:solidFill>
                <a:latin typeface="Calibri"/>
              </a:rPr>
              <a:t> , </a:t>
            </a:r>
            <a:r>
              <a:rPr sz="2400" b="1">
                <a:solidFill>
                  <a:srgbClr val="E09F3E"/>
                </a:solidFill>
                <a:latin typeface="Calibri"/>
              </a:rPr>
              <a:t>150</a:t>
            </a:r>
          </a:p>
        </p:txBody>
      </p:sp>
      <p:sp>
        <p:nvSpPr>
          <p:cNvPr id="16" name="Rectangle 15"/>
          <p:cNvSpPr/>
          <p:nvPr/>
        </p:nvSpPr>
        <p:spPr>
          <a:xfrm>
            <a:off x="7360920" y="2606040"/>
            <a:ext cx="25146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450</a:t>
            </a:r>
            <a:r>
              <a:rPr sz="2400" b="1">
                <a:solidFill>
                  <a:srgbClr val="0B2B4E"/>
                </a:solidFill>
                <a:latin typeface="Calibri"/>
              </a:rPr>
              <a:t> , </a:t>
            </a:r>
            <a:r>
              <a:rPr sz="2400" b="1">
                <a:solidFill>
                  <a:srgbClr val="E09F3E"/>
                </a:solidFill>
                <a:latin typeface="Calibri"/>
              </a:rPr>
              <a:t>-75</a:t>
            </a:r>
          </a:p>
        </p:txBody>
      </p:sp>
      <p:sp>
        <p:nvSpPr>
          <p:cNvPr id="17" name="Rectangle 16"/>
          <p:cNvSpPr/>
          <p:nvPr/>
        </p:nvSpPr>
        <p:spPr>
          <a:xfrm>
            <a:off x="4846320" y="3566160"/>
            <a:ext cx="25146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-75</a:t>
            </a:r>
            <a:r>
              <a:rPr sz="2400" b="1">
                <a:solidFill>
                  <a:srgbClr val="0B2B4E"/>
                </a:solidFill>
                <a:latin typeface="Calibri"/>
              </a:rPr>
              <a:t> , </a:t>
            </a:r>
            <a:r>
              <a:rPr sz="2400" b="1">
                <a:solidFill>
                  <a:srgbClr val="E09F3E"/>
                </a:solidFill>
                <a:latin typeface="Calibri"/>
              </a:rPr>
              <a:t>450</a:t>
            </a:r>
          </a:p>
        </p:txBody>
      </p:sp>
      <p:sp>
        <p:nvSpPr>
          <p:cNvPr id="18" name="Rectangle 17"/>
          <p:cNvSpPr/>
          <p:nvPr/>
        </p:nvSpPr>
        <p:spPr>
          <a:xfrm>
            <a:off x="7360920" y="3566160"/>
            <a:ext cx="25146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225</a:t>
            </a:r>
            <a:r>
              <a:rPr sz="2400" b="1">
                <a:solidFill>
                  <a:srgbClr val="0B2B4E"/>
                </a:solidFill>
                <a:latin typeface="Calibri"/>
              </a:rPr>
              <a:t> , </a:t>
            </a:r>
            <a:r>
              <a:rPr sz="2400" b="1">
                <a:solidFill>
                  <a:srgbClr val="E09F3E"/>
                </a:solidFill>
                <a:latin typeface="Calibri"/>
              </a:rPr>
              <a:t>225</a:t>
            </a:r>
          </a:p>
        </p:txBody>
      </p:sp>
      <p:sp>
        <p:nvSpPr>
          <p:cNvPr id="19" name="TextBox 18"/>
          <p:cNvSpPr txBox="1"/>
          <p:nvPr/>
        </p:nvSpPr>
        <p:spPr>
          <a:xfrm>
            <a:off x="4480560" y="4654296"/>
            <a:ext cx="5760720" cy="320040"/>
          </a:xfrm>
          <a:prstGeom prst="rect">
            <a:avLst/>
          </a:prstGeom>
          <a:noFill/>
        </p:spPr>
        <p:txBody>
          <a:bodyPr wrap="none">
            <a:spAutoFit/>
          </a:bodyPr>
          <a:lstStyle/>
          <a:p>
            <a:pPr algn="ctr"/>
            <a:r>
              <a:rPr sz="1500" i="1" b="0">
                <a:solidFill>
                  <a:srgbClr val="0B2B4E"/>
                </a:solidFill>
                <a:latin typeface="Calibri"/>
              </a:rPr>
              <a:t>Payoffs to (</a:t>
            </a:r>
            <a:r>
              <a:rPr sz="1500" i="1" b="1">
                <a:solidFill>
                  <a:srgbClr val="0070C0"/>
                </a:solidFill>
                <a:latin typeface="Calibri"/>
              </a:rPr>
              <a:t>Coke</a:t>
            </a:r>
            <a:r>
              <a:rPr sz="1500" i="1" b="0">
                <a:solidFill>
                  <a:srgbClr val="0B2B4E"/>
                </a:solidFill>
                <a:latin typeface="Calibri"/>
              </a:rPr>
              <a:t>, </a:t>
            </a:r>
            <a:r>
              <a:rPr sz="1500" i="1" b="1">
                <a:solidFill>
                  <a:srgbClr val="E09F3E"/>
                </a:solidFill>
                <a:latin typeface="Calibri"/>
              </a:rPr>
              <a:t>Pepsi</a:t>
            </a:r>
            <a:r>
              <a:rPr sz="1500" i="1" b="0">
                <a:solidFill>
                  <a:srgbClr val="0B2B4E"/>
                </a:solidFill>
                <a:latin typeface="Calibri"/>
              </a:rPr>
              <a:t>)</a:t>
            </a:r>
          </a:p>
        </p:txBody>
      </p:sp>
      <p:sp>
        <p:nvSpPr>
          <p:cNvPr id="20" name="Rectangle 19"/>
          <p:cNvSpPr/>
          <p:nvPr/>
        </p:nvSpPr>
        <p:spPr>
          <a:xfrm>
            <a:off x="9196496" y="5715000"/>
            <a:ext cx="2743200" cy="658368"/>
          </a:xfrm>
          <a:custGeom>
            <a:avLst/>
            <a:gdLst/>
            <a:ahLst/>
            <a:cxnLst/>
            <a:rect l="24000" t="0" r="76000" b="100000"/>
            <a:pathLst>
              <a:path w="100000" h="100000">
                <a:moveTo>
                  <a:pt x="29000" y="0"/>
                </a:moveTo>
                <a:lnTo>
                  <a:pt x="95000" y="0"/>
                </a:lnTo>
                <a:cubicBezTo>
                  <a:pt x="100000" y="0"/>
                  <a:pt x="100000" y="0"/>
                  <a:pt x="98800" y="5000"/>
                </a:cubicBezTo>
                <a:lnTo>
                  <a:pt x="77200" y="95000"/>
                </a:lnTo>
                <a:cubicBezTo>
                  <a:pt x="76000" y="100000"/>
                  <a:pt x="76000" y="100000"/>
                  <a:pt x="71000" y="100000"/>
                </a:cubicBezTo>
                <a:lnTo>
                  <a:pt x="5000" y="100000"/>
                </a:lnTo>
                <a:cubicBezTo>
                  <a:pt x="0" y="100000"/>
                  <a:pt x="0" y="100000"/>
                  <a:pt x="1200" y="95000"/>
                </a:cubicBezTo>
                <a:lnTo>
                  <a:pt x="22800" y="5000"/>
                </a:lnTo>
                <a:cubicBezTo>
                  <a:pt x="24000" y="0"/>
                  <a:pt x="24000" y="0"/>
                  <a:pt x="29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54864" y="5715000"/>
            <a:ext cx="1426464" cy="658368"/>
          </a:xfrm>
          <a:prstGeom prst="rect">
            <a:avLst/>
          </a:prstGeom>
          <a:noFill/>
        </p:spPr>
        <p:txBody>
          <a:bodyPr wrap="none" anchor="ctr" lIns="45720" rIns="45720" tIns="18288" bIns="18288">
            <a:spAutoFit/>
          </a:bodyPr>
          <a:lstStyle/>
          <a:p>
            <a:pPr algn="ctr"/>
            <a:r>
              <a:rPr sz="2800" b="1">
                <a:solidFill>
                  <a:srgbClr val="0B2B4E"/>
                </a:solidFill>
                <a:latin typeface="Calibri"/>
              </a:rPr>
              <a:t>Poll Break</a:t>
            </a:r>
          </a:p>
        </p:txBody>
      </p:sp>
      <p:sp>
        <p:nvSpPr>
          <p:cNvPr id="22" name="Rectangle 2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25" name="TextBox 24"/>
          <p:cNvSpPr txBox="1"/>
          <p:nvPr/>
        </p:nvSpPr>
        <p:spPr>
          <a:xfrm>
            <a:off x="11475720" y="6583680"/>
            <a:ext cx="502920" cy="292608"/>
          </a:xfrm>
          <a:prstGeom prst="rect">
            <a:avLst/>
          </a:prstGeom>
          <a:noFill/>
        </p:spPr>
        <p:txBody>
          <a:bodyPr wrap="none" lIns="0" rIns="0" tIns="0" bIns="0">
            <a:spAutoFit/>
          </a:bodyPr>
          <a:lstStyle/>
          <a:p>
            <a:pPr algn="r"/>
            <a:fld id="{ADC55505-68C9-57CD-BC54-9A131F72E404}" type="slidenum">
              <a:rPr lang="en-US" sz="1200" dirty="0">
                <a:solidFill>
                  <a:srgbClr val="555B66"/>
                </a:solidFill>
                <a:latin typeface="Calibri"/>
              </a:rPr>
              <a:t>72</a:t>
            </a:fld>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Poll</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3108960"/>
            <a:ext cx="11687697" cy="731520"/>
          </a:xfrm>
          <a:prstGeom prst="rect">
            <a:avLst/>
          </a:prstGeom>
          <a:noFill/>
        </p:spPr>
        <p:txBody>
          <a:bodyPr wrap="square" lIns="0" rIns="0" tIns="0" bIns="0">
            <a:spAutoFit/>
          </a:bodyPr>
          <a:lstStyle/>
          <a:p>
            <a:pPr algn="ctr"/>
            <a:r>
              <a:rPr sz="2000" b="0" i="1" u="none">
                <a:solidFill>
                  <a:srgbClr val="555B66"/>
                </a:solidFill>
                <a:latin typeface="Calibri"/>
              </a:rPr>
              <a:t>[ PHASE 3 — PollEverywhere slide, spliced from source deck ]</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A980B67D-D0AB-57E7-AF6D-59AAEDFA510C}" type="slidenum">
              <a:rPr lang="en-US" sz="1200" dirty="0">
                <a:solidFill>
                  <a:srgbClr val="555B66"/>
                </a:solidFill>
                <a:latin typeface="Calibri"/>
              </a:rPr>
              <a:t>73</a:t>
            </a:fld>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Pepsi vs. Coke: Solution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46320" y="1709928"/>
            <a:ext cx="5029200" cy="384048"/>
          </a:xfrm>
          <a:prstGeom prst="rect">
            <a:avLst/>
          </a:prstGeom>
          <a:noFill/>
        </p:spPr>
        <p:txBody>
          <a:bodyPr wrap="square" lIns="0" rIns="0" tIns="0" bIns="0">
            <a:spAutoFit/>
          </a:bodyPr>
          <a:lstStyle/>
          <a:p>
            <a:pPr algn="ctr"/>
            <a:r>
              <a:rPr sz="2200" b="1" i="0" u="none">
                <a:solidFill>
                  <a:srgbClr val="E09F3E"/>
                </a:solidFill>
                <a:latin typeface="Calibri"/>
              </a:rPr>
              <a:t>Pepsi</a:t>
            </a:r>
          </a:p>
        </p:txBody>
      </p:sp>
      <p:sp>
        <p:nvSpPr>
          <p:cNvPr id="8" name="TextBox 7"/>
          <p:cNvSpPr txBox="1"/>
          <p:nvPr/>
        </p:nvSpPr>
        <p:spPr>
          <a:xfrm>
            <a:off x="4846320" y="2093976"/>
            <a:ext cx="2514600" cy="457200"/>
          </a:xfrm>
          <a:prstGeom prst="rect">
            <a:avLst/>
          </a:prstGeom>
          <a:noFill/>
        </p:spPr>
        <p:txBody>
          <a:bodyPr wrap="square" lIns="0" rIns="0" tIns="0" bIns="0" anchor="b">
            <a:spAutoFit/>
          </a:bodyPr>
          <a:lstStyle/>
          <a:p>
            <a:pPr algn="ctr"/>
            <a:r>
              <a:rPr sz="1800" b="1" i="0" u="none">
                <a:solidFill>
                  <a:srgbClr val="0B2B4E"/>
                </a:solidFill>
                <a:latin typeface="Calibri"/>
              </a:rPr>
              <a:t>Advertise</a:t>
            </a:r>
          </a:p>
        </p:txBody>
      </p:sp>
      <p:sp>
        <p:nvSpPr>
          <p:cNvPr id="9" name="TextBox 8"/>
          <p:cNvSpPr txBox="1"/>
          <p:nvPr/>
        </p:nvSpPr>
        <p:spPr>
          <a:xfrm>
            <a:off x="7360920" y="2093976"/>
            <a:ext cx="2514600" cy="457200"/>
          </a:xfrm>
          <a:prstGeom prst="rect">
            <a:avLst/>
          </a:prstGeom>
          <a:noFill/>
        </p:spPr>
        <p:txBody>
          <a:bodyPr wrap="square" lIns="0" rIns="0" tIns="0" bIns="0" anchor="b">
            <a:spAutoFit/>
          </a:bodyPr>
          <a:lstStyle/>
          <a:p>
            <a:pPr algn="ctr"/>
            <a:r>
              <a:rPr sz="1800" b="1" i="0" u="none">
                <a:solidFill>
                  <a:srgbClr val="0B2B4E"/>
                </a:solidFill>
                <a:latin typeface="Calibri"/>
              </a:rPr>
              <a:t>Don't Advertise</a:t>
            </a:r>
          </a:p>
        </p:txBody>
      </p:sp>
      <p:sp>
        <p:nvSpPr>
          <p:cNvPr id="10" name="TextBox 9"/>
          <p:cNvSpPr txBox="1"/>
          <p:nvPr/>
        </p:nvSpPr>
        <p:spPr>
          <a:xfrm rot="16200000">
            <a:off x="1673352" y="3374136"/>
            <a:ext cx="1920240" cy="384048"/>
          </a:xfrm>
          <a:prstGeom prst="rect">
            <a:avLst/>
          </a:prstGeom>
          <a:noFill/>
        </p:spPr>
        <p:txBody>
          <a:bodyPr wrap="square" lIns="0" rIns="0" tIns="0" bIns="0">
            <a:spAutoFit/>
          </a:bodyPr>
          <a:lstStyle/>
          <a:p>
            <a:pPr algn="ctr"/>
            <a:r>
              <a:rPr sz="2200" b="1" i="0" u="none">
                <a:solidFill>
                  <a:srgbClr val="0070C0"/>
                </a:solidFill>
                <a:latin typeface="Calibri"/>
              </a:rPr>
              <a:t>Coke</a:t>
            </a:r>
          </a:p>
        </p:txBody>
      </p:sp>
      <p:sp>
        <p:nvSpPr>
          <p:cNvPr id="11" name="TextBox 10"/>
          <p:cNvSpPr txBox="1"/>
          <p:nvPr/>
        </p:nvSpPr>
        <p:spPr>
          <a:xfrm>
            <a:off x="2999232" y="274320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Advertise</a:t>
            </a:r>
          </a:p>
        </p:txBody>
      </p:sp>
      <p:sp>
        <p:nvSpPr>
          <p:cNvPr id="12" name="TextBox 11"/>
          <p:cNvSpPr txBox="1"/>
          <p:nvPr/>
        </p:nvSpPr>
        <p:spPr>
          <a:xfrm>
            <a:off x="2999232" y="370332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Don't
Advertise</a:t>
            </a:r>
          </a:p>
        </p:txBody>
      </p:sp>
      <p:sp>
        <p:nvSpPr>
          <p:cNvPr id="13" name="Rectangle 12"/>
          <p:cNvSpPr/>
          <p:nvPr/>
        </p:nvSpPr>
        <p:spPr>
          <a:xfrm>
            <a:off x="4846320" y="2606040"/>
            <a:ext cx="25146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150</a:t>
            </a:r>
            <a:r>
              <a:rPr sz="2400" b="1">
                <a:solidFill>
                  <a:srgbClr val="0B2B4E"/>
                </a:solidFill>
                <a:latin typeface="Calibri"/>
              </a:rPr>
              <a:t> , </a:t>
            </a:r>
            <a:r>
              <a:rPr sz="2400" b="1">
                <a:solidFill>
                  <a:srgbClr val="E09F3E"/>
                </a:solidFill>
                <a:latin typeface="Calibri"/>
              </a:rPr>
              <a:t>150</a:t>
            </a:r>
          </a:p>
        </p:txBody>
      </p:sp>
      <p:sp>
        <p:nvSpPr>
          <p:cNvPr id="14" name="Rectangle 13"/>
          <p:cNvSpPr/>
          <p:nvPr/>
        </p:nvSpPr>
        <p:spPr>
          <a:xfrm>
            <a:off x="7360920" y="2606040"/>
            <a:ext cx="25146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450</a:t>
            </a:r>
            <a:r>
              <a:rPr sz="2400" b="1">
                <a:solidFill>
                  <a:srgbClr val="0B2B4E"/>
                </a:solidFill>
                <a:latin typeface="Calibri"/>
              </a:rPr>
              <a:t> , </a:t>
            </a:r>
            <a:r>
              <a:rPr sz="2400" b="1">
                <a:solidFill>
                  <a:srgbClr val="E09F3E"/>
                </a:solidFill>
                <a:latin typeface="Calibri"/>
              </a:rPr>
              <a:t>-75</a:t>
            </a:r>
          </a:p>
        </p:txBody>
      </p:sp>
      <p:sp>
        <p:nvSpPr>
          <p:cNvPr id="15" name="Rectangle 14"/>
          <p:cNvSpPr/>
          <p:nvPr/>
        </p:nvSpPr>
        <p:spPr>
          <a:xfrm>
            <a:off x="4846320" y="3566160"/>
            <a:ext cx="25146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-75</a:t>
            </a:r>
            <a:r>
              <a:rPr sz="2400" b="1">
                <a:solidFill>
                  <a:srgbClr val="0B2B4E"/>
                </a:solidFill>
                <a:latin typeface="Calibri"/>
              </a:rPr>
              <a:t> , </a:t>
            </a:r>
            <a:r>
              <a:rPr sz="2400" b="1">
                <a:solidFill>
                  <a:srgbClr val="E09F3E"/>
                </a:solidFill>
                <a:latin typeface="Calibri"/>
              </a:rPr>
              <a:t>450</a:t>
            </a:r>
          </a:p>
        </p:txBody>
      </p:sp>
      <p:sp>
        <p:nvSpPr>
          <p:cNvPr id="16" name="Rectangle 15"/>
          <p:cNvSpPr/>
          <p:nvPr/>
        </p:nvSpPr>
        <p:spPr>
          <a:xfrm>
            <a:off x="7360920" y="3566160"/>
            <a:ext cx="25146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225</a:t>
            </a:r>
            <a:r>
              <a:rPr sz="2400" b="1">
                <a:solidFill>
                  <a:srgbClr val="0B2B4E"/>
                </a:solidFill>
                <a:latin typeface="Calibri"/>
              </a:rPr>
              <a:t> , </a:t>
            </a:r>
            <a:r>
              <a:rPr sz="2400" b="1">
                <a:solidFill>
                  <a:srgbClr val="E09F3E"/>
                </a:solidFill>
                <a:latin typeface="Calibri"/>
              </a:rPr>
              <a:t>225</a:t>
            </a:r>
          </a:p>
        </p:txBody>
      </p:sp>
      <p:sp>
        <p:nvSpPr>
          <p:cNvPr id="17" name="Oval 16"/>
          <p:cNvSpPr/>
          <p:nvPr/>
        </p:nvSpPr>
        <p:spPr>
          <a:xfrm>
            <a:off x="4745736" y="2514600"/>
            <a:ext cx="2715768" cy="1143000"/>
          </a:xfrm>
          <a:prstGeom prst="ellipse">
            <a:avLst/>
          </a:prstGeom>
          <a:noFill/>
          <a:ln w="349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4654296"/>
            <a:ext cx="5760720" cy="320040"/>
          </a:xfrm>
          <a:prstGeom prst="rect">
            <a:avLst/>
          </a:prstGeom>
          <a:noFill/>
        </p:spPr>
        <p:txBody>
          <a:bodyPr wrap="none">
            <a:spAutoFit/>
          </a:bodyPr>
          <a:lstStyle/>
          <a:p>
            <a:pPr algn="ctr"/>
            <a:r>
              <a:rPr sz="1500" i="1" b="0">
                <a:solidFill>
                  <a:srgbClr val="0B2B4E"/>
                </a:solidFill>
                <a:latin typeface="Calibri"/>
              </a:rPr>
              <a:t>Payoffs to (</a:t>
            </a:r>
            <a:r>
              <a:rPr sz="1500" i="1" b="1">
                <a:solidFill>
                  <a:srgbClr val="0070C0"/>
                </a:solidFill>
                <a:latin typeface="Calibri"/>
              </a:rPr>
              <a:t>Coke</a:t>
            </a:r>
            <a:r>
              <a:rPr sz="1500" i="1" b="0">
                <a:solidFill>
                  <a:srgbClr val="0B2B4E"/>
                </a:solidFill>
                <a:latin typeface="Calibri"/>
              </a:rPr>
              <a:t>, </a:t>
            </a:r>
            <a:r>
              <a:rPr sz="1500" i="1" b="1">
                <a:solidFill>
                  <a:srgbClr val="E09F3E"/>
                </a:solidFill>
                <a:latin typeface="Calibri"/>
              </a:rPr>
              <a:t>Pepsi</a:t>
            </a:r>
            <a:r>
              <a:rPr sz="1500" i="1" b="0">
                <a:solidFill>
                  <a:srgbClr val="0B2B4E"/>
                </a:solidFill>
                <a:latin typeface="Calibri"/>
              </a:rPr>
              <a:t>)</a:t>
            </a:r>
          </a:p>
        </p:txBody>
      </p:sp>
      <p:cxnSp>
        <p:nvCxnSpPr>
          <p:cNvPr id="19" name="Connector 18"/>
          <p:cNvCxnSpPr/>
          <p:nvPr/>
        </p:nvCxnSpPr>
        <p:spPr>
          <a:xfrm flipV="1">
            <a:off x="5701284" y="3451860"/>
            <a:ext cx="0" cy="35661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417820" y="2875788"/>
            <a:ext cx="566928" cy="420624"/>
          </a:xfrm>
          <a:prstGeom prst="ellipse">
            <a:avLst/>
          </a:prstGeom>
          <a:noFill/>
          <a:ln w="285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flipV="1">
            <a:off x="8215884" y="3451860"/>
            <a:ext cx="0" cy="35661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7932420" y="2875788"/>
            <a:ext cx="566928" cy="420624"/>
          </a:xfrm>
          <a:prstGeom prst="ellipse">
            <a:avLst/>
          </a:prstGeom>
          <a:noFill/>
          <a:ln w="285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a:off x="6835140" y="2811780"/>
            <a:ext cx="213969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6222492" y="2875788"/>
            <a:ext cx="566928" cy="420624"/>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flipH="1">
            <a:off x="6835140" y="3771900"/>
            <a:ext cx="213969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6222492" y="3835908"/>
            <a:ext cx="566928" cy="420624"/>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20040" y="5120640"/>
            <a:ext cx="3017520" cy="100584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5230368"/>
            <a:ext cx="2651760" cy="786384"/>
          </a:xfrm>
          <a:prstGeom prst="rect">
            <a:avLst/>
          </a:prstGeom>
          <a:noFill/>
        </p:spPr>
        <p:txBody>
          <a:bodyPr wrap="square" lIns="45720" rIns="45720" tIns="0" bIns="0" anchor="ctr">
            <a:spAutoFit/>
          </a:bodyPr>
          <a:lstStyle/>
          <a:p>
            <a:pPr algn="l"/>
            <a:r>
              <a:rPr sz="1600" b="0" i="0" u="sng">
                <a:solidFill>
                  <a:srgbClr val="0B2B4E"/>
                </a:solidFill>
                <a:latin typeface="Calibri"/>
              </a:rPr>
              <a:t>Interpretation of payoffs:</a:t>
            </a:r>
          </a:p>
          <a:p>
            <a:pPr algn="l"/>
            <a:r>
              <a:rPr sz="1600" b="0" i="0" u="none">
                <a:solidFill>
                  <a:srgbClr val="0B2B4E"/>
                </a:solidFill>
                <a:latin typeface="Calibri"/>
              </a:rPr>
              <a:t>Firms' profits</a:t>
            </a:r>
          </a:p>
        </p:txBody>
      </p:sp>
      <p:sp>
        <p:nvSpPr>
          <p:cNvPr id="29" name="Rounded Rectangle 28"/>
          <p:cNvSpPr/>
          <p:nvPr/>
        </p:nvSpPr>
        <p:spPr>
          <a:xfrm>
            <a:off x="3657600" y="5623560"/>
            <a:ext cx="6035040" cy="640080"/>
          </a:xfrm>
          <a:prstGeom prst="roundRect">
            <a:avLst>
              <a:gd name="adj" fmla="val 15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Both advertise — lower profits than if they could coordinate</a:t>
            </a:r>
          </a:p>
        </p:txBody>
      </p:sp>
      <p:sp>
        <p:nvSpPr>
          <p:cNvPr id="30" name="Rectangle 2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33" name="TextBox 32"/>
          <p:cNvSpPr txBox="1"/>
          <p:nvPr/>
        </p:nvSpPr>
        <p:spPr>
          <a:xfrm>
            <a:off x="11475720" y="6583680"/>
            <a:ext cx="502920" cy="292608"/>
          </a:xfrm>
          <a:prstGeom prst="rect">
            <a:avLst/>
          </a:prstGeom>
          <a:noFill/>
        </p:spPr>
        <p:txBody>
          <a:bodyPr wrap="none" lIns="0" rIns="0" tIns="0" bIns="0">
            <a:spAutoFit/>
          </a:bodyPr>
          <a:lstStyle/>
          <a:p>
            <a:pPr algn="r"/>
            <a:fld id="{4AB13D2E-ACD1-53EC-8F7E-E53F5E38D15C}" type="slidenum">
              <a:rPr lang="en-US" sz="1200" dirty="0">
                <a:solidFill>
                  <a:srgbClr val="555B66"/>
                </a:solidFill>
                <a:latin typeface="Calibri"/>
              </a:rPr>
              <a:t>74</a:t>
            </a:fld>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Game Theory on TV: Split or Steal?</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3108960"/>
            <a:ext cx="11687697" cy="731520"/>
          </a:xfrm>
          <a:prstGeom prst="rect">
            <a:avLst/>
          </a:prstGeom>
          <a:noFill/>
        </p:spPr>
        <p:txBody>
          <a:bodyPr wrap="square" lIns="0" rIns="0" tIns="0" bIns="0">
            <a:spAutoFit/>
          </a:bodyPr>
          <a:lstStyle/>
          <a:p>
            <a:pPr algn="ctr"/>
            <a:r>
              <a:rPr sz="2000" b="0" i="1" u="none">
                <a:solidFill>
                  <a:srgbClr val="555B66"/>
                </a:solidFill>
                <a:latin typeface="Calibri"/>
              </a:rPr>
              <a:t>[ PHASE 3 — video slide, spliced from source deck ]</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4520388C-D711-5FC3-8165-51AD2AE62604}" type="slidenum">
              <a:rPr lang="en-US" sz="1200" dirty="0">
                <a:solidFill>
                  <a:srgbClr val="555B66"/>
                </a:solidFill>
                <a:latin typeface="Calibri"/>
              </a:rPr>
              <a:t>75</a:t>
            </a:fld>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“Split or Steal”: Payoff Matrix</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508760"/>
            <a:ext cx="11338560" cy="1188720"/>
          </a:xfrm>
          <a:prstGeom prst="rect">
            <a:avLst/>
          </a:prstGeom>
          <a:noFill/>
        </p:spPr>
        <p:txBody>
          <a:bodyPr wrap="square" lIns="0" rIns="0" tIns="0" bIns="0">
            <a:spAutoFit/>
          </a:bodyPr>
          <a:lstStyle>
            <a:lvl1pPr marL="342900" indent="-342900">
              <a:spcBef>
                <a:spcPts val="60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a:latin typeface="Calibri"/>
              </a:rPr>
              <a:t>We assume that good reputation (when splitting) is worth £5k (while bad reputation is worth £0)</a:t>
            </a:r>
          </a:p>
          <a:p>
            <a:pPr algn="l"/>
            <a:r>
              <a:rPr>
                <a:latin typeface="Calibri"/>
              </a:rPr>
              <a:t>We round the total jackpot to £100k</a:t>
            </a:r>
          </a:p>
        </p:txBody>
      </p:sp>
      <p:sp>
        <p:nvSpPr>
          <p:cNvPr id="8" name="TextBox 7"/>
          <p:cNvSpPr txBox="1"/>
          <p:nvPr/>
        </p:nvSpPr>
        <p:spPr>
          <a:xfrm>
            <a:off x="4434840" y="2350008"/>
            <a:ext cx="4572000" cy="384048"/>
          </a:xfrm>
          <a:prstGeom prst="rect">
            <a:avLst/>
          </a:prstGeom>
          <a:noFill/>
        </p:spPr>
        <p:txBody>
          <a:bodyPr wrap="square" lIns="0" rIns="0" tIns="0" bIns="0">
            <a:spAutoFit/>
          </a:bodyPr>
          <a:lstStyle/>
          <a:p>
            <a:pPr algn="ctr"/>
            <a:r>
              <a:rPr sz="2200" b="1" i="0" u="none">
                <a:solidFill>
                  <a:srgbClr val="E09F3E"/>
                </a:solidFill>
                <a:latin typeface="Calibri"/>
              </a:rPr>
              <a:t>Sarah</a:t>
            </a:r>
          </a:p>
        </p:txBody>
      </p:sp>
      <p:sp>
        <p:nvSpPr>
          <p:cNvPr id="9" name="TextBox 8"/>
          <p:cNvSpPr txBox="1"/>
          <p:nvPr/>
        </p:nvSpPr>
        <p:spPr>
          <a:xfrm>
            <a:off x="4434840" y="2734056"/>
            <a:ext cx="2286000" cy="457200"/>
          </a:xfrm>
          <a:prstGeom prst="rect">
            <a:avLst/>
          </a:prstGeom>
          <a:noFill/>
        </p:spPr>
        <p:txBody>
          <a:bodyPr wrap="square" lIns="0" rIns="0" tIns="0" bIns="0" anchor="b">
            <a:spAutoFit/>
          </a:bodyPr>
          <a:lstStyle/>
          <a:p>
            <a:pPr algn="ctr"/>
            <a:r>
              <a:rPr sz="1800" b="1" i="0" u="none">
                <a:solidFill>
                  <a:srgbClr val="0B2B4E"/>
                </a:solidFill>
                <a:latin typeface="Calibri"/>
              </a:rPr>
              <a:t>Split</a:t>
            </a:r>
          </a:p>
        </p:txBody>
      </p:sp>
      <p:sp>
        <p:nvSpPr>
          <p:cNvPr id="10" name="TextBox 9"/>
          <p:cNvSpPr txBox="1"/>
          <p:nvPr/>
        </p:nvSpPr>
        <p:spPr>
          <a:xfrm>
            <a:off x="6720840" y="2734056"/>
            <a:ext cx="2286000" cy="457200"/>
          </a:xfrm>
          <a:prstGeom prst="rect">
            <a:avLst/>
          </a:prstGeom>
          <a:noFill/>
        </p:spPr>
        <p:txBody>
          <a:bodyPr wrap="square" lIns="0" rIns="0" tIns="0" bIns="0" anchor="b">
            <a:spAutoFit/>
          </a:bodyPr>
          <a:lstStyle/>
          <a:p>
            <a:pPr algn="ctr"/>
            <a:r>
              <a:rPr sz="1800" b="1" i="0" u="none">
                <a:solidFill>
                  <a:srgbClr val="0B2B4E"/>
                </a:solidFill>
                <a:latin typeface="Calibri"/>
              </a:rPr>
              <a:t>Steal</a:t>
            </a:r>
          </a:p>
        </p:txBody>
      </p:sp>
      <p:sp>
        <p:nvSpPr>
          <p:cNvPr id="11" name="TextBox 10"/>
          <p:cNvSpPr txBox="1"/>
          <p:nvPr/>
        </p:nvSpPr>
        <p:spPr>
          <a:xfrm rot="16200000">
            <a:off x="1261872" y="4014216"/>
            <a:ext cx="1920240" cy="384048"/>
          </a:xfrm>
          <a:prstGeom prst="rect">
            <a:avLst/>
          </a:prstGeom>
          <a:noFill/>
        </p:spPr>
        <p:txBody>
          <a:bodyPr wrap="square" lIns="0" rIns="0" tIns="0" bIns="0">
            <a:spAutoFit/>
          </a:bodyPr>
          <a:lstStyle/>
          <a:p>
            <a:pPr algn="ctr"/>
            <a:r>
              <a:rPr sz="2200" b="1" i="0" u="none">
                <a:solidFill>
                  <a:srgbClr val="0070C0"/>
                </a:solidFill>
                <a:latin typeface="Calibri"/>
              </a:rPr>
              <a:t>Steven</a:t>
            </a:r>
          </a:p>
        </p:txBody>
      </p:sp>
      <p:sp>
        <p:nvSpPr>
          <p:cNvPr id="12" name="TextBox 11"/>
          <p:cNvSpPr txBox="1"/>
          <p:nvPr/>
        </p:nvSpPr>
        <p:spPr>
          <a:xfrm>
            <a:off x="2587752" y="338328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Split</a:t>
            </a:r>
          </a:p>
        </p:txBody>
      </p:sp>
      <p:sp>
        <p:nvSpPr>
          <p:cNvPr id="13" name="TextBox 12"/>
          <p:cNvSpPr txBox="1"/>
          <p:nvPr/>
        </p:nvSpPr>
        <p:spPr>
          <a:xfrm>
            <a:off x="2587752" y="434340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Steal</a:t>
            </a:r>
          </a:p>
        </p:txBody>
      </p:sp>
      <p:sp>
        <p:nvSpPr>
          <p:cNvPr id="14" name="Rectangle 13"/>
          <p:cNvSpPr/>
          <p:nvPr/>
        </p:nvSpPr>
        <p:spPr>
          <a:xfrm>
            <a:off x="4434840" y="3246120"/>
            <a:ext cx="22860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0070C0"/>
                </a:solidFill>
                <a:latin typeface="Calibri"/>
              </a:rPr>
              <a:t>£55</a:t>
            </a:r>
            <a:r>
              <a:rPr sz="2200" b="1">
                <a:solidFill>
                  <a:srgbClr val="0B2B4E"/>
                </a:solidFill>
                <a:latin typeface="Calibri"/>
              </a:rPr>
              <a:t> , </a:t>
            </a:r>
            <a:r>
              <a:rPr sz="2200" b="1">
                <a:solidFill>
                  <a:srgbClr val="E09F3E"/>
                </a:solidFill>
                <a:latin typeface="Calibri"/>
              </a:rPr>
              <a:t>£55</a:t>
            </a:r>
          </a:p>
        </p:txBody>
      </p:sp>
      <p:sp>
        <p:nvSpPr>
          <p:cNvPr id="15" name="Rectangle 14"/>
          <p:cNvSpPr/>
          <p:nvPr/>
        </p:nvSpPr>
        <p:spPr>
          <a:xfrm>
            <a:off x="6720840" y="3246120"/>
            <a:ext cx="22860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0070C0"/>
                </a:solidFill>
                <a:latin typeface="Calibri"/>
              </a:rPr>
              <a:t>£5</a:t>
            </a:r>
            <a:r>
              <a:rPr sz="2200" b="1">
                <a:solidFill>
                  <a:srgbClr val="0B2B4E"/>
                </a:solidFill>
                <a:latin typeface="Calibri"/>
              </a:rPr>
              <a:t> , </a:t>
            </a:r>
            <a:r>
              <a:rPr sz="2200" b="1">
                <a:solidFill>
                  <a:srgbClr val="E09F3E"/>
                </a:solidFill>
                <a:latin typeface="Calibri"/>
              </a:rPr>
              <a:t>£100</a:t>
            </a:r>
          </a:p>
        </p:txBody>
      </p:sp>
      <p:sp>
        <p:nvSpPr>
          <p:cNvPr id="16" name="Rectangle 15"/>
          <p:cNvSpPr/>
          <p:nvPr/>
        </p:nvSpPr>
        <p:spPr>
          <a:xfrm>
            <a:off x="4434840" y="4206240"/>
            <a:ext cx="22860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0070C0"/>
                </a:solidFill>
                <a:latin typeface="Calibri"/>
              </a:rPr>
              <a:t>£100</a:t>
            </a:r>
            <a:r>
              <a:rPr sz="2200" b="1">
                <a:solidFill>
                  <a:srgbClr val="0B2B4E"/>
                </a:solidFill>
                <a:latin typeface="Calibri"/>
              </a:rPr>
              <a:t> , </a:t>
            </a:r>
            <a:r>
              <a:rPr sz="2200" b="1">
                <a:solidFill>
                  <a:srgbClr val="E09F3E"/>
                </a:solidFill>
                <a:latin typeface="Calibri"/>
              </a:rPr>
              <a:t>£5</a:t>
            </a:r>
          </a:p>
        </p:txBody>
      </p:sp>
      <p:sp>
        <p:nvSpPr>
          <p:cNvPr id="17" name="Rectangle 16"/>
          <p:cNvSpPr/>
          <p:nvPr/>
        </p:nvSpPr>
        <p:spPr>
          <a:xfrm>
            <a:off x="6720840" y="4206240"/>
            <a:ext cx="22860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0070C0"/>
                </a:solidFill>
                <a:latin typeface="Calibri"/>
              </a:rPr>
              <a:t>£0</a:t>
            </a:r>
            <a:r>
              <a:rPr sz="2200" b="1">
                <a:solidFill>
                  <a:srgbClr val="0B2B4E"/>
                </a:solidFill>
                <a:latin typeface="Calibri"/>
              </a:rPr>
              <a:t> , </a:t>
            </a:r>
            <a:r>
              <a:rPr sz="2200" b="1">
                <a:solidFill>
                  <a:srgbClr val="E09F3E"/>
                </a:solidFill>
                <a:latin typeface="Calibri"/>
              </a:rPr>
              <a:t>£0</a:t>
            </a:r>
          </a:p>
        </p:txBody>
      </p:sp>
      <p:sp>
        <p:nvSpPr>
          <p:cNvPr id="18" name="TextBox 17"/>
          <p:cNvSpPr txBox="1"/>
          <p:nvPr/>
        </p:nvSpPr>
        <p:spPr>
          <a:xfrm>
            <a:off x="4069080" y="5294376"/>
            <a:ext cx="5303520" cy="320040"/>
          </a:xfrm>
          <a:prstGeom prst="rect">
            <a:avLst/>
          </a:prstGeom>
          <a:noFill/>
        </p:spPr>
        <p:txBody>
          <a:bodyPr wrap="none">
            <a:spAutoFit/>
          </a:bodyPr>
          <a:lstStyle/>
          <a:p>
            <a:pPr algn="ctr"/>
            <a:r>
              <a:rPr sz="1500" i="1" b="0">
                <a:solidFill>
                  <a:srgbClr val="0B2B4E"/>
                </a:solidFill>
                <a:latin typeface="Calibri"/>
              </a:rPr>
              <a:t>Payoffs to (</a:t>
            </a:r>
            <a:r>
              <a:rPr sz="1500" i="1" b="1">
                <a:solidFill>
                  <a:srgbClr val="0070C0"/>
                </a:solidFill>
                <a:latin typeface="Calibri"/>
              </a:rPr>
              <a:t>Steven</a:t>
            </a:r>
            <a:r>
              <a:rPr sz="1500" i="1" b="0">
                <a:solidFill>
                  <a:srgbClr val="0B2B4E"/>
                </a:solidFill>
                <a:latin typeface="Calibri"/>
              </a:rPr>
              <a:t>, </a:t>
            </a:r>
            <a:r>
              <a:rPr sz="1500" i="1" b="1">
                <a:solidFill>
                  <a:srgbClr val="E09F3E"/>
                </a:solidFill>
                <a:latin typeface="Calibri"/>
              </a:rPr>
              <a:t>Sarah</a:t>
            </a:r>
            <a:r>
              <a:rPr sz="1500" i="1" b="0">
                <a:solidFill>
                  <a:srgbClr val="0B2B4E"/>
                </a:solidFill>
                <a:latin typeface="Calibri"/>
              </a:rPr>
              <a:t>)</a:t>
            </a:r>
          </a:p>
        </p:txBody>
      </p:sp>
      <p:sp>
        <p:nvSpPr>
          <p:cNvPr id="19" name="Rectangle 18"/>
          <p:cNvSpPr/>
          <p:nvPr/>
        </p:nvSpPr>
        <p:spPr>
          <a:xfrm>
            <a:off x="4471416" y="3282696"/>
            <a:ext cx="2212848" cy="886968"/>
          </a:xfrm>
          <a:prstGeom prst="rect">
            <a:avLst/>
          </a:prstGeom>
          <a:gradFill rotWithShape="1">
            <a:gsLst>
              <a:gs pos="0">
                <a:srgbClr val="F2F7FC"/>
              </a:gs>
              <a:gs pos="100000">
                <a:srgbClr val="C9DCEE"/>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757416" y="3282696"/>
            <a:ext cx="2212848" cy="886968"/>
          </a:xfrm>
          <a:prstGeom prst="rect">
            <a:avLst/>
          </a:prstGeom>
          <a:gradFill rotWithShape="1">
            <a:gsLst>
              <a:gs pos="0">
                <a:srgbClr val="F2F7FC"/>
              </a:gs>
              <a:gs pos="100000">
                <a:srgbClr val="C9DCEE"/>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71416" y="4242816"/>
            <a:ext cx="2212848" cy="886968"/>
          </a:xfrm>
          <a:prstGeom prst="rect">
            <a:avLst/>
          </a:prstGeom>
          <a:gradFill rotWithShape="1">
            <a:gsLst>
              <a:gs pos="0">
                <a:srgbClr val="F2F7FC"/>
              </a:gs>
              <a:gs pos="100000">
                <a:srgbClr val="C9DCEE"/>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757416" y="4242816"/>
            <a:ext cx="2212848" cy="886968"/>
          </a:xfrm>
          <a:prstGeom prst="rect">
            <a:avLst/>
          </a:prstGeom>
          <a:gradFill rotWithShape="1">
            <a:gsLst>
              <a:gs pos="0">
                <a:srgbClr val="F2F7FC"/>
              </a:gs>
              <a:gs pos="100000">
                <a:srgbClr val="C9DCEE"/>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5212080" y="3963924"/>
            <a:ext cx="0" cy="35661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7498080" y="4091940"/>
            <a:ext cx="0" cy="35661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989320" y="3451860"/>
            <a:ext cx="191109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6272784" y="4411980"/>
            <a:ext cx="191109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6620256" y="3154680"/>
            <a:ext cx="2487168" cy="1143000"/>
          </a:xfrm>
          <a:prstGeom prst="ellipse">
            <a:avLst/>
          </a:prstGeom>
          <a:noFill/>
          <a:ln w="349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334256" y="4114800"/>
            <a:ext cx="2487168" cy="1143000"/>
          </a:xfrm>
          <a:prstGeom prst="ellipse">
            <a:avLst/>
          </a:prstGeom>
          <a:noFill/>
          <a:ln w="349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829800" y="3977639"/>
            <a:ext cx="2148840" cy="640080"/>
          </a:xfrm>
          <a:prstGeom prst="roundRect">
            <a:avLst>
              <a:gd name="adj" fmla="val 25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2B4E"/>
                </a:solidFill>
                <a:latin typeface="Calibri"/>
              </a:rPr>
              <a:t>2 Nash Equilibria</a:t>
            </a:r>
          </a:p>
        </p:txBody>
      </p:sp>
      <p:sp>
        <p:nvSpPr>
          <p:cNvPr id="30" name="Rectangle 2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33" name="TextBox 32"/>
          <p:cNvSpPr txBox="1"/>
          <p:nvPr/>
        </p:nvSpPr>
        <p:spPr>
          <a:xfrm>
            <a:off x="11475720" y="6583680"/>
            <a:ext cx="502920" cy="292608"/>
          </a:xfrm>
          <a:prstGeom prst="rect">
            <a:avLst/>
          </a:prstGeom>
          <a:noFill/>
        </p:spPr>
        <p:txBody>
          <a:bodyPr wrap="none" lIns="0" rIns="0" tIns="0" bIns="0">
            <a:spAutoFit/>
          </a:bodyPr>
          <a:lstStyle/>
          <a:p>
            <a:pPr algn="r"/>
            <a:fld id="{CAEAEF14-7DE9-566A-B68C-EAA17306035C}" type="slidenum">
              <a:rPr lang="en-US" sz="1200" dirty="0">
                <a:solidFill>
                  <a:srgbClr val="555B66"/>
                </a:solidFill>
                <a:latin typeface="Calibri"/>
              </a:rPr>
              <a:t>76</a:t>
            </a:fld>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Split or Steal: Coordination?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3108960"/>
            <a:ext cx="11687697" cy="731520"/>
          </a:xfrm>
          <a:prstGeom prst="rect">
            <a:avLst/>
          </a:prstGeom>
          <a:noFill/>
        </p:spPr>
        <p:txBody>
          <a:bodyPr wrap="square" lIns="0" rIns="0" tIns="0" bIns="0">
            <a:spAutoFit/>
          </a:bodyPr>
          <a:lstStyle/>
          <a:p>
            <a:pPr algn="ctr"/>
            <a:r>
              <a:rPr sz="2000" b="0" i="1" u="none">
                <a:solidFill>
                  <a:srgbClr val="555B66"/>
                </a:solidFill>
                <a:latin typeface="Calibri"/>
              </a:rPr>
              <a:t>[ PHASE 3 — video slide, spliced from source deck ]</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7995D5FE-BF34-5268-B675-FD826C247B55}" type="slidenum">
              <a:rPr lang="en-US" sz="1200" dirty="0">
                <a:solidFill>
                  <a:srgbClr val="555B66"/>
                </a:solidFill>
                <a:latin typeface="Calibri"/>
              </a:rPr>
              <a:t>77</a:t>
            </a:fld>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Poll</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3108960"/>
            <a:ext cx="11687697" cy="731520"/>
          </a:xfrm>
          <a:prstGeom prst="rect">
            <a:avLst/>
          </a:prstGeom>
          <a:noFill/>
        </p:spPr>
        <p:txBody>
          <a:bodyPr wrap="square" lIns="0" rIns="0" tIns="0" bIns="0">
            <a:spAutoFit/>
          </a:bodyPr>
          <a:lstStyle/>
          <a:p>
            <a:pPr algn="ctr"/>
            <a:r>
              <a:rPr sz="2000" b="0" i="1" u="none">
                <a:solidFill>
                  <a:srgbClr val="555B66"/>
                </a:solidFill>
                <a:latin typeface="Calibri"/>
              </a:rPr>
              <a:t>[ PHASE 3 — PollEverywhere slide, spliced from source deck ]</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9F1575BC-7110-5D30-833C-5929B4434D4A}" type="slidenum">
              <a:rPr lang="en-US" sz="1200" dirty="0">
                <a:solidFill>
                  <a:srgbClr val="555B66"/>
                </a:solidFill>
                <a:latin typeface="Calibri"/>
              </a:rPr>
              <a:t>78</a:t>
            </a:fld>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Split or Steal</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3108960"/>
            <a:ext cx="11687697" cy="731520"/>
          </a:xfrm>
          <a:prstGeom prst="rect">
            <a:avLst/>
          </a:prstGeom>
          <a:noFill/>
        </p:spPr>
        <p:txBody>
          <a:bodyPr wrap="square" lIns="0" rIns="0" tIns="0" bIns="0">
            <a:spAutoFit/>
          </a:bodyPr>
          <a:lstStyle/>
          <a:p>
            <a:pPr algn="ctr"/>
            <a:r>
              <a:rPr sz="2000" b="0" i="1" u="none">
                <a:solidFill>
                  <a:srgbClr val="555B66"/>
                </a:solidFill>
                <a:latin typeface="Calibri"/>
              </a:rPr>
              <a:t>[ PHASE 3 — video slide, spliced from source deck ]</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C9FE942B-5EB5-50A5-8286-FF0B1EC5D175}" type="slidenum">
              <a:rPr lang="en-US" sz="1200" dirty="0">
                <a:solidFill>
                  <a:srgbClr val="555B66"/>
                </a:solidFill>
                <a:latin typeface="Calibri"/>
              </a:rPr>
              <a:t>79</a:t>
            </a:fld>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Commitment and Strategy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508760"/>
            <a:ext cx="11338560" cy="822960"/>
          </a:xfrm>
          <a:prstGeom prst="rect">
            <a:avLst/>
          </a:prstGeom>
          <a:noFill/>
        </p:spPr>
        <p:txBody>
          <a:bodyPr wrap="square" lIns="0" rIns="0" tIns="0" bIns="0">
            <a:spAutoFit/>
          </a:bodyPr>
          <a:lstStyle>
            <a:lvl1pPr marL="342900" indent="-342900">
              <a:spcBef>
                <a:spcPts val="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If Steven could </a:t>
            </a:r>
            <a:r>
              <a:rPr u="sng">
                <a:latin typeface="Calibri"/>
              </a:rPr>
              <a:t>commit</a:t>
            </a:r>
            <a:r>
              <a:rPr>
                <a:latin typeface="Calibri"/>
              </a:rPr>
              <a:t> to Steal, what would be Sarah's optimal response?</a:t>
            </a:r>
          </a:p>
        </p:txBody>
      </p:sp>
      <p:sp>
        <p:nvSpPr>
          <p:cNvPr id="8" name="TextBox 7"/>
          <p:cNvSpPr txBox="1"/>
          <p:nvPr/>
        </p:nvSpPr>
        <p:spPr>
          <a:xfrm>
            <a:off x="4434840" y="2121408"/>
            <a:ext cx="4572000" cy="384048"/>
          </a:xfrm>
          <a:prstGeom prst="rect">
            <a:avLst/>
          </a:prstGeom>
          <a:noFill/>
        </p:spPr>
        <p:txBody>
          <a:bodyPr wrap="square" lIns="0" rIns="0" tIns="0" bIns="0">
            <a:spAutoFit/>
          </a:bodyPr>
          <a:lstStyle/>
          <a:p>
            <a:pPr algn="ctr"/>
            <a:r>
              <a:rPr sz="2200" b="1" i="0" u="none">
                <a:solidFill>
                  <a:srgbClr val="E09F3E"/>
                </a:solidFill>
                <a:latin typeface="Calibri"/>
              </a:rPr>
              <a:t>Sarah</a:t>
            </a:r>
          </a:p>
        </p:txBody>
      </p:sp>
      <p:sp>
        <p:nvSpPr>
          <p:cNvPr id="9" name="TextBox 8"/>
          <p:cNvSpPr txBox="1"/>
          <p:nvPr/>
        </p:nvSpPr>
        <p:spPr>
          <a:xfrm>
            <a:off x="4434840" y="2505456"/>
            <a:ext cx="2286000" cy="457200"/>
          </a:xfrm>
          <a:prstGeom prst="rect">
            <a:avLst/>
          </a:prstGeom>
          <a:noFill/>
        </p:spPr>
        <p:txBody>
          <a:bodyPr wrap="square" lIns="0" rIns="0" tIns="0" bIns="0" anchor="b">
            <a:spAutoFit/>
          </a:bodyPr>
          <a:lstStyle/>
          <a:p>
            <a:pPr algn="ctr"/>
            <a:r>
              <a:rPr sz="1800" b="1" i="0" u="none">
                <a:solidFill>
                  <a:srgbClr val="0B2B4E"/>
                </a:solidFill>
                <a:latin typeface="Calibri"/>
              </a:rPr>
              <a:t>Split</a:t>
            </a:r>
          </a:p>
        </p:txBody>
      </p:sp>
      <p:sp>
        <p:nvSpPr>
          <p:cNvPr id="10" name="TextBox 9"/>
          <p:cNvSpPr txBox="1"/>
          <p:nvPr/>
        </p:nvSpPr>
        <p:spPr>
          <a:xfrm>
            <a:off x="6720840" y="2505456"/>
            <a:ext cx="2286000" cy="457200"/>
          </a:xfrm>
          <a:prstGeom prst="rect">
            <a:avLst/>
          </a:prstGeom>
          <a:noFill/>
        </p:spPr>
        <p:txBody>
          <a:bodyPr wrap="square" lIns="0" rIns="0" tIns="0" bIns="0" anchor="b">
            <a:spAutoFit/>
          </a:bodyPr>
          <a:lstStyle/>
          <a:p>
            <a:pPr algn="ctr"/>
            <a:r>
              <a:rPr sz="1800" b="1" i="0" u="none">
                <a:solidFill>
                  <a:srgbClr val="0B2B4E"/>
                </a:solidFill>
                <a:latin typeface="Calibri"/>
              </a:rPr>
              <a:t>Steal</a:t>
            </a:r>
          </a:p>
        </p:txBody>
      </p:sp>
      <p:sp>
        <p:nvSpPr>
          <p:cNvPr id="11" name="TextBox 10"/>
          <p:cNvSpPr txBox="1"/>
          <p:nvPr/>
        </p:nvSpPr>
        <p:spPr>
          <a:xfrm rot="16200000">
            <a:off x="1261872" y="3785616"/>
            <a:ext cx="1920240" cy="384048"/>
          </a:xfrm>
          <a:prstGeom prst="rect">
            <a:avLst/>
          </a:prstGeom>
          <a:noFill/>
        </p:spPr>
        <p:txBody>
          <a:bodyPr wrap="square" lIns="0" rIns="0" tIns="0" bIns="0">
            <a:spAutoFit/>
          </a:bodyPr>
          <a:lstStyle/>
          <a:p>
            <a:pPr algn="ctr"/>
            <a:r>
              <a:rPr sz="2200" b="1" i="0" u="none">
                <a:solidFill>
                  <a:srgbClr val="0070C0"/>
                </a:solidFill>
                <a:latin typeface="Calibri"/>
              </a:rPr>
              <a:t>Steven</a:t>
            </a:r>
          </a:p>
        </p:txBody>
      </p:sp>
      <p:sp>
        <p:nvSpPr>
          <p:cNvPr id="12" name="TextBox 11"/>
          <p:cNvSpPr txBox="1"/>
          <p:nvPr/>
        </p:nvSpPr>
        <p:spPr>
          <a:xfrm>
            <a:off x="2587752" y="315468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Split</a:t>
            </a:r>
          </a:p>
        </p:txBody>
      </p:sp>
      <p:sp>
        <p:nvSpPr>
          <p:cNvPr id="13" name="TextBox 12"/>
          <p:cNvSpPr txBox="1"/>
          <p:nvPr/>
        </p:nvSpPr>
        <p:spPr>
          <a:xfrm>
            <a:off x="2587752" y="411480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Steal</a:t>
            </a:r>
          </a:p>
        </p:txBody>
      </p:sp>
      <p:sp>
        <p:nvSpPr>
          <p:cNvPr id="14" name="Rectangle 13"/>
          <p:cNvSpPr/>
          <p:nvPr/>
        </p:nvSpPr>
        <p:spPr>
          <a:xfrm>
            <a:off x="4434840" y="3017520"/>
            <a:ext cx="22860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a:lstStyle/>
          <a:p>
            <a:pPr algn="ctr"/>
            <a:r>
              <a:rPr sz="1200" i="1">
                <a:solidFill>
                  <a:srgbClr val="555B66"/>
                </a:solidFill>
                <a:latin typeface="Calibri"/>
              </a:rPr>
              <a:t>(Cell impossible due to Steven's commitment)</a:t>
            </a:r>
          </a:p>
        </p:txBody>
      </p:sp>
      <p:sp>
        <p:nvSpPr>
          <p:cNvPr id="15" name="Rectangle 14"/>
          <p:cNvSpPr/>
          <p:nvPr/>
        </p:nvSpPr>
        <p:spPr>
          <a:xfrm>
            <a:off x="6720840" y="3017520"/>
            <a:ext cx="22860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a:lstStyle/>
          <a:p>
            <a:pPr algn="ctr"/>
            <a:r>
              <a:rPr sz="1200" i="1">
                <a:solidFill>
                  <a:srgbClr val="555B66"/>
                </a:solidFill>
                <a:latin typeface="Calibri"/>
              </a:rPr>
              <a:t>(Cell impossible due to Steven's commitment)</a:t>
            </a:r>
          </a:p>
        </p:txBody>
      </p:sp>
      <p:sp>
        <p:nvSpPr>
          <p:cNvPr id="16" name="Rectangle 15"/>
          <p:cNvSpPr/>
          <p:nvPr/>
        </p:nvSpPr>
        <p:spPr>
          <a:xfrm>
            <a:off x="4434840" y="3977640"/>
            <a:ext cx="22860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0070C0"/>
                </a:solidFill>
                <a:latin typeface="Calibri"/>
              </a:rPr>
              <a:t>£100</a:t>
            </a:r>
            <a:r>
              <a:rPr sz="2200" b="1">
                <a:solidFill>
                  <a:srgbClr val="0B2B4E"/>
                </a:solidFill>
                <a:latin typeface="Calibri"/>
              </a:rPr>
              <a:t> , </a:t>
            </a:r>
            <a:r>
              <a:rPr sz="2200" b="1">
                <a:solidFill>
                  <a:srgbClr val="E09F3E"/>
                </a:solidFill>
                <a:latin typeface="Calibri"/>
              </a:rPr>
              <a:t>£5</a:t>
            </a:r>
          </a:p>
        </p:txBody>
      </p:sp>
      <p:sp>
        <p:nvSpPr>
          <p:cNvPr id="17" name="Rectangle 16"/>
          <p:cNvSpPr/>
          <p:nvPr/>
        </p:nvSpPr>
        <p:spPr>
          <a:xfrm>
            <a:off x="6720840" y="3977640"/>
            <a:ext cx="22860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0070C0"/>
                </a:solidFill>
                <a:latin typeface="Calibri"/>
              </a:rPr>
              <a:t>£0</a:t>
            </a:r>
            <a:r>
              <a:rPr sz="2200" b="1">
                <a:solidFill>
                  <a:srgbClr val="0B2B4E"/>
                </a:solidFill>
                <a:latin typeface="Calibri"/>
              </a:rPr>
              <a:t> , </a:t>
            </a:r>
            <a:r>
              <a:rPr sz="2200" b="1">
                <a:solidFill>
                  <a:srgbClr val="E09F3E"/>
                </a:solidFill>
                <a:latin typeface="Calibri"/>
              </a:rPr>
              <a:t>£0</a:t>
            </a:r>
          </a:p>
        </p:txBody>
      </p:sp>
      <p:sp>
        <p:nvSpPr>
          <p:cNvPr id="18" name="Oval 17"/>
          <p:cNvSpPr/>
          <p:nvPr/>
        </p:nvSpPr>
        <p:spPr>
          <a:xfrm>
            <a:off x="4334256" y="3886200"/>
            <a:ext cx="2487168" cy="1143000"/>
          </a:xfrm>
          <a:prstGeom prst="ellipse">
            <a:avLst/>
          </a:prstGeom>
          <a:noFill/>
          <a:ln w="349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69080" y="5065776"/>
            <a:ext cx="5303520" cy="320040"/>
          </a:xfrm>
          <a:prstGeom prst="rect">
            <a:avLst/>
          </a:prstGeom>
          <a:noFill/>
        </p:spPr>
        <p:txBody>
          <a:bodyPr wrap="none">
            <a:spAutoFit/>
          </a:bodyPr>
          <a:lstStyle/>
          <a:p>
            <a:pPr algn="ctr"/>
            <a:r>
              <a:rPr sz="1500" i="1" b="0">
                <a:solidFill>
                  <a:srgbClr val="0B2B4E"/>
                </a:solidFill>
                <a:latin typeface="Calibri"/>
              </a:rPr>
              <a:t>Payoffs to (</a:t>
            </a:r>
            <a:r>
              <a:rPr sz="1500" i="1" b="1">
                <a:solidFill>
                  <a:srgbClr val="0070C0"/>
                </a:solidFill>
                <a:latin typeface="Calibri"/>
              </a:rPr>
              <a:t>Steven</a:t>
            </a:r>
            <a:r>
              <a:rPr sz="1500" i="1" b="0">
                <a:solidFill>
                  <a:srgbClr val="0B2B4E"/>
                </a:solidFill>
                <a:latin typeface="Calibri"/>
              </a:rPr>
              <a:t>, </a:t>
            </a:r>
            <a:r>
              <a:rPr sz="1500" i="1" b="1">
                <a:solidFill>
                  <a:srgbClr val="E09F3E"/>
                </a:solidFill>
                <a:latin typeface="Calibri"/>
              </a:rPr>
              <a:t>Sarah</a:t>
            </a:r>
            <a:r>
              <a:rPr sz="1500" i="1" b="0">
                <a:solidFill>
                  <a:srgbClr val="0B2B4E"/>
                </a:solidFill>
                <a:latin typeface="Calibri"/>
              </a:rPr>
              <a:t>)</a:t>
            </a:r>
          </a:p>
        </p:txBody>
      </p:sp>
      <p:cxnSp>
        <p:nvCxnSpPr>
          <p:cNvPr id="20" name="Connector 19"/>
          <p:cNvCxnSpPr/>
          <p:nvPr/>
        </p:nvCxnSpPr>
        <p:spPr>
          <a:xfrm>
            <a:off x="4663440" y="3525012"/>
            <a:ext cx="1828800" cy="393192"/>
          </a:xfrm>
          <a:prstGeom prst="line">
            <a:avLst/>
          </a:prstGeom>
          <a:ln w="254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663440" y="3525012"/>
            <a:ext cx="1828800" cy="393192"/>
          </a:xfrm>
          <a:prstGeom prst="line">
            <a:avLst/>
          </a:prstGeom>
          <a:ln w="254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9440" y="3525012"/>
            <a:ext cx="1828800" cy="393192"/>
          </a:xfrm>
          <a:prstGeom prst="line">
            <a:avLst/>
          </a:prstGeom>
          <a:ln w="254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6949440" y="3525012"/>
            <a:ext cx="1828800" cy="393192"/>
          </a:xfrm>
          <a:prstGeom prst="line">
            <a:avLst/>
          </a:prstGeom>
          <a:ln w="254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840480" y="3392424"/>
            <a:ext cx="512064" cy="256032"/>
          </a:xfrm>
          <a:prstGeom prst="line">
            <a:avLst/>
          </a:prstGeom>
          <a:ln w="254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840480" y="3392424"/>
            <a:ext cx="512064" cy="256032"/>
          </a:xfrm>
          <a:prstGeom prst="line">
            <a:avLst/>
          </a:prstGeom>
          <a:ln w="254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6272784" y="4183380"/>
            <a:ext cx="191109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5660136" y="4247388"/>
            <a:ext cx="566928" cy="420624"/>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1999" y="5532120"/>
            <a:ext cx="11247120" cy="914400"/>
          </a:xfrm>
          <a:prstGeom prst="rect">
            <a:avLst/>
          </a:prstGeom>
          <a:noFill/>
        </p:spPr>
        <p:txBody>
          <a:bodyPr wrap="square" lIns="0" rIns="0" tIns="0" bIns="0">
            <a:spAutoFit/>
          </a:bodyPr>
          <a:lstStyle>
            <a:lvl1pPr marL="342900" indent="-342900">
              <a:spcBef>
                <a:spcPts val="40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a:latin typeface="Calibri"/>
              </a:rPr>
              <a:t>(Much) more on this in your Strategy class!</a:t>
            </a:r>
          </a:p>
          <a:p>
            <a:pPr algn="l" lvl="1"/>
            <a:r>
              <a:rPr>
                <a:latin typeface="Calibri"/>
              </a:rPr>
              <a:t>Crucial: Is the player's “commitment” credible?</a:t>
            </a:r>
          </a:p>
        </p:txBody>
      </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32" name="TextBox 31"/>
          <p:cNvSpPr txBox="1"/>
          <p:nvPr/>
        </p:nvSpPr>
        <p:spPr>
          <a:xfrm>
            <a:off x="11475720" y="6583680"/>
            <a:ext cx="502920" cy="292608"/>
          </a:xfrm>
          <a:prstGeom prst="rect">
            <a:avLst/>
          </a:prstGeom>
          <a:noFill/>
        </p:spPr>
        <p:txBody>
          <a:bodyPr wrap="none" lIns="0" rIns="0" tIns="0" bIns="0">
            <a:spAutoFit/>
          </a:bodyPr>
          <a:lstStyle/>
          <a:p>
            <a:pPr algn="r"/>
            <a:fld id="{E9520FD6-0007-5043-B719-13DB25396FBC}" type="slidenum">
              <a:rPr lang="en-US" sz="1200" dirty="0">
                <a:solidFill>
                  <a:srgbClr val="555B66"/>
                </a:solidFill>
                <a:latin typeface="Calibri"/>
              </a:rPr>
              <a:t>80</a:t>
            </a:fld>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“Split or Steal”: Payoff Matrix</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63040"/>
            <a:ext cx="11338560" cy="1554480"/>
          </a:xfrm>
          <a:prstGeom prst="rect">
            <a:avLst/>
          </a:prstGeom>
          <a:noFill/>
        </p:spPr>
        <p:txBody>
          <a:bodyPr wrap="square" lIns="0" rIns="0" tIns="0" bIns="0">
            <a:spAutoFit/>
          </a:bodyPr>
          <a:lstStyle>
            <a:lvl1pPr marL="342900" indent="-342900">
              <a:spcBef>
                <a:spcPts val="6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sz="2000">
                <a:latin typeface="Calibri"/>
              </a:rPr>
              <a:t>Nick credibly argues that he will steal. Let's assume he gets “satisfaction” = 10 from stealing and seriously plans to share 50-50</a:t>
            </a:r>
          </a:p>
          <a:p>
            <a:pPr algn="l"/>
            <a:r>
              <a:rPr sz="2000">
                <a:latin typeface="Calibri"/>
              </a:rPr>
              <a:t>Good reputation for splitting is still worth 5</a:t>
            </a:r>
          </a:p>
          <a:p>
            <a:pPr algn="l"/>
            <a:r>
              <a:rPr sz="2000">
                <a:latin typeface="Calibri"/>
              </a:rPr>
              <a:t>Ibrahim believes that Nick will share winnings with probability </a:t>
            </a:r>
            <a:r>
              <a:rPr sz="2000" i="1">
                <a:solidFill>
                  <a:srgbClr val="E09F3E"/>
                </a:solidFill>
                <a:latin typeface="Calibri"/>
              </a:rPr>
              <a:t>p</a:t>
            </a:r>
            <a:r>
              <a:rPr sz="2000">
                <a:latin typeface="Calibri"/>
              </a:rPr>
              <a:t> &gt; 0</a:t>
            </a:r>
          </a:p>
        </p:txBody>
      </p:sp>
      <p:sp>
        <p:nvSpPr>
          <p:cNvPr id="8" name="TextBox 7"/>
          <p:cNvSpPr txBox="1"/>
          <p:nvPr/>
        </p:nvSpPr>
        <p:spPr>
          <a:xfrm>
            <a:off x="4434840" y="2990088"/>
            <a:ext cx="4754880" cy="384048"/>
          </a:xfrm>
          <a:prstGeom prst="rect">
            <a:avLst/>
          </a:prstGeom>
          <a:noFill/>
        </p:spPr>
        <p:txBody>
          <a:bodyPr wrap="square" lIns="0" rIns="0" tIns="0" bIns="0">
            <a:spAutoFit/>
          </a:bodyPr>
          <a:lstStyle/>
          <a:p>
            <a:pPr algn="ctr"/>
            <a:r>
              <a:rPr sz="2200" b="1" i="0" u="none">
                <a:solidFill>
                  <a:srgbClr val="E09F3E"/>
                </a:solidFill>
                <a:latin typeface="Calibri"/>
              </a:rPr>
              <a:t>Ibrahim</a:t>
            </a:r>
          </a:p>
        </p:txBody>
      </p:sp>
      <p:sp>
        <p:nvSpPr>
          <p:cNvPr id="9" name="TextBox 8"/>
          <p:cNvSpPr txBox="1"/>
          <p:nvPr/>
        </p:nvSpPr>
        <p:spPr>
          <a:xfrm>
            <a:off x="4434840" y="3374136"/>
            <a:ext cx="2377440" cy="457200"/>
          </a:xfrm>
          <a:prstGeom prst="rect">
            <a:avLst/>
          </a:prstGeom>
          <a:noFill/>
        </p:spPr>
        <p:txBody>
          <a:bodyPr wrap="square" lIns="0" rIns="0" tIns="0" bIns="0" anchor="b">
            <a:spAutoFit/>
          </a:bodyPr>
          <a:lstStyle/>
          <a:p>
            <a:pPr algn="ctr"/>
            <a:r>
              <a:rPr sz="1800" b="1" i="0" u="none">
                <a:solidFill>
                  <a:srgbClr val="0B2B4E"/>
                </a:solidFill>
                <a:latin typeface="Calibri"/>
              </a:rPr>
              <a:t>Split</a:t>
            </a:r>
          </a:p>
        </p:txBody>
      </p:sp>
      <p:sp>
        <p:nvSpPr>
          <p:cNvPr id="10" name="TextBox 9"/>
          <p:cNvSpPr txBox="1"/>
          <p:nvPr/>
        </p:nvSpPr>
        <p:spPr>
          <a:xfrm>
            <a:off x="6812280" y="3374136"/>
            <a:ext cx="2377440" cy="457200"/>
          </a:xfrm>
          <a:prstGeom prst="rect">
            <a:avLst/>
          </a:prstGeom>
          <a:noFill/>
        </p:spPr>
        <p:txBody>
          <a:bodyPr wrap="square" lIns="0" rIns="0" tIns="0" bIns="0" anchor="b">
            <a:spAutoFit/>
          </a:bodyPr>
          <a:lstStyle/>
          <a:p>
            <a:pPr algn="ctr"/>
            <a:r>
              <a:rPr sz="1800" b="1" i="0" u="none">
                <a:solidFill>
                  <a:srgbClr val="0B2B4E"/>
                </a:solidFill>
                <a:latin typeface="Calibri"/>
              </a:rPr>
              <a:t>Steal</a:t>
            </a:r>
          </a:p>
        </p:txBody>
      </p:sp>
      <p:sp>
        <p:nvSpPr>
          <p:cNvPr id="11" name="TextBox 10"/>
          <p:cNvSpPr txBox="1"/>
          <p:nvPr/>
        </p:nvSpPr>
        <p:spPr>
          <a:xfrm rot="16200000">
            <a:off x="1307592" y="4608576"/>
            <a:ext cx="1828800" cy="384048"/>
          </a:xfrm>
          <a:prstGeom prst="rect">
            <a:avLst/>
          </a:prstGeom>
          <a:noFill/>
        </p:spPr>
        <p:txBody>
          <a:bodyPr wrap="square" lIns="0" rIns="0" tIns="0" bIns="0">
            <a:spAutoFit/>
          </a:bodyPr>
          <a:lstStyle/>
          <a:p>
            <a:pPr algn="ctr"/>
            <a:r>
              <a:rPr sz="2200" b="1" i="0" u="none">
                <a:solidFill>
                  <a:srgbClr val="0070C0"/>
                </a:solidFill>
                <a:latin typeface="Calibri"/>
              </a:rPr>
              <a:t>Nick</a:t>
            </a:r>
          </a:p>
        </p:txBody>
      </p:sp>
      <p:sp>
        <p:nvSpPr>
          <p:cNvPr id="12" name="TextBox 11"/>
          <p:cNvSpPr txBox="1"/>
          <p:nvPr/>
        </p:nvSpPr>
        <p:spPr>
          <a:xfrm>
            <a:off x="2587752" y="400050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Split</a:t>
            </a:r>
          </a:p>
        </p:txBody>
      </p:sp>
      <p:sp>
        <p:nvSpPr>
          <p:cNvPr id="13" name="TextBox 12"/>
          <p:cNvSpPr txBox="1"/>
          <p:nvPr/>
        </p:nvSpPr>
        <p:spPr>
          <a:xfrm>
            <a:off x="2587752" y="491490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Steal</a:t>
            </a:r>
          </a:p>
        </p:txBody>
      </p:sp>
      <p:sp>
        <p:nvSpPr>
          <p:cNvPr id="14" name="Rectangle 13"/>
          <p:cNvSpPr/>
          <p:nvPr/>
        </p:nvSpPr>
        <p:spPr>
          <a:xfrm>
            <a:off x="4434840" y="3886200"/>
            <a:ext cx="237744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070C0"/>
                </a:solidFill>
                <a:latin typeface="Calibri"/>
              </a:rPr>
              <a:t>£55</a:t>
            </a:r>
            <a:r>
              <a:rPr sz="2000" b="1">
                <a:solidFill>
                  <a:srgbClr val="0B2B4E"/>
                </a:solidFill>
                <a:latin typeface="Calibri"/>
              </a:rPr>
              <a:t> , </a:t>
            </a:r>
            <a:r>
              <a:rPr sz="2000" b="1">
                <a:solidFill>
                  <a:srgbClr val="E09F3E"/>
                </a:solidFill>
                <a:latin typeface="Calibri"/>
              </a:rPr>
              <a:t>£55</a:t>
            </a:r>
          </a:p>
        </p:txBody>
      </p:sp>
      <p:sp>
        <p:nvSpPr>
          <p:cNvPr id="15" name="Rectangle 14"/>
          <p:cNvSpPr/>
          <p:nvPr/>
        </p:nvSpPr>
        <p:spPr>
          <a:xfrm>
            <a:off x="6812280" y="3886200"/>
            <a:ext cx="237744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070C0"/>
                </a:solidFill>
                <a:latin typeface="Calibri"/>
              </a:rPr>
              <a:t>£5</a:t>
            </a:r>
            <a:r>
              <a:rPr sz="2000" b="1">
                <a:solidFill>
                  <a:srgbClr val="0B2B4E"/>
                </a:solidFill>
                <a:latin typeface="Calibri"/>
              </a:rPr>
              <a:t> , </a:t>
            </a:r>
            <a:r>
              <a:rPr sz="2000" b="1">
                <a:solidFill>
                  <a:srgbClr val="E09F3E"/>
                </a:solidFill>
                <a:latin typeface="Calibri"/>
              </a:rPr>
              <a:t>£100</a:t>
            </a:r>
          </a:p>
        </p:txBody>
      </p:sp>
      <p:sp>
        <p:nvSpPr>
          <p:cNvPr id="16" name="Rectangle 15"/>
          <p:cNvSpPr/>
          <p:nvPr/>
        </p:nvSpPr>
        <p:spPr>
          <a:xfrm>
            <a:off x="4434840" y="4800600"/>
            <a:ext cx="237744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070C0"/>
                </a:solidFill>
                <a:latin typeface="Calibri"/>
              </a:rPr>
              <a:t>£60*</a:t>
            </a:r>
            <a:r>
              <a:rPr sz="2000" b="1">
                <a:solidFill>
                  <a:srgbClr val="0B2B4E"/>
                </a:solidFill>
                <a:latin typeface="Calibri"/>
              </a:rPr>
              <a:t> , </a:t>
            </a:r>
            <a:r>
              <a:rPr sz="2000" b="1">
                <a:solidFill>
                  <a:srgbClr val="E09F3E"/>
                </a:solidFill>
                <a:latin typeface="Calibri"/>
              </a:rPr>
              <a:t>p×£50</a:t>
            </a:r>
          </a:p>
        </p:txBody>
      </p:sp>
      <p:sp>
        <p:nvSpPr>
          <p:cNvPr id="17" name="Rectangle 16"/>
          <p:cNvSpPr/>
          <p:nvPr/>
        </p:nvSpPr>
        <p:spPr>
          <a:xfrm>
            <a:off x="6812280" y="4800600"/>
            <a:ext cx="2377440" cy="91440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070C0"/>
                </a:solidFill>
                <a:latin typeface="Calibri"/>
              </a:rPr>
              <a:t>£10</a:t>
            </a:r>
            <a:r>
              <a:rPr sz="2000" b="1">
                <a:solidFill>
                  <a:srgbClr val="0B2B4E"/>
                </a:solidFill>
                <a:latin typeface="Calibri"/>
              </a:rPr>
              <a:t> , </a:t>
            </a:r>
            <a:r>
              <a:rPr sz="2000" b="1">
                <a:solidFill>
                  <a:srgbClr val="E09F3E"/>
                </a:solidFill>
                <a:latin typeface="Calibri"/>
              </a:rPr>
              <a:t>£0</a:t>
            </a:r>
          </a:p>
        </p:txBody>
      </p:sp>
      <p:sp>
        <p:nvSpPr>
          <p:cNvPr id="18" name="TextBox 17"/>
          <p:cNvSpPr txBox="1"/>
          <p:nvPr/>
        </p:nvSpPr>
        <p:spPr>
          <a:xfrm>
            <a:off x="4069080" y="5843016"/>
            <a:ext cx="5486400" cy="320040"/>
          </a:xfrm>
          <a:prstGeom prst="rect">
            <a:avLst/>
          </a:prstGeom>
          <a:noFill/>
        </p:spPr>
        <p:txBody>
          <a:bodyPr wrap="none">
            <a:spAutoFit/>
          </a:bodyPr>
          <a:lstStyle/>
          <a:p>
            <a:pPr algn="ctr"/>
            <a:r>
              <a:rPr sz="1500" i="1" b="0">
                <a:solidFill>
                  <a:srgbClr val="0B2B4E"/>
                </a:solidFill>
                <a:latin typeface="Calibri"/>
              </a:rPr>
              <a:t>Payoffs to (</a:t>
            </a:r>
            <a:r>
              <a:rPr sz="1500" i="1" b="1">
                <a:solidFill>
                  <a:srgbClr val="0070C0"/>
                </a:solidFill>
                <a:latin typeface="Calibri"/>
              </a:rPr>
              <a:t>Nick</a:t>
            </a:r>
            <a:r>
              <a:rPr sz="1500" i="1" b="0">
                <a:solidFill>
                  <a:srgbClr val="0B2B4E"/>
                </a:solidFill>
                <a:latin typeface="Calibri"/>
              </a:rPr>
              <a:t>, </a:t>
            </a:r>
            <a:r>
              <a:rPr sz="1500" i="1" b="1">
                <a:solidFill>
                  <a:srgbClr val="E09F3E"/>
                </a:solidFill>
                <a:latin typeface="Calibri"/>
              </a:rPr>
              <a:t>Ibrahim</a:t>
            </a:r>
            <a:r>
              <a:rPr sz="1500" i="1" b="0">
                <a:solidFill>
                  <a:srgbClr val="0B2B4E"/>
                </a:solidFill>
                <a:latin typeface="Calibri"/>
              </a:rPr>
              <a:t>)</a:t>
            </a:r>
          </a:p>
        </p:txBody>
      </p:sp>
      <p:sp>
        <p:nvSpPr>
          <p:cNvPr id="19" name="TextBox 18"/>
          <p:cNvSpPr txBox="1"/>
          <p:nvPr/>
        </p:nvSpPr>
        <p:spPr>
          <a:xfrm>
            <a:off x="251999" y="6144768"/>
            <a:ext cx="8229600" cy="320040"/>
          </a:xfrm>
          <a:prstGeom prst="rect">
            <a:avLst/>
          </a:prstGeom>
          <a:noFill/>
        </p:spPr>
        <p:txBody>
          <a:bodyPr wrap="square" lIns="0" rIns="0" tIns="0" bIns="0">
            <a:spAutoFit/>
          </a:bodyPr>
          <a:lstStyle/>
          <a:p>
            <a:pPr algn="l"/>
            <a:r>
              <a:rPr sz="1300" b="0" i="1" u="none">
                <a:solidFill>
                  <a:srgbClr val="555B66"/>
                </a:solidFill>
                <a:latin typeface="Calibri"/>
              </a:rPr>
              <a:t>*Assuming that payoff is shared after stealing. Thus, payoff = 0.5×100 + 10</a:t>
            </a:r>
          </a:p>
        </p:txBody>
      </p:sp>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23" name="TextBox 22"/>
          <p:cNvSpPr txBox="1"/>
          <p:nvPr/>
        </p:nvSpPr>
        <p:spPr>
          <a:xfrm>
            <a:off x="11475720" y="6583680"/>
            <a:ext cx="502920" cy="292608"/>
          </a:xfrm>
          <a:prstGeom prst="rect">
            <a:avLst/>
          </a:prstGeom>
          <a:noFill/>
        </p:spPr>
        <p:txBody>
          <a:bodyPr wrap="none" lIns="0" rIns="0" tIns="0" bIns="0">
            <a:spAutoFit/>
          </a:bodyPr>
          <a:lstStyle/>
          <a:p>
            <a:pPr algn="r"/>
            <a:fld id="{1CFC6533-92CF-5E9C-AECD-185A6393BFE1}" type="slidenum">
              <a:rPr lang="en-US" sz="1200" dirty="0">
                <a:solidFill>
                  <a:srgbClr val="555B66"/>
                </a:solidFill>
                <a:latin typeface="Calibri"/>
              </a:rPr>
              <a:t>81</a:t>
            </a:fld>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Boeing vs. Airbus: Entry Game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783080"/>
            <a:ext cx="7223760" cy="4023360"/>
          </a:xfrm>
          <a:prstGeom prst="rect">
            <a:avLst/>
          </a:prstGeom>
          <a:noFill/>
        </p:spPr>
        <p:txBody>
          <a:bodyPr wrap="square" lIns="0" rIns="0" tIns="0" bIns="0">
            <a:spAutoFit/>
          </a:bodyPr>
          <a:lstStyle>
            <a:lvl1pPr marL="342900" indent="-342900">
              <a:spcBef>
                <a:spcPts val="14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2 firms: Boeing and Airbus</a:t>
            </a:r>
          </a:p>
          <a:p>
            <a:pPr algn="l"/>
            <a:r>
              <a:rPr>
                <a:latin typeface="Calibri"/>
              </a:rPr>
              <a:t>One type of product: Ultra-long-range (ULR) aircraft</a:t>
            </a:r>
          </a:p>
          <a:p>
            <a:pPr algn="l"/>
            <a:r>
              <a:rPr>
                <a:latin typeface="Calibri"/>
              </a:rPr>
              <a:t>Decision: produce or not produce</a:t>
            </a:r>
          </a:p>
          <a:p>
            <a:pPr algn="l" lvl="1"/>
            <a:r>
              <a:rPr>
                <a:latin typeface="Calibri"/>
              </a:rPr>
              <a:t>Boeing: incumbent (777-200LR)</a:t>
            </a:r>
          </a:p>
          <a:p>
            <a:pPr algn="l" lvl="1"/>
            <a:r>
              <a:rPr>
                <a:latin typeface="Calibri"/>
              </a:rPr>
              <a:t>Airbus: must decide whether to enter (A350 ULR)</a:t>
            </a:r>
          </a:p>
          <a:p>
            <a:pPr algn="l"/>
            <a:r>
              <a:rPr>
                <a:latin typeface="Calibri"/>
              </a:rPr>
              <a:t>Analyze the situation with and without subsidies</a:t>
            </a:r>
          </a:p>
        </p:txBody>
      </p:sp>
      <p:pic>
        <p:nvPicPr>
          <p:cNvPr id="8" name="Picture 7" descr="image58.png"/>
          <p:cNvPicPr>
            <a:picLocks noChangeAspect="1"/>
          </p:cNvPicPr>
          <p:nvPr/>
        </p:nvPicPr>
        <p:blipFill>
          <a:blip r:embed="rId2"/>
          <a:stretch>
            <a:fillRect/>
          </a:stretch>
        </p:blipFill>
        <p:spPr>
          <a:xfrm>
            <a:off x="8092440" y="1874519"/>
            <a:ext cx="3566160" cy="1179134"/>
          </a:xfrm>
          <a:prstGeom prst="roundRect">
            <a:avLst>
              <a:gd name="adj" fmla="val 8000"/>
            </a:avLst>
          </a:prstGeom>
          <a:effectLst>
            <a:outerShdw blurRad="50800" dist="38100" dir="2700000" algn="tl" rotWithShape="0">
              <a:srgbClr val="000000">
                <a:alpha val="50000"/>
              </a:srgbClr>
            </a:outerShdw>
          </a:effectLst>
        </p:spPr>
      </p:pic>
      <p:pic>
        <p:nvPicPr>
          <p:cNvPr id="9" name="Picture 8" descr="image57.png"/>
          <p:cNvPicPr>
            <a:picLocks noChangeAspect="1"/>
          </p:cNvPicPr>
          <p:nvPr/>
        </p:nvPicPr>
        <p:blipFill>
          <a:blip r:embed="rId3"/>
          <a:stretch>
            <a:fillRect/>
          </a:stretch>
        </p:blipFill>
        <p:spPr>
          <a:xfrm>
            <a:off x="8092440" y="3977639"/>
            <a:ext cx="3566160" cy="930435"/>
          </a:xfrm>
          <a:prstGeom prst="roundRect">
            <a:avLst>
              <a:gd name="adj" fmla="val 8000"/>
            </a:avLst>
          </a:prstGeom>
          <a:effectLst>
            <a:outerShdw blurRad="50800" dist="38100" dir="2700000" algn="tl" rotWithShape="0">
              <a:srgbClr val="000000">
                <a:alpha val="50000"/>
              </a:srgbClr>
            </a:outerShdw>
          </a:effectLst>
        </p:spPr>
      </p:pic>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817BB491-2545-533D-855C-C0DC540BD18B}" type="slidenum">
              <a:rPr lang="en-US" sz="1200" dirty="0">
                <a:solidFill>
                  <a:srgbClr val="555B66"/>
                </a:solidFill>
                <a:latin typeface="Calibri"/>
              </a:rPr>
              <a:t>82</a:t>
            </a:fld>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No Subsidy Case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5760" y="2103120"/>
            <a:ext cx="3246120" cy="137160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212848"/>
            <a:ext cx="2880360" cy="1152144"/>
          </a:xfrm>
          <a:prstGeom prst="rect">
            <a:avLst/>
          </a:prstGeom>
          <a:noFill/>
        </p:spPr>
        <p:txBody>
          <a:bodyPr wrap="square" lIns="45720" rIns="45720" tIns="0" bIns="0" anchor="ctr">
            <a:spAutoFit/>
          </a:bodyPr>
          <a:lstStyle/>
          <a:p>
            <a:pPr algn="l"/>
            <a:r>
              <a:rPr sz="1600" b="0" i="0" u="sng">
                <a:solidFill>
                  <a:srgbClr val="0B2B4E"/>
                </a:solidFill>
                <a:latin typeface="Calibri"/>
              </a:rPr>
              <a:t>Interpretation of payoffs:</a:t>
            </a:r>
          </a:p>
          <a:p>
            <a:pPr algn="l"/>
            <a:r>
              <a:rPr sz="1600" b="0" i="0" u="none">
                <a:solidFill>
                  <a:srgbClr val="0B2B4E"/>
                </a:solidFill>
                <a:latin typeface="Calibri"/>
              </a:rPr>
              <a:t>Annual profits from ULR aircraft (in $B)</a:t>
            </a:r>
          </a:p>
        </p:txBody>
      </p:sp>
      <p:sp>
        <p:nvSpPr>
          <p:cNvPr id="9" name="TextBox 8"/>
          <p:cNvSpPr txBox="1"/>
          <p:nvPr/>
        </p:nvSpPr>
        <p:spPr>
          <a:xfrm>
            <a:off x="4572000" y="1938528"/>
            <a:ext cx="4572000" cy="384048"/>
          </a:xfrm>
          <a:prstGeom prst="rect">
            <a:avLst/>
          </a:prstGeom>
          <a:noFill/>
        </p:spPr>
        <p:txBody>
          <a:bodyPr wrap="square" lIns="0" rIns="0" tIns="0" bIns="0">
            <a:spAutoFit/>
          </a:bodyPr>
          <a:lstStyle/>
          <a:p>
            <a:pPr algn="ctr"/>
            <a:r>
              <a:rPr sz="2200" b="1" i="0" u="none">
                <a:solidFill>
                  <a:srgbClr val="E09F3E"/>
                </a:solidFill>
                <a:latin typeface="Calibri"/>
              </a:rPr>
              <a:t>Airbus</a:t>
            </a:r>
          </a:p>
        </p:txBody>
      </p:sp>
      <p:sp>
        <p:nvSpPr>
          <p:cNvPr id="10" name="TextBox 9"/>
          <p:cNvSpPr txBox="1"/>
          <p:nvPr/>
        </p:nvSpPr>
        <p:spPr>
          <a:xfrm>
            <a:off x="4572000" y="2322576"/>
            <a:ext cx="2286000" cy="457200"/>
          </a:xfrm>
          <a:prstGeom prst="rect">
            <a:avLst/>
          </a:prstGeom>
          <a:noFill/>
        </p:spPr>
        <p:txBody>
          <a:bodyPr wrap="square" lIns="0" rIns="0" tIns="0" bIns="0" anchor="b">
            <a:spAutoFit/>
          </a:bodyPr>
          <a:lstStyle/>
          <a:p>
            <a:pPr algn="ctr"/>
            <a:r>
              <a:rPr sz="1800" b="1" i="0" u="none">
                <a:solidFill>
                  <a:srgbClr val="0B2B4E"/>
                </a:solidFill>
                <a:latin typeface="Calibri"/>
              </a:rPr>
              <a:t>Produce</a:t>
            </a:r>
          </a:p>
        </p:txBody>
      </p:sp>
      <p:sp>
        <p:nvSpPr>
          <p:cNvPr id="11" name="TextBox 10"/>
          <p:cNvSpPr txBox="1"/>
          <p:nvPr/>
        </p:nvSpPr>
        <p:spPr>
          <a:xfrm>
            <a:off x="6858000" y="2322576"/>
            <a:ext cx="2286000" cy="457200"/>
          </a:xfrm>
          <a:prstGeom prst="rect">
            <a:avLst/>
          </a:prstGeom>
          <a:noFill/>
        </p:spPr>
        <p:txBody>
          <a:bodyPr wrap="square" lIns="0" rIns="0" tIns="0" bIns="0" anchor="b">
            <a:spAutoFit/>
          </a:bodyPr>
          <a:lstStyle/>
          <a:p>
            <a:pPr algn="ctr"/>
            <a:r>
              <a:rPr sz="1800" b="1" i="0" u="none">
                <a:solidFill>
                  <a:srgbClr val="0B2B4E"/>
                </a:solidFill>
                <a:latin typeface="Calibri"/>
              </a:rPr>
              <a:t>Don't Produce</a:t>
            </a:r>
          </a:p>
        </p:txBody>
      </p:sp>
      <p:sp>
        <p:nvSpPr>
          <p:cNvPr id="12" name="TextBox 11"/>
          <p:cNvSpPr txBox="1"/>
          <p:nvPr/>
        </p:nvSpPr>
        <p:spPr>
          <a:xfrm rot="16200000">
            <a:off x="1399032" y="3602736"/>
            <a:ext cx="1920240" cy="384048"/>
          </a:xfrm>
          <a:prstGeom prst="rect">
            <a:avLst/>
          </a:prstGeom>
          <a:noFill/>
        </p:spPr>
        <p:txBody>
          <a:bodyPr wrap="square" lIns="0" rIns="0" tIns="0" bIns="0">
            <a:spAutoFit/>
          </a:bodyPr>
          <a:lstStyle/>
          <a:p>
            <a:pPr algn="ctr"/>
            <a:r>
              <a:rPr sz="2200" b="1" i="0" u="none">
                <a:solidFill>
                  <a:srgbClr val="0070C0"/>
                </a:solidFill>
                <a:latin typeface="Calibri"/>
              </a:rPr>
              <a:t>Boeing</a:t>
            </a:r>
          </a:p>
        </p:txBody>
      </p:sp>
      <p:sp>
        <p:nvSpPr>
          <p:cNvPr id="13" name="TextBox 12"/>
          <p:cNvSpPr txBox="1"/>
          <p:nvPr/>
        </p:nvSpPr>
        <p:spPr>
          <a:xfrm>
            <a:off x="2724912" y="297180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Produce</a:t>
            </a:r>
          </a:p>
        </p:txBody>
      </p:sp>
      <p:sp>
        <p:nvSpPr>
          <p:cNvPr id="14" name="TextBox 13"/>
          <p:cNvSpPr txBox="1"/>
          <p:nvPr/>
        </p:nvSpPr>
        <p:spPr>
          <a:xfrm>
            <a:off x="2724912" y="393192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Don't
Produce</a:t>
            </a:r>
          </a:p>
        </p:txBody>
      </p:sp>
      <p:sp>
        <p:nvSpPr>
          <p:cNvPr id="15" name="Rectangle 14"/>
          <p:cNvSpPr/>
          <p:nvPr/>
        </p:nvSpPr>
        <p:spPr>
          <a:xfrm>
            <a:off x="4572000" y="2834640"/>
            <a:ext cx="22860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a:t>
            </a:r>
            <a:r>
              <a:rPr sz="2400" b="1">
                <a:solidFill>
                  <a:srgbClr val="0B2B4E"/>
                </a:solidFill>
                <a:latin typeface="Calibri"/>
              </a:rPr>
              <a:t> , </a:t>
            </a:r>
            <a:r>
              <a:rPr sz="2400" b="1">
                <a:solidFill>
                  <a:srgbClr val="E09F3E"/>
                </a:solidFill>
                <a:latin typeface="Calibri"/>
              </a:rPr>
              <a:t>-1</a:t>
            </a:r>
          </a:p>
        </p:txBody>
      </p:sp>
      <p:sp>
        <p:nvSpPr>
          <p:cNvPr id="16" name="Rectangle 15"/>
          <p:cNvSpPr/>
          <p:nvPr/>
        </p:nvSpPr>
        <p:spPr>
          <a:xfrm>
            <a:off x="6858000" y="2834640"/>
            <a:ext cx="22860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5</a:t>
            </a:r>
            <a:r>
              <a:rPr sz="2400" b="1">
                <a:solidFill>
                  <a:srgbClr val="0B2B4E"/>
                </a:solidFill>
                <a:latin typeface="Calibri"/>
              </a:rPr>
              <a:t> , </a:t>
            </a:r>
            <a:r>
              <a:rPr sz="2400" b="1">
                <a:solidFill>
                  <a:srgbClr val="E09F3E"/>
                </a:solidFill>
                <a:latin typeface="Calibri"/>
              </a:rPr>
              <a:t>0</a:t>
            </a:r>
          </a:p>
        </p:txBody>
      </p:sp>
      <p:sp>
        <p:nvSpPr>
          <p:cNvPr id="17" name="Rectangle 16"/>
          <p:cNvSpPr/>
          <p:nvPr/>
        </p:nvSpPr>
        <p:spPr>
          <a:xfrm>
            <a:off x="4572000" y="3794760"/>
            <a:ext cx="22860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0</a:t>
            </a:r>
            <a:r>
              <a:rPr sz="2400" b="1">
                <a:solidFill>
                  <a:srgbClr val="0B2B4E"/>
                </a:solidFill>
                <a:latin typeface="Calibri"/>
              </a:rPr>
              <a:t> , </a:t>
            </a:r>
            <a:r>
              <a:rPr sz="2400" b="1">
                <a:solidFill>
                  <a:srgbClr val="E09F3E"/>
                </a:solidFill>
                <a:latin typeface="Calibri"/>
              </a:rPr>
              <a:t>5</a:t>
            </a:r>
          </a:p>
        </p:txBody>
      </p:sp>
      <p:sp>
        <p:nvSpPr>
          <p:cNvPr id="18" name="Rectangle 17"/>
          <p:cNvSpPr/>
          <p:nvPr/>
        </p:nvSpPr>
        <p:spPr>
          <a:xfrm>
            <a:off x="6858000" y="3794760"/>
            <a:ext cx="22860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0</a:t>
            </a:r>
            <a:r>
              <a:rPr sz="2400" b="1">
                <a:solidFill>
                  <a:srgbClr val="0B2B4E"/>
                </a:solidFill>
                <a:latin typeface="Calibri"/>
              </a:rPr>
              <a:t> , </a:t>
            </a:r>
            <a:r>
              <a:rPr sz="2400" b="1">
                <a:solidFill>
                  <a:srgbClr val="E09F3E"/>
                </a:solidFill>
                <a:latin typeface="Calibri"/>
              </a:rPr>
              <a:t>0</a:t>
            </a:r>
          </a:p>
        </p:txBody>
      </p:sp>
      <p:sp>
        <p:nvSpPr>
          <p:cNvPr id="19" name="Oval 18"/>
          <p:cNvSpPr/>
          <p:nvPr/>
        </p:nvSpPr>
        <p:spPr>
          <a:xfrm>
            <a:off x="6757416" y="2743200"/>
            <a:ext cx="2487168" cy="1143000"/>
          </a:xfrm>
          <a:prstGeom prst="ellipse">
            <a:avLst/>
          </a:prstGeom>
          <a:noFill/>
          <a:ln w="349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4882896"/>
            <a:ext cx="5303520" cy="320040"/>
          </a:xfrm>
          <a:prstGeom prst="rect">
            <a:avLst/>
          </a:prstGeom>
          <a:noFill/>
        </p:spPr>
        <p:txBody>
          <a:bodyPr wrap="none">
            <a:spAutoFit/>
          </a:bodyPr>
          <a:lstStyle/>
          <a:p>
            <a:pPr algn="ctr"/>
            <a:r>
              <a:rPr sz="1500" i="1" b="0">
                <a:solidFill>
                  <a:srgbClr val="0B2B4E"/>
                </a:solidFill>
                <a:latin typeface="Calibri"/>
              </a:rPr>
              <a:t>Payoffs to (</a:t>
            </a:r>
            <a:r>
              <a:rPr sz="1500" i="1" b="1">
                <a:solidFill>
                  <a:srgbClr val="0070C0"/>
                </a:solidFill>
                <a:latin typeface="Calibri"/>
              </a:rPr>
              <a:t>Boeing</a:t>
            </a:r>
            <a:r>
              <a:rPr sz="1500" i="1" b="0">
                <a:solidFill>
                  <a:srgbClr val="0B2B4E"/>
                </a:solidFill>
                <a:latin typeface="Calibri"/>
              </a:rPr>
              <a:t>, </a:t>
            </a:r>
            <a:r>
              <a:rPr sz="1500" i="1" b="1">
                <a:solidFill>
                  <a:srgbClr val="E09F3E"/>
                </a:solidFill>
                <a:latin typeface="Calibri"/>
              </a:rPr>
              <a:t>Airbus</a:t>
            </a:r>
            <a:r>
              <a:rPr sz="1500" i="1" b="0">
                <a:solidFill>
                  <a:srgbClr val="0B2B4E"/>
                </a:solidFill>
                <a:latin typeface="Calibri"/>
              </a:rPr>
              <a:t>)</a:t>
            </a:r>
          </a:p>
        </p:txBody>
      </p:sp>
      <p:sp>
        <p:nvSpPr>
          <p:cNvPr id="21" name="Oval 20"/>
          <p:cNvSpPr/>
          <p:nvPr/>
        </p:nvSpPr>
        <p:spPr>
          <a:xfrm>
            <a:off x="4471416" y="3703320"/>
            <a:ext cx="2487168" cy="1143000"/>
          </a:xfrm>
          <a:prstGeom prst="ellipse">
            <a:avLst/>
          </a:prstGeom>
          <a:noFill/>
          <a:ln w="28575">
            <a:solidFill>
              <a:srgbClr val="E09F3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5349240" y="3552444"/>
            <a:ext cx="0" cy="35661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5065776" y="4064508"/>
            <a:ext cx="566928" cy="420624"/>
          </a:xfrm>
          <a:prstGeom prst="ellipse">
            <a:avLst/>
          </a:prstGeom>
          <a:noFill/>
          <a:ln w="285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flipV="1">
            <a:off x="7635240" y="3680460"/>
            <a:ext cx="0" cy="35661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7351776" y="3104388"/>
            <a:ext cx="566928" cy="420624"/>
          </a:xfrm>
          <a:prstGeom prst="ellipse">
            <a:avLst/>
          </a:prstGeom>
          <a:noFill/>
          <a:ln w="285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6126480" y="3040380"/>
            <a:ext cx="191109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8083296" y="3104388"/>
            <a:ext cx="566928" cy="420624"/>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flipH="1">
            <a:off x="6409944" y="4000500"/>
            <a:ext cx="191109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5797296" y="4064508"/>
            <a:ext cx="566928" cy="420624"/>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503920" y="5394960"/>
            <a:ext cx="3291840" cy="960120"/>
          </a:xfrm>
          <a:prstGeom prst="roundRect">
            <a:avLst>
              <a:gd name="adj" fmla="val 15000"/>
            </a:avLst>
          </a:prstGeom>
          <a:solidFill>
            <a:srgbClr val="FFFFFF"/>
          </a:soli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B2B4E"/>
                </a:solidFill>
                <a:latin typeface="Calibri"/>
              </a:rPr>
              <a:t>Boeing is already incumbent. So we're initially in this Nash equilibrium</a:t>
            </a:r>
          </a:p>
        </p:txBody>
      </p:sp>
      <p:cxnSp>
        <p:nvCxnSpPr>
          <p:cNvPr id="31" name="Connector 30"/>
          <p:cNvCxnSpPr/>
          <p:nvPr/>
        </p:nvCxnSpPr>
        <p:spPr>
          <a:xfrm flipH="1" flipV="1">
            <a:off x="8549640" y="3634740"/>
            <a:ext cx="1417320" cy="1741932"/>
          </a:xfrm>
          <a:prstGeom prst="line">
            <a:avLst/>
          </a:prstGeom>
          <a:ln w="190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35" name="TextBox 34"/>
          <p:cNvSpPr txBox="1"/>
          <p:nvPr/>
        </p:nvSpPr>
        <p:spPr>
          <a:xfrm>
            <a:off x="11475720" y="6583680"/>
            <a:ext cx="502920" cy="292608"/>
          </a:xfrm>
          <a:prstGeom prst="rect">
            <a:avLst/>
          </a:prstGeom>
          <a:noFill/>
        </p:spPr>
        <p:txBody>
          <a:bodyPr wrap="none" lIns="0" rIns="0" tIns="0" bIns="0">
            <a:spAutoFit/>
          </a:bodyPr>
          <a:lstStyle/>
          <a:p>
            <a:pPr algn="r"/>
            <a:fld id="{1F21B14E-2894-5CCE-9DCB-D4B8056DA485}" type="slidenum">
              <a:rPr lang="en-US" sz="1200" dirty="0">
                <a:solidFill>
                  <a:srgbClr val="555B66"/>
                </a:solidFill>
                <a:latin typeface="Calibri"/>
              </a:rPr>
              <a:t>83</a:t>
            </a:fld>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Subsidy Case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554480"/>
            <a:ext cx="11247120" cy="548640"/>
          </a:xfrm>
          <a:prstGeom prst="rect">
            <a:avLst/>
          </a:prstGeom>
          <a:noFill/>
        </p:spPr>
        <p:txBody>
          <a:bodyPr wrap="square" lIns="0" rIns="0" tIns="0" bIns="0">
            <a:spAutoFit/>
          </a:bodyPr>
          <a:lstStyle>
            <a:lvl1pPr marL="342900" indent="-342900">
              <a:spcBef>
                <a:spcPts val="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EU pays $2B to Airbus if they produce</a:t>
            </a:r>
          </a:p>
        </p:txBody>
      </p:sp>
      <p:sp>
        <p:nvSpPr>
          <p:cNvPr id="8" name="TextBox 7"/>
          <p:cNvSpPr txBox="1"/>
          <p:nvPr/>
        </p:nvSpPr>
        <p:spPr>
          <a:xfrm>
            <a:off x="4572000" y="2121408"/>
            <a:ext cx="4572000" cy="384048"/>
          </a:xfrm>
          <a:prstGeom prst="rect">
            <a:avLst/>
          </a:prstGeom>
          <a:noFill/>
        </p:spPr>
        <p:txBody>
          <a:bodyPr wrap="square" lIns="0" rIns="0" tIns="0" bIns="0">
            <a:spAutoFit/>
          </a:bodyPr>
          <a:lstStyle/>
          <a:p>
            <a:pPr algn="ctr"/>
            <a:r>
              <a:rPr sz="2200" b="1" i="0" u="none">
                <a:solidFill>
                  <a:srgbClr val="E09F3E"/>
                </a:solidFill>
                <a:latin typeface="Calibri"/>
              </a:rPr>
              <a:t>Airbus</a:t>
            </a:r>
          </a:p>
        </p:txBody>
      </p:sp>
      <p:sp>
        <p:nvSpPr>
          <p:cNvPr id="9" name="TextBox 8"/>
          <p:cNvSpPr txBox="1"/>
          <p:nvPr/>
        </p:nvSpPr>
        <p:spPr>
          <a:xfrm>
            <a:off x="4572000" y="2505456"/>
            <a:ext cx="2286000" cy="457200"/>
          </a:xfrm>
          <a:prstGeom prst="rect">
            <a:avLst/>
          </a:prstGeom>
          <a:noFill/>
        </p:spPr>
        <p:txBody>
          <a:bodyPr wrap="square" lIns="0" rIns="0" tIns="0" bIns="0" anchor="b">
            <a:spAutoFit/>
          </a:bodyPr>
          <a:lstStyle/>
          <a:p>
            <a:pPr algn="ctr"/>
            <a:r>
              <a:rPr sz="1800" b="1" i="0" u="none">
                <a:solidFill>
                  <a:srgbClr val="0B2B4E"/>
                </a:solidFill>
                <a:latin typeface="Calibri"/>
              </a:rPr>
              <a:t>Produce</a:t>
            </a:r>
          </a:p>
        </p:txBody>
      </p:sp>
      <p:sp>
        <p:nvSpPr>
          <p:cNvPr id="10" name="TextBox 9"/>
          <p:cNvSpPr txBox="1"/>
          <p:nvPr/>
        </p:nvSpPr>
        <p:spPr>
          <a:xfrm>
            <a:off x="6858000" y="2505456"/>
            <a:ext cx="2286000" cy="457200"/>
          </a:xfrm>
          <a:prstGeom prst="rect">
            <a:avLst/>
          </a:prstGeom>
          <a:noFill/>
        </p:spPr>
        <p:txBody>
          <a:bodyPr wrap="square" lIns="0" rIns="0" tIns="0" bIns="0" anchor="b">
            <a:spAutoFit/>
          </a:bodyPr>
          <a:lstStyle/>
          <a:p>
            <a:pPr algn="ctr"/>
            <a:r>
              <a:rPr sz="1800" b="1" i="0" u="none">
                <a:solidFill>
                  <a:srgbClr val="0B2B4E"/>
                </a:solidFill>
                <a:latin typeface="Calibri"/>
              </a:rPr>
              <a:t>Don't Produce</a:t>
            </a:r>
          </a:p>
        </p:txBody>
      </p:sp>
      <p:sp>
        <p:nvSpPr>
          <p:cNvPr id="11" name="TextBox 10"/>
          <p:cNvSpPr txBox="1"/>
          <p:nvPr/>
        </p:nvSpPr>
        <p:spPr>
          <a:xfrm rot="16200000">
            <a:off x="1399032" y="3785616"/>
            <a:ext cx="1920240" cy="384048"/>
          </a:xfrm>
          <a:prstGeom prst="rect">
            <a:avLst/>
          </a:prstGeom>
          <a:noFill/>
        </p:spPr>
        <p:txBody>
          <a:bodyPr wrap="square" lIns="0" rIns="0" tIns="0" bIns="0">
            <a:spAutoFit/>
          </a:bodyPr>
          <a:lstStyle/>
          <a:p>
            <a:pPr algn="ctr"/>
            <a:r>
              <a:rPr sz="2200" b="1" i="0" u="none">
                <a:solidFill>
                  <a:srgbClr val="0070C0"/>
                </a:solidFill>
                <a:latin typeface="Calibri"/>
              </a:rPr>
              <a:t>Boeing</a:t>
            </a:r>
          </a:p>
        </p:txBody>
      </p:sp>
      <p:sp>
        <p:nvSpPr>
          <p:cNvPr id="12" name="TextBox 11"/>
          <p:cNvSpPr txBox="1"/>
          <p:nvPr/>
        </p:nvSpPr>
        <p:spPr>
          <a:xfrm>
            <a:off x="2724912" y="315468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Produce</a:t>
            </a:r>
          </a:p>
        </p:txBody>
      </p:sp>
      <p:sp>
        <p:nvSpPr>
          <p:cNvPr id="13" name="TextBox 12"/>
          <p:cNvSpPr txBox="1"/>
          <p:nvPr/>
        </p:nvSpPr>
        <p:spPr>
          <a:xfrm>
            <a:off x="2724912" y="411480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Don't
Produce</a:t>
            </a:r>
          </a:p>
        </p:txBody>
      </p:sp>
      <p:sp>
        <p:nvSpPr>
          <p:cNvPr id="14" name="Rectangle 13"/>
          <p:cNvSpPr/>
          <p:nvPr/>
        </p:nvSpPr>
        <p:spPr>
          <a:xfrm>
            <a:off x="4572000" y="3017520"/>
            <a:ext cx="22860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-5</a:t>
            </a:r>
            <a:r>
              <a:rPr sz="2400" b="1">
                <a:solidFill>
                  <a:srgbClr val="0B2B4E"/>
                </a:solidFill>
                <a:latin typeface="Calibri"/>
              </a:rPr>
              <a:t> , </a:t>
            </a:r>
            <a:r>
              <a:rPr sz="2400" b="1">
                <a:solidFill>
                  <a:srgbClr val="E09F3E"/>
                </a:solidFill>
                <a:latin typeface="Calibri"/>
              </a:rPr>
              <a:t>1</a:t>
            </a:r>
          </a:p>
        </p:txBody>
      </p:sp>
      <p:sp>
        <p:nvSpPr>
          <p:cNvPr id="15" name="Rectangle 14"/>
          <p:cNvSpPr/>
          <p:nvPr/>
        </p:nvSpPr>
        <p:spPr>
          <a:xfrm>
            <a:off x="6858000" y="3017520"/>
            <a:ext cx="22860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5</a:t>
            </a:r>
            <a:r>
              <a:rPr sz="2400" b="1">
                <a:solidFill>
                  <a:srgbClr val="0B2B4E"/>
                </a:solidFill>
                <a:latin typeface="Calibri"/>
              </a:rPr>
              <a:t> , </a:t>
            </a:r>
            <a:r>
              <a:rPr sz="2400" b="1">
                <a:solidFill>
                  <a:srgbClr val="E09F3E"/>
                </a:solidFill>
                <a:latin typeface="Calibri"/>
              </a:rPr>
              <a:t>0</a:t>
            </a:r>
          </a:p>
        </p:txBody>
      </p:sp>
      <p:sp>
        <p:nvSpPr>
          <p:cNvPr id="16" name="Rectangle 15"/>
          <p:cNvSpPr/>
          <p:nvPr/>
        </p:nvSpPr>
        <p:spPr>
          <a:xfrm>
            <a:off x="4572000" y="3977640"/>
            <a:ext cx="22860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0</a:t>
            </a:r>
            <a:r>
              <a:rPr sz="2400" b="1">
                <a:solidFill>
                  <a:srgbClr val="0B2B4E"/>
                </a:solidFill>
                <a:latin typeface="Calibri"/>
              </a:rPr>
              <a:t> , </a:t>
            </a:r>
            <a:r>
              <a:rPr sz="2400" b="1">
                <a:solidFill>
                  <a:srgbClr val="E09F3E"/>
                </a:solidFill>
                <a:latin typeface="Calibri"/>
              </a:rPr>
              <a:t>7</a:t>
            </a:r>
          </a:p>
        </p:txBody>
      </p:sp>
      <p:sp>
        <p:nvSpPr>
          <p:cNvPr id="17" name="Rectangle 16"/>
          <p:cNvSpPr/>
          <p:nvPr/>
        </p:nvSpPr>
        <p:spPr>
          <a:xfrm>
            <a:off x="6858000" y="3977640"/>
            <a:ext cx="22860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0</a:t>
            </a:r>
            <a:r>
              <a:rPr sz="2400" b="1">
                <a:solidFill>
                  <a:srgbClr val="0B2B4E"/>
                </a:solidFill>
                <a:latin typeface="Calibri"/>
              </a:rPr>
              <a:t> , </a:t>
            </a:r>
            <a:r>
              <a:rPr sz="2400" b="1">
                <a:solidFill>
                  <a:srgbClr val="E09F3E"/>
                </a:solidFill>
                <a:latin typeface="Calibri"/>
              </a:rPr>
              <a:t>0</a:t>
            </a:r>
          </a:p>
        </p:txBody>
      </p:sp>
      <p:sp>
        <p:nvSpPr>
          <p:cNvPr id="18" name="Oval 17"/>
          <p:cNvSpPr/>
          <p:nvPr/>
        </p:nvSpPr>
        <p:spPr>
          <a:xfrm>
            <a:off x="4471416" y="3886200"/>
            <a:ext cx="2487168" cy="1143000"/>
          </a:xfrm>
          <a:prstGeom prst="ellipse">
            <a:avLst/>
          </a:prstGeom>
          <a:noFill/>
          <a:ln w="349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06240" y="5065776"/>
            <a:ext cx="5303520" cy="320040"/>
          </a:xfrm>
          <a:prstGeom prst="rect">
            <a:avLst/>
          </a:prstGeom>
          <a:noFill/>
        </p:spPr>
        <p:txBody>
          <a:bodyPr wrap="none">
            <a:spAutoFit/>
          </a:bodyPr>
          <a:lstStyle/>
          <a:p>
            <a:pPr algn="ctr"/>
            <a:r>
              <a:rPr sz="1500" i="1" b="0">
                <a:solidFill>
                  <a:srgbClr val="0B2B4E"/>
                </a:solidFill>
                <a:latin typeface="Calibri"/>
              </a:rPr>
              <a:t>Payoffs to (</a:t>
            </a:r>
            <a:r>
              <a:rPr sz="1500" i="1" b="1">
                <a:solidFill>
                  <a:srgbClr val="0070C0"/>
                </a:solidFill>
                <a:latin typeface="Calibri"/>
              </a:rPr>
              <a:t>Boeing</a:t>
            </a:r>
            <a:r>
              <a:rPr sz="1500" i="1" b="0">
                <a:solidFill>
                  <a:srgbClr val="0B2B4E"/>
                </a:solidFill>
                <a:latin typeface="Calibri"/>
              </a:rPr>
              <a:t>, </a:t>
            </a:r>
            <a:r>
              <a:rPr sz="1500" i="1" b="1">
                <a:solidFill>
                  <a:srgbClr val="E09F3E"/>
                </a:solidFill>
                <a:latin typeface="Calibri"/>
              </a:rPr>
              <a:t>Airbus</a:t>
            </a:r>
            <a:r>
              <a:rPr sz="1500" i="1" b="0">
                <a:solidFill>
                  <a:srgbClr val="0B2B4E"/>
                </a:solidFill>
                <a:latin typeface="Calibri"/>
              </a:rPr>
              <a:t>)</a:t>
            </a:r>
          </a:p>
        </p:txBody>
      </p:sp>
      <p:cxnSp>
        <p:nvCxnSpPr>
          <p:cNvPr id="20" name="Connector 19"/>
          <p:cNvCxnSpPr/>
          <p:nvPr/>
        </p:nvCxnSpPr>
        <p:spPr>
          <a:xfrm>
            <a:off x="5349240" y="3735324"/>
            <a:ext cx="0" cy="35661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5065776" y="4247388"/>
            <a:ext cx="566928" cy="420624"/>
          </a:xfrm>
          <a:prstGeom prst="ellipse">
            <a:avLst/>
          </a:prstGeom>
          <a:noFill/>
          <a:ln w="285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flipV="1">
            <a:off x="7635240" y="3863340"/>
            <a:ext cx="0" cy="35661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351776" y="3287268"/>
            <a:ext cx="566928" cy="420624"/>
          </a:xfrm>
          <a:prstGeom prst="ellipse">
            <a:avLst/>
          </a:prstGeom>
          <a:noFill/>
          <a:ln w="285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flipH="1">
            <a:off x="6409944" y="3223260"/>
            <a:ext cx="191109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5797296" y="3287268"/>
            <a:ext cx="566928" cy="420624"/>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flipH="1">
            <a:off x="6409944" y="4183380"/>
            <a:ext cx="191109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5797296" y="4247388"/>
            <a:ext cx="566928" cy="420624"/>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732520" y="5440680"/>
            <a:ext cx="3108960" cy="822960"/>
          </a:xfrm>
          <a:prstGeom prst="roundRect">
            <a:avLst>
              <a:gd name="adj" fmla="val 15000"/>
            </a:avLst>
          </a:prstGeom>
          <a:solidFill>
            <a:srgbClr val="FFFFFF"/>
          </a:soli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B2B4E"/>
                </a:solidFill>
                <a:latin typeface="Calibri"/>
              </a:rPr>
              <a:t>Unique Nash equilibrium in the EU-only subsidy case</a:t>
            </a:r>
          </a:p>
        </p:txBody>
      </p:sp>
      <p:cxnSp>
        <p:nvCxnSpPr>
          <p:cNvPr id="29" name="Connector 28"/>
          <p:cNvCxnSpPr/>
          <p:nvPr/>
        </p:nvCxnSpPr>
        <p:spPr>
          <a:xfrm flipH="1" flipV="1">
            <a:off x="6263640" y="4823460"/>
            <a:ext cx="3246120" cy="598932"/>
          </a:xfrm>
          <a:prstGeom prst="line">
            <a:avLst/>
          </a:prstGeom>
          <a:ln w="190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33" name="TextBox 32"/>
          <p:cNvSpPr txBox="1"/>
          <p:nvPr/>
        </p:nvSpPr>
        <p:spPr>
          <a:xfrm>
            <a:off x="11475720" y="6583680"/>
            <a:ext cx="502920" cy="292608"/>
          </a:xfrm>
          <a:prstGeom prst="rect">
            <a:avLst/>
          </a:prstGeom>
          <a:noFill/>
        </p:spPr>
        <p:txBody>
          <a:bodyPr wrap="none" lIns="0" rIns="0" tIns="0" bIns="0">
            <a:spAutoFit/>
          </a:bodyPr>
          <a:lstStyle/>
          <a:p>
            <a:pPr algn="r"/>
            <a:fld id="{D21D862A-4256-5ADE-AE64-3E57A83F81A0}" type="slidenum">
              <a:rPr lang="en-US" sz="1200" dirty="0">
                <a:solidFill>
                  <a:srgbClr val="555B66"/>
                </a:solidFill>
                <a:latin typeface="Calibri"/>
              </a:rPr>
              <a:t>84</a:t>
            </a:fld>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Classic Games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Subsidy in Both EU and US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554480"/>
            <a:ext cx="11247120" cy="548640"/>
          </a:xfrm>
          <a:prstGeom prst="rect">
            <a:avLst/>
          </a:prstGeom>
          <a:noFill/>
        </p:spPr>
        <p:txBody>
          <a:bodyPr wrap="square" lIns="0" rIns="0" tIns="0" bIns="0">
            <a:spAutoFit/>
          </a:bodyPr>
          <a:lstStyle>
            <a:lvl1pPr marL="342900" indent="-342900">
              <a:spcBef>
                <a:spcPts val="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US now also pays $2B to Boeing if they produce</a:t>
            </a:r>
          </a:p>
        </p:txBody>
      </p:sp>
      <p:sp>
        <p:nvSpPr>
          <p:cNvPr id="8" name="TextBox 7"/>
          <p:cNvSpPr txBox="1"/>
          <p:nvPr/>
        </p:nvSpPr>
        <p:spPr>
          <a:xfrm>
            <a:off x="4572000" y="2121408"/>
            <a:ext cx="4572000" cy="384048"/>
          </a:xfrm>
          <a:prstGeom prst="rect">
            <a:avLst/>
          </a:prstGeom>
          <a:noFill/>
        </p:spPr>
        <p:txBody>
          <a:bodyPr wrap="square" lIns="0" rIns="0" tIns="0" bIns="0">
            <a:spAutoFit/>
          </a:bodyPr>
          <a:lstStyle/>
          <a:p>
            <a:pPr algn="ctr"/>
            <a:r>
              <a:rPr sz="2200" b="1" i="0" u="none">
                <a:solidFill>
                  <a:srgbClr val="E09F3E"/>
                </a:solidFill>
                <a:latin typeface="Calibri"/>
              </a:rPr>
              <a:t>Airbus</a:t>
            </a:r>
          </a:p>
        </p:txBody>
      </p:sp>
      <p:sp>
        <p:nvSpPr>
          <p:cNvPr id="9" name="TextBox 8"/>
          <p:cNvSpPr txBox="1"/>
          <p:nvPr/>
        </p:nvSpPr>
        <p:spPr>
          <a:xfrm>
            <a:off x="4572000" y="2505456"/>
            <a:ext cx="2286000" cy="457200"/>
          </a:xfrm>
          <a:prstGeom prst="rect">
            <a:avLst/>
          </a:prstGeom>
          <a:noFill/>
        </p:spPr>
        <p:txBody>
          <a:bodyPr wrap="square" lIns="0" rIns="0" tIns="0" bIns="0" anchor="b">
            <a:spAutoFit/>
          </a:bodyPr>
          <a:lstStyle/>
          <a:p>
            <a:pPr algn="ctr"/>
            <a:r>
              <a:rPr sz="1800" b="1" i="0" u="none">
                <a:solidFill>
                  <a:srgbClr val="0B2B4E"/>
                </a:solidFill>
                <a:latin typeface="Calibri"/>
              </a:rPr>
              <a:t>Produce</a:t>
            </a:r>
          </a:p>
        </p:txBody>
      </p:sp>
      <p:sp>
        <p:nvSpPr>
          <p:cNvPr id="10" name="TextBox 9"/>
          <p:cNvSpPr txBox="1"/>
          <p:nvPr/>
        </p:nvSpPr>
        <p:spPr>
          <a:xfrm>
            <a:off x="6858000" y="2505456"/>
            <a:ext cx="2286000" cy="457200"/>
          </a:xfrm>
          <a:prstGeom prst="rect">
            <a:avLst/>
          </a:prstGeom>
          <a:noFill/>
        </p:spPr>
        <p:txBody>
          <a:bodyPr wrap="square" lIns="0" rIns="0" tIns="0" bIns="0" anchor="b">
            <a:spAutoFit/>
          </a:bodyPr>
          <a:lstStyle/>
          <a:p>
            <a:pPr algn="ctr"/>
            <a:r>
              <a:rPr sz="1800" b="1" i="0" u="none">
                <a:solidFill>
                  <a:srgbClr val="0B2B4E"/>
                </a:solidFill>
                <a:latin typeface="Calibri"/>
              </a:rPr>
              <a:t>Don't Produce</a:t>
            </a:r>
          </a:p>
        </p:txBody>
      </p:sp>
      <p:sp>
        <p:nvSpPr>
          <p:cNvPr id="11" name="TextBox 10"/>
          <p:cNvSpPr txBox="1"/>
          <p:nvPr/>
        </p:nvSpPr>
        <p:spPr>
          <a:xfrm rot="16200000">
            <a:off x="1399032" y="3785616"/>
            <a:ext cx="1920240" cy="384048"/>
          </a:xfrm>
          <a:prstGeom prst="rect">
            <a:avLst/>
          </a:prstGeom>
          <a:noFill/>
        </p:spPr>
        <p:txBody>
          <a:bodyPr wrap="square" lIns="0" rIns="0" tIns="0" bIns="0">
            <a:spAutoFit/>
          </a:bodyPr>
          <a:lstStyle/>
          <a:p>
            <a:pPr algn="ctr"/>
            <a:r>
              <a:rPr sz="2200" b="1" i="0" u="none">
                <a:solidFill>
                  <a:srgbClr val="0070C0"/>
                </a:solidFill>
                <a:latin typeface="Calibri"/>
              </a:rPr>
              <a:t>Boeing</a:t>
            </a:r>
          </a:p>
        </p:txBody>
      </p:sp>
      <p:sp>
        <p:nvSpPr>
          <p:cNvPr id="12" name="TextBox 11"/>
          <p:cNvSpPr txBox="1"/>
          <p:nvPr/>
        </p:nvSpPr>
        <p:spPr>
          <a:xfrm>
            <a:off x="2724912" y="315468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Produce</a:t>
            </a:r>
          </a:p>
        </p:txBody>
      </p:sp>
      <p:sp>
        <p:nvSpPr>
          <p:cNvPr id="13" name="TextBox 12"/>
          <p:cNvSpPr txBox="1"/>
          <p:nvPr/>
        </p:nvSpPr>
        <p:spPr>
          <a:xfrm>
            <a:off x="2724912" y="4114800"/>
            <a:ext cx="1737360" cy="685800"/>
          </a:xfrm>
          <a:prstGeom prst="rect">
            <a:avLst/>
          </a:prstGeom>
          <a:noFill/>
        </p:spPr>
        <p:txBody>
          <a:bodyPr wrap="square" lIns="0" rIns="0" tIns="0" bIns="0" anchor="ctr">
            <a:spAutoFit/>
          </a:bodyPr>
          <a:lstStyle/>
          <a:p>
            <a:pPr algn="r"/>
            <a:r>
              <a:rPr sz="1800" b="1" i="0" u="none">
                <a:solidFill>
                  <a:srgbClr val="0B2B4E"/>
                </a:solidFill>
                <a:latin typeface="Calibri"/>
              </a:rPr>
              <a:t>Don't
Produce</a:t>
            </a:r>
          </a:p>
        </p:txBody>
      </p:sp>
      <p:sp>
        <p:nvSpPr>
          <p:cNvPr id="14" name="Rectangle 13"/>
          <p:cNvSpPr/>
          <p:nvPr/>
        </p:nvSpPr>
        <p:spPr>
          <a:xfrm>
            <a:off x="4572000" y="3017520"/>
            <a:ext cx="22860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1</a:t>
            </a:r>
            <a:r>
              <a:rPr sz="2400" b="1">
                <a:solidFill>
                  <a:srgbClr val="0B2B4E"/>
                </a:solidFill>
                <a:latin typeface="Calibri"/>
              </a:rPr>
              <a:t> , </a:t>
            </a:r>
            <a:r>
              <a:rPr sz="2400" b="1">
                <a:solidFill>
                  <a:srgbClr val="E09F3E"/>
                </a:solidFill>
                <a:latin typeface="Calibri"/>
              </a:rPr>
              <a:t>1</a:t>
            </a:r>
          </a:p>
        </p:txBody>
      </p:sp>
      <p:sp>
        <p:nvSpPr>
          <p:cNvPr id="15" name="Rectangle 14"/>
          <p:cNvSpPr/>
          <p:nvPr/>
        </p:nvSpPr>
        <p:spPr>
          <a:xfrm>
            <a:off x="6858000" y="3017520"/>
            <a:ext cx="22860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7</a:t>
            </a:r>
            <a:r>
              <a:rPr sz="2400" b="1">
                <a:solidFill>
                  <a:srgbClr val="0B2B4E"/>
                </a:solidFill>
                <a:latin typeface="Calibri"/>
              </a:rPr>
              <a:t> , </a:t>
            </a:r>
            <a:r>
              <a:rPr sz="2400" b="1">
                <a:solidFill>
                  <a:srgbClr val="E09F3E"/>
                </a:solidFill>
                <a:latin typeface="Calibri"/>
              </a:rPr>
              <a:t>0</a:t>
            </a:r>
          </a:p>
        </p:txBody>
      </p:sp>
      <p:sp>
        <p:nvSpPr>
          <p:cNvPr id="16" name="Rectangle 15"/>
          <p:cNvSpPr/>
          <p:nvPr/>
        </p:nvSpPr>
        <p:spPr>
          <a:xfrm>
            <a:off x="4572000" y="3977640"/>
            <a:ext cx="22860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0</a:t>
            </a:r>
            <a:r>
              <a:rPr sz="2400" b="1">
                <a:solidFill>
                  <a:srgbClr val="0B2B4E"/>
                </a:solidFill>
                <a:latin typeface="Calibri"/>
              </a:rPr>
              <a:t> , </a:t>
            </a:r>
            <a:r>
              <a:rPr sz="2400" b="1">
                <a:solidFill>
                  <a:srgbClr val="E09F3E"/>
                </a:solidFill>
                <a:latin typeface="Calibri"/>
              </a:rPr>
              <a:t>7</a:t>
            </a:r>
          </a:p>
        </p:txBody>
      </p:sp>
      <p:sp>
        <p:nvSpPr>
          <p:cNvPr id="17" name="Rectangle 16"/>
          <p:cNvSpPr/>
          <p:nvPr/>
        </p:nvSpPr>
        <p:spPr>
          <a:xfrm>
            <a:off x="6858000" y="3977640"/>
            <a:ext cx="2286000" cy="96012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070C0"/>
                </a:solidFill>
                <a:latin typeface="Calibri"/>
              </a:rPr>
              <a:t>0</a:t>
            </a:r>
            <a:r>
              <a:rPr sz="2400" b="1">
                <a:solidFill>
                  <a:srgbClr val="0B2B4E"/>
                </a:solidFill>
                <a:latin typeface="Calibri"/>
              </a:rPr>
              <a:t> , </a:t>
            </a:r>
            <a:r>
              <a:rPr sz="2400" b="1">
                <a:solidFill>
                  <a:srgbClr val="E09F3E"/>
                </a:solidFill>
                <a:latin typeface="Calibri"/>
              </a:rPr>
              <a:t>0</a:t>
            </a:r>
          </a:p>
        </p:txBody>
      </p:sp>
      <p:sp>
        <p:nvSpPr>
          <p:cNvPr id="18" name="Oval 17"/>
          <p:cNvSpPr/>
          <p:nvPr/>
        </p:nvSpPr>
        <p:spPr>
          <a:xfrm>
            <a:off x="4471416" y="2926080"/>
            <a:ext cx="2487168" cy="1143000"/>
          </a:xfrm>
          <a:prstGeom prst="ellipse">
            <a:avLst/>
          </a:prstGeom>
          <a:noFill/>
          <a:ln w="349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06240" y="5065776"/>
            <a:ext cx="5303520" cy="320040"/>
          </a:xfrm>
          <a:prstGeom prst="rect">
            <a:avLst/>
          </a:prstGeom>
          <a:noFill/>
        </p:spPr>
        <p:txBody>
          <a:bodyPr wrap="none">
            <a:spAutoFit/>
          </a:bodyPr>
          <a:lstStyle/>
          <a:p>
            <a:pPr algn="ctr"/>
            <a:r>
              <a:rPr sz="1500" i="1" b="0">
                <a:solidFill>
                  <a:srgbClr val="0B2B4E"/>
                </a:solidFill>
                <a:latin typeface="Calibri"/>
              </a:rPr>
              <a:t>Payoffs to (</a:t>
            </a:r>
            <a:r>
              <a:rPr sz="1500" i="1" b="1">
                <a:solidFill>
                  <a:srgbClr val="0070C0"/>
                </a:solidFill>
                <a:latin typeface="Calibri"/>
              </a:rPr>
              <a:t>Boeing</a:t>
            </a:r>
            <a:r>
              <a:rPr sz="1500" i="1" b="0">
                <a:solidFill>
                  <a:srgbClr val="0B2B4E"/>
                </a:solidFill>
                <a:latin typeface="Calibri"/>
              </a:rPr>
              <a:t>, </a:t>
            </a:r>
            <a:r>
              <a:rPr sz="1500" i="1" b="1">
                <a:solidFill>
                  <a:srgbClr val="E09F3E"/>
                </a:solidFill>
                <a:latin typeface="Calibri"/>
              </a:rPr>
              <a:t>Airbus</a:t>
            </a:r>
            <a:r>
              <a:rPr sz="1500" i="1" b="0">
                <a:solidFill>
                  <a:srgbClr val="0B2B4E"/>
                </a:solidFill>
                <a:latin typeface="Calibri"/>
              </a:rPr>
              <a:t>)</a:t>
            </a:r>
          </a:p>
        </p:txBody>
      </p:sp>
      <p:cxnSp>
        <p:nvCxnSpPr>
          <p:cNvPr id="20" name="Connector 19"/>
          <p:cNvCxnSpPr/>
          <p:nvPr/>
        </p:nvCxnSpPr>
        <p:spPr>
          <a:xfrm flipV="1">
            <a:off x="5349240" y="3863340"/>
            <a:ext cx="0" cy="35661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5065776" y="3287268"/>
            <a:ext cx="566928" cy="420624"/>
          </a:xfrm>
          <a:prstGeom prst="ellipse">
            <a:avLst/>
          </a:prstGeom>
          <a:noFill/>
          <a:ln w="285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flipV="1">
            <a:off x="7635240" y="3863340"/>
            <a:ext cx="0" cy="356616"/>
          </a:xfrm>
          <a:prstGeom prst="line">
            <a:avLst/>
          </a:prstGeom>
          <a:ln w="317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351776" y="3287268"/>
            <a:ext cx="566928" cy="420624"/>
          </a:xfrm>
          <a:prstGeom prst="ellipse">
            <a:avLst/>
          </a:prstGeom>
          <a:noFill/>
          <a:ln w="285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flipH="1">
            <a:off x="6409944" y="3223260"/>
            <a:ext cx="191109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5797296" y="3287268"/>
            <a:ext cx="566928" cy="420624"/>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flipH="1">
            <a:off x="6409944" y="4183380"/>
            <a:ext cx="1911096" cy="0"/>
          </a:xfrm>
          <a:prstGeom prst="line">
            <a:avLst/>
          </a:prstGeom>
          <a:ln w="317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5797296" y="4247388"/>
            <a:ext cx="566928" cy="420624"/>
          </a:xfrm>
          <a:prstGeom prst="ellipse">
            <a:avLst/>
          </a:prstGeom>
          <a:noFill/>
          <a:ln w="285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732520" y="5440680"/>
            <a:ext cx="3108960" cy="822960"/>
          </a:xfrm>
          <a:prstGeom prst="roundRect">
            <a:avLst>
              <a:gd name="adj" fmla="val 15000"/>
            </a:avLst>
          </a:prstGeom>
          <a:solidFill>
            <a:srgbClr val="FFFFFF"/>
          </a:soli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B2B4E"/>
                </a:solidFill>
                <a:latin typeface="Calibri"/>
              </a:rPr>
              <a:t>Unique Nash equilibrium in the EU+US subsidy case</a:t>
            </a:r>
          </a:p>
        </p:txBody>
      </p:sp>
      <p:cxnSp>
        <p:nvCxnSpPr>
          <p:cNvPr id="29" name="Connector 28"/>
          <p:cNvCxnSpPr/>
          <p:nvPr/>
        </p:nvCxnSpPr>
        <p:spPr>
          <a:xfrm flipH="1" flipV="1">
            <a:off x="6263640" y="3863340"/>
            <a:ext cx="3246120" cy="1559052"/>
          </a:xfrm>
          <a:prstGeom prst="line">
            <a:avLst/>
          </a:prstGeom>
          <a:ln w="1905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33" name="TextBox 32"/>
          <p:cNvSpPr txBox="1"/>
          <p:nvPr/>
        </p:nvSpPr>
        <p:spPr>
          <a:xfrm>
            <a:off x="11475720" y="6583680"/>
            <a:ext cx="502920" cy="292608"/>
          </a:xfrm>
          <a:prstGeom prst="rect">
            <a:avLst/>
          </a:prstGeom>
          <a:noFill/>
        </p:spPr>
        <p:txBody>
          <a:bodyPr wrap="none" lIns="0" rIns="0" tIns="0" bIns="0">
            <a:spAutoFit/>
          </a:bodyPr>
          <a:lstStyle/>
          <a:p>
            <a:pPr algn="r"/>
            <a:fld id="{810E763B-DF0E-5C60-8C80-9A060820610C}" type="slidenum">
              <a:rPr lang="en-US" sz="1200" dirty="0">
                <a:solidFill>
                  <a:srgbClr val="555B66"/>
                </a:solidFill>
                <a:latin typeface="Calibri"/>
              </a:rPr>
              <a:t>85</a:t>
            </a:fld>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Recap</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Recap of Module 7 (see Video on BL)</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51999" y="1463040"/>
            <a:ext cx="5577840" cy="502920"/>
          </a:xfrm>
          <a:prstGeom prst="roundRect">
            <a:avLst>
              <a:gd name="adj" fmla="val 15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Oligopoly</a:t>
            </a:r>
          </a:p>
        </p:txBody>
      </p:sp>
      <p:sp>
        <p:nvSpPr>
          <p:cNvPr id="8" name="Rounded Rectangle 7"/>
          <p:cNvSpPr/>
          <p:nvPr/>
        </p:nvSpPr>
        <p:spPr>
          <a:xfrm>
            <a:off x="6195599" y="1463040"/>
            <a:ext cx="5577840" cy="502920"/>
          </a:xfrm>
          <a:prstGeom prst="roundRect">
            <a:avLst>
              <a:gd name="adj" fmla="val 15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Game Theory</a:t>
            </a:r>
          </a:p>
        </p:txBody>
      </p:sp>
      <p:sp>
        <p:nvSpPr>
          <p:cNvPr id="9" name="TextBox 8"/>
          <p:cNvSpPr txBox="1"/>
          <p:nvPr/>
        </p:nvSpPr>
        <p:spPr>
          <a:xfrm>
            <a:off x="297719" y="2148840"/>
            <a:ext cx="5486400" cy="4206240"/>
          </a:xfrm>
          <a:prstGeom prst="rect">
            <a:avLst/>
          </a:prstGeom>
          <a:noFill/>
        </p:spPr>
        <p:txBody>
          <a:bodyPr wrap="square" lIns="0" rIns="0" tIns="0" bIns="0">
            <a:spAutoFit/>
          </a:bodyPr>
          <a:lstStyle>
            <a:lvl1pPr marL="342900" indent="-342900">
              <a:spcBef>
                <a:spcPts val="500"/>
              </a:spcBef>
              <a:buClr>
                <a:srgbClr val="0B2B4E"/>
              </a:buClr>
              <a:buFont typeface="Calibri"/>
              <a:buChar char="▪"/>
              <a:defRPr sz="1800" b="0">
                <a:solidFill>
                  <a:srgbClr val="0B2B4E"/>
                </a:solidFill>
                <a:latin typeface="Calibri"/>
              </a:defRPr>
            </a:lvl1pPr>
            <a:lvl2pPr marL="685800" indent="-228600">
              <a:spcBef>
                <a:spcPts val="300"/>
              </a:spcBef>
              <a:buClr>
                <a:srgbClr val="555B66"/>
              </a:buClr>
              <a:buFont typeface="Calibri"/>
              <a:buChar char="–"/>
              <a:defRPr sz="1600" b="0">
                <a:solidFill>
                  <a:srgbClr val="555B66"/>
                </a:solidFill>
                <a:latin typeface="Calibri"/>
              </a:defRPr>
            </a:lvl2pPr>
          </a:lstStyle>
          <a:p>
            <a:pPr algn="l"/>
            <a:r>
              <a:rPr>
                <a:latin typeface="Calibri"/>
              </a:rPr>
              <a:t>Competition with homogenous products:</a:t>
            </a:r>
          </a:p>
          <a:p>
            <a:pPr algn="l" lvl="1"/>
            <a:r>
              <a:rPr>
                <a:latin typeface="Calibri"/>
              </a:rPr>
              <a:t>Cournot: Firms compete on quantity. Positive profits</a:t>
            </a:r>
          </a:p>
          <a:p>
            <a:pPr algn="l" lvl="2" marL="1028700" indent="-228600">
              <a:spcBef>
                <a:spcPts val="300"/>
              </a:spcBef>
              <a:buClr>
                <a:srgbClr val="555B66"/>
              </a:buClr>
              <a:buFont typeface="Calibri"/>
              <a:buChar char="–"/>
            </a:pPr>
            <a:r>
              <a:rPr sz="1400">
                <a:solidFill>
                  <a:srgbClr val="555B66"/>
                </a:solidFill>
                <a:latin typeface="Calibri"/>
              </a:rPr>
              <a:t>Equilibrium = intersection of the reaction functions</a:t>
            </a:r>
          </a:p>
          <a:p>
            <a:pPr algn="l" lvl="1"/>
            <a:r>
              <a:rPr>
                <a:latin typeface="Calibri"/>
              </a:rPr>
              <a:t>Bertrand: Firms compete on price. Zero profit if both have same MC</a:t>
            </a:r>
          </a:p>
          <a:p>
            <a:pPr algn="l" lvl="2" marL="1028700" indent="-228600">
              <a:spcBef>
                <a:spcPts val="300"/>
              </a:spcBef>
              <a:buClr>
                <a:srgbClr val="555B66"/>
              </a:buClr>
              <a:buFont typeface="Calibri"/>
              <a:buChar char="–"/>
            </a:pPr>
            <a:r>
              <a:rPr sz="1400">
                <a:solidFill>
                  <a:srgbClr val="555B66"/>
                </a:solidFill>
                <a:latin typeface="Calibri"/>
              </a:rPr>
              <a:t>Price wars → same outcome as perfect competition (if same MC)</a:t>
            </a:r>
          </a:p>
          <a:p>
            <a:pPr algn="l"/>
            <a:r>
              <a:rPr>
                <a:latin typeface="Calibri"/>
              </a:rPr>
              <a:t>Competition with differentiated products:</a:t>
            </a:r>
          </a:p>
          <a:p>
            <a:pPr algn="l" lvl="1"/>
            <a:r>
              <a:rPr>
                <a:latin typeface="Calibri"/>
              </a:rPr>
              <a:t>The two products are imperfect substitutes (differentiated)</a:t>
            </a:r>
          </a:p>
          <a:p>
            <a:pPr algn="l" lvl="1"/>
            <a:r>
              <a:rPr>
                <a:latin typeface="Calibri"/>
              </a:rPr>
              <a:t>Bertrand: Each firm sets price for its differentiated product</a:t>
            </a:r>
          </a:p>
          <a:p>
            <a:pPr algn="l" lvl="2" marL="1028700" indent="-228600">
              <a:spcBef>
                <a:spcPts val="300"/>
              </a:spcBef>
              <a:buClr>
                <a:srgbClr val="555B66"/>
              </a:buClr>
              <a:buFont typeface="Calibri"/>
              <a:buChar char="–"/>
            </a:pPr>
            <a:r>
              <a:rPr sz="1400">
                <a:solidFill>
                  <a:srgbClr val="555B66"/>
                </a:solidFill>
                <a:latin typeface="Calibri"/>
              </a:rPr>
              <a:t>If one firm sets a higher price, the other firm also reacts by raising its price</a:t>
            </a:r>
          </a:p>
          <a:p>
            <a:pPr algn="l" lvl="2" marL="1028700" indent="-228600">
              <a:spcBef>
                <a:spcPts val="300"/>
              </a:spcBef>
              <a:buClr>
                <a:srgbClr val="555B66"/>
              </a:buClr>
              <a:buFont typeface="Calibri"/>
              <a:buChar char="–"/>
            </a:pPr>
            <a:r>
              <a:rPr sz="1400">
                <a:solidFill>
                  <a:srgbClr val="555B66"/>
                </a:solidFill>
                <a:latin typeface="Calibri"/>
              </a:rPr>
              <a:t>Equilibrium = intersection of the reaction functions</a:t>
            </a:r>
          </a:p>
        </p:txBody>
      </p:sp>
      <p:sp>
        <p:nvSpPr>
          <p:cNvPr id="10" name="TextBox 9"/>
          <p:cNvSpPr txBox="1"/>
          <p:nvPr/>
        </p:nvSpPr>
        <p:spPr>
          <a:xfrm>
            <a:off x="6241319" y="2148840"/>
            <a:ext cx="5486400" cy="4206240"/>
          </a:xfrm>
          <a:prstGeom prst="rect">
            <a:avLst/>
          </a:prstGeom>
          <a:noFill/>
        </p:spPr>
        <p:txBody>
          <a:bodyPr wrap="square" lIns="0" rIns="0" tIns="0" bIns="0">
            <a:spAutoFit/>
          </a:bodyPr>
          <a:lstStyle>
            <a:lvl1pPr marL="342900" indent="-342900">
              <a:spcBef>
                <a:spcPts val="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Strategic thinking: Anticipate other player's reaction</a:t>
            </a:r>
          </a:p>
          <a:p>
            <a:pPr algn="l" lvl="1"/>
            <a:r>
              <a:rPr>
                <a:latin typeface="Calibri"/>
              </a:rPr>
              <a:t>Strategy: Optimized reaction to each action by other player</a:t>
            </a:r>
          </a:p>
          <a:p>
            <a:pPr algn="l"/>
            <a:r>
              <a:rPr>
                <a:latin typeface="Calibri"/>
              </a:rPr>
              <a:t>Use payoff tables</a:t>
            </a:r>
          </a:p>
          <a:p>
            <a:pPr algn="l" lvl="1"/>
            <a:r>
              <a:rPr>
                <a:latin typeface="Calibri"/>
              </a:rPr>
              <a:t>Dominant Strategy</a:t>
            </a:r>
          </a:p>
          <a:p>
            <a:pPr algn="l" lvl="1"/>
            <a:r>
              <a:rPr>
                <a:latin typeface="Calibri"/>
              </a:rPr>
              <a:t>Nash Equilibrium</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4" name="TextBox 13"/>
          <p:cNvSpPr txBox="1"/>
          <p:nvPr/>
        </p:nvSpPr>
        <p:spPr>
          <a:xfrm>
            <a:off x="11475720" y="6583680"/>
            <a:ext cx="502920" cy="292608"/>
          </a:xfrm>
          <a:prstGeom prst="rect">
            <a:avLst/>
          </a:prstGeom>
          <a:noFill/>
        </p:spPr>
        <p:txBody>
          <a:bodyPr wrap="none" lIns="0" rIns="0" tIns="0" bIns="0">
            <a:spAutoFit/>
          </a:bodyPr>
          <a:lstStyle/>
          <a:p>
            <a:pPr algn="r"/>
            <a:fld id="{8194DFFA-190E-5BF9-BA81-66CD2D1602FA}" type="slidenum">
              <a:rPr lang="en-US" sz="1200" dirty="0">
                <a:solidFill>
                  <a:srgbClr val="555B66"/>
                </a:solidFill>
                <a:latin typeface="Calibri"/>
              </a:rPr>
              <a:t>86</a:t>
            </a:fld>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Commitment</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Commitment in Selling Tickets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59.png"/>
          <p:cNvPicPr>
            <a:picLocks noChangeAspect="1"/>
          </p:cNvPicPr>
          <p:nvPr/>
        </p:nvPicPr>
        <p:blipFill>
          <a:blip r:embed="rId2"/>
          <a:stretch>
            <a:fillRect/>
          </a:stretch>
        </p:blipFill>
        <p:spPr>
          <a:xfrm>
            <a:off x="960120" y="1463040"/>
            <a:ext cx="10241280" cy="5058647"/>
          </a:xfrm>
          <a:prstGeom prst="rect">
            <a:avLst/>
          </a:prstGeom>
          <a:effectLst>
            <a:outerShdw blurRad="50800" dist="38100" dir="2700000" algn="tl" rotWithShape="0">
              <a:srgbClr val="000000">
                <a:alpha val="45000"/>
              </a:srgbClr>
            </a:outerShdw>
          </a:effectLst>
        </p:spPr>
      </p:pic>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7BDBE02F-4037-50B3-AE1A-458E05EE299E}" type="slidenum">
              <a:rPr lang="en-US" sz="1200" dirty="0">
                <a:solidFill>
                  <a:srgbClr val="555B66"/>
                </a:solidFill>
                <a:latin typeface="Calibri"/>
              </a:rPr>
              <a:t>87</a:t>
            </a:fld>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7 · Part 2 · Commitment</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Commitment in Selling Ticket Sales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60.png"/>
          <p:cNvPicPr>
            <a:picLocks noChangeAspect="1"/>
          </p:cNvPicPr>
          <p:nvPr/>
        </p:nvPicPr>
        <p:blipFill>
          <a:blip r:embed="rId2"/>
          <a:stretch>
            <a:fillRect/>
          </a:stretch>
        </p:blipFill>
        <p:spPr>
          <a:xfrm>
            <a:off x="2350008" y="1298448"/>
            <a:ext cx="7498079" cy="4392864"/>
          </a:xfrm>
          <a:prstGeom prst="rect">
            <a:avLst/>
          </a:prstGeom>
          <a:effectLst>
            <a:outerShdw blurRad="50800" dist="38100" dir="2700000" algn="tl" rotWithShape="0">
              <a:srgbClr val="000000">
                <a:alpha val="45000"/>
              </a:srgbClr>
            </a:outerShdw>
          </a:effectLst>
        </p:spPr>
      </p:pic>
      <p:sp>
        <p:nvSpPr>
          <p:cNvPr id="8" name="TextBox 7"/>
          <p:cNvSpPr txBox="1"/>
          <p:nvPr/>
        </p:nvSpPr>
        <p:spPr>
          <a:xfrm>
            <a:off x="1234440" y="5742432"/>
            <a:ext cx="9692640" cy="457200"/>
          </a:xfrm>
          <a:prstGeom prst="rect">
            <a:avLst/>
          </a:prstGeom>
          <a:noFill/>
        </p:spPr>
        <p:txBody>
          <a:bodyPr wrap="square" lIns="0" rIns="0" tIns="0" bIns="0">
            <a:spAutoFit/>
          </a:bodyPr>
          <a:lstStyle/>
          <a:p>
            <a:pPr algn="ctr"/>
            <a:r>
              <a:rPr sz="2400" b="1" i="0" u="none">
                <a:solidFill>
                  <a:srgbClr val="0B2B4E"/>
                </a:solidFill>
                <a:latin typeface="Calibri"/>
              </a:rPr>
              <a:t>No sign of falling prices as the game comes closer. Why?</a:t>
            </a:r>
          </a:p>
        </p:txBody>
      </p:sp>
      <p:sp>
        <p:nvSpPr>
          <p:cNvPr id="9" name="Rounded Rectangle 8"/>
          <p:cNvSpPr/>
          <p:nvPr/>
        </p:nvSpPr>
        <p:spPr>
          <a:xfrm>
            <a:off x="10716768" y="6035040"/>
            <a:ext cx="1417320" cy="420624"/>
          </a:xfrm>
          <a:prstGeom prst="roundRect">
            <a:avLst>
              <a:gd name="adj" fmla="val 5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hlinkClick r:id="" action="ppaction://hlinkshowjump?jump=lastslideviewed"/>
              </a:rPr>
              <a:t>← Back</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7  ·  Oligopoly and Game Theory</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A2D59035-0DF0-5581-B2FB-F90AD53A5C6F}" type="slidenum">
              <a:rPr lang="en-US" sz="1200" dirty="0">
                <a:solidFill>
                  <a:srgbClr val="555B66"/>
                </a:solidFill>
                <a:latin typeface="Calibri"/>
              </a:rPr>
              <a:t>88</a:t>
            </a:fld>
          </a:p>
        </p:txBody>
      </p:sp>
    </p:spTree>
  </p:cSld>
  <p:clrMapOvr>
    <a:masterClrMapping/>
  </p:clrMapOvr>
</p:sld>
</file>

<file path=ppt/tags/pe32_tag.xml><?xml version="1.0" encoding="utf-8"?>
<p:tagLst xmlns:a="http://schemas.openxmlformats.org/drawingml/2006/main" xmlns:r="http://schemas.openxmlformats.org/officeDocument/2006/relationships" xmlns:p="http://schemas.openxmlformats.org/presentationml/2006/main">
  <p:tag name="__PE_POLL_EMBED_ID" val="a7ca8c79-93bb-46c5-82d0-9bda44e13d4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