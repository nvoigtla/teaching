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828800"/>
            <a:ext cx="1168769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0B2B4E"/>
                </a:solidFill>
                <a:latin typeface="Calibri"/>
              </a:rPr>
              <a:t>Production and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063240"/>
            <a:ext cx="1168769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09F3E"/>
                </a:solidFill>
                <a:latin typeface="Calibri"/>
              </a:rPr>
              <a:t>Module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047" y="4023360"/>
            <a:ext cx="3657600" cy="54864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99" y="4389120"/>
            <a:ext cx="1168769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555B66"/>
                </a:solidFill>
                <a:latin typeface="Calibri"/>
              </a:rPr>
              <a:t>Management 405  ·  EMBA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99" y="5029200"/>
            <a:ext cx="1168769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555B66"/>
                </a:solidFill>
                <a:latin typeface="Calibri"/>
              </a:rPr>
              <a:t>Prof. Nico Voigtlaender  ·  UCLA Anderson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MODULE 3 · SECTION DIVIDER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2B4E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999" y="1691640"/>
            <a:ext cx="1168769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B4E"/>
                </a:solidFill>
                <a:latin typeface="Calibri"/>
              </a:rPr>
              <a:t>Part 1: Production – Picking the Right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759" y="2240280"/>
            <a:ext cx="1132193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57200" indent="-457200">
              <a:buClr>
                <a:srgbClr val="0B2B4E"/>
              </a:buClr>
              <a:buFont typeface="Calibri"/>
              <a:buAutoNum type="alphaLcPeriod"/>
            </a:pPr>
            <a:r>
              <a:rPr sz="2400" b="0">
                <a:solidFill>
                  <a:srgbClr val="0B2B4E"/>
                </a:solidFill>
                <a:latin typeface="Calibri"/>
              </a:rPr>
              <a:t>Short Run – Hiring Decisions</a:t>
            </a:r>
          </a:p>
          <a:p>
            <a:pPr algn="l" marL="457200" indent="-457200">
              <a:spcBef>
                <a:spcPts val="1000"/>
              </a:spcBef>
              <a:buClr>
                <a:srgbClr val="0B2B4E"/>
              </a:buClr>
              <a:buFont typeface="Calibri"/>
              <a:buAutoNum type="alphaLcPeriod"/>
            </a:pPr>
            <a:r>
              <a:rPr sz="2400" b="0">
                <a:solidFill>
                  <a:srgbClr val="0B2B4E"/>
                </a:solidFill>
                <a:latin typeface="Calibri"/>
              </a:rPr>
              <a:t>Long Run – Optimal Input Mix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3611880"/>
            <a:ext cx="1168769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0B5BC"/>
                </a:solidFill>
                <a:latin typeface="Calibri"/>
              </a:rPr>
              <a:t>Part 2: Costs – Producing at the Lowest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759" y="4160520"/>
            <a:ext cx="1132193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57200" indent="-457200">
              <a:buClr>
                <a:srgbClr val="B0B5BC"/>
              </a:buClr>
              <a:buFont typeface="Calibri"/>
              <a:buAutoNum type="alphaLcPeriod"/>
            </a:pPr>
            <a:r>
              <a:rPr sz="2400" b="0">
                <a:solidFill>
                  <a:srgbClr val="B0B5BC"/>
                </a:solidFill>
                <a:latin typeface="Calibri"/>
              </a:rPr>
              <a:t>Cost Concepts</a:t>
            </a:r>
          </a:p>
          <a:p>
            <a:pPr algn="l" marL="457200" indent="-457200">
              <a:spcBef>
                <a:spcPts val="1000"/>
              </a:spcBef>
              <a:buClr>
                <a:srgbClr val="B0B5BC"/>
              </a:buClr>
              <a:buFont typeface="Calibri"/>
              <a:buAutoNum type="alphaLcPeriod"/>
            </a:pPr>
            <a:r>
              <a:rPr sz="2400" b="0">
                <a:solidFill>
                  <a:srgbClr val="B0B5BC"/>
                </a:solidFill>
                <a:latin typeface="Calibri"/>
              </a:rPr>
              <a:t>Scale &amp;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999" y="66019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Management 405  ·  Module 3  ·  Production and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601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MODULE 3 · PART 1 ·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2B4E"/>
                </a:solidFill>
                <a:latin typeface="Calibri"/>
              </a:rPr>
              <a:t>Hire when MRPL &gt; wage; stop when MRPL = wage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999" y="1691640"/>
            <a:ext cx="1168769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42900" indent="-342900">
              <a:buClr>
                <a:srgbClr val="0B2B4E"/>
              </a:buClr>
              <a:buFont typeface="Calibri"/>
              <a:buChar char="▪"/>
            </a:pPr>
            <a:r>
              <a:rPr sz="2400" b="0">
                <a:solidFill>
                  <a:srgbClr val="0B2B4E"/>
                </a:solidFill>
                <a:latin typeface="Calibri"/>
              </a:rPr>
              <a:t>Add a worker → output rises by MPL</a:t>
            </a:r>
          </a:p>
          <a:p>
            <a:pPr algn="l" marL="342900" indent="-342900"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sz="2400" b="0">
                <a:solidFill>
                  <a:srgbClr val="0B2B4E"/>
                </a:solidFill>
                <a:latin typeface="Calibri"/>
              </a:rPr>
              <a:t>Revenue from that worker = MRPL = MPL × price</a:t>
            </a:r>
          </a:p>
          <a:p>
            <a:pPr algn="l" marL="342900" indent="-342900"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sz="2400" b="0">
                <a:solidFill>
                  <a:srgbClr val="0B2B4E"/>
                </a:solidFill>
                <a:latin typeface="Calibri"/>
              </a:rPr>
              <a:t>Hire if MRPL &gt; wage; the next dollar earns more than it costs</a:t>
            </a:r>
          </a:p>
          <a:p>
            <a:pPr algn="l" marL="342900" indent="-342900"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sz="2400" b="0">
                <a:solidFill>
                  <a:srgbClr val="0B2B4E"/>
                </a:solidFill>
                <a:latin typeface="Calibri"/>
              </a:rPr>
              <a:t>Stop when MRPL = wage – the marginal hire just breaks even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999" y="66019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Management 405  ·  Module 3  ·  Production and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601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MODULE 3 · PART 2 ·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2B4E"/>
                </a:solidFill>
                <a:latin typeface="Calibri"/>
              </a:rPr>
              <a:t>Sunk costs should never drive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999" y="178308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B4E"/>
                </a:solidFill>
                <a:latin typeface="Calibri"/>
              </a:rPr>
              <a:t>Fixed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0959" y="1783080"/>
            <a:ext cx="857873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55B66"/>
                </a:solidFill>
                <a:latin typeface="Calibri"/>
              </a:rPr>
              <a:t>don't depend on quantity produced (Q)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265176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B4E"/>
                </a:solidFill>
                <a:latin typeface="Calibri"/>
              </a:rPr>
              <a:t>Sunk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0959" y="2651760"/>
            <a:ext cx="857873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55B66"/>
                </a:solidFill>
                <a:latin typeface="Calibri"/>
              </a:rPr>
              <a:t>a fixed cost that cannot be recovered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352044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B4E"/>
                </a:solidFill>
                <a:latin typeface="Calibri"/>
              </a:rPr>
              <a:t>→ Decision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0959" y="3520440"/>
            <a:ext cx="857873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55B66"/>
                </a:solidFill>
                <a:latin typeface="Calibri"/>
              </a:rPr>
              <a:t>ignore sunk costs when choosing what to do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99" y="438912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B4E"/>
                </a:solidFill>
                <a:latin typeface="Calibri"/>
              </a:rPr>
              <a:t>Variable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0959" y="4389120"/>
            <a:ext cx="857873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55B66"/>
                </a:solidFill>
                <a:latin typeface="Calibri"/>
              </a:rPr>
              <a:t>depend on volume produced (Q)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999" y="66019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Management 405  ·  Module 3  ·  Production and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601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MODULE 3 · PART 1 ·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2B4E"/>
                </a:solidFill>
                <a:latin typeface="Calibri"/>
              </a:rPr>
              <a:t>Tesla's MRPL at 6,000 employees – what is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9576" y="5029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9576" y="502920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POLL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05256" y="594360"/>
            <a:ext cx="128016" cy="128016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999" y="1828800"/>
            <a:ext cx="11687697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57200" indent="-457200">
              <a:buClr>
                <a:srgbClr val="0B2B4E"/>
              </a:buClr>
              <a:buFont typeface="Calibri"/>
              <a:buAutoNum type="alphaUcPeriod"/>
            </a:pPr>
            <a:r>
              <a:rPr sz="2600" b="0">
                <a:solidFill>
                  <a:srgbClr val="0B2B4E"/>
                </a:solidFill>
                <a:latin typeface="Calibri"/>
              </a:rPr>
              <a:t>$25,000</a:t>
            </a:r>
          </a:p>
          <a:p>
            <a:pPr algn="l" marL="457200" indent="-457200">
              <a:spcBef>
                <a:spcPts val="2000"/>
              </a:spcBef>
              <a:buClr>
                <a:srgbClr val="0B2B4E"/>
              </a:buClr>
              <a:buFont typeface="Calibri"/>
              <a:buAutoNum type="alphaUcPeriod"/>
            </a:pPr>
            <a:r>
              <a:rPr sz="2600" b="0">
                <a:solidFill>
                  <a:srgbClr val="0B2B4E"/>
                </a:solidFill>
                <a:latin typeface="Calibri"/>
              </a:rPr>
              <a:t>$50,000</a:t>
            </a:r>
          </a:p>
          <a:p>
            <a:pPr algn="l" marL="457200" indent="-457200">
              <a:spcBef>
                <a:spcPts val="2000"/>
              </a:spcBef>
              <a:buClr>
                <a:srgbClr val="0B2B4E"/>
              </a:buClr>
              <a:buFont typeface="Calibri"/>
              <a:buAutoNum type="alphaUcPeriod"/>
            </a:pPr>
            <a:r>
              <a:rPr sz="2600" b="0">
                <a:solidFill>
                  <a:srgbClr val="0B2B4E"/>
                </a:solidFill>
                <a:latin typeface="Calibri"/>
              </a:rPr>
              <a:t>$75,000</a:t>
            </a:r>
          </a:p>
          <a:p>
            <a:pPr algn="l" marL="457200" indent="-457200">
              <a:spcBef>
                <a:spcPts val="2000"/>
              </a:spcBef>
              <a:buClr>
                <a:srgbClr val="0B2B4E"/>
              </a:buClr>
              <a:buFont typeface="Calibri"/>
              <a:buAutoNum type="alphaUcPeriod"/>
            </a:pPr>
            <a:r>
              <a:rPr sz="2600" b="0">
                <a:solidFill>
                  <a:srgbClr val="0B2B4E"/>
                </a:solidFill>
                <a:latin typeface="Calibri"/>
              </a:rPr>
              <a:t>$100,000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5943600"/>
            <a:ext cx="116876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55B66"/>
                </a:solidFill>
                <a:latin typeface="Calibri"/>
              </a:rPr>
              <a:t>Respond at PollEv.com/nvoigtlaender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999" y="66019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Management 405  ·  Module 3  ·  Production and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601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MODULE 3 · SYNTHESIS &amp; BRIDGE TO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2B4E"/>
                </a:solidFill>
                <a:latin typeface="Calibri"/>
              </a:rPr>
              <a:t>Production and costs set the stage for pricing and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999" y="1691640"/>
            <a:ext cx="1168769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B4E"/>
                </a:solidFill>
                <a:latin typeface="Calibri"/>
              </a:rPr>
              <a:t>MODULE 3 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999" y="21488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B4E"/>
                </a:solidFill>
                <a:latin typeface="Calibri"/>
              </a:rPr>
              <a:t>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6559" y="2148840"/>
            <a:ext cx="949313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55B66"/>
                </a:solidFill>
                <a:latin typeface="Calibri"/>
              </a:rPr>
              <a:t>Hire until MRPL = wage; choose inputs by bang-for-the-buck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26517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B4E"/>
                </a:solidFill>
                <a:latin typeface="Calibri"/>
              </a:rPr>
              <a:t>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6559" y="2651760"/>
            <a:ext cx="949313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55B66"/>
                </a:solidFill>
                <a:latin typeface="Calibri"/>
              </a:rPr>
              <a:t>Ignore sunk; opportunity cost is real; watch MC vs. 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99" y="31546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B4E"/>
                </a:solidFill>
                <a:latin typeface="Calibri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6559" y="3154680"/>
            <a:ext cx="949313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55B66"/>
                </a:solidFill>
                <a:latin typeface="Calibri"/>
              </a:rPr>
              <a:t>Bigger is often cheaper – until diseconomies set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999" y="3931920"/>
            <a:ext cx="11687697" cy="36576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999" y="4160520"/>
            <a:ext cx="1168769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9F3E"/>
                </a:solidFill>
                <a:latin typeface="Calibri"/>
              </a:rPr>
              <a:t>COMING UP – MODULE 4: PRICING &amp;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999" y="46177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B4E"/>
                </a:solidFill>
                <a:latin typeface="Calibri"/>
              </a:rPr>
              <a:t>Combine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6559" y="4617720"/>
            <a:ext cx="949313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55B66"/>
                </a:solidFill>
                <a:latin typeface="Calibri"/>
              </a:rPr>
              <a:t>demand (M2) with cost (M3) to find profit-maximizing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999" y="51206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B4E"/>
                </a:solidFill>
                <a:latin typeface="Calibri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6559" y="5120640"/>
            <a:ext cx="949313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55B66"/>
                </a:solidFill>
                <a:latin typeface="Calibri"/>
              </a:rPr>
              <a:t>how much to produce when each unit costs and earns something different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999" y="56235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B4E"/>
                </a:solidFill>
                <a:latin typeface="Calibri"/>
              </a:rPr>
              <a:t>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6559" y="5623560"/>
            <a:ext cx="949313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55B66"/>
                </a:solidFill>
                <a:latin typeface="Calibri"/>
              </a:rPr>
              <a:t>how price and quantity respond to cost shocks and demand shifts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999" y="66019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Management 405  ·  Module 3  ·  Production and 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601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