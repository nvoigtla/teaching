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0B2B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1999" y="0"/>
            <a:ext cx="109728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MODULE 3 · PART 2 · COSTS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999" y="502920"/>
            <a:ext cx="11687697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B2B4E"/>
                </a:solidFill>
                <a:latin typeface="Calibri"/>
              </a:rPr>
              <a:t>Sunk costs should never drive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999" y="1143000"/>
            <a:ext cx="11687697" cy="18288"/>
          </a:xfrm>
          <a:prstGeom prst="rect">
            <a:avLst/>
          </a:prstGeom>
          <a:solidFill>
            <a:srgbClr val="C8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1999" y="1129284"/>
            <a:ext cx="2011680" cy="45720"/>
          </a:xfrm>
          <a:prstGeom prst="rect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1999" y="1600200"/>
            <a:ext cx="2926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B2B4E"/>
                </a:solidFill>
                <a:latin typeface="Calibri"/>
              </a:rPr>
              <a:t>Fixed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60959" y="1600200"/>
            <a:ext cx="8578737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555B66"/>
                </a:solidFill>
                <a:latin typeface="Calibri"/>
              </a:rPr>
              <a:t>don't depend on quantity produced (Q)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999" y="2468880"/>
            <a:ext cx="2926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B2B4E"/>
                </a:solidFill>
                <a:latin typeface="Calibri"/>
              </a:rPr>
              <a:t>Sunk costs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60959" y="2468880"/>
            <a:ext cx="8578737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555B66"/>
                </a:solidFill>
                <a:latin typeface="Calibri"/>
              </a:rPr>
              <a:t>a fixed cost that cannot be recovered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999" y="3337560"/>
            <a:ext cx="2926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B2B4E"/>
                </a:solidFill>
                <a:latin typeface="Calibri"/>
              </a:rPr>
              <a:t>→ Decision rule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60959" y="3337560"/>
            <a:ext cx="8578737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555B66"/>
                </a:solidFill>
                <a:latin typeface="Calibri"/>
              </a:rPr>
              <a:t>ignore sunk costs when choosing what to do next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999" y="4206240"/>
            <a:ext cx="2926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B2B4E"/>
                </a:solidFill>
                <a:latin typeface="Calibri"/>
              </a:rPr>
              <a:t>Variable costs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60959" y="4206240"/>
            <a:ext cx="8578737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555B66"/>
                </a:solidFill>
                <a:latin typeface="Calibri"/>
              </a:rPr>
              <a:t>depend on volume produced (Q)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C8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51999" y="6524244"/>
            <a:ext cx="2011680" cy="45720"/>
          </a:xfrm>
          <a:prstGeom prst="rect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1999" y="660196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B66"/>
                </a:solidFill>
                <a:latin typeface="Calibri"/>
              </a:rPr>
              <a:t>Management 405  ·  Module 3  ·  Production and Costs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521440" y="660196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55B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