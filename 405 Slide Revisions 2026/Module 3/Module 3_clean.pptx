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look at where the night is going. Part 1 – Production – starts with how output depends on inputs, then takes us through the short-run hiring rule and the long-run input-mix decision. Part 2 – Costs – separates the cost types that actually drive decisions, builds the marginal-cost concept, and finishes with economies of scale. We will come back to this slide briefly at each transition.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materials M. Capital is more than buildings – it includes machinery, software, IP, AI systems – anything you've already paid for that keeps producing.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your capacity (K) is fixed; you can only adjust labor and materials. Long run = everything is variable, including the plant itself. The factory walls are literally what defines short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Tesla's Gigafactory weekly output as a function of workers, given a fixed number of robots. Look at the pattern: more workers, more output, but the gains per worker shrink as you move down any column. That's diminishing marginal product in action. Note: numbers are approximate – the point is the shape, not precision.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as the previous slide, now plotted. The shape – rising but flattening – is the visual signature of diminishing returns. Memorize this curve shape; you'll see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MPL – marginal product of labor – is simply the extra output you get from one more worker. It's the slope of the total-output curve from the last slide. With K fixed, MPL falls as L rises: the slope flattens. Mechanically: read the production-function table down a column and look at row-to-row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Tesla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eight slides. We're going to derive Tesla's optimal hiring level. Given: cars sell at $90K, materials cost $40K per car, capital is fixed. Question: how many workers should Tesla hire?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It equals MPL times the price per unit, net of materials cost. This is what a worker is 'worth' to the firm in dollar terms – and it's the right benchmark to compare against the wage.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definition, more carefully. Notice: when MPL falls, MRPL falls. So even if the price stays constant, each additional worker is worth less than the previous one. The economic value of a marginal hire shrinks as you scale up – which is why every firm has a finite optimal hiring level.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specific number to anchor the concept. Walk through it: at 6,000 workers and 100 robots, find MPL from the table, then multiply by $50K (price minus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6,000 employees and submit. Give them 30 seconds. The point isn't to get the number perfectly, it's to make sure everyone is doing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Walk through anyone's confusion – the most common slip is forgetting to net out materials cost. Note the MPL number is illustrative – read it off the table for your actual classroom version.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hiring rule in one sentence. Hire as long as the next worker brings in more than they cost. Stop the moment the next worker just breaks even. That's it – the rest is just applying this in different settings.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Reality check: for big enough employers, hiring more workers can push the wage up. A frontier AI lab can't just pay the market wage when it adds 100 senior researchers in one year.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term is monopsony, but you don't need the word. The intuition: as a big employer hires more, the local talent pool tightens and you pay more for everyone, not just the new hire. The 'true' marginal cost of labor includes this wage-bidding-up effect.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 for the buck' rule. Spend each additional dollar on whichever input gives you the most extra output per dollar. At the optimum, MP per dollar is the same across all inputs: MP_K / p_K = MP_L / 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Step-by-step procedure for applying the rule on the exam, and in practice. Compute MP/$ for each input; if they're not equal, shift dollars toward the higher one.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from Rivian's Georgia plant project. We'll apply the bang-for-the-buck rule to actual numbers and see whether the current mix is optimal.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Setup question: is Rivian's current K/L mix optimal? Don't answer yet – the next slide does the math.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rule. Compute MP/$ for K and MP/$ for L. If they're not equal, the mix isn't optimal and Rivian should shift toward the input with higher bang-for-the-buck.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vote on whether Rivian's current mix is optimal. Some will say yes, some no. Reveal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Discuss which input was underused, and what Rivian should do to fix it – hire more L or buy more robots. Numbers shown are illustrative; replace with your classroom-version values.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wmf"/><Relationship Id="rId3" Type="http://schemas.openxmlformats.org/officeDocument/2006/relationships/image" Target="../media/image1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Front Matter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3200" b="0">
                <a:solidFill>
                  <a:srgbClr val="0B2B4E"/>
                </a:solidFill>
                <a:latin typeface="Calibri"/>
              </a:rPr>
              <a:t>If your internet permits, keep video on, mic muted</a:t>
            </a:r>
          </a:p>
          <a:p>
            <a:pPr algn="l" marL="342900" indent="-342900">
              <a:spcBef>
                <a:spcPts val="2200"/>
              </a:spcBef>
              <a:buClr>
                <a:srgbClr val="0B2B4E"/>
              </a:buClr>
              <a:buFont typeface="Calibri"/>
              <a:buChar char="▪"/>
            </a:pPr>
            <a:r>
              <a:rPr sz="3200" b="0">
                <a:solidFill>
                  <a:srgbClr val="0B2B4E"/>
                </a:solidFill>
                <a:latin typeface="Calibri"/>
              </a:rPr>
              <a:t>Class discussions: raise hand</a:t>
            </a:r>
          </a:p>
          <a:p>
            <a:pPr algn="l" marL="685800" indent="-228600">
              <a:spcBef>
                <a:spcPts val="1400"/>
              </a:spcBef>
              <a:buClr>
                <a:srgbClr val="555B66"/>
              </a:buClr>
              <a:buFont typeface="Calibri"/>
              <a:buChar char="–"/>
            </a:pPr>
            <a:r>
              <a:rPr sz="2800">
                <a:solidFill>
                  <a:srgbClr val="555B66"/>
                </a:solidFill>
                <a:latin typeface="Calibri"/>
              </a:rPr>
              <a:t>Will call on you to unmute</a:t>
            </a:r>
          </a:p>
          <a:p>
            <a:pPr algn="l" marL="342900" indent="-342900">
              <a:spcBef>
                <a:spcPts val="2200"/>
              </a:spcBef>
              <a:buClr>
                <a:srgbClr val="0B2B4E"/>
              </a:buClr>
              <a:buFont typeface="Calibri"/>
              <a:buChar char="▪"/>
            </a:pPr>
            <a:r>
              <a:rPr sz="3200" b="0">
                <a:solidFill>
                  <a:srgbClr val="0B2B4E"/>
                </a:solidFill>
                <a:latin typeface="Calibri"/>
              </a:rPr>
              <a:t>Chat on Zoom: only clarifying questions to TA</a:t>
            </a:r>
          </a:p>
          <a:p>
            <a:pPr algn="l" marL="685800" indent="-228600">
              <a:spcBef>
                <a:spcPts val="1400"/>
              </a:spcBef>
              <a:buClr>
                <a:srgbClr val="555B66"/>
              </a:buClr>
              <a:buFont typeface="Calibri"/>
              <a:buChar char="–"/>
            </a:pPr>
            <a:r>
              <a:rPr sz="2800">
                <a:solidFill>
                  <a:srgbClr val="555B66"/>
                </a:solidFill>
                <a:latin typeface="Calibri"/>
              </a:rPr>
              <a:t>TA will filter questions and raise hand if needed</a:t>
            </a:r>
          </a:p>
          <a:p>
            <a:pPr algn="l" marL="342900" indent="-342900">
              <a:spcBef>
                <a:spcPts val="2200"/>
              </a:spcBef>
              <a:buClr>
                <a:srgbClr val="0B2B4E"/>
              </a:buClr>
              <a:buFont typeface="Calibri"/>
              <a:buChar char="▪"/>
            </a:pPr>
            <a:r>
              <a:rPr sz="3200" b="0">
                <a:solidFill>
                  <a:srgbClr val="0B2B4E"/>
                </a:solidFill>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Front Matter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 Demand and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3200" b="0">
                <a:solidFill>
                  <a:srgbClr val="0B2B4E"/>
                </a:solidFill>
                <a:latin typeface="Calibri"/>
              </a:rPr>
              <a:t>The law of demand</a:t>
            </a:r>
          </a:p>
          <a:p>
            <a:pPr algn="l" marL="685800" indent="-228600">
              <a:spcBef>
                <a:spcPts val="600"/>
              </a:spcBef>
              <a:buClr>
                <a:srgbClr val="555B66"/>
              </a:buClr>
              <a:buFont typeface="Calibri"/>
              <a:buChar char="–"/>
            </a:pPr>
            <a:r>
              <a:rPr sz="2400">
                <a:solidFill>
                  <a:srgbClr val="555B66"/>
                </a:solidFill>
                <a:latin typeface="Calibri"/>
              </a:rPr>
              <a:t>Holding everything else constant, if P falls, Q rises</a:t>
            </a:r>
          </a:p>
          <a:p>
            <a:pPr algn="l" marL="342900" indent="-342900">
              <a:spcBef>
                <a:spcPts val="1000"/>
              </a:spcBef>
              <a:buClr>
                <a:srgbClr val="0B2B4E"/>
              </a:buClr>
              <a:buFont typeface="Calibri"/>
              <a:buChar char="▪"/>
            </a:pPr>
            <a:r>
              <a:rPr sz="3200" b="0">
                <a:solidFill>
                  <a:srgbClr val="0B2B4E"/>
                </a:solidFill>
                <a:latin typeface="Calibri"/>
              </a:rPr>
              <a:t>Elasticities</a:t>
            </a:r>
          </a:p>
          <a:p>
            <a:pPr algn="l" marL="685800" indent="-228600">
              <a:spcBef>
                <a:spcPts val="600"/>
              </a:spcBef>
              <a:buClr>
                <a:srgbClr val="555B66"/>
              </a:buClr>
              <a:buFont typeface="Calibri"/>
              <a:buChar char="–"/>
            </a:pPr>
            <a:r>
              <a:rPr sz="2400">
                <a:solidFill>
                  <a:srgbClr val="555B66"/>
                </a:solidFill>
                <a:latin typeface="Calibri"/>
              </a:rPr>
              <a:t>Responsiveness of demand to own-price, income, competitors' price</a:t>
            </a:r>
          </a:p>
          <a:p>
            <a:pPr algn="l" marL="342900" indent="-342900">
              <a:spcBef>
                <a:spcPts val="1000"/>
              </a:spcBef>
              <a:buClr>
                <a:srgbClr val="0B2B4E"/>
              </a:buClr>
              <a:buFont typeface="Calibri"/>
              <a:buChar char="▪"/>
            </a:pPr>
            <a:r>
              <a:rPr sz="3200" b="0">
                <a:solidFill>
                  <a:srgbClr val="0B2B4E"/>
                </a:solidFill>
                <a:latin typeface="Calibri"/>
              </a:rPr>
              <a:t>Demand and revenue</a:t>
            </a:r>
          </a:p>
          <a:p>
            <a:pPr algn="l" marL="685800" indent="-228600">
              <a:spcBef>
                <a:spcPts val="600"/>
              </a:spcBef>
              <a:buClr>
                <a:srgbClr val="555B66"/>
              </a:buClr>
              <a:buFont typeface="Calibri"/>
              <a:buChar char="–"/>
            </a:pPr>
            <a:r>
              <a:rPr sz="2400">
                <a:solidFill>
                  <a:srgbClr val="555B66"/>
                </a:solidFill>
                <a:latin typeface="Calibri"/>
              </a:rPr>
              <a:t>Own-price elasticity drives total revenue; marginal revenue via the 3-step method</a:t>
            </a:r>
          </a:p>
          <a:p>
            <a:pPr algn="l" marL="342900" indent="-342900">
              <a:spcBef>
                <a:spcPts val="1000"/>
              </a:spcBef>
              <a:buClr>
                <a:srgbClr val="0B2B4E"/>
              </a:buClr>
              <a:buFont typeface="Calibri"/>
              <a:buChar char="▪"/>
            </a:pPr>
            <a:r>
              <a:rPr sz="3200" b="0">
                <a:solidFill>
                  <a:srgbClr val="0B2B4E"/>
                </a:solidFill>
                <a:latin typeface="Calibri"/>
              </a:rPr>
              <a:t>Demand estimation</a:t>
            </a:r>
          </a:p>
          <a:p>
            <a:pPr algn="l" marL="685800" indent="-228600">
              <a:spcBef>
                <a:spcPts val="600"/>
              </a:spcBef>
              <a:buClr>
                <a:srgbClr val="555B66"/>
              </a:buClr>
              <a:buFont typeface="Calibri"/>
              <a:buChar char="–"/>
            </a:pPr>
            <a:r>
              <a:rPr sz="2400">
                <a:solidFill>
                  <a:srgbClr val="555B66"/>
                </a:solidFill>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163927" y="1828800"/>
            <a:ext cx="7863840" cy="777240"/>
          </a:xfrm>
          <a:prstGeom prst="rect">
            <a:avLst/>
          </a:prstGeom>
          <a:solidFill>
            <a:srgbClr val="B0B5B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ectangle 7"/>
          <p:cNvSpPr/>
          <p:nvPr/>
        </p:nvSpPr>
        <p:spPr>
          <a:xfrm>
            <a:off x="1752447" y="3337560"/>
            <a:ext cx="4206240" cy="777240"/>
          </a:xfrm>
          <a:prstGeom prst="rect">
            <a:avLst/>
          </a:prstGeom>
          <a:solidFill>
            <a:srgbClr val="B0B5B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ectangle 8"/>
          <p:cNvSpPr/>
          <p:nvPr/>
        </p:nvSpPr>
        <p:spPr>
          <a:xfrm>
            <a:off x="6233007" y="3337560"/>
            <a:ext cx="420624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ectangle 9"/>
          <p:cNvSpPr/>
          <p:nvPr/>
        </p:nvSpPr>
        <p:spPr>
          <a:xfrm>
            <a:off x="2163927" y="5029200"/>
            <a:ext cx="7863840" cy="777240"/>
          </a:xfrm>
          <a:prstGeom prst="rect">
            <a:avLst/>
          </a:prstGeom>
          <a:solidFill>
            <a:srgbClr val="B0B5B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1905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1905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1905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Left Arrow 14"/>
          <p:cNvSpPr/>
          <p:nvPr/>
        </p:nvSpPr>
        <p:spPr>
          <a:xfrm>
            <a:off x="10622127" y="3474720"/>
            <a:ext cx="914400" cy="502920"/>
          </a:xfrm>
          <a:prstGeom prst="lef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7967" y="3543300"/>
            <a:ext cx="2194560" cy="365760"/>
          </a:xfrm>
          <a:prstGeom prst="rect">
            <a:avLst/>
          </a:prstGeom>
          <a:noFill/>
        </p:spPr>
        <p:txBody>
          <a:bodyPr wrap="square" lIns="0" rIns="0" tIns="0" bIns="0">
            <a:spAutoFit/>
          </a:bodyPr>
          <a:lstStyle/>
          <a:p>
            <a:pPr algn="l"/>
            <a:r>
              <a:rPr sz="1800" b="1" i="1">
                <a:solidFill>
                  <a:srgbClr val="E09F3E"/>
                </a:solidFill>
                <a:latin typeface="Calibri"/>
              </a:rPr>
              <a:t>you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Every Executive Decision Is a Production-and-Cost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783080"/>
            <a:ext cx="4389120" cy="1234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Production Functions
(inputs → output)</a:t>
            </a:r>
          </a:p>
        </p:txBody>
      </p:sp>
      <p:sp>
        <p:nvSpPr>
          <p:cNvPr id="8" name="Rectangle 7"/>
          <p:cNvSpPr/>
          <p:nvPr/>
        </p:nvSpPr>
        <p:spPr>
          <a:xfrm>
            <a:off x="457200" y="3246120"/>
            <a:ext cx="4389120" cy="1234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Costs
(what each unit costs)</a:t>
            </a:r>
          </a:p>
        </p:txBody>
      </p:sp>
      <p:sp>
        <p:nvSpPr>
          <p:cNvPr id="9" name="Rectangle 8"/>
          <p:cNvSpPr/>
          <p:nvPr/>
        </p:nvSpPr>
        <p:spPr>
          <a:xfrm>
            <a:off x="7863840" y="1783080"/>
            <a:ext cx="3840480" cy="1097280"/>
          </a:xfrm>
          <a:prstGeom prst="rect">
            <a:avLst/>
          </a:prstGeom>
          <a:solidFill>
            <a:srgbClr val="B0B5B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Demand
(Module 2)</a:t>
            </a:r>
          </a:p>
        </p:txBody>
      </p:sp>
      <p:sp>
        <p:nvSpPr>
          <p:cNvPr id="10" name="Rectangle 9"/>
          <p:cNvSpPr/>
          <p:nvPr/>
        </p:nvSpPr>
        <p:spPr>
          <a:xfrm>
            <a:off x="2895447" y="5029200"/>
            <a:ext cx="6400800" cy="12344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Output Decisions
(Module 4: pricing &amp; profit-maximization)</a:t>
            </a:r>
          </a:p>
        </p:txBody>
      </p:sp>
      <p:cxnSp>
        <p:nvCxnSpPr>
          <p:cNvPr id="11" name="Connector 10"/>
          <p:cNvCxnSpPr/>
          <p:nvPr/>
        </p:nvCxnSpPr>
        <p:spPr>
          <a:xfrm>
            <a:off x="2651760" y="3017520"/>
            <a:ext cx="0" cy="22860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54864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80360"/>
            <a:ext cx="2408073" cy="2148840"/>
          </a:xfrm>
          <a:prstGeom prst="line">
            <a:avLst/>
          </a:prstGeom>
          <a:ln w="1905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6355080"/>
            <a:ext cx="11430000" cy="228600"/>
          </a:xfrm>
          <a:prstGeom prst="rect">
            <a:avLst/>
          </a:prstGeom>
          <a:noFill/>
        </p:spPr>
        <p:txBody>
          <a:bodyPr wrap="square" lIns="0" rIns="0" tIns="0" bIns="0">
            <a:spAutoFit/>
          </a:bodyPr>
          <a:lstStyle/>
          <a:p>
            <a:pPr algn="l"/>
            <a:r>
              <a:rPr sz="1400" b="0" i="1">
                <a:solidFill>
                  <a:srgbClr val="555B66"/>
                </a:solidFill>
                <a:latin typeface="Calibri"/>
              </a:rPr>
              <a:t>Tonight: build the left-hand chain   ·   M2 (Demand) is already in hand   ·   M4: combine them to set price and quantity</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Front Matter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400" b="0">
                <a:solidFill>
                  <a:srgbClr val="0B2B4E"/>
                </a:solidFill>
                <a:latin typeface="Calibri"/>
              </a:rPr>
              <a:t>Economic Models of Production</a:t>
            </a:r>
          </a:p>
          <a:p>
            <a:pPr algn="l" marL="685800" indent="-228600">
              <a:spcBef>
                <a:spcPts val="600"/>
              </a:spcBef>
              <a:buClr>
                <a:srgbClr val="555B66"/>
              </a:buClr>
              <a:buFont typeface="Calibri"/>
              <a:buChar char="–"/>
            </a:pPr>
            <a:r>
              <a:rPr sz="2000">
                <a:solidFill>
                  <a:srgbClr val="555B66"/>
                </a:solidFill>
                <a:latin typeface="Calibri"/>
              </a:rPr>
              <a:t>Production functions</a:t>
            </a:r>
          </a:p>
          <a:p>
            <a:pPr algn="l" marL="685800" indent="-228600">
              <a:spcBef>
                <a:spcPts val="600"/>
              </a:spcBef>
              <a:buClr>
                <a:srgbClr val="555B66"/>
              </a:buClr>
              <a:buFont typeface="Calibri"/>
              <a:buChar char="–"/>
            </a:pPr>
            <a:r>
              <a:rPr sz="2000">
                <a:solidFill>
                  <a:srgbClr val="555B66"/>
                </a:solidFill>
                <a:latin typeface="Calibri"/>
              </a:rPr>
              <a:t>Short run vs. long run</a:t>
            </a:r>
          </a:p>
          <a:p>
            <a:pPr algn="l" marL="342900" indent="-342900">
              <a:spcBef>
                <a:spcPts val="800"/>
              </a:spcBef>
              <a:buClr>
                <a:srgbClr val="0B2B4E"/>
              </a:buClr>
              <a:buFont typeface="Calibri"/>
              <a:buChar char="▪"/>
            </a:pPr>
            <a:r>
              <a:rPr sz="2400" b="0">
                <a:solidFill>
                  <a:srgbClr val="0B2B4E"/>
                </a:solidFill>
                <a:latin typeface="Calibri"/>
              </a:rPr>
              <a:t>Short-run production decisions</a:t>
            </a:r>
          </a:p>
          <a:p>
            <a:pPr algn="l" marL="685800" indent="-228600">
              <a:spcBef>
                <a:spcPts val="600"/>
              </a:spcBef>
              <a:buClr>
                <a:srgbClr val="555B66"/>
              </a:buClr>
              <a:buFont typeface="Calibri"/>
              <a:buChar char="–"/>
            </a:pPr>
            <a:r>
              <a:rPr sz="2000">
                <a:solidFill>
                  <a:srgbClr val="555B66"/>
                </a:solidFill>
                <a:latin typeface="Calibri"/>
              </a:rPr>
              <a:t>Diminishing marginal returns</a:t>
            </a:r>
          </a:p>
          <a:p>
            <a:pPr algn="l" marL="685800" indent="-228600">
              <a:spcBef>
                <a:spcPts val="600"/>
              </a:spcBef>
              <a:buClr>
                <a:srgbClr val="555B66"/>
              </a:buClr>
              <a:buFont typeface="Calibri"/>
              <a:buChar char="–"/>
            </a:pPr>
            <a:r>
              <a:rPr sz="2000">
                <a:solidFill>
                  <a:srgbClr val="555B66"/>
                </a:solidFill>
                <a:latin typeface="Calibri"/>
              </a:rPr>
              <a:t>Optimal hiring decisions</a:t>
            </a:r>
          </a:p>
          <a:p>
            <a:pPr algn="l" marL="685800" indent="-228600">
              <a:spcBef>
                <a:spcPts val="600"/>
              </a:spcBef>
              <a:buClr>
                <a:srgbClr val="555B66"/>
              </a:buClr>
              <a:buFont typeface="Calibri"/>
              <a:buChar char="–"/>
            </a:pPr>
            <a:r>
              <a:rPr sz="2000">
                <a:solidFill>
                  <a:srgbClr val="555B66"/>
                </a:solidFill>
                <a:latin typeface="Calibri"/>
              </a:rPr>
              <a:t>Wage searchers</a:t>
            </a:r>
          </a:p>
          <a:p>
            <a:pPr algn="l" marL="342900" indent="-342900">
              <a:spcBef>
                <a:spcPts val="800"/>
              </a:spcBef>
              <a:buClr>
                <a:srgbClr val="0B2B4E"/>
              </a:buClr>
              <a:buFont typeface="Calibri"/>
              <a:buChar char="▪"/>
            </a:pPr>
            <a:r>
              <a:rPr sz="2400" b="0">
                <a:solidFill>
                  <a:srgbClr val="0B2B4E"/>
                </a:solidFill>
                <a:latin typeface="Calibri"/>
              </a:rPr>
              <a:t>Long-run production decisions</a:t>
            </a:r>
          </a:p>
          <a:p>
            <a:pPr algn="l" marL="685800" indent="-228600">
              <a:spcBef>
                <a:spcPts val="600"/>
              </a:spcBef>
              <a:buClr>
                <a:srgbClr val="555B66"/>
              </a:buClr>
              <a:buFont typeface="Calibri"/>
              <a:buChar char="–"/>
            </a:pPr>
            <a:r>
              <a:rPr sz="2000">
                <a:solidFill>
                  <a:srgbClr val="555B66"/>
                </a:solidFill>
                <a:latin typeface="Calibri"/>
              </a:rPr>
              <a:t>Optimal mix of inputs</a:t>
            </a:r>
          </a:p>
          <a:p>
            <a:pPr algn="l" marL="342900" indent="-342900">
              <a:spcBef>
                <a:spcPts val="800"/>
              </a:spcBef>
              <a:buClr>
                <a:srgbClr val="0B2B4E"/>
              </a:buClr>
              <a:buFont typeface="Calibri"/>
              <a:buChar char="▪"/>
            </a:pPr>
            <a:r>
              <a:rPr sz="2400" b="0">
                <a:solidFill>
                  <a:srgbClr val="0B2B4E"/>
                </a:solidFill>
                <a:latin typeface="Calibri"/>
              </a:rPr>
              <a:t>Costs</a:t>
            </a:r>
          </a:p>
          <a:p>
            <a:pPr algn="l" marL="685800" indent="-228600">
              <a:spcBef>
                <a:spcPts val="600"/>
              </a:spcBef>
              <a:buClr>
                <a:srgbClr val="555B66"/>
              </a:buClr>
              <a:buFont typeface="Calibri"/>
              <a:buChar char="–"/>
            </a:pPr>
            <a:r>
              <a:rPr sz="2000">
                <a:solidFill>
                  <a:srgbClr val="555B66"/>
                </a:solidFill>
                <a:latin typeface="Calibri"/>
              </a:rPr>
              <a:t>Fixed, sunk, variable costs</a:t>
            </a:r>
          </a:p>
          <a:p>
            <a:pPr algn="l" marL="685800" indent="-228600">
              <a:spcBef>
                <a:spcPts val="600"/>
              </a:spcBef>
              <a:buClr>
                <a:srgbClr val="555B66"/>
              </a:buClr>
              <a:buFont typeface="Calibri"/>
              <a:buChar char="–"/>
            </a:pPr>
            <a:r>
              <a:rPr sz="2000">
                <a:solidFill>
                  <a:srgbClr val="555B66"/>
                </a:solidFill>
                <a:latin typeface="Calibri"/>
              </a:rPr>
              <a:t>Marginal costs</a:t>
            </a:r>
          </a:p>
          <a:p>
            <a:pPr algn="l" marL="685800" indent="-228600">
              <a:spcBef>
                <a:spcPts val="600"/>
              </a:spcBef>
              <a:buClr>
                <a:srgbClr val="555B66"/>
              </a:buClr>
              <a:buFont typeface="Calibri"/>
              <a:buChar char="–"/>
            </a:pPr>
            <a:r>
              <a:rPr sz="2000">
                <a:solidFill>
                  <a:srgbClr val="555B66"/>
                </a:solidFill>
                <a:latin typeface="Calibri"/>
              </a:rPr>
              <a:t>Long-run costs and economies of scale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Section Divider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Short Run – Hiring Decisions</a:t>
            </a:r>
          </a:p>
          <a:p>
            <a:pPr algn="l" marL="457200" indent="-457200">
              <a:spcBef>
                <a:spcPts val="10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10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Output Depends on Inputs:  Q = f (K, L, 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M)</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p>
            <a:pPr algn="l" marL="342900" indent="-342900">
              <a:buClr>
                <a:srgbClr val="0B2B4E"/>
              </a:buClr>
              <a:buFont typeface="Calibri"/>
              <a:buChar char="▪"/>
            </a:pPr>
            <a:r>
              <a:rPr sz="2400" b="0">
                <a:solidFill>
                  <a:srgbClr val="0B2B4E"/>
                </a:solidFill>
                <a:latin typeface="Calibri"/>
              </a:rPr>
              <a:t>Q  =  Output</a:t>
            </a:r>
          </a:p>
          <a:p>
            <a:pPr algn="l" marL="342900" indent="-342900">
              <a:spcBef>
                <a:spcPts val="800"/>
              </a:spcBef>
              <a:buClr>
                <a:srgbClr val="0B2B4E"/>
              </a:buClr>
              <a:buFont typeface="Calibri"/>
              <a:buChar char="▪"/>
            </a:pPr>
            <a:r>
              <a:rPr sz="2400" b="0">
                <a:solidFill>
                  <a:srgbClr val="0B2B4E"/>
                </a:solidFill>
                <a:latin typeface="Calibri"/>
              </a:rPr>
              <a:t>f   =  a function of inputs:</a:t>
            </a:r>
          </a:p>
          <a:p>
            <a:pPr algn="l" marL="685800" indent="-228600">
              <a:spcBef>
                <a:spcPts val="600"/>
              </a:spcBef>
              <a:buClr>
                <a:srgbClr val="555B66"/>
              </a:buClr>
              <a:buFont typeface="Calibri"/>
              <a:buChar char="–"/>
            </a:pPr>
            <a:r>
              <a:rPr sz="2000">
                <a:solidFill>
                  <a:srgbClr val="555B66"/>
                </a:solidFill>
                <a:latin typeface="Calibri"/>
              </a:rPr>
              <a:t>K  =  Capital  (physical: factories, machinery, software, IP)</a:t>
            </a:r>
          </a:p>
          <a:p>
            <a:pPr algn="l" marL="685800" indent="-228600">
              <a:spcBef>
                <a:spcPts val="600"/>
              </a:spcBef>
              <a:buClr>
                <a:srgbClr val="555B66"/>
              </a:buClr>
              <a:buFont typeface="Calibri"/>
              <a:buChar char="–"/>
            </a:pPr>
            <a:r>
              <a:rPr sz="2000">
                <a:solidFill>
                  <a:srgbClr val="555B66"/>
                </a:solidFill>
                <a:latin typeface="Calibri"/>
              </a:rPr>
              <a:t>L  =  Labor</a:t>
            </a:r>
          </a:p>
          <a:p>
            <a:pPr algn="l" marL="685800" indent="-228600">
              <a:spcBef>
                <a:spcPts val="600"/>
              </a:spcBef>
              <a:buClr>
                <a:srgbClr val="555B66"/>
              </a:buClr>
              <a:buFont typeface="Calibri"/>
              <a:buChar char="–"/>
            </a:pPr>
            <a:r>
              <a:rPr sz="2000">
                <a:solidFill>
                  <a:srgbClr val="555B66"/>
                </a:solidFill>
                <a:latin typeface="Calibri"/>
              </a:rPr>
              <a:t>M  =  Raw materials</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ectangle 10"/>
          <p:cNvSpPr/>
          <p:nvPr/>
        </p:nvSpPr>
        <p:spPr>
          <a:xfrm>
            <a:off x="1706727" y="5852160"/>
            <a:ext cx="87782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Output depends on inputs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In the Short Run, You're Stuck with Your Capacity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800" b="0">
                <a:solidFill>
                  <a:srgbClr val="0B2B4E"/>
                </a:solidFill>
                <a:latin typeface="Calibri"/>
              </a:rPr>
              <a:t>In the short run, some inputs (fixed factors) cannot be increased or decreased</a:t>
            </a:r>
          </a:p>
          <a:p>
            <a:pPr algn="l" marL="342900" indent="-342900">
              <a:spcBef>
                <a:spcPts val="1400"/>
              </a:spcBef>
              <a:buClr>
                <a:srgbClr val="0B2B4E"/>
              </a:buClr>
              <a:buFont typeface="Calibri"/>
              <a:buChar char="▪"/>
            </a:pPr>
            <a:r>
              <a:rPr sz="2800" b="0">
                <a:solidFill>
                  <a:srgbClr val="0B2B4E"/>
                </a:solidFill>
                <a:latin typeface="Calibri"/>
              </a:rPr>
              <a:t>The long run is a period long enough for all inputs to be variable</a:t>
            </a:r>
          </a:p>
        </p:txBody>
      </p:sp>
      <p:pic>
        <p:nvPicPr>
          <p:cNvPr id="8" name="Picture 7" descr="slide9_rId3.png"/>
          <p:cNvPicPr>
            <a:picLocks noChangeAspect="1"/>
          </p:cNvPicPr>
          <p:nvPr/>
        </p:nvPicPr>
        <p:blipFill>
          <a:blip r:embed="rId2"/>
          <a:stretch>
            <a:fillRect/>
          </a:stretch>
        </p:blipFill>
        <p:spPr>
          <a:xfrm>
            <a:off x="914400" y="4023360"/>
            <a:ext cx="4572000" cy="2845786"/>
          </a:xfrm>
          <a:prstGeom prst="rect">
            <a:avLst/>
          </a:prstGeom>
        </p:spPr>
      </p:pic>
      <p:pic>
        <p:nvPicPr>
          <p:cNvPr id="9" name="Picture 8" descr="slide9_rId5.jpg"/>
          <p:cNvPicPr>
            <a:picLocks noChangeAspect="1"/>
          </p:cNvPicPr>
          <p:nvPr/>
        </p:nvPicPr>
        <p:blipFill>
          <a:blip r:embed="rId3"/>
          <a:stretch>
            <a:fillRect/>
          </a:stretch>
        </p:blipFill>
        <p:spPr>
          <a:xfrm>
            <a:off x="6675120" y="4023360"/>
            <a:ext cx="4572000" cy="3043238"/>
          </a:xfrm>
          <a:prstGeom prst="rect">
            <a:avLst/>
          </a:prstGeom>
        </p:spPr>
      </p:pic>
      <p:sp>
        <p:nvSpPr>
          <p:cNvPr id="10" name="TextBox 9"/>
          <p:cNvSpPr txBox="1"/>
          <p:nvPr/>
        </p:nvSpPr>
        <p:spPr>
          <a:xfrm>
            <a:off x="914400" y="6217920"/>
            <a:ext cx="4572000" cy="274320"/>
          </a:xfrm>
          <a:prstGeom prst="rect">
            <a:avLst/>
          </a:prstGeom>
          <a:noFill/>
        </p:spPr>
        <p:txBody>
          <a:bodyPr wrap="square" lIns="0" rIns="0" tIns="0" bIns="0">
            <a:spAutoFit/>
          </a:bodyPr>
          <a:lstStyle/>
          <a:p>
            <a:pPr algn="ctr"/>
            <a:r>
              <a:rPr sz="1400" b="1" i="1">
                <a:solidFill>
                  <a:srgbClr val="0B2B4E"/>
                </a:solidFill>
                <a:latin typeface="Calibri"/>
              </a:rPr>
              <a:t>Short run: capacity is fixed</a:t>
            </a:r>
          </a:p>
        </p:txBody>
      </p:sp>
      <p:sp>
        <p:nvSpPr>
          <p:cNvPr id="11" name="TextBox 10"/>
          <p:cNvSpPr txBox="1"/>
          <p:nvPr/>
        </p:nvSpPr>
        <p:spPr>
          <a:xfrm>
            <a:off x="6675120" y="6217920"/>
            <a:ext cx="4572000" cy="274320"/>
          </a:xfrm>
          <a:prstGeom prst="rect">
            <a:avLst/>
          </a:prstGeom>
          <a:noFill/>
        </p:spPr>
        <p:txBody>
          <a:bodyPr wrap="square" lIns="0" rIns="0" tIns="0" bIns="0">
            <a:spAutoFit/>
          </a:bodyPr>
          <a:lstStyle/>
          <a:p>
            <a:pPr algn="ctr"/>
            <a:r>
              <a:rPr sz="1400" b="1" i="1">
                <a:solidFill>
                  <a:srgbClr val="0B2B4E"/>
                </a:solidFill>
                <a:latin typeface="Calibri"/>
              </a:rPr>
              <a:t>Long run: build new plant</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Tesla's Production Function: Output of the Gigafactory per Week</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2194560" y="2194560"/>
          <a:ext cx="8229600" cy="402336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447040">
                <a:tc>
                  <a:txBody>
                    <a:bodyPr/>
                    <a:lstStyle/>
                    <a:p>
                      <a:pPr algn="ctr"/>
                    </a:p>
                  </a:txBody>
                  <a:tcPr>
                    <a:solidFill>
                      <a:srgbClr val="0B2B4E"/>
                    </a:solidFill>
                  </a:tcPr>
                </a:tc>
                <a:tc>
                  <a:txBody>
                    <a:bodyPr/>
                    <a:lstStyle/>
                    <a:p>
                      <a:pPr algn="ctr"/>
                      <a:r>
                        <a:rPr sz="1400" b="1">
                          <a:solidFill>
                            <a:srgbClr val="FFFFFF"/>
                          </a:solidFill>
                          <a:latin typeface="Calibri"/>
                        </a:rPr>
                        <a:t>0</a:t>
                      </a:r>
                    </a:p>
                  </a:txBody>
                  <a:tcPr>
                    <a:solidFill>
                      <a:srgbClr val="0B2B4E"/>
                    </a:solidFill>
                  </a:tcPr>
                </a:tc>
                <a:tc>
                  <a:txBody>
                    <a:bodyPr/>
                    <a:lstStyle/>
                    <a:p>
                      <a:pPr algn="ctr"/>
                      <a:r>
                        <a:rPr sz="1400" b="1">
                          <a:solidFill>
                            <a:srgbClr val="FFFFFF"/>
                          </a:solidFill>
                          <a:latin typeface="Calibri"/>
                        </a:rPr>
                        <a:t>20</a:t>
                      </a:r>
                    </a:p>
                  </a:txBody>
                  <a:tcPr>
                    <a:solidFill>
                      <a:srgbClr val="0B2B4E"/>
                    </a:solidFill>
                  </a:tcPr>
                </a:tc>
                <a:tc>
                  <a:txBody>
                    <a:bodyPr/>
                    <a:lstStyle/>
                    <a:p>
                      <a:pPr algn="ctr"/>
                      <a:r>
                        <a:rPr sz="1400" b="1">
                          <a:solidFill>
                            <a:srgbClr val="FFFFFF"/>
                          </a:solidFill>
                          <a:latin typeface="Calibri"/>
                        </a:rPr>
                        <a:t>40</a:t>
                      </a:r>
                    </a:p>
                  </a:txBody>
                  <a:tcPr>
                    <a:solidFill>
                      <a:srgbClr val="0B2B4E"/>
                    </a:solidFill>
                  </a:tcPr>
                </a:tc>
                <a:tc>
                  <a:txBody>
                    <a:bodyPr/>
                    <a:lstStyle/>
                    <a:p>
                      <a:pPr algn="ctr"/>
                      <a:r>
                        <a:rPr sz="1400" b="1">
                          <a:solidFill>
                            <a:srgbClr val="FFFFFF"/>
                          </a:solidFill>
                          <a:latin typeface="Calibri"/>
                        </a:rPr>
                        <a:t>60</a:t>
                      </a:r>
                    </a:p>
                  </a:txBody>
                  <a:tcPr>
                    <a:solidFill>
                      <a:srgbClr val="0B2B4E"/>
                    </a:solidFill>
                  </a:tcPr>
                </a:tc>
                <a:tc>
                  <a:txBody>
                    <a:bodyPr/>
                    <a:lstStyle/>
                    <a:p>
                      <a:pPr algn="ctr"/>
                      <a:r>
                        <a:rPr sz="1400" b="1">
                          <a:solidFill>
                            <a:srgbClr val="FFFFFF"/>
                          </a:solidFill>
                          <a:latin typeface="Calibri"/>
                        </a:rPr>
                        <a:t>80</a:t>
                      </a:r>
                    </a:p>
                  </a:txBody>
                  <a:tcPr>
                    <a:solidFill>
                      <a:srgbClr val="0B2B4E"/>
                    </a:solidFill>
                  </a:tcPr>
                </a:tc>
                <a:tc>
                  <a:txBody>
                    <a:bodyPr/>
                    <a:lstStyle/>
                    <a:p>
                      <a:pPr algn="ctr"/>
                      <a:r>
                        <a:rPr sz="1400" b="1">
                          <a:solidFill>
                            <a:srgbClr val="FFFFFF"/>
                          </a:solidFill>
                          <a:latin typeface="Calibri"/>
                        </a:rPr>
                        <a:t>100</a:t>
                      </a:r>
                    </a:p>
                  </a:txBody>
                  <a:tcPr>
                    <a:solidFill>
                      <a:srgbClr val="0B2B4E"/>
                    </a:solidFill>
                  </a:tcPr>
                </a:tc>
                <a:tc>
                  <a:txBody>
                    <a:bodyPr/>
                    <a:lstStyle/>
                    <a:p>
                      <a:pPr algn="ctr"/>
                      <a:r>
                        <a:rPr sz="1400" b="1">
                          <a:solidFill>
                            <a:srgbClr val="FFFFFF"/>
                          </a:solidFill>
                          <a:latin typeface="Calibri"/>
                        </a:rPr>
                        <a:t>120</a:t>
                      </a:r>
                    </a:p>
                  </a:txBody>
                  <a:tcPr>
                    <a:solidFill>
                      <a:srgbClr val="0B2B4E"/>
                    </a:solidFill>
                  </a:tcPr>
                </a:tc>
                <a:tc>
                  <a:txBody>
                    <a:bodyPr/>
                    <a:lstStyle/>
                    <a:p>
                      <a:pPr algn="ctr"/>
                      <a:r>
                        <a:rPr sz="1400" b="1">
                          <a:solidFill>
                            <a:srgbClr val="FFFFFF"/>
                          </a:solidFill>
                          <a:latin typeface="Calibri"/>
                        </a:rPr>
                        <a:t>140</a:t>
                      </a:r>
                    </a:p>
                  </a:txBody>
                  <a:tcPr>
                    <a:solidFill>
                      <a:srgbClr val="0B2B4E"/>
                    </a:solidFill>
                  </a:tcPr>
                </a:tc>
              </a:tr>
              <a:tr h="447040">
                <a:tc>
                  <a:txBody>
                    <a:bodyPr/>
                    <a:lstStyle/>
                    <a:p>
                      <a:pPr algn="ctr"/>
                      <a:r>
                        <a:rPr sz="1400" b="1">
                          <a:solidFill>
                            <a:srgbClr val="FFFFFF"/>
                          </a:solidFill>
                          <a:latin typeface="Calibri"/>
                        </a:rPr>
                        <a:t>0</a:t>
                      </a:r>
                    </a:p>
                  </a:txBody>
                  <a:tcPr>
                    <a:solidFill>
                      <a:srgbClr val="0B2B4E"/>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c>
                  <a:txBody>
                    <a:bodyPr/>
                    <a:lstStyle/>
                    <a:p>
                      <a:pPr algn="ctr"/>
                      <a:r>
                        <a:rPr sz="1400">
                          <a:solidFill>
                            <a:srgbClr val="0B2B4E"/>
                          </a:solidFill>
                          <a:latin typeface="Calibri"/>
                        </a:rPr>
                        <a:t>0</a:t>
                      </a:r>
                    </a:p>
                  </a:txBody>
                  <a:tcPr>
                    <a:solidFill>
                      <a:srgbClr val="FFFFFF"/>
                    </a:solidFill>
                  </a:tcPr>
                </a:tc>
              </a:tr>
              <a:tr h="447040">
                <a:tc>
                  <a:txBody>
                    <a:bodyPr/>
                    <a:lstStyle/>
                    <a:p>
                      <a:pPr algn="ctr"/>
                      <a:r>
                        <a:rPr sz="1400" b="1">
                          <a:solidFill>
                            <a:srgbClr val="FFFFFF"/>
                          </a:solidFill>
                          <a:latin typeface="Calibri"/>
                        </a:rPr>
                        <a:t>1,000</a:t>
                      </a:r>
                    </a:p>
                  </a:txBody>
                  <a:tcPr>
                    <a:solidFill>
                      <a:srgbClr val="0B2B4E"/>
                    </a:solidFill>
                  </a:tcPr>
                </a:tc>
                <a:tc>
                  <a:txBody>
                    <a:bodyPr/>
                    <a:lstStyle/>
                    <a:p>
                      <a:pPr algn="ctr"/>
                      <a:r>
                        <a:rPr sz="1400">
                          <a:solidFill>
                            <a:srgbClr val="0B2B4E"/>
                          </a:solidFill>
                          <a:latin typeface="Calibri"/>
                        </a:rPr>
                        <a:t>100</a:t>
                      </a:r>
                    </a:p>
                  </a:txBody>
                  <a:tcPr>
                    <a:solidFill>
                      <a:srgbClr val="FFFFFF"/>
                    </a:solidFill>
                  </a:tcPr>
                </a:tc>
                <a:tc>
                  <a:txBody>
                    <a:bodyPr/>
                    <a:lstStyle/>
                    <a:p>
                      <a:pPr algn="ctr"/>
                      <a:r>
                        <a:rPr sz="1400">
                          <a:solidFill>
                            <a:srgbClr val="0B2B4E"/>
                          </a:solidFill>
                          <a:latin typeface="Calibri"/>
                        </a:rPr>
                        <a:t>200</a:t>
                      </a:r>
                    </a:p>
                  </a:txBody>
                  <a:tcPr>
                    <a:solidFill>
                      <a:srgbClr val="FFFFFF"/>
                    </a:solidFill>
                  </a:tcPr>
                </a:tc>
                <a:tc>
                  <a:txBody>
                    <a:bodyPr/>
                    <a:lstStyle/>
                    <a:p>
                      <a:pPr algn="ctr"/>
                      <a:r>
                        <a:rPr sz="1400">
                          <a:solidFill>
                            <a:srgbClr val="0B2B4E"/>
                          </a:solidFill>
                          <a:latin typeface="Calibri"/>
                        </a:rPr>
                        <a:t>300</a:t>
                      </a:r>
                    </a:p>
                  </a:txBody>
                  <a:tcPr>
                    <a:solidFill>
                      <a:srgbClr val="FFFFFF"/>
                    </a:solidFill>
                  </a:tcPr>
                </a:tc>
                <a:tc>
                  <a:txBody>
                    <a:bodyPr/>
                    <a:lstStyle/>
                    <a:p>
                      <a:pPr algn="ctr"/>
                      <a:r>
                        <a:rPr sz="1400">
                          <a:solidFill>
                            <a:srgbClr val="0B2B4E"/>
                          </a:solidFill>
                          <a:latin typeface="Calibri"/>
                        </a:rPr>
                        <a:t>400</a:t>
                      </a:r>
                    </a:p>
                  </a:txBody>
                  <a:tcPr>
                    <a:solidFill>
                      <a:srgbClr val="FFFFFF"/>
                    </a:solidFill>
                  </a:tcPr>
                </a:tc>
                <a:tc>
                  <a:txBody>
                    <a:bodyPr/>
                    <a:lstStyle/>
                    <a:p>
                      <a:pPr algn="ctr"/>
                      <a:r>
                        <a:rPr sz="1400">
                          <a:solidFill>
                            <a:srgbClr val="0B2B4E"/>
                          </a:solidFill>
                          <a:latin typeface="Calibri"/>
                        </a:rPr>
                        <a:t>480</a:t>
                      </a:r>
                    </a:p>
                  </a:txBody>
                  <a:tcPr>
                    <a:solidFill>
                      <a:srgbClr val="FFFFFF"/>
                    </a:solidFill>
                  </a:tcPr>
                </a:tc>
                <a:tc>
                  <a:txBody>
                    <a:bodyPr/>
                    <a:lstStyle/>
                    <a:p>
                      <a:pPr algn="ctr"/>
                      <a:r>
                        <a:rPr sz="1400">
                          <a:solidFill>
                            <a:srgbClr val="0B2B4E"/>
                          </a:solidFill>
                          <a:latin typeface="Calibri"/>
                        </a:rPr>
                        <a:t>560</a:t>
                      </a:r>
                    </a:p>
                  </a:txBody>
                  <a:tcPr>
                    <a:solidFill>
                      <a:srgbClr val="FFFFFF"/>
                    </a:solidFill>
                  </a:tcPr>
                </a:tc>
                <a:tc>
                  <a:txBody>
                    <a:bodyPr/>
                    <a:lstStyle/>
                    <a:p>
                      <a:pPr algn="ctr"/>
                      <a:r>
                        <a:rPr sz="1400">
                          <a:solidFill>
                            <a:srgbClr val="0B2B4E"/>
                          </a:solidFill>
                          <a:latin typeface="Calibri"/>
                        </a:rPr>
                        <a:t>600</a:t>
                      </a:r>
                    </a:p>
                  </a:txBody>
                  <a:tcPr>
                    <a:solidFill>
                      <a:srgbClr val="FFFFFF"/>
                    </a:solidFill>
                  </a:tcPr>
                </a:tc>
                <a:tc>
                  <a:txBody>
                    <a:bodyPr/>
                    <a:lstStyle/>
                    <a:p>
                      <a:pPr algn="ctr"/>
                      <a:r>
                        <a:rPr sz="1400">
                          <a:solidFill>
                            <a:srgbClr val="0B2B4E"/>
                          </a:solidFill>
                          <a:latin typeface="Calibri"/>
                        </a:rPr>
                        <a:t>620</a:t>
                      </a:r>
                    </a:p>
                  </a:txBody>
                  <a:tcPr>
                    <a:solidFill>
                      <a:srgbClr val="FFFFFF"/>
                    </a:solidFill>
                  </a:tcPr>
                </a:tc>
              </a:tr>
              <a:tr h="447040">
                <a:tc>
                  <a:txBody>
                    <a:bodyPr/>
                    <a:lstStyle/>
                    <a:p>
                      <a:pPr algn="ctr"/>
                      <a:r>
                        <a:rPr sz="1400" b="1">
                          <a:solidFill>
                            <a:srgbClr val="FFFFFF"/>
                          </a:solidFill>
                          <a:latin typeface="Calibri"/>
                        </a:rPr>
                        <a:t>2,000</a:t>
                      </a:r>
                    </a:p>
                  </a:txBody>
                  <a:tcPr>
                    <a:solidFill>
                      <a:srgbClr val="0B2B4E"/>
                    </a:solidFill>
                  </a:tcPr>
                </a:tc>
                <a:tc>
                  <a:txBody>
                    <a:bodyPr/>
                    <a:lstStyle/>
                    <a:p>
                      <a:pPr algn="ctr"/>
                      <a:r>
                        <a:rPr sz="1400">
                          <a:solidFill>
                            <a:srgbClr val="0B2B4E"/>
                          </a:solidFill>
                          <a:latin typeface="Calibri"/>
                        </a:rPr>
                        <a:t>180</a:t>
                      </a:r>
                    </a:p>
                  </a:txBody>
                  <a:tcPr>
                    <a:solidFill>
                      <a:srgbClr val="FFFFFF"/>
                    </a:solidFill>
                  </a:tcPr>
                </a:tc>
                <a:tc>
                  <a:txBody>
                    <a:bodyPr/>
                    <a:lstStyle/>
                    <a:p>
                      <a:pPr algn="ctr"/>
                      <a:r>
                        <a:rPr sz="1400">
                          <a:solidFill>
                            <a:srgbClr val="0B2B4E"/>
                          </a:solidFill>
                          <a:latin typeface="Calibri"/>
                        </a:rPr>
                        <a:t>360</a:t>
                      </a:r>
                    </a:p>
                  </a:txBody>
                  <a:tcPr>
                    <a:solidFill>
                      <a:srgbClr val="FFFFFF"/>
                    </a:solidFill>
                  </a:tcPr>
                </a:tc>
                <a:tc>
                  <a:txBody>
                    <a:bodyPr/>
                    <a:lstStyle/>
                    <a:p>
                      <a:pPr algn="ctr"/>
                      <a:r>
                        <a:rPr sz="1400">
                          <a:solidFill>
                            <a:srgbClr val="0B2B4E"/>
                          </a:solidFill>
                          <a:latin typeface="Calibri"/>
                        </a:rPr>
                        <a:t>540</a:t>
                      </a:r>
                    </a:p>
                  </a:txBody>
                  <a:tcPr>
                    <a:solidFill>
                      <a:srgbClr val="FFFFFF"/>
                    </a:solidFill>
                  </a:tcPr>
                </a:tc>
                <a:tc>
                  <a:txBody>
                    <a:bodyPr/>
                    <a:lstStyle/>
                    <a:p>
                      <a:pPr algn="ctr"/>
                      <a:r>
                        <a:rPr sz="1400">
                          <a:solidFill>
                            <a:srgbClr val="0B2B4E"/>
                          </a:solidFill>
                          <a:latin typeface="Calibri"/>
                        </a:rPr>
                        <a:t>720</a:t>
                      </a:r>
                    </a:p>
                  </a:txBody>
                  <a:tcPr>
                    <a:solidFill>
                      <a:srgbClr val="FFFFFF"/>
                    </a:solidFill>
                  </a:tcPr>
                </a:tc>
                <a:tc>
                  <a:txBody>
                    <a:bodyPr/>
                    <a:lstStyle/>
                    <a:p>
                      <a:pPr algn="ctr"/>
                      <a:r>
                        <a:rPr sz="1400">
                          <a:solidFill>
                            <a:srgbClr val="0B2B4E"/>
                          </a:solidFill>
                          <a:latin typeface="Calibri"/>
                        </a:rPr>
                        <a:t>840</a:t>
                      </a:r>
                    </a:p>
                  </a:txBody>
                  <a:tcPr>
                    <a:solidFill>
                      <a:srgbClr val="FFFFFF"/>
                    </a:solidFill>
                  </a:tcPr>
                </a:tc>
                <a:tc>
                  <a:txBody>
                    <a:bodyPr/>
                    <a:lstStyle/>
                    <a:p>
                      <a:pPr algn="ctr"/>
                      <a:r>
                        <a:rPr sz="1400">
                          <a:solidFill>
                            <a:srgbClr val="0B2B4E"/>
                          </a:solidFill>
                          <a:latin typeface="Calibri"/>
                        </a:rPr>
                        <a:t>960</a:t>
                      </a:r>
                    </a:p>
                  </a:txBody>
                  <a:tcPr>
                    <a:solidFill>
                      <a:srgbClr val="FFFFFF"/>
                    </a:solidFill>
                  </a:tcPr>
                </a:tc>
                <a:tc>
                  <a:txBody>
                    <a:bodyPr/>
                    <a:lstStyle/>
                    <a:p>
                      <a:pPr algn="ctr"/>
                      <a:r>
                        <a:rPr sz="1400">
                          <a:solidFill>
                            <a:srgbClr val="0B2B4E"/>
                          </a:solidFill>
                          <a:latin typeface="Calibri"/>
                        </a:rPr>
                        <a:t>1020</a:t>
                      </a:r>
                    </a:p>
                  </a:txBody>
                  <a:tcPr>
                    <a:solidFill>
                      <a:srgbClr val="FFFFFF"/>
                    </a:solidFill>
                  </a:tcPr>
                </a:tc>
                <a:tc>
                  <a:txBody>
                    <a:bodyPr/>
                    <a:lstStyle/>
                    <a:p>
                      <a:pPr algn="ctr"/>
                      <a:r>
                        <a:rPr sz="1400">
                          <a:solidFill>
                            <a:srgbClr val="0B2B4E"/>
                          </a:solidFill>
                          <a:latin typeface="Calibri"/>
                        </a:rPr>
                        <a:t>1040</a:t>
                      </a:r>
                    </a:p>
                  </a:txBody>
                  <a:tcPr>
                    <a:solidFill>
                      <a:srgbClr val="FFFFFF"/>
                    </a:solidFill>
                  </a:tcPr>
                </a:tc>
              </a:tr>
              <a:tr h="447040">
                <a:tc>
                  <a:txBody>
                    <a:bodyPr/>
                    <a:lstStyle/>
                    <a:p>
                      <a:pPr algn="ctr"/>
                      <a:r>
                        <a:rPr sz="1400" b="1">
                          <a:solidFill>
                            <a:srgbClr val="FFFFFF"/>
                          </a:solidFill>
                          <a:latin typeface="Calibri"/>
                        </a:rPr>
                        <a:t>3,000</a:t>
                      </a:r>
                    </a:p>
                  </a:txBody>
                  <a:tcPr>
                    <a:solidFill>
                      <a:srgbClr val="0B2B4E"/>
                    </a:solidFill>
                  </a:tcPr>
                </a:tc>
                <a:tc>
                  <a:txBody>
                    <a:bodyPr/>
                    <a:lstStyle/>
                    <a:p>
                      <a:pPr algn="ctr"/>
                      <a:r>
                        <a:rPr sz="1400">
                          <a:solidFill>
                            <a:srgbClr val="0B2B4E"/>
                          </a:solidFill>
                          <a:latin typeface="Calibri"/>
                        </a:rPr>
                        <a:t>240</a:t>
                      </a:r>
                    </a:p>
                  </a:txBody>
                  <a:tcPr>
                    <a:solidFill>
                      <a:srgbClr val="FFFFFF"/>
                    </a:solidFill>
                  </a:tcPr>
                </a:tc>
                <a:tc>
                  <a:txBody>
                    <a:bodyPr/>
                    <a:lstStyle/>
                    <a:p>
                      <a:pPr algn="ctr"/>
                      <a:r>
                        <a:rPr sz="1400">
                          <a:solidFill>
                            <a:srgbClr val="0B2B4E"/>
                          </a:solidFill>
                          <a:latin typeface="Calibri"/>
                        </a:rPr>
                        <a:t>480</a:t>
                      </a:r>
                    </a:p>
                  </a:txBody>
                  <a:tcPr>
                    <a:solidFill>
                      <a:srgbClr val="FFFFFF"/>
                    </a:solidFill>
                  </a:tcPr>
                </a:tc>
                <a:tc>
                  <a:txBody>
                    <a:bodyPr/>
                    <a:lstStyle/>
                    <a:p>
                      <a:pPr algn="ctr"/>
                      <a:r>
                        <a:rPr sz="1400">
                          <a:solidFill>
                            <a:srgbClr val="0B2B4E"/>
                          </a:solidFill>
                          <a:latin typeface="Calibri"/>
                        </a:rPr>
                        <a:t>720</a:t>
                      </a:r>
                    </a:p>
                  </a:txBody>
                  <a:tcPr>
                    <a:solidFill>
                      <a:srgbClr val="FFFFFF"/>
                    </a:solidFill>
                  </a:tcPr>
                </a:tc>
                <a:tc>
                  <a:txBody>
                    <a:bodyPr/>
                    <a:lstStyle/>
                    <a:p>
                      <a:pPr algn="ctr"/>
                      <a:r>
                        <a:rPr sz="1400">
                          <a:solidFill>
                            <a:srgbClr val="0B2B4E"/>
                          </a:solidFill>
                          <a:latin typeface="Calibri"/>
                        </a:rPr>
                        <a:t>960</a:t>
                      </a:r>
                    </a:p>
                  </a:txBody>
                  <a:tcPr>
                    <a:solidFill>
                      <a:srgbClr val="FFFFFF"/>
                    </a:solidFill>
                  </a:tcPr>
                </a:tc>
                <a:tc>
                  <a:txBody>
                    <a:bodyPr/>
                    <a:lstStyle/>
                    <a:p>
                      <a:pPr algn="ctr"/>
                      <a:r>
                        <a:rPr sz="1400">
                          <a:solidFill>
                            <a:srgbClr val="0B2B4E"/>
                          </a:solidFill>
                          <a:latin typeface="Calibri"/>
                        </a:rPr>
                        <a:t>1140</a:t>
                      </a:r>
                    </a:p>
                  </a:txBody>
                  <a:tcPr>
                    <a:solidFill>
                      <a:srgbClr val="FFFFFF"/>
                    </a:solidFill>
                  </a:tcPr>
                </a:tc>
                <a:tc>
                  <a:txBody>
                    <a:bodyPr/>
                    <a:lstStyle/>
                    <a:p>
                      <a:pPr algn="ctr"/>
                      <a:r>
                        <a:rPr sz="1400">
                          <a:solidFill>
                            <a:srgbClr val="0B2B4E"/>
                          </a:solidFill>
                          <a:latin typeface="Calibri"/>
                        </a:rPr>
                        <a:t>1300</a:t>
                      </a:r>
                    </a:p>
                  </a:txBody>
                  <a:tcPr>
                    <a:solidFill>
                      <a:srgbClr val="FFFFFF"/>
                    </a:solidFill>
                  </a:tcPr>
                </a:tc>
                <a:tc>
                  <a:txBody>
                    <a:bodyPr/>
                    <a:lstStyle/>
                    <a:p>
                      <a:pPr algn="ctr"/>
                      <a:r>
                        <a:rPr sz="1400">
                          <a:solidFill>
                            <a:srgbClr val="0B2B4E"/>
                          </a:solidFill>
                          <a:latin typeface="Calibri"/>
                        </a:rPr>
                        <a:t>1380</a:t>
                      </a:r>
                    </a:p>
                  </a:txBody>
                  <a:tcPr>
                    <a:solidFill>
                      <a:srgbClr val="FFFFFF"/>
                    </a:solidFill>
                  </a:tcPr>
                </a:tc>
                <a:tc>
                  <a:txBody>
                    <a:bodyPr/>
                    <a:lstStyle/>
                    <a:p>
                      <a:pPr algn="ctr"/>
                      <a:r>
                        <a:rPr sz="1400">
                          <a:solidFill>
                            <a:srgbClr val="0B2B4E"/>
                          </a:solidFill>
                          <a:latin typeface="Calibri"/>
                        </a:rPr>
                        <a:t>1400</a:t>
                      </a:r>
                    </a:p>
                  </a:txBody>
                  <a:tcPr>
                    <a:solidFill>
                      <a:srgbClr val="FFFFFF"/>
                    </a:solidFill>
                  </a:tcPr>
                </a:tc>
              </a:tr>
              <a:tr h="447040">
                <a:tc>
                  <a:txBody>
                    <a:bodyPr/>
                    <a:lstStyle/>
                    <a:p>
                      <a:pPr algn="ctr"/>
                      <a:r>
                        <a:rPr sz="1400" b="1">
                          <a:solidFill>
                            <a:srgbClr val="FFFFFF"/>
                          </a:solidFill>
                          <a:latin typeface="Calibri"/>
                        </a:rPr>
                        <a:t>4,000</a:t>
                      </a:r>
                    </a:p>
                  </a:txBody>
                  <a:tcPr>
                    <a:solidFill>
                      <a:srgbClr val="0B2B4E"/>
                    </a:solidFill>
                  </a:tcPr>
                </a:tc>
                <a:tc>
                  <a:txBody>
                    <a:bodyPr/>
                    <a:lstStyle/>
                    <a:p>
                      <a:pPr algn="ctr"/>
                      <a:r>
                        <a:rPr sz="1400">
                          <a:solidFill>
                            <a:srgbClr val="0B2B4E"/>
                          </a:solidFill>
                          <a:latin typeface="Calibri"/>
                        </a:rPr>
                        <a:t>280</a:t>
                      </a:r>
                    </a:p>
                  </a:txBody>
                  <a:tcPr>
                    <a:solidFill>
                      <a:srgbClr val="FFFFFF"/>
                    </a:solidFill>
                  </a:tcPr>
                </a:tc>
                <a:tc>
                  <a:txBody>
                    <a:bodyPr/>
                    <a:lstStyle/>
                    <a:p>
                      <a:pPr algn="ctr"/>
                      <a:r>
                        <a:rPr sz="1400">
                          <a:solidFill>
                            <a:srgbClr val="0B2B4E"/>
                          </a:solidFill>
                          <a:latin typeface="Calibri"/>
                        </a:rPr>
                        <a:t>560</a:t>
                      </a:r>
                    </a:p>
                  </a:txBody>
                  <a:tcPr>
                    <a:solidFill>
                      <a:srgbClr val="FFFFFF"/>
                    </a:solidFill>
                  </a:tcPr>
                </a:tc>
                <a:tc>
                  <a:txBody>
                    <a:bodyPr/>
                    <a:lstStyle/>
                    <a:p>
                      <a:pPr algn="ctr"/>
                      <a:r>
                        <a:rPr sz="1400">
                          <a:solidFill>
                            <a:srgbClr val="0B2B4E"/>
                          </a:solidFill>
                          <a:latin typeface="Calibri"/>
                        </a:rPr>
                        <a:t>840</a:t>
                      </a:r>
                    </a:p>
                  </a:txBody>
                  <a:tcPr>
                    <a:solidFill>
                      <a:srgbClr val="FFFFFF"/>
                    </a:solidFill>
                  </a:tcPr>
                </a:tc>
                <a:tc>
                  <a:txBody>
                    <a:bodyPr/>
                    <a:lstStyle/>
                    <a:p>
                      <a:pPr algn="ctr"/>
                      <a:r>
                        <a:rPr sz="1400">
                          <a:solidFill>
                            <a:srgbClr val="0B2B4E"/>
                          </a:solidFill>
                          <a:latin typeface="Calibri"/>
                        </a:rPr>
                        <a:t>1120</a:t>
                      </a:r>
                    </a:p>
                  </a:txBody>
                  <a:tcPr>
                    <a:solidFill>
                      <a:srgbClr val="FFFFFF"/>
                    </a:solidFill>
                  </a:tcPr>
                </a:tc>
                <a:tc>
                  <a:txBody>
                    <a:bodyPr/>
                    <a:lstStyle/>
                    <a:p>
                      <a:pPr algn="ctr"/>
                      <a:r>
                        <a:rPr sz="1400">
                          <a:solidFill>
                            <a:srgbClr val="0B2B4E"/>
                          </a:solidFill>
                          <a:latin typeface="Calibri"/>
                        </a:rPr>
                        <a:t>1340</a:t>
                      </a:r>
                    </a:p>
                  </a:txBody>
                  <a:tcPr>
                    <a:solidFill>
                      <a:srgbClr val="FFFFFF"/>
                    </a:solidFill>
                  </a:tcPr>
                </a:tc>
                <a:tc>
                  <a:txBody>
                    <a:bodyPr/>
                    <a:lstStyle/>
                    <a:p>
                      <a:pPr algn="ctr"/>
                      <a:r>
                        <a:rPr sz="1400">
                          <a:solidFill>
                            <a:srgbClr val="0B2B4E"/>
                          </a:solidFill>
                          <a:latin typeface="Calibri"/>
                        </a:rPr>
                        <a:t>1540</a:t>
                      </a:r>
                    </a:p>
                  </a:txBody>
                  <a:tcPr>
                    <a:solidFill>
                      <a:srgbClr val="FFFFFF"/>
                    </a:solidFill>
                  </a:tcPr>
                </a:tc>
                <a:tc>
                  <a:txBody>
                    <a:bodyPr/>
                    <a:lstStyle/>
                    <a:p>
                      <a:pPr algn="ctr"/>
                      <a:r>
                        <a:rPr sz="1400">
                          <a:solidFill>
                            <a:srgbClr val="0B2B4E"/>
                          </a:solidFill>
                          <a:latin typeface="Calibri"/>
                        </a:rPr>
                        <a:t>1620</a:t>
                      </a:r>
                    </a:p>
                  </a:txBody>
                  <a:tcPr>
                    <a:solidFill>
                      <a:srgbClr val="FFFFFF"/>
                    </a:solidFill>
                  </a:tcPr>
                </a:tc>
                <a:tc>
                  <a:txBody>
                    <a:bodyPr/>
                    <a:lstStyle/>
                    <a:p>
                      <a:pPr algn="ctr"/>
                      <a:r>
                        <a:rPr sz="1400">
                          <a:solidFill>
                            <a:srgbClr val="0B2B4E"/>
                          </a:solidFill>
                          <a:latin typeface="Calibri"/>
                        </a:rPr>
                        <a:t>1640</a:t>
                      </a:r>
                    </a:p>
                  </a:txBody>
                  <a:tcPr>
                    <a:solidFill>
                      <a:srgbClr val="FFFFFF"/>
                    </a:solidFill>
                  </a:tcPr>
                </a:tc>
              </a:tr>
              <a:tr h="447040">
                <a:tc>
                  <a:txBody>
                    <a:bodyPr/>
                    <a:lstStyle/>
                    <a:p>
                      <a:pPr algn="ctr"/>
                      <a:r>
                        <a:rPr sz="1400" b="1">
                          <a:solidFill>
                            <a:srgbClr val="FFFFFF"/>
                          </a:solidFill>
                          <a:latin typeface="Calibri"/>
                        </a:rPr>
                        <a:t>5,000</a:t>
                      </a:r>
                    </a:p>
                  </a:txBody>
                  <a:tcPr>
                    <a:solidFill>
                      <a:srgbClr val="0B2B4E"/>
                    </a:solidFill>
                  </a:tcPr>
                </a:tc>
                <a:tc>
                  <a:txBody>
                    <a:bodyPr/>
                    <a:lstStyle/>
                    <a:p>
                      <a:pPr algn="ctr"/>
                      <a:r>
                        <a:rPr sz="1400">
                          <a:solidFill>
                            <a:srgbClr val="0B2B4E"/>
                          </a:solidFill>
                          <a:latin typeface="Calibri"/>
                        </a:rPr>
                        <a:t>300</a:t>
                      </a:r>
                    </a:p>
                  </a:txBody>
                  <a:tcPr>
                    <a:solidFill>
                      <a:srgbClr val="FFFFFF"/>
                    </a:solidFill>
                  </a:tcPr>
                </a:tc>
                <a:tc>
                  <a:txBody>
                    <a:bodyPr/>
                    <a:lstStyle/>
                    <a:p>
                      <a:pPr algn="ctr"/>
                      <a:r>
                        <a:rPr sz="1400">
                          <a:solidFill>
                            <a:srgbClr val="0B2B4E"/>
                          </a:solidFill>
                          <a:latin typeface="Calibri"/>
                        </a:rPr>
                        <a:t>600</a:t>
                      </a:r>
                    </a:p>
                  </a:txBody>
                  <a:tcPr>
                    <a:solidFill>
                      <a:srgbClr val="FFFFFF"/>
                    </a:solidFill>
                  </a:tcPr>
                </a:tc>
                <a:tc>
                  <a:txBody>
                    <a:bodyPr/>
                    <a:lstStyle/>
                    <a:p>
                      <a:pPr algn="ctr"/>
                      <a:r>
                        <a:rPr sz="1400">
                          <a:solidFill>
                            <a:srgbClr val="0B2B4E"/>
                          </a:solidFill>
                          <a:latin typeface="Calibri"/>
                        </a:rPr>
                        <a:t>900</a:t>
                      </a:r>
                    </a:p>
                  </a:txBody>
                  <a:tcPr>
                    <a:solidFill>
                      <a:srgbClr val="FFFFFF"/>
                    </a:solidFill>
                  </a:tcPr>
                </a:tc>
                <a:tc>
                  <a:txBody>
                    <a:bodyPr/>
                    <a:lstStyle/>
                    <a:p>
                      <a:pPr algn="ctr"/>
                      <a:r>
                        <a:rPr sz="1400">
                          <a:solidFill>
                            <a:srgbClr val="0B2B4E"/>
                          </a:solidFill>
                          <a:latin typeface="Calibri"/>
                        </a:rPr>
                        <a:t>1200</a:t>
                      </a:r>
                    </a:p>
                  </a:txBody>
                  <a:tcPr>
                    <a:solidFill>
                      <a:srgbClr val="FFFFFF"/>
                    </a:solidFill>
                  </a:tcPr>
                </a:tc>
                <a:tc>
                  <a:txBody>
                    <a:bodyPr/>
                    <a:lstStyle/>
                    <a:p>
                      <a:pPr algn="ctr"/>
                      <a:r>
                        <a:rPr sz="1400">
                          <a:solidFill>
                            <a:srgbClr val="0B2B4E"/>
                          </a:solidFill>
                          <a:latin typeface="Calibri"/>
                        </a:rPr>
                        <a:t>1440</a:t>
                      </a:r>
                    </a:p>
                  </a:txBody>
                  <a:tcPr>
                    <a:solidFill>
                      <a:srgbClr val="FFFFFF"/>
                    </a:solidFill>
                  </a:tcPr>
                </a:tc>
                <a:tc>
                  <a:txBody>
                    <a:bodyPr/>
                    <a:lstStyle/>
                    <a:p>
                      <a:pPr algn="ctr"/>
                      <a:r>
                        <a:rPr sz="1400">
                          <a:solidFill>
                            <a:srgbClr val="0B2B4E"/>
                          </a:solidFill>
                          <a:latin typeface="Calibri"/>
                        </a:rPr>
                        <a:t>1660</a:t>
                      </a:r>
                    </a:p>
                  </a:txBody>
                  <a:tcPr>
                    <a:solidFill>
                      <a:srgbClr val="FFFFFF"/>
                    </a:solidFill>
                  </a:tcPr>
                </a:tc>
                <a:tc>
                  <a:txBody>
                    <a:bodyPr/>
                    <a:lstStyle/>
                    <a:p>
                      <a:pPr algn="ctr"/>
                      <a:r>
                        <a:rPr sz="1400">
                          <a:solidFill>
                            <a:srgbClr val="0B2B4E"/>
                          </a:solidFill>
                          <a:latin typeface="Calibri"/>
                        </a:rPr>
                        <a:t>1740</a:t>
                      </a:r>
                    </a:p>
                  </a:txBody>
                  <a:tcPr>
                    <a:solidFill>
                      <a:srgbClr val="FFFFFF"/>
                    </a:solidFill>
                  </a:tcPr>
                </a:tc>
                <a:tc>
                  <a:txBody>
                    <a:bodyPr/>
                    <a:lstStyle/>
                    <a:p>
                      <a:pPr algn="ctr"/>
                      <a:r>
                        <a:rPr sz="1400">
                          <a:solidFill>
                            <a:srgbClr val="0B2B4E"/>
                          </a:solidFill>
                          <a:latin typeface="Calibri"/>
                        </a:rPr>
                        <a:t>1760</a:t>
                      </a:r>
                    </a:p>
                  </a:txBody>
                  <a:tcPr>
                    <a:solidFill>
                      <a:srgbClr val="FFFFFF"/>
                    </a:solidFill>
                  </a:tcPr>
                </a:tc>
              </a:tr>
              <a:tr h="447040">
                <a:tc>
                  <a:txBody>
                    <a:bodyPr/>
                    <a:lstStyle/>
                    <a:p>
                      <a:pPr algn="ctr"/>
                      <a:r>
                        <a:rPr sz="1400" b="1">
                          <a:solidFill>
                            <a:srgbClr val="FFFFFF"/>
                          </a:solidFill>
                          <a:latin typeface="Calibri"/>
                        </a:rPr>
                        <a:t>6,000</a:t>
                      </a:r>
                    </a:p>
                  </a:txBody>
                  <a:tcPr>
                    <a:solidFill>
                      <a:srgbClr val="0B2B4E"/>
                    </a:solidFill>
                  </a:tcPr>
                </a:tc>
                <a:tc>
                  <a:txBody>
                    <a:bodyPr/>
                    <a:lstStyle/>
                    <a:p>
                      <a:pPr algn="ctr"/>
                      <a:r>
                        <a:rPr sz="1400">
                          <a:solidFill>
                            <a:srgbClr val="0B2B4E"/>
                          </a:solidFill>
                          <a:latin typeface="Calibri"/>
                        </a:rPr>
                        <a:t>310</a:t>
                      </a:r>
                    </a:p>
                  </a:txBody>
                  <a:tcPr>
                    <a:solidFill>
                      <a:srgbClr val="FFFFFF"/>
                    </a:solidFill>
                  </a:tcPr>
                </a:tc>
                <a:tc>
                  <a:txBody>
                    <a:bodyPr/>
                    <a:lstStyle/>
                    <a:p>
                      <a:pPr algn="ctr"/>
                      <a:r>
                        <a:rPr sz="1400">
                          <a:solidFill>
                            <a:srgbClr val="0B2B4E"/>
                          </a:solidFill>
                          <a:latin typeface="Calibri"/>
                        </a:rPr>
                        <a:t>620</a:t>
                      </a:r>
                    </a:p>
                  </a:txBody>
                  <a:tcPr>
                    <a:solidFill>
                      <a:srgbClr val="FFFFFF"/>
                    </a:solidFill>
                  </a:tcPr>
                </a:tc>
                <a:tc>
                  <a:txBody>
                    <a:bodyPr/>
                    <a:lstStyle/>
                    <a:p>
                      <a:pPr algn="ctr"/>
                      <a:r>
                        <a:rPr sz="1400">
                          <a:solidFill>
                            <a:srgbClr val="0B2B4E"/>
                          </a:solidFill>
                          <a:latin typeface="Calibri"/>
                        </a:rPr>
                        <a:t>930</a:t>
                      </a:r>
                    </a:p>
                  </a:txBody>
                  <a:tcPr>
                    <a:solidFill>
                      <a:srgbClr val="FFFFFF"/>
                    </a:solidFill>
                  </a:tcPr>
                </a:tc>
                <a:tc>
                  <a:txBody>
                    <a:bodyPr/>
                    <a:lstStyle/>
                    <a:p>
                      <a:pPr algn="ctr"/>
                      <a:r>
                        <a:rPr sz="1400">
                          <a:solidFill>
                            <a:srgbClr val="0B2B4E"/>
                          </a:solidFill>
                          <a:latin typeface="Calibri"/>
                        </a:rPr>
                        <a:t>1240</a:t>
                      </a:r>
                    </a:p>
                  </a:txBody>
                  <a:tcPr>
                    <a:solidFill>
                      <a:srgbClr val="FFFFFF"/>
                    </a:solidFill>
                  </a:tcPr>
                </a:tc>
                <a:tc>
                  <a:txBody>
                    <a:bodyPr/>
                    <a:lstStyle/>
                    <a:p>
                      <a:pPr algn="ctr"/>
                      <a:r>
                        <a:rPr sz="1400">
                          <a:solidFill>
                            <a:srgbClr val="0B2B4E"/>
                          </a:solidFill>
                          <a:latin typeface="Calibri"/>
                        </a:rPr>
                        <a:t>1490</a:t>
                      </a:r>
                    </a:p>
                  </a:txBody>
                  <a:tcPr>
                    <a:solidFill>
                      <a:srgbClr val="FFFFFF"/>
                    </a:solidFill>
                  </a:tcPr>
                </a:tc>
                <a:tc>
                  <a:txBody>
                    <a:bodyPr/>
                    <a:lstStyle/>
                    <a:p>
                      <a:pPr algn="ctr"/>
                      <a:r>
                        <a:rPr sz="1400">
                          <a:solidFill>
                            <a:srgbClr val="0B2B4E"/>
                          </a:solidFill>
                          <a:latin typeface="Calibri"/>
                        </a:rPr>
                        <a:t>1720</a:t>
                      </a:r>
                    </a:p>
                  </a:txBody>
                  <a:tcPr>
                    <a:solidFill>
                      <a:srgbClr val="FFFFFF"/>
                    </a:solidFill>
                  </a:tcPr>
                </a:tc>
                <a:tc>
                  <a:txBody>
                    <a:bodyPr/>
                    <a:lstStyle/>
                    <a:p>
                      <a:pPr algn="ctr"/>
                      <a:r>
                        <a:rPr sz="1400">
                          <a:solidFill>
                            <a:srgbClr val="0B2B4E"/>
                          </a:solidFill>
                          <a:latin typeface="Calibri"/>
                        </a:rPr>
                        <a:t>1800</a:t>
                      </a:r>
                    </a:p>
                  </a:txBody>
                  <a:tcPr>
                    <a:solidFill>
                      <a:srgbClr val="FFFFFF"/>
                    </a:solidFill>
                  </a:tcPr>
                </a:tc>
                <a:tc>
                  <a:txBody>
                    <a:bodyPr/>
                    <a:lstStyle/>
                    <a:p>
                      <a:pPr algn="ctr"/>
                      <a:r>
                        <a:rPr sz="1400">
                          <a:solidFill>
                            <a:srgbClr val="0B2B4E"/>
                          </a:solidFill>
                          <a:latin typeface="Calibri"/>
                        </a:rPr>
                        <a:t>1820</a:t>
                      </a:r>
                    </a:p>
                  </a:txBody>
                  <a:tcPr>
                    <a:solidFill>
                      <a:srgbClr val="FFFFFF"/>
                    </a:solidFill>
                  </a:tcPr>
                </a:tc>
              </a:tr>
              <a:tr h="447040">
                <a:tc>
                  <a:txBody>
                    <a:bodyPr/>
                    <a:lstStyle/>
                    <a:p>
                      <a:pPr algn="ctr"/>
                      <a:r>
                        <a:rPr sz="1400" b="1">
                          <a:solidFill>
                            <a:srgbClr val="FFFFFF"/>
                          </a:solidFill>
                          <a:latin typeface="Calibri"/>
                        </a:rPr>
                        <a:t>7,000</a:t>
                      </a:r>
                    </a:p>
                  </a:txBody>
                  <a:tcPr>
                    <a:solidFill>
                      <a:srgbClr val="0B2B4E"/>
                    </a:solidFill>
                  </a:tcPr>
                </a:tc>
                <a:tc>
                  <a:txBody>
                    <a:bodyPr/>
                    <a:lstStyle/>
                    <a:p>
                      <a:pPr algn="ctr"/>
                      <a:r>
                        <a:rPr sz="1400">
                          <a:solidFill>
                            <a:srgbClr val="0B2B4E"/>
                          </a:solidFill>
                          <a:latin typeface="Calibri"/>
                        </a:rPr>
                        <a:t>315</a:t>
                      </a:r>
                    </a:p>
                  </a:txBody>
                  <a:tcPr>
                    <a:solidFill>
                      <a:srgbClr val="FFFFFF"/>
                    </a:solidFill>
                  </a:tcPr>
                </a:tc>
                <a:tc>
                  <a:txBody>
                    <a:bodyPr/>
                    <a:lstStyle/>
                    <a:p>
                      <a:pPr algn="ctr"/>
                      <a:r>
                        <a:rPr sz="1400">
                          <a:solidFill>
                            <a:srgbClr val="0B2B4E"/>
                          </a:solidFill>
                          <a:latin typeface="Calibri"/>
                        </a:rPr>
                        <a:t>630</a:t>
                      </a:r>
                    </a:p>
                  </a:txBody>
                  <a:tcPr>
                    <a:solidFill>
                      <a:srgbClr val="FFFFFF"/>
                    </a:solidFill>
                  </a:tcPr>
                </a:tc>
                <a:tc>
                  <a:txBody>
                    <a:bodyPr/>
                    <a:lstStyle/>
                    <a:p>
                      <a:pPr algn="ctr"/>
                      <a:r>
                        <a:rPr sz="1400">
                          <a:solidFill>
                            <a:srgbClr val="0B2B4E"/>
                          </a:solidFill>
                          <a:latin typeface="Calibri"/>
                        </a:rPr>
                        <a:t>945</a:t>
                      </a:r>
                    </a:p>
                  </a:txBody>
                  <a:tcPr>
                    <a:solidFill>
                      <a:srgbClr val="FFFFFF"/>
                    </a:solidFill>
                  </a:tcPr>
                </a:tc>
                <a:tc>
                  <a:txBody>
                    <a:bodyPr/>
                    <a:lstStyle/>
                    <a:p>
                      <a:pPr algn="ctr"/>
                      <a:r>
                        <a:rPr sz="1400">
                          <a:solidFill>
                            <a:srgbClr val="0B2B4E"/>
                          </a:solidFill>
                          <a:latin typeface="Calibri"/>
                        </a:rPr>
                        <a:t>1260</a:t>
                      </a:r>
                    </a:p>
                  </a:txBody>
                  <a:tcPr>
                    <a:solidFill>
                      <a:srgbClr val="FFFFFF"/>
                    </a:solidFill>
                  </a:tcPr>
                </a:tc>
                <a:tc>
                  <a:txBody>
                    <a:bodyPr/>
                    <a:lstStyle/>
                    <a:p>
                      <a:pPr algn="ctr"/>
                      <a:r>
                        <a:rPr sz="1400">
                          <a:solidFill>
                            <a:srgbClr val="0B2B4E"/>
                          </a:solidFill>
                          <a:latin typeface="Calibri"/>
                        </a:rPr>
                        <a:t>1515</a:t>
                      </a:r>
                    </a:p>
                  </a:txBody>
                  <a:tcPr>
                    <a:solidFill>
                      <a:srgbClr val="FFFFFF"/>
                    </a:solidFill>
                  </a:tcPr>
                </a:tc>
                <a:tc>
                  <a:txBody>
                    <a:bodyPr/>
                    <a:lstStyle/>
                    <a:p>
                      <a:pPr algn="ctr"/>
                      <a:r>
                        <a:rPr sz="1400">
                          <a:solidFill>
                            <a:srgbClr val="0B2B4E"/>
                          </a:solidFill>
                          <a:latin typeface="Calibri"/>
                        </a:rPr>
                        <a:t>1750</a:t>
                      </a:r>
                    </a:p>
                  </a:txBody>
                  <a:tcPr>
                    <a:solidFill>
                      <a:srgbClr val="FFFFFF"/>
                    </a:solidFill>
                  </a:tcPr>
                </a:tc>
                <a:tc>
                  <a:txBody>
                    <a:bodyPr/>
                    <a:lstStyle/>
                    <a:p>
                      <a:pPr algn="ctr"/>
                      <a:r>
                        <a:rPr sz="1400">
                          <a:solidFill>
                            <a:srgbClr val="0B2B4E"/>
                          </a:solidFill>
                          <a:latin typeface="Calibri"/>
                        </a:rPr>
                        <a:t>1830</a:t>
                      </a:r>
                    </a:p>
                  </a:txBody>
                  <a:tcPr>
                    <a:solidFill>
                      <a:srgbClr val="FFFFFF"/>
                    </a:solidFill>
                  </a:tcPr>
                </a:tc>
                <a:tc>
                  <a:txBody>
                    <a:bodyPr/>
                    <a:lstStyle/>
                    <a:p>
                      <a:pPr algn="ctr"/>
                      <a:r>
                        <a:rPr sz="1400">
                          <a:solidFill>
                            <a:srgbClr val="0B2B4E"/>
                          </a:solidFill>
                          <a:latin typeface="Calibri"/>
                        </a:rPr>
                        <a:t>1850</a:t>
                      </a:r>
                    </a:p>
                  </a:txBody>
                  <a:tcPr>
                    <a:solidFill>
                      <a:srgbClr val="FFFFFF"/>
                    </a:solidFill>
                  </a:tcPr>
                </a:tc>
              </a:tr>
            </a:tbl>
          </a:graphicData>
        </a:graphic>
      </p:graphicFrame>
      <p:sp>
        <p:nvSpPr>
          <p:cNvPr id="8" name="TextBox 7"/>
          <p:cNvSpPr txBox="1"/>
          <p:nvPr/>
        </p:nvSpPr>
        <p:spPr>
          <a:xfrm>
            <a:off x="457200" y="3840480"/>
            <a:ext cx="1737360" cy="640080"/>
          </a:xfrm>
          <a:prstGeom prst="rect">
            <a:avLst/>
          </a:prstGeom>
          <a:noFill/>
        </p:spPr>
        <p:txBody>
          <a:bodyPr wrap="square" lIns="0" rIns="0" tIns="0" bIns="0" anchor="ctr">
            <a:spAutoFit/>
          </a:bodyPr>
          <a:lstStyle/>
          <a:p>
            <a:pPr algn="ctr"/>
            <a:r>
              <a:rPr sz="1800" b="1" i="0">
                <a:solidFill>
                  <a:srgbClr val="0B2B4E"/>
                </a:solidFill>
                <a:latin typeface="Calibri"/>
              </a:rPr>
              <a:t>Number of
workers (L)</a:t>
            </a:r>
          </a:p>
        </p:txBody>
      </p:sp>
      <p:sp>
        <p:nvSpPr>
          <p:cNvPr id="9" name="TextBox 8"/>
          <p:cNvSpPr txBox="1"/>
          <p:nvPr/>
        </p:nvSpPr>
        <p:spPr>
          <a:xfrm>
            <a:off x="4114800" y="1691640"/>
            <a:ext cx="365760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0" name="TextBox 9"/>
          <p:cNvSpPr txBox="1"/>
          <p:nvPr/>
        </p:nvSpPr>
        <p:spPr>
          <a:xfrm>
            <a:off x="251999" y="6309360"/>
            <a:ext cx="11687697" cy="274320"/>
          </a:xfrm>
          <a:prstGeom prst="rect">
            <a:avLst/>
          </a:prstGeom>
          <a:noFill/>
        </p:spPr>
        <p:txBody>
          <a:bodyPr wrap="square" lIns="0" rIns="0" tIns="0" bIns="0">
            <a:spAutoFit/>
          </a:bodyPr>
          <a:lstStyle/>
          <a:p>
            <a:pPr algn="l"/>
            <a:r>
              <a:rPr sz="1300" b="0" i="1">
                <a:solidFill>
                  <a:srgbClr val="555B66"/>
                </a:solidFill>
                <a:latin typeface="Calibri"/>
              </a:rPr>
              <a:t>Output = cars per week.  Note: marginal product diminishes as L grows for any fixed 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1_rId6.png"/>
          <p:cNvPicPr>
            <a:picLocks noChangeAspect="1"/>
          </p:cNvPicPr>
          <p:nvPr/>
        </p:nvPicPr>
        <p:blipFill>
          <a:blip r:embed="rId2"/>
          <a:stretch>
            <a:fillRect/>
          </a:stretch>
        </p:blipFill>
        <p:spPr>
          <a:xfrm>
            <a:off x="2286000" y="1783080"/>
            <a:ext cx="7589520" cy="4829695"/>
          </a:xfrm>
          <a:prstGeom prst="rect">
            <a:avLst/>
          </a:prstGeom>
        </p:spPr>
      </p:pic>
      <p:sp>
        <p:nvSpPr>
          <p:cNvPr id="8" name="TextBox 7"/>
          <p:cNvSpPr txBox="1"/>
          <p:nvPr/>
        </p:nvSpPr>
        <p:spPr>
          <a:xfrm>
            <a:off x="251999" y="6080760"/>
            <a:ext cx="11687697" cy="274320"/>
          </a:xfrm>
          <a:prstGeom prst="rect">
            <a:avLst/>
          </a:prstGeom>
          <a:noFill/>
        </p:spPr>
        <p:txBody>
          <a:bodyPr wrap="square" lIns="0" rIns="0" tIns="0" bIns="0">
            <a:spAutoFit/>
          </a:bodyPr>
          <a:lstStyle/>
          <a:p>
            <a:pPr algn="ctr"/>
            <a:r>
              <a:rPr sz="1400" b="0" i="1">
                <a:solidFill>
                  <a:srgbClr val="555B66"/>
                </a:solidFill>
                <a:latin typeface="Calibri"/>
              </a:rPr>
              <a:t>Output rises but flattens as L grows — the visual signature of diminishing returns.</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 the Slope of the Output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800" b="0">
                <a:solidFill>
                  <a:srgbClr val="0B2B4E"/>
                </a:solidFill>
                <a:latin typeface="Calibri"/>
              </a:rPr>
              <a:t>MPL = the extra output you get from one more worker</a:t>
            </a:r>
          </a:p>
          <a:p>
            <a:pPr algn="l" marL="685800" indent="-228600">
              <a:spcBef>
                <a:spcPts val="600"/>
              </a:spcBef>
              <a:buClr>
                <a:srgbClr val="555B66"/>
              </a:buClr>
              <a:buFont typeface="Calibri"/>
              <a:buChar char="–"/>
            </a:pPr>
            <a:r>
              <a:rPr sz="2400">
                <a:solidFill>
                  <a:srgbClr val="555B66"/>
                </a:solidFill>
                <a:latin typeface="Calibri"/>
              </a:rPr>
              <a:t>It is the slope of the total-output curve</a:t>
            </a:r>
          </a:p>
          <a:p>
            <a:pPr algn="l" marL="685800" indent="-228600">
              <a:spcBef>
                <a:spcPts val="600"/>
              </a:spcBef>
              <a:buClr>
                <a:srgbClr val="555B66"/>
              </a:buClr>
              <a:buFont typeface="Calibri"/>
              <a:buChar char="–"/>
            </a:pPr>
            <a:r>
              <a:rPr sz="2400">
                <a:solidFill>
                  <a:srgbClr val="555B66"/>
                </a:solidFill>
                <a:latin typeface="Calibri"/>
              </a:rPr>
              <a:t>With capital K fixed, MPL falls as L rises – the curve flattens</a:t>
            </a:r>
          </a:p>
          <a:p>
            <a:pPr algn="l" marL="342900" indent="-342900">
              <a:spcBef>
                <a:spcPts val="1400"/>
              </a:spcBef>
              <a:buClr>
                <a:srgbClr val="0B2B4E"/>
              </a:buClr>
              <a:buFont typeface="Calibri"/>
              <a:buChar char="▪"/>
            </a:pPr>
            <a:r>
              <a:rPr sz="2800" b="0">
                <a:solidFill>
                  <a:srgbClr val="0B2B4E"/>
                </a:solidFill>
                <a:latin typeface="Calibri"/>
              </a:rPr>
              <a:t>Formally:  MPL = ΔQ / ΔL   (or, for tiny steps:  dQ / dL)</a:t>
            </a:r>
          </a:p>
          <a:p>
            <a:pPr algn="l" marL="342900" indent="-342900">
              <a:spcBef>
                <a:spcPts val="1400"/>
              </a:spcBef>
              <a:buClr>
                <a:srgbClr val="0B2B4E"/>
              </a:buClr>
              <a:buFont typeface="Calibri"/>
              <a:buChar char="▪"/>
            </a:pPr>
            <a:r>
              <a:rPr sz="2800" b="0">
                <a:solidFill>
                  <a:srgbClr val="0B2B4E"/>
                </a:solidFill>
                <a:latin typeface="Calibri"/>
              </a:rPr>
              <a:t>Read the table down a column: MPL is the row-to-row difference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Hire More Labor, Get Less per Worker:  Diminishing MPL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Hold one input fixed (capital) and use more of the variable input (labor)</a:t>
            </a:r>
          </a:p>
          <a:p>
            <a:pPr algn="l" marL="685800" indent="-228600">
              <a:spcBef>
                <a:spcPts val="600"/>
              </a:spcBef>
              <a:buClr>
                <a:srgbClr val="555B66"/>
              </a:buClr>
              <a:buFont typeface="Calibri"/>
              <a:buChar char="–"/>
            </a:pPr>
            <a:r>
              <a:rPr sz="1800">
                <a:solidFill>
                  <a:srgbClr val="555B66"/>
                </a:solidFill>
                <a:latin typeface="Calibri"/>
              </a:rPr>
              <a:t>Then total output increases by less and less</a:t>
            </a:r>
          </a:p>
          <a:p>
            <a:pPr algn="l" marL="685800" indent="-228600">
              <a:spcBef>
                <a:spcPts val="600"/>
              </a:spcBef>
              <a:buClr>
                <a:srgbClr val="555B66"/>
              </a:buClr>
              <a:buFont typeface="Calibri"/>
              <a:buChar char="–"/>
            </a:pPr>
            <a:r>
              <a:rPr sz="1800">
                <a:solidFill>
                  <a:srgbClr val="555B66"/>
                </a:solidFill>
                <a:latin typeface="Calibri"/>
              </a:rPr>
              <a:t>i.e., the Marginal Product of Labor (MPL) falls</a:t>
            </a:r>
          </a:p>
        </p:txBody>
      </p:sp>
      <p:pic>
        <p:nvPicPr>
          <p:cNvPr id="8" name="Picture 7" descr="slide13_rId3.png"/>
          <p:cNvPicPr>
            <a:picLocks noChangeAspect="1"/>
          </p:cNvPicPr>
          <p:nvPr/>
        </p:nvPicPr>
        <p:blipFill>
          <a:blip r:embed="rId2"/>
          <a:stretch>
            <a:fillRect/>
          </a:stretch>
        </p:blipFill>
        <p:spPr>
          <a:xfrm>
            <a:off x="457200" y="3566160"/>
            <a:ext cx="5303520" cy="3374967"/>
          </a:xfrm>
          <a:prstGeom prst="rect">
            <a:avLst/>
          </a:prstGeom>
        </p:spPr>
      </p:pic>
      <p:pic>
        <p:nvPicPr>
          <p:cNvPr id="9" name="Picture 8" descr="slide13_rId4.png"/>
          <p:cNvPicPr>
            <a:picLocks noChangeAspect="1"/>
          </p:cNvPicPr>
          <p:nvPr/>
        </p:nvPicPr>
        <p:blipFill>
          <a:blip r:embed="rId3"/>
          <a:stretch>
            <a:fillRect/>
          </a:stretch>
        </p:blipFill>
        <p:spPr>
          <a:xfrm>
            <a:off x="6400800" y="3566160"/>
            <a:ext cx="5303520" cy="2854979"/>
          </a:xfrm>
          <a:prstGeom prst="rect">
            <a:avLst/>
          </a:prstGeom>
        </p:spPr>
      </p:pic>
      <p:sp>
        <p:nvSpPr>
          <p:cNvPr id="10" name="TextBox 9"/>
          <p:cNvSpPr txBox="1"/>
          <p:nvPr/>
        </p:nvSpPr>
        <p:spPr>
          <a:xfrm>
            <a:off x="457200" y="5623560"/>
            <a:ext cx="5303520" cy="228600"/>
          </a:xfrm>
          <a:prstGeom prst="rect">
            <a:avLst/>
          </a:prstGeom>
          <a:noFill/>
        </p:spPr>
        <p:txBody>
          <a:bodyPr wrap="square" lIns="0" rIns="0" tIns="0" bIns="0">
            <a:spAutoFit/>
          </a:bodyPr>
          <a:lstStyle/>
          <a:p>
            <a:pPr algn="ctr"/>
            <a:r>
              <a:rPr sz="1300" b="1" i="1">
                <a:solidFill>
                  <a:srgbClr val="0B2B4E"/>
                </a:solidFill>
                <a:latin typeface="Calibri"/>
              </a:rPr>
              <a:t>Total output  (rising, flattening)</a:t>
            </a:r>
          </a:p>
        </p:txBody>
      </p:sp>
      <p:sp>
        <p:nvSpPr>
          <p:cNvPr id="11" name="TextBox 10"/>
          <p:cNvSpPr txBox="1"/>
          <p:nvPr/>
        </p:nvSpPr>
        <p:spPr>
          <a:xfrm>
            <a:off x="6400800" y="5623560"/>
            <a:ext cx="5303520" cy="228600"/>
          </a:xfrm>
          <a:prstGeom prst="rect">
            <a:avLst/>
          </a:prstGeom>
          <a:noFill/>
        </p:spPr>
        <p:txBody>
          <a:bodyPr wrap="square" lIns="0" rIns="0" tIns="0" bIns="0">
            <a:spAutoFit/>
          </a:bodyPr>
          <a:lstStyle/>
          <a:p>
            <a:pPr algn="ctr"/>
            <a:r>
              <a:rPr sz="1300" b="1" i="1">
                <a:solidFill>
                  <a:srgbClr val="0B2B4E"/>
                </a:solidFill>
                <a:latin typeface="Calibri"/>
              </a:rPr>
              <a:t>Slope = MPL  (falling)</a:t>
            </a:r>
          </a:p>
        </p:txBody>
      </p:sp>
      <p:sp>
        <p:nvSpPr>
          <p:cNvPr id="12" name="Rectangle 11"/>
          <p:cNvSpPr/>
          <p:nvPr/>
        </p:nvSpPr>
        <p:spPr>
          <a:xfrm>
            <a:off x="5669280" y="4206240"/>
            <a:ext cx="868680" cy="45720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B2B4E"/>
                </a:solidFill>
                <a:latin typeface="Calibri"/>
              </a:rPr>
              <a:t>plot the slope</a:t>
            </a:r>
          </a:p>
        </p:txBody>
      </p:sp>
      <p:cxnSp>
        <p:nvCxnSpPr>
          <p:cNvPr id="13" name="Connector 12"/>
          <p:cNvCxnSpPr/>
          <p:nvPr/>
        </p:nvCxnSpPr>
        <p:spPr>
          <a:xfrm>
            <a:off x="6537960" y="4434840"/>
            <a:ext cx="320040" cy="0"/>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752447" y="594360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Black Death and the Return to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141732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The (agriculture-based) economy before 1800:</a:t>
            </a:r>
          </a:p>
          <a:p>
            <a:pPr algn="l" marL="685800" indent="-228600">
              <a:spcBef>
                <a:spcPts val="600"/>
              </a:spcBef>
              <a:buClr>
                <a:srgbClr val="555B66"/>
              </a:buClr>
              <a:buFont typeface="Calibri"/>
              <a:buChar char="–"/>
            </a:pPr>
            <a:r>
              <a:rPr sz="1800">
                <a:solidFill>
                  <a:srgbClr val="555B66"/>
                </a:solidFill>
                <a:latin typeface="Calibri"/>
              </a:rPr>
              <a:t>Land was the fixed factor; labor was variable</a:t>
            </a:r>
          </a:p>
          <a:p>
            <a:pPr algn="l" marL="685800" indent="-228600">
              <a:spcBef>
                <a:spcPts val="600"/>
              </a:spcBef>
              <a:buClr>
                <a:srgbClr val="555B66"/>
              </a:buClr>
              <a:buFont typeface="Calibri"/>
              <a:buChar char="–"/>
            </a:pPr>
            <a:r>
              <a:rPr sz="1800">
                <a:solidFill>
                  <a:srgbClr val="555B66"/>
                </a:solidFill>
                <a:latin typeface="Calibri"/>
              </a:rPr>
              <a:t>Q = f (labor, land);  no capital</a:t>
            </a:r>
          </a:p>
        </p:txBody>
      </p:sp>
      <p:sp>
        <p:nvSpPr>
          <p:cNvPr id="8" name="Rectangle 7"/>
          <p:cNvSpPr/>
          <p:nvPr/>
        </p:nvSpPr>
        <p:spPr>
          <a:xfrm>
            <a:off x="251999" y="3291840"/>
            <a:ext cx="5303520" cy="2743200"/>
          </a:xfrm>
          <a:prstGeom prst="rect">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000">
                <a:solidFill>
                  <a:srgbClr val="0B2B4E"/>
                </a:solidFill>
                <a:latin typeface="Calibri"/>
              </a:rPr>
              <a:t>In 1348, the Black Death killed almost half the population (labor).</a:t>
            </a:r>
          </a:p>
          <a:p/>
          <a:p>
            <a:pPr algn="l"/>
            <a:r>
              <a:rPr sz="2200" b="1">
                <a:solidFill>
                  <a:srgbClr val="E09F3E"/>
                </a:solidFill>
                <a:latin typeface="Calibri"/>
              </a:rPr>
              <a:t>What happened to the return to labor?</a:t>
            </a:r>
          </a:p>
        </p:txBody>
      </p:sp>
      <p:pic>
        <p:nvPicPr>
          <p:cNvPr id="9" name="Picture 8" descr="slide14_rId3.png"/>
          <p:cNvPicPr>
            <a:picLocks noChangeAspect="1"/>
          </p:cNvPicPr>
          <p:nvPr/>
        </p:nvPicPr>
        <p:blipFill>
          <a:blip r:embed="rId2"/>
          <a:stretch>
            <a:fillRect/>
          </a:stretch>
        </p:blipFill>
        <p:spPr>
          <a:xfrm>
            <a:off x="6126480" y="3200400"/>
            <a:ext cx="5760720" cy="3710066"/>
          </a:xfrm>
          <a:prstGeom prst="rect">
            <a:avLst/>
          </a:prstGeom>
        </p:spPr>
      </p:pic>
      <p:sp>
        <p:nvSpPr>
          <p:cNvPr id="10" name="TextBox 9"/>
          <p:cNvSpPr txBox="1"/>
          <p:nvPr/>
        </p:nvSpPr>
        <p:spPr>
          <a:xfrm>
            <a:off x="6126480" y="598932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Tesla Hiring Scenario:  $90k Cars, $40k Materials, Fixed K</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5_rId3.emf"/>
          <p:cNvPicPr>
            <a:picLocks noChangeAspect="1"/>
          </p:cNvPicPr>
          <p:nvPr/>
        </p:nvPicPr>
        <p:blipFill>
          <a:blip r:embed="rId2"/>
          <a:stretch>
            <a:fillRect/>
          </a:stretch>
        </p:blipFill>
        <p:spPr>
          <a:xfrm>
            <a:off x="457200" y="1691640"/>
            <a:ext cx="7589520" cy="1500367"/>
          </a:xfrm>
          <a:prstGeom prst="rect">
            <a:avLst/>
          </a:prstGeom>
        </p:spPr>
      </p:pic>
      <p:pic>
        <p:nvPicPr>
          <p:cNvPr id="8" name="Picture 7" descr="slide15_rId4.jpg"/>
          <p:cNvPicPr>
            <a:picLocks noChangeAspect="1"/>
          </p:cNvPicPr>
          <p:nvPr/>
        </p:nvPicPr>
        <p:blipFill>
          <a:blip r:embed="rId3"/>
          <a:stretch>
            <a:fillRect/>
          </a:stretch>
        </p:blipFill>
        <p:spPr>
          <a:xfrm>
            <a:off x="8321040" y="1691640"/>
            <a:ext cx="3474720" cy="1953644"/>
          </a:xfrm>
          <a:prstGeom prst="rect">
            <a:avLst/>
          </a:prstGeom>
        </p:spPr>
      </p:pic>
      <p:sp>
        <p:nvSpPr>
          <p:cNvPr id="9" name="TextBox 8"/>
          <p:cNvSpPr txBox="1"/>
          <p:nvPr/>
        </p:nvSpPr>
        <p:spPr>
          <a:xfrm>
            <a:off x="251999" y="3383280"/>
            <a:ext cx="11687697" cy="237744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Demand and output price are given</a:t>
            </a:r>
          </a:p>
          <a:p>
            <a:pPr algn="l" marL="685800" indent="-228600">
              <a:spcBef>
                <a:spcPts val="600"/>
              </a:spcBef>
              <a:buClr>
                <a:srgbClr val="555B66"/>
              </a:buClr>
              <a:buFont typeface="Calibri"/>
              <a:buChar char="–"/>
            </a:pPr>
            <a:r>
              <a:rPr sz="1800">
                <a:solidFill>
                  <a:srgbClr val="555B66"/>
                </a:solidFill>
                <a:latin typeface="Calibri"/>
              </a:rPr>
              <a:t>Large number of Model S ordered at price of $90k</a:t>
            </a:r>
          </a:p>
          <a:p>
            <a:pPr algn="l" marL="685800" indent="-228600">
              <a:spcBef>
                <a:spcPts val="600"/>
              </a:spcBef>
              <a:buClr>
                <a:srgbClr val="555B66"/>
              </a:buClr>
              <a:buFont typeface="Calibri"/>
              <a:buChar char="–"/>
            </a:pPr>
            <a:r>
              <a:rPr sz="1800">
                <a:solidFill>
                  <a:srgbClr val="555B66"/>
                </a:solidFill>
                <a:latin typeface="Calibri"/>
              </a:rPr>
              <a:t>Raw material cost per car: $40k</a:t>
            </a:r>
          </a:p>
          <a:p>
            <a:pPr algn="l" marL="342900" indent="-342900">
              <a:spcBef>
                <a:spcPts val="800"/>
              </a:spcBef>
              <a:buClr>
                <a:srgbClr val="0B2B4E"/>
              </a:buClr>
              <a:buFont typeface="Calibri"/>
              <a:buChar char="▪"/>
            </a:pPr>
            <a:r>
              <a:rPr sz="2200" b="0">
                <a:solidFill>
                  <a:srgbClr val="0B2B4E"/>
                </a:solidFill>
                <a:latin typeface="Calibri"/>
              </a:rPr>
              <a:t>Short run:  capital (factory size, robots) is fixed</a:t>
            </a:r>
          </a:p>
          <a:p>
            <a:pPr algn="l" marL="342900" indent="-342900">
              <a:spcBef>
                <a:spcPts val="800"/>
              </a:spcBef>
              <a:buClr>
                <a:srgbClr val="0B2B4E"/>
              </a:buClr>
              <a:buFont typeface="Calibri"/>
              <a:buChar char="▪"/>
            </a:pPr>
            <a:r>
              <a:rPr sz="2200" b="0">
                <a:solidFill>
                  <a:srgbClr val="0B2B4E"/>
                </a:solidFill>
                <a:latin typeface="Calibri"/>
              </a:rPr>
              <a:t>The only way to expand production is to hire more workers</a:t>
            </a:r>
          </a:p>
        </p:txBody>
      </p:sp>
      <p:sp>
        <p:nvSpPr>
          <p:cNvPr id="10" name="Rectangle 9"/>
          <p:cNvSpPr/>
          <p:nvPr/>
        </p:nvSpPr>
        <p:spPr>
          <a:xfrm>
            <a:off x="1295247" y="589788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How many workers should Tesla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Concept:  Marginal Revenue Product of Labor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1920240"/>
            <a:ext cx="7589520" cy="7772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0B2B4E"/>
                </a:solidFill>
                <a:latin typeface="Calibri"/>
              </a:rPr>
              <a:t>Optimal Hiring  →  How many workers should we hire?</a:t>
            </a:r>
          </a:p>
        </p:txBody>
      </p:sp>
      <p:sp>
        <p:nvSpPr>
          <p:cNvPr id="8" name="TextBox 7"/>
          <p:cNvSpPr txBox="1"/>
          <p:nvPr/>
        </p:nvSpPr>
        <p:spPr>
          <a:xfrm>
            <a:off x="251999" y="3108960"/>
            <a:ext cx="11687697" cy="457200"/>
          </a:xfrm>
          <a:prstGeom prst="rect">
            <a:avLst/>
          </a:prstGeom>
          <a:noFill/>
        </p:spPr>
        <p:txBody>
          <a:bodyPr wrap="square" lIns="0" rIns="0" tIns="0" bIns="0">
            <a:spAutoFit/>
          </a:bodyPr>
          <a:lstStyle/>
          <a:p>
            <a:pPr algn="ctr"/>
            <a:r>
              <a:rPr sz="2800" b="1" i="0">
                <a:solidFill>
                  <a:srgbClr val="0B2B4E"/>
                </a:solidFill>
                <a:latin typeface="Calibri"/>
              </a:rPr>
              <a:t>MRPL  =  Marginal Revenue Product of Labor</a:t>
            </a:r>
          </a:p>
        </p:txBody>
      </p:sp>
      <p:sp>
        <p:nvSpPr>
          <p:cNvPr id="9" name="TextBox 8"/>
          <p:cNvSpPr txBox="1"/>
          <p:nvPr/>
        </p:nvSpPr>
        <p:spPr>
          <a:xfrm>
            <a:off x="251999" y="3657600"/>
            <a:ext cx="11687697" cy="365760"/>
          </a:xfrm>
          <a:prstGeom prst="rect">
            <a:avLst/>
          </a:prstGeom>
          <a:noFill/>
        </p:spPr>
        <p:txBody>
          <a:bodyPr wrap="square" lIns="0" rIns="0" tIns="0" bIns="0">
            <a:spAutoFit/>
          </a:bodyPr>
          <a:lstStyle/>
          <a:p>
            <a:pPr algn="ctr"/>
            <a:r>
              <a:rPr sz="2200" b="0" i="0">
                <a:solidFill>
                  <a:srgbClr val="0B2B4E"/>
                </a:solidFill>
                <a:latin typeface="Calibri"/>
              </a:rPr>
              <a:t>=  the extra revenue from one more worker</a:t>
            </a:r>
          </a:p>
        </p:txBody>
      </p:sp>
      <p:sp>
        <p:nvSpPr>
          <p:cNvPr id="10" name="Rectangle 9"/>
          <p:cNvSpPr/>
          <p:nvPr/>
        </p:nvSpPr>
        <p:spPr>
          <a:xfrm>
            <a:off x="2286000" y="4297680"/>
            <a:ext cx="758952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MRPL  =  MPL × (Price − Materials cost per unit)</a:t>
            </a:r>
          </a:p>
        </p:txBody>
      </p:sp>
      <p:sp>
        <p:nvSpPr>
          <p:cNvPr id="11" name="TextBox 10"/>
          <p:cNvSpPr txBox="1"/>
          <p:nvPr/>
        </p:nvSpPr>
        <p:spPr>
          <a:xfrm>
            <a:off x="251999" y="5257800"/>
            <a:ext cx="11687697" cy="365760"/>
          </a:xfrm>
          <a:prstGeom prst="rect">
            <a:avLst/>
          </a:prstGeom>
          <a:noFill/>
        </p:spPr>
        <p:txBody>
          <a:bodyPr wrap="square" lIns="0" rIns="0" tIns="0" bIns="0">
            <a:spAutoFit/>
          </a:bodyPr>
          <a:lstStyle/>
          <a:p>
            <a:pPr algn="ctr"/>
            <a:r>
              <a:rPr sz="1800" b="0" i="1">
                <a:solidFill>
                  <a:srgbClr val="555B66"/>
                </a:solidFill>
                <a:latin typeface="Calibri"/>
              </a:rPr>
              <a:t>Plain English: a worker's dollar value to the firm</a:t>
            </a:r>
          </a:p>
        </p:txBody>
      </p:sp>
      <p:sp>
        <p:nvSpPr>
          <p:cNvPr id="12" name="Rectangle 11"/>
          <p:cNvSpPr/>
          <p:nvPr/>
        </p:nvSpPr>
        <p:spPr>
          <a:xfrm>
            <a:off x="2438247" y="5943600"/>
            <a:ext cx="7315200" cy="548640"/>
          </a:xfrm>
          <a:prstGeom prst="rect">
            <a:avLst/>
          </a:prstGeom>
          <a:solidFill>
            <a:srgbClr val="F4F1EA"/>
          </a:solidFill>
          <a:ln w="15875">
            <a:solidFill>
              <a:srgbClr val="0B2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lded Corner 12"/>
          <p:cNvSpPr/>
          <p:nvPr/>
        </p:nvSpPr>
        <p:spPr>
          <a:xfrm>
            <a:off x="2621127" y="6035040"/>
            <a:ext cx="365760" cy="365760"/>
          </a:xfrm>
          <a:prstGeom prst="foldedCorner">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9767" y="5943600"/>
            <a:ext cx="6400800" cy="548640"/>
          </a:xfrm>
          <a:prstGeom prst="rect">
            <a:avLst/>
          </a:prstGeom>
          <a:noFill/>
        </p:spPr>
        <p:txBody>
          <a:bodyPr wrap="square" lIns="0" rIns="0" tIns="0" bIns="0" anchor="ctr">
            <a:spAutoFit/>
          </a:bodyPr>
          <a:lstStyle/>
          <a:p>
            <a:pPr algn="l"/>
            <a:r>
              <a:rPr sz="1200" b="1">
                <a:solidFill>
                  <a:srgbClr val="E09F3E"/>
                </a:solidFill>
                <a:latin typeface="Calibri"/>
              </a:rPr>
              <a:t>SEE TEACHING NOTE  →  </a:t>
            </a:r>
            <a:r>
              <a:rPr sz="1600" i="1" b="1">
                <a:solidFill>
                  <a:srgbClr val="0B2B4E"/>
                </a:solidFill>
                <a:latin typeface="Calibri"/>
              </a:rPr>
              <a:t>Hiring Decisions in the Short Run</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MRPL – Detail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828800"/>
            <a:ext cx="9418320" cy="9144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B2B4E"/>
                </a:solidFill>
                <a:latin typeface="Cambria Math"/>
              </a:defRPr>
            </a:pPr>
            <a14:m>
              <m:oMathPara>
                <m:oMathParaPr>
                  <m:jc m:val="centerGroup"/>
                </m:oMathParaPr>
                <m:oMath>
                  <m:r>
                    <m:rPr>
                      <m:sty m:val="p"/>
                    </m:rPr>
                    <a:rPr lang="en-US" b="0" i="0" sz="3600">
                      <a:latin typeface="Cambria Math"/>
                      <a:solidFill>
                        <a:srgbClr val="0B2B4E"/>
                      </a:solidFill>
                    </a:rPr>
                    <m:t xml:space="preserve">MRPL</m:t>
                  </m:r>
                  <m:r>
                    <m:rPr>
                      <m:sty m:val="p"/>
                    </m:rPr>
                    <a:rPr lang="en-US" b="0" i="0" sz="3600">
                      <a:latin typeface="Cambria Math"/>
                      <a:solidFill>
                        <a:srgbClr val="0B2B4E"/>
                      </a:solidFill>
                    </a:rPr>
                    <m:t xml:space="preserve"> = </m:t>
                  </m:r>
                  <m:r>
                    <m:rPr>
                      <m:sty m:val="p"/>
                    </m:rPr>
                    <a:rPr lang="en-US" b="0" i="0" sz="3600">
                      <a:latin typeface="Cambria Math"/>
                      <a:solidFill>
                        <a:srgbClr val="0B2B4E"/>
                      </a:solidFill>
                    </a:rPr>
                    <m:t xml:space="preserve">MPL</m:t>
                  </m:r>
                  <m:r>
                    <m:rPr>
                      <m:sty m:val="p"/>
                    </m:rPr>
                    <a:rPr lang="en-US" b="0" i="0" sz="3600">
                      <a:latin typeface="Cambria Math"/>
                      <a:solidFill>
                        <a:srgbClr val="0B2B4E"/>
                      </a:solidFill>
                    </a:rPr>
                    <m:t xml:space="preserve"> × </m:t>
                  </m:r>
                  <m:r>
                    <m:rPr>
                      <m:sty m:val="p"/>
                    </m:rPr>
                    <a:rPr lang="en-US" b="0" i="0" sz="3600">
                      <a:latin typeface="Cambria Math"/>
                      <a:solidFill>
                        <a:srgbClr val="0B2B4E"/>
                      </a:solidFill>
                    </a:rPr>
                    <m:t xml:space="preserve">(</m:t>
                  </m:r>
                  <m:r>
                    <a:rPr lang="en-US" b="0" i="1" sz="3600">
                      <a:latin typeface="Cambria Math"/>
                      <a:ea typeface="Cambria Math"/>
                      <a:solidFill>
                        <a:srgbClr val="0B2B4E"/>
                      </a:solidFill>
                    </a:rPr>
                    <m:t>P</m:t>
                  </m:r>
                  <m:r>
                    <m:rPr>
                      <m:sty m:val="p"/>
                    </m:rPr>
                    <a:rPr lang="en-US" b="0" i="0" sz="3600">
                      <a:latin typeface="Cambria Math"/>
                      <a:solidFill>
                        <a:srgbClr val="0B2B4E"/>
                      </a:solidFill>
                    </a:rPr>
                    <m:t xml:space="preserve"> − </m:t>
                  </m:r>
                  <m:r>
                    <m:rPr>
                      <m:sty m:val="p"/>
                    </m:rPr>
                    <a:rPr lang="en-US" b="0" i="0" sz="3600">
                      <a:latin typeface="Cambria Math"/>
                      <a:solidFill>
                        <a:srgbClr val="0B2B4E"/>
                      </a:solidFill>
                    </a:rPr>
                    <m:t xml:space="preserve">MC</m:t>
                  </m:r>
                  <m:r>
                    <m:rPr>
                      <m:sty m:val="p"/>
                    </m:rPr>
                    <a:rPr lang="en-US" b="0" i="0" sz="3600">
                      <a:latin typeface="Cambria Math"/>
                      <a:solidFill>
                        <a:srgbClr val="0B2B4E"/>
                      </a:solidFill>
                    </a:rPr>
                    <m:t xml:space="preserve">)</m:t>
                  </m:r>
                </m:oMath>
              </m:oMathPara>
            </a14:m>
            <a:endParaRPr lang="en-US" sz="3600"/>
          </a:p>
        </p:txBody>
      </p:sp>
      <p:sp>
        <p:nvSpPr>
          <p:cNvPr id="8" name="TextBox 7"/>
          <p:cNvSpPr txBox="1"/>
          <p:nvPr/>
        </p:nvSpPr>
        <p:spPr>
          <a:xfrm>
            <a:off x="251999" y="2788920"/>
            <a:ext cx="11687697" cy="274320"/>
          </a:xfrm>
          <a:prstGeom prst="rect">
            <a:avLst/>
          </a:prstGeom>
          <a:noFill/>
        </p:spPr>
        <p:txBody>
          <a:bodyPr wrap="square" lIns="0" rIns="0" tIns="0" bIns="0">
            <a:spAutoFit/>
          </a:bodyPr>
          <a:lstStyle/>
          <a:p>
            <a:pPr algn="ctr"/>
            <a:r>
              <a:rPr sz="1600" b="0" i="1">
                <a:solidFill>
                  <a:srgbClr val="555B66"/>
                </a:solidFill>
                <a:latin typeface="Calibri"/>
              </a:rPr>
              <a:t>(net of materials cost per unit)</a:t>
            </a:r>
          </a:p>
        </p:txBody>
      </p:sp>
      <p:sp>
        <p:nvSpPr>
          <p:cNvPr id="9" name="TextBox 8"/>
          <p:cNvSpPr txBox="1"/>
          <p:nvPr/>
        </p:nvSpPr>
        <p:spPr>
          <a:xfrm>
            <a:off x="251999" y="3108960"/>
            <a:ext cx="11687697" cy="2743200"/>
          </a:xfrm>
          <a:prstGeom prst="rect">
            <a:avLst/>
          </a:prstGeom>
          <a:noFill/>
        </p:spPr>
        <p:txBody>
          <a:bodyPr wrap="square" lIns="0" rIns="0" tIns="0" bIns="0">
            <a:spAutoFit/>
          </a:bodyPr>
          <a:lstStyle/>
          <a:p>
            <a:pPr algn="l" marL="342900" indent="-342900">
              <a:buClr>
                <a:srgbClr val="0B2B4E"/>
              </a:buClr>
              <a:buFont typeface="Calibri"/>
              <a:buChar char="▪"/>
            </a:pPr>
            <a:r>
              <a:rPr sz="2600" b="0">
                <a:solidFill>
                  <a:srgbClr val="0B2B4E"/>
                </a:solidFill>
                <a:latin typeface="Calibri"/>
              </a:rPr>
              <a:t>When MPL falls, MRPL falls</a:t>
            </a:r>
          </a:p>
          <a:p>
            <a:pPr algn="l" marL="685800" indent="-228600">
              <a:spcBef>
                <a:spcPts val="600"/>
              </a:spcBef>
              <a:buClr>
                <a:srgbClr val="555B66"/>
              </a:buClr>
              <a:buFont typeface="Calibri"/>
              <a:buChar char="–"/>
            </a:pPr>
            <a:r>
              <a:rPr sz="2200">
                <a:solidFill>
                  <a:srgbClr val="555B66"/>
                </a:solidFill>
                <a:latin typeface="Calibri"/>
              </a:rPr>
              <a:t>Even if price stays constant, each additional worker is worth less</a:t>
            </a:r>
          </a:p>
          <a:p>
            <a:pPr algn="l" marL="342900" indent="-342900">
              <a:spcBef>
                <a:spcPts val="1400"/>
              </a:spcBef>
              <a:buClr>
                <a:srgbClr val="0B2B4E"/>
              </a:buClr>
              <a:buFont typeface="Calibri"/>
              <a:buChar char="▪"/>
            </a:pPr>
            <a:r>
              <a:rPr sz="2600" b="0">
                <a:solidFill>
                  <a:srgbClr val="0B2B4E"/>
                </a:solidFill>
                <a:latin typeface="Calibri"/>
              </a:rPr>
              <a:t>The economic value of a marginal hire shrinks as you scale up</a:t>
            </a:r>
          </a:p>
          <a:p>
            <a:pPr algn="l" marL="685800" indent="-228600">
              <a:spcBef>
                <a:spcPts val="600"/>
              </a:spcBef>
              <a:buClr>
                <a:srgbClr val="555B66"/>
              </a:buClr>
              <a:buFont typeface="Calibri"/>
              <a:buChar char="–"/>
            </a:pPr>
            <a:r>
              <a:rPr sz="2200">
                <a:solidFill>
                  <a:srgbClr val="555B66"/>
                </a:solidFill>
                <a:latin typeface="Calibri"/>
              </a:rPr>
              <a:t>Implication: there is a finite optimal number of workers</a:t>
            </a:r>
          </a:p>
        </p:txBody>
      </p:sp>
      <p:sp>
        <p:nvSpPr>
          <p:cNvPr id="10" name="Rectangle 9"/>
          <p:cNvSpPr/>
          <p:nvPr/>
        </p:nvSpPr>
        <p:spPr>
          <a:xfrm>
            <a:off x="1523847" y="594360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Optimal hiring stops where MRPL just covers the wage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6,000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Tesla currently has 100 robots and 6,000 employees in its Freemont Gigafactory</a:t>
            </a:r>
          </a:p>
          <a:p>
            <a:pPr algn="l" marL="342900" indent="-342900">
              <a:spcBef>
                <a:spcPts val="1000"/>
              </a:spcBef>
              <a:buClr>
                <a:srgbClr val="0B2B4E"/>
              </a:buClr>
              <a:buFont typeface="Calibri"/>
              <a:buChar char="▪"/>
            </a:pPr>
            <a:r>
              <a:rPr sz="2200" b="0">
                <a:solidFill>
                  <a:srgbClr val="0B2B4E"/>
                </a:solidFill>
                <a:latin typeface="Calibri"/>
              </a:rPr>
              <a:t>What is MRPL?  (in $ per week)</a:t>
            </a:r>
          </a:p>
          <a:p>
            <a:pPr algn="l" marL="342900" indent="-342900">
              <a:spcBef>
                <a:spcPts val="1000"/>
              </a:spcBef>
              <a:buClr>
                <a:srgbClr val="0B2B4E"/>
              </a:buClr>
              <a:buFont typeface="Calibri"/>
              <a:buChar char="▪"/>
            </a:pPr>
            <a:r>
              <a:rPr sz="2200" b="0">
                <a:solidFill>
                  <a:srgbClr val="0B2B4E"/>
                </a:solidFill>
                <a:latin typeface="Calibri"/>
              </a:rPr>
              <a:t>Hints:</a:t>
            </a:r>
          </a:p>
          <a:p>
            <a:pPr algn="l" marL="685800" indent="-228600">
              <a:spcBef>
                <a:spcPts val="600"/>
              </a:spcBef>
              <a:buClr>
                <a:srgbClr val="555B66"/>
              </a:buClr>
              <a:buFont typeface="Calibri"/>
              <a:buChar char="–"/>
            </a:pPr>
            <a:r>
              <a:rPr sz="1800">
                <a:solidFill>
                  <a:srgbClr val="555B66"/>
                </a:solidFill>
                <a:latin typeface="Calibri"/>
              </a:rPr>
              <a:t>Recall sales price is $90k; material cost is $40k</a:t>
            </a:r>
          </a:p>
          <a:p>
            <a:pPr algn="l" marL="685800" indent="-228600">
              <a:spcBef>
                <a:spcPts val="600"/>
              </a:spcBef>
              <a:buClr>
                <a:srgbClr val="555B66"/>
              </a:buClr>
              <a:buFont typeface="Calibri"/>
              <a:buChar char="–"/>
            </a:pPr>
            <a:r>
              <a:rPr sz="1800">
                <a:solidFill>
                  <a:srgbClr val="555B66"/>
                </a:solidFill>
                <a:latin typeface="Calibri"/>
              </a:rPr>
              <a:t>Use marginal revenue net of material input costs</a:t>
            </a:r>
          </a:p>
        </p:txBody>
      </p:sp>
      <p:pic>
        <p:nvPicPr>
          <p:cNvPr id="8" name="Picture 7" descr="slide18_rId4.png"/>
          <p:cNvPicPr>
            <a:picLocks noChangeAspect="1"/>
          </p:cNvPicPr>
          <p:nvPr/>
        </p:nvPicPr>
        <p:blipFill>
          <a:blip r:embed="rId2"/>
          <a:stretch>
            <a:fillRect/>
          </a:stretch>
        </p:blipFill>
        <p:spPr>
          <a:xfrm>
            <a:off x="7680960" y="2468880"/>
            <a:ext cx="4206240" cy="3258990"/>
          </a:xfrm>
          <a:prstGeom prst="rect">
            <a:avLst/>
          </a:prstGeom>
        </p:spPr>
      </p:pic>
      <p:sp>
        <p:nvSpPr>
          <p:cNvPr id="9" name="Parallelogram 8"/>
          <p:cNvSpPr/>
          <p:nvPr/>
        </p:nvSpPr>
        <p:spPr>
          <a:xfrm>
            <a:off x="7550576" y="5989320"/>
            <a:ext cx="4389120" cy="594360"/>
          </a:xfrm>
          <a:prstGeom prst="parallelogram">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Discussion break</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Tesla's MRPL at 6,000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691640"/>
            <a:ext cx="6217920" cy="4663440"/>
          </a:xfrm>
          <a:prstGeom prst="rect">
            <a:avLst/>
          </a:prstGeom>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Tesla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600" b="0">
                <a:solidFill>
                  <a:srgbClr val="0B2B4E"/>
                </a:solidFill>
                <a:latin typeface="Calibri"/>
              </a:rPr>
              <a:t>At 6,000 workers (and 100 robots), MPL ≈ 60 cars per week</a:t>
            </a:r>
          </a:p>
          <a:p>
            <a:pPr algn="l" marL="342900" indent="-342900">
              <a:spcBef>
                <a:spcPts val="1200"/>
              </a:spcBef>
              <a:buClr>
                <a:srgbClr val="0B2B4E"/>
              </a:buClr>
              <a:buFont typeface="Calibri"/>
              <a:buChar char="▪"/>
            </a:pPr>
            <a:r>
              <a:rPr sz="2600" b="0">
                <a:solidFill>
                  <a:srgbClr val="0B2B4E"/>
                </a:solidFill>
                <a:latin typeface="Calibri"/>
              </a:rPr>
              <a:t>Per car: revenue $90k − materials $40k = $50k</a:t>
            </a:r>
          </a:p>
          <a:p>
            <a:pPr algn="l" marL="342900" indent="-342900">
              <a:spcBef>
                <a:spcPts val="1200"/>
              </a:spcBef>
              <a:buClr>
                <a:srgbClr val="0B2B4E"/>
              </a:buClr>
              <a:buFont typeface="Calibri"/>
              <a:buChar char="▪"/>
            </a:pPr>
            <a:r>
              <a:rPr sz="2600" b="0">
                <a:solidFill>
                  <a:srgbClr val="0B2B4E"/>
                </a:solidFill>
                <a:latin typeface="Calibri"/>
              </a:rPr>
              <a:t>MRPL = MPL × $50k ≈ 60 × $50,000 ≈ $3,000,000 per week</a:t>
            </a:r>
          </a:p>
          <a:p>
            <a:pPr algn="l" marL="685800" indent="-228600">
              <a:spcBef>
                <a:spcPts val="600"/>
              </a:spcBef>
              <a:buClr>
                <a:srgbClr val="555B66"/>
              </a:buClr>
              <a:buFont typeface="Calibri"/>
              <a:buChar char="–"/>
            </a:pPr>
            <a:r>
              <a:rPr sz="2200">
                <a:solidFill>
                  <a:srgbClr val="555B66"/>
                </a:solidFill>
                <a:latin typeface="Calibri"/>
              </a:rPr>
              <a:t>Compare to the weekly wage bill of one worker (not the whole workforce)</a:t>
            </a:r>
          </a:p>
          <a:p>
            <a:pPr algn="l" marL="342900" indent="-342900">
              <a:spcBef>
                <a:spcPts val="1200"/>
              </a:spcBef>
              <a:buClr>
                <a:srgbClr val="0B2B4E"/>
              </a:buClr>
              <a:buFont typeface="Calibri"/>
              <a:buChar char="▪"/>
            </a:pPr>
            <a:r>
              <a:rPr sz="2600" b="0">
                <a:solidFill>
                  <a:srgbClr val="0B2B4E"/>
                </a:solidFill>
                <a:latin typeface="Calibri"/>
              </a:rPr>
              <a:t>Common slip:  forgetting to net out materials cost</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Hire When MRPL &gt; Wage;  Stop When MRPL =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600" b="0">
                <a:solidFill>
                  <a:srgbClr val="0B2B4E"/>
                </a:solidFill>
                <a:latin typeface="Calibri"/>
              </a:rPr>
              <a:t>Should Tesla hire more workers?</a:t>
            </a:r>
          </a:p>
          <a:p>
            <a:pPr algn="l" marL="685800" indent="-228600">
              <a:spcBef>
                <a:spcPts val="600"/>
              </a:spcBef>
              <a:buClr>
                <a:srgbClr val="555B66"/>
              </a:buClr>
              <a:buFont typeface="Calibri"/>
              <a:buChar char="–"/>
            </a:pPr>
            <a:r>
              <a:rPr sz="2200">
                <a:solidFill>
                  <a:srgbClr val="555B66"/>
                </a:solidFill>
                <a:latin typeface="Calibri"/>
              </a:rPr>
              <a:t>Suppose the weekly gross wage is $1,400 per worker</a:t>
            </a:r>
          </a:p>
          <a:p>
            <a:pPr algn="l" marL="685800" indent="-228600">
              <a:spcBef>
                <a:spcPts val="600"/>
              </a:spcBef>
              <a:buClr>
                <a:srgbClr val="555B66"/>
              </a:buClr>
              <a:buFont typeface="Calibri"/>
              <a:buChar char="–"/>
            </a:pPr>
            <a:r>
              <a:rPr sz="2200">
                <a:solidFill>
                  <a:srgbClr val="555B66"/>
                </a:solidFill>
                <a:latin typeface="Calibri"/>
              </a:rPr>
              <a:t>Yes — MRPL &gt; wage</a:t>
            </a:r>
          </a:p>
          <a:p>
            <a:pPr algn="l" marL="342900" indent="-342900">
              <a:spcBef>
                <a:spcPts val="1000"/>
              </a:spcBef>
              <a:buClr>
                <a:srgbClr val="0B2B4E"/>
              </a:buClr>
              <a:buFont typeface="Calibri"/>
              <a:buChar char="▪"/>
            </a:pPr>
            <a:r>
              <a:rPr sz="2600" b="0">
                <a:solidFill>
                  <a:srgbClr val="0B2B4E"/>
                </a:solidFill>
                <a:latin typeface="Calibri"/>
              </a:rPr>
              <a:t>Hiring one more worker:</a:t>
            </a:r>
          </a:p>
          <a:p>
            <a:pPr algn="l" marL="685800" indent="-228600">
              <a:spcBef>
                <a:spcPts val="600"/>
              </a:spcBef>
              <a:buClr>
                <a:srgbClr val="555B66"/>
              </a:buClr>
              <a:buFont typeface="Calibri"/>
              <a:buChar char="–"/>
            </a:pPr>
            <a:r>
              <a:rPr sz="2200">
                <a:solidFill>
                  <a:srgbClr val="555B66"/>
                </a:solidFill>
                <a:latin typeface="Calibri"/>
              </a:rPr>
              <a:t>Revenue (net of materials) rises by MRPL</a:t>
            </a:r>
          </a:p>
          <a:p>
            <a:pPr algn="l" marL="685800" indent="-228600">
              <a:spcBef>
                <a:spcPts val="600"/>
              </a:spcBef>
              <a:buClr>
                <a:srgbClr val="555B66"/>
              </a:buClr>
              <a:buFont typeface="Calibri"/>
              <a:buChar char="–"/>
            </a:pPr>
            <a:r>
              <a:rPr sz="2200">
                <a:solidFill>
                  <a:srgbClr val="555B66"/>
                </a:solidFill>
                <a:latin typeface="Calibri"/>
              </a:rPr>
              <a:t>Wage bill rises by w</a:t>
            </a:r>
          </a:p>
          <a:p>
            <a:pPr algn="l" marL="685800" indent="-228600">
              <a:spcBef>
                <a:spcPts val="600"/>
              </a:spcBef>
              <a:buClr>
                <a:srgbClr val="555B66"/>
              </a:buClr>
              <a:buFont typeface="Calibri"/>
              <a:buChar char="–"/>
            </a:pPr>
            <a:r>
              <a:rPr sz="2200">
                <a:solidFill>
                  <a:srgbClr val="555B66"/>
                </a:solidFill>
                <a:latin typeface="Calibri"/>
              </a:rPr>
              <a:t>Profit rises whenever MRPL &gt; w</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Production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MRPL = 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5486400" cy="365760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Compute MRPL as a function of L</a:t>
            </a:r>
          </a:p>
          <a:p>
            <a:pPr algn="l" marL="685800" indent="-228600">
              <a:spcBef>
                <a:spcPts val="600"/>
              </a:spcBef>
              <a:buClr>
                <a:srgbClr val="555B66"/>
              </a:buClr>
              <a:buFont typeface="Calibri"/>
              <a:buChar char="–"/>
            </a:pPr>
            <a:r>
              <a:rPr sz="1800">
                <a:solidFill>
                  <a:srgbClr val="555B66"/>
                </a:solidFill>
                <a:latin typeface="Calibri"/>
              </a:rPr>
              <a:t>Use the MPL function above:  MRPL = MPL × $50k</a:t>
            </a:r>
          </a:p>
          <a:p>
            <a:pPr algn="l" marL="342900" indent="-342900">
              <a:spcBef>
                <a:spcPts val="1400"/>
              </a:spcBef>
              <a:buClr>
                <a:srgbClr val="0B2B4E"/>
              </a:buClr>
              <a:buFont typeface="Calibri"/>
              <a:buChar char="▪"/>
            </a:pPr>
            <a:r>
              <a:rPr sz="2200" b="0">
                <a:solidFill>
                  <a:srgbClr val="0B2B4E"/>
                </a:solidFill>
                <a:latin typeface="Calibri"/>
              </a:rPr>
              <a:t>Plot the wage line  (constant at  w )</a:t>
            </a:r>
          </a:p>
          <a:p>
            <a:pPr algn="l" marL="342900" indent="-342900">
              <a:spcBef>
                <a:spcPts val="1400"/>
              </a:spcBef>
              <a:buClr>
                <a:srgbClr val="0B2B4E"/>
              </a:buClr>
              <a:buFont typeface="Calibri"/>
              <a:buChar char="▪"/>
            </a:pPr>
            <a:r>
              <a:rPr sz="2200" b="0">
                <a:solidFill>
                  <a:srgbClr val="0B2B4E"/>
                </a:solidFill>
                <a:latin typeface="Calibri"/>
              </a:rPr>
              <a:t>Optimum: hire L*  where  MRPL = w</a:t>
            </a:r>
          </a:p>
        </p:txBody>
      </p:sp>
      <p:pic>
        <p:nvPicPr>
          <p:cNvPr id="8" name="Picture 7" descr="slide22_rId4.png"/>
          <p:cNvPicPr>
            <a:picLocks noChangeAspect="1"/>
          </p:cNvPicPr>
          <p:nvPr/>
        </p:nvPicPr>
        <p:blipFill>
          <a:blip r:embed="rId2"/>
          <a:stretch>
            <a:fillRect/>
          </a:stretch>
        </p:blipFill>
        <p:spPr>
          <a:xfrm>
            <a:off x="6035040" y="1828800"/>
            <a:ext cx="5852160" cy="3150322"/>
          </a:xfrm>
          <a:prstGeom prst="rect">
            <a:avLst/>
          </a:prstGeom>
        </p:spPr>
      </p:pic>
      <p:sp>
        <p:nvSpPr>
          <p:cNvPr id="9" name="Rectangle 8"/>
          <p:cNvSpPr/>
          <p:nvPr/>
        </p:nvSpPr>
        <p:spPr>
          <a:xfrm>
            <a:off x="9601200" y="1920240"/>
            <a:ext cx="228600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B2B4E"/>
                </a:solidFill>
                <a:latin typeface="Calibri"/>
              </a:rPr>
              <a:t>Revenue per car
net of material cost</a:t>
            </a:r>
          </a:p>
        </p:txBody>
      </p:sp>
      <p:cxnSp>
        <p:nvCxnSpPr>
          <p:cNvPr id="10" name="Connector 9"/>
          <p:cNvCxnSpPr/>
          <p:nvPr/>
        </p:nvCxnSpPr>
        <p:spPr>
          <a:xfrm flipH="1">
            <a:off x="9692640" y="2560320"/>
            <a:ext cx="731520" cy="548640"/>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523847" y="589788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Optimum:  L*  where  MRPL  =  w</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Caution:  Wages Are Not Always Constant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600" b="0">
                <a:solidFill>
                  <a:srgbClr val="0B2B4E"/>
                </a:solidFill>
                <a:latin typeface="Calibri"/>
              </a:rPr>
              <a:t>So far, we've assumed wages are constant</a:t>
            </a:r>
          </a:p>
          <a:p>
            <a:pPr algn="l" marL="685800" indent="-228600">
              <a:spcBef>
                <a:spcPts val="600"/>
              </a:spcBef>
              <a:buClr>
                <a:srgbClr val="555B66"/>
              </a:buClr>
              <a:buFont typeface="Calibri"/>
              <a:buChar char="–"/>
            </a:pPr>
            <a:r>
              <a:rPr sz="2200">
                <a:solidFill>
                  <a:srgbClr val="555B66"/>
                </a:solidFill>
                <a:latin typeface="Calibri"/>
              </a:rPr>
              <a:t>Realistic for a small firm hiring at the market wage</a:t>
            </a:r>
          </a:p>
          <a:p>
            <a:pPr algn="l" marL="342900" indent="-342900">
              <a:spcBef>
                <a:spcPts val="1400"/>
              </a:spcBef>
              <a:buClr>
                <a:srgbClr val="0B2B4E"/>
              </a:buClr>
              <a:buFont typeface="Calibri"/>
              <a:buChar char="▪"/>
            </a:pPr>
            <a:r>
              <a:rPr sz="2600" b="0">
                <a:solidFill>
                  <a:srgbClr val="0B2B4E"/>
                </a:solidFill>
                <a:latin typeface="Calibri"/>
              </a:rPr>
              <a:t>Reality check: for a big enough employer, hiring more workers can push the wage up</a:t>
            </a:r>
          </a:p>
          <a:p>
            <a:pPr algn="l" marL="685800" indent="-228600">
              <a:spcBef>
                <a:spcPts val="600"/>
              </a:spcBef>
              <a:buClr>
                <a:srgbClr val="555B66"/>
              </a:buClr>
              <a:buFont typeface="Calibri"/>
              <a:buChar char="–"/>
            </a:pPr>
            <a:r>
              <a:rPr sz="2200">
                <a:solidFill>
                  <a:srgbClr val="555B66"/>
                </a:solidFill>
                <a:latin typeface="Calibri"/>
              </a:rPr>
              <a:t>Example: a frontier AI lab adding 100 senior researchers in one year</a:t>
            </a:r>
          </a:p>
          <a:p>
            <a:pPr algn="l" marL="342900" indent="-342900">
              <a:spcBef>
                <a:spcPts val="1400"/>
              </a:spcBef>
              <a:buClr>
                <a:srgbClr val="0B2B4E"/>
              </a:buClr>
              <a:buFont typeface="Calibri"/>
              <a:buChar char="▪"/>
            </a:pPr>
            <a:r>
              <a:rPr sz="2600" b="0">
                <a:solidFill>
                  <a:srgbClr val="0B2B4E"/>
                </a:solidFill>
                <a:latin typeface="Calibri"/>
              </a:rPr>
              <a:t>Term:  the firm is a wage searcher  (not a wage taker)</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Employers Bid Their Own Wages Up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p>
            <a:pPr algn="l" marL="342900" indent="-342900">
              <a:buClr>
                <a:srgbClr val="0B2B4E"/>
              </a:buClr>
              <a:buFont typeface="Calibri"/>
              <a:buChar char="▪"/>
            </a:pPr>
            <a:r>
              <a:rPr sz="2600" b="0">
                <a:solidFill>
                  <a:srgbClr val="0B2B4E"/>
                </a:solidFill>
                <a:latin typeface="Calibri"/>
              </a:rPr>
              <a:t>Large firm  (relative to the labor market)</a:t>
            </a:r>
          </a:p>
          <a:p>
            <a:pPr algn="l" marL="342900" indent="-342900">
              <a:spcBef>
                <a:spcPts val="1200"/>
              </a:spcBef>
              <a:buClr>
                <a:srgbClr val="0B2B4E"/>
              </a:buClr>
              <a:buFont typeface="Calibri"/>
              <a:buChar char="▪"/>
            </a:pPr>
            <a:r>
              <a:rPr sz="2600" b="0">
                <a:solidFill>
                  <a:srgbClr val="0B2B4E"/>
                </a:solidFill>
                <a:latin typeface="Calibri"/>
              </a:rPr>
              <a:t>To recruit more labor, the firm must increase the wage</a:t>
            </a:r>
          </a:p>
          <a:p>
            <a:pPr algn="l" marL="342900" indent="-342900">
              <a:spcBef>
                <a:spcPts val="1200"/>
              </a:spcBef>
              <a:buClr>
                <a:srgbClr val="0B2B4E"/>
              </a:buClr>
              <a:buFont typeface="Calibri"/>
              <a:buChar char="▪"/>
            </a:pPr>
            <a:r>
              <a:rPr sz="2600" b="0">
                <a:solidFill>
                  <a:srgbClr val="0B2B4E"/>
                </a:solidFill>
                <a:latin typeface="Calibri"/>
              </a:rPr>
              <a:t>For wage searchers, the wage rate is upward-sloping in employment</a:t>
            </a:r>
          </a:p>
          <a:p>
            <a:pPr algn="l" marL="685800" indent="-228600">
              <a:spcBef>
                <a:spcPts val="600"/>
              </a:spcBef>
              <a:buClr>
                <a:srgbClr val="555B66"/>
              </a:buClr>
              <a:buFont typeface="Calibri"/>
              <a:buChar char="–"/>
            </a:pPr>
            <a:r>
              <a:rPr sz="2200">
                <a:solidFill>
                  <a:srgbClr val="555B66"/>
                </a:solidFill>
                <a:latin typeface="Calibri"/>
              </a:rPr>
              <a:t>Example: a hospital hiring highly specialized surgeons</a:t>
            </a:r>
          </a:p>
          <a:p>
            <a:pPr algn="l" marL="685800" indent="-228600">
              <a:spcBef>
                <a:spcPts val="600"/>
              </a:spcBef>
              <a:buClr>
                <a:srgbClr val="555B66"/>
              </a:buClr>
              <a:buFont typeface="Calibri"/>
              <a:buChar char="–"/>
            </a:pPr>
            <a:r>
              <a:rPr sz="2200">
                <a:solidFill>
                  <a:srgbClr val="555B66"/>
                </a:solidFill>
                <a:latin typeface="Calibri"/>
              </a:rPr>
              <a:t>Example: Anthropic, OpenAI, DeepMind hiring senior AI researchers</a:t>
            </a:r>
          </a:p>
        </p:txBody>
      </p:sp>
      <p:sp>
        <p:nvSpPr>
          <p:cNvPr id="8" name="Rectangle 7"/>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Salary Comparisons across Firm Size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914400" y="1691640"/>
            <a:ext cx="10332720" cy="5812155"/>
          </a:xfrm>
          <a:prstGeom prst="rect">
            <a:avLst/>
          </a:prstGeom>
        </p:spPr>
      </p:pic>
      <p:sp>
        <p:nvSpPr>
          <p:cNvPr id="8" name="TextBox 7"/>
          <p:cNvSpPr txBox="1"/>
          <p:nvPr/>
        </p:nvSpPr>
        <p:spPr>
          <a:xfrm>
            <a:off x="251999" y="6309360"/>
            <a:ext cx="11687697" cy="274320"/>
          </a:xfrm>
          <a:prstGeom prst="rect">
            <a:avLst/>
          </a:prstGeom>
          <a:noFill/>
        </p:spPr>
        <p:txBody>
          <a:bodyPr wrap="square" lIns="0" rIns="0" tIns="0" bIns="0">
            <a:spAutoFit/>
          </a:bodyPr>
          <a:lstStyle/>
          <a:p>
            <a:pPr algn="ctr"/>
            <a:r>
              <a:rPr sz="1400" b="0" i="1">
                <a:solidFill>
                  <a:srgbClr val="555B66"/>
                </a:solidFill>
                <a:latin typeface="Calibri"/>
              </a:rPr>
              <a:t>Bigger firms tend to pay more  —  consistent with the wage-search story</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Anthropic is trying to poach a star researcher from Google DeepMind</a:t>
            </a:r>
          </a:p>
          <a:p>
            <a:pPr algn="l" marL="685800" indent="-228600">
              <a:spcBef>
                <a:spcPts val="600"/>
              </a:spcBef>
              <a:buClr>
                <a:srgbClr val="555B66"/>
              </a:buClr>
              <a:buFont typeface="Calibri"/>
              <a:buChar char="–"/>
            </a:pPr>
            <a:r>
              <a:rPr sz="1800">
                <a:solidFill>
                  <a:srgbClr val="555B66"/>
                </a:solidFill>
                <a:latin typeface="Calibri"/>
              </a:rPr>
              <a:t>She would join Anthropic for a $5M annual salary</a:t>
            </a:r>
          </a:p>
          <a:p>
            <a:pPr algn="l" marL="342900" indent="-342900">
              <a:spcBef>
                <a:spcPts val="1000"/>
              </a:spcBef>
              <a:buClr>
                <a:srgbClr val="0B2B4E"/>
              </a:buClr>
              <a:buFont typeface="Calibri"/>
              <a:buChar char="▪"/>
            </a:pPr>
            <a:r>
              <a:rPr sz="2200" b="0">
                <a:solidFill>
                  <a:srgbClr val="0B2B4E"/>
                </a:solidFill>
                <a:latin typeface="Calibri"/>
              </a:rPr>
              <a:t>Anthropic already employs 2 star researchers, each earning $3.5M</a:t>
            </a:r>
          </a:p>
          <a:p>
            <a:pPr algn="l" marL="685800" indent="-228600">
              <a:spcBef>
                <a:spcPts val="600"/>
              </a:spcBef>
              <a:buClr>
                <a:srgbClr val="555B66"/>
              </a:buClr>
              <a:buFont typeface="Calibri"/>
              <a:buChar char="–"/>
            </a:pPr>
            <a:r>
              <a:rPr sz="1800">
                <a:solidFill>
                  <a:srgbClr val="555B66"/>
                </a:solidFill>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p:spPr>
      </p:pic>
      <p:sp>
        <p:nvSpPr>
          <p:cNvPr id="9" name="TextBox 8"/>
          <p:cNvSpPr txBox="1"/>
          <p:nvPr/>
        </p:nvSpPr>
        <p:spPr>
          <a:xfrm>
            <a:off x="8869680" y="5166360"/>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ectangle 9"/>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What is the marginal cost of the 3rd researcher?</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9199" y="1828800"/>
            <a:ext cx="10773297" cy="502920"/>
          </a:xfrm>
          <a:prstGeom prst="rect">
            <a:avLst/>
          </a:prstGeom>
          <a:noFill/>
        </p:spPr>
        <p:txBody>
          <a:bodyPr wrap="square" lIns="0" rIns="0" tIns="0" bIns="0">
            <a:spAutoFit/>
          </a:bodyPr>
          <a:lstStyle/>
          <a:p>
            <a:pPr algn="l"/>
            <a:r>
              <a:rPr sz="2200" b="0" i="0">
                <a:solidFill>
                  <a:srgbClr val="0B2B4E"/>
                </a:solidFill>
                <a:latin typeface="Calibri"/>
              </a:rPr>
              <a:t>1.  The star researcher herself is paid  $5M</a:t>
            </a:r>
          </a:p>
        </p:txBody>
      </p:sp>
      <p:sp>
        <p:nvSpPr>
          <p:cNvPr id="8" name="TextBox 7"/>
          <p:cNvSpPr txBox="1"/>
          <p:nvPr/>
        </p:nvSpPr>
        <p:spPr>
          <a:xfrm>
            <a:off x="709199" y="2468880"/>
            <a:ext cx="10773297" cy="502920"/>
          </a:xfrm>
          <a:prstGeom prst="rect">
            <a:avLst/>
          </a:prstGeom>
          <a:noFill/>
        </p:spPr>
        <p:txBody>
          <a:bodyPr wrap="square" lIns="0" rIns="0" tIns="0" bIns="0">
            <a:spAutoFit/>
          </a:bodyPr>
          <a:lstStyle/>
          <a:p>
            <a:pPr algn="l"/>
            <a:r>
              <a:rPr sz="2200" b="0" i="0">
                <a:solidFill>
                  <a:srgbClr val="0B2B4E"/>
                </a:solidFill>
                <a:latin typeface="Calibri"/>
              </a:rPr>
              <a:t>2.  The two existing researchers each get a raise of  ($5M − $3.5M) = $1.5M</a:t>
            </a:r>
          </a:p>
        </p:txBody>
      </p:sp>
      <p:sp>
        <p:nvSpPr>
          <p:cNvPr id="9" name="TextBox 8"/>
          <p:cNvSpPr txBox="1"/>
          <p:nvPr/>
        </p:nvSpPr>
        <p:spPr>
          <a:xfrm>
            <a:off x="709199" y="3108960"/>
            <a:ext cx="10773297" cy="502920"/>
          </a:xfrm>
          <a:prstGeom prst="rect">
            <a:avLst/>
          </a:prstGeom>
          <a:noFill/>
        </p:spPr>
        <p:txBody>
          <a:bodyPr wrap="square" lIns="0" rIns="0" tIns="0" bIns="0">
            <a:spAutoFit/>
          </a:bodyPr>
          <a:lstStyle/>
          <a:p>
            <a:pPr algn="l"/>
            <a:r>
              <a:rPr sz="2200" b="0" i="0">
                <a:solidFill>
                  <a:srgbClr val="0B2B4E"/>
                </a:solidFill>
                <a:latin typeface="Calibri"/>
              </a:rPr>
              <a:t>3.  Total extra wage bill:  $5M + 2 × $1.5M</a:t>
            </a:r>
          </a:p>
        </p:txBody>
      </p:sp>
      <p:sp>
        <p:nvSpPr>
          <p:cNvPr id="10" name="Rectangle 9"/>
          <p:cNvSpPr/>
          <p:nvPr/>
        </p:nvSpPr>
        <p:spPr>
          <a:xfrm>
            <a:off x="2286000" y="4023360"/>
            <a:ext cx="7589520" cy="10058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FFFF"/>
                </a:solidFill>
                <a:latin typeface="Calibri"/>
              </a:rPr>
              <a:t>Marginal cost of the 3rd researcher  =  $8M</a:t>
            </a:r>
          </a:p>
        </p:txBody>
      </p:sp>
      <p:sp>
        <p:nvSpPr>
          <p:cNvPr id="11" name="Rectangle 10"/>
          <p:cNvSpPr/>
          <p:nvPr/>
        </p:nvSpPr>
        <p:spPr>
          <a:xfrm>
            <a:off x="1066647" y="589788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 buyers of scarce talent move the market price  —  factor it in</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5.png"/>
          <p:cNvPicPr>
            <a:picLocks noChangeAspect="1"/>
          </p:cNvPicPr>
          <p:nvPr/>
        </p:nvPicPr>
        <p:blipFill>
          <a:blip r:embed="rId2"/>
          <a:stretch>
            <a:fillRect/>
          </a:stretch>
        </p:blipFill>
        <p:spPr>
          <a:xfrm>
            <a:off x="2286000" y="1691640"/>
            <a:ext cx="7589520" cy="4569524"/>
          </a:xfrm>
          <a:prstGeom prst="rect">
            <a:avLst/>
          </a:prstGeom>
        </p:spPr>
      </p:pic>
      <p:sp>
        <p:nvSpPr>
          <p:cNvPr id="8" name="Rectangle 7"/>
          <p:cNvSpPr/>
          <p:nvPr/>
        </p:nvSpPr>
        <p:spPr>
          <a:xfrm>
            <a:off x="2286000" y="5852160"/>
            <a:ext cx="75895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Search tool:  https://ucannualwage.ucop.edu/wage/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Section Divider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1.2: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Short Run – Hiring Decisions</a:t>
            </a:r>
          </a:p>
          <a:p>
            <a:pPr algn="l" marL="457200" indent="-457200">
              <a:spcBef>
                <a:spcPts val="10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10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Now:  Long Run –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20624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Context: Rivian builds its new Georgia plant</a:t>
            </a:r>
          </a:p>
          <a:p>
            <a:pPr algn="l" marL="342900" indent="-342900">
              <a:spcBef>
                <a:spcPts val="1000"/>
              </a:spcBef>
              <a:buClr>
                <a:srgbClr val="0B2B4E"/>
              </a:buClr>
              <a:buFont typeface="Calibri"/>
              <a:buChar char="▪"/>
            </a:pPr>
            <a:r>
              <a:rPr sz="2200" b="0">
                <a:solidFill>
                  <a:srgbClr val="0B2B4E"/>
                </a:solidFill>
                <a:latin typeface="Calibri"/>
              </a:rPr>
              <a:t>Both capital and labor are flexible inputs</a:t>
            </a:r>
          </a:p>
          <a:p>
            <a:pPr algn="l" marL="342900" indent="-342900">
              <a:spcBef>
                <a:spcPts val="1000"/>
              </a:spcBef>
              <a:buClr>
                <a:srgbClr val="0B2B4E"/>
              </a:buClr>
              <a:buFont typeface="Calibri"/>
              <a:buChar char="▪"/>
            </a:pPr>
            <a:r>
              <a:rPr sz="2200" b="0">
                <a:solidFill>
                  <a:srgbClr val="0B2B4E"/>
                </a:solidFill>
                <a:latin typeface="Calibri"/>
              </a:rPr>
              <a:t>What is the optimal input mix?</a:t>
            </a:r>
          </a:p>
          <a:p>
            <a:pPr algn="l" marL="685800" indent="-228600">
              <a:spcBef>
                <a:spcPts val="600"/>
              </a:spcBef>
              <a:buClr>
                <a:srgbClr val="555B66"/>
              </a:buClr>
              <a:buFont typeface="Calibri"/>
              <a:buChar char="–"/>
            </a:pPr>
            <a:r>
              <a:rPr sz="1800">
                <a:solidFill>
                  <a:srgbClr val="555B66"/>
                </a:solidFill>
                <a:latin typeface="Calibri"/>
              </a:rPr>
              <a:t>E.g., robots (K) and workers (L)</a:t>
            </a:r>
          </a:p>
          <a:p>
            <a:pPr algn="l" marL="342900" indent="-342900">
              <a:spcBef>
                <a:spcPts val="1000"/>
              </a:spcBef>
              <a:buClr>
                <a:srgbClr val="0B2B4E"/>
              </a:buClr>
              <a:buFont typeface="Calibri"/>
              <a:buChar char="▪"/>
            </a:pPr>
            <a:r>
              <a:rPr sz="2200" b="0">
                <a:solidFill>
                  <a:srgbClr val="0B2B4E"/>
                </a:solidFill>
                <a:latin typeface="Calibri"/>
              </a:rPr>
              <a:t>We will:</a:t>
            </a:r>
          </a:p>
          <a:p>
            <a:pPr algn="l" marL="685800" indent="-228600">
              <a:spcBef>
                <a:spcPts val="600"/>
              </a:spcBef>
              <a:buClr>
                <a:srgbClr val="555B66"/>
              </a:buClr>
              <a:buFont typeface="Calibri"/>
              <a:buChar char="–"/>
            </a:pPr>
            <a:r>
              <a:rPr sz="1800">
                <a:solidFill>
                  <a:srgbClr val="555B66"/>
                </a:solidFill>
                <a:latin typeface="Calibri"/>
              </a:rPr>
              <a:t>Use marginal analysis</a:t>
            </a:r>
          </a:p>
          <a:p>
            <a:pPr algn="l" marL="685800" indent="-228600">
              <a:spcBef>
                <a:spcPts val="600"/>
              </a:spcBef>
              <a:buClr>
                <a:srgbClr val="555B66"/>
              </a:buClr>
              <a:buFont typeface="Calibri"/>
              <a:buChar char="–"/>
            </a:pPr>
            <a:r>
              <a:rPr sz="1800">
                <a:solidFill>
                  <a:srgbClr val="555B66"/>
                </a:solidFill>
                <a:latin typeface="Calibri"/>
              </a:rPr>
              <a:t>Learn a simple rule for the optimal combination of inputs</a:t>
            </a:r>
          </a:p>
        </p:txBody>
      </p:sp>
      <p:pic>
        <p:nvPicPr>
          <p:cNvPr id="8" name="Picture 7" descr="slide31_rId3.jpg"/>
          <p:cNvPicPr>
            <a:picLocks noChangeAspect="1"/>
          </p:cNvPicPr>
          <p:nvPr/>
        </p:nvPicPr>
        <p:blipFill>
          <a:blip r:embed="rId2"/>
          <a:stretch>
            <a:fillRect/>
          </a:stretch>
        </p:blipFill>
        <p:spPr>
          <a:xfrm>
            <a:off x="7863840" y="2377440"/>
            <a:ext cx="4023360" cy="2681192"/>
          </a:xfrm>
          <a:prstGeom prst="rect">
            <a:avLst/>
          </a:prstGeom>
        </p:spPr>
      </p:pic>
      <p:sp>
        <p:nvSpPr>
          <p:cNvPr id="9" name="TextBox 8"/>
          <p:cNvSpPr txBox="1"/>
          <p:nvPr/>
        </p:nvSpPr>
        <p:spPr>
          <a:xfrm>
            <a:off x="7863840" y="5074920"/>
            <a:ext cx="4023360" cy="228600"/>
          </a:xfrm>
          <a:prstGeom prst="rect">
            <a:avLst/>
          </a:prstGeom>
          <a:noFill/>
        </p:spPr>
        <p:txBody>
          <a:bodyPr wrap="square" lIns="0" rIns="0" tIns="0" bIns="0">
            <a:spAutoFit/>
          </a:bodyPr>
          <a:lstStyle/>
          <a:p>
            <a:pPr algn="ctr"/>
            <a:r>
              <a:rPr sz="1200" b="0" i="1">
                <a:solidFill>
                  <a:srgbClr val="555B66"/>
                </a:solidFill>
                <a:latin typeface="Calibri"/>
              </a:rPr>
              <a:t>Rivian R1T  (CC BY-SA, Wikimedia)</a:t>
            </a:r>
          </a:p>
        </p:txBody>
      </p:sp>
      <p:sp>
        <p:nvSpPr>
          <p:cNvPr id="10" name="Rectangle 9"/>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right K-and-L mix from scratch</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1920240"/>
            <a:ext cx="7589520" cy="7772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0B2B4E"/>
                </a:solidFill>
                <a:latin typeface="Calibri"/>
              </a:rPr>
              <a:t>Optimal Input Mix  →  How much K and how much L?</a:t>
            </a:r>
          </a:p>
        </p:txBody>
      </p:sp>
      <p:sp>
        <p:nvSpPr>
          <p:cNvPr id="8" name="TextBox 7"/>
          <p:cNvSpPr txBox="1"/>
          <p:nvPr/>
        </p:nvSpPr>
        <p:spPr>
          <a:xfrm>
            <a:off x="251999" y="3108960"/>
            <a:ext cx="11687697" cy="457200"/>
          </a:xfrm>
          <a:prstGeom prst="rect">
            <a:avLst/>
          </a:prstGeom>
          <a:noFill/>
        </p:spPr>
        <p:txBody>
          <a:bodyPr wrap="square" lIns="0" rIns="0" tIns="0" bIns="0">
            <a:spAutoFit/>
          </a:bodyPr>
          <a:lstStyle/>
          <a:p>
            <a:pPr algn="ctr"/>
            <a:r>
              <a:rPr sz="2400" b="0" i="1">
                <a:solidFill>
                  <a:srgbClr val="555B66"/>
                </a:solidFill>
                <a:latin typeface="Calibri"/>
              </a:rPr>
              <a:t>Decision rule for the long run</a:t>
            </a:r>
          </a:p>
        </p:txBody>
      </p:sp>
      <p:sp>
        <p:nvSpPr>
          <p:cNvPr id="9" name="TextBox 8"/>
          <p:cNvSpPr txBox="1"/>
          <p:nvPr/>
        </p:nvSpPr>
        <p:spPr>
          <a:xfrm>
            <a:off x="2286000" y="3749039"/>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TextBox 9"/>
          <p:cNvSpPr txBox="1"/>
          <p:nvPr/>
        </p:nvSpPr>
        <p:spPr>
          <a:xfrm>
            <a:off x="251999" y="5349240"/>
            <a:ext cx="11687697" cy="365760"/>
          </a:xfrm>
          <a:prstGeom prst="rect">
            <a:avLst/>
          </a:prstGeom>
          <a:noFill/>
        </p:spPr>
        <p:txBody>
          <a:bodyPr wrap="square" lIns="0" rIns="0" tIns="0" bIns="0">
            <a:spAutoFit/>
          </a:bodyPr>
          <a:lstStyle/>
          <a:p>
            <a:pPr algn="ctr"/>
            <a:r>
              <a:rPr sz="2000" b="0" i="1">
                <a:solidFill>
                  <a:srgbClr val="555B66"/>
                </a:solidFill>
                <a:latin typeface="Calibri"/>
              </a:rPr>
              <a:t>—  i.e.,  the  'bang for the buck'  rule</a:t>
            </a:r>
          </a:p>
        </p:txBody>
      </p:sp>
      <p:sp>
        <p:nvSpPr>
          <p:cNvPr id="11" name="Rectangle 10"/>
          <p:cNvSpPr/>
          <p:nvPr/>
        </p:nvSpPr>
        <p:spPr>
          <a:xfrm>
            <a:off x="2666847" y="5943600"/>
            <a:ext cx="6858000" cy="548640"/>
          </a:xfrm>
          <a:prstGeom prst="rect">
            <a:avLst/>
          </a:prstGeom>
          <a:solidFill>
            <a:srgbClr val="F4F1EA"/>
          </a:solidFill>
          <a:ln w="15875">
            <a:solidFill>
              <a:srgbClr val="0B2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lded Corner 11"/>
          <p:cNvSpPr/>
          <p:nvPr/>
        </p:nvSpPr>
        <p:spPr>
          <a:xfrm>
            <a:off x="2849727" y="6035040"/>
            <a:ext cx="365760" cy="365760"/>
          </a:xfrm>
          <a:prstGeom prst="foldedCorner">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8367" y="5943600"/>
            <a:ext cx="5943600" cy="548640"/>
          </a:xfrm>
          <a:prstGeom prst="rect">
            <a:avLst/>
          </a:prstGeom>
          <a:noFill/>
        </p:spPr>
        <p:txBody>
          <a:bodyPr wrap="square" lIns="0" rIns="0" tIns="0" bIns="0" anchor="ctr">
            <a:spAutoFit/>
          </a:bodyPr>
          <a:lstStyle/>
          <a:p>
            <a:pPr algn="l"/>
            <a:r>
              <a:rPr sz="1200" b="1">
                <a:solidFill>
                  <a:srgbClr val="E09F3E"/>
                </a:solidFill>
                <a:latin typeface="Calibri"/>
              </a:rPr>
              <a:t>SEE TEACHING NOTE  →  </a:t>
            </a:r>
            <a:r>
              <a:rPr sz="1600" i="1" b="1">
                <a:solidFill>
                  <a:srgbClr val="0B2B4E"/>
                </a:solidFill>
                <a:latin typeface="Calibri"/>
              </a:rPr>
              <a:t>Bang-for-the-Buck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'Bang for the Buck' Rule:  Equalize MP per Dollar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0" y="1783080"/>
            <a:ext cx="7589520" cy="1463040"/>
          </a:xfrm>
          <a:prstGeom prst="rect">
            <a:avLst/>
          </a:prstGeom>
          <a:noFill/>
        </p:spPr>
        <p:txBody>
          <a:bodyPr wrap="square" anchor="ctr">
            <a:spAutoFit/>
          </a:bodyPr>
          <a:lstStyle/>
          <a:p xmlns:m="http://schemas.openxmlformats.org/officeDocument/2006/math" xmlns:a14="http://schemas.microsoft.com/office/drawing/2010/main">
            <a:pPr algn="ctr">
              <a:defRPr sz="5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5400">
                              <a:latin typeface="Cambria Math"/>
                              <a:ea typeface="Cambria Math"/>
                              <a:solidFill>
                                <a:srgbClr val="0B2B4E"/>
                              </a:solidFill>
                            </a:rPr>
                            <m:t>MP</m:t>
                          </m:r>
                        </m:e>
                        <m:sub>
                          <m:r>
                            <a:rPr lang="en-US" b="0" i="1" sz="5400">
                              <a:latin typeface="Cambria Math"/>
                              <a:ea typeface="Cambria Math"/>
                              <a:solidFill>
                                <a:srgbClr val="0B2B4E"/>
                              </a:solidFill>
                            </a:rPr>
                            <m:t>K</m:t>
                          </m:r>
                        </m:sub>
                      </m:sSub>
                    </m:num>
                    <m:den>
                      <m:sSub>
                        <m:sSubPr>
                          <m:ctrlPr>
                            <a:rPr lang="en-US" i="1">
                              <a:latin typeface="Cambria Math"/>
                            </a:rPr>
                          </m:ctrlPr>
                        </m:sSubPr>
                        <m:e>
                          <m:r>
                            <a:rPr lang="en-US" b="0" i="1" sz="5400">
                              <a:latin typeface="Cambria Math"/>
                              <a:ea typeface="Cambria Math"/>
                              <a:solidFill>
                                <a:srgbClr val="0B2B4E"/>
                              </a:solidFill>
                            </a:rPr>
                            <m:t>p</m:t>
                          </m:r>
                        </m:e>
                        <m:sub>
                          <m:r>
                            <a:rPr lang="en-US" b="0" i="1" sz="5400">
                              <a:latin typeface="Cambria Math"/>
                              <a:ea typeface="Cambria Math"/>
                              <a:solidFill>
                                <a:srgbClr val="0B2B4E"/>
                              </a:solidFill>
                            </a:rPr>
                            <m:t>K</m:t>
                          </m:r>
                        </m:sub>
                      </m:sSub>
                    </m:den>
                  </m:f>
                  <m:r>
                    <m:rPr>
                      <m:sty m:val="p"/>
                    </m:rPr>
                    <a:rPr lang="en-US" b="0" i="0" sz="5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5400">
                              <a:latin typeface="Cambria Math"/>
                              <a:ea typeface="Cambria Math"/>
                              <a:solidFill>
                                <a:srgbClr val="0B2B4E"/>
                              </a:solidFill>
                            </a:rPr>
                            <m:t>MP</m:t>
                          </m:r>
                        </m:e>
                        <m:sub>
                          <m:r>
                            <a:rPr lang="en-US" b="0" i="1" sz="5400">
                              <a:latin typeface="Cambria Math"/>
                              <a:ea typeface="Cambria Math"/>
                              <a:solidFill>
                                <a:srgbClr val="0B2B4E"/>
                              </a:solidFill>
                            </a:rPr>
                            <m:t>L</m:t>
                          </m:r>
                        </m:sub>
                      </m:sSub>
                    </m:num>
                    <m:den>
                      <m:r>
                        <a:rPr lang="en-US" b="0" i="1" sz="5400">
                          <a:latin typeface="Cambria Math"/>
                          <a:ea typeface="Cambria Math"/>
                          <a:solidFill>
                            <a:srgbClr val="0B2B4E"/>
                          </a:solidFill>
                        </a:rPr>
                        <m:t>w</m:t>
                      </m:r>
                    </m:den>
                  </m:f>
                </m:oMath>
              </m:oMathPara>
            </a14:m>
            <a:endParaRPr lang="en-US" sz="5400"/>
          </a:p>
        </p:txBody>
      </p:sp>
      <p:sp>
        <p:nvSpPr>
          <p:cNvPr id="8" name="TextBox 7"/>
          <p:cNvSpPr txBox="1"/>
          <p:nvPr/>
        </p:nvSpPr>
        <p:spPr>
          <a:xfrm>
            <a:off x="251999" y="3337560"/>
            <a:ext cx="11687697" cy="365760"/>
          </a:xfrm>
          <a:prstGeom prst="rect">
            <a:avLst/>
          </a:prstGeom>
          <a:noFill/>
        </p:spPr>
        <p:txBody>
          <a:bodyPr wrap="square" lIns="0" rIns="0" tIns="0" bIns="0">
            <a:spAutoFit/>
          </a:bodyPr>
          <a:lstStyle/>
          <a:p>
            <a:pPr algn="ctr"/>
            <a:r>
              <a:rPr sz="2000" b="0" i="1">
                <a:solidFill>
                  <a:srgbClr val="555B66"/>
                </a:solidFill>
                <a:latin typeface="Calibri"/>
              </a:rPr>
              <a:t>—  equalize  'bang for the buck'  across all inputs</a:t>
            </a:r>
          </a:p>
        </p:txBody>
      </p:sp>
      <p:sp>
        <p:nvSpPr>
          <p:cNvPr id="9" name="TextBox 8"/>
          <p:cNvSpPr txBox="1"/>
          <p:nvPr/>
        </p:nvSpPr>
        <p:spPr>
          <a:xfrm>
            <a:off x="709199" y="3840480"/>
            <a:ext cx="10773297" cy="2011680"/>
          </a:xfrm>
          <a:prstGeom prst="rect">
            <a:avLst/>
          </a:prstGeom>
          <a:noFill/>
        </p:spPr>
        <p:txBody>
          <a:bodyPr wrap="square" lIns="0" rIns="0" tIns="0" bIns="0">
            <a:spAutoFit/>
          </a:bodyPr>
          <a:lstStyle/>
          <a:p>
            <a:pPr algn="l" marL="342900" indent="-342900">
              <a:buClr>
                <a:srgbClr val="0B2B4E"/>
              </a:buClr>
              <a:buFont typeface="Calibri"/>
              <a:buChar char="▪"/>
            </a:pPr>
            <a:r>
              <a:rPr sz="2000" b="0">
                <a:solidFill>
                  <a:srgbClr val="0B2B4E"/>
                </a:solidFill>
                <a:latin typeface="Calibri"/>
              </a:rPr>
              <a:t>Simple rule for the optimal use of inputs in the long run</a:t>
            </a:r>
          </a:p>
          <a:p>
            <a:pPr algn="l" marL="685800" indent="-228600">
              <a:spcBef>
                <a:spcPts val="600"/>
              </a:spcBef>
              <a:buClr>
                <a:srgbClr val="555B66"/>
              </a:buClr>
              <a:buFont typeface="Calibri"/>
              <a:buChar char="–"/>
            </a:pPr>
            <a:r>
              <a:rPr sz="1800">
                <a:solidFill>
                  <a:srgbClr val="555B66"/>
                </a:solidFill>
                <a:latin typeface="Calibri"/>
              </a:rPr>
              <a:t>Holds when both L and K are flexible</a:t>
            </a:r>
          </a:p>
          <a:p>
            <a:pPr algn="l" marL="685800" indent="-228600">
              <a:spcBef>
                <a:spcPts val="600"/>
              </a:spcBef>
              <a:buClr>
                <a:srgbClr val="555B66"/>
              </a:buClr>
              <a:buFont typeface="Calibri"/>
              <a:buChar char="–"/>
            </a:pPr>
            <a:r>
              <a:rPr sz="1800">
                <a:solidFill>
                  <a:srgbClr val="555B66"/>
                </a:solidFill>
                <a:latin typeface="Calibri"/>
              </a:rPr>
              <a:t>Refers to a given output quantity Q</a:t>
            </a:r>
          </a:p>
          <a:p>
            <a:pPr algn="l" marL="685800" indent="-228600">
              <a:spcBef>
                <a:spcPts val="600"/>
              </a:spcBef>
              <a:buClr>
                <a:srgbClr val="555B66"/>
              </a:buClr>
              <a:buFont typeface="Calibri"/>
              <a:buChar char="–"/>
            </a:pPr>
            <a:r>
              <a:rPr sz="1800">
                <a:solidFill>
                  <a:srgbClr val="555B66"/>
                </a:solidFill>
                <a:latin typeface="Calibri"/>
              </a:rPr>
              <a:t>Assumes input prices w and p_K are constant</a:t>
            </a:r>
          </a:p>
        </p:txBody>
      </p:sp>
      <p:sp>
        <p:nvSpPr>
          <p:cNvPr id="10" name="Rectangle 9"/>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Spend each extra $ on whichever input gives the most extra output per $</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Rule – Recipe for Exams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6319" y="1828800"/>
            <a:ext cx="457200" cy="502920"/>
          </a:xfrm>
          <a:prstGeom prst="rect">
            <a:avLst/>
          </a:prstGeom>
          <a:noFill/>
        </p:spPr>
        <p:txBody>
          <a:bodyPr wrap="square" lIns="0" rIns="0" tIns="0" bIns="0" anchor="t">
            <a:spAutoFit/>
          </a:bodyPr>
          <a:lstStyle/>
          <a:p>
            <a:pPr algn="l"/>
            <a:r>
              <a:rPr sz="2200" b="1" i="0">
                <a:solidFill>
                  <a:srgbClr val="E09F3E"/>
                </a:solidFill>
                <a:latin typeface="Calibri"/>
              </a:rPr>
              <a:t>1.</a:t>
            </a:r>
          </a:p>
        </p:txBody>
      </p:sp>
      <p:sp>
        <p:nvSpPr>
          <p:cNvPr id="8" name="TextBox 7"/>
          <p:cNvSpPr txBox="1"/>
          <p:nvPr/>
        </p:nvSpPr>
        <p:spPr>
          <a:xfrm>
            <a:off x="1074959" y="1828800"/>
            <a:ext cx="2011680" cy="548640"/>
          </a:xfrm>
          <a:prstGeom prst="rect">
            <a:avLst/>
          </a:prstGeom>
          <a:noFill/>
        </p:spPr>
        <p:txBody>
          <a:bodyPr wrap="square" lIns="0" rIns="0" tIns="0" bIns="0">
            <a:spAutoFit/>
          </a:bodyPr>
          <a:lstStyle/>
          <a:p>
            <a:pPr algn="l"/>
            <a:r>
              <a:rPr sz="2000" b="0" i="0">
                <a:solidFill>
                  <a:srgbClr val="0B2B4E"/>
                </a:solidFill>
                <a:latin typeface="Calibri"/>
              </a:rPr>
              <a:t>Compute</a:t>
            </a:r>
          </a:p>
        </p:txBody>
      </p:sp>
      <p:sp>
        <p:nvSpPr>
          <p:cNvPr id="9" name="TextBox 8"/>
          <p:cNvSpPr txBox="1"/>
          <p:nvPr/>
        </p:nvSpPr>
        <p:spPr>
          <a:xfrm>
            <a:off x="2926080" y="1783080"/>
            <a:ext cx="137160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K</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K</m:t>
                          </m:r>
                        </m:sub>
                      </m:sSub>
                    </m:den>
                  </m:f>
                </m:oMath>
              </m:oMathPara>
            </a14:m>
            <a:endParaRPr lang="en-US" sz="2200"/>
          </a:p>
        </p:txBody>
      </p:sp>
      <p:sp>
        <p:nvSpPr>
          <p:cNvPr id="10" name="TextBox 9"/>
          <p:cNvSpPr txBox="1"/>
          <p:nvPr/>
        </p:nvSpPr>
        <p:spPr>
          <a:xfrm>
            <a:off x="4297680" y="1828800"/>
            <a:ext cx="548640" cy="548640"/>
          </a:xfrm>
          <a:prstGeom prst="rect">
            <a:avLst/>
          </a:prstGeom>
          <a:noFill/>
        </p:spPr>
        <p:txBody>
          <a:bodyPr wrap="square" lIns="0" rIns="0" tIns="0" bIns="0">
            <a:spAutoFit/>
          </a:bodyPr>
          <a:lstStyle/>
          <a:p>
            <a:pPr algn="l"/>
            <a:r>
              <a:rPr sz="2000" b="0" i="0">
                <a:solidFill>
                  <a:srgbClr val="0B2B4E"/>
                </a:solidFill>
                <a:latin typeface="Calibri"/>
              </a:rPr>
              <a:t>and</a:t>
            </a:r>
          </a:p>
        </p:txBody>
      </p:sp>
      <p:sp>
        <p:nvSpPr>
          <p:cNvPr id="11" name="TextBox 10"/>
          <p:cNvSpPr txBox="1"/>
          <p:nvPr/>
        </p:nvSpPr>
        <p:spPr>
          <a:xfrm>
            <a:off x="4846320" y="1783080"/>
            <a:ext cx="118872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m:t>
                          </m:r>
                        </m:sub>
                      </m:sSub>
                    </m:num>
                    <m:den>
                      <m:r>
                        <a:rPr lang="en-US" b="0" i="1" sz="2200">
                          <a:latin typeface="Cambria Math"/>
                          <a:ea typeface="Cambria Math"/>
                          <a:solidFill>
                            <a:srgbClr val="0B2B4E"/>
                          </a:solidFill>
                        </a:rPr>
                        <m:t>w</m:t>
                      </m:r>
                    </m:den>
                  </m:f>
                </m:oMath>
              </m:oMathPara>
            </a14:m>
            <a:endParaRPr lang="en-US" sz="2200"/>
          </a:p>
        </p:txBody>
      </p:sp>
      <p:sp>
        <p:nvSpPr>
          <p:cNvPr id="12" name="TextBox 11"/>
          <p:cNvSpPr txBox="1"/>
          <p:nvPr/>
        </p:nvSpPr>
        <p:spPr>
          <a:xfrm>
            <a:off x="6126480" y="1828800"/>
            <a:ext cx="5486400" cy="548640"/>
          </a:xfrm>
          <a:prstGeom prst="rect">
            <a:avLst/>
          </a:prstGeom>
          <a:noFill/>
        </p:spPr>
        <p:txBody>
          <a:bodyPr wrap="square" lIns="0" rIns="0" tIns="0" bIns="0">
            <a:spAutoFit/>
          </a:bodyPr>
          <a:lstStyle/>
          <a:p>
            <a:pPr algn="l"/>
            <a:r>
              <a:rPr sz="2000" b="0" i="0">
                <a:solidFill>
                  <a:srgbClr val="0B2B4E"/>
                </a:solidFill>
                <a:latin typeface="Calibri"/>
              </a:rPr>
              <a:t>at the current input mix</a:t>
            </a:r>
          </a:p>
        </p:txBody>
      </p:sp>
      <p:sp>
        <p:nvSpPr>
          <p:cNvPr id="13" name="TextBox 12"/>
          <p:cNvSpPr txBox="1"/>
          <p:nvPr/>
        </p:nvSpPr>
        <p:spPr>
          <a:xfrm>
            <a:off x="526319" y="2606040"/>
            <a:ext cx="457200" cy="502920"/>
          </a:xfrm>
          <a:prstGeom prst="rect">
            <a:avLst/>
          </a:prstGeom>
          <a:noFill/>
        </p:spPr>
        <p:txBody>
          <a:bodyPr wrap="square" lIns="0" rIns="0" tIns="0" bIns="0" anchor="t">
            <a:spAutoFit/>
          </a:bodyPr>
          <a:lstStyle/>
          <a:p>
            <a:pPr algn="l"/>
            <a:r>
              <a:rPr sz="2200" b="1" i="0">
                <a:solidFill>
                  <a:srgbClr val="E09F3E"/>
                </a:solidFill>
                <a:latin typeface="Calibri"/>
              </a:rPr>
              <a:t>2.</a:t>
            </a:r>
          </a:p>
        </p:txBody>
      </p:sp>
      <p:sp>
        <p:nvSpPr>
          <p:cNvPr id="14" name="TextBox 13"/>
          <p:cNvSpPr txBox="1"/>
          <p:nvPr/>
        </p:nvSpPr>
        <p:spPr>
          <a:xfrm>
            <a:off x="1074959" y="2606040"/>
            <a:ext cx="10515600" cy="548640"/>
          </a:xfrm>
          <a:prstGeom prst="rect">
            <a:avLst/>
          </a:prstGeom>
          <a:noFill/>
        </p:spPr>
        <p:txBody>
          <a:bodyPr wrap="square" lIns="0" rIns="0" tIns="0" bIns="0">
            <a:spAutoFit/>
          </a:bodyPr>
          <a:lstStyle/>
          <a:p>
            <a:pPr algn="l"/>
            <a:r>
              <a:rPr sz="2000" b="0" i="0">
                <a:solidFill>
                  <a:srgbClr val="0B2B4E"/>
                </a:solidFill>
                <a:latin typeface="Calibri"/>
              </a:rPr>
              <a:t>If the two ratios are equal:  the mix is optimal — stop.</a:t>
            </a:r>
          </a:p>
        </p:txBody>
      </p:sp>
      <p:sp>
        <p:nvSpPr>
          <p:cNvPr id="15" name="TextBox 14"/>
          <p:cNvSpPr txBox="1"/>
          <p:nvPr/>
        </p:nvSpPr>
        <p:spPr>
          <a:xfrm>
            <a:off x="526319" y="3383280"/>
            <a:ext cx="457200" cy="502920"/>
          </a:xfrm>
          <a:prstGeom prst="rect">
            <a:avLst/>
          </a:prstGeom>
          <a:noFill/>
        </p:spPr>
        <p:txBody>
          <a:bodyPr wrap="square" lIns="0" rIns="0" tIns="0" bIns="0" anchor="t">
            <a:spAutoFit/>
          </a:bodyPr>
          <a:lstStyle/>
          <a:p>
            <a:pPr algn="l"/>
            <a:r>
              <a:rPr sz="2200" b="1" i="0">
                <a:solidFill>
                  <a:srgbClr val="E09F3E"/>
                </a:solidFill>
                <a:latin typeface="Calibri"/>
              </a:rPr>
              <a:t>3.</a:t>
            </a:r>
          </a:p>
        </p:txBody>
      </p:sp>
      <p:sp>
        <p:nvSpPr>
          <p:cNvPr id="16" name="TextBox 15"/>
          <p:cNvSpPr txBox="1"/>
          <p:nvPr/>
        </p:nvSpPr>
        <p:spPr>
          <a:xfrm>
            <a:off x="1074959" y="3383280"/>
            <a:ext cx="365760" cy="548640"/>
          </a:xfrm>
          <a:prstGeom prst="rect">
            <a:avLst/>
          </a:prstGeom>
          <a:noFill/>
        </p:spPr>
        <p:txBody>
          <a:bodyPr wrap="square" lIns="0" rIns="0" tIns="0" bIns="0">
            <a:spAutoFit/>
          </a:bodyPr>
          <a:lstStyle/>
          <a:p>
            <a:pPr algn="l"/>
            <a:r>
              <a:rPr sz="2000" b="0" i="0">
                <a:solidFill>
                  <a:srgbClr val="0B2B4E"/>
                </a:solidFill>
                <a:latin typeface="Calibri"/>
              </a:rPr>
              <a:t>If</a:t>
            </a:r>
          </a:p>
        </p:txBody>
      </p:sp>
      <p:sp>
        <p:nvSpPr>
          <p:cNvPr id="17" name="TextBox 16"/>
          <p:cNvSpPr txBox="1"/>
          <p:nvPr/>
        </p:nvSpPr>
        <p:spPr>
          <a:xfrm>
            <a:off x="1371600" y="3337560"/>
            <a:ext cx="137160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K</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K</m:t>
                          </m:r>
                        </m:sub>
                      </m:sSub>
                    </m:den>
                  </m:f>
                </m:oMath>
              </m:oMathPara>
            </a14:m>
            <a:endParaRPr lang="en-US" sz="2200"/>
          </a:p>
        </p:txBody>
      </p:sp>
      <p:sp>
        <p:nvSpPr>
          <p:cNvPr id="18" name="TextBox 17"/>
          <p:cNvSpPr txBox="1"/>
          <p:nvPr/>
        </p:nvSpPr>
        <p:spPr>
          <a:xfrm>
            <a:off x="2743200" y="3383280"/>
            <a:ext cx="457200" cy="548640"/>
          </a:xfrm>
          <a:prstGeom prst="rect">
            <a:avLst/>
          </a:prstGeom>
          <a:noFill/>
        </p:spPr>
        <p:txBody>
          <a:bodyPr wrap="square" lIns="0" rIns="0" tIns="0" bIns="0">
            <a:spAutoFit/>
          </a:bodyPr>
          <a:lstStyle/>
          <a:p>
            <a:pPr algn="ctr"/>
            <a:r>
              <a:rPr sz="2000" b="1" i="0">
                <a:solidFill>
                  <a:srgbClr val="0B2B4E"/>
                </a:solidFill>
                <a:latin typeface="Calibri"/>
              </a:rPr>
              <a:t> &gt; </a:t>
            </a:r>
          </a:p>
        </p:txBody>
      </p:sp>
      <p:sp>
        <p:nvSpPr>
          <p:cNvPr id="19" name="TextBox 18"/>
          <p:cNvSpPr txBox="1"/>
          <p:nvPr/>
        </p:nvSpPr>
        <p:spPr>
          <a:xfrm>
            <a:off x="3200400" y="3337560"/>
            <a:ext cx="118872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m:t>
                          </m:r>
                        </m:sub>
                      </m:sSub>
                    </m:num>
                    <m:den>
                      <m:r>
                        <a:rPr lang="en-US" b="0" i="1" sz="2200">
                          <a:latin typeface="Cambria Math"/>
                          <a:ea typeface="Cambria Math"/>
                          <a:solidFill>
                            <a:srgbClr val="0B2B4E"/>
                          </a:solidFill>
                        </a:rPr>
                        <m:t>w</m:t>
                      </m:r>
                    </m:den>
                  </m:f>
                </m:oMath>
              </m:oMathPara>
            </a14:m>
            <a:endParaRPr lang="en-US" sz="2200"/>
          </a:p>
        </p:txBody>
      </p:sp>
      <p:sp>
        <p:nvSpPr>
          <p:cNvPr id="20" name="TextBox 19"/>
          <p:cNvSpPr txBox="1"/>
          <p:nvPr/>
        </p:nvSpPr>
        <p:spPr>
          <a:xfrm>
            <a:off x="4480560" y="3383280"/>
            <a:ext cx="7315200" cy="548640"/>
          </a:xfrm>
          <a:prstGeom prst="rect">
            <a:avLst/>
          </a:prstGeom>
          <a:noFill/>
        </p:spPr>
        <p:txBody>
          <a:bodyPr wrap="square" lIns="0" rIns="0" tIns="0" bIns="0">
            <a:spAutoFit/>
          </a:bodyPr>
          <a:lstStyle/>
          <a:p>
            <a:pPr algn="l"/>
            <a:r>
              <a:rPr sz="2000" b="0" i="0">
                <a:solidFill>
                  <a:srgbClr val="0B2B4E"/>
                </a:solidFill>
                <a:latin typeface="Calibri"/>
              </a:rPr>
              <a:t>:  shift dollars toward K  (buy more capital)</a:t>
            </a:r>
          </a:p>
        </p:txBody>
      </p:sp>
      <p:sp>
        <p:nvSpPr>
          <p:cNvPr id="21" name="TextBox 20"/>
          <p:cNvSpPr txBox="1"/>
          <p:nvPr/>
        </p:nvSpPr>
        <p:spPr>
          <a:xfrm>
            <a:off x="526319" y="4160520"/>
            <a:ext cx="457200" cy="502920"/>
          </a:xfrm>
          <a:prstGeom prst="rect">
            <a:avLst/>
          </a:prstGeom>
          <a:noFill/>
        </p:spPr>
        <p:txBody>
          <a:bodyPr wrap="square" lIns="0" rIns="0" tIns="0" bIns="0" anchor="t">
            <a:spAutoFit/>
          </a:bodyPr>
          <a:lstStyle/>
          <a:p>
            <a:pPr algn="l"/>
            <a:r>
              <a:rPr sz="2200" b="1" i="0">
                <a:solidFill>
                  <a:srgbClr val="E09F3E"/>
                </a:solidFill>
                <a:latin typeface="Calibri"/>
              </a:rPr>
              <a:t>4.</a:t>
            </a:r>
          </a:p>
        </p:txBody>
      </p:sp>
      <p:sp>
        <p:nvSpPr>
          <p:cNvPr id="22" name="TextBox 21"/>
          <p:cNvSpPr txBox="1"/>
          <p:nvPr/>
        </p:nvSpPr>
        <p:spPr>
          <a:xfrm>
            <a:off x="1074959" y="4160520"/>
            <a:ext cx="365760" cy="548640"/>
          </a:xfrm>
          <a:prstGeom prst="rect">
            <a:avLst/>
          </a:prstGeom>
          <a:noFill/>
        </p:spPr>
        <p:txBody>
          <a:bodyPr wrap="square" lIns="0" rIns="0" tIns="0" bIns="0">
            <a:spAutoFit/>
          </a:bodyPr>
          <a:lstStyle/>
          <a:p>
            <a:pPr algn="l"/>
            <a:r>
              <a:rPr sz="2000" b="0" i="0">
                <a:solidFill>
                  <a:srgbClr val="0B2B4E"/>
                </a:solidFill>
                <a:latin typeface="Calibri"/>
              </a:rPr>
              <a:t>If</a:t>
            </a:r>
          </a:p>
        </p:txBody>
      </p:sp>
      <p:sp>
        <p:nvSpPr>
          <p:cNvPr id="23" name="TextBox 22"/>
          <p:cNvSpPr txBox="1"/>
          <p:nvPr/>
        </p:nvSpPr>
        <p:spPr>
          <a:xfrm>
            <a:off x="1371600" y="4114800"/>
            <a:ext cx="137160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K</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K</m:t>
                          </m:r>
                        </m:sub>
                      </m:sSub>
                    </m:den>
                  </m:f>
                </m:oMath>
              </m:oMathPara>
            </a14:m>
            <a:endParaRPr lang="en-US" sz="2200"/>
          </a:p>
        </p:txBody>
      </p:sp>
      <p:sp>
        <p:nvSpPr>
          <p:cNvPr id="24" name="TextBox 23"/>
          <p:cNvSpPr txBox="1"/>
          <p:nvPr/>
        </p:nvSpPr>
        <p:spPr>
          <a:xfrm>
            <a:off x="2743200" y="4160520"/>
            <a:ext cx="457200" cy="548640"/>
          </a:xfrm>
          <a:prstGeom prst="rect">
            <a:avLst/>
          </a:prstGeom>
          <a:noFill/>
        </p:spPr>
        <p:txBody>
          <a:bodyPr wrap="square" lIns="0" rIns="0" tIns="0" bIns="0">
            <a:spAutoFit/>
          </a:bodyPr>
          <a:lstStyle/>
          <a:p>
            <a:pPr algn="ctr"/>
            <a:r>
              <a:rPr sz="2000" b="1" i="0">
                <a:solidFill>
                  <a:srgbClr val="0B2B4E"/>
                </a:solidFill>
                <a:latin typeface="Calibri"/>
              </a:rPr>
              <a:t> &lt; </a:t>
            </a:r>
          </a:p>
        </p:txBody>
      </p:sp>
      <p:sp>
        <p:nvSpPr>
          <p:cNvPr id="25" name="TextBox 24"/>
          <p:cNvSpPr txBox="1"/>
          <p:nvPr/>
        </p:nvSpPr>
        <p:spPr>
          <a:xfrm>
            <a:off x="3200400" y="4114800"/>
            <a:ext cx="1188720" cy="77724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m:t>
                          </m:r>
                        </m:sub>
                      </m:sSub>
                    </m:num>
                    <m:den>
                      <m:r>
                        <a:rPr lang="en-US" b="0" i="1" sz="2200">
                          <a:latin typeface="Cambria Math"/>
                          <a:ea typeface="Cambria Math"/>
                          <a:solidFill>
                            <a:srgbClr val="0B2B4E"/>
                          </a:solidFill>
                        </a:rPr>
                        <m:t>w</m:t>
                      </m:r>
                    </m:den>
                  </m:f>
                </m:oMath>
              </m:oMathPara>
            </a14:m>
            <a:endParaRPr lang="en-US" sz="2200"/>
          </a:p>
        </p:txBody>
      </p:sp>
      <p:sp>
        <p:nvSpPr>
          <p:cNvPr id="26" name="TextBox 25"/>
          <p:cNvSpPr txBox="1"/>
          <p:nvPr/>
        </p:nvSpPr>
        <p:spPr>
          <a:xfrm>
            <a:off x="4480560" y="4160520"/>
            <a:ext cx="7315200" cy="548640"/>
          </a:xfrm>
          <a:prstGeom prst="rect">
            <a:avLst/>
          </a:prstGeom>
          <a:noFill/>
        </p:spPr>
        <p:txBody>
          <a:bodyPr wrap="square" lIns="0" rIns="0" tIns="0" bIns="0">
            <a:spAutoFit/>
          </a:bodyPr>
          <a:lstStyle/>
          <a:p>
            <a:pPr algn="l"/>
            <a:r>
              <a:rPr sz="2000" b="0" i="0">
                <a:solidFill>
                  <a:srgbClr val="0B2B4E"/>
                </a:solidFill>
                <a:latin typeface="Calibri"/>
              </a:rPr>
              <a:t>:  shift dollars toward L  (hire more labor)</a:t>
            </a:r>
          </a:p>
        </p:txBody>
      </p:sp>
      <p:sp>
        <p:nvSpPr>
          <p:cNvPr id="27" name="TextBox 26"/>
          <p:cNvSpPr txBox="1"/>
          <p:nvPr/>
        </p:nvSpPr>
        <p:spPr>
          <a:xfrm>
            <a:off x="526319" y="4937760"/>
            <a:ext cx="457200" cy="502920"/>
          </a:xfrm>
          <a:prstGeom prst="rect">
            <a:avLst/>
          </a:prstGeom>
          <a:noFill/>
        </p:spPr>
        <p:txBody>
          <a:bodyPr wrap="square" lIns="0" rIns="0" tIns="0" bIns="0" anchor="t">
            <a:spAutoFit/>
          </a:bodyPr>
          <a:lstStyle/>
          <a:p>
            <a:pPr algn="l"/>
            <a:r>
              <a:rPr sz="2200" b="1" i="0">
                <a:solidFill>
                  <a:srgbClr val="E09F3E"/>
                </a:solidFill>
                <a:latin typeface="Calibri"/>
              </a:rPr>
              <a:t>5.</a:t>
            </a:r>
          </a:p>
        </p:txBody>
      </p:sp>
      <p:sp>
        <p:nvSpPr>
          <p:cNvPr id="28" name="TextBox 27"/>
          <p:cNvSpPr txBox="1"/>
          <p:nvPr/>
        </p:nvSpPr>
        <p:spPr>
          <a:xfrm>
            <a:off x="1074959" y="4937760"/>
            <a:ext cx="10515600" cy="548640"/>
          </a:xfrm>
          <a:prstGeom prst="rect">
            <a:avLst/>
          </a:prstGeom>
          <a:noFill/>
        </p:spPr>
        <p:txBody>
          <a:bodyPr wrap="square" lIns="0" rIns="0" tIns="0" bIns="0">
            <a:spAutoFit/>
          </a:bodyPr>
          <a:lstStyle/>
          <a:p>
            <a:pPr algn="l"/>
            <a:r>
              <a:rPr sz="2000" b="0" i="0">
                <a:solidFill>
                  <a:srgbClr val="0B2B4E"/>
                </a:solidFill>
                <a:latin typeface="Calibri"/>
              </a:rPr>
              <a:t>Repeat until the two ratios are equal.</a:t>
            </a:r>
          </a:p>
        </p:txBody>
      </p:sp>
      <p:sp>
        <p:nvSpPr>
          <p:cNvPr id="29" name="Rectangle 28"/>
          <p:cNvSpPr/>
          <p:nvPr/>
        </p:nvSpPr>
        <p:spPr>
          <a:xfrm>
            <a:off x="3124047" y="5943600"/>
            <a:ext cx="5943600" cy="548640"/>
          </a:xfrm>
          <a:prstGeom prst="rect">
            <a:avLst/>
          </a:prstGeom>
          <a:solidFill>
            <a:srgbClr val="F4F1EA"/>
          </a:solidFill>
          <a:ln w="15875">
            <a:solidFill>
              <a:srgbClr val="0B2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Folded Corner 29"/>
          <p:cNvSpPr/>
          <p:nvPr/>
        </p:nvSpPr>
        <p:spPr>
          <a:xfrm>
            <a:off x="3306927" y="6035040"/>
            <a:ext cx="365760" cy="365760"/>
          </a:xfrm>
          <a:prstGeom prst="foldedCorner">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55567" y="5943600"/>
            <a:ext cx="5029200" cy="548640"/>
          </a:xfrm>
          <a:prstGeom prst="rect">
            <a:avLst/>
          </a:prstGeom>
          <a:noFill/>
        </p:spPr>
        <p:txBody>
          <a:bodyPr wrap="square" lIns="0" rIns="0" tIns="0" bIns="0" anchor="ctr">
            <a:spAutoFit/>
          </a:bodyPr>
          <a:lstStyle/>
          <a:p>
            <a:pPr algn="l"/>
            <a:r>
              <a:rPr sz="1200" b="1">
                <a:solidFill>
                  <a:srgbClr val="E09F3E"/>
                </a:solidFill>
                <a:latin typeface="Calibri"/>
              </a:rPr>
              <a:t>SEE TEACHING NOTE  →  </a:t>
            </a:r>
            <a:r>
              <a:rPr sz="1600" i="1" b="1">
                <a:solidFill>
                  <a:srgbClr val="0B2B4E"/>
                </a:solidFill>
                <a:latin typeface="Calibri"/>
              </a:rPr>
              <a:t>Recipe for Exams</a:t>
            </a:r>
          </a:p>
        </p:txBody>
      </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5" name="TextBox 3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p>
            <a:pPr algn="l" marL="342900" indent="-342900">
              <a:buClr>
                <a:srgbClr val="0B2B4E"/>
              </a:buClr>
              <a:buFont typeface="Calibri"/>
              <a:buChar char="▪"/>
            </a:pPr>
            <a:r>
              <a:rPr sz="2000" b="0">
                <a:solidFill>
                  <a:srgbClr val="0B2B4E"/>
                </a:solidFill>
                <a:latin typeface="Calibri"/>
              </a:rPr>
              <a:t>Rivian is building a new plant in Stanton Springs, Georgia</a:t>
            </a:r>
          </a:p>
          <a:p>
            <a:pPr algn="l" marL="342900" indent="-342900">
              <a:spcBef>
                <a:spcPts val="800"/>
              </a:spcBef>
              <a:buClr>
                <a:srgbClr val="0B2B4E"/>
              </a:buClr>
              <a:buFont typeface="Calibri"/>
              <a:buChar char="▪"/>
            </a:pPr>
            <a:r>
              <a:rPr sz="2000" b="0">
                <a:solidFill>
                  <a:srgbClr val="0B2B4E"/>
                </a:solidFill>
                <a:latin typeface="Calibri"/>
              </a:rPr>
              <a:t>They ask for your advice on the optimal mix of robots and workers</a:t>
            </a:r>
          </a:p>
          <a:p>
            <a:pPr algn="l" marL="342900" indent="-342900">
              <a:spcBef>
                <a:spcPts val="800"/>
              </a:spcBef>
              <a:buClr>
                <a:srgbClr val="0B2B4E"/>
              </a:buClr>
              <a:buFont typeface="Calibri"/>
              <a:buChar char="▪"/>
            </a:pPr>
            <a:r>
              <a:rPr sz="2000" b="0">
                <a:solidFill>
                  <a:srgbClr val="0B2B4E"/>
                </a:solidFill>
                <a:latin typeface="Calibri"/>
              </a:rPr>
              <a:t>You know:</a:t>
            </a:r>
          </a:p>
          <a:p>
            <a:pPr algn="l" marL="685800" indent="-228600">
              <a:spcBef>
                <a:spcPts val="600"/>
              </a:spcBef>
              <a:buClr>
                <a:srgbClr val="555B66"/>
              </a:buClr>
              <a:buFont typeface="Calibri"/>
              <a:buChar char="–"/>
            </a:pPr>
            <a:r>
              <a:rPr sz="1800">
                <a:solidFill>
                  <a:srgbClr val="555B66"/>
                </a:solidFill>
                <a:latin typeface="Calibri"/>
              </a:rPr>
              <a:t>Planned output:  500 vehicles per week</a:t>
            </a:r>
          </a:p>
          <a:p>
            <a:pPr algn="l" marL="685800" indent="-228600">
              <a:spcBef>
                <a:spcPts val="600"/>
              </a:spcBef>
              <a:buClr>
                <a:srgbClr val="555B66"/>
              </a:buClr>
              <a:buFont typeface="Calibri"/>
              <a:buChar char="–"/>
            </a:pPr>
            <a:r>
              <a:rPr sz="1800">
                <a:solidFill>
                  <a:srgbClr val="555B66"/>
                </a:solidFill>
                <a:latin typeface="Calibri"/>
              </a:rPr>
              <a:t>Weekly wage for suitable workers:  w = $1,200</a:t>
            </a:r>
          </a:p>
          <a:p>
            <a:pPr algn="l" marL="685800" indent="-228600">
              <a:spcBef>
                <a:spcPts val="600"/>
              </a:spcBef>
              <a:buClr>
                <a:srgbClr val="555B66"/>
              </a:buClr>
              <a:buFont typeface="Calibri"/>
              <a:buChar char="–"/>
            </a:pPr>
            <a:r>
              <a:rPr sz="1800">
                <a:solidFill>
                  <a:srgbClr val="555B66"/>
                </a:solidFill>
                <a:latin typeface="Calibri"/>
              </a:rPr>
              <a:t>Cost of one robot (per week):  p_K = $20,000</a:t>
            </a:r>
          </a:p>
          <a:p>
            <a:pPr algn="l" marL="685800" indent="-228600">
              <a:spcBef>
                <a:spcPts val="600"/>
              </a:spcBef>
              <a:buClr>
                <a:srgbClr val="555B66"/>
              </a:buClr>
              <a:buFont typeface="Calibri"/>
              <a:buChar char="–"/>
            </a:pPr>
            <a:r>
              <a:rPr sz="1800">
                <a:solidFill>
                  <a:srgbClr val="555B66"/>
                </a:solidFill>
                <a:latin typeface="Calibri"/>
              </a:rPr>
              <a:t>Current plan:  200 robots and 5,000 workers</a:t>
            </a:r>
          </a:p>
        </p:txBody>
      </p:sp>
      <p:pic>
        <p:nvPicPr>
          <p:cNvPr id="8" name="Picture 7" descr="slide31_rId3.jpg"/>
          <p:cNvPicPr>
            <a:picLocks noChangeAspect="1"/>
          </p:cNvPicPr>
          <p:nvPr/>
        </p:nvPicPr>
        <p:blipFill>
          <a:blip r:embed="rId2"/>
          <a:stretch>
            <a:fillRect/>
          </a:stretch>
        </p:blipFill>
        <p:spPr>
          <a:xfrm>
            <a:off x="7955279" y="2194560"/>
            <a:ext cx="3931920" cy="2620256"/>
          </a:xfrm>
          <a:prstGeom prst="rect">
            <a:avLst/>
          </a:prstGeom>
        </p:spPr>
      </p:pic>
      <p:sp>
        <p:nvSpPr>
          <p:cNvPr id="9" name="TextBox 8"/>
          <p:cNvSpPr txBox="1"/>
          <p:nvPr/>
        </p:nvSpPr>
        <p:spPr>
          <a:xfrm>
            <a:off x="7955279" y="5120640"/>
            <a:ext cx="3931920" cy="228600"/>
          </a:xfrm>
          <a:prstGeom prst="rect">
            <a:avLst/>
          </a:prstGeom>
          <a:noFill/>
        </p:spPr>
        <p:txBody>
          <a:bodyPr wrap="square" lIns="0" rIns="0" tIns="0" bIns="0">
            <a:spAutoFit/>
          </a:bodyPr>
          <a:lstStyle/>
          <a:p>
            <a:pPr algn="ctr"/>
            <a:r>
              <a:rPr sz="1200" b="0" i="1">
                <a:solidFill>
                  <a:srgbClr val="555B66"/>
                </a:solidFill>
                <a:latin typeface="Calibri"/>
              </a:rPr>
              <a:t>Rivian R1T  (CC BY-SA, Wikimedia)</a:t>
            </a:r>
          </a:p>
        </p:txBody>
      </p:sp>
      <p:sp>
        <p:nvSpPr>
          <p:cNvPr id="10" name="Rectangle 9"/>
          <p:cNvSpPr/>
          <p:nvPr/>
        </p:nvSpPr>
        <p:spPr>
          <a:xfrm>
            <a:off x="1295247" y="594360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Is Rivian's 200 robots / 5,000 workers plan optimal?</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2743200"/>
          </a:xfrm>
          <a:prstGeom prst="rect">
            <a:avLst/>
          </a:prstGeom>
          <a:noFill/>
        </p:spPr>
        <p:txBody>
          <a:bodyPr wrap="square" lIns="0" rIns="0" tIns="0" bIns="0">
            <a:spAutoFit/>
          </a:bodyPr>
          <a:lstStyle/>
          <a:p>
            <a:pPr algn="l" marL="342900" indent="-342900">
              <a:buClr>
                <a:srgbClr val="0B2B4E"/>
              </a:buClr>
              <a:buFont typeface="Calibri"/>
              <a:buChar char="▪"/>
            </a:pPr>
            <a:r>
              <a:rPr sz="2000" b="0">
                <a:solidFill>
                  <a:srgbClr val="0B2B4E"/>
                </a:solidFill>
                <a:latin typeface="Calibri"/>
              </a:rPr>
              <a:t>The production function at Rivian's new plant:</a:t>
            </a:r>
          </a:p>
          <a:p>
            <a:pPr algn="l" marL="342900" indent="-342900">
              <a:spcBef>
                <a:spcPts val="1000"/>
              </a:spcBef>
              <a:buClr>
                <a:srgbClr val="0B2B4E"/>
              </a:buClr>
              <a:buFont typeface="Calibri"/>
              <a:buChar char="▪"/>
            </a:pPr>
            <a:r>
              <a:rPr sz="2000" b="0">
                <a:solidFill>
                  <a:srgbClr val="0B2B4E"/>
                </a:solidFill>
                <a:latin typeface="Calibri"/>
              </a:rPr>
              <a:t>Current mix to produce 500 vehicles per week:  200 robots, 5,000 workers</a:t>
            </a:r>
          </a:p>
          <a:p>
            <a:pPr algn="l" marL="342900" indent="-342900">
              <a:spcBef>
                <a:spcPts val="1000"/>
              </a:spcBef>
              <a:buClr>
                <a:srgbClr val="0B2B4E"/>
              </a:buClr>
              <a:buFont typeface="Calibri"/>
              <a:buChar char="▪"/>
            </a:pPr>
            <a:r>
              <a:rPr sz="2000" b="0">
                <a:solidFill>
                  <a:srgbClr val="0B2B4E"/>
                </a:solidFill>
                <a:latin typeface="Calibri"/>
              </a:rPr>
              <a:t>Other input mixes are possible — which is best?</a:t>
            </a:r>
          </a:p>
        </p:txBody>
      </p:sp>
      <p:pic>
        <p:nvPicPr>
          <p:cNvPr id="8" name="Picture 7" descr="slide18_rId4.png"/>
          <p:cNvPicPr>
            <a:picLocks noChangeAspect="1"/>
          </p:cNvPicPr>
          <p:nvPr/>
        </p:nvPicPr>
        <p:blipFill>
          <a:blip r:embed="rId2"/>
          <a:stretch>
            <a:fillRect/>
          </a:stretch>
        </p:blipFill>
        <p:spPr>
          <a:xfrm>
            <a:off x="6858000" y="1737360"/>
            <a:ext cx="5029200" cy="3896619"/>
          </a:xfrm>
          <a:prstGeom prst="rect">
            <a:avLst/>
          </a:prstGeom>
        </p:spPr>
      </p:pic>
      <p:sp>
        <p:nvSpPr>
          <p:cNvPr id="9" name="Rectangle 8"/>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Compare MP per dollar across inputs at the current mix</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(Analysis)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2377440"/>
          </a:xfrm>
          <a:prstGeom prst="rect">
            <a:avLst/>
          </a:prstGeom>
          <a:noFill/>
        </p:spPr>
        <p:txBody>
          <a:bodyPr wrap="square" lIns="0" rIns="0" tIns="0" bIns="0">
            <a:spAutoFit/>
          </a:bodyPr>
          <a:lstStyle/>
          <a:p>
            <a:pPr algn="l" marL="342900" indent="-342900">
              <a:buClr>
                <a:srgbClr val="0B2B4E"/>
              </a:buClr>
              <a:buFont typeface="Calibri"/>
              <a:buChar char="▪"/>
            </a:pPr>
            <a:r>
              <a:rPr sz="2000" b="0">
                <a:solidFill>
                  <a:srgbClr val="0B2B4E"/>
                </a:solidFill>
                <a:latin typeface="Calibri"/>
              </a:rPr>
              <a:t>At the current mix:  read MP_K and MP_L from the table</a:t>
            </a:r>
          </a:p>
          <a:p>
            <a:pPr algn="l" marL="342900" indent="-342900">
              <a:spcBef>
                <a:spcPts val="1000"/>
              </a:spcBef>
              <a:buClr>
                <a:srgbClr val="0B2B4E"/>
              </a:buClr>
              <a:buFont typeface="Calibri"/>
              <a:buChar char="▪"/>
            </a:pPr>
            <a:r>
              <a:rPr sz="2000" b="0">
                <a:solidFill>
                  <a:srgbClr val="0B2B4E"/>
                </a:solidFill>
                <a:latin typeface="Calibri"/>
              </a:rPr>
              <a:t>Compute MP_K / p_K  and  MP_L / w</a:t>
            </a:r>
          </a:p>
          <a:p>
            <a:pPr algn="l" marL="342900" indent="-342900">
              <a:spcBef>
                <a:spcPts val="1000"/>
              </a:spcBef>
              <a:buClr>
                <a:srgbClr val="0B2B4E"/>
              </a:buClr>
              <a:buFont typeface="Calibri"/>
              <a:buChar char="▪"/>
            </a:pPr>
            <a:r>
              <a:rPr sz="2000" b="0">
                <a:solidFill>
                  <a:srgbClr val="0B2B4E"/>
                </a:solidFill>
                <a:latin typeface="Calibri"/>
              </a:rPr>
              <a:t>If unequal → shift toward the input with the higher ratio</a:t>
            </a:r>
          </a:p>
        </p:txBody>
      </p:sp>
      <p:pic>
        <p:nvPicPr>
          <p:cNvPr id="8" name="Picture 7" descr="slide37_rId5.png"/>
          <p:cNvPicPr>
            <a:picLocks noChangeAspect="1"/>
          </p:cNvPicPr>
          <p:nvPr/>
        </p:nvPicPr>
        <p:blipFill>
          <a:blip r:embed="rId2"/>
          <a:stretch>
            <a:fillRect/>
          </a:stretch>
        </p:blipFill>
        <p:spPr>
          <a:xfrm>
            <a:off x="6858000" y="1737360"/>
            <a:ext cx="5029200" cy="3149053"/>
          </a:xfrm>
          <a:prstGeom prst="rect">
            <a:avLst/>
          </a:prstGeom>
        </p:spPr>
      </p:pic>
      <p:sp>
        <p:nvSpPr>
          <p:cNvPr id="9" name="TextBox 8"/>
          <p:cNvSpPr txBox="1"/>
          <p:nvPr/>
        </p:nvSpPr>
        <p:spPr>
          <a:xfrm>
            <a:off x="457200" y="4480560"/>
            <a:ext cx="548640" cy="365760"/>
          </a:xfrm>
          <a:prstGeom prst="rect">
            <a:avLst/>
          </a:prstGeom>
          <a:noFill/>
        </p:spPr>
        <p:txBody>
          <a:bodyPr wrap="square" lIns="0" rIns="0" tIns="0" bIns="0">
            <a:spAutoFit/>
          </a:bodyPr>
          <a:lstStyle/>
          <a:p>
            <a:pPr algn="l"/>
            <a:r>
              <a:rPr sz="2000" b="1" i="0">
                <a:solidFill>
                  <a:srgbClr val="0B2B4E"/>
                </a:solidFill>
                <a:latin typeface="Calibri"/>
              </a:rPr>
              <a:t>If</a:t>
            </a:r>
          </a:p>
        </p:txBody>
      </p:sp>
      <p:sp>
        <p:nvSpPr>
          <p:cNvPr id="10" name="TextBox 9"/>
          <p:cNvSpPr txBox="1"/>
          <p:nvPr/>
        </p:nvSpPr>
        <p:spPr>
          <a:xfrm>
            <a:off x="1005840" y="4434840"/>
            <a:ext cx="5029200" cy="82296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K</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K</m:t>
                          </m:r>
                        </m:sub>
                      </m:sSub>
                    </m:den>
                  </m:f>
                  <m:r>
                    <m:rPr>
                      <m:sty m:val="p"/>
                    </m:rPr>
                    <a:rPr lang="en-US" b="0" i="0" sz="2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m:t>
                          </m:r>
                        </m:sub>
                      </m:sSub>
                    </m:num>
                    <m:den>
                      <m:r>
                        <a:rPr lang="en-US" b="0" i="1" sz="2200">
                          <a:latin typeface="Cambria Math"/>
                          <a:ea typeface="Cambria Math"/>
                          <a:solidFill>
                            <a:srgbClr val="0B2B4E"/>
                          </a:solidFill>
                        </a:rPr>
                        <m:t>w</m:t>
                      </m:r>
                    </m:den>
                  </m:f>
                </m:oMath>
              </m:oMathPara>
            </a14:m>
            <a:endParaRPr lang="en-US" sz="2200"/>
          </a:p>
        </p:txBody>
      </p:sp>
      <p:sp>
        <p:nvSpPr>
          <p:cNvPr id="11" name="TextBox 10"/>
          <p:cNvSpPr txBox="1"/>
          <p:nvPr/>
        </p:nvSpPr>
        <p:spPr>
          <a:xfrm>
            <a:off x="457200" y="5394960"/>
            <a:ext cx="5943600" cy="365760"/>
          </a:xfrm>
          <a:prstGeom prst="rect">
            <a:avLst/>
          </a:prstGeom>
          <a:noFill/>
        </p:spPr>
        <p:txBody>
          <a:bodyPr wrap="square" lIns="0" rIns="0" tIns="0" bIns="0">
            <a:spAutoFit/>
          </a:bodyPr>
          <a:lstStyle/>
          <a:p>
            <a:pPr algn="ctr"/>
            <a:r>
              <a:rPr sz="2000" b="1" i="0">
                <a:solidFill>
                  <a:srgbClr val="0B2B4E"/>
                </a:solidFill>
                <a:latin typeface="Calibri"/>
              </a:rPr>
              <a:t>→  shift toward robots</a:t>
            </a:r>
          </a:p>
        </p:txBody>
      </p:sp>
      <p:sp>
        <p:nvSpPr>
          <p:cNvPr id="12" name="Rectangle 11"/>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tells you which way to re-allocate</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4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0.1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0.0001 cars / $</a:t>
            </a:r>
          </a:p>
        </p:txBody>
      </p:sp>
      <p:sp>
        <p:nvSpPr>
          <p:cNvPr id="19" name="TextBox 18"/>
          <p:cNvSpPr txBox="1"/>
          <p:nvPr/>
        </p:nvSpPr>
        <p:spPr>
          <a:xfrm>
            <a:off x="2286000" y="4297680"/>
            <a:ext cx="7589520" cy="100584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oMath>
              </m:oMathPara>
            </a14:m>
            <a:endParaRPr lang="en-US" sz="3200"/>
          </a:p>
        </p:txBody>
      </p:sp>
      <p:sp>
        <p:nvSpPr>
          <p:cNvPr id="20" name="TextBox 19"/>
          <p:cNvSpPr txBox="1"/>
          <p:nvPr/>
        </p:nvSpPr>
        <p:spPr>
          <a:xfrm>
            <a:off x="251999" y="5349240"/>
            <a:ext cx="11687697" cy="365760"/>
          </a:xfrm>
          <a:prstGeom prst="rect">
            <a:avLst/>
          </a:prstGeom>
          <a:noFill/>
        </p:spPr>
        <p:txBody>
          <a:bodyPr wrap="square" lIns="0" rIns="0" tIns="0" bIns="0">
            <a:spAutoFit/>
          </a:bodyPr>
          <a:lstStyle/>
          <a:p>
            <a:pPr algn="ctr"/>
            <a:r>
              <a:rPr sz="2000" b="1" i="0">
                <a:solidFill>
                  <a:srgbClr val="0B2B4E"/>
                </a:solidFill>
                <a:latin typeface="Calibri"/>
              </a:rPr>
              <a:t>→  Rivian should use more robots, fewer workers</a:t>
            </a:r>
          </a:p>
        </p:txBody>
      </p:sp>
      <p:sp>
        <p:nvSpPr>
          <p:cNvPr id="21" name="Rectangle 20"/>
          <p:cNvSpPr/>
          <p:nvPr/>
        </p:nvSpPr>
        <p:spPr>
          <a:xfrm>
            <a:off x="1752447" y="5943600"/>
            <a:ext cx="8686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Equalize MP per $  →  reach the optimal mix</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  Robot Tax &amp; Union Wages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p_K rises  →  MP_K / p_K falls
→  shift toward more labor</a:t>
            </a:r>
          </a:p>
        </p:txBody>
      </p:sp>
      <p:sp>
        <p:nvSpPr>
          <p:cNvPr id="10" name="Rectangle 9"/>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1" name="Rectangle 10"/>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w rises  →  MP_L / w falls
→  shift toward more automation</a:t>
            </a:r>
          </a:p>
        </p:txBody>
      </p:sp>
      <p:sp>
        <p:nvSpPr>
          <p:cNvPr id="12" name="Rectangle 11"/>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When input prices change, the optimal mix shifts toward the cheaper input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Part 1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3657600"/>
          </a:xfrm>
          <a:prstGeom prst="rect">
            <a:avLst/>
          </a:prstGeom>
          <a:noFill/>
        </p:spPr>
        <p:txBody>
          <a:bodyPr wrap="square" lIns="0" rIns="0" tIns="0" bIns="0">
            <a:spAutoFit/>
          </a:bodyPr>
          <a:lstStyle/>
          <a:p>
            <a:pPr algn="l" marL="342900" indent="-342900">
              <a:buClr>
                <a:srgbClr val="0B2B4E"/>
              </a:buClr>
              <a:buFont typeface="Calibri"/>
              <a:buChar char="▪"/>
            </a:pPr>
            <a:r>
              <a:rPr sz="2200" b="0">
                <a:solidFill>
                  <a:srgbClr val="0B2B4E"/>
                </a:solidFill>
                <a:latin typeface="Calibri"/>
              </a:rPr>
              <a:t>The bang-for-the-buck rule isn't just for factories</a:t>
            </a:r>
          </a:p>
          <a:p>
            <a:pPr algn="l" marL="342900" indent="-342900">
              <a:spcBef>
                <a:spcPts val="1200"/>
              </a:spcBef>
              <a:buClr>
                <a:srgbClr val="0B2B4E"/>
              </a:buClr>
              <a:buFont typeface="Calibri"/>
              <a:buChar char="▪"/>
            </a:pPr>
            <a:r>
              <a:rPr sz="2200" b="0">
                <a:solidFill>
                  <a:srgbClr val="0B2B4E"/>
                </a:solidFill>
                <a:latin typeface="Calibri"/>
              </a:rPr>
              <a:t>You apply it every week at the grocery store</a:t>
            </a:r>
          </a:p>
          <a:p>
            <a:pPr algn="l" marL="685800" indent="-228600">
              <a:spcBef>
                <a:spcPts val="600"/>
              </a:spcBef>
              <a:buClr>
                <a:srgbClr val="555B66"/>
              </a:buClr>
              <a:buFont typeface="Calibri"/>
              <a:buChar char="–"/>
            </a:pPr>
            <a:r>
              <a:rPr sz="1800">
                <a:solidFill>
                  <a:srgbClr val="555B66"/>
                </a:solidFill>
                <a:latin typeface="Calibri"/>
              </a:rPr>
              <a:t>Spend each $ on the item that gives the most extra utility per $</a:t>
            </a:r>
          </a:p>
          <a:p>
            <a:pPr algn="l" marL="342900" indent="-342900">
              <a:spcBef>
                <a:spcPts val="1200"/>
              </a:spcBef>
              <a:buClr>
                <a:srgbClr val="0B2B4E"/>
              </a:buClr>
              <a:buFont typeface="Calibri"/>
              <a:buChar char="▪"/>
            </a:pPr>
            <a:r>
              <a:rPr sz="2200" b="0">
                <a:solidFill>
                  <a:srgbClr val="0B2B4E"/>
                </a:solidFill>
                <a:latin typeface="Calibri"/>
              </a:rPr>
              <a:t>Same logic, different decision</a:t>
            </a:r>
          </a:p>
        </p:txBody>
      </p:sp>
      <p:pic>
        <p:nvPicPr>
          <p:cNvPr id="8" name="Picture 7" descr="slide41_rId6.jpg"/>
          <p:cNvPicPr>
            <a:picLocks noChangeAspect="1"/>
          </p:cNvPicPr>
          <p:nvPr/>
        </p:nvPicPr>
        <p:blipFill>
          <a:blip r:embed="rId2"/>
          <a:stretch>
            <a:fillRect/>
          </a:stretch>
        </p:blipFill>
        <p:spPr>
          <a:xfrm>
            <a:off x="6858000" y="2011680"/>
            <a:ext cx="1992503" cy="2194560"/>
          </a:xfrm>
          <a:prstGeom prst="rect">
            <a:avLst/>
          </a:prstGeom>
        </p:spPr>
      </p:pic>
      <p:pic>
        <p:nvPicPr>
          <p:cNvPr id="9" name="Picture 8" descr="slide41_rId5.jpg"/>
          <p:cNvPicPr>
            <a:picLocks noChangeAspect="1"/>
          </p:cNvPicPr>
          <p:nvPr/>
        </p:nvPicPr>
        <p:blipFill>
          <a:blip r:embed="rId3"/>
          <a:stretch>
            <a:fillRect/>
          </a:stretch>
        </p:blipFill>
        <p:spPr>
          <a:xfrm>
            <a:off x="9509760" y="2011680"/>
            <a:ext cx="1373795" cy="2194560"/>
          </a:xfrm>
          <a:prstGeom prst="rect">
            <a:avLst/>
          </a:prstGeom>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Section Divider</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Short Run – Hiring Decisions</a:t>
            </a:r>
          </a:p>
          <a:p>
            <a:pPr algn="l" marL="457200" indent="-457200">
              <a:spcBef>
                <a:spcPts val="10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10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