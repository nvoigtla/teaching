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TC</c:v>
                </c:pt>
              </c:strCache>
            </c:strRef>
          </c:tx>
          <c:spPr>
            <a:ln w="34925">
              <a:solidFill>
                <a:srgbClr val="0B2B4E"/>
              </a:solidFill>
            </a:ln>
          </c:spPr>
          <c:marker>
            <c:symbol val="none"/>
          </c:marker>
          <c:xVal>
            <c:numRef>
              <c:f>Sheet1!$A$2:$A$42</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Sheet1!$B$2:$B$42</c:f>
              <c:numCache>
                <c:formatCode>General</c:formatCode>
                <c:ptCount val="41"/>
                <c:pt idx="0">
                  <c:v>10.0</c:v>
                </c:pt>
                <c:pt idx="1">
                  <c:v>10.775</c:v>
                </c:pt>
                <c:pt idx="2">
                  <c:v>11.6</c:v>
                </c:pt>
                <c:pt idx="3">
                  <c:v>12.475</c:v>
                </c:pt>
                <c:pt idx="4">
                  <c:v>13.4</c:v>
                </c:pt>
                <c:pt idx="5">
                  <c:v>14.375</c:v>
                </c:pt>
                <c:pt idx="6">
                  <c:v>15.4</c:v>
                </c:pt>
                <c:pt idx="7">
                  <c:v>16.475</c:v>
                </c:pt>
                <c:pt idx="8">
                  <c:v>17.6</c:v>
                </c:pt>
                <c:pt idx="9">
                  <c:v>18.775</c:v>
                </c:pt>
                <c:pt idx="10">
                  <c:v>20.0</c:v>
                </c:pt>
                <c:pt idx="11">
                  <c:v>21.275</c:v>
                </c:pt>
                <c:pt idx="12">
                  <c:v>22.6</c:v>
                </c:pt>
                <c:pt idx="13">
                  <c:v>23.975</c:v>
                </c:pt>
                <c:pt idx="14">
                  <c:v>25.4</c:v>
                </c:pt>
                <c:pt idx="15">
                  <c:v>26.875</c:v>
                </c:pt>
                <c:pt idx="16">
                  <c:v>28.4</c:v>
                </c:pt>
                <c:pt idx="17">
                  <c:v>29.975</c:v>
                </c:pt>
                <c:pt idx="18">
                  <c:v>31.6</c:v>
                </c:pt>
                <c:pt idx="19">
                  <c:v>33.275</c:v>
                </c:pt>
                <c:pt idx="20">
                  <c:v>35.0</c:v>
                </c:pt>
                <c:pt idx="21">
                  <c:v>36.775</c:v>
                </c:pt>
                <c:pt idx="22">
                  <c:v>38.6</c:v>
                </c:pt>
                <c:pt idx="23">
                  <c:v>40.475</c:v>
                </c:pt>
                <c:pt idx="24">
                  <c:v>42.4</c:v>
                </c:pt>
                <c:pt idx="25">
                  <c:v>44.375</c:v>
                </c:pt>
                <c:pt idx="26">
                  <c:v>46.4</c:v>
                </c:pt>
                <c:pt idx="27">
                  <c:v>48.475</c:v>
                </c:pt>
                <c:pt idx="28">
                  <c:v>50.6</c:v>
                </c:pt>
                <c:pt idx="29">
                  <c:v>52.775</c:v>
                </c:pt>
                <c:pt idx="30">
                  <c:v>55.0</c:v>
                </c:pt>
                <c:pt idx="31">
                  <c:v>57.275</c:v>
                </c:pt>
                <c:pt idx="32">
                  <c:v>59.6</c:v>
                </c:pt>
                <c:pt idx="33">
                  <c:v>61.975</c:v>
                </c:pt>
                <c:pt idx="34">
                  <c:v>64.4</c:v>
                </c:pt>
                <c:pt idx="35">
                  <c:v>66.875</c:v>
                </c:pt>
                <c:pt idx="36">
                  <c:v>69.4</c:v>
                </c:pt>
                <c:pt idx="37">
                  <c:v>71.975</c:v>
                </c:pt>
                <c:pt idx="38">
                  <c:v>74.6</c:v>
                </c:pt>
                <c:pt idx="39">
                  <c:v>77.275</c:v>
                </c:pt>
                <c:pt idx="40">
                  <c:v>80.0</c:v>
                </c:pt>
              </c:numCache>
            </c:numRef>
          </c:yVal>
          <c:smooth val="1"/>
        </c:ser>
        <c:ser>
          <c:idx val="1"/>
          <c:order val="1"/>
          <c:tx>
            <c:strRef>
              <c:f>Sheet1!$B$44</c:f>
              <c:strCache>
                <c:ptCount val="1"/>
                <c:pt idx="0">
                  <c:v>TC (data)</c:v>
                </c:pt>
              </c:strCache>
            </c:strRef>
          </c:tx>
          <c:marker>
            <c:symbol val="circle"/>
            <c:size val="9"/>
            <c:spPr>
              <a:solidFill>
                <a:srgbClr val="0B2B4E"/>
              </a:solidFill>
              <a:ln>
                <a:solidFill>
                  <a:srgbClr val="0B2B4E"/>
                </a:solidFill>
              </a:ln>
            </c:spPr>
          </c:marker>
          <c:xVal>
            <c:numRef>
              <c:f>Sheet1!$A$45:$A$55</c:f>
              <c:numCache>
                <c:formatCode>General</c:formatCode>
                <c:ptCount val="11"/>
                <c:pt idx="0">
                  <c:v>0</c:v>
                </c:pt>
                <c:pt idx="1">
                  <c:v>100</c:v>
                </c:pt>
                <c:pt idx="2">
                  <c:v>200</c:v>
                </c:pt>
                <c:pt idx="3">
                  <c:v>300</c:v>
                </c:pt>
                <c:pt idx="4">
                  <c:v>400</c:v>
                </c:pt>
                <c:pt idx="5">
                  <c:v>500</c:v>
                </c:pt>
                <c:pt idx="6">
                  <c:v>600</c:v>
                </c:pt>
                <c:pt idx="7">
                  <c:v>700</c:v>
                </c:pt>
                <c:pt idx="8">
                  <c:v>800</c:v>
                </c:pt>
                <c:pt idx="9">
                  <c:v>900</c:v>
                </c:pt>
                <c:pt idx="10">
                  <c:v>1000</c:v>
                </c:pt>
              </c:numCache>
            </c:numRef>
          </c:xVal>
          <c:yVal>
            <c:numRef>
              <c:f>Sheet1!$B$45:$B$55</c:f>
              <c:numCache>
                <c:formatCode>General</c:formatCode>
                <c:ptCount val="11"/>
                <c:pt idx="0">
                  <c:v>8.951858508367565</c:v>
                </c:pt>
                <c:pt idx="1">
                  <c:v>11.071234685525397</c:v>
                </c:pt>
                <c:pt idx="2">
                  <c:v>14.172702660546314</c:v>
                </c:pt>
                <c:pt idx="3">
                  <c:v>25.650720502151994</c:v>
                </c:pt>
                <c:pt idx="4">
                  <c:v>25.666261602766166</c:v>
                </c:pt>
                <c:pt idx="5">
                  <c:v>31.280633454653746</c:v>
                </c:pt>
                <c:pt idx="6">
                  <c:v>50.806136410257444</c:v>
                </c:pt>
                <c:pt idx="7">
                  <c:v>57.40997977379364</c:v>
                </c:pt>
                <c:pt idx="8">
                  <c:v>51.270695548720816</c:v>
                </c:pt>
                <c:pt idx="9">
                  <c:v>79.61693772629792</c:v>
                </c:pt>
                <c:pt idx="10">
                  <c:v>87.72005939844769</c:v>
                </c:pt>
              </c:numCache>
            </c:numRef>
          </c:yVal>
          <c:smooth val="0"/>
          <c:spPr>
            <a:ln>
              <a:noFill/>
            </a:ln>
          </c:spPr>
        </c:ser>
        <c:axId val="-2128940872"/>
        <c:axId val="-2129643912"/>
      </c:scatterChart>
      <c:valAx>
        <c:axId val="-2128940872"/>
        <c:scaling>
          <c:orientation val="minMax"/>
          <c:max val="1000.0"/>
          <c:min val="0.0"/>
        </c:scaling>
        <c:delete val="0"/>
        <c:axPos val="b"/>
        <c:title>
          <c:tx>
            <c:rich>
              <a:bodyPr/>
              <a:lstStyle/>
              <a:p>
                <a:r>
                  <a:rPr sz="16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400">
                <a:solidFill>
                  <a:srgbClr val="0B2B4E"/>
                </a:solidFill>
                <a:latin typeface="Calibri"/>
              </a:defRPr>
            </a:pPr>
          </a:p>
        </c:txPr>
        <c:crossAx val="-2129643912"/>
        <c:crosses val="autoZero"/>
        <c:crossBetween val="midCat"/>
        <c:majorUnit val="200.0"/>
      </c:valAx>
      <c:valAx>
        <c:axId val="-2129643912"/>
        <c:scaling>
          <c:orientation val="minMax"/>
          <c:max val="110.0"/>
          <c:min val="0.0"/>
        </c:scaling>
        <c:delete val="0"/>
        <c:axPos val="l"/>
        <c:majorGridlines>
          <c:spPr>
            <a:ln w="9525" cap="flat" cmpd="sng" algn="ctr">
              <a:solidFill>
                <a:srgbClr val="C8CDD3"/>
              </a:solidFill>
              <a:prstDash val="dash"/>
            </a:ln>
          </c:spPr>
        </c:majorGridlines>
        <c:title>
          <c:tx>
            <c:rich>
              <a:bodyPr/>
              <a:lstStyle/>
              <a:p>
                <a:r>
                  <a:rPr sz="1600" i="1" b="1">
                    <a:solidFill>
                      <a:srgbClr val="0B2B4E"/>
                    </a:solidFill>
                    <a:latin typeface="Calibri"/>
                  </a:rPr>
                  <a:t>TC   ($M)</a:t>
                </a:r>
              </a:p>
            </c:rich>
          </c:tx>
          <c:layout/>
          <c:overlay val="0"/>
        </c:title>
        <c:numFmt formatCode="General" sourceLinked="1"/>
        <c:majorTickMark val="out"/>
        <c:minorTickMark val="none"/>
        <c:tickLblPos val="nextTo"/>
        <c:txPr>
          <a:bodyPr/>
          <a:lstStyle/>
          <a:p>
            <a:pPr>
              <a:defRPr sz="14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20"/>
          <c:y val="0.05"/>
          <c:w val="0.18"/>
          <c:h val="0.25"/>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TC</c:v>
                </c:pt>
              </c:strCache>
            </c:strRef>
          </c:tx>
          <c:spPr>
            <a:ln w="34925">
              <a:solidFill>
                <a:srgbClr val="0B2B4E"/>
              </a:solidFill>
            </a:ln>
          </c:spPr>
          <c:marker>
            <c:symbol val="none"/>
          </c:marker>
          <c:xVal>
            <c:numRef>
              <c:f>Sheet1!$A$2:$A$42</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Sheet1!$B$2:$B$42</c:f>
              <c:numCache>
                <c:formatCode>General</c:formatCode>
                <c:ptCount val="41"/>
                <c:pt idx="0">
                  <c:v>10.0</c:v>
                </c:pt>
                <c:pt idx="1">
                  <c:v>10.775</c:v>
                </c:pt>
                <c:pt idx="2">
                  <c:v>11.6</c:v>
                </c:pt>
                <c:pt idx="3">
                  <c:v>12.475</c:v>
                </c:pt>
                <c:pt idx="4">
                  <c:v>13.4</c:v>
                </c:pt>
                <c:pt idx="5">
                  <c:v>14.375</c:v>
                </c:pt>
                <c:pt idx="6">
                  <c:v>15.4</c:v>
                </c:pt>
                <c:pt idx="7">
                  <c:v>16.475</c:v>
                </c:pt>
                <c:pt idx="8">
                  <c:v>17.6</c:v>
                </c:pt>
                <c:pt idx="9">
                  <c:v>18.775</c:v>
                </c:pt>
                <c:pt idx="10">
                  <c:v>20.0</c:v>
                </c:pt>
                <c:pt idx="11">
                  <c:v>21.275</c:v>
                </c:pt>
                <c:pt idx="12">
                  <c:v>22.6</c:v>
                </c:pt>
                <c:pt idx="13">
                  <c:v>23.975</c:v>
                </c:pt>
                <c:pt idx="14">
                  <c:v>25.4</c:v>
                </c:pt>
                <c:pt idx="15">
                  <c:v>26.875</c:v>
                </c:pt>
                <c:pt idx="16">
                  <c:v>28.4</c:v>
                </c:pt>
                <c:pt idx="17">
                  <c:v>29.975</c:v>
                </c:pt>
                <c:pt idx="18">
                  <c:v>31.6</c:v>
                </c:pt>
                <c:pt idx="19">
                  <c:v>33.275</c:v>
                </c:pt>
                <c:pt idx="20">
                  <c:v>35.0</c:v>
                </c:pt>
                <c:pt idx="21">
                  <c:v>36.775</c:v>
                </c:pt>
                <c:pt idx="22">
                  <c:v>38.6</c:v>
                </c:pt>
                <c:pt idx="23">
                  <c:v>40.475</c:v>
                </c:pt>
                <c:pt idx="24">
                  <c:v>42.4</c:v>
                </c:pt>
                <c:pt idx="25">
                  <c:v>44.375</c:v>
                </c:pt>
                <c:pt idx="26">
                  <c:v>46.4</c:v>
                </c:pt>
                <c:pt idx="27">
                  <c:v>48.475</c:v>
                </c:pt>
                <c:pt idx="28">
                  <c:v>50.6</c:v>
                </c:pt>
                <c:pt idx="29">
                  <c:v>52.775</c:v>
                </c:pt>
                <c:pt idx="30">
                  <c:v>55.0</c:v>
                </c:pt>
                <c:pt idx="31">
                  <c:v>57.275</c:v>
                </c:pt>
                <c:pt idx="32">
                  <c:v>59.6</c:v>
                </c:pt>
                <c:pt idx="33">
                  <c:v>61.975</c:v>
                </c:pt>
                <c:pt idx="34">
                  <c:v>64.4</c:v>
                </c:pt>
                <c:pt idx="35">
                  <c:v>66.875</c:v>
                </c:pt>
                <c:pt idx="36">
                  <c:v>69.4</c:v>
                </c:pt>
                <c:pt idx="37">
                  <c:v>71.975</c:v>
                </c:pt>
                <c:pt idx="38">
                  <c:v>74.6</c:v>
                </c:pt>
                <c:pt idx="39">
                  <c:v>77.275</c:v>
                </c:pt>
                <c:pt idx="40">
                  <c:v>80.0</c:v>
                </c:pt>
              </c:numCache>
            </c:numRef>
          </c:yVal>
          <c:smooth val="1"/>
        </c:ser>
        <c:ser>
          <c:idx val="1"/>
          <c:order val="1"/>
          <c:tx>
            <c:strRef>
              <c:f>Sheet1!$B$44</c:f>
              <c:strCache>
                <c:ptCount val="1"/>
                <c:pt idx="0">
                  <c:v>TFC</c:v>
                </c:pt>
              </c:strCache>
            </c:strRef>
          </c:tx>
          <c:spPr>
            <a:ln w="34925">
              <a:solidFill>
                <a:srgbClr val="E09F3E"/>
              </a:solidFill>
            </a:ln>
          </c:spPr>
          <c:marker>
            <c:symbol val="none"/>
          </c:marker>
          <c:xVal>
            <c:numRef>
              <c:f>Sheet1!$A$45:$A$85</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Sheet1!$B$45:$B$85</c:f>
              <c:numCache>
                <c:formatCode>General</c:formatCode>
                <c:ptCount val="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numCache>
            </c:numRef>
          </c:yVal>
          <c:smooth val="1"/>
        </c:ser>
        <c:ser>
          <c:idx val="2"/>
          <c:order val="2"/>
          <c:tx>
            <c:strRef>
              <c:f>Sheet1!$B$87</c:f>
              <c:strCache>
                <c:ptCount val="1"/>
                <c:pt idx="0">
                  <c:v>TVC</c:v>
                </c:pt>
              </c:strCache>
            </c:strRef>
          </c:tx>
          <c:spPr>
            <a:ln w="34925">
              <a:solidFill>
                <a:srgbClr val="C0504D"/>
              </a:solidFill>
            </a:ln>
          </c:spPr>
          <c:marker>
            <c:symbol val="none"/>
          </c:marker>
          <c:xVal>
            <c:numRef>
              <c:f>Sheet1!$A$88:$A$128</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Sheet1!$B$88:$B$128</c:f>
              <c:numCache>
                <c:formatCode>General</c:formatCode>
                <c:ptCount val="41"/>
                <c:pt idx="0">
                  <c:v>0.0</c:v>
                </c:pt>
                <c:pt idx="1">
                  <c:v>0.775</c:v>
                </c:pt>
                <c:pt idx="2">
                  <c:v>1.6</c:v>
                </c:pt>
                <c:pt idx="3">
                  <c:v>2.475</c:v>
                </c:pt>
                <c:pt idx="4">
                  <c:v>3.4</c:v>
                </c:pt>
                <c:pt idx="5">
                  <c:v>4.375</c:v>
                </c:pt>
                <c:pt idx="6">
                  <c:v>5.4</c:v>
                </c:pt>
                <c:pt idx="7">
                  <c:v>6.475</c:v>
                </c:pt>
                <c:pt idx="8">
                  <c:v>7.6</c:v>
                </c:pt>
                <c:pt idx="9">
                  <c:v>8.775</c:v>
                </c:pt>
                <c:pt idx="10">
                  <c:v>10.0</c:v>
                </c:pt>
                <c:pt idx="11">
                  <c:v>11.275</c:v>
                </c:pt>
                <c:pt idx="12">
                  <c:v>12.6</c:v>
                </c:pt>
                <c:pt idx="13">
                  <c:v>13.975</c:v>
                </c:pt>
                <c:pt idx="14">
                  <c:v>15.4</c:v>
                </c:pt>
                <c:pt idx="15">
                  <c:v>16.875</c:v>
                </c:pt>
                <c:pt idx="16">
                  <c:v>18.4</c:v>
                </c:pt>
                <c:pt idx="17">
                  <c:v>19.975</c:v>
                </c:pt>
                <c:pt idx="18">
                  <c:v>21.6</c:v>
                </c:pt>
                <c:pt idx="19">
                  <c:v>23.275</c:v>
                </c:pt>
                <c:pt idx="20">
                  <c:v>25.0</c:v>
                </c:pt>
                <c:pt idx="21">
                  <c:v>26.775</c:v>
                </c:pt>
                <c:pt idx="22">
                  <c:v>28.6</c:v>
                </c:pt>
                <c:pt idx="23">
                  <c:v>30.475</c:v>
                </c:pt>
                <c:pt idx="24">
                  <c:v>32.4</c:v>
                </c:pt>
                <c:pt idx="25">
                  <c:v>34.375</c:v>
                </c:pt>
                <c:pt idx="26">
                  <c:v>36.4</c:v>
                </c:pt>
                <c:pt idx="27">
                  <c:v>38.475</c:v>
                </c:pt>
                <c:pt idx="28">
                  <c:v>40.6</c:v>
                </c:pt>
                <c:pt idx="29">
                  <c:v>42.775</c:v>
                </c:pt>
                <c:pt idx="30">
                  <c:v>45.0</c:v>
                </c:pt>
                <c:pt idx="31">
                  <c:v>47.275</c:v>
                </c:pt>
                <c:pt idx="32">
                  <c:v>49.6</c:v>
                </c:pt>
                <c:pt idx="33">
                  <c:v>51.975</c:v>
                </c:pt>
                <c:pt idx="34">
                  <c:v>54.4</c:v>
                </c:pt>
                <c:pt idx="35">
                  <c:v>56.875</c:v>
                </c:pt>
                <c:pt idx="36">
                  <c:v>59.4</c:v>
                </c:pt>
                <c:pt idx="37">
                  <c:v>61.975</c:v>
                </c:pt>
                <c:pt idx="38">
                  <c:v>64.6</c:v>
                </c:pt>
                <c:pt idx="39">
                  <c:v>67.275</c:v>
                </c:pt>
                <c:pt idx="40">
                  <c:v>70.0</c:v>
                </c:pt>
              </c:numCache>
            </c:numRef>
          </c:yVal>
          <c:smooth val="1"/>
        </c:ser>
        <c:axId val="-2128940872"/>
        <c:axId val="-2129643912"/>
      </c:scatterChart>
      <c:valAx>
        <c:axId val="-2128940872"/>
        <c:scaling>
          <c:orientation val="minMax"/>
          <c:max val="1000.0"/>
          <c:min val="0.0"/>
        </c:scaling>
        <c:delete val="0"/>
        <c:axPos val="b"/>
        <c:title>
          <c:tx>
            <c:rich>
              <a:bodyPr/>
              <a:lstStyle/>
              <a:p>
                <a:r>
                  <a:rPr sz="18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9643912"/>
        <c:crosses val="autoZero"/>
        <c:crossBetween val="midCat"/>
        <c:majorUnit val="200.0"/>
      </c:valAx>
      <c:valAx>
        <c:axId val="-2129643912"/>
        <c:scaling>
          <c:orientation val="minMax"/>
          <c:max val="90.0"/>
          <c:min val="0.0"/>
        </c:scaling>
        <c:delete val="0"/>
        <c:axPos val="l"/>
        <c:majorGridlines>
          <c:spPr>
            <a:ln w="9525" cap="flat" cmpd="sng" algn="ctr">
              <a:solidFill>
                <a:srgbClr val="C8CDD3"/>
              </a:solidFill>
              <a:prstDash val="dash"/>
            </a:ln>
          </c:spPr>
        </c:majorGridlines>
        <c:title>
          <c:tx>
            <c:rich>
              <a:bodyPr/>
              <a:lstStyle/>
              <a:p>
                <a:r>
                  <a:rPr sz="1800" i="1" b="1">
                    <a:solidFill>
                      <a:srgbClr val="0B2B4E"/>
                    </a:solidFill>
                    <a:latin typeface="Calibri"/>
                  </a:rPr>
                  <a:t>Cost   ($M)</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193"/>
          <c:y val="0.149"/>
          <c:w val="0.15"/>
          <c:h val="0.221"/>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872569057646513"/>
          <c:y val="0.045672603842114391"/>
          <c:w val="0.79662349869506943"/>
          <c:h val="0.74657618660696368"/>
        </c:manualLayout>
      </c:layout>
      <c:scatterChart>
        <c:scatterStyle val="lineMarker"/>
        <c:varyColors val="0"/>
        <c:ser>
          <c:idx val="0"/>
          <c:order val="0"/>
          <c:tx>
            <c:strRef>
              <c:f>Sheet1!$B$1</c:f>
              <c:strCache>
                <c:ptCount val="1"/>
                <c:pt idx="0">
                  <c:v>ATC</c:v>
                </c:pt>
              </c:strCache>
            </c:strRef>
          </c:tx>
          <c:spPr>
            <a:ln w="34925">
              <a:solidFill>
                <a:srgbClr val="2E75B6"/>
              </a:solidFill>
            </a:ln>
          </c:spPr>
          <c:marker>
            <c:symbol val="none"/>
          </c:marker>
          <c:xVal>
            <c:numRef>
              <c:f>Sheet1!$A$2:$A$38</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Sheet1!$B$2:$B$38</c:f>
              <c:numCache>
                <c:formatCode>General</c:formatCode>
                <c:ptCount val="37"/>
                <c:pt idx="0">
                  <c:v>134.0</c:v>
                </c:pt>
                <c:pt idx="1">
                  <c:v>115.0</c:v>
                </c:pt>
                <c:pt idx="2">
                  <c:v>102.66666666666667</c:v>
                </c:pt>
                <c:pt idx="3">
                  <c:v>94.14285714285714</c:v>
                </c:pt>
                <c:pt idx="4">
                  <c:v>88.0</c:v>
                </c:pt>
                <c:pt idx="5">
                  <c:v>83.44444444444444</c:v>
                </c:pt>
                <c:pt idx="6">
                  <c:v>80.0</c:v>
                </c:pt>
                <c:pt idx="7">
                  <c:v>77.36363636363636</c:v>
                </c:pt>
                <c:pt idx="8">
                  <c:v>75.33333333333334</c:v>
                </c:pt>
                <c:pt idx="9">
                  <c:v>73.76923076923076</c:v>
                </c:pt>
                <c:pt idx="10">
                  <c:v>72.57142857142858</c:v>
                </c:pt>
                <c:pt idx="11">
                  <c:v>71.66666666666667</c:v>
                </c:pt>
                <c:pt idx="12">
                  <c:v>71.0</c:v>
                </c:pt>
                <c:pt idx="13">
                  <c:v>70.52941176470587</c:v>
                </c:pt>
                <c:pt idx="14">
                  <c:v>70.22222222222221</c:v>
                </c:pt>
                <c:pt idx="15">
                  <c:v>70.05263157894737</c:v>
                </c:pt>
                <c:pt idx="16">
                  <c:v>70.0</c:v>
                </c:pt>
                <c:pt idx="17">
                  <c:v>70.04761904761905</c:v>
                </c:pt>
                <c:pt idx="18">
                  <c:v>70.18181818181817</c:v>
                </c:pt>
                <c:pt idx="19">
                  <c:v>70.39130434782608</c:v>
                </c:pt>
                <c:pt idx="20">
                  <c:v>70.66666666666667</c:v>
                </c:pt>
                <c:pt idx="21">
                  <c:v>71.0</c:v>
                </c:pt>
                <c:pt idx="22">
                  <c:v>71.38461538461537</c:v>
                </c:pt>
                <c:pt idx="23">
                  <c:v>71.81481481481482</c:v>
                </c:pt>
                <c:pt idx="24">
                  <c:v>72.28571428571429</c:v>
                </c:pt>
                <c:pt idx="25">
                  <c:v>72.79310344827586</c:v>
                </c:pt>
                <c:pt idx="26">
                  <c:v>73.33333333333334</c:v>
                </c:pt>
                <c:pt idx="27">
                  <c:v>73.9032258064516</c:v>
                </c:pt>
                <c:pt idx="28">
                  <c:v>74.5</c:v>
                </c:pt>
                <c:pt idx="29">
                  <c:v>75.12121212121212</c:v>
                </c:pt>
                <c:pt idx="30">
                  <c:v>75.76470588235294</c:v>
                </c:pt>
                <c:pt idx="31">
                  <c:v>76.42857142857142</c:v>
                </c:pt>
                <c:pt idx="32">
                  <c:v>77.11111111111111</c:v>
                </c:pt>
                <c:pt idx="33">
                  <c:v>77.8108108108108</c:v>
                </c:pt>
                <c:pt idx="34">
                  <c:v>78.52631578947368</c:v>
                </c:pt>
                <c:pt idx="35">
                  <c:v>79.25641025641025</c:v>
                </c:pt>
                <c:pt idx="36">
                  <c:v>80.0</c:v>
                </c:pt>
              </c:numCache>
            </c:numRef>
          </c:yVal>
          <c:smooth val="1"/>
        </c:ser>
        <c:ser>
          <c:idx val="1"/>
          <c:order val="1"/>
          <c:tx>
            <c:strRef>
              <c:f>Sheet1!$B$40</c:f>
              <c:strCache>
                <c:ptCount val="1"/>
                <c:pt idx="0">
                  <c:v>AFC</c:v>
                </c:pt>
              </c:strCache>
            </c:strRef>
          </c:tx>
          <c:spPr>
            <a:ln w="34925">
              <a:solidFill>
                <a:srgbClr val="ED7D31"/>
              </a:solidFill>
            </a:ln>
          </c:spPr>
          <c:marker>
            <c:symbol val="none"/>
          </c:marker>
          <c:xVal>
            <c:numRef>
              <c:f>Sheet1!$A$41:$A$77</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Sheet1!$B$41:$B$77</c:f>
              <c:numCache>
                <c:formatCode>General</c:formatCode>
                <c:ptCount val="37"/>
                <c:pt idx="0">
                  <c:v>100.0</c:v>
                </c:pt>
                <c:pt idx="1">
                  <c:v>80.0</c:v>
                </c:pt>
                <c:pt idx="2">
                  <c:v>66.66666666666667</c:v>
                </c:pt>
                <c:pt idx="3">
                  <c:v>57.142857142857146</c:v>
                </c:pt>
                <c:pt idx="4">
                  <c:v>50.0</c:v>
                </c:pt>
                <c:pt idx="5">
                  <c:v>44.44444444444444</c:v>
                </c:pt>
                <c:pt idx="6">
                  <c:v>40.0</c:v>
                </c:pt>
                <c:pt idx="7">
                  <c:v>36.36363636363636</c:v>
                </c:pt>
                <c:pt idx="8">
                  <c:v>33.333333333333336</c:v>
                </c:pt>
                <c:pt idx="9">
                  <c:v>30.76923076923077</c:v>
                </c:pt>
                <c:pt idx="10">
                  <c:v>28.571428571428573</c:v>
                </c:pt>
                <c:pt idx="11">
                  <c:v>26.666666666666668</c:v>
                </c:pt>
                <c:pt idx="12">
                  <c:v>25.0</c:v>
                </c:pt>
                <c:pt idx="13">
                  <c:v>23.52941176470588</c:v>
                </c:pt>
                <c:pt idx="14">
                  <c:v>22.22222222222222</c:v>
                </c:pt>
                <c:pt idx="15">
                  <c:v>21.05263157894737</c:v>
                </c:pt>
                <c:pt idx="16">
                  <c:v>20.0</c:v>
                </c:pt>
                <c:pt idx="17">
                  <c:v>19.047619047619047</c:v>
                </c:pt>
                <c:pt idx="18">
                  <c:v>18.18181818181818</c:v>
                </c:pt>
                <c:pt idx="19">
                  <c:v>17.39130434782609</c:v>
                </c:pt>
                <c:pt idx="20">
                  <c:v>16.666666666666668</c:v>
                </c:pt>
                <c:pt idx="21">
                  <c:v>16.0</c:v>
                </c:pt>
                <c:pt idx="22">
                  <c:v>15.384615384615385</c:v>
                </c:pt>
                <c:pt idx="23">
                  <c:v>14.814814814814815</c:v>
                </c:pt>
                <c:pt idx="24">
                  <c:v>14.285714285714286</c:v>
                </c:pt>
                <c:pt idx="25">
                  <c:v>13.793103448275863</c:v>
                </c:pt>
                <c:pt idx="26">
                  <c:v>13.333333333333334</c:v>
                </c:pt>
                <c:pt idx="27">
                  <c:v>12.903225806451614</c:v>
                </c:pt>
                <c:pt idx="28">
                  <c:v>12.5</c:v>
                </c:pt>
                <c:pt idx="29">
                  <c:v>12.121212121212121</c:v>
                </c:pt>
                <c:pt idx="30">
                  <c:v>11.76470588235294</c:v>
                </c:pt>
                <c:pt idx="31">
                  <c:v>11.428571428571429</c:v>
                </c:pt>
                <c:pt idx="32">
                  <c:v>11.11111111111111</c:v>
                </c:pt>
                <c:pt idx="33">
                  <c:v>10.81081081081081</c:v>
                </c:pt>
                <c:pt idx="34">
                  <c:v>10.526315789473685</c:v>
                </c:pt>
                <c:pt idx="35">
                  <c:v>10.256410256410255</c:v>
                </c:pt>
                <c:pt idx="36">
                  <c:v>10.0</c:v>
                </c:pt>
              </c:numCache>
            </c:numRef>
          </c:yVal>
          <c:smooth val="1"/>
        </c:ser>
        <c:ser>
          <c:idx val="2"/>
          <c:order val="2"/>
          <c:tx>
            <c:strRef>
              <c:f>Sheet1!$B$79</c:f>
              <c:strCache>
                <c:ptCount val="1"/>
                <c:pt idx="0">
                  <c:v>AVC</c:v>
                </c:pt>
              </c:strCache>
            </c:strRef>
          </c:tx>
          <c:spPr>
            <a:ln w="34925">
              <a:solidFill>
                <a:srgbClr val="70AD47"/>
              </a:solidFill>
            </a:ln>
          </c:spPr>
          <c:marker>
            <c:symbol val="none"/>
          </c:marker>
          <c:xVal>
            <c:numRef>
              <c:f>Sheet1!$A$80:$A$116</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Sheet1!$B$80:$B$116</c:f>
              <c:numCache>
                <c:formatCode>General</c:formatCode>
                <c:ptCount val="37"/>
                <c:pt idx="0">
                  <c:v>34.0</c:v>
                </c:pt>
                <c:pt idx="1">
                  <c:v>35.0</c:v>
                </c:pt>
                <c:pt idx="2">
                  <c:v>36.0</c:v>
                </c:pt>
                <c:pt idx="3">
                  <c:v>37.0</c:v>
                </c:pt>
                <c:pt idx="4">
                  <c:v>38.0</c:v>
                </c:pt>
                <c:pt idx="5">
                  <c:v>39.0</c:v>
                </c:pt>
                <c:pt idx="6">
                  <c:v>40.0</c:v>
                </c:pt>
                <c:pt idx="7">
                  <c:v>41.0</c:v>
                </c:pt>
                <c:pt idx="8">
                  <c:v>42.0</c:v>
                </c:pt>
                <c:pt idx="9">
                  <c:v>43.0</c:v>
                </c:pt>
                <c:pt idx="10">
                  <c:v>44.0</c:v>
                </c:pt>
                <c:pt idx="11">
                  <c:v>45.0</c:v>
                </c:pt>
                <c:pt idx="12">
                  <c:v>46.0</c:v>
                </c:pt>
                <c:pt idx="13">
                  <c:v>47.0</c:v>
                </c:pt>
                <c:pt idx="14">
                  <c:v>48.0</c:v>
                </c:pt>
                <c:pt idx="15">
                  <c:v>49.0</c:v>
                </c:pt>
                <c:pt idx="16">
                  <c:v>50.0</c:v>
                </c:pt>
                <c:pt idx="17">
                  <c:v>51.0</c:v>
                </c:pt>
                <c:pt idx="18">
                  <c:v>52.0</c:v>
                </c:pt>
                <c:pt idx="19">
                  <c:v>53.0</c:v>
                </c:pt>
                <c:pt idx="20">
                  <c:v>54.0</c:v>
                </c:pt>
                <c:pt idx="21">
                  <c:v>55.0</c:v>
                </c:pt>
                <c:pt idx="22">
                  <c:v>56.0</c:v>
                </c:pt>
                <c:pt idx="23">
                  <c:v>57.0</c:v>
                </c:pt>
                <c:pt idx="24">
                  <c:v>58.0</c:v>
                </c:pt>
                <c:pt idx="25">
                  <c:v>59.0</c:v>
                </c:pt>
                <c:pt idx="26">
                  <c:v>60.0</c:v>
                </c:pt>
                <c:pt idx="27">
                  <c:v>61.0</c:v>
                </c:pt>
                <c:pt idx="28">
                  <c:v>62.0</c:v>
                </c:pt>
                <c:pt idx="29">
                  <c:v>63.0</c:v>
                </c:pt>
                <c:pt idx="30">
                  <c:v>64.0</c:v>
                </c:pt>
                <c:pt idx="31">
                  <c:v>65.0</c:v>
                </c:pt>
                <c:pt idx="32">
                  <c:v>66.0</c:v>
                </c:pt>
                <c:pt idx="33">
                  <c:v>67.0</c:v>
                </c:pt>
                <c:pt idx="34">
                  <c:v>68.0</c:v>
                </c:pt>
                <c:pt idx="35">
                  <c:v>69.0</c:v>
                </c:pt>
                <c:pt idx="36">
                  <c:v>70.0</c:v>
                </c:pt>
              </c:numCache>
            </c:numRef>
          </c:yVal>
          <c:smooth val="1"/>
        </c:ser>
        <c:ser>
          <c:idx val="3"/>
          <c:order val="3"/>
          <c:tx>
            <c:strRef>
              <c:f>Sheet1!$B$118</c:f>
              <c:strCache>
                <c:ptCount val="1"/>
                <c:pt idx="0">
                  <c:v>MC</c:v>
                </c:pt>
              </c:strCache>
            </c:strRef>
          </c:tx>
          <c:spPr>
            <a:ln w="34925">
              <a:solidFill>
                <a:srgbClr val="C00000"/>
              </a:solidFill>
            </a:ln>
          </c:spPr>
          <c:marker>
            <c:symbol val="none"/>
          </c:marker>
          <c:xVal>
            <c:numRef>
              <c:f>Sheet1!$A$119:$A$155</c:f>
              <c:numCache>
                <c:formatCode>General</c:formatCode>
                <c:ptCount val="37"/>
                <c:pt idx="0">
                  <c:v>100</c:v>
                </c:pt>
                <c:pt idx="1">
                  <c:v>125</c:v>
                </c:pt>
                <c:pt idx="2">
                  <c:v>150</c:v>
                </c:pt>
                <c:pt idx="3">
                  <c:v>175</c:v>
                </c:pt>
                <c:pt idx="4">
                  <c:v>200</c:v>
                </c:pt>
                <c:pt idx="5">
                  <c:v>225</c:v>
                </c:pt>
                <c:pt idx="6">
                  <c:v>250</c:v>
                </c:pt>
                <c:pt idx="7">
                  <c:v>275</c:v>
                </c:pt>
                <c:pt idx="8">
                  <c:v>300</c:v>
                </c:pt>
                <c:pt idx="9">
                  <c:v>325</c:v>
                </c:pt>
                <c:pt idx="10">
                  <c:v>350</c:v>
                </c:pt>
                <c:pt idx="11">
                  <c:v>375</c:v>
                </c:pt>
                <c:pt idx="12">
                  <c:v>400</c:v>
                </c:pt>
                <c:pt idx="13">
                  <c:v>425</c:v>
                </c:pt>
                <c:pt idx="14">
                  <c:v>450</c:v>
                </c:pt>
                <c:pt idx="15">
                  <c:v>475</c:v>
                </c:pt>
                <c:pt idx="16">
                  <c:v>500</c:v>
                </c:pt>
                <c:pt idx="17">
                  <c:v>525</c:v>
                </c:pt>
                <c:pt idx="18">
                  <c:v>550</c:v>
                </c:pt>
                <c:pt idx="19">
                  <c:v>575</c:v>
                </c:pt>
                <c:pt idx="20">
                  <c:v>600</c:v>
                </c:pt>
                <c:pt idx="21">
                  <c:v>625</c:v>
                </c:pt>
                <c:pt idx="22">
                  <c:v>650</c:v>
                </c:pt>
                <c:pt idx="23">
                  <c:v>675</c:v>
                </c:pt>
                <c:pt idx="24">
                  <c:v>700</c:v>
                </c:pt>
                <c:pt idx="25">
                  <c:v>725</c:v>
                </c:pt>
                <c:pt idx="26">
                  <c:v>750</c:v>
                </c:pt>
                <c:pt idx="27">
                  <c:v>775</c:v>
                </c:pt>
                <c:pt idx="28">
                  <c:v>800</c:v>
                </c:pt>
                <c:pt idx="29">
                  <c:v>825</c:v>
                </c:pt>
                <c:pt idx="30">
                  <c:v>850</c:v>
                </c:pt>
                <c:pt idx="31">
                  <c:v>875</c:v>
                </c:pt>
                <c:pt idx="32">
                  <c:v>900</c:v>
                </c:pt>
                <c:pt idx="33">
                  <c:v>925</c:v>
                </c:pt>
                <c:pt idx="34">
                  <c:v>950</c:v>
                </c:pt>
                <c:pt idx="35">
                  <c:v>975</c:v>
                </c:pt>
                <c:pt idx="36">
                  <c:v>1000</c:v>
                </c:pt>
              </c:numCache>
            </c:numRef>
          </c:xVal>
          <c:yVal>
            <c:numRef>
              <c:f>Sheet1!$B$119:$B$155</c:f>
              <c:numCache>
                <c:formatCode>General</c:formatCode>
                <c:ptCount val="37"/>
                <c:pt idx="0">
                  <c:v>38.0</c:v>
                </c:pt>
                <c:pt idx="1">
                  <c:v>40.0</c:v>
                </c:pt>
                <c:pt idx="2">
                  <c:v>42.0</c:v>
                </c:pt>
                <c:pt idx="3">
                  <c:v>44.0</c:v>
                </c:pt>
                <c:pt idx="4">
                  <c:v>46.0</c:v>
                </c:pt>
                <c:pt idx="5">
                  <c:v>48.0</c:v>
                </c:pt>
                <c:pt idx="6">
                  <c:v>50.0</c:v>
                </c:pt>
                <c:pt idx="7">
                  <c:v>52.0</c:v>
                </c:pt>
                <c:pt idx="8">
                  <c:v>54.0</c:v>
                </c:pt>
                <c:pt idx="9">
                  <c:v>56.0</c:v>
                </c:pt>
                <c:pt idx="10">
                  <c:v>58.0</c:v>
                </c:pt>
                <c:pt idx="11">
                  <c:v>60.0</c:v>
                </c:pt>
                <c:pt idx="12">
                  <c:v>62.0</c:v>
                </c:pt>
                <c:pt idx="13">
                  <c:v>64.0</c:v>
                </c:pt>
                <c:pt idx="14">
                  <c:v>66.0</c:v>
                </c:pt>
                <c:pt idx="15">
                  <c:v>68.0</c:v>
                </c:pt>
                <c:pt idx="16">
                  <c:v>70.0</c:v>
                </c:pt>
                <c:pt idx="17">
                  <c:v>72.0</c:v>
                </c:pt>
                <c:pt idx="18">
                  <c:v>74.0</c:v>
                </c:pt>
                <c:pt idx="19">
                  <c:v>76.0</c:v>
                </c:pt>
                <c:pt idx="20">
                  <c:v>78.0</c:v>
                </c:pt>
                <c:pt idx="21">
                  <c:v>80.0</c:v>
                </c:pt>
                <c:pt idx="22">
                  <c:v>82.0</c:v>
                </c:pt>
                <c:pt idx="23">
                  <c:v>84.0</c:v>
                </c:pt>
                <c:pt idx="24">
                  <c:v>86.0</c:v>
                </c:pt>
                <c:pt idx="25">
                  <c:v>88.0</c:v>
                </c:pt>
                <c:pt idx="26">
                  <c:v>90.0</c:v>
                </c:pt>
                <c:pt idx="27">
                  <c:v>92.0</c:v>
                </c:pt>
                <c:pt idx="28">
                  <c:v>94.0</c:v>
                </c:pt>
                <c:pt idx="29">
                  <c:v>96.0</c:v>
                </c:pt>
                <c:pt idx="30">
                  <c:v>98.0</c:v>
                </c:pt>
                <c:pt idx="31">
                  <c:v>100.0</c:v>
                </c:pt>
                <c:pt idx="32">
                  <c:v>102.0</c:v>
                </c:pt>
                <c:pt idx="33">
                  <c:v>104.0</c:v>
                </c:pt>
                <c:pt idx="34">
                  <c:v>106.0</c:v>
                </c:pt>
                <c:pt idx="35">
                  <c:v>108.0</c:v>
                </c:pt>
                <c:pt idx="36">
                  <c:v>110.0</c:v>
                </c:pt>
              </c:numCache>
            </c:numRef>
          </c:yVal>
          <c:smooth val="1"/>
        </c:ser>
        <c:axId val="-2128940872"/>
        <c:axId val="-2129643912"/>
      </c:scatterChart>
      <c:valAx>
        <c:axId val="-2128940872"/>
        <c:scaling>
          <c:orientation val="minMax"/>
          <c:max val="1000.0"/>
          <c:min val="0.0"/>
        </c:scaling>
        <c:delete val="0"/>
        <c:axPos val="b"/>
        <c:title>
          <c:tx>
            <c:rich>
              <a:bodyPr/>
              <a:lstStyle/>
              <a:p>
                <a:r>
                  <a:rPr sz="18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9643912"/>
        <c:crosses val="autoZero"/>
        <c:crossBetween val="midCat"/>
        <c:majorUnit val="100.0"/>
      </c:valAx>
      <c:valAx>
        <c:axId val="-2129643912"/>
        <c:scaling>
          <c:orientation val="minMax"/>
          <c:max val="110.0"/>
          <c:min val="0.0"/>
        </c:scaling>
        <c:delete val="0"/>
        <c:axPos val="l"/>
        <c:majorGridlines>
          <c:spPr>
            <a:ln w="9525" cap="flat" cmpd="sng" algn="ctr">
              <a:solidFill>
                <a:srgbClr val="C8CDD3"/>
              </a:solidFill>
              <a:prstDash val="dash"/>
            </a:ln>
          </c:spPr>
        </c:majorGridlines>
        <c:title>
          <c:tx>
            <c:rich>
              <a:bodyPr/>
              <a:lstStyle/>
              <a:p>
                <a:r>
                  <a:rPr sz="1800" i="1" b="1">
                    <a:solidFill>
                      <a:srgbClr val="0B2B4E"/>
                    </a:solidFill>
                    <a:latin typeface="Calibri"/>
                  </a:rPr>
                  <a:t>Per-unit cost   ($K)</a:t>
                </a:r>
              </a:p>
            </c:rich>
          </c:tx>
          <c:layout/>
          <c:overlay val="0"/>
        </c:title>
        <c:numFmt formatCode="General" sourceLinked="1"/>
        <c:majorTickMark val="out"/>
        <c:minorTickMark val="none"/>
        <c:tickLblPos val="nextTo"/>
        <c:txPr>
          <a:bodyPr/>
          <a:lstStyle/>
          <a:p>
            <a:pPr>
              <a:defRPr sz="16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776"/>
          <c:y val="0.392"/>
          <c:w val="0.14"/>
          <c:h val="0.30"/>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 you apply it every week at the grocery store. P&amp;G offers two sizes of Tide Ultra Oxi: small at 29 loads for $17, large at 81 loads for $35. Compute loads-per-dollar: 29/17 ≈ 1.7 for the small, 81/35 ≈ 2.3 for the large. The large size delivers more cleaning per dollar, so the bang-for-the-buck rule says to buy the large bottle. Same logic as the factory's input choice, just a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Waterworld logic, in a current strategic context. Meta has poured roughly $70B – the Wall Street Journal puts the figure north of $77B – into Reality Labs since 2020. Quest headsets and Horizon Worlds never crossed into mass adoption, and the AR/VR hardware-and-software stack still is not commercially viable. Wall Street kept asking when it pays off, and forward-looking returns kept getting pushed out. In 2026 Meta made the call to shift incremental spending toward AI – higher MPL on the next dollar, regardless of how many billions had already been spent on Reality Labs. Classic sunk-cost discipline, 2020s edition.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Apple killed Project Titan in 2024 after roughly a decade and $10B spent on the car. The slide makes two cost points at once. First, the sunk costs are sunk – $10B already spent is not a reason to keep going. Second, the real reason to stop was opportunity cost: the capital and the ~2,000 engineers had a higher-return use in Apple Intelligence and the AI stack. Reallocation, not refusal-to-cut-losses, is the executive lesson. Opportunity cost is the next-best alternative use of the same dollars and engineers.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Ross Stores' annual report, used here to ground the cost concepts in something students will recognise from a 10-K. Walk through the three items under 'costs and expenses': cost of goods sold is essentially variable (≈ TVC); selling, general and administrative is a mix of fixed and variable (sales commissions vary with revenue, the CEO's salary does not); interest expense is fixed (the cost of servicing long-term debt). Everything labelled costs and expenses together is the firm's TC. The red overlays make the mapping visible without rewriting the line items.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Real-world setup for the marginal-cost concept. Burn60 (a boutique fitness studio) offers package pricing: 10 classes for $10 each ($100 total) or 20 classes for $8 each ($160 total). The question to put to the room: starting from the 10-pack, what's the marginal cost of the 11th class? Hint: it's not $8. Going from the 10-pack to the 20-pack costs an additional $60 for ten more classes — so the marginal cost of each of those next ten is $6, not the $8 sticker price. Average cost (per-unit price you see advertised) and marginal cost (what one more actually costs) diverge whenever there is volume-tier pricing. We poll the room on the next slide before walking through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each additional Burn60 session when buying the 20-pack instead of the 10-pack.  The common trap: students see the $8 per-class rate on the 20-pack and answer $8.  But going from the 10-pack ($100 total) to the 20-pack ($160 total) costs $60 more for 10 more sessions — so the MC of each additional session is $6, not $8.  The first 10 sessions get re-priced from $10 to $8 as well; that re-pricing is what pulls the marginal cost below the headline 20-pack rate.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$6 per additional session — not the $8 sticker rate on the 20-pack. Total cost goes from $100 (10 classes at $10) to $160 (20 classes at $8), so the next ten cost $60 incremental → $6 per session. The intuition: the 20-pack also re-prices the first ten sessions from $10 down to $8, and that $2 × 10 = $20 of savings on the inframarginal sessions is what pulls the marginal rate below the $8 sticker. Pedagogical point: volume pricing makes the marginal unit cheaper than the headline per-unit rate — the mirror image of the SaaS-tier example where the marginal user is more expensive than the headline rate.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Option 1: a $100k loan at 5% costs $5,000 in interest per year.  Option 2: a $110k loan at 6% costs $6,600 in interest per year.  The marginal interest rate on the extra $10k is the EXTRA interest divided by the EXTRA principal — ($6,600 − $5,000) / $10,000 = 16%.  The headline rate of 6% is the AVERAGE; the marginal rate you actually pay for the extra dollars is 16%.  This is the common executive trap when comparing loan terms — the rate advertised on the larger loan understates what the marginal dollar truly costs.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Weekly total cost as a function of output Q for the Georgia plant.  Fixed cost of $10M, a linear variable component of $30,000 per vehicle, plus a small quadratic term ($40·Q²) that captures the rising marginal cost as production scales up.  The scattered dots are observed weekly cost data at different Q levels; the smooth navy curve is the fitted TC function — the same TC = 10,000,000 + 30,000·Q + 40·Q² used in the original deck.  Note where the curve crosses Q = 0: that y-intercept is the fixed cost (~$10M).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Same Rivian cost function used on the previous slide: TC = 10,000,000 + 30,000·Q + 40·Q², so TFC = $10M (the flat gold line at 10) and TVC = 30,000·Q + 40·Q² (the rising red curve).  Their vertical sum is the navy TC curve.  The visual lets students see how the cost structure shifts as output grows: at low Q, the fixed cost dominates; at high Q, the quadratic TVC term takes over and TC tracks TVC.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cost function expressed per vehicle.  From TC = 10,000,000 + 30,000·Q + 40·Q²: ATC = 10M/Q + 30,000 + 40·Q gives a U-shape (fixed-cost dilution dominates at low Q, the quadratic term takes over at high Q); AVC = 30,000 + 40·Q is linear-rising; MC = 30,000 + 80·Q is linear-rising with twice the slope of AVC.  Diagnostic to highlight: MC crosses ATC exactly at the ATC minimum (here Q ≈ 500, value ≈ $70K).  The classic U-shape result from any intro micro textbook.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Problem-set preview.  Students leave the lecture with four cost buckets to estimate (fixed costs, material inputs, labor, distribution) and a retail-price anchor of ~$1,200, then research the actual numbers on their own — AI is fine as a research aid.  Two deliverables: AVC (sum of the three per-unit buckets — material inputs, labor, distribution) AND ATC (AVC plus AFC).  Crucial framing for AFC: fixed costs (R&amp;D, marketing, allocated stores, other) are PER MODEL, allocated over that model's TOTAL LIFETIME sales — not annual sales of all iPhones.  For a current iPhone model, lifetime worldwide sales are roughly 200M units, so AFC = TFC_model / 200M.  The pedagogical payoff is the comparison of BOTH AVC and ATC to retail price — students will see that even ATC sits well below the sticker.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kind of answer an MBA student would hand in for the problem set previewed last slide.  Four buckets, order-of-magnitude estimates that basic research lands on:  (1) Fixed costs FOR THIS MODEL OVER ITS LIFETIME ~$20B — R&amp;D allocated to this generation ~$10B, marketing ~$5B, other corporate overhead ~$5B.  (2) Material inputs ~$430 per iPhone — A-series chip ~$80 plus display ~$80, memory ~$50, battery ~$10, multi-lens cameras ~$70, and the long tail of modem, antennas, housing, packaging ~$140.  (3) Labor (assembly + final test) ~$30 per iPhone.  (4) Distribution (Apple Retail stores, logistics, shipping, channel) ~$20 per iPhone — stores treated as a distribution-channel cost amortised per unit.  Sum the three per-unit buckets → AVC ≈ $480 / iPhone.  Critical framing for AFC: divide the model's lifetime TFC by its TOTAL lifetime worldwide sales (~200M units) — NOT by annual sales.  AFC ≈ $20B / 200M = $100 / iPhone.  ATC = AVC + AFC ≈ $580 / iPhone.  Retail ~$1,200 minus ATC ~$580 = ~$620 gross profit margin per iPhone (~52%), consistent with Apple's reported iPhone gross margin in the mid-40% to low-50% range.  Pedagogical payoff: even after loading in fixed costs, ATC is roughly half the sticker price — the rest is profit.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4837176" y="3995928"/>
            <a:ext cx="2514600" cy="109728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oMath>
              </m:oMathPara>
            </a14:m>
            <a:endParaRPr lang="en-US" sz="3200"/>
          </a:p>
        </p:txBody>
      </p:sp>
      <p:sp>
        <p:nvSpPr>
          <p:cNvPr id="20" name="TextBox 19"/>
          <p:cNvSpPr txBox="1"/>
          <p:nvPr/>
        </p:nvSpPr>
        <p:spPr>
          <a:xfrm>
            <a:off x="3694176" y="4251960"/>
            <a:ext cx="950976" cy="493776"/>
          </a:xfrm>
          <a:prstGeom prst="rect">
            <a:avLst/>
          </a:prstGeom>
          <a:noFill/>
        </p:spPr>
        <p:txBody>
          <a:bodyPr wrap="square" lIns="0" rIns="0" tIns="0" bIns="0">
            <a:spAutoFit/>
          </a:bodyPr>
          <a:lstStyle/>
          <a:p>
            <a:pPr algn="ctr"/>
            <a:r>
              <a:rPr sz="3200" b="1" i="0">
                <a:solidFill>
                  <a:srgbClr val="0B2B4E"/>
                </a:solidFill>
                <a:latin typeface="Calibri"/>
              </a:rPr>
              <a:t>Thus:</a:t>
            </a:r>
          </a:p>
        </p:txBody>
      </p:sp>
      <p:sp>
        <p:nvSpPr>
          <p:cNvPr id="21" name="TextBox 20"/>
          <p:cNvSpPr txBox="1"/>
          <p:nvPr/>
        </p:nvSpPr>
        <p:spPr>
          <a:xfrm>
            <a:off x="402336" y="5504688"/>
            <a:ext cx="11686032"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1984248" y="3657600"/>
            <a:ext cx="2743200" cy="85039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7982712" y="3794760"/>
            <a:ext cx="2331720" cy="786384"/>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ounded Rectangle 15"/>
          <p:cNvSpPr/>
          <p:nvPr/>
        </p:nvSpPr>
        <p:spPr>
          <a:xfrm>
            <a:off x="609447" y="5833872"/>
            <a:ext cx="109728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When input prices change, the optimal mix shifts toward the input that has become cheaper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17320"/>
            <a:ext cx="10972800" cy="10058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P&amp;G offers two sizes for its flagship detergent</a:t>
            </a:r>
          </a:p>
          <a:p>
            <a:pPr algn="l" lvl="1"/>
            <a:r>
              <a:rPr>
                <a:latin typeface="Calibri"/>
              </a:rPr>
              <a:t>Small Tide Ultra Oxi (29 loads) for $17</a:t>
            </a:r>
          </a:p>
          <a:p>
            <a:pPr algn="l" lvl="1"/>
            <a:r>
              <a:rPr>
                <a:latin typeface="Calibri"/>
              </a:rPr>
              <a:t>Large Tide Ultra Oxi (81 loads) for $35</a:t>
            </a:r>
          </a:p>
        </p:txBody>
      </p:sp>
      <p:sp>
        <p:nvSpPr>
          <p:cNvPr id="8" name="TextBox 7"/>
          <p:cNvSpPr txBox="1"/>
          <p:nvPr/>
        </p:nvSpPr>
        <p:spPr>
          <a:xfrm>
            <a:off x="1572768" y="2798978"/>
            <a:ext cx="2862072" cy="785469"/>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29</m:t>
                      </m:r>
                    </m:num>
                    <m:den>
                      <m:r>
                        <m:rPr>
                          <m:sty m:val="p"/>
                        </m:rPr>
                        <a:rPr lang="en-US" b="0" i="0" sz="2200">
                          <a:latin typeface="Cambria Math"/>
                          <a:solidFill>
                            <a:srgbClr val="0B2B4E"/>
                          </a:solidFill>
                        </a:rPr>
                        <m:t xml:space="preserve">17</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1.7</m:t>
                  </m:r>
                </m:oMath>
              </m:oMathPara>
            </a14:m>
            <a:endParaRPr lang="en-US" sz="2200"/>
          </a:p>
        </p:txBody>
      </p:sp>
      <p:sp>
        <p:nvSpPr>
          <p:cNvPr id="9" name="TextBox 8"/>
          <p:cNvSpPr txBox="1"/>
          <p:nvPr/>
        </p:nvSpPr>
        <p:spPr>
          <a:xfrm>
            <a:off x="7388352" y="2747772"/>
            <a:ext cx="3075127"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81</m:t>
                      </m:r>
                    </m:num>
                    <m:den>
                      <m:r>
                        <m:rPr>
                          <m:sty m:val="p"/>
                        </m:rPr>
                        <a:rPr lang="en-US" b="0" i="0" sz="2200">
                          <a:latin typeface="Cambria Math"/>
                          <a:solidFill>
                            <a:srgbClr val="0B2B4E"/>
                          </a:solidFill>
                        </a:rPr>
                        <m:t xml:space="preserve">35</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2.3</m:t>
                  </m:r>
                </m:oMath>
              </m:oMathPara>
            </a14:m>
            <a:endParaRPr lang="en-US" sz="2200"/>
          </a:p>
        </p:txBody>
      </p:sp>
      <p:sp>
        <p:nvSpPr>
          <p:cNvPr id="10" name="TextBox 9"/>
          <p:cNvSpPr txBox="1"/>
          <p:nvPr/>
        </p:nvSpPr>
        <p:spPr>
          <a:xfrm>
            <a:off x="4370832" y="4069080"/>
            <a:ext cx="3017520"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&lt; </m:t>
                  </m:r>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oMath>
              </m:oMathPara>
            </a14:m>
            <a:endParaRPr lang="en-US" sz="2200"/>
          </a:p>
        </p:txBody>
      </p:sp>
      <p:pic>
        <p:nvPicPr>
          <p:cNvPr id="11" name="Picture 10" descr="slide41_rId5.jpg"/>
          <p:cNvPicPr>
            <a:picLocks noChangeAspect="1"/>
          </p:cNvPicPr>
          <p:nvPr/>
        </p:nvPicPr>
        <p:blipFill>
          <a:blip r:embed="rId2"/>
          <a:stretch>
            <a:fillRect/>
          </a:stretch>
        </p:blipFill>
        <p:spPr>
          <a:xfrm>
            <a:off x="2459736" y="3808476"/>
            <a:ext cx="1087587" cy="1737360"/>
          </a:xfrm>
          <a:prstGeom prst="rect">
            <a:avLst/>
          </a:prstGeom>
          <a:effectLst>
            <a:outerShdw blurRad="50800" dist="38100" dir="2700000" algn="tl" rotWithShape="0">
              <a:srgbClr val="000000">
                <a:alpha val="45000"/>
              </a:srgbClr>
            </a:outerShdw>
          </a:effectLst>
        </p:spPr>
      </p:pic>
      <p:pic>
        <p:nvPicPr>
          <p:cNvPr id="12" name="Picture 11" descr="slide41_rId6.jpg"/>
          <p:cNvPicPr>
            <a:picLocks noChangeAspect="1"/>
          </p:cNvPicPr>
          <p:nvPr/>
        </p:nvPicPr>
        <p:blipFill>
          <a:blip r:embed="rId3"/>
          <a:stretch>
            <a:fillRect/>
          </a:stretch>
        </p:blipFill>
        <p:spPr>
          <a:xfrm>
            <a:off x="7946136" y="3744468"/>
            <a:ext cx="1793253" cy="1975104"/>
          </a:xfrm>
          <a:prstGeom prst="rect">
            <a:avLst/>
          </a:prstGeom>
          <a:effectLst>
            <a:outerShdw blurRad="50800" dist="38100" dir="2700000" algn="tl" rotWithShape="0">
              <a:srgbClr val="000000">
                <a:alpha val="45000"/>
              </a:srgbClr>
            </a:outerShdw>
          </a:effectLst>
        </p:spPr>
      </p:pic>
      <p:sp>
        <p:nvSpPr>
          <p:cNvPr id="13" name="Rounded Rectangle 12"/>
          <p:cNvSpPr/>
          <p:nvPr/>
        </p:nvSpPr>
        <p:spPr>
          <a:xfrm>
            <a:off x="1981047" y="5943600"/>
            <a:ext cx="8229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Bang-for-the-buck:  a universal decision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2E7D32"/>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8" name="Rectangle 7"/>
          <p:cNvSpPr/>
          <p:nvPr/>
        </p:nvSpPr>
        <p:spPr>
          <a:xfrm>
            <a:off x="540867" y="2514600"/>
            <a:ext cx="3611880" cy="1371600"/>
          </a:xfrm>
          <a:prstGeom prst="rect">
            <a:avLst/>
          </a:prstGeom>
          <a:solidFill>
            <a:srgbClr val="FFFFFF"/>
          </a:solidFill>
          <a:ln w="19050">
            <a:solidFill>
              <a:srgbClr val="2E7D32"/>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a:p>
            <a:pPr algn="ctr">
              <a:spcBef>
                <a:spcPts val="1200"/>
              </a:spcBef>
            </a:pPr>
            <a:r>
              <a:rPr sz="1800" b="0">
                <a:solidFill>
                  <a:srgbClr val="0B2B4E"/>
                </a:solidFill>
                <a:latin typeface="Calibri"/>
              </a:rPr>
              <a:t>→  Always consider!</a:t>
            </a:r>
          </a:p>
        </p:txBody>
      </p:sp>
      <p:sp>
        <p:nvSpPr>
          <p:cNvPr id="9" name="Rounded Rectangle 8"/>
          <p:cNvSpPr/>
          <p:nvPr/>
        </p:nvSpPr>
        <p:spPr>
          <a:xfrm>
            <a:off x="54086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Buy raw materials</a:t>
            </a:r>
          </a:p>
          <a:p>
            <a:pPr algn="l"/>
            <a:r>
              <a:rPr sz="1400" b="0">
                <a:solidFill>
                  <a:srgbClr val="0B2B4E"/>
                </a:solidFill>
                <a:latin typeface="Calibri"/>
              </a:rPr>
              <a:t>•  Hire workers</a:t>
            </a:r>
          </a:p>
          <a:p>
            <a:pPr algn="l"/>
            <a:r>
              <a:rPr sz="1400" b="0">
                <a:solidFill>
                  <a:srgbClr val="0B2B4E"/>
                </a:solidFill>
                <a:latin typeface="Calibri"/>
              </a:rPr>
              <a:t>•  Shipping &amp; packaging</a:t>
            </a:r>
          </a:p>
        </p:txBody>
      </p:sp>
      <p:sp>
        <p:nvSpPr>
          <p:cNvPr id="10" name="Rectangle 9"/>
          <p:cNvSpPr/>
          <p:nvPr/>
        </p:nvSpPr>
        <p:spPr>
          <a:xfrm>
            <a:off x="4289907" y="1874519"/>
            <a:ext cx="3611880" cy="640080"/>
          </a:xfrm>
          <a:prstGeom prst="rect">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11" name="Rectangle 10"/>
          <p:cNvSpPr/>
          <p:nvPr/>
        </p:nvSpPr>
        <p:spPr>
          <a:xfrm>
            <a:off x="4289907" y="2514600"/>
            <a:ext cx="3611880" cy="1371600"/>
          </a:xfrm>
          <a:prstGeom prst="rect">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a:p>
            <a:pPr algn="ctr">
              <a:spcBef>
                <a:spcPts val="1200"/>
              </a:spcBef>
            </a:pPr>
            <a:r>
              <a:rPr sz="1800" b="0">
                <a:solidFill>
                  <a:srgbClr val="0B2B4E"/>
                </a:solidFill>
                <a:latin typeface="Calibri"/>
              </a:rPr>
              <a:t>→  Consider for long-run decisions</a:t>
            </a:r>
          </a:p>
          <a:p>
            <a:pPr algn="ctr"/>
            <a:r>
              <a:rPr sz="1800" b="0">
                <a:solidFill>
                  <a:srgbClr val="0B2B4E"/>
                </a:solidFill>
                <a:latin typeface="Calibri"/>
              </a:rPr>
              <a:t>(entry, exit, capacity)</a:t>
            </a:r>
          </a:p>
        </p:txBody>
      </p:sp>
      <p:sp>
        <p:nvSpPr>
          <p:cNvPr id="12" name="Rounded Rectangle 11"/>
          <p:cNvSpPr/>
          <p:nvPr/>
        </p:nvSpPr>
        <p:spPr>
          <a:xfrm>
            <a:off x="428990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Rent / lease payments</a:t>
            </a:r>
          </a:p>
          <a:p>
            <a:pPr algn="l"/>
            <a:r>
              <a:rPr sz="1400" b="0">
                <a:solidFill>
                  <a:srgbClr val="0B2B4E"/>
                </a:solidFill>
                <a:latin typeface="Calibri"/>
              </a:rPr>
              <a:t>•  Insurance &amp; property tax</a:t>
            </a:r>
          </a:p>
          <a:p>
            <a:pPr algn="l"/>
            <a:r>
              <a:rPr sz="1400" b="0">
                <a:solidFill>
                  <a:srgbClr val="0B2B4E"/>
                </a:solidFill>
                <a:latin typeface="Calibri"/>
              </a:rPr>
              <a:t>•  R&amp;D investments (for future innovation)</a:t>
            </a:r>
          </a:p>
        </p:txBody>
      </p:sp>
      <p:sp>
        <p:nvSpPr>
          <p:cNvPr id="13" name="Rectangle 12"/>
          <p:cNvSpPr/>
          <p:nvPr/>
        </p:nvSpPr>
        <p:spPr>
          <a:xfrm>
            <a:off x="8038947" y="1874519"/>
            <a:ext cx="3611880" cy="640080"/>
          </a:xfrm>
          <a:prstGeom prst="rect">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Sunk Costs</a:t>
            </a:r>
          </a:p>
        </p:txBody>
      </p:sp>
      <p:sp>
        <p:nvSpPr>
          <p:cNvPr id="14" name="Rectangle 13"/>
          <p:cNvSpPr/>
          <p:nvPr/>
        </p:nvSpPr>
        <p:spPr>
          <a:xfrm>
            <a:off x="8038947" y="2514600"/>
            <a:ext cx="3611880" cy="1371600"/>
          </a:xfrm>
          <a:prstGeom prst="rect">
            <a:avLst/>
          </a:prstGeom>
          <a:solidFill>
            <a:srgbClr val="FFFFFF"/>
          </a:solidFill>
          <a:ln w="19050">
            <a:solidFill>
              <a:srgbClr val="8B1A1A"/>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a:t>
            </a:r>
          </a:p>
          <a:p>
            <a:pPr algn="ctr">
              <a:spcAft>
                <a:spcPts val="1200"/>
              </a:spcAft>
            </a:pPr>
            <a:r>
              <a:rPr sz="1800" b="0">
                <a:solidFill>
                  <a:srgbClr val="0B2B4E"/>
                </a:solidFill>
                <a:latin typeface="Calibri"/>
              </a:rPr>
              <a:t>cannot be recovered
→  Ignore!</a:t>
            </a:r>
          </a:p>
        </p:txBody>
      </p:sp>
      <p:sp>
        <p:nvSpPr>
          <p:cNvPr id="15" name="Rounded Rectangle 14"/>
          <p:cNvSpPr/>
          <p:nvPr/>
        </p:nvSpPr>
        <p:spPr>
          <a:xfrm>
            <a:off x="803894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Past R&amp;D</a:t>
            </a:r>
          </a:p>
          <a:p>
            <a:pPr algn="l"/>
            <a:r>
              <a:rPr sz="1400" b="0">
                <a:solidFill>
                  <a:srgbClr val="0B2B4E"/>
                </a:solidFill>
                <a:latin typeface="Calibri"/>
              </a:rPr>
              <a:t>•  Past advertising</a:t>
            </a:r>
          </a:p>
          <a:p>
            <a:pPr algn="l"/>
            <a:r>
              <a:rPr sz="1400" b="0">
                <a:solidFill>
                  <a:srgbClr val="0B2B4E"/>
                </a:solidFill>
                <a:latin typeface="Calibri"/>
              </a:rPr>
              <a:t>•  Non-refundable deposits</a:t>
            </a:r>
          </a:p>
        </p:txBody>
      </p:sp>
      <p:sp>
        <p:nvSpPr>
          <p:cNvPr id="16" name="Rounded Rectangle 15"/>
          <p:cNvSpPr/>
          <p:nvPr/>
        </p:nvSpPr>
        <p:spPr>
          <a:xfrm>
            <a:off x="8038947" y="5405247"/>
            <a:ext cx="3611880" cy="747521"/>
          </a:xfrm>
          <a:prstGeom prst="roundRect">
            <a:avLst>
              <a:gd name="adj" fmla="val 30000"/>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Sunk costs should not affect managerial decisions</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Your own car</a:t>
            </a:r>
          </a:p>
          <a:p>
            <a:pPr algn="ctr"/>
            <a:r>
              <a:rPr sz="2000" b="1">
                <a:solidFill>
                  <a:srgbClr val="0B2B4E"/>
                </a:solidFill>
                <a:latin typeface="Calibri"/>
              </a:rPr>
              <a:t>
→  you are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Company car</a:t>
            </a:r>
          </a:p>
          <a:p>
            <a:pPr algn="ctr"/>
            <a:r>
              <a:rPr sz="2000" b="1">
                <a:solidFill>
                  <a:srgbClr val="0B2B4E"/>
                </a:solidFill>
                <a:latin typeface="Calibri"/>
              </a:rPr>
              <a:t>
(full cost incl. charge paid by your company)</a:t>
            </a:r>
          </a:p>
        </p:txBody>
      </p:sp>
      <p:sp>
        <p:nvSpPr>
          <p:cNvPr id="10" name="Rounded Rectangle 9"/>
          <p:cNvSpPr/>
          <p:nvPr/>
        </p:nvSpPr>
        <p:spPr>
          <a:xfrm>
            <a:off x="792327" y="3657600"/>
            <a:ext cx="5029200" cy="1371600"/>
          </a:xfrm>
          <a:prstGeom prst="roundRect">
            <a:avLst>
              <a:gd name="adj" fmla="val 4000"/>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3749039"/>
            <a:ext cx="5029200" cy="365760"/>
          </a:xfrm>
          <a:prstGeom prst="rect">
            <a:avLst/>
          </a:prstGeom>
          <a:noFill/>
        </p:spPr>
        <p:txBody>
          <a:bodyPr wrap="square" lIns="0" rIns="0" tIns="0" bIns="0">
            <a:spAutoFit/>
          </a:bodyPr>
          <a:lstStyle/>
          <a:p>
            <a:pPr algn="ctr"/>
            <a:r>
              <a:rPr sz="1800" b="0" i="1">
                <a:solidFill>
                  <a:srgbClr val="555B66"/>
                </a:solidFill>
                <a:latin typeface="Calibri"/>
              </a:rPr>
              <a:t>Costs associated with your car  (per mile driven):</a:t>
            </a:r>
          </a:p>
        </p:txBody>
      </p:sp>
      <p:sp>
        <p:nvSpPr>
          <p:cNvPr id="12" name="Rectangle 11"/>
          <p:cNvSpPr/>
          <p:nvPr/>
        </p:nvSpPr>
        <p:spPr>
          <a:xfrm>
            <a:off x="97520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3" name="Rectangle 12"/>
          <p:cNvSpPr/>
          <p:nvPr/>
        </p:nvSpPr>
        <p:spPr>
          <a:xfrm>
            <a:off x="335264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4" name="Rectangle 13"/>
          <p:cNvSpPr/>
          <p:nvPr/>
        </p:nvSpPr>
        <p:spPr>
          <a:xfrm>
            <a:off x="97520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5" name="Rectangle 14"/>
          <p:cNvSpPr/>
          <p:nvPr/>
        </p:nvSpPr>
        <p:spPr>
          <a:xfrm>
            <a:off x="335264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6" name="TextBox 15"/>
          <p:cNvSpPr txBox="1"/>
          <p:nvPr/>
        </p:nvSpPr>
        <p:spPr>
          <a:xfrm>
            <a:off x="251999" y="5317236"/>
            <a:ext cx="11687697" cy="411480"/>
          </a:xfrm>
          <a:prstGeom prst="rect">
            <a:avLst/>
          </a:prstGeom>
          <a:noFill/>
        </p:spPr>
        <p:txBody>
          <a:bodyPr wrap="square" lIns="0" rIns="0" tIns="0" bIns="0">
            <a:spAutoFit/>
          </a:bodyPr>
          <a:lstStyle/>
          <a:p>
            <a:pPr algn="ctr"/>
            <a:r>
              <a:rPr sz="2200" b="1" i="0">
                <a:solidFill>
                  <a:srgbClr val="0B2B4E"/>
                </a:solidFill>
                <a:latin typeface="Calibri"/>
              </a:rPr>
              <a:t>⇒  Should you use your own car or the company car?</a:t>
            </a:r>
          </a:p>
        </p:txBody>
      </p:sp>
      <p:sp>
        <p:nvSpPr>
          <p:cNvPr id="17" name="Rectangle 16"/>
          <p:cNvSpPr/>
          <p:nvPr/>
        </p:nvSpPr>
        <p:spPr>
          <a:xfrm>
            <a:off x="7733080"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1448"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Lose Money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20186" y="1420977"/>
            <a:ext cx="6094476" cy="523036"/>
          </a:xfrm>
          <a:prstGeom prst="rect">
            <a:avLst/>
          </a:prstGeom>
          <a:noFill/>
        </p:spPr>
        <p:txBody>
          <a:bodyPr wrap="square" lIns="0" rIns="0" tIns="0" bIns="0">
            <a:spAutoFit/>
          </a:bodyPr>
          <a:lstStyle/>
          <a:p>
            <a:pPr algn="ctr"/>
            <a:r>
              <a:rPr sz="2800" b="1" i="0">
                <a:solidFill>
                  <a:srgbClr val="0B2B4E"/>
                </a:solidFill>
                <a:latin typeface="Calibri"/>
              </a:rPr>
              <a:t>Waterworld (1995)</a:t>
            </a:r>
          </a:p>
        </p:txBody>
      </p:sp>
      <p:pic>
        <p:nvPicPr>
          <p:cNvPr id="8" name="Picture 7" descr="slide45_rId3.png"/>
          <p:cNvPicPr>
            <a:picLocks noChangeAspect="1"/>
          </p:cNvPicPr>
          <p:nvPr/>
        </p:nvPicPr>
        <p:blipFill>
          <a:blip r:embed="rId2"/>
          <a:stretch>
            <a:fillRect/>
          </a:stretch>
        </p:blipFill>
        <p:spPr>
          <a:xfrm>
            <a:off x="2423160" y="1938528"/>
            <a:ext cx="7885478" cy="4434840"/>
          </a:xfrm>
          <a:prstGeom prst="rect">
            <a:avLst/>
          </a:prstGeom>
          <a:effectLst>
            <a:outerShdw blurRad="50800" dist="38100" dir="2700000" algn="tl" rotWithShape="0">
              <a:srgbClr val="000000">
                <a:alpha val="45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Sunk Costs and Decisions over Time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0887" y="1434693"/>
            <a:ext cx="3657600" cy="45720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0">
                <a:solidFill>
                  <a:srgbClr val="0B2B4E"/>
                </a:solidFill>
                <a:latin typeface="Calibri"/>
              </a:rPr>
              <a:t/>
            </a:r>
          </a:p>
        </p:txBody>
      </p:sp>
      <p:sp>
        <p:nvSpPr>
          <p:cNvPr id="8" name="Rectangle 7"/>
          <p:cNvSpPr/>
          <p:nvPr/>
        </p:nvSpPr>
        <p:spPr>
          <a:xfrm>
            <a:off x="700887" y="193761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Revenues  ($M)</a:t>
            </a:r>
          </a:p>
        </p:txBody>
      </p:sp>
      <p:sp>
        <p:nvSpPr>
          <p:cNvPr id="9" name="Rectangle 8"/>
          <p:cNvSpPr/>
          <p:nvPr/>
        </p:nvSpPr>
        <p:spPr>
          <a:xfrm>
            <a:off x="700887" y="257769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Sunk Cost  ($M)</a:t>
            </a:r>
          </a:p>
        </p:txBody>
      </p:sp>
      <p:sp>
        <p:nvSpPr>
          <p:cNvPr id="10" name="Rectangle 9"/>
          <p:cNvSpPr/>
          <p:nvPr/>
        </p:nvSpPr>
        <p:spPr>
          <a:xfrm>
            <a:off x="700887" y="321777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Additional Cost  ($M)</a:t>
            </a:r>
          </a:p>
        </p:txBody>
      </p:sp>
      <p:sp>
        <p:nvSpPr>
          <p:cNvPr id="11" name="Rectangle 10"/>
          <p:cNvSpPr/>
          <p:nvPr/>
        </p:nvSpPr>
        <p:spPr>
          <a:xfrm>
            <a:off x="700887" y="385785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Overall Cost (incl. sunk)  ($M)</a:t>
            </a:r>
          </a:p>
        </p:txBody>
      </p:sp>
      <p:sp>
        <p:nvSpPr>
          <p:cNvPr id="12" name="Rectangle 11"/>
          <p:cNvSpPr/>
          <p:nvPr/>
        </p:nvSpPr>
        <p:spPr>
          <a:xfrm>
            <a:off x="700887" y="449793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Profit  ($M)</a:t>
            </a:r>
          </a:p>
        </p:txBody>
      </p:sp>
      <p:sp>
        <p:nvSpPr>
          <p:cNvPr id="13" name="Rectangle 12"/>
          <p:cNvSpPr/>
          <p:nvPr/>
        </p:nvSpPr>
        <p:spPr>
          <a:xfrm>
            <a:off x="700887" y="5138013"/>
            <a:ext cx="3657600" cy="50292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2000" b="1">
                <a:solidFill>
                  <a:srgbClr val="0B2B4E"/>
                </a:solidFill>
                <a:latin typeface="Calibri"/>
              </a:rPr>
              <a:t>Decision</a:t>
            </a:r>
          </a:p>
        </p:txBody>
      </p:sp>
      <p:sp>
        <p:nvSpPr>
          <p:cNvPr id="14" name="Rectangle 13"/>
          <p:cNvSpPr/>
          <p:nvPr/>
        </p:nvSpPr>
        <p:spPr>
          <a:xfrm>
            <a:off x="444992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15" name="Rectangle 14"/>
          <p:cNvSpPr/>
          <p:nvPr/>
        </p:nvSpPr>
        <p:spPr>
          <a:xfrm>
            <a:off x="444992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6" name="Rectangle 15"/>
          <p:cNvSpPr/>
          <p:nvPr/>
        </p:nvSpPr>
        <p:spPr>
          <a:xfrm>
            <a:off x="444992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17" name="Rectangle 16"/>
          <p:cNvSpPr/>
          <p:nvPr/>
        </p:nvSpPr>
        <p:spPr>
          <a:xfrm>
            <a:off x="444992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    (&lt;150)</a:t>
            </a:r>
          </a:p>
        </p:txBody>
      </p:sp>
      <p:sp>
        <p:nvSpPr>
          <p:cNvPr id="18" name="Rectangle 17"/>
          <p:cNvSpPr/>
          <p:nvPr/>
        </p:nvSpPr>
        <p:spPr>
          <a:xfrm>
            <a:off x="444992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9" name="Rectangle 18"/>
          <p:cNvSpPr/>
          <p:nvPr/>
        </p:nvSpPr>
        <p:spPr>
          <a:xfrm>
            <a:off x="444992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20" name="Rectangle 19"/>
          <p:cNvSpPr/>
          <p:nvPr/>
        </p:nvSpPr>
        <p:spPr>
          <a:xfrm>
            <a:off x="444992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1" name="Rectangle 20"/>
          <p:cNvSpPr/>
          <p:nvPr/>
        </p:nvSpPr>
        <p:spPr>
          <a:xfrm>
            <a:off x="682736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22" name="Rectangle 21"/>
          <p:cNvSpPr/>
          <p:nvPr/>
        </p:nvSpPr>
        <p:spPr>
          <a:xfrm>
            <a:off x="682736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3" name="Rectangle 22"/>
          <p:cNvSpPr/>
          <p:nvPr/>
        </p:nvSpPr>
        <p:spPr>
          <a:xfrm>
            <a:off x="682736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24" name="Rectangle 23"/>
          <p:cNvSpPr/>
          <p:nvPr/>
        </p:nvSpPr>
        <p:spPr>
          <a:xfrm>
            <a:off x="682736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    (&lt;150)</a:t>
            </a:r>
          </a:p>
        </p:txBody>
      </p:sp>
      <p:sp>
        <p:nvSpPr>
          <p:cNvPr id="25" name="Rectangle 24"/>
          <p:cNvSpPr/>
          <p:nvPr/>
        </p:nvSpPr>
        <p:spPr>
          <a:xfrm>
            <a:off x="682736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6" name="Rectangle 25"/>
          <p:cNvSpPr/>
          <p:nvPr/>
        </p:nvSpPr>
        <p:spPr>
          <a:xfrm>
            <a:off x="682736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7" name="Rectangle 26"/>
          <p:cNvSpPr/>
          <p:nvPr/>
        </p:nvSpPr>
        <p:spPr>
          <a:xfrm>
            <a:off x="682736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8" name="Rectangle 27"/>
          <p:cNvSpPr/>
          <p:nvPr/>
        </p:nvSpPr>
        <p:spPr>
          <a:xfrm>
            <a:off x="920480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9" name="Rectangle 28"/>
          <p:cNvSpPr/>
          <p:nvPr/>
        </p:nvSpPr>
        <p:spPr>
          <a:xfrm>
            <a:off x="920480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30" name="Rectangle 29"/>
          <p:cNvSpPr/>
          <p:nvPr/>
        </p:nvSpPr>
        <p:spPr>
          <a:xfrm>
            <a:off x="920480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31" name="Rectangle 30"/>
          <p:cNvSpPr/>
          <p:nvPr/>
        </p:nvSpPr>
        <p:spPr>
          <a:xfrm>
            <a:off x="920480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    (&lt;150)</a:t>
            </a:r>
          </a:p>
        </p:txBody>
      </p:sp>
      <p:sp>
        <p:nvSpPr>
          <p:cNvPr id="32" name="Rectangle 31"/>
          <p:cNvSpPr/>
          <p:nvPr/>
        </p:nvSpPr>
        <p:spPr>
          <a:xfrm>
            <a:off x="920480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33" name="Rectangle 32"/>
          <p:cNvSpPr/>
          <p:nvPr/>
        </p:nvSpPr>
        <p:spPr>
          <a:xfrm>
            <a:off x="920480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34" name="Rectangle 33"/>
          <p:cNvSpPr/>
          <p:nvPr/>
        </p:nvSpPr>
        <p:spPr>
          <a:xfrm>
            <a:off x="920480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35" name="Rounded Rectangle 34"/>
          <p:cNvSpPr/>
          <p:nvPr/>
        </p:nvSpPr>
        <p:spPr>
          <a:xfrm>
            <a:off x="838047" y="5842101"/>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Ignore sunk costs —  continue whenever          Expected Revenue  &gt;  Expected Additional Cost</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9" name="TextBox 3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$70B+</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35608"/>
            <a:ext cx="6400800" cy="2971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Meta poured ~$70B into Reality Labs since 2020</a:t>
            </a:r>
          </a:p>
          <a:p>
            <a:pPr algn="l" lvl="1"/>
            <a:r>
              <a:rPr>
                <a:latin typeface="Calibri"/>
              </a:rPr>
              <a:t>Quest headsets, Horizon Worlds – thin adoption, little revenue</a:t>
            </a:r>
          </a:p>
          <a:p>
            <a:pPr algn="l" lvl="1"/>
            <a:r>
              <a:rPr>
                <a:latin typeface="Calibri"/>
              </a:rPr>
              <a:t>Hardware/software still not commercially viable – payoff keeps slipping</a:t>
            </a:r>
          </a:p>
          <a:p>
            <a:pPr algn="l"/>
            <a:r>
              <a:rPr>
                <a:latin typeface="Calibri"/>
              </a:rPr>
              <a:t>Wall Street kept asking when it pays off</a:t>
            </a:r>
          </a:p>
          <a:p>
            <a:pPr algn="l"/>
            <a:r>
              <a:rPr>
                <a:latin typeface="Calibri"/>
              </a:rPr>
              <a:t>In 2026: Decision to shift spending to AI</a:t>
            </a:r>
          </a:p>
        </p:txBody>
      </p:sp>
      <p:pic>
        <p:nvPicPr>
          <p:cNvPr id="8" name="Picture 7" descr="_zuckerberg_realitylabs.png"/>
          <p:cNvPicPr>
            <a:picLocks noChangeAspect="1"/>
          </p:cNvPicPr>
          <p:nvPr/>
        </p:nvPicPr>
        <p:blipFill>
          <a:blip r:embed="rId2"/>
          <a:stretch>
            <a:fillRect/>
          </a:stretch>
        </p:blipFill>
        <p:spPr>
          <a:xfrm>
            <a:off x="6739128" y="1975104"/>
            <a:ext cx="5276088" cy="3438144"/>
          </a:xfrm>
          <a:prstGeom prst="roundRect">
            <a:avLst>
              <a:gd name="adj" fmla="val 8000"/>
            </a:avLst>
          </a:prstGeom>
          <a:effectLst>
            <a:outerShdw blurRad="50800" dist="38100" dir="2700000" algn="tl" rotWithShape="0">
              <a:srgbClr val="000000">
                <a:alpha val="50000"/>
              </a:srgbClr>
            </a:outerShdw>
          </a:effectLst>
        </p:spPr>
      </p:pic>
      <p:pic>
        <p:nvPicPr>
          <p:cNvPr id="9" name="Picture 8" descr="_wsj_meta_reality_labs.png"/>
          <p:cNvPicPr>
            <a:picLocks noChangeAspect="1"/>
          </p:cNvPicPr>
          <p:nvPr/>
        </p:nvPicPr>
        <p:blipFill>
          <a:blip r:embed="rId3"/>
          <a:stretch>
            <a:fillRect/>
          </a:stretch>
        </p:blipFill>
        <p:spPr>
          <a:xfrm>
            <a:off x="256032" y="4782312"/>
            <a:ext cx="6007608" cy="1627632"/>
          </a:xfrm>
          <a:prstGeom prst="rect">
            <a:avLst/>
          </a:prstGeom>
          <a:ln w="9525">
            <a:solidFill>
              <a:srgbClr val="555B66"/>
            </a:solidFill>
          </a:ln>
          <a:effectLst>
            <a:outerShdw blurRad="50800" dist="38100" dir="2700000" algn="tl" rotWithShape="0">
              <a:srgbClr val="000000">
                <a:alpha val="45000"/>
              </a:srgbClr>
            </a:outerShdw>
          </a:effectLst>
        </p:spPr>
      </p:pic>
      <p:sp>
        <p:nvSpPr>
          <p:cNvPr id="10" name="Rounded Rectangle 9"/>
          <p:cNvSpPr/>
          <p:nvPr/>
        </p:nvSpPr>
        <p:spPr>
          <a:xfrm>
            <a:off x="6656832" y="5852160"/>
            <a:ext cx="5385816"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Sunk Cost &amp; Opportunity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3364992"/>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not a reason to keep going</a:t>
            </a:r>
          </a:p>
          <a:p>
            <a:pPr algn="l"/>
            <a:r>
              <a:rPr>
                <a:latin typeface="Calibri"/>
              </a:rPr>
              <a:t>Real reason to stop: opportunity cost of capital + 2,000 engineers</a:t>
            </a:r>
          </a:p>
          <a:p>
            <a:pPr algn="l" lvl="1"/>
            <a:r>
              <a:rPr>
                <a:latin typeface="Calibri"/>
              </a:rPr>
              <a:t>Reallocated → AI / Apple Intelligence (with higher expected returns)</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ounded Rectangle 9"/>
          <p:cNvSpPr/>
          <p:nvPr/>
        </p:nvSpPr>
        <p:spPr>
          <a:xfrm>
            <a:off x="1399032" y="5495544"/>
            <a:ext cx="960120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alternative use for the same dollars  &amp;  engineers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1737360"/>
            <a:ext cx="11686032" cy="365760"/>
          </a:xfrm>
          <a:prstGeom prst="rect">
            <a:avLst/>
          </a:prstGeom>
          <a:noFill/>
        </p:spPr>
        <p:txBody>
          <a:bodyPr wrap="square" lIns="0" rIns="0" tIns="0" bIns="0">
            <a:spAutoFit/>
          </a:bodyPr>
          <a:lstStyle/>
          <a:p>
            <a:pPr algn="ctr"/>
            <a:r>
              <a:rPr sz="2400" b="0" i="1">
                <a:solidFill>
                  <a:srgbClr val="555B66"/>
                </a:solidFill>
                <a:latin typeface="Calibri"/>
              </a:rPr>
              <a:t>Cheat sheet to refer back to</a:t>
            </a:r>
          </a:p>
        </p:txBody>
      </p:sp>
      <p:sp>
        <p:nvSpPr>
          <p:cNvPr id="8" name="Rectangle 7"/>
          <p:cNvSpPr/>
          <p:nvPr/>
        </p:nvSpPr>
        <p:spPr>
          <a:xfrm>
            <a:off x="40370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9" name="TextBox 8"/>
          <p:cNvSpPr txBox="1"/>
          <p:nvPr/>
        </p:nvSpPr>
        <p:spPr>
          <a:xfrm>
            <a:off x="40370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10" name="TextBox 9"/>
          <p:cNvSpPr txBox="1"/>
          <p:nvPr/>
        </p:nvSpPr>
        <p:spPr>
          <a:xfrm>
            <a:off x="54086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1" name="Rectangle 10"/>
          <p:cNvSpPr/>
          <p:nvPr/>
        </p:nvSpPr>
        <p:spPr>
          <a:xfrm>
            <a:off x="424418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2" name="TextBox 11"/>
          <p:cNvSpPr txBox="1"/>
          <p:nvPr/>
        </p:nvSpPr>
        <p:spPr>
          <a:xfrm>
            <a:off x="424418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3" name="TextBox 12"/>
          <p:cNvSpPr txBox="1"/>
          <p:nvPr/>
        </p:nvSpPr>
        <p:spPr>
          <a:xfrm>
            <a:off x="438134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4" name="Rectangle 13"/>
          <p:cNvSpPr/>
          <p:nvPr/>
        </p:nvSpPr>
        <p:spPr>
          <a:xfrm>
            <a:off x="808466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5" name="TextBox 14"/>
          <p:cNvSpPr txBox="1"/>
          <p:nvPr/>
        </p:nvSpPr>
        <p:spPr>
          <a:xfrm>
            <a:off x="808466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6" name="TextBox 15"/>
          <p:cNvSpPr txBox="1"/>
          <p:nvPr/>
        </p:nvSpPr>
        <p:spPr>
          <a:xfrm>
            <a:off x="822182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ross_costs_combined.png"/>
          <p:cNvPicPr>
            <a:picLocks noChangeAspect="1"/>
          </p:cNvPicPr>
          <p:nvPr/>
        </p:nvPicPr>
        <p:blipFill>
          <a:blip r:embed="rId2"/>
          <a:stretch>
            <a:fillRect/>
          </a:stretch>
        </p:blipFill>
        <p:spPr>
          <a:xfrm>
            <a:off x="749808" y="1481328"/>
            <a:ext cx="10479024" cy="4764024"/>
          </a:xfrm>
          <a:prstGeom prst="rect">
            <a:avLst/>
          </a:prstGeom>
        </p:spPr>
      </p:pic>
      <p:sp>
        <p:nvSpPr>
          <p:cNvPr id="8" name="TextBox 7"/>
          <p:cNvSpPr txBox="1"/>
          <p:nvPr/>
        </p:nvSpPr>
        <p:spPr>
          <a:xfrm>
            <a:off x="3191256" y="4187952"/>
            <a:ext cx="1060704" cy="402336"/>
          </a:xfrm>
          <a:prstGeom prst="rect">
            <a:avLst/>
          </a:prstGeom>
          <a:noFill/>
        </p:spPr>
        <p:txBody>
          <a:bodyPr wrap="square" lIns="0" rIns="0" tIns="0" bIns="0">
            <a:spAutoFit/>
          </a:bodyPr>
          <a:lstStyle/>
          <a:p>
            <a:pPr algn="l"/>
            <a:r>
              <a:rPr sz="2000" b="1" i="0">
                <a:solidFill>
                  <a:srgbClr val="C00000"/>
                </a:solidFill>
                <a:latin typeface="Whitney Book"/>
              </a:rPr>
              <a:t>≈ TVC</a:t>
            </a:r>
          </a:p>
        </p:txBody>
      </p:sp>
      <p:sp>
        <p:nvSpPr>
          <p:cNvPr id="9" name="TextBox 8"/>
          <p:cNvSpPr txBox="1"/>
          <p:nvPr/>
        </p:nvSpPr>
        <p:spPr>
          <a:xfrm>
            <a:off x="4809744" y="4681728"/>
            <a:ext cx="1810512" cy="402336"/>
          </a:xfrm>
          <a:prstGeom prst="rect">
            <a:avLst/>
          </a:prstGeom>
          <a:noFill/>
        </p:spPr>
        <p:txBody>
          <a:bodyPr wrap="square" lIns="0" rIns="0" tIns="0" bIns="0">
            <a:spAutoFit/>
          </a:bodyPr>
          <a:lstStyle/>
          <a:p>
            <a:pPr algn="l"/>
            <a:r>
              <a:rPr sz="2000" b="1" i="0">
                <a:solidFill>
                  <a:srgbClr val="C00000"/>
                </a:solidFill>
                <a:latin typeface="Whitney Book"/>
              </a:rPr>
              <a:t>Mix FC &amp; VC</a:t>
            </a:r>
          </a:p>
        </p:txBody>
      </p:sp>
      <p:sp>
        <p:nvSpPr>
          <p:cNvPr id="10" name="TextBox 9"/>
          <p:cNvSpPr txBox="1"/>
          <p:nvPr/>
        </p:nvSpPr>
        <p:spPr>
          <a:xfrm>
            <a:off x="4498848" y="5175504"/>
            <a:ext cx="1325880" cy="402336"/>
          </a:xfrm>
          <a:prstGeom prst="rect">
            <a:avLst/>
          </a:prstGeom>
          <a:noFill/>
        </p:spPr>
        <p:txBody>
          <a:bodyPr wrap="square" lIns="0" rIns="0" tIns="0" bIns="0">
            <a:spAutoFit/>
          </a:bodyPr>
          <a:lstStyle/>
          <a:p>
            <a:pPr algn="l"/>
            <a:r>
              <a:rPr sz="2000" b="1" i="0">
                <a:solidFill>
                  <a:srgbClr val="C00000"/>
                </a:solidFill>
                <a:latin typeface="Whitney Book"/>
              </a:rPr>
              <a:t>Part of FC</a:t>
            </a:r>
          </a:p>
        </p:txBody>
      </p:sp>
      <p:sp>
        <p:nvSpPr>
          <p:cNvPr id="11" name="TextBox 10"/>
          <p:cNvSpPr txBox="1"/>
          <p:nvPr/>
        </p:nvSpPr>
        <p:spPr>
          <a:xfrm>
            <a:off x="3877056" y="5724144"/>
            <a:ext cx="1060704" cy="402336"/>
          </a:xfrm>
          <a:prstGeom prst="rect">
            <a:avLst/>
          </a:prstGeom>
          <a:noFill/>
        </p:spPr>
        <p:txBody>
          <a:bodyPr wrap="square" lIns="0" rIns="0" tIns="0" bIns="0">
            <a:spAutoFit/>
          </a:bodyPr>
          <a:lstStyle/>
          <a:p>
            <a:pPr algn="l"/>
            <a:r>
              <a:rPr sz="2000" b="1" i="0">
                <a:solidFill>
                  <a:srgbClr val="C00000"/>
                </a:solidFill>
                <a:latin typeface="Whitney Book"/>
              </a:rPr>
              <a:t>≈ TC</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Action:  What Is the MC of a Burn60 Workout?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burn60_workout.png"/>
          <p:cNvPicPr>
            <a:picLocks noChangeAspect="1"/>
          </p:cNvPicPr>
          <p:nvPr/>
        </p:nvPicPr>
        <p:blipFill>
          <a:blip r:embed="rId2"/>
          <a:stretch>
            <a:fillRect/>
          </a:stretch>
        </p:blipFill>
        <p:spPr>
          <a:xfrm>
            <a:off x="2596896" y="1271016"/>
            <a:ext cx="6355080" cy="5221224"/>
          </a:xfrm>
          <a:prstGeom prst="rect">
            <a:avLst/>
          </a:prstGeom>
        </p:spPr>
      </p:pic>
      <p:sp>
        <p:nvSpPr>
          <p:cNvPr id="8" name="Oval 7"/>
          <p:cNvSpPr/>
          <p:nvPr/>
        </p:nvSpPr>
        <p:spPr>
          <a:xfrm>
            <a:off x="4334256" y="4910328"/>
            <a:ext cx="2724912" cy="1380744"/>
          </a:xfrm>
          <a:prstGeom prst="ellipse">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50576"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Poll Everywhere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MC of Each Additional Session Beyond the 10th?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7550576"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Poll Everywhere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$6 / Session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10-class pack  ($10 / class)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TC  =  10 × $10  =  $100</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20-class pack  ($8 / class)</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TC  =  20 × $8  =  $160</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800" b="0" i="1">
                <a:solidFill>
                  <a:srgbClr val="555B66"/>
                </a:solidFill>
                <a:latin typeface="Calibri"/>
              </a:rPr>
              <a:t>Marginal cost of each additional session beyond the 10th:</a:t>
            </a:r>
          </a:p>
        </p:txBody>
      </p:sp>
      <p:sp>
        <p:nvSpPr>
          <p:cNvPr id="12" name="Rectangle 11"/>
          <p:cNvSpPr/>
          <p:nvPr/>
        </p:nvSpPr>
        <p:spPr>
          <a:xfrm>
            <a:off x="2209647" y="3886200"/>
            <a:ext cx="77724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($160 − $100) / 10  =  $6 / session</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Bigger discount than the sticker:  the first 10 sessions also drop from $10 → $8</a:t>
            </a:r>
          </a:p>
        </p:txBody>
      </p:sp>
      <p:sp>
        <p:nvSpPr>
          <p:cNvPr id="14" name="Rectangle 13"/>
          <p:cNvSpPr/>
          <p:nvPr/>
        </p:nvSpPr>
        <p:spPr>
          <a:xfrm>
            <a:off x="792327" y="5687568"/>
            <a:ext cx="106070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&lt;  AC :  volume discounts make the marginal session cheaper than the sticker</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2092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Option 1</a:t>
            </a:r>
          </a:p>
        </p:txBody>
      </p:sp>
      <p:sp>
        <p:nvSpPr>
          <p:cNvPr id="8" name="Rounded Rectangle 7"/>
          <p:cNvSpPr/>
          <p:nvPr/>
        </p:nvSpPr>
        <p:spPr>
          <a:xfrm>
            <a:off x="102092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a:off x="124952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9524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1047" y="2103120"/>
            <a:ext cx="3291840" cy="457200"/>
          </a:xfrm>
          <a:prstGeom prst="rect">
            <a:avLst/>
          </a:prstGeom>
          <a:noFill/>
        </p:spPr>
        <p:txBody>
          <a:bodyPr wrap="square" lIns="0" rIns="0" tIns="0" bIns="0">
            <a:spAutoFit/>
          </a:bodyPr>
          <a:lstStyle/>
          <a:p>
            <a:pPr algn="l"/>
            <a:r>
              <a:rPr sz="2800" b="1" i="0">
                <a:solidFill>
                  <a:srgbClr val="0B2B4E"/>
                </a:solidFill>
                <a:latin typeface="Calibri"/>
              </a:rPr>
              <a:t>$100k loan</a:t>
            </a:r>
          </a:p>
        </p:txBody>
      </p:sp>
      <p:sp>
        <p:nvSpPr>
          <p:cNvPr id="12" name="TextBox 11"/>
          <p:cNvSpPr txBox="1"/>
          <p:nvPr/>
        </p:nvSpPr>
        <p:spPr>
          <a:xfrm>
            <a:off x="1981047" y="2578608"/>
            <a:ext cx="3291840" cy="411480"/>
          </a:xfrm>
          <a:prstGeom prst="rect">
            <a:avLst/>
          </a:prstGeom>
          <a:noFill/>
        </p:spPr>
        <p:txBody>
          <a:bodyPr wrap="square" lIns="0" rIns="0" tIns="0" bIns="0">
            <a:spAutoFit/>
          </a:bodyPr>
          <a:lstStyle/>
          <a:p>
            <a:pPr algn="l"/>
            <a:r>
              <a:rPr sz="2200" b="0" i="1">
                <a:solidFill>
                  <a:srgbClr val="0B2B4E"/>
                </a:solidFill>
                <a:latin typeface="Calibri"/>
              </a:rPr>
              <a:t>at 5% annual interest</a:t>
            </a:r>
          </a:p>
        </p:txBody>
      </p:sp>
      <p:sp>
        <p:nvSpPr>
          <p:cNvPr id="13" name="Rectangle 12"/>
          <p:cNvSpPr/>
          <p:nvPr/>
        </p:nvSpPr>
        <p:spPr>
          <a:xfrm>
            <a:off x="1249527" y="3154680"/>
            <a:ext cx="3931920" cy="10972"/>
          </a:xfrm>
          <a:prstGeom prst="rect">
            <a:avLst/>
          </a:prstGeom>
          <a:solidFill>
            <a:srgbClr val="C8C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27695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5" name="Rectangle 14"/>
          <p:cNvSpPr/>
          <p:nvPr/>
        </p:nvSpPr>
        <p:spPr>
          <a:xfrm>
            <a:off x="175244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a:t>
            </a:r>
            <a:r>
              <a:rPr sz="2000" b="1">
                <a:solidFill>
                  <a:srgbClr val="0B2B4E"/>
                </a:solidFill>
                <a:latin typeface="Calibri"/>
              </a:rPr>
              <a:t>	$5,000</a:t>
            </a:r>
          </a:p>
        </p:txBody>
      </p:sp>
      <p:sp>
        <p:nvSpPr>
          <p:cNvPr id="16" name="Oval 15"/>
          <p:cNvSpPr/>
          <p:nvPr/>
        </p:nvSpPr>
        <p:spPr>
          <a:xfrm>
            <a:off x="127695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7" name="Rectangle 16"/>
          <p:cNvSpPr/>
          <p:nvPr/>
        </p:nvSpPr>
        <p:spPr>
          <a:xfrm>
            <a:off x="175244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Total loan amount</a:t>
            </a:r>
            <a:r>
              <a:rPr sz="2000" b="1">
                <a:solidFill>
                  <a:srgbClr val="0B2B4E"/>
                </a:solidFill>
                <a:latin typeface="Calibri"/>
              </a:rPr>
              <a:t>	$100,000</a:t>
            </a:r>
          </a:p>
        </p:txBody>
      </p:sp>
      <p:sp>
        <p:nvSpPr>
          <p:cNvPr id="18" name="Oval 17"/>
          <p:cNvSpPr/>
          <p:nvPr/>
        </p:nvSpPr>
        <p:spPr>
          <a:xfrm>
            <a:off x="127695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9" name="Rectangle 18"/>
          <p:cNvSpPr/>
          <p:nvPr/>
        </p:nvSpPr>
        <p:spPr>
          <a:xfrm>
            <a:off x="175244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 cost</a:t>
            </a:r>
            <a:r>
              <a:rPr sz="2000" b="1">
                <a:solidFill>
                  <a:srgbClr val="0B2B4E"/>
                </a:solidFill>
                <a:latin typeface="Calibri"/>
              </a:rPr>
              <a:t>	$5,000</a:t>
            </a:r>
          </a:p>
        </p:txBody>
      </p:sp>
      <p:sp>
        <p:nvSpPr>
          <p:cNvPr id="20" name="Rounded Rectangle 19"/>
          <p:cNvSpPr/>
          <p:nvPr/>
        </p:nvSpPr>
        <p:spPr>
          <a:xfrm>
            <a:off x="678164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Option 2</a:t>
            </a:r>
          </a:p>
        </p:txBody>
      </p:sp>
      <p:sp>
        <p:nvSpPr>
          <p:cNvPr id="21" name="Rounded Rectangle 20"/>
          <p:cNvSpPr/>
          <p:nvPr/>
        </p:nvSpPr>
        <p:spPr>
          <a:xfrm>
            <a:off x="678164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Isosceles Triangle 21"/>
          <p:cNvSpPr/>
          <p:nvPr/>
        </p:nvSpPr>
        <p:spPr>
          <a:xfrm>
            <a:off x="701024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596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41767" y="2103120"/>
            <a:ext cx="3291840" cy="457200"/>
          </a:xfrm>
          <a:prstGeom prst="rect">
            <a:avLst/>
          </a:prstGeom>
          <a:noFill/>
        </p:spPr>
        <p:txBody>
          <a:bodyPr wrap="square" lIns="0" rIns="0" tIns="0" bIns="0">
            <a:spAutoFit/>
          </a:bodyPr>
          <a:lstStyle/>
          <a:p>
            <a:pPr algn="l"/>
            <a:r>
              <a:rPr sz="2800" b="1" i="0">
                <a:solidFill>
                  <a:srgbClr val="0B2B4E"/>
                </a:solidFill>
                <a:latin typeface="Calibri"/>
              </a:rPr>
              <a:t>$110k loan</a:t>
            </a:r>
          </a:p>
        </p:txBody>
      </p:sp>
      <p:sp>
        <p:nvSpPr>
          <p:cNvPr id="25" name="TextBox 24"/>
          <p:cNvSpPr txBox="1"/>
          <p:nvPr/>
        </p:nvSpPr>
        <p:spPr>
          <a:xfrm>
            <a:off x="7741767" y="2578608"/>
            <a:ext cx="3291840" cy="411480"/>
          </a:xfrm>
          <a:prstGeom prst="rect">
            <a:avLst/>
          </a:prstGeom>
          <a:noFill/>
        </p:spPr>
        <p:txBody>
          <a:bodyPr wrap="square" lIns="0" rIns="0" tIns="0" bIns="0">
            <a:spAutoFit/>
          </a:bodyPr>
          <a:lstStyle/>
          <a:p>
            <a:pPr algn="l"/>
            <a:r>
              <a:rPr sz="2200" b="0" i="1">
                <a:solidFill>
                  <a:srgbClr val="0B2B4E"/>
                </a:solidFill>
                <a:latin typeface="Calibri"/>
              </a:rPr>
              <a:t>at 6% annual interest</a:t>
            </a:r>
          </a:p>
        </p:txBody>
      </p:sp>
      <p:sp>
        <p:nvSpPr>
          <p:cNvPr id="26" name="Rectangle 25"/>
          <p:cNvSpPr/>
          <p:nvPr/>
        </p:nvSpPr>
        <p:spPr>
          <a:xfrm>
            <a:off x="7010247" y="3154680"/>
            <a:ext cx="3931920" cy="10972"/>
          </a:xfrm>
          <a:prstGeom prst="rect">
            <a:avLst/>
          </a:prstGeom>
          <a:solidFill>
            <a:srgbClr val="C8C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03767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28" name="Rectangle 27"/>
          <p:cNvSpPr/>
          <p:nvPr/>
        </p:nvSpPr>
        <p:spPr>
          <a:xfrm>
            <a:off x="751316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a:t>
            </a:r>
            <a:r>
              <a:rPr sz="2000" b="1">
                <a:solidFill>
                  <a:srgbClr val="0B2B4E"/>
                </a:solidFill>
                <a:latin typeface="Calibri"/>
              </a:rPr>
              <a:t>	$6,600</a:t>
            </a:r>
          </a:p>
        </p:txBody>
      </p:sp>
      <p:sp>
        <p:nvSpPr>
          <p:cNvPr id="29" name="Oval 28"/>
          <p:cNvSpPr/>
          <p:nvPr/>
        </p:nvSpPr>
        <p:spPr>
          <a:xfrm>
            <a:off x="703767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30" name="Rectangle 29"/>
          <p:cNvSpPr/>
          <p:nvPr/>
        </p:nvSpPr>
        <p:spPr>
          <a:xfrm>
            <a:off x="751316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Total loan amount</a:t>
            </a:r>
            <a:r>
              <a:rPr sz="2000" b="1">
                <a:solidFill>
                  <a:srgbClr val="0B2B4E"/>
                </a:solidFill>
                <a:latin typeface="Calibri"/>
              </a:rPr>
              <a:t>	$110,000</a:t>
            </a:r>
          </a:p>
        </p:txBody>
      </p:sp>
      <p:sp>
        <p:nvSpPr>
          <p:cNvPr id="31" name="Oval 30"/>
          <p:cNvSpPr/>
          <p:nvPr/>
        </p:nvSpPr>
        <p:spPr>
          <a:xfrm>
            <a:off x="703767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32" name="Rectangle 31"/>
          <p:cNvSpPr/>
          <p:nvPr/>
        </p:nvSpPr>
        <p:spPr>
          <a:xfrm>
            <a:off x="751316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 cost</a:t>
            </a:r>
            <a:r>
              <a:rPr sz="2000" b="1">
                <a:solidFill>
                  <a:srgbClr val="0B2B4E"/>
                </a:solidFill>
                <a:latin typeface="Calibri"/>
              </a:rPr>
              <a:t>	$6,600</a:t>
            </a:r>
          </a:p>
        </p:txBody>
      </p:sp>
      <p:sp>
        <p:nvSpPr>
          <p:cNvPr id="33" name="TextBox 32"/>
          <p:cNvSpPr txBox="1"/>
          <p:nvPr/>
        </p:nvSpPr>
        <p:spPr>
          <a:xfrm>
            <a:off x="5410047" y="2011680"/>
            <a:ext cx="1371600" cy="457200"/>
          </a:xfrm>
          <a:prstGeom prst="rect">
            <a:avLst/>
          </a:prstGeom>
          <a:noFill/>
        </p:spPr>
        <p:txBody>
          <a:bodyPr wrap="square" lIns="0" rIns="0" tIns="0" bIns="0">
            <a:spAutoFit/>
          </a:bodyPr>
          <a:lstStyle/>
          <a:p>
            <a:pPr algn="ctr"/>
            <a:r>
              <a:rPr sz="2400" b="1" i="0">
                <a:solidFill>
                  <a:srgbClr val="C00000"/>
                </a:solidFill>
                <a:latin typeface="Calibri"/>
              </a:rPr>
              <a:t>Extra $10k</a:t>
            </a:r>
          </a:p>
        </p:txBody>
      </p:sp>
      <p:cxnSp>
        <p:nvCxnSpPr>
          <p:cNvPr id="34" name="Connector 33"/>
          <p:cNvCxnSpPr/>
          <p:nvPr/>
        </p:nvCxnSpPr>
        <p:spPr>
          <a:xfrm>
            <a:off x="5501487" y="2606040"/>
            <a:ext cx="1225296" cy="0"/>
          </a:xfrm>
          <a:prstGeom prst="line">
            <a:avLst/>
          </a:prstGeom>
          <a:ln w="50800">
            <a:solidFill>
              <a:srgbClr val="C00000"/>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158087" y="4983480"/>
            <a:ext cx="9875520" cy="914400"/>
          </a:xfrm>
          <a:prstGeom prst="roundRect">
            <a:avLst>
              <a:gd name="adj" fmla="val 18000"/>
            </a:avLst>
          </a:prstGeom>
          <a:solidFill>
            <a:srgbClr val="FDECDB"/>
          </a:solidFill>
          <a:ln w="9525">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274320" rIns="182880" tIns="91440"/>
          <a:lstStyle/>
          <a:p>
            <a:pPr algn="ctr"/>
            <a:r>
              <a:rPr sz="2600" b="1">
                <a:solidFill>
                  <a:srgbClr val="C00000"/>
                </a:solidFill>
                <a:latin typeface="Calibri"/>
              </a:rPr>
              <a:t>What is the marginal interest rate on the additional $10k?</a:t>
            </a:r>
          </a:p>
          <a:p>
            <a:pPr algn="ctr"/>
            <a:r>
              <a:rPr sz="2400" b="1">
                <a:solidFill>
                  <a:srgbClr val="0B2B4E"/>
                </a:solidFill>
                <a:latin typeface="Calibri"/>
              </a:rPr>
              <a:t>($6,600 − $5,000) / $10,000 = 16%</a:t>
            </a:r>
          </a:p>
        </p:txBody>
      </p:sp>
      <p:sp>
        <p:nvSpPr>
          <p:cNvPr id="36" name="Rounded Rectangle 35"/>
          <p:cNvSpPr/>
          <p:nvPr/>
        </p:nvSpPr>
        <p:spPr>
          <a:xfrm>
            <a:off x="1523847" y="5989320"/>
            <a:ext cx="9144000" cy="45720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Marginal cost (16%) is much higher than average rate (6%)</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40" name="TextBox 3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5024"/>
            <a:ext cx="11687697" cy="365760"/>
          </a:xfrm>
          <a:prstGeom prst="rect">
            <a:avLst/>
          </a:prstGeom>
          <a:noFill/>
        </p:spPr>
        <p:txBody>
          <a:bodyPr wrap="square" lIns="0" rIns="0" tIns="0" bIns="0">
            <a:spAutoFit/>
          </a:bodyPr>
          <a:lstStyle/>
          <a:p>
            <a:pPr algn="ctr"/>
            <a:r>
              <a:rPr sz="2400" b="0" i="1">
                <a:solidFill>
                  <a:srgbClr val="0B2B4E"/>
                </a:solidFill>
                <a:latin typeface="Calibri"/>
              </a:rPr>
              <a:t>Collect data on total cost at different output levels (Q)  →  Estimate the cost function</a:t>
            </a:r>
          </a:p>
        </p:txBody>
      </p:sp>
      <p:sp>
        <p:nvSpPr>
          <p:cNvPr id="8" name="TextBox 7"/>
          <p:cNvSpPr txBox="1"/>
          <p:nvPr/>
        </p:nvSpPr>
        <p:spPr>
          <a:xfrm>
            <a:off x="1066647" y="1783080"/>
            <a:ext cx="10058400" cy="54864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FFFFFF"/>
                </a:solidFill>
                <a:latin typeface="Cambria Math"/>
              </a:defRPr>
            </a:pPr>
            <a14:m>
              <m:oMathPara>
                <m:oMathParaPr>
                  <m:jc m:val="centerGroup"/>
                </m:oMathParaPr>
                <m:oMath>
                  <m:r>
                    <m:rPr>
                      <m:sty m:val="p"/>
                    </m:rPr>
                    <a:rPr lang="en-US" b="0" i="0" sz="2200">
                      <a:latin typeface="Cambria Math"/>
                      <a:solidFill>
                        <a:srgbClr val="FFFFFF"/>
                      </a:solidFill>
                    </a:rPr>
                    <m:t xml:space="preserve">Estimated cost curve:   </m:t>
                  </m:r>
                  <m:r>
                    <m:rPr>
                      <m:sty m:val="p"/>
                    </m:rPr>
                    <a:rPr lang="en-US" b="0" i="0" sz="2200">
                      <a:latin typeface="Cambria Math"/>
                      <a:solidFill>
                        <a:srgbClr val="FFFFFF"/>
                      </a:solidFill>
                    </a:rPr>
                    <m:t xml:space="preserve">TC</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10,000,000</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30,000</m:t>
                  </m:r>
                  <m:r>
                    <m:rPr>
                      <m:sty m:val="p"/>
                    </m:rPr>
                    <a:rPr lang="en-US" b="0" i="0" sz="2200">
                      <a:latin typeface="Cambria Math"/>
                      <a:solidFill>
                        <a:srgbClr val="FFFFFF"/>
                      </a:solidFill>
                    </a:rPr>
                    <m:t xml:space="preserve"> · </m:t>
                  </m:r>
                  <m:r>
                    <a:rPr lang="en-US" b="0" i="1" sz="2200">
                      <a:latin typeface="Cambria Math"/>
                      <a:ea typeface="Cambria Math"/>
                      <a:solidFill>
                        <a:srgbClr val="FFFFFF"/>
                      </a:solidFill>
                    </a:rPr>
                    <m:t>Q</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40</m:t>
                  </m:r>
                  <m:r>
                    <m:rPr>
                      <m:sty m:val="p"/>
                    </m:rPr>
                    <a:rPr lang="en-US" b="0" i="0" sz="2200">
                      <a:latin typeface="Cambria Math"/>
                      <a:solidFill>
                        <a:srgbClr val="FFFFFF"/>
                      </a:solidFill>
                    </a:rPr>
                    <m:t xml:space="preserve"> · </m:t>
                  </m:r>
                  <m:sSup>
                    <m:sSupPr>
                      <m:ctrlPr>
                        <a:rPr lang="en-US" i="1">
                          <a:latin typeface="Cambria Math"/>
                        </a:rPr>
                      </m:ctrlPr>
                    </m:sSupPr>
                    <m:e>
                      <m:r>
                        <a:rPr lang="en-US" b="0" i="1" sz="2200">
                          <a:latin typeface="Cambria Math"/>
                          <a:ea typeface="Cambria Math"/>
                          <a:solidFill>
                            <a:srgbClr val="FFFFFF"/>
                          </a:solidFill>
                        </a:rPr>
                        <m:t>Q</m:t>
                      </m:r>
                    </m:e>
                    <m:sup>
                      <m:r>
                        <m:rPr>
                          <m:sty m:val="p"/>
                        </m:rPr>
                        <a:rPr lang="en-US" b="0" i="0" sz="2200">
                          <a:latin typeface="Cambria Math"/>
                          <a:solidFill>
                            <a:srgbClr val="FFFFFF"/>
                          </a:solidFill>
                        </a:rPr>
                        <m:t xml:space="preserve">2</m:t>
                      </m:r>
                    </m:sup>
                  </m:sSup>
                </m:oMath>
              </m:oMathPara>
            </a14:m>
            <a:endParaRPr lang="en-US" sz="2200"/>
          </a:p>
        </p:txBody>
      </p:sp>
      <p:graphicFrame>
        <p:nvGraphicFramePr>
          <p:cNvPr id="9" name="Chart 8"/>
          <p:cNvGraphicFramePr>
            <a:graphicFrameLocks noGrp="1"/>
          </p:cNvGraphicFramePr>
          <p:nvPr/>
        </p:nvGraphicFramePr>
        <p:xfrm>
          <a:off x="2286000" y="2423160"/>
          <a:ext cx="7589520" cy="3474720"/>
        </p:xfrm>
        <a:graphic>
          <a:graphicData uri="http://schemas.openxmlformats.org/drawingml/2006/chart">
            <c:chart xmlns:c="http://schemas.openxmlformats.org/drawingml/2006/chart" r:id="rId2"/>
          </a:graphicData>
        </a:graphic>
      </p:graphicFrame>
      <p:sp>
        <p:nvSpPr>
          <p:cNvPr id="10" name="TextBox 9"/>
          <p:cNvSpPr txBox="1"/>
          <p:nvPr/>
        </p:nvSpPr>
        <p:spPr>
          <a:xfrm>
            <a:off x="310896" y="4723791"/>
            <a:ext cx="1828800" cy="384048"/>
          </a:xfrm>
          <a:prstGeom prst="rect">
            <a:avLst/>
          </a:prstGeom>
          <a:noFill/>
        </p:spPr>
        <p:txBody>
          <a:bodyPr wrap="square" lIns="0" rIns="0" tIns="0" bIns="0">
            <a:spAutoFit/>
          </a:bodyPr>
          <a:lstStyle/>
          <a:p>
            <a:pPr algn="r"/>
            <a:r>
              <a:rPr sz="1800" b="1" i="0">
                <a:solidFill>
                  <a:srgbClr val="C00000"/>
                </a:solidFill>
                <a:latin typeface="Calibri"/>
              </a:rPr>
              <a:t>Fixed Cost</a:t>
            </a:r>
          </a:p>
        </p:txBody>
      </p:sp>
      <p:cxnSp>
        <p:nvCxnSpPr>
          <p:cNvPr id="11" name="Connector 10"/>
          <p:cNvCxnSpPr/>
          <p:nvPr/>
        </p:nvCxnSpPr>
        <p:spPr>
          <a:xfrm>
            <a:off x="2203704" y="4878324"/>
            <a:ext cx="512064" cy="0"/>
          </a:xfrm>
          <a:prstGeom prst="line">
            <a:avLst/>
          </a:prstGeom>
          <a:ln w="28575">
            <a:solidFill>
              <a:srgbClr val="C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247" y="5897880"/>
            <a:ext cx="96012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Quadratic term:  cost rises faster than output, i.e. marginal cost is increasing</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86000" y="1444752"/>
            <a:ext cx="7562088" cy="427024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286000" y="1444752"/>
          <a:ext cx="7562088" cy="4270248"/>
        </p:xfrm>
        <a:graphic>
          <a:graphicData uri="http://schemas.openxmlformats.org/drawingml/2006/chart">
            <c:chart xmlns:c="http://schemas.openxmlformats.org/drawingml/2006/chart" r:id="rId2"/>
          </a:graphicData>
        </a:graphic>
      </p:graphicFrame>
      <p:sp>
        <p:nvSpPr>
          <p:cNvPr id="9" name="Rounded Rectangle 8"/>
          <p:cNvSpPr/>
          <p:nvPr/>
        </p:nvSpPr>
        <p:spPr>
          <a:xfrm>
            <a:off x="838047" y="5852160"/>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86000" y="2340864"/>
            <a:ext cx="7562088" cy="4105656"/>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286000" y="2340864"/>
          <a:ext cx="7562088" cy="4105656"/>
        </p:xfrm>
        <a:graphic>
          <a:graphicData uri="http://schemas.openxmlformats.org/drawingml/2006/chart">
            <c:chart xmlns:c="http://schemas.openxmlformats.org/drawingml/2006/chart" r:id="rId2"/>
          </a:graphicData>
        </a:graphic>
      </p:graphicFrame>
      <p:sp>
        <p:nvSpPr>
          <p:cNvPr id="9" name="Rounded Rectangle 8"/>
          <p:cNvSpPr/>
          <p:nvPr/>
        </p:nvSpPr>
        <p:spPr>
          <a:xfrm>
            <a:off x="2011680" y="1327708"/>
            <a:ext cx="2743200" cy="644652"/>
          </a:xfrm>
          <a:prstGeom prst="roundRect">
            <a:avLst>
              <a:gd name="adj" fmla="val 8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2B4E"/>
                </a:solidFill>
                <a:latin typeface="Calibri"/>
              </a:rPr>
              <a:t>ATC falls below sales price ($80k)  at Q ≈ 250</a:t>
            </a:r>
          </a:p>
        </p:txBody>
      </p:sp>
      <p:cxnSp>
        <p:nvCxnSpPr>
          <p:cNvPr id="10" name="Connector 9"/>
          <p:cNvCxnSpPr/>
          <p:nvPr/>
        </p:nvCxnSpPr>
        <p:spPr>
          <a:xfrm>
            <a:off x="4304995" y="2022652"/>
            <a:ext cx="449885" cy="1281075"/>
          </a:xfrm>
          <a:prstGeom prst="line">
            <a:avLst/>
          </a:prstGeom>
          <a:ln w="19050">
            <a:solidFill>
              <a:srgbClr val="0B2B4E"/>
            </a:solidFill>
            <a:tailEnd type="triangle" w="lg" h="lg"/>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953304" y="1327708"/>
            <a:ext cx="2606040" cy="644652"/>
          </a:xfrm>
          <a:prstGeom prst="roundRect">
            <a:avLst>
              <a:gd name="adj" fmla="val 8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2B4E"/>
                </a:solidFill>
                <a:latin typeface="Calibri"/>
              </a:rPr>
              <a:t>The minimum of ATC is where it crosses MC</a:t>
            </a:r>
          </a:p>
        </p:txBody>
      </p:sp>
      <p:cxnSp>
        <p:nvCxnSpPr>
          <p:cNvPr id="12" name="Connector 11"/>
          <p:cNvCxnSpPr/>
          <p:nvPr/>
        </p:nvCxnSpPr>
        <p:spPr>
          <a:xfrm>
            <a:off x="6095390" y="1986076"/>
            <a:ext cx="160934" cy="1652321"/>
          </a:xfrm>
          <a:prstGeom prst="line">
            <a:avLst/>
          </a:prstGeom>
          <a:ln w="19050">
            <a:solidFill>
              <a:srgbClr val="0B2B4E"/>
            </a:solidFill>
            <a:tailEnd type="triangle" w="lg" h="lg"/>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830007" y="1378915"/>
            <a:ext cx="2194560" cy="617220"/>
          </a:xfrm>
          <a:prstGeom prst="roundRect">
            <a:avLst>
              <a:gd name="adj" fmla="val 8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2B4E"/>
                </a:solidFill>
                <a:latin typeface="Calibri"/>
              </a:rPr>
              <a:t>ATC increases again due to rising MC</a:t>
            </a:r>
          </a:p>
        </p:txBody>
      </p:sp>
      <p:cxnSp>
        <p:nvCxnSpPr>
          <p:cNvPr id="14" name="Connector 13"/>
          <p:cNvCxnSpPr/>
          <p:nvPr/>
        </p:nvCxnSpPr>
        <p:spPr>
          <a:xfrm>
            <a:off x="8730691" y="2022652"/>
            <a:ext cx="50292" cy="1399947"/>
          </a:xfrm>
          <a:prstGeom prst="line">
            <a:avLst/>
          </a:prstGeom>
          <a:ln w="19050">
            <a:solidFill>
              <a:srgbClr val="0B2B4E"/>
            </a:solidFill>
            <a:tailEnd type="triangle" w="lg" h="lg"/>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1999" y="1280160"/>
            <a:ext cx="2834640" cy="41148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a:solidFill>
                  <a:srgbClr val="FFFFFF"/>
                </a:solidFill>
                <a:latin typeface="Calibri"/>
              </a:rPr>
              <a:t>Problem Set Preview</a:t>
            </a:r>
          </a:p>
        </p:txBody>
      </p:sp>
      <p:sp>
        <p:nvSpPr>
          <p:cNvPr id="8" name="TextBox 7"/>
          <p:cNvSpPr txBox="1"/>
          <p:nvPr/>
        </p:nvSpPr>
        <p:spPr>
          <a:xfrm>
            <a:off x="251999" y="1783080"/>
            <a:ext cx="11687697" cy="502920"/>
          </a:xfrm>
          <a:prstGeom prst="rect">
            <a:avLst/>
          </a:prstGeom>
          <a:noFill/>
        </p:spPr>
        <p:txBody>
          <a:bodyPr wrap="square" lIns="0" rIns="0" tIns="0" bIns="0">
            <a:spAutoFit/>
          </a:bodyPr>
          <a:lstStyle/>
          <a:p>
            <a:pPr algn="ctr"/>
            <a:r>
              <a:rPr sz="2600" b="1" i="0">
                <a:solidFill>
                  <a:srgbClr val="0B2B4E"/>
                </a:solidFill>
                <a:latin typeface="Calibri"/>
              </a:rPr>
              <a:t>1.  What is the AVC of a current-generation iPhone?</a:t>
            </a:r>
          </a:p>
        </p:txBody>
      </p:sp>
      <p:sp>
        <p:nvSpPr>
          <p:cNvPr id="9" name="TextBox 8"/>
          <p:cNvSpPr txBox="1"/>
          <p:nvPr/>
        </p:nvSpPr>
        <p:spPr>
          <a:xfrm>
            <a:off x="251999" y="2331720"/>
            <a:ext cx="11687697" cy="502920"/>
          </a:xfrm>
          <a:prstGeom prst="rect">
            <a:avLst/>
          </a:prstGeom>
          <a:noFill/>
        </p:spPr>
        <p:txBody>
          <a:bodyPr wrap="square" lIns="0" rIns="0" tIns="0" bIns="0">
            <a:spAutoFit/>
          </a:bodyPr>
          <a:lstStyle/>
          <a:p>
            <a:pPr algn="ctr"/>
            <a:r>
              <a:rPr sz="2600" b="1" i="0">
                <a:solidFill>
                  <a:srgbClr val="0B2B4E"/>
                </a:solidFill>
                <a:latin typeface="Calibri"/>
              </a:rPr>
              <a:t>2.  What is the ATC of a current-generation iPhone?</a:t>
            </a:r>
          </a:p>
        </p:txBody>
      </p:sp>
      <p:sp>
        <p:nvSpPr>
          <p:cNvPr id="10" name="TextBox 9"/>
          <p:cNvSpPr txBox="1"/>
          <p:nvPr/>
        </p:nvSpPr>
        <p:spPr>
          <a:xfrm>
            <a:off x="251999" y="2971800"/>
            <a:ext cx="11687697" cy="411480"/>
          </a:xfrm>
          <a:prstGeom prst="rect">
            <a:avLst/>
          </a:prstGeom>
          <a:noFill/>
        </p:spPr>
        <p:txBody>
          <a:bodyPr wrap="square" lIns="0" rIns="0" tIns="0" bIns="0">
            <a:spAutoFit/>
          </a:bodyPr>
          <a:lstStyle/>
          <a:p>
            <a:pPr algn="ctr"/>
            <a:r>
              <a:rPr sz="2000" b="0" i="1">
                <a:solidFill>
                  <a:srgbClr val="555B66"/>
                </a:solidFill>
                <a:latin typeface="Calibri"/>
              </a:rPr>
              <a:t>Hint:  estimate each bucket;  for AFC, divide the fixed costs of this model by its total lifetime sales</a:t>
            </a:r>
          </a:p>
        </p:txBody>
      </p:sp>
      <p:sp>
        <p:nvSpPr>
          <p:cNvPr id="11" name="Rounded Rectangle 10"/>
          <p:cNvSpPr/>
          <p:nvPr/>
        </p:nvSpPr>
        <p:spPr>
          <a:xfrm>
            <a:off x="357987" y="3520440"/>
            <a:ext cx="2697480" cy="155448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200" b="1">
                <a:solidFill>
                  <a:srgbClr val="0B2B4E"/>
                </a:solidFill>
                <a:latin typeface="Calibri"/>
              </a:rPr>
              <a:t>Fixed costs</a:t>
            </a:r>
          </a:p>
          <a:p>
            <a:pPr algn="ctr">
              <a:spcBef>
                <a:spcPts val="400"/>
              </a:spcBef>
            </a:pPr>
            <a:r>
              <a:rPr sz="1600" i="1">
                <a:solidFill>
                  <a:srgbClr val="555B66"/>
                </a:solidFill>
                <a:latin typeface="Calibri"/>
              </a:rPr>
              <a:t>R&amp;D, marketing,
other</a:t>
            </a:r>
          </a:p>
          <a:p>
            <a:pPr algn="ctr">
              <a:spcBef>
                <a:spcPts val="600"/>
              </a:spcBef>
            </a:pPr>
            <a:r>
              <a:rPr sz="2600" b="1">
                <a:solidFill>
                  <a:srgbClr val="C00000"/>
                </a:solidFill>
                <a:latin typeface="Calibri"/>
              </a:rPr>
              <a:t>$ ?</a:t>
            </a:r>
          </a:p>
        </p:txBody>
      </p:sp>
      <p:sp>
        <p:nvSpPr>
          <p:cNvPr id="12" name="Rounded Rectangle 11"/>
          <p:cNvSpPr/>
          <p:nvPr/>
        </p:nvSpPr>
        <p:spPr>
          <a:xfrm>
            <a:off x="3284067" y="3520440"/>
            <a:ext cx="2697480" cy="155448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200" b="1">
                <a:solidFill>
                  <a:srgbClr val="0B2B4E"/>
                </a:solidFill>
                <a:latin typeface="Calibri"/>
              </a:rPr>
              <a:t>Material inputs</a:t>
            </a:r>
          </a:p>
          <a:p>
            <a:pPr algn="ctr">
              <a:spcBef>
                <a:spcPts val="400"/>
              </a:spcBef>
            </a:pPr>
            <a:r>
              <a:rPr sz="1600" i="1">
                <a:solidFill>
                  <a:srgbClr val="555B66"/>
                </a:solidFill>
                <a:latin typeface="Calibri"/>
              </a:rPr>
              <a:t>processor, display,
battery, cameras, memory, …</a:t>
            </a:r>
          </a:p>
          <a:p>
            <a:pPr algn="ctr">
              <a:spcBef>
                <a:spcPts val="600"/>
              </a:spcBef>
            </a:pPr>
            <a:r>
              <a:rPr sz="2600" b="1">
                <a:solidFill>
                  <a:srgbClr val="C00000"/>
                </a:solidFill>
                <a:latin typeface="Calibri"/>
              </a:rPr>
              <a:t>$ ?</a:t>
            </a:r>
          </a:p>
        </p:txBody>
      </p:sp>
      <p:sp>
        <p:nvSpPr>
          <p:cNvPr id="13" name="Rounded Rectangle 12"/>
          <p:cNvSpPr/>
          <p:nvPr/>
        </p:nvSpPr>
        <p:spPr>
          <a:xfrm>
            <a:off x="6210147" y="3520440"/>
            <a:ext cx="2697480" cy="155448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200" b="1">
                <a:solidFill>
                  <a:srgbClr val="0B2B4E"/>
                </a:solidFill>
                <a:latin typeface="Calibri"/>
              </a:rPr>
              <a:t>Labor</a:t>
            </a:r>
          </a:p>
          <a:p>
            <a:pPr algn="ctr">
              <a:spcBef>
                <a:spcPts val="400"/>
              </a:spcBef>
            </a:pPr>
            <a:r>
              <a:rPr sz="1600" i="1">
                <a:solidFill>
                  <a:srgbClr val="555B66"/>
                </a:solidFill>
                <a:latin typeface="Calibri"/>
              </a:rPr>
              <a:t>assembly +
final test</a:t>
            </a:r>
          </a:p>
          <a:p>
            <a:pPr algn="ctr">
              <a:spcBef>
                <a:spcPts val="600"/>
              </a:spcBef>
            </a:pPr>
            <a:r>
              <a:rPr sz="2600" b="1">
                <a:solidFill>
                  <a:srgbClr val="C00000"/>
                </a:solidFill>
                <a:latin typeface="Calibri"/>
              </a:rPr>
              <a:t>$ ?</a:t>
            </a:r>
          </a:p>
        </p:txBody>
      </p:sp>
      <p:sp>
        <p:nvSpPr>
          <p:cNvPr id="14" name="Rounded Rectangle 13"/>
          <p:cNvSpPr/>
          <p:nvPr/>
        </p:nvSpPr>
        <p:spPr>
          <a:xfrm>
            <a:off x="9136227" y="3520440"/>
            <a:ext cx="2697480" cy="1554480"/>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200" b="1">
                <a:solidFill>
                  <a:srgbClr val="0B2B4E"/>
                </a:solidFill>
                <a:latin typeface="Calibri"/>
              </a:rPr>
              <a:t>Distribution</a:t>
            </a:r>
          </a:p>
          <a:p>
            <a:pPr algn="ctr">
              <a:spcBef>
                <a:spcPts val="400"/>
              </a:spcBef>
            </a:pPr>
            <a:r>
              <a:rPr sz="1600" i="1">
                <a:solidFill>
                  <a:srgbClr val="555B66"/>
                </a:solidFill>
                <a:latin typeface="Calibri"/>
              </a:rPr>
              <a:t>stores, logistics,
shipping, channel</a:t>
            </a:r>
          </a:p>
          <a:p>
            <a:pPr algn="ctr">
              <a:spcBef>
                <a:spcPts val="600"/>
              </a:spcBef>
            </a:pPr>
            <a:r>
              <a:rPr sz="2600" b="1">
                <a:solidFill>
                  <a:srgbClr val="C00000"/>
                </a:solidFill>
                <a:latin typeface="Calibri"/>
              </a:rPr>
              <a:t>$ ?</a:t>
            </a:r>
          </a:p>
        </p:txBody>
      </p:sp>
      <p:sp>
        <p:nvSpPr>
          <p:cNvPr id="15" name="TextBox 14"/>
          <p:cNvSpPr txBox="1"/>
          <p:nvPr/>
        </p:nvSpPr>
        <p:spPr>
          <a:xfrm>
            <a:off x="251999" y="5303520"/>
            <a:ext cx="11687697" cy="411480"/>
          </a:xfrm>
          <a:prstGeom prst="rect">
            <a:avLst/>
          </a:prstGeom>
          <a:noFill/>
        </p:spPr>
        <p:txBody>
          <a:bodyPr wrap="square" lIns="0" rIns="0" tIns="0" bIns="0">
            <a:spAutoFit/>
          </a:bodyPr>
          <a:lstStyle/>
          <a:p>
            <a:pPr algn="ctr"/>
            <a:r>
              <a:rPr sz="2200" b="1" i="0">
                <a:solidFill>
                  <a:srgbClr val="0B2B4E"/>
                </a:solidFill>
                <a:latin typeface="Calibri"/>
              </a:rPr>
              <a:t>Retail price  ≈  $1,200</a:t>
            </a:r>
          </a:p>
        </p:txBody>
      </p:sp>
      <p:sp>
        <p:nvSpPr>
          <p:cNvPr id="16" name="Rounded Rectangle 15"/>
          <p:cNvSpPr/>
          <p:nvPr/>
        </p:nvSpPr>
        <p:spPr>
          <a:xfrm>
            <a:off x="3124047" y="5760720"/>
            <a:ext cx="59436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i="1">
                <a:solidFill>
                  <a:srgbClr val="0B2B4E"/>
                </a:solidFill>
                <a:latin typeface="Calibri"/>
              </a:rPr>
              <a:t>Tip:  you can use AI to research the cost breakdown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Sketch:  Estimating the iPhone Cost Stack</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798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000" b="1">
                <a:solidFill>
                  <a:srgbClr val="0B2B4E"/>
                </a:solidFill>
                <a:latin typeface="Calibri"/>
              </a:rPr>
              <a:t>Fixed costs</a:t>
            </a:r>
          </a:p>
          <a:p>
            <a:pPr algn="ctr">
              <a:spcBef>
                <a:spcPts val="200"/>
              </a:spcBef>
            </a:pPr>
            <a:r>
              <a:rPr sz="2800" b="1">
                <a:solidFill>
                  <a:srgbClr val="0B2B4E"/>
                </a:solidFill>
                <a:latin typeface="Calibri"/>
              </a:rPr>
              <a:t>$20B</a:t>
            </a:r>
          </a:p>
          <a:p>
            <a:pPr algn="ctr"/>
            <a:r>
              <a:rPr sz="1300" i="1">
                <a:solidFill>
                  <a:srgbClr val="555B66"/>
                </a:solidFill>
                <a:latin typeface="Calibri"/>
              </a:rPr>
              <a:t>this model (lifetime)</a:t>
            </a:r>
          </a:p>
          <a:p>
            <a:pPr algn="ctr">
              <a:spcBef>
                <a:spcPts val="400"/>
              </a:spcBef>
            </a:pPr>
            <a:r>
              <a:rPr sz="1400" i="1">
                <a:solidFill>
                  <a:srgbClr val="555B66"/>
                </a:solidFill>
                <a:latin typeface="Calibri"/>
              </a:rPr>
              <a:t>R&amp;D ~$10B,  marketing ~$5B,
other ~$5B</a:t>
            </a:r>
          </a:p>
        </p:txBody>
      </p:sp>
      <p:sp>
        <p:nvSpPr>
          <p:cNvPr id="8" name="Rounded Rectangle 7"/>
          <p:cNvSpPr/>
          <p:nvPr/>
        </p:nvSpPr>
        <p:spPr>
          <a:xfrm>
            <a:off x="328406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000" b="1">
                <a:solidFill>
                  <a:srgbClr val="0B2B4E"/>
                </a:solidFill>
                <a:latin typeface="Calibri"/>
              </a:rPr>
              <a:t>Material inputs</a:t>
            </a:r>
          </a:p>
          <a:p>
            <a:pPr algn="ctr">
              <a:spcBef>
                <a:spcPts val="200"/>
              </a:spcBef>
            </a:pPr>
            <a:r>
              <a:rPr sz="2800" b="1">
                <a:solidFill>
                  <a:srgbClr val="0B2B4E"/>
                </a:solidFill>
                <a:latin typeface="Calibri"/>
              </a:rPr>
              <a:t>$430</a:t>
            </a:r>
          </a:p>
          <a:p>
            <a:pPr algn="ctr"/>
            <a:r>
              <a:rPr sz="1300" i="1">
                <a:solidFill>
                  <a:srgbClr val="555B66"/>
                </a:solidFill>
                <a:latin typeface="Calibri"/>
              </a:rPr>
              <a:t>per iPhone</a:t>
            </a:r>
          </a:p>
          <a:p>
            <a:pPr algn="ctr">
              <a:spcBef>
                <a:spcPts val="400"/>
              </a:spcBef>
            </a:pPr>
            <a:r>
              <a:rPr sz="1400" i="1">
                <a:solidFill>
                  <a:srgbClr val="555B66"/>
                </a:solidFill>
                <a:latin typeface="Calibri"/>
              </a:rPr>
              <a:t>processor ~$80,  display ~$80,
memory ~$50,  battery ~$10,
cameras ~$70,  other ~$140</a:t>
            </a:r>
          </a:p>
        </p:txBody>
      </p:sp>
      <p:sp>
        <p:nvSpPr>
          <p:cNvPr id="9" name="Rounded Rectangle 8"/>
          <p:cNvSpPr/>
          <p:nvPr/>
        </p:nvSpPr>
        <p:spPr>
          <a:xfrm>
            <a:off x="621014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000" b="1">
                <a:solidFill>
                  <a:srgbClr val="0B2B4E"/>
                </a:solidFill>
                <a:latin typeface="Calibri"/>
              </a:rPr>
              <a:t>Labor</a:t>
            </a:r>
          </a:p>
          <a:p>
            <a:pPr algn="ctr">
              <a:spcBef>
                <a:spcPts val="200"/>
              </a:spcBef>
            </a:pPr>
            <a:r>
              <a:rPr sz="2800" b="1">
                <a:solidFill>
                  <a:srgbClr val="0B2B4E"/>
                </a:solidFill>
                <a:latin typeface="Calibri"/>
              </a:rPr>
              <a:t>$30</a:t>
            </a:r>
          </a:p>
          <a:p>
            <a:pPr algn="ctr"/>
            <a:r>
              <a:rPr sz="1300" i="1">
                <a:solidFill>
                  <a:srgbClr val="555B66"/>
                </a:solidFill>
                <a:latin typeface="Calibri"/>
              </a:rPr>
              <a:t>per iPhone</a:t>
            </a:r>
          </a:p>
          <a:p>
            <a:pPr algn="ctr">
              <a:spcBef>
                <a:spcPts val="400"/>
              </a:spcBef>
            </a:pPr>
            <a:r>
              <a:rPr sz="1400" i="1">
                <a:solidFill>
                  <a:srgbClr val="555B66"/>
                </a:solidFill>
                <a:latin typeface="Calibri"/>
              </a:rPr>
              <a:t>assembly + final test</a:t>
            </a:r>
          </a:p>
        </p:txBody>
      </p:sp>
      <p:sp>
        <p:nvSpPr>
          <p:cNvPr id="10" name="Rounded Rectangle 9"/>
          <p:cNvSpPr/>
          <p:nvPr/>
        </p:nvSpPr>
        <p:spPr>
          <a:xfrm>
            <a:off x="9136227" y="1417320"/>
            <a:ext cx="2697480" cy="1874519"/>
          </a:xfrm>
          <a:prstGeom prst="roundRect">
            <a:avLst>
              <a:gd name="adj" fmla="val 8000"/>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ctr"/>
            <a:r>
              <a:rPr sz="2000" b="1">
                <a:solidFill>
                  <a:srgbClr val="0B2B4E"/>
                </a:solidFill>
                <a:latin typeface="Calibri"/>
              </a:rPr>
              <a:t>Distribution</a:t>
            </a:r>
          </a:p>
          <a:p>
            <a:pPr algn="ctr">
              <a:spcBef>
                <a:spcPts val="200"/>
              </a:spcBef>
            </a:pPr>
            <a:r>
              <a:rPr sz="2800" b="1">
                <a:solidFill>
                  <a:srgbClr val="0B2B4E"/>
                </a:solidFill>
                <a:latin typeface="Calibri"/>
              </a:rPr>
              <a:t>$20</a:t>
            </a:r>
          </a:p>
          <a:p>
            <a:pPr algn="ctr"/>
            <a:r>
              <a:rPr sz="1300" i="1">
                <a:solidFill>
                  <a:srgbClr val="555B66"/>
                </a:solidFill>
                <a:latin typeface="Calibri"/>
              </a:rPr>
              <a:t>per iPhone</a:t>
            </a:r>
          </a:p>
          <a:p>
            <a:pPr algn="ctr">
              <a:spcBef>
                <a:spcPts val="400"/>
              </a:spcBef>
            </a:pPr>
            <a:r>
              <a:rPr sz="1400" i="1">
                <a:solidFill>
                  <a:srgbClr val="555B66"/>
                </a:solidFill>
                <a:latin typeface="Calibri"/>
              </a:rPr>
              <a:t>stores, logistics,
shipping, channel</a:t>
            </a:r>
          </a:p>
        </p:txBody>
      </p:sp>
      <p:sp>
        <p:nvSpPr>
          <p:cNvPr id="11" name="TextBox 10"/>
          <p:cNvSpPr txBox="1"/>
          <p:nvPr/>
        </p:nvSpPr>
        <p:spPr>
          <a:xfrm>
            <a:off x="251999" y="3429000"/>
            <a:ext cx="11687697" cy="365760"/>
          </a:xfrm>
          <a:prstGeom prst="rect">
            <a:avLst/>
          </a:prstGeom>
          <a:noFill/>
        </p:spPr>
        <p:txBody>
          <a:bodyPr wrap="square" lIns="0" rIns="0" tIns="0" bIns="0">
            <a:spAutoFit/>
          </a:bodyPr>
          <a:lstStyle/>
          <a:p>
            <a:pPr algn="ctr"/>
            <a:r>
              <a:rPr sz="1800" b="1" i="1">
                <a:solidFill>
                  <a:srgbClr val="0B2B4E"/>
                </a:solidFill>
                <a:latin typeface="Calibri"/>
              </a:rPr>
              <a:t>AVC  =  $430  +  $30  +  $20   ≈   $480 / iPhone</a:t>
            </a:r>
          </a:p>
        </p:txBody>
      </p:sp>
      <p:sp>
        <p:nvSpPr>
          <p:cNvPr id="12" name="TextBox 11"/>
          <p:cNvSpPr txBox="1"/>
          <p:nvPr/>
        </p:nvSpPr>
        <p:spPr>
          <a:xfrm>
            <a:off x="251999" y="3840480"/>
            <a:ext cx="11687697" cy="365760"/>
          </a:xfrm>
          <a:prstGeom prst="rect">
            <a:avLst/>
          </a:prstGeom>
          <a:noFill/>
        </p:spPr>
        <p:txBody>
          <a:bodyPr wrap="square" lIns="0" rIns="0" tIns="0" bIns="0">
            <a:spAutoFit/>
          </a:bodyPr>
          <a:lstStyle/>
          <a:p>
            <a:pPr algn="ctr"/>
            <a:r>
              <a:rPr sz="1800" b="1" i="1">
                <a:solidFill>
                  <a:srgbClr val="0B2B4E"/>
                </a:solidFill>
                <a:latin typeface="Calibri"/>
              </a:rPr>
              <a:t>AFC  =  $20 B  /  200 M iPhones (lifetime)   ≈   $100 / iPhone</a:t>
            </a:r>
          </a:p>
        </p:txBody>
      </p:sp>
      <p:sp>
        <p:nvSpPr>
          <p:cNvPr id="13" name="Rounded Rectangle 12"/>
          <p:cNvSpPr/>
          <p:nvPr/>
        </p:nvSpPr>
        <p:spPr>
          <a:xfrm>
            <a:off x="1752447" y="4343400"/>
            <a:ext cx="8686800" cy="68580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tIns="0" bIns="0"/>
          <a:lstStyle/>
          <a:p>
            <a:pPr algn="ctr"/>
            <a:r>
              <a:rPr sz="2400" b="1">
                <a:solidFill>
                  <a:srgbClr val="FFFFFF"/>
                </a:solidFill>
                <a:latin typeface="Calibri"/>
              </a:rPr>
              <a:t>ATC  =  AVC + AFC  =  $480 + $100   ≈   $580 / iPhone</a:t>
            </a:r>
          </a:p>
        </p:txBody>
      </p:sp>
      <p:sp>
        <p:nvSpPr>
          <p:cNvPr id="14" name="Rounded Rectangle 13"/>
          <p:cNvSpPr/>
          <p:nvPr/>
        </p:nvSpPr>
        <p:spPr>
          <a:xfrm>
            <a:off x="1683867" y="5166360"/>
            <a:ext cx="2103120" cy="685800"/>
          </a:xfrm>
          <a:prstGeom prst="roundRect">
            <a:avLst>
              <a:gd name="adj" fmla="val 25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FFFFFF"/>
                </a:solidFill>
                <a:latin typeface="Calibri"/>
              </a:rPr>
              <a:t>AVC</a:t>
            </a:r>
          </a:p>
          <a:p>
            <a:pPr algn="ctr"/>
            <a:r>
              <a:rPr sz="1800" b="1">
                <a:solidFill>
                  <a:srgbClr val="FFFFFF"/>
                </a:solidFill>
                <a:latin typeface="Calibri"/>
              </a:rPr>
              <a:t>$480</a:t>
            </a:r>
          </a:p>
        </p:txBody>
      </p:sp>
      <p:sp>
        <p:nvSpPr>
          <p:cNvPr id="15" name="Rounded Rectangle 14"/>
          <p:cNvSpPr/>
          <p:nvPr/>
        </p:nvSpPr>
        <p:spPr>
          <a:xfrm>
            <a:off x="3924147" y="5166360"/>
            <a:ext cx="2103120" cy="685800"/>
          </a:xfrm>
          <a:prstGeom prst="roundRect">
            <a:avLst>
              <a:gd name="adj" fmla="val 2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0B2B4E"/>
                </a:solidFill>
                <a:latin typeface="Calibri"/>
              </a:rPr>
              <a:t>+ AFC</a:t>
            </a:r>
          </a:p>
          <a:p>
            <a:pPr algn="ctr"/>
            <a:r>
              <a:rPr sz="1800" b="1">
                <a:solidFill>
                  <a:srgbClr val="0B2B4E"/>
                </a:solidFill>
                <a:latin typeface="Calibri"/>
              </a:rPr>
              <a:t>$100</a:t>
            </a:r>
          </a:p>
        </p:txBody>
      </p:sp>
      <p:sp>
        <p:nvSpPr>
          <p:cNvPr id="16" name="Rounded Rectangle 15"/>
          <p:cNvSpPr/>
          <p:nvPr/>
        </p:nvSpPr>
        <p:spPr>
          <a:xfrm>
            <a:off x="6164427" y="5166360"/>
            <a:ext cx="2103120" cy="685800"/>
          </a:xfrm>
          <a:prstGeom prst="roundRect">
            <a:avLst>
              <a:gd name="adj" fmla="val 25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FFFFFF"/>
                </a:solidFill>
                <a:latin typeface="Calibri"/>
              </a:rPr>
              <a:t>= ATC</a:t>
            </a:r>
          </a:p>
          <a:p>
            <a:pPr algn="ctr"/>
            <a:r>
              <a:rPr sz="1800" b="1">
                <a:solidFill>
                  <a:srgbClr val="FFFFFF"/>
                </a:solidFill>
                <a:latin typeface="Calibri"/>
              </a:rPr>
              <a:t>$580</a:t>
            </a:r>
          </a:p>
        </p:txBody>
      </p:sp>
      <p:sp>
        <p:nvSpPr>
          <p:cNvPr id="17" name="Rounded Rectangle 16"/>
          <p:cNvSpPr/>
          <p:nvPr/>
        </p:nvSpPr>
        <p:spPr>
          <a:xfrm>
            <a:off x="8404707" y="5166360"/>
            <a:ext cx="2103120" cy="685800"/>
          </a:xfrm>
          <a:prstGeom prst="roundRect">
            <a:avLst>
              <a:gd name="adj" fmla="val 25000"/>
            </a:avLst>
          </a:prstGeom>
          <a:solidFill>
            <a:srgbClr val="FDF6E6"/>
          </a:solidFill>
          <a:ln w="19050">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wrap="square"/>
          <a:lstStyle/>
          <a:p>
            <a:pPr algn="ctr"/>
            <a:r>
              <a:rPr sz="1400" b="1">
                <a:solidFill>
                  <a:srgbClr val="C00000"/>
                </a:solidFill>
                <a:latin typeface="Calibri"/>
              </a:rPr>
              <a:t>Retail</a:t>
            </a:r>
          </a:p>
          <a:p>
            <a:pPr algn="ctr"/>
            <a:r>
              <a:rPr sz="1800" b="1">
                <a:solidFill>
                  <a:srgbClr val="C00000"/>
                </a:solidFill>
                <a:latin typeface="Calibri"/>
              </a:rPr>
              <a:t>$1,200</a:t>
            </a:r>
          </a:p>
        </p:txBody>
      </p:sp>
      <p:sp>
        <p:nvSpPr>
          <p:cNvPr id="18" name="Rounded Rectangle 17"/>
          <p:cNvSpPr/>
          <p:nvPr/>
        </p:nvSpPr>
        <p:spPr>
          <a:xfrm>
            <a:off x="838047" y="5989320"/>
            <a:ext cx="105156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Even ATC sits well below retail  —  the rest is gross profit margin on each iPhone</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Empty.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Crowde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