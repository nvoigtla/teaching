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0"/>
          <c:y val="0.03"/>
          <c:w val="0.88"/>
          <c:h val="0.82"/>
        </c:manualLayout>
      </c:layout>
      <c:lineChart>
        <c:grouping val="standard"/>
        <c:varyColors val="0"/>
        <c:ser>
          <c:idx val="0"/>
          <c:order val="0"/>
          <c:tx>
            <c:strRef>
              <c:f>Sheet1!$B$1</c:f>
              <c:strCache>
                <c:ptCount val="1"/>
                <c:pt idx="0">
                  <c:v>K = 100</c:v>
                </c:pt>
              </c:strCache>
            </c:strRef>
          </c:tx>
          <c:spPr>
            <a:ln w="25400">
              <a:solidFill>
                <a:srgbClr val="2E75B6"/>
              </a:solidFill>
            </a:ln>
          </c:spPr>
          <c:marker>
            <c:symbol val="circle"/>
            <c:size val="7"/>
            <c:spPr>
              <a:solidFill>
                <a:srgbClr val="2E75B6"/>
              </a:solidFill>
              <a:ln>
                <a:solidFill>
                  <a:srgbClr val="2E75B6"/>
                </a:solidFill>
              </a:ln>
            </c:spPr>
          </c:marker>
          <c:cat>
            <c:strRef>
              <c:f>Sheet1!$A$2:$A$13</c:f>
              <c:strCache>
                <c:ptCount val="12"/>
                <c:pt idx="0">
                  <c:v>0</c:v>
                </c:pt>
                <c:pt idx="1">
                  <c:v>250</c:v>
                </c:pt>
                <c:pt idx="2">
                  <c:v>500</c:v>
                </c:pt>
                <c:pt idx="3">
                  <c:v>1,000</c:v>
                </c:pt>
                <c:pt idx="4">
                  <c:v>1,500</c:v>
                </c:pt>
                <c:pt idx="5">
                  <c:v>2,000</c:v>
                </c:pt>
                <c:pt idx="6">
                  <c:v>2,500</c:v>
                </c:pt>
                <c:pt idx="7">
                  <c:v>3,000</c:v>
                </c:pt>
                <c:pt idx="8">
                  <c:v>3,500</c:v>
                </c:pt>
                <c:pt idx="9">
                  <c:v>4,000</c:v>
                </c:pt>
                <c:pt idx="10">
                  <c:v>4,500</c:v>
                </c:pt>
                <c:pt idx="11">
                  <c:v>5,000</c:v>
                </c:pt>
              </c:strCache>
            </c:strRef>
          </c:cat>
          <c:val>
            <c:numRef>
              <c:f>Sheet1!$B$2:$B$13</c:f>
              <c:numCache>
                <c:formatCode>General</c:formatCode>
                <c:ptCount val="12"/>
                <c:pt idx="0">
                  <c:v>0</c:v>
                </c:pt>
                <c:pt idx="1">
                  <c:v>165</c:v>
                </c:pt>
                <c:pt idx="2">
                  <c:v>204</c:v>
                </c:pt>
                <c:pt idx="3">
                  <c:v>251</c:v>
                </c:pt>
                <c:pt idx="4">
                  <c:v>283</c:v>
                </c:pt>
                <c:pt idx="5">
                  <c:v>309</c:v>
                </c:pt>
                <c:pt idx="6">
                  <c:v>330</c:v>
                </c:pt>
                <c:pt idx="7">
                  <c:v>348</c:v>
                </c:pt>
                <c:pt idx="8">
                  <c:v>365</c:v>
                </c:pt>
                <c:pt idx="9">
                  <c:v>380</c:v>
                </c:pt>
                <c:pt idx="10">
                  <c:v>394</c:v>
                </c:pt>
                <c:pt idx="11">
                  <c:v>406</c:v>
                </c:pt>
              </c:numCache>
            </c:numRef>
          </c:val>
          <c:smooth val="0"/>
        </c:ser>
        <c:ser>
          <c:idx val="1"/>
          <c:order val="1"/>
          <c:tx>
            <c:strRef>
              <c:f>Sheet1!$C$1</c:f>
              <c:strCache>
                <c:ptCount val="1"/>
                <c:pt idx="0">
                  <c:v>K = 200</c:v>
                </c:pt>
              </c:strCache>
            </c:strRef>
          </c:tx>
          <c:spPr>
            <a:ln w="25400">
              <a:solidFill>
                <a:srgbClr val="C0504D"/>
              </a:solidFill>
            </a:ln>
          </c:spPr>
          <c:marker>
            <c:symbol val="triangle"/>
            <c:size val="7"/>
            <c:spPr>
              <a:solidFill>
                <a:srgbClr val="C0504D"/>
              </a:solidFill>
              <a:ln>
                <a:solidFill>
                  <a:srgbClr val="C0504D"/>
                </a:solidFill>
              </a:ln>
            </c:spPr>
          </c:marker>
          <c:cat>
            <c:strRef>
              <c:f>Sheet1!$A$2:$A$13</c:f>
              <c:strCache>
                <c:ptCount val="12"/>
                <c:pt idx="0">
                  <c:v>0</c:v>
                </c:pt>
                <c:pt idx="1">
                  <c:v>250</c:v>
                </c:pt>
                <c:pt idx="2">
                  <c:v>500</c:v>
                </c:pt>
                <c:pt idx="3">
                  <c:v>1,000</c:v>
                </c:pt>
                <c:pt idx="4">
                  <c:v>1,500</c:v>
                </c:pt>
                <c:pt idx="5">
                  <c:v>2,000</c:v>
                </c:pt>
                <c:pt idx="6">
                  <c:v>2,500</c:v>
                </c:pt>
                <c:pt idx="7">
                  <c:v>3,000</c:v>
                </c:pt>
                <c:pt idx="8">
                  <c:v>3,500</c:v>
                </c:pt>
                <c:pt idx="9">
                  <c:v>4,000</c:v>
                </c:pt>
                <c:pt idx="10">
                  <c:v>4,500</c:v>
                </c:pt>
                <c:pt idx="11">
                  <c:v>5,000</c:v>
                </c:pt>
              </c:strCache>
            </c:strRef>
          </c:cat>
          <c:val>
            <c:numRef>
              <c:f>Sheet1!$C$2:$C$13</c:f>
              <c:numCache>
                <c:formatCode>General</c:formatCode>
                <c:ptCount val="12"/>
                <c:pt idx="0">
                  <c:v>0</c:v>
                </c:pt>
                <c:pt idx="1">
                  <c:v>234</c:v>
                </c:pt>
                <c:pt idx="2">
                  <c:v>288</c:v>
                </c:pt>
                <c:pt idx="3">
                  <c:v>354</c:v>
                </c:pt>
                <c:pt idx="4">
                  <c:v>400</c:v>
                </c:pt>
                <c:pt idx="5">
                  <c:v>436</c:v>
                </c:pt>
                <c:pt idx="6">
                  <c:v>467</c:v>
                </c:pt>
                <c:pt idx="7">
                  <c:v>493</c:v>
                </c:pt>
                <c:pt idx="8">
                  <c:v>516</c:v>
                </c:pt>
                <c:pt idx="9">
                  <c:v>537</c:v>
                </c:pt>
                <c:pt idx="10">
                  <c:v>557</c:v>
                </c:pt>
                <c:pt idx="11">
                  <c:v>574</c:v>
                </c:pt>
              </c:numCache>
            </c:numRef>
          </c:val>
          <c:smooth val="0"/>
        </c:ser>
        <c:ser>
          <c:idx val="2"/>
          <c:order val="2"/>
          <c:tx>
            <c:strRef>
              <c:f>Sheet1!$D$1</c:f>
              <c:strCache>
                <c:ptCount val="1"/>
                <c:pt idx="0">
                  <c:v>K = 300</c:v>
                </c:pt>
              </c:strCache>
            </c:strRef>
          </c:tx>
          <c:spPr>
            <a:ln w="25400">
              <a:solidFill>
                <a:srgbClr val="808080"/>
              </a:solidFill>
            </a:ln>
          </c:spPr>
          <c:marker>
            <c:symbol val="square"/>
            <c:size val="7"/>
            <c:spPr>
              <a:solidFill>
                <a:srgbClr val="808080"/>
              </a:solidFill>
              <a:ln>
                <a:solidFill>
                  <a:srgbClr val="808080"/>
                </a:solidFill>
              </a:ln>
            </c:spPr>
          </c:marker>
          <c:cat>
            <c:strRef>
              <c:f>Sheet1!$A$2:$A$13</c:f>
              <c:strCache>
                <c:ptCount val="12"/>
                <c:pt idx="0">
                  <c:v>0</c:v>
                </c:pt>
                <c:pt idx="1">
                  <c:v>250</c:v>
                </c:pt>
                <c:pt idx="2">
                  <c:v>500</c:v>
                </c:pt>
                <c:pt idx="3">
                  <c:v>1,000</c:v>
                </c:pt>
                <c:pt idx="4">
                  <c:v>1,500</c:v>
                </c:pt>
                <c:pt idx="5">
                  <c:v>2,000</c:v>
                </c:pt>
                <c:pt idx="6">
                  <c:v>2,500</c:v>
                </c:pt>
                <c:pt idx="7">
                  <c:v>3,000</c:v>
                </c:pt>
                <c:pt idx="8">
                  <c:v>3,500</c:v>
                </c:pt>
                <c:pt idx="9">
                  <c:v>4,000</c:v>
                </c:pt>
                <c:pt idx="10">
                  <c:v>4,500</c:v>
                </c:pt>
                <c:pt idx="11">
                  <c:v>5,000</c:v>
                </c:pt>
              </c:strCache>
            </c:strRef>
          </c:cat>
          <c:val>
            <c:numRef>
              <c:f>Sheet1!$D$2:$D$13</c:f>
              <c:numCache>
                <c:formatCode>General</c:formatCode>
                <c:ptCount val="12"/>
                <c:pt idx="0">
                  <c:v>0</c:v>
                </c:pt>
                <c:pt idx="1">
                  <c:v>286</c:v>
                </c:pt>
                <c:pt idx="2">
                  <c:v>353</c:v>
                </c:pt>
                <c:pt idx="3">
                  <c:v>434</c:v>
                </c:pt>
                <c:pt idx="4">
                  <c:v>490</c:v>
                </c:pt>
                <c:pt idx="5">
                  <c:v>534</c:v>
                </c:pt>
                <c:pt idx="6">
                  <c:v>571</c:v>
                </c:pt>
                <c:pt idx="7">
                  <c:v>604</c:v>
                </c:pt>
                <c:pt idx="8">
                  <c:v>632</c:v>
                </c:pt>
                <c:pt idx="9">
                  <c:v>658</c:v>
                </c:pt>
                <c:pt idx="10">
                  <c:v>682</c:v>
                </c:pt>
                <c:pt idx="11">
                  <c:v>703</c:v>
                </c:pt>
              </c:numCache>
            </c:numRef>
          </c:val>
          <c:smooth val="0"/>
        </c:ser>
        <c:ser>
          <c:idx val="3"/>
          <c:order val="3"/>
          <c:tx>
            <c:strRef>
              <c:f>Sheet1!$E$1</c:f>
              <c:strCache>
                <c:ptCount val="1"/>
                <c:pt idx="0">
                  <c:v>K = 400</c:v>
                </c:pt>
              </c:strCache>
            </c:strRef>
          </c:tx>
          <c:spPr>
            <a:ln w="25400">
              <a:solidFill>
                <a:srgbClr val="E6B800"/>
              </a:solidFill>
            </a:ln>
          </c:spPr>
          <c:marker>
            <c:symbol val="diamond"/>
            <c:size val="7"/>
            <c:spPr>
              <a:solidFill>
                <a:srgbClr val="E6B800"/>
              </a:solidFill>
              <a:ln>
                <a:solidFill>
                  <a:srgbClr val="E6B800"/>
                </a:solidFill>
              </a:ln>
            </c:spPr>
          </c:marker>
          <c:cat>
            <c:strRef>
              <c:f>Sheet1!$A$2:$A$13</c:f>
              <c:strCache>
                <c:ptCount val="12"/>
                <c:pt idx="0">
                  <c:v>0</c:v>
                </c:pt>
                <c:pt idx="1">
                  <c:v>250</c:v>
                </c:pt>
                <c:pt idx="2">
                  <c:v>500</c:v>
                </c:pt>
                <c:pt idx="3">
                  <c:v>1,000</c:v>
                </c:pt>
                <c:pt idx="4">
                  <c:v>1,500</c:v>
                </c:pt>
                <c:pt idx="5">
                  <c:v>2,000</c:v>
                </c:pt>
                <c:pt idx="6">
                  <c:v>2,500</c:v>
                </c:pt>
                <c:pt idx="7">
                  <c:v>3,000</c:v>
                </c:pt>
                <c:pt idx="8">
                  <c:v>3,500</c:v>
                </c:pt>
                <c:pt idx="9">
                  <c:v>4,000</c:v>
                </c:pt>
                <c:pt idx="10">
                  <c:v>4,500</c:v>
                </c:pt>
                <c:pt idx="11">
                  <c:v>5,000</c:v>
                </c:pt>
              </c:strCache>
            </c:strRef>
          </c:cat>
          <c:val>
            <c:numRef>
              <c:f>Sheet1!$E$2:$E$13</c:f>
              <c:numCache>
                <c:formatCode>General</c:formatCode>
                <c:ptCount val="12"/>
                <c:pt idx="0">
                  <c:v>0</c:v>
                </c:pt>
                <c:pt idx="1">
                  <c:v>331</c:v>
                </c:pt>
                <c:pt idx="2">
                  <c:v>407</c:v>
                </c:pt>
                <c:pt idx="3">
                  <c:v>501</c:v>
                </c:pt>
                <c:pt idx="4">
                  <c:v>566</c:v>
                </c:pt>
                <c:pt idx="5">
                  <c:v>617</c:v>
                </c:pt>
                <c:pt idx="6">
                  <c:v>660</c:v>
                </c:pt>
                <c:pt idx="7">
                  <c:v>697</c:v>
                </c:pt>
                <c:pt idx="8">
                  <c:v>730</c:v>
                </c:pt>
                <c:pt idx="9">
                  <c:v>760</c:v>
                </c:pt>
                <c:pt idx="10">
                  <c:v>787</c:v>
                </c:pt>
                <c:pt idx="11">
                  <c:v>812</c:v>
                </c:pt>
              </c:numCache>
            </c:numRef>
          </c:val>
          <c:smooth val="0"/>
        </c:ser>
        <c:marker val="1"/>
        <c:smooth val="0"/>
        <c:axId val="2118791784"/>
        <c:axId val="2140495176"/>
      </c:lineChart>
      <c:catAx>
        <c:axId val="2118791784"/>
        <c:scaling>
          <c:orientation val="minMax"/>
        </c:scaling>
        <c:delete val="0"/>
        <c:axPos val="b"/>
        <c:majorGridlines>
          <c:spPr>
            <a:ln w="9525" cap="flat" cmpd="sng" algn="ctr">
              <a:solidFill>
                <a:srgbClr val="C8CDD3"/>
              </a:solidFill>
              <a:prstDash val="dash"/>
            </a:ln>
          </c:spPr>
        </c:majorGridlines>
        <c:title>
          <c:tx>
            <c:rich>
              <a:bodyPr/>
              <a:lstStyle/>
              <a:p>
                <a:r>
                  <a:rPr sz="1400" b="1" i="1">
                    <a:solidFill>
                      <a:srgbClr val="0B2B4E"/>
                    </a:solidFill>
                    <a:latin typeface="Calibri"/>
                  </a:rPr>
                  <a:t>Number of Workers</a:t>
                </a:r>
              </a:p>
            </c:rich>
          </c:tx>
          <c:layout/>
          <c:overlay val="0"/>
        </c:title>
        <c:majorTickMark val="out"/>
        <c:minorTickMark val="none"/>
        <c:tickLblPos val="nextTo"/>
        <c:txPr>
          <a:bodyPr/>
          <a:lstStyle/>
          <a:p>
            <a:pPr>
              <a:defRPr sz="1100">
                <a:solidFill>
                  <a:srgbClr val="0B2B4E"/>
                </a:solidFill>
                <a:latin typeface="Calibri"/>
              </a:defRPr>
            </a:pPr>
          </a:p>
        </c:txPr>
        <c:crossAx val="2140495176"/>
        <c:crosses val="autoZero"/>
        <c:auto val="1"/>
        <c:lblAlgn val="ctr"/>
        <c:lblOffset val="100"/>
        <c:noMultiLvlLbl val="0"/>
      </c:catAx>
      <c:valAx>
        <c:axId val="2140495176"/>
        <c:scaling>
          <c:max val="800.0"/>
          <c:min val="0.0"/>
        </c:scaling>
        <c:delete val="0"/>
        <c:axPos val="l"/>
        <c:majorGridlines>
          <c:spPr>
            <a:ln w="9525" cap="flat" cmpd="sng" algn="ctr">
              <a:solidFill>
                <a:srgbClr val="C8CDD3"/>
              </a:solidFill>
              <a:prstDash val="dash"/>
            </a:ln>
          </c:spPr>
        </c:majorGridlines>
        <c:title>
          <c:tx>
            <c:rich>
              <a:bodyPr/>
              <a:lstStyle/>
              <a:p>
                <a:r>
                  <a:rPr sz="1400" b="1" i="1">
                    <a:solidFill>
                      <a:srgbClr val="0B2B4E"/>
                    </a:solidFill>
                    <a:latin typeface="Calibri"/>
                  </a:rPr>
                  <a:t>Cars per Week</a:t>
                </a:r>
              </a:p>
            </c:rich>
          </c:tx>
          <c:layout/>
          <c:overlay val="0"/>
        </c:title>
        <c:majorTickMark val="out"/>
        <c:minorTickMark val="none"/>
        <c:tickLblPos val="nextTo"/>
        <c:txPr>
          <a:bodyPr/>
          <a:lstStyle/>
          <a:p>
            <a:pPr>
              <a:defRPr sz="1100">
                <a:solidFill>
                  <a:srgbClr val="0B2B4E"/>
                </a:solidFill>
                <a:latin typeface="Calibri"/>
              </a:defRPr>
            </a:pPr>
          </a:p>
        </c:txPr>
        <c:crossAx val="2118791784"/>
        <c:crosses val="autoZero"/>
        <c:crossBetween val="midCat"/>
        <c:majorUnit val="100.0"/>
      </c:valAx>
    </c:plotArea>
    <c:legend>
      <c:legendPos val="tr"/>
      <c:layout>
        <c:manualLayout>
          <c:xMode val="edge"/>
          <c:yMode val="edge"/>
          <c:x val="0.18"/>
          <c:y val="0.05"/>
          <c:w val="0.17"/>
          <c:h val="0.24"/>
        </c:manualLayout>
      </c:layout>
      <c:overlay val="0"/>
      <c:spPr>
        <a:solidFill>
          <a:srgbClr val="FFFFFF"/>
        </a:solidFill>
        <a:ln w="6350">
          <a:solidFill>
            <a:srgbClr val="0B2B4E"/>
          </a:solidFill>
        </a:ln>
      </c:spPr>
      <c:txPr>
        <a:bodyPr/>
        <a:lstStyle/>
        <a:p>
          <a:pPr>
            <a:lnSpc>
              <a:spcPct val="70000"/>
            </a:lnSpc>
            <a:defRPr sz="1300">
              <a:solidFill>
                <a:srgbClr val="0B2B4E"/>
              </a:solidFill>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5"/>
          <c:y val="0.04"/>
          <c:w val="0.80"/>
          <c:h val="0.78"/>
        </c:manualLayout>
      </c:layout>
      <c:lineChart>
        <c:grouping val="standard"/>
        <c:varyColors val="0"/>
        <c:ser>
          <c:idx val="0"/>
          <c:order val="0"/>
          <c:tx>
            <c:strRef>
              <c:f>Sheet1!$B$1</c:f>
              <c:strCache>
                <c:ptCount val="1"/>
                <c:pt idx="0">
                  <c:v>Y</c:v>
                </c:pt>
              </c:strCache>
            </c:strRef>
          </c:tx>
          <c:spPr>
            <a:ln w="31750">
              <a:solidFill>
                <a:srgbClr val="2E75B6"/>
              </a:solidFill>
            </a:ln>
          </c:spPr>
          <c:cat>
            <c:strRef>
              <c:f>Sheet1!$A$2:$A$13</c:f>
              <c:strCache>
                <c:ptCount val="12"/>
                <c:pt idx="0">
                  <c:v>0</c:v>
                </c:pt>
                <c:pt idx="1">
                  <c:v>250</c:v>
                </c:pt>
                <c:pt idx="2">
                  <c:v>500</c:v>
                </c:pt>
                <c:pt idx="3">
                  <c:v>1,000</c:v>
                </c:pt>
                <c:pt idx="4">
                  <c:v>1,500</c:v>
                </c:pt>
                <c:pt idx="5">
                  <c:v>2,000</c:v>
                </c:pt>
                <c:pt idx="6">
                  <c:v>2,500</c:v>
                </c:pt>
                <c:pt idx="7">
                  <c:v>3,000</c:v>
                </c:pt>
                <c:pt idx="8">
                  <c:v>3,500</c:v>
                </c:pt>
                <c:pt idx="9">
                  <c:v>4,000</c:v>
                </c:pt>
                <c:pt idx="10">
                  <c:v>4,500</c:v>
                </c:pt>
                <c:pt idx="11">
                  <c:v>5,000</c:v>
                </c:pt>
              </c:strCache>
            </c:strRef>
          </c:cat>
          <c:val>
            <c:numRef>
              <c:f>Sheet1!$B$2:$B$13</c:f>
              <c:numCache>
                <c:formatCode>General</c:formatCode>
                <c:ptCount val="12"/>
                <c:pt idx="0">
                  <c:v>0</c:v>
                </c:pt>
                <c:pt idx="1">
                  <c:v>165</c:v>
                </c:pt>
                <c:pt idx="2">
                  <c:v>204</c:v>
                </c:pt>
                <c:pt idx="3">
                  <c:v>251</c:v>
                </c:pt>
                <c:pt idx="4">
                  <c:v>283</c:v>
                </c:pt>
                <c:pt idx="5">
                  <c:v>309</c:v>
                </c:pt>
                <c:pt idx="6">
                  <c:v>330</c:v>
                </c:pt>
                <c:pt idx="7">
                  <c:v>348</c:v>
                </c:pt>
                <c:pt idx="8">
                  <c:v>365</c:v>
                </c:pt>
                <c:pt idx="9">
                  <c:v>380</c:v>
                </c:pt>
                <c:pt idx="10">
                  <c:v>394</c:v>
                </c:pt>
                <c:pt idx="11">
                  <c:v>406</c:v>
                </c:pt>
              </c:numCache>
            </c:numRef>
          </c:val>
          <c:marker>
            <c:symbol val="circle"/>
            <c:size val="7"/>
            <c:spPr>
              <a:solidFill>
                <a:srgbClr val="2E75B6"/>
              </a:solidFill>
              <a:ln>
                <a:solidFill>
                  <a:srgbClr val="2E75B6"/>
                </a:solidFill>
              </a:ln>
            </c:spPr>
          </c:marker>
          <c:smooth val="1"/>
        </c:ser>
        <c:marker val="1"/>
        <c:smooth val="1"/>
        <c:axId val="2118791784"/>
        <c:axId val="2140495176"/>
      </c:lineChart>
      <c:catAx>
        <c:axId val="2118791784"/>
        <c:scaling>
          <c:orientation val="minMax"/>
        </c:scaling>
        <c:delete val="0"/>
        <c:axPos val="b"/>
        <c:majorGridlines>
          <c:spPr>
            <a:ln w="9525" cap="flat" cmpd="sng" algn="ctr">
              <a:solidFill>
                <a:srgbClr val="C8CDD3"/>
              </a:solidFill>
              <a:prstDash val="dash"/>
            </a:ln>
          </c:spPr>
        </c:majorGridlines>
        <c:title>
          <c:tx>
            <c:rich>
              <a:bodyPr/>
              <a:lstStyle/>
              <a:p>
                <a:r>
                  <a:rPr sz="1200" b="1" i="1">
                    <a:solidFill>
                      <a:srgbClr val="0B2B4E"/>
                    </a:solidFill>
                    <a:latin typeface="Calibri"/>
                  </a:rPr>
                  <a:t>Workers (L)</a:t>
                </a:r>
              </a:p>
            </c:rich>
          </c:tx>
          <c:layout/>
          <c:overlay val="0"/>
        </c:title>
        <c:majorTickMark val="out"/>
        <c:minorTickMark val="none"/>
        <c:tickLblPos val="nextTo"/>
        <c:txPr>
          <a:bodyPr/>
          <a:lstStyle/>
          <a:p>
            <a:pPr>
              <a:defRPr sz="1000">
                <a:solidFill>
                  <a:srgbClr val="0B2B4E"/>
                </a:solidFill>
                <a:latin typeface="Calibri"/>
              </a:defRPr>
            </a:pPr>
          </a:p>
        </c:txPr>
        <c:crossAx val="2140495176"/>
        <c:crosses val="autoZero"/>
        <c:auto val="1"/>
        <c:lblAlgn val="ctr"/>
        <c:lblOffset val="100"/>
        <c:noMultiLvlLbl val="0"/>
      </c:catAx>
      <c:valAx>
        <c:axId val="2140495176"/>
        <c:scaling>
          <c:max val="450.0"/>
          <c:min val="0.0"/>
        </c:scaling>
        <c:delete val="0"/>
        <c:axPos val="l"/>
        <c:majorGridlines>
          <c:spPr>
            <a:ln w="9525" cap="flat" cmpd="sng" algn="ctr">
              <a:solidFill>
                <a:srgbClr val="C8CDD3"/>
              </a:solidFill>
              <a:prstDash val="dash"/>
            </a:ln>
          </c:spPr>
        </c:majorGridlines>
        <c:title>
          <c:tx>
            <c:rich>
              <a:bodyPr/>
              <a:lstStyle/>
              <a:p>
                <a:r>
                  <a:rPr sz="1200" b="1" i="1">
                    <a:solidFill>
                      <a:srgbClr val="0B2B4E"/>
                    </a:solidFill>
                    <a:latin typeface="Calibri"/>
                  </a:rPr>
                  <a:t>Output (Q)</a:t>
                </a:r>
              </a:p>
            </c:rich>
          </c:tx>
          <c:layout/>
          <c:overlay val="0"/>
        </c:title>
        <c:majorTickMark val="out"/>
        <c:minorTickMark val="none"/>
        <c:tickLblPos val="nextTo"/>
        <c:txPr>
          <a:bodyPr/>
          <a:lstStyle/>
          <a:p>
            <a:pPr>
              <a:defRPr sz="1000">
                <a:solidFill>
                  <a:srgbClr val="0B2B4E"/>
                </a:solidFill>
                <a:latin typeface="Calibri"/>
              </a:defRPr>
            </a:pPr>
          </a:p>
        </c:txPr>
        <c:crossAx val="2118791784"/>
        <c:crosses val="autoZero"/>
        <c:crossBetween val="midCat"/>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15"/>
          <c:y val="0.04"/>
          <c:w val="0.80"/>
          <c:h val="0.78"/>
        </c:manualLayout>
      </c:layout>
      <c:scatterChart>
        <c:scatterStyle val="smoothMarker"/>
        <c:varyColors val="0"/>
        <c:ser>
          <c:idx val="0"/>
          <c:order val="0"/>
          <c:tx>
            <c:strRef>
              <c:f>Sheet1!$B$1</c:f>
              <c:strCache>
                <c:ptCount val="1"/>
                <c:pt idx="0">
                  <c:v>MPL</c:v>
                </c:pt>
              </c:strCache>
            </c:strRef>
          </c:tx>
          <c:spPr>
            <a:ln w="31750">
              <a:solidFill>
                <a:srgbClr val="E09F3E"/>
              </a:solidFill>
            </a:ln>
          </c:spPr>
          <c:xVal>
            <c:numRef>
              <c:f>Sheet1!$A$2:$A$12</c:f>
              <c:numCache>
                <c:formatCode>General</c:formatCode>
                <c:ptCount val="11"/>
                <c:pt idx="0">
                  <c:v>125</c:v>
                </c:pt>
                <c:pt idx="1">
                  <c:v>375</c:v>
                </c:pt>
                <c:pt idx="2">
                  <c:v>750</c:v>
                </c:pt>
                <c:pt idx="3">
                  <c:v>1250</c:v>
                </c:pt>
                <c:pt idx="4">
                  <c:v>1750</c:v>
                </c:pt>
                <c:pt idx="5">
                  <c:v>2250</c:v>
                </c:pt>
                <c:pt idx="6">
                  <c:v>2750</c:v>
                </c:pt>
                <c:pt idx="7">
                  <c:v>3250</c:v>
                </c:pt>
                <c:pt idx="8">
                  <c:v>3750</c:v>
                </c:pt>
                <c:pt idx="9">
                  <c:v>4250</c:v>
                </c:pt>
                <c:pt idx="10">
                  <c:v>4750</c:v>
                </c:pt>
              </c:numCache>
            </c:numRef>
          </c:xVal>
          <c:yVal>
            <c:numRef>
              <c:f>Sheet1!$B$2:$B$12</c:f>
              <c:numCache>
                <c:formatCode>General</c:formatCode>
                <c:ptCount val="11"/>
                <c:pt idx="0">
                  <c:v>0.66</c:v>
                </c:pt>
                <c:pt idx="1">
                  <c:v>0.156</c:v>
                </c:pt>
                <c:pt idx="2">
                  <c:v>0.094</c:v>
                </c:pt>
                <c:pt idx="3">
                  <c:v>0.064</c:v>
                </c:pt>
                <c:pt idx="4">
                  <c:v>0.052</c:v>
                </c:pt>
                <c:pt idx="5">
                  <c:v>0.042</c:v>
                </c:pt>
                <c:pt idx="6">
                  <c:v>0.036</c:v>
                </c:pt>
                <c:pt idx="7">
                  <c:v>0.034</c:v>
                </c:pt>
                <c:pt idx="8">
                  <c:v>0.03</c:v>
                </c:pt>
                <c:pt idx="9">
                  <c:v>0.028</c:v>
                </c:pt>
                <c:pt idx="10">
                  <c:v>0.024</c:v>
                </c:pt>
              </c:numCache>
            </c:numRef>
          </c:yVal>
          <c:marker>
            <c:symbol val="circle"/>
            <c:size val="7"/>
            <c:spPr>
              <a:solidFill>
                <a:srgbClr val="E09F3E"/>
              </a:solidFill>
              <a:ln>
                <a:solidFill>
                  <a:srgbClr val="E09F3E"/>
                </a:solidFill>
              </a:ln>
            </c:spPr>
          </c:marker>
          <c:smooth val="1"/>
        </c:ser>
        <c:axId val="-2128940872"/>
        <c:axId val="-2129643912"/>
      </c:scatterChart>
      <c:valAx>
        <c:axId val="-2128940872"/>
        <c:scaling>
          <c:orientation val="minMax"/>
          <c:max val="5000.0"/>
          <c:min val="0.0"/>
        </c:scaling>
        <c:delete val="0"/>
        <c:axPos val="b"/>
        <c:majorGridlines>
          <c:spPr>
            <a:ln w="9525" cap="flat" cmpd="sng" algn="ctr">
              <a:solidFill>
                <a:srgbClr val="C8CDD3"/>
              </a:solidFill>
              <a:prstDash val="dash"/>
            </a:ln>
          </c:spPr>
        </c:majorGridlines>
        <c:title>
          <c:tx>
            <c:rich>
              <a:bodyPr/>
              <a:lstStyle/>
              <a:p>
                <a:r>
                  <a:rPr sz="1200" b="1" i="1">
                    <a:solidFill>
                      <a:srgbClr val="0B2B4E"/>
                    </a:solidFill>
                    <a:latin typeface="Calibri"/>
                  </a:rPr>
                  <a:t>Workers (L)</a:t>
                </a:r>
              </a:p>
            </c:rich>
          </c:tx>
          <c:layout/>
          <c:overlay val="0"/>
        </c:title>
        <c:numFmt formatCode="General" sourceLinked="1"/>
        <c:majorTickMark val="out"/>
        <c:minorTickMark val="none"/>
        <c:tickLblPos val="nextTo"/>
        <c:txPr>
          <a:bodyPr/>
          <a:lstStyle/>
          <a:p>
            <a:pPr>
              <a:defRPr sz="1000">
                <a:solidFill>
                  <a:srgbClr val="0B2B4E"/>
                </a:solidFill>
                <a:latin typeface="Calibri"/>
              </a:defRPr>
            </a:pPr>
          </a:p>
        </c:txPr>
        <c:crossAx val="-2129643912"/>
        <c:crosses val="autoZero"/>
        <c:crossBetween val="midCat"/>
        <c:majorUnit val="500.0"/>
      </c:valAx>
      <c:valAx>
        <c:axId val="-2129643912"/>
        <c:scaling>
          <c:orientation val="minMax"/>
          <c:max val="0.45"/>
          <c:min val="0.0"/>
        </c:scaling>
        <c:delete val="0"/>
        <c:axPos val="l"/>
        <c:majorGridlines>
          <c:spPr>
            <a:ln w="9525" cap="flat" cmpd="sng" algn="ctr">
              <a:solidFill>
                <a:srgbClr val="C8CDD3"/>
              </a:solidFill>
              <a:prstDash val="dash"/>
            </a:ln>
          </c:spPr>
        </c:majorGridlines>
        <c:title>
          <c:tx>
            <c:rich>
              <a:bodyPr/>
              <a:lstStyle/>
              <a:p>
                <a:r>
                  <a:rPr sz="1200" b="1" i="1">
                    <a:solidFill>
                      <a:srgbClr val="0B2B4E"/>
                    </a:solidFill>
                    <a:latin typeface="Calibri"/>
                  </a:rPr>
                  <a:t>MPL  (cars per worker)</a:t>
                </a:r>
              </a:p>
            </c:rich>
          </c:tx>
          <c:layout/>
          <c:overlay val="0"/>
        </c:title>
        <c:numFmt formatCode="General" sourceLinked="1"/>
        <c:majorTickMark val="out"/>
        <c:minorTickMark val="none"/>
        <c:tickLblPos val="nextTo"/>
        <c:txPr>
          <a:bodyPr/>
          <a:lstStyle/>
          <a:p>
            <a:pPr>
              <a:defRPr sz="1000">
                <a:solidFill>
                  <a:srgbClr val="0B2B4E"/>
                </a:solidFill>
                <a:latin typeface="Calibri"/>
              </a:defRPr>
            </a:pPr>
          </a:p>
        </c:txPr>
        <c:crossAx val="-2128940872"/>
        <c:crosses val="autoZero"/>
        <c:crossBetween val="midCat"/>
        <c:majorUnit val="0.05"/>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1233"/>
          <c:y val="0.0579"/>
          <c:w val="0.8264"/>
          <c:h val="0.8009"/>
        </c:manualLayout>
      </c:layout>
      <c:scatterChart>
        <c:scatterStyle val="smoothMarker"/>
        <c:varyColors val="0"/>
        <c:ser>
          <c:idx val="0"/>
          <c:order val="0"/>
          <c:tx>
            <c:strRef>
              <c:f>Sheet1!$B$1</c:f>
              <c:strCache>
                <c:ptCount val="1"/>
                <c:pt idx="0">
                  <c:v>MRPL</c:v>
                </c:pt>
              </c:strCache>
            </c:strRef>
          </c:tx>
          <c:spPr>
            <a:ln w="31750">
              <a:solidFill>
                <a:srgbClr val="0B2B4E"/>
              </a:solidFill>
            </a:ln>
          </c:spPr>
          <c:xVal>
            <c:numRef>
              <c:f>Sheet1!$A$2:$A$10</c:f>
              <c:numCache>
                <c:formatCode>General</c:formatCode>
                <c:ptCount val="9"/>
                <c:pt idx="0">
                  <c:v>750</c:v>
                </c:pt>
                <c:pt idx="1">
                  <c:v>1250</c:v>
                </c:pt>
                <c:pt idx="2">
                  <c:v>1750</c:v>
                </c:pt>
                <c:pt idx="3">
                  <c:v>2250</c:v>
                </c:pt>
                <c:pt idx="4">
                  <c:v>2750</c:v>
                </c:pt>
                <c:pt idx="5">
                  <c:v>3250</c:v>
                </c:pt>
                <c:pt idx="6">
                  <c:v>3750</c:v>
                </c:pt>
                <c:pt idx="7">
                  <c:v>4250</c:v>
                </c:pt>
                <c:pt idx="8">
                  <c:v>4750</c:v>
                </c:pt>
              </c:numCache>
            </c:numRef>
          </c:xVal>
          <c:yVal>
            <c:numRef>
              <c:f>Sheet1!$B$2:$B$10</c:f>
              <c:numCache>
                <c:formatCode>General</c:formatCode>
                <c:ptCount val="9"/>
                <c:pt idx="0">
                  <c:v>4230</c:v>
                </c:pt>
                <c:pt idx="1">
                  <c:v>2880</c:v>
                </c:pt>
                <c:pt idx="2">
                  <c:v>2340</c:v>
                </c:pt>
                <c:pt idx="3">
                  <c:v>1890</c:v>
                </c:pt>
                <c:pt idx="4">
                  <c:v>1620</c:v>
                </c:pt>
                <c:pt idx="5">
                  <c:v>1530</c:v>
                </c:pt>
                <c:pt idx="6">
                  <c:v>1350</c:v>
                </c:pt>
                <c:pt idx="7">
                  <c:v>1260</c:v>
                </c:pt>
                <c:pt idx="8">
                  <c:v>1080</c:v>
                </c:pt>
              </c:numCache>
            </c:numRef>
          </c:yVal>
          <c:marker>
            <c:symbol val="circle"/>
            <c:size val="7"/>
            <c:spPr>
              <a:solidFill>
                <a:srgbClr val="0B2B4E"/>
              </a:solidFill>
              <a:ln>
                <a:solidFill>
                  <a:srgbClr val="0B2B4E"/>
                </a:solidFill>
              </a:ln>
            </c:spPr>
          </c:marker>
          <c:smooth val="0"/>
        </c:ser>
        <c:ser>
          <c:idx val="1"/>
          <c:order val="1"/>
          <c:tx>
            <c:strRef>
              <c:f>Sheet1!$B$12</c:f>
              <c:strCache>
                <c:ptCount val="1"/>
                <c:pt idx="0">
                  <c:v>Wage (w)</c:v>
                </c:pt>
              </c:strCache>
            </c:strRef>
          </c:tx>
          <c:spPr>
            <a:ln w="31750">
              <a:solidFill>
                <a:srgbClr val="E09F3E"/>
              </a:solidFill>
            </a:ln>
          </c:spPr>
          <c:xVal>
            <c:numRef>
              <c:f>Sheet1!$A$13:$A$14</c:f>
              <c:numCache>
                <c:formatCode>General</c:formatCode>
                <c:ptCount val="2"/>
                <c:pt idx="0">
                  <c:v>0</c:v>
                </c:pt>
                <c:pt idx="1">
                  <c:v>5000</c:v>
                </c:pt>
              </c:numCache>
            </c:numRef>
          </c:xVal>
          <c:yVal>
            <c:numRef>
              <c:f>Sheet1!$B$13:$B$14</c:f>
              <c:numCache>
                <c:formatCode>General</c:formatCode>
                <c:ptCount val="2"/>
                <c:pt idx="0">
                  <c:v>1500</c:v>
                </c:pt>
                <c:pt idx="1">
                  <c:v>1500</c:v>
                </c:pt>
              </c:numCache>
            </c:numRef>
          </c:yVal>
          <c:marker>
            <c:symbol val="square"/>
            <c:size val="7"/>
            <c:spPr>
              <a:solidFill>
                <a:srgbClr val="E09F3E"/>
              </a:solidFill>
              <a:ln>
                <a:solidFill>
                  <a:srgbClr val="E09F3E"/>
                </a:solidFill>
              </a:ln>
            </c:spPr>
          </c:marker>
          <c:smooth val="0"/>
        </c:ser>
        <c:axId val="-2128940872"/>
        <c:axId val="-2129643912"/>
      </c:scatterChart>
      <c:valAx>
        <c:axId val="-2128940872"/>
        <c:scaling>
          <c:orientation val="minMax"/>
          <c:max val="5000.0"/>
          <c:min val="0.0"/>
        </c:scaling>
        <c:delete val="0"/>
        <c:axPos val="b"/>
        <c:majorGridlines>
          <c:spPr>
            <a:ln w="9525" cap="flat" cmpd="sng" algn="ctr">
              <a:solidFill>
                <a:srgbClr val="C8CDD3"/>
              </a:solidFill>
              <a:prstDash val="dash"/>
            </a:ln>
          </c:spPr>
        </c:majorGridlines>
        <c:title>
          <c:tx>
            <c:rich>
              <a:bodyPr/>
              <a:lstStyle/>
              <a:p>
                <a:r>
                  <a:rPr sz="1200" b="1" i="1">
                    <a:solidFill>
                      <a:srgbClr val="0B2B4E"/>
                    </a:solidFill>
                    <a:latin typeface="Calibri"/>
                  </a:rPr>
                  <a:t>L   (workers, midpoint of interval)</a:t>
                </a:r>
              </a:p>
            </c:rich>
          </c:tx>
          <c:layout/>
          <c:overlay val="0"/>
        </c:title>
        <c:numFmt formatCode="General" sourceLinked="1"/>
        <c:majorTickMark val="out"/>
        <c:minorTickMark val="none"/>
        <c:tickLblPos val="nextTo"/>
        <c:txPr>
          <a:bodyPr/>
          <a:lstStyle/>
          <a:p>
            <a:pPr>
              <a:defRPr sz="1000">
                <a:solidFill>
                  <a:srgbClr val="0B2B4E"/>
                </a:solidFill>
                <a:latin typeface="Calibri"/>
              </a:defRPr>
            </a:pPr>
          </a:p>
        </c:txPr>
        <c:crossAx val="-2129643912"/>
        <c:crosses val="autoZero"/>
        <c:crossBetween val="midCat"/>
        <c:majorUnit val="500.0"/>
      </c:valAx>
      <c:valAx>
        <c:axId val="-2129643912"/>
        <c:scaling>
          <c:orientation val="minMax"/>
          <c:max val="5000.0"/>
          <c:min val="0.0"/>
        </c:scaling>
        <c:delete val="0"/>
        <c:axPos val="l"/>
        <c:majorGridlines>
          <c:spPr>
            <a:ln w="9525" cap="flat" cmpd="sng" algn="ctr">
              <a:solidFill>
                <a:srgbClr val="C8CDD3"/>
              </a:solidFill>
              <a:prstDash val="dash"/>
            </a:ln>
          </c:spPr>
        </c:majorGridlines>
        <c:title>
          <c:tx>
            <c:rich>
              <a:bodyPr/>
              <a:lstStyle/>
              <a:p>
                <a:r>
                  <a:rPr sz="1200" b="1" i="1">
                    <a:solidFill>
                      <a:srgbClr val="0B2B4E"/>
                    </a:solidFill>
                    <a:latin typeface="Calibri"/>
                  </a:rPr>
                  <a:t>$ per worker per week</a:t>
                </a:r>
              </a:p>
            </c:rich>
          </c:tx>
          <c:layout/>
          <c:overlay val="0"/>
        </c:title>
        <c:numFmt formatCode="General" sourceLinked="1"/>
        <c:majorTickMark val="out"/>
        <c:minorTickMark val="none"/>
        <c:tickLblPos val="nextTo"/>
        <c:txPr>
          <a:bodyPr/>
          <a:lstStyle/>
          <a:p>
            <a:pPr>
              <a:defRPr sz="1000">
                <a:solidFill>
                  <a:srgbClr val="0B2B4E"/>
                </a:solidFill>
                <a:latin typeface="Calibri"/>
              </a:defRPr>
            </a:pPr>
          </a:p>
        </c:txPr>
        <c:crossAx val="-2128940872"/>
        <c:crosses val="autoZero"/>
        <c:crossBetween val="midCat"/>
        <c:majorUnit val="500.0"/>
      </c:valAx>
    </c:plotArea>
    <c:legend>
      <c:legendPos val="tr"/>
      <c:layout>
        <c:manualLayout>
          <c:xMode val="edge"/>
          <c:yMode val="edge"/>
          <c:x val="0.6888"/>
          <c:y val="0.1830"/>
          <c:w val="0.22"/>
          <c:h val="0.20"/>
        </c:manualLayout>
      </c:layout>
      <c:spPr>
        <a:solidFill>
          <a:srgbClr val="FFFFFF"/>
        </a:solidFill>
        <a:ln w="6350">
          <a:solidFill>
            <a:srgbClr val="0B2B4E"/>
          </a:solidFill>
        </a:ln>
      </c:spPr>
      <c:overlay val="0"/>
      <c:txPr>
        <a:bodyPr/>
        <a:lstStyle/>
        <a:p>
          <a:pPr>
            <a:defRPr sz="1400">
              <a:solidFill>
                <a:srgbClr val="0B2B4E"/>
              </a:solidFill>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Y</c:v>
                </c:pt>
              </c:strCache>
            </c:strRef>
          </c:tx>
          <c:spPr>
            <a:ln w="31750">
              <a:solidFill>
                <a:srgbClr val="0B2B4E"/>
              </a:solidFill>
            </a:ln>
          </c:spPr>
          <c:cat>
            <c:strRef>
              <c:f>Sheet1!$A$2:$A$12</c:f>
              <c:strCache>
                <c:ptCount val="11"/>
                <c:pt idx="0">
                  <c:v>10</c:v>
                </c:pt>
                <c:pt idx="1">
                  <c:v>20</c:v>
                </c:pt>
                <c:pt idx="2">
                  <c:v>30</c:v>
                </c:pt>
                <c:pt idx="3">
                  <c:v>40</c:v>
                </c:pt>
                <c:pt idx="4">
                  <c:v>50</c:v>
                </c:pt>
                <c:pt idx="5">
                  <c:v>60</c:v>
                </c:pt>
                <c:pt idx="6">
                  <c:v>70</c:v>
                </c:pt>
                <c:pt idx="7">
                  <c:v>80</c:v>
                </c:pt>
                <c:pt idx="8">
                  <c:v>90</c:v>
                </c:pt>
                <c:pt idx="9">
                  <c:v>100</c:v>
                </c:pt>
                <c:pt idx="10">
                  <c:v>110</c:v>
                </c:pt>
              </c:strCache>
            </c:strRef>
          </c:cat>
          <c:val>
            <c:numRef>
              <c:f>Sheet1!$B$2:$B$12</c:f>
              <c:numCache>
                <c:formatCode>General</c:formatCode>
                <c:ptCount val="11"/>
                <c:pt idx="0">
                  <c:v>820.0</c:v>
                </c:pt>
                <c:pt idx="1">
                  <c:v>880.0</c:v>
                </c:pt>
                <c:pt idx="2">
                  <c:v>980.0</c:v>
                </c:pt>
                <c:pt idx="3">
                  <c:v>1120.0</c:v>
                </c:pt>
                <c:pt idx="4">
                  <c:v>1300.0</c:v>
                </c:pt>
                <c:pt idx="5">
                  <c:v>1520.0</c:v>
                </c:pt>
                <c:pt idx="6">
                  <c:v>1780.0</c:v>
                </c:pt>
                <c:pt idx="7">
                  <c:v>2080.0</c:v>
                </c:pt>
                <c:pt idx="8">
                  <c:v>2420.0</c:v>
                </c:pt>
                <c:pt idx="9">
                  <c:v>2800.0</c:v>
                </c:pt>
                <c:pt idx="10">
                  <c:v>3220.0</c:v>
                </c:pt>
              </c:numCache>
            </c:numRef>
          </c:val>
          <c:marker>
            <c:symbol val="circle"/>
            <c:size val="7"/>
            <c:spPr>
              <a:solidFill>
                <a:srgbClr val="0B2B4E"/>
              </a:solidFill>
              <a:ln>
                <a:solidFill>
                  <a:srgbClr val="0B2B4E"/>
                </a:solidFill>
              </a:ln>
            </c:spPr>
          </c:marker>
          <c:smooth val="0"/>
        </c:ser>
        <c:marker val="1"/>
        <c:smooth val="0"/>
        <c:axId val="2118791784"/>
        <c:axId val="2140495176"/>
      </c:lineChart>
      <c:catAx>
        <c:axId val="2118791784"/>
        <c:scaling>
          <c:orientation val="minMax"/>
        </c:scaling>
        <c:delete val="0"/>
        <c:axPos val="b"/>
        <c:majorGridlines>
          <c:spPr>
            <a:ln w="9525" cap="flat" cmpd="sng" algn="ctr">
              <a:solidFill>
                <a:srgbClr val="C8CDD3"/>
              </a:solidFill>
              <a:prstDash val="dash"/>
            </a:ln>
          </c:spPr>
        </c:majorGridlines>
        <c:title>
          <c:tx>
            <c:rich>
              <a:bodyPr/>
              <a:lstStyle/>
              <a:p>
                <a:r>
                  <a:rPr sz="1200" b="1" i="1">
                    <a:solidFill>
                      <a:srgbClr val="0B2B4E"/>
                    </a:solidFill>
                    <a:latin typeface="Calibri"/>
                  </a:rPr>
                  <a:t>Q   (vehicles per week)</a:t>
                </a:r>
              </a:p>
            </c:rich>
          </c:tx>
          <c:layout/>
          <c:overlay val="0"/>
        </c:title>
        <c:majorTickMark val="out"/>
        <c:minorTickMark val="none"/>
        <c:tickLblPos val="nextTo"/>
        <c:txPr>
          <a:bodyPr/>
          <a:lstStyle/>
          <a:p>
            <a:pPr>
              <a:defRPr sz="1000">
                <a:solidFill>
                  <a:srgbClr val="0B2B4E"/>
                </a:solidFill>
                <a:latin typeface="Calibri"/>
              </a:defRPr>
            </a:pPr>
          </a:p>
        </c:txPr>
        <c:crossAx val="2140495176"/>
        <c:crosses val="autoZero"/>
        <c:auto val="1"/>
        <c:lblAlgn val="ctr"/>
        <c:lblOffset val="100"/>
        <c:noMultiLvlLbl val="0"/>
      </c:catAx>
      <c:valAx>
        <c:axId val="2140495176"/>
        <c:scaling>
          <c:max val="3500.0"/>
          <c:min val="0.0"/>
        </c:scaling>
        <c:delete val="0"/>
        <c:axPos val="l"/>
        <c:majorGridlines>
          <c:spPr>
            <a:ln w="9525" cap="flat" cmpd="sng" algn="ctr">
              <a:solidFill>
                <a:srgbClr val="C8CDD3"/>
              </a:solidFill>
              <a:prstDash val="dash"/>
            </a:ln>
          </c:spPr>
        </c:majorGridlines>
        <c:title>
          <c:tx>
            <c:rich>
              <a:bodyPr/>
              <a:lstStyle/>
              <a:p>
                <a:r>
                  <a:rPr sz="1200" b="1" i="1">
                    <a:solidFill>
                      <a:srgbClr val="0B2B4E"/>
                    </a:solidFill>
                    <a:latin typeface="Calibri"/>
                  </a:rPr>
                  <a:t>TC   ($K)</a:t>
                </a:r>
              </a:p>
            </c:rich>
          </c:tx>
          <c:layout/>
          <c:overlay val="0"/>
        </c:title>
        <c:majorTickMark val="out"/>
        <c:minorTickMark val="none"/>
        <c:tickLblPos val="nextTo"/>
        <c:txPr>
          <a:bodyPr/>
          <a:lstStyle/>
          <a:p>
            <a:pPr>
              <a:defRPr sz="1000">
                <a:solidFill>
                  <a:srgbClr val="0B2B4E"/>
                </a:solidFill>
                <a:latin typeface="Calibri"/>
              </a:defRPr>
            </a:pPr>
          </a:p>
        </c:txPr>
        <c:crossAx val="2118791784"/>
        <c:crosses val="autoZero"/>
        <c:crossBetween val="midCat"/>
        <c:majorUnit val="5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TC</c:v>
                </c:pt>
              </c:strCache>
            </c:strRef>
          </c:tx>
          <c:spPr>
            <a:ln w="31750">
              <a:solidFill>
                <a:srgbClr val="0B2B4E"/>
              </a:solidFill>
            </a:ln>
          </c:spPr>
          <c:cat>
            <c:strRef>
              <c:f>Sheet1!$A$2:$A$12</c:f>
              <c:strCache>
                <c:ptCount val="11"/>
                <c:pt idx="0">
                  <c:v>10</c:v>
                </c:pt>
                <c:pt idx="1">
                  <c:v>20</c:v>
                </c:pt>
                <c:pt idx="2">
                  <c:v>30</c:v>
                </c:pt>
                <c:pt idx="3">
                  <c:v>40</c:v>
                </c:pt>
                <c:pt idx="4">
                  <c:v>50</c:v>
                </c:pt>
                <c:pt idx="5">
                  <c:v>60</c:v>
                </c:pt>
                <c:pt idx="6">
                  <c:v>70</c:v>
                </c:pt>
                <c:pt idx="7">
                  <c:v>80</c:v>
                </c:pt>
                <c:pt idx="8">
                  <c:v>90</c:v>
                </c:pt>
                <c:pt idx="9">
                  <c:v>100</c:v>
                </c:pt>
                <c:pt idx="10">
                  <c:v>110</c:v>
                </c:pt>
              </c:strCache>
            </c:strRef>
          </c:cat>
          <c:val>
            <c:numRef>
              <c:f>Sheet1!$B$2:$B$12</c:f>
              <c:numCache>
                <c:formatCode>General</c:formatCode>
                <c:ptCount val="11"/>
                <c:pt idx="0">
                  <c:v>820.0</c:v>
                </c:pt>
                <c:pt idx="1">
                  <c:v>880.0</c:v>
                </c:pt>
                <c:pt idx="2">
                  <c:v>980.0</c:v>
                </c:pt>
                <c:pt idx="3">
                  <c:v>1120.0</c:v>
                </c:pt>
                <c:pt idx="4">
                  <c:v>1300.0</c:v>
                </c:pt>
                <c:pt idx="5">
                  <c:v>1520.0</c:v>
                </c:pt>
                <c:pt idx="6">
                  <c:v>1780.0</c:v>
                </c:pt>
                <c:pt idx="7">
                  <c:v>2080.0</c:v>
                </c:pt>
                <c:pt idx="8">
                  <c:v>2420.0</c:v>
                </c:pt>
                <c:pt idx="9">
                  <c:v>2800.0</c:v>
                </c:pt>
                <c:pt idx="10">
                  <c:v>3220.0</c:v>
                </c:pt>
              </c:numCache>
            </c:numRef>
          </c:val>
          <c:marker>
            <c:symbol val="circle"/>
            <c:size val="7"/>
            <c:spPr>
              <a:solidFill>
                <a:srgbClr val="0B2B4E"/>
              </a:solidFill>
              <a:ln>
                <a:solidFill>
                  <a:srgbClr val="0B2B4E"/>
                </a:solidFill>
              </a:ln>
            </c:spPr>
          </c:marker>
          <c:smooth val="0"/>
        </c:ser>
        <c:ser>
          <c:idx val="1"/>
          <c:order val="1"/>
          <c:tx>
            <c:strRef>
              <c:f>Sheet1!$C$1</c:f>
              <c:strCache>
                <c:ptCount val="1"/>
                <c:pt idx="0">
                  <c:v>TFC</c:v>
                </c:pt>
              </c:strCache>
            </c:strRef>
          </c:tx>
          <c:spPr>
            <a:ln w="31750">
              <a:solidFill>
                <a:srgbClr val="E09F3E"/>
              </a:solidFill>
            </a:ln>
          </c:spPr>
          <c:cat>
            <c:strRef>
              <c:f>Sheet1!$A$2:$A$12</c:f>
              <c:strCache>
                <c:ptCount val="11"/>
                <c:pt idx="0">
                  <c:v>10</c:v>
                </c:pt>
                <c:pt idx="1">
                  <c:v>20</c:v>
                </c:pt>
                <c:pt idx="2">
                  <c:v>30</c:v>
                </c:pt>
                <c:pt idx="3">
                  <c:v>40</c:v>
                </c:pt>
                <c:pt idx="4">
                  <c:v>50</c:v>
                </c:pt>
                <c:pt idx="5">
                  <c:v>60</c:v>
                </c:pt>
                <c:pt idx="6">
                  <c:v>70</c:v>
                </c:pt>
                <c:pt idx="7">
                  <c:v>80</c:v>
                </c:pt>
                <c:pt idx="8">
                  <c:v>90</c:v>
                </c:pt>
                <c:pt idx="9">
                  <c:v>100</c:v>
                </c:pt>
                <c:pt idx="10">
                  <c:v>110</c:v>
                </c:pt>
              </c:strCache>
            </c:strRef>
          </c:cat>
          <c:val>
            <c:numRef>
              <c:f>Sheet1!$C$2:$C$12</c:f>
              <c:numCache>
                <c:formatCode>General</c:formatCode>
                <c:ptCount val="11"/>
                <c:pt idx="0">
                  <c:v>800.0</c:v>
                </c:pt>
                <c:pt idx="1">
                  <c:v>800.0</c:v>
                </c:pt>
                <c:pt idx="2">
                  <c:v>800.0</c:v>
                </c:pt>
                <c:pt idx="3">
                  <c:v>800.0</c:v>
                </c:pt>
                <c:pt idx="4">
                  <c:v>800.0</c:v>
                </c:pt>
                <c:pt idx="5">
                  <c:v>800.0</c:v>
                </c:pt>
                <c:pt idx="6">
                  <c:v>800.0</c:v>
                </c:pt>
                <c:pt idx="7">
                  <c:v>800.0</c:v>
                </c:pt>
                <c:pt idx="8">
                  <c:v>800.0</c:v>
                </c:pt>
                <c:pt idx="9">
                  <c:v>800.0</c:v>
                </c:pt>
                <c:pt idx="10">
                  <c:v>800.0</c:v>
                </c:pt>
              </c:numCache>
            </c:numRef>
          </c:val>
          <c:marker>
            <c:symbol val="square"/>
            <c:size val="7"/>
            <c:spPr>
              <a:solidFill>
                <a:srgbClr val="E09F3E"/>
              </a:solidFill>
              <a:ln>
                <a:solidFill>
                  <a:srgbClr val="E09F3E"/>
                </a:solidFill>
              </a:ln>
            </c:spPr>
          </c:marker>
          <c:smooth val="0"/>
        </c:ser>
        <c:ser>
          <c:idx val="2"/>
          <c:order val="2"/>
          <c:tx>
            <c:strRef>
              <c:f>Sheet1!$D$1</c:f>
              <c:strCache>
                <c:ptCount val="1"/>
                <c:pt idx="0">
                  <c:v>TVC</c:v>
                </c:pt>
              </c:strCache>
            </c:strRef>
          </c:tx>
          <c:spPr>
            <a:ln w="31750">
              <a:solidFill>
                <a:srgbClr val="C0504D"/>
              </a:solidFill>
            </a:ln>
          </c:spPr>
          <c:cat>
            <c:strRef>
              <c:f>Sheet1!$A$2:$A$12</c:f>
              <c:strCache>
                <c:ptCount val="11"/>
                <c:pt idx="0">
                  <c:v>10</c:v>
                </c:pt>
                <c:pt idx="1">
                  <c:v>20</c:v>
                </c:pt>
                <c:pt idx="2">
                  <c:v>30</c:v>
                </c:pt>
                <c:pt idx="3">
                  <c:v>40</c:v>
                </c:pt>
                <c:pt idx="4">
                  <c:v>50</c:v>
                </c:pt>
                <c:pt idx="5">
                  <c:v>60</c:v>
                </c:pt>
                <c:pt idx="6">
                  <c:v>70</c:v>
                </c:pt>
                <c:pt idx="7">
                  <c:v>80</c:v>
                </c:pt>
                <c:pt idx="8">
                  <c:v>90</c:v>
                </c:pt>
                <c:pt idx="9">
                  <c:v>100</c:v>
                </c:pt>
                <c:pt idx="10">
                  <c:v>110</c:v>
                </c:pt>
              </c:strCache>
            </c:strRef>
          </c:cat>
          <c:val>
            <c:numRef>
              <c:f>Sheet1!$D$2:$D$12</c:f>
              <c:numCache>
                <c:formatCode>General</c:formatCode>
                <c:ptCount val="11"/>
                <c:pt idx="0">
                  <c:v>20.0</c:v>
                </c:pt>
                <c:pt idx="1">
                  <c:v>80.0</c:v>
                </c:pt>
                <c:pt idx="2">
                  <c:v>180.0</c:v>
                </c:pt>
                <c:pt idx="3">
                  <c:v>320.0</c:v>
                </c:pt>
                <c:pt idx="4">
                  <c:v>500.0</c:v>
                </c:pt>
                <c:pt idx="5">
                  <c:v>720.0</c:v>
                </c:pt>
                <c:pt idx="6">
                  <c:v>980.0</c:v>
                </c:pt>
                <c:pt idx="7">
                  <c:v>1280.0</c:v>
                </c:pt>
                <c:pt idx="8">
                  <c:v>1620.0</c:v>
                </c:pt>
                <c:pt idx="9">
                  <c:v>2000.0</c:v>
                </c:pt>
                <c:pt idx="10">
                  <c:v>2420.0</c:v>
                </c:pt>
              </c:numCache>
            </c:numRef>
          </c:val>
          <c:marker>
            <c:symbol val="triangle"/>
            <c:size val="7"/>
            <c:spPr>
              <a:solidFill>
                <a:srgbClr val="C0504D"/>
              </a:solidFill>
              <a:ln>
                <a:solidFill>
                  <a:srgbClr val="C0504D"/>
                </a:solidFill>
              </a:ln>
            </c:spPr>
          </c:marker>
          <c:smooth val="0"/>
        </c:ser>
        <c:marker val="1"/>
        <c:smooth val="0"/>
        <c:axId val="2118791784"/>
        <c:axId val="2140495176"/>
      </c:lineChart>
      <c:catAx>
        <c:axId val="2118791784"/>
        <c:scaling>
          <c:orientation val="minMax"/>
        </c:scaling>
        <c:delete val="0"/>
        <c:axPos val="b"/>
        <c:majorGridlines>
          <c:spPr>
            <a:ln w="9525" cap="flat" cmpd="sng" algn="ctr">
              <a:solidFill>
                <a:srgbClr val="C8CDD3"/>
              </a:solidFill>
              <a:prstDash val="dash"/>
            </a:ln>
          </c:spPr>
        </c:majorGridlines>
        <c:title>
          <c:tx>
            <c:rich>
              <a:bodyPr/>
              <a:lstStyle/>
              <a:p>
                <a:r>
                  <a:rPr sz="1200" b="1" i="1">
                    <a:solidFill>
                      <a:srgbClr val="0B2B4E"/>
                    </a:solidFill>
                    <a:latin typeface="Calibri"/>
                  </a:rPr>
                  <a:t>Q   (vehicles per week)</a:t>
                </a:r>
              </a:p>
            </c:rich>
          </c:tx>
          <c:layout/>
          <c:overlay val="0"/>
        </c:title>
        <c:majorTickMark val="out"/>
        <c:minorTickMark val="none"/>
        <c:tickLblPos val="nextTo"/>
        <c:txPr>
          <a:bodyPr/>
          <a:lstStyle/>
          <a:p>
            <a:pPr>
              <a:defRPr sz="1000">
                <a:solidFill>
                  <a:srgbClr val="0B2B4E"/>
                </a:solidFill>
                <a:latin typeface="Calibri"/>
              </a:defRPr>
            </a:pPr>
          </a:p>
        </c:txPr>
        <c:crossAx val="2140495176"/>
        <c:crosses val="autoZero"/>
        <c:auto val="1"/>
        <c:lblAlgn val="ctr"/>
        <c:lblOffset val="100"/>
        <c:noMultiLvlLbl val="0"/>
      </c:catAx>
      <c:valAx>
        <c:axId val="2140495176"/>
        <c:scaling>
          <c:max val="3500.0"/>
          <c:min val="0.0"/>
        </c:scaling>
        <c:delete val="0"/>
        <c:axPos val="l"/>
        <c:majorGridlines>
          <c:spPr>
            <a:ln w="9525" cap="flat" cmpd="sng" algn="ctr">
              <a:solidFill>
                <a:srgbClr val="C8CDD3"/>
              </a:solidFill>
              <a:prstDash val="dash"/>
            </a:ln>
          </c:spPr>
        </c:majorGridlines>
        <c:title>
          <c:tx>
            <c:rich>
              <a:bodyPr/>
              <a:lstStyle/>
              <a:p>
                <a:r>
                  <a:rPr sz="1200" b="1" i="1">
                    <a:solidFill>
                      <a:srgbClr val="0B2B4E"/>
                    </a:solidFill>
                    <a:latin typeface="Calibri"/>
                  </a:rPr>
                  <a:t>Cost   ($K)</a:t>
                </a:r>
              </a:p>
            </c:rich>
          </c:tx>
          <c:layout/>
          <c:overlay val="0"/>
        </c:title>
        <c:majorTickMark val="out"/>
        <c:minorTickMark val="none"/>
        <c:tickLblPos val="nextTo"/>
        <c:txPr>
          <a:bodyPr/>
          <a:lstStyle/>
          <a:p>
            <a:pPr>
              <a:defRPr sz="1000">
                <a:solidFill>
                  <a:srgbClr val="0B2B4E"/>
                </a:solidFill>
                <a:latin typeface="Calibri"/>
              </a:defRPr>
            </a:pPr>
          </a:p>
        </c:txPr>
        <c:crossAx val="2118791784"/>
        <c:crosses val="autoZero"/>
        <c:crossBetween val="midCat"/>
        <c:majorUnit val="500.0"/>
      </c:valAx>
    </c:plotArea>
    <c:legend>
      <c:legendPos val="tr"/>
      <c:layout>
        <c:manualLayout>
          <c:xMode val="edge"/>
          <c:yMode val="edge"/>
          <c:x val="0.10"/>
          <c:y val="0.08"/>
          <c:w val="0.18"/>
          <c:h val="0.22"/>
        </c:manualLayout>
      </c:layout>
      <c:spPr>
        <a:solidFill>
          <a:srgbClr val="FFFFFF"/>
        </a:solidFill>
        <a:ln w="6350">
          <a:solidFill>
            <a:srgbClr val="0B2B4E"/>
          </a:solidFill>
        </a:ln>
      </c:spPr>
      <c:overlay val="0"/>
      <c:txPr>
        <a:bodyPr/>
        <a:lstStyle/>
        <a:p>
          <a:pPr>
            <a:defRPr sz="1100">
              <a:solidFill>
                <a:srgbClr val="0B2B4E"/>
              </a:solidFill>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ATC</c:v>
                </c:pt>
              </c:strCache>
            </c:strRef>
          </c:tx>
          <c:spPr>
            <a:ln w="31750">
              <a:solidFill>
                <a:srgbClr val="0B2B4E"/>
              </a:solidFill>
            </a:ln>
          </c:spPr>
          <c:cat>
            <c:strRef>
              <c:f>Sheet1!$A$2:$A$12</c:f>
              <c:strCache>
                <c:ptCount val="11"/>
                <c:pt idx="0">
                  <c:v>10</c:v>
                </c:pt>
                <c:pt idx="1">
                  <c:v>20</c:v>
                </c:pt>
                <c:pt idx="2">
                  <c:v>30</c:v>
                </c:pt>
                <c:pt idx="3">
                  <c:v>40</c:v>
                </c:pt>
                <c:pt idx="4">
                  <c:v>50</c:v>
                </c:pt>
                <c:pt idx="5">
                  <c:v>60</c:v>
                </c:pt>
                <c:pt idx="6">
                  <c:v>70</c:v>
                </c:pt>
                <c:pt idx="7">
                  <c:v>80</c:v>
                </c:pt>
                <c:pt idx="8">
                  <c:v>90</c:v>
                </c:pt>
                <c:pt idx="9">
                  <c:v>100</c:v>
                </c:pt>
                <c:pt idx="10">
                  <c:v>110</c:v>
                </c:pt>
              </c:strCache>
            </c:strRef>
          </c:cat>
          <c:val>
            <c:numRef>
              <c:f>Sheet1!$B$2:$B$12</c:f>
              <c:numCache>
                <c:formatCode>General</c:formatCode>
                <c:ptCount val="11"/>
                <c:pt idx="0">
                  <c:v>82.0</c:v>
                </c:pt>
                <c:pt idx="1">
                  <c:v>44.0</c:v>
                </c:pt>
                <c:pt idx="2">
                  <c:v>32.66666666666667</c:v>
                </c:pt>
                <c:pt idx="3">
                  <c:v>28.0</c:v>
                </c:pt>
                <c:pt idx="4">
                  <c:v>26.0</c:v>
                </c:pt>
                <c:pt idx="5">
                  <c:v>25.333333333333332</c:v>
                </c:pt>
                <c:pt idx="6">
                  <c:v>25.428571428571427</c:v>
                </c:pt>
                <c:pt idx="7">
                  <c:v>26.0</c:v>
                </c:pt>
                <c:pt idx="8">
                  <c:v>26.88888888888889</c:v>
                </c:pt>
                <c:pt idx="9">
                  <c:v>28.0</c:v>
                </c:pt>
                <c:pt idx="10">
                  <c:v>29.272727272727273</c:v>
                </c:pt>
              </c:numCache>
            </c:numRef>
          </c:val>
          <c:marker>
            <c:symbol val="circle"/>
            <c:size val="7"/>
            <c:spPr>
              <a:solidFill>
                <a:srgbClr val="0B2B4E"/>
              </a:solidFill>
              <a:ln>
                <a:solidFill>
                  <a:srgbClr val="0B2B4E"/>
                </a:solidFill>
              </a:ln>
            </c:spPr>
          </c:marker>
          <c:smooth val="0"/>
        </c:ser>
        <c:ser>
          <c:idx val="1"/>
          <c:order val="1"/>
          <c:tx>
            <c:strRef>
              <c:f>Sheet1!$C$1</c:f>
              <c:strCache>
                <c:ptCount val="1"/>
                <c:pt idx="0">
                  <c:v>AVC</c:v>
                </c:pt>
              </c:strCache>
            </c:strRef>
          </c:tx>
          <c:spPr>
            <a:ln w="31750">
              <a:solidFill>
                <a:srgbClr val="E09F3E"/>
              </a:solidFill>
            </a:ln>
          </c:spPr>
          <c:cat>
            <c:strRef>
              <c:f>Sheet1!$A$2:$A$12</c:f>
              <c:strCache>
                <c:ptCount val="11"/>
                <c:pt idx="0">
                  <c:v>10</c:v>
                </c:pt>
                <c:pt idx="1">
                  <c:v>20</c:v>
                </c:pt>
                <c:pt idx="2">
                  <c:v>30</c:v>
                </c:pt>
                <c:pt idx="3">
                  <c:v>40</c:v>
                </c:pt>
                <c:pt idx="4">
                  <c:v>50</c:v>
                </c:pt>
                <c:pt idx="5">
                  <c:v>60</c:v>
                </c:pt>
                <c:pt idx="6">
                  <c:v>70</c:v>
                </c:pt>
                <c:pt idx="7">
                  <c:v>80</c:v>
                </c:pt>
                <c:pt idx="8">
                  <c:v>90</c:v>
                </c:pt>
                <c:pt idx="9">
                  <c:v>100</c:v>
                </c:pt>
                <c:pt idx="10">
                  <c:v>110</c:v>
                </c:pt>
              </c:strCache>
            </c:strRef>
          </c:cat>
          <c:val>
            <c:numRef>
              <c:f>Sheet1!$C$2:$C$12</c:f>
              <c:numCache>
                <c:formatCode>General</c:formatCode>
                <c:ptCount val="11"/>
                <c:pt idx="0">
                  <c:v>2.0</c:v>
                </c:pt>
                <c:pt idx="1">
                  <c:v>4.0</c:v>
                </c:pt>
                <c:pt idx="2">
                  <c:v>6.0</c:v>
                </c:pt>
                <c:pt idx="3">
                  <c:v>8.0</c:v>
                </c:pt>
                <c:pt idx="4">
                  <c:v>10.0</c:v>
                </c:pt>
                <c:pt idx="5">
                  <c:v>12.0</c:v>
                </c:pt>
                <c:pt idx="6">
                  <c:v>14.0</c:v>
                </c:pt>
                <c:pt idx="7">
                  <c:v>16.0</c:v>
                </c:pt>
                <c:pt idx="8">
                  <c:v>18.0</c:v>
                </c:pt>
                <c:pt idx="9">
                  <c:v>20.0</c:v>
                </c:pt>
                <c:pt idx="10">
                  <c:v>22.0</c:v>
                </c:pt>
              </c:numCache>
            </c:numRef>
          </c:val>
          <c:marker>
            <c:symbol val="square"/>
            <c:size val="7"/>
            <c:spPr>
              <a:solidFill>
                <a:srgbClr val="E09F3E"/>
              </a:solidFill>
              <a:ln>
                <a:solidFill>
                  <a:srgbClr val="E09F3E"/>
                </a:solidFill>
              </a:ln>
            </c:spPr>
          </c:marker>
          <c:smooth val="0"/>
        </c:ser>
        <c:ser>
          <c:idx val="2"/>
          <c:order val="2"/>
          <c:tx>
            <c:strRef>
              <c:f>Sheet1!$D$1</c:f>
              <c:strCache>
                <c:ptCount val="1"/>
                <c:pt idx="0">
                  <c:v>MC</c:v>
                </c:pt>
              </c:strCache>
            </c:strRef>
          </c:tx>
          <c:spPr>
            <a:ln w="31750">
              <a:solidFill>
                <a:srgbClr val="C0504D"/>
              </a:solidFill>
            </a:ln>
          </c:spPr>
          <c:cat>
            <c:strRef>
              <c:f>Sheet1!$A$2:$A$12</c:f>
              <c:strCache>
                <c:ptCount val="11"/>
                <c:pt idx="0">
                  <c:v>10</c:v>
                </c:pt>
                <c:pt idx="1">
                  <c:v>20</c:v>
                </c:pt>
                <c:pt idx="2">
                  <c:v>30</c:v>
                </c:pt>
                <c:pt idx="3">
                  <c:v>40</c:v>
                </c:pt>
                <c:pt idx="4">
                  <c:v>50</c:v>
                </c:pt>
                <c:pt idx="5">
                  <c:v>60</c:v>
                </c:pt>
                <c:pt idx="6">
                  <c:v>70</c:v>
                </c:pt>
                <c:pt idx="7">
                  <c:v>80</c:v>
                </c:pt>
                <c:pt idx="8">
                  <c:v>90</c:v>
                </c:pt>
                <c:pt idx="9">
                  <c:v>100</c:v>
                </c:pt>
                <c:pt idx="10">
                  <c:v>110</c:v>
                </c:pt>
              </c:strCache>
            </c:strRef>
          </c:cat>
          <c:val>
            <c:numRef>
              <c:f>Sheet1!$D$2:$D$12</c:f>
              <c:numCache>
                <c:formatCode>General</c:formatCode>
                <c:ptCount val="11"/>
                <c:pt idx="0">
                  <c:v>6.0</c:v>
                </c:pt>
                <c:pt idx="1">
                  <c:v>10.0</c:v>
                </c:pt>
                <c:pt idx="2">
                  <c:v>14.0</c:v>
                </c:pt>
                <c:pt idx="3">
                  <c:v>18.0</c:v>
                </c:pt>
                <c:pt idx="4">
                  <c:v>22.0</c:v>
                </c:pt>
                <c:pt idx="5">
                  <c:v>26.0</c:v>
                </c:pt>
                <c:pt idx="6">
                  <c:v>30.0</c:v>
                </c:pt>
                <c:pt idx="7">
                  <c:v>34.0</c:v>
                </c:pt>
                <c:pt idx="8">
                  <c:v>38.0</c:v>
                </c:pt>
                <c:pt idx="9">
                  <c:v>42.0</c:v>
                </c:pt>
                <c:pt idx="10">
                  <c:v>46.0</c:v>
                </c:pt>
              </c:numCache>
            </c:numRef>
          </c:val>
          <c:marker>
            <c:symbol val="triangle"/>
            <c:size val="7"/>
            <c:spPr>
              <a:solidFill>
                <a:srgbClr val="C0504D"/>
              </a:solidFill>
              <a:ln>
                <a:solidFill>
                  <a:srgbClr val="C0504D"/>
                </a:solidFill>
              </a:ln>
            </c:spPr>
          </c:marker>
          <c:smooth val="0"/>
        </c:ser>
        <c:marker val="1"/>
        <c:smooth val="0"/>
        <c:axId val="2118791784"/>
        <c:axId val="2140495176"/>
      </c:lineChart>
      <c:catAx>
        <c:axId val="2118791784"/>
        <c:scaling>
          <c:orientation val="minMax"/>
        </c:scaling>
        <c:delete val="0"/>
        <c:axPos val="b"/>
        <c:majorGridlines>
          <c:spPr>
            <a:ln w="9525" cap="flat" cmpd="sng" algn="ctr">
              <a:solidFill>
                <a:srgbClr val="C8CDD3"/>
              </a:solidFill>
              <a:prstDash val="dash"/>
            </a:ln>
          </c:spPr>
        </c:majorGridlines>
        <c:title>
          <c:tx>
            <c:rich>
              <a:bodyPr/>
              <a:lstStyle/>
              <a:p>
                <a:r>
                  <a:rPr sz="1200" b="1" i="1">
                    <a:solidFill>
                      <a:srgbClr val="0B2B4E"/>
                    </a:solidFill>
                    <a:latin typeface="Calibri"/>
                  </a:rPr>
                  <a:t>Q   (vehicles per week)</a:t>
                </a:r>
              </a:p>
            </c:rich>
          </c:tx>
          <c:layout/>
          <c:overlay val="0"/>
        </c:title>
        <c:majorTickMark val="out"/>
        <c:minorTickMark val="none"/>
        <c:tickLblPos val="nextTo"/>
        <c:txPr>
          <a:bodyPr/>
          <a:lstStyle/>
          <a:p>
            <a:pPr>
              <a:defRPr sz="1000">
                <a:solidFill>
                  <a:srgbClr val="0B2B4E"/>
                </a:solidFill>
                <a:latin typeface="Calibri"/>
              </a:defRPr>
            </a:pPr>
          </a:p>
        </c:txPr>
        <c:crossAx val="2140495176"/>
        <c:crosses val="autoZero"/>
        <c:auto val="1"/>
        <c:lblAlgn val="ctr"/>
        <c:lblOffset val="100"/>
        <c:noMultiLvlLbl val="0"/>
      </c:catAx>
      <c:valAx>
        <c:axId val="2140495176"/>
        <c:scaling>
          <c:max val="90.0"/>
          <c:min val="0.0"/>
        </c:scaling>
        <c:delete val="0"/>
        <c:axPos val="l"/>
        <c:majorGridlines>
          <c:spPr>
            <a:ln w="9525" cap="flat" cmpd="sng" algn="ctr">
              <a:solidFill>
                <a:srgbClr val="C8CDD3"/>
              </a:solidFill>
              <a:prstDash val="dash"/>
            </a:ln>
          </c:spPr>
        </c:majorGridlines>
        <c:title>
          <c:tx>
            <c:rich>
              <a:bodyPr/>
              <a:lstStyle/>
              <a:p>
                <a:r>
                  <a:rPr sz="1200" b="1" i="1">
                    <a:solidFill>
                      <a:srgbClr val="0B2B4E"/>
                    </a:solidFill>
                    <a:latin typeface="Calibri"/>
                  </a:rPr>
                  <a:t>Per-unit cost   ($K)</a:t>
                </a:r>
              </a:p>
            </c:rich>
          </c:tx>
          <c:layout/>
          <c:overlay val="0"/>
        </c:title>
        <c:majorTickMark val="out"/>
        <c:minorTickMark val="none"/>
        <c:tickLblPos val="nextTo"/>
        <c:txPr>
          <a:bodyPr/>
          <a:lstStyle/>
          <a:p>
            <a:pPr>
              <a:defRPr sz="1000">
                <a:solidFill>
                  <a:srgbClr val="0B2B4E"/>
                </a:solidFill>
                <a:latin typeface="Calibri"/>
              </a:defRPr>
            </a:pPr>
          </a:p>
        </c:txPr>
        <c:crossAx val="2118791784"/>
        <c:crosses val="autoZero"/>
        <c:crossBetween val="midCat"/>
        <c:majorUnit val="10.0"/>
      </c:valAx>
    </c:plotArea>
    <c:legend>
      <c:legendPos val="tr"/>
      <c:layout>
        <c:manualLayout>
          <c:xMode val="edge"/>
          <c:yMode val="edge"/>
          <c:x val="0.78"/>
          <c:y val="0.08"/>
          <c:w val="0.18"/>
          <c:h val="0.22"/>
        </c:manualLayout>
      </c:layout>
      <c:spPr>
        <a:solidFill>
          <a:srgbClr val="FFFFFF"/>
        </a:solidFill>
        <a:ln w="6350">
          <a:solidFill>
            <a:srgbClr val="0B2B4E"/>
          </a:solidFill>
        </a:ln>
      </c:spPr>
      <c:overlay val="0"/>
      <c:txPr>
        <a:bodyPr/>
        <a:lstStyle/>
        <a:p>
          <a:pPr>
            <a:defRPr sz="1100">
              <a:solidFill>
                <a:srgbClr val="0B2B4E"/>
              </a:solidFill>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 this is Module 3, Production and Costs. Last time we wrapped up the demand side; tonight we tackle the supply side and how output depends on inputs. By the end you'll have all the pieces you need for Module 4, where we put demand and costs together to find profit-maximizing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housekeeping before we dive in: Zoom rules. Video on if your bandwidth allows, mic muted by default. Raise hand to be called on; use the TA chat for clarifying questions. Group exercises run in breakout rooms – I'll move between them. Then we move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dive into Module 3 – two quick announcements about the midterm. It's a 6-hour at-home window over the dates shown; pick any contiguous block within that window. We'll have a TA on call for one guaranteed support window – use it if you'd like to ask live questions. Material covers Modules 1 and 2, including both problem sets. Review sessions will run during the week of the midterm; details by email.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60-second reminder of where Module 2 left us: demand curves, price elasticity, and marginal revenue. The revenue side is settled; tonight we crack open the cost side. Once both sides are in hand, profit-maximization in Module 4 falls out almost mechanically.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Module 3 fits in the 405 course as a whole. We started with the Basic Principles and the Economic Way of Thinking. Module 2 covered Value and Demand – the customer side. Tonight is Module 3, Supply and Cost – the firm side. Module 4 ties it all together in Markets, Pricing, and Strategy. So tonight you're filling in the right-hand box on this map.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big-picture frame for the night. Every executive decision you've ever made – pricing, hiring, capacity, sourcing, outsourcing – is at some level a production-and-cost decision. Tonight builds the left-hand chain in this diagram: Production Functions describe how inputs become output, and Costs translate those inputs into dollars. Combined with Demand from Module 2, they give us Output Decisions in Module 4 – pricing and profit-maximization. Click through the boxes one at a time to walk the students through the flow.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parallel trees – Production and Costs. On the Production side, the production function Q = f(K, L, M) branches into two time horizons (short run, long run), each with its decision rule rendered in proper math notation: MRPL = w for short-run hiring and MP_K/p_K = MP_L/w (bang-for-the-buck) for long-run input mix. The italic gold labels under each rule remind students that these rules ARE the optimization conditions in their time horizons. The gold callout flags the cleanest MB = MC instance (hiring); bang-for-the-buck is the related marginal-benefit-per-dollar rule, so the callout doesn't extend there. The gold-outlined bridge band at the bottom names the link to Costs: solving the optimization conditions minimizes cost for any given output, and the cost concepts on the right describe what those minimized costs look like. Use this slide as the roadmap to return to at section transitions.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Entering Part 1 – Production. The core question for the next 40 minutes: how does output depend on inputs? We'll do short-run hiring decisions first, then long-run input choice.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production function in its most basic form: output Q is a function of capital K, labor L, and any other inputs the firm uses – raw materials, energy, and so on. Capital is more than buildings – it includes machinery, software, IP, AI systems – anything you've already paid for that keeps producing. The callout at the bottom captures the big idea: a production function maps inputs into outputs, and the more efficiently it does so, the higher is productivity. Everything else in the module is built on this expression.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time-scale distinction in this course. Short run = some inputs are fixed factors — you cannot vary them within the planning horizon. Long run = a horizon long enough that EVERY input becomes variable. The two photos give parallel examples of short-run fixed factors. Left: Rivian's Normal, Illinois assembly plant — capital (the building, the robot fleet) is fixed in any given quarter; they can ramp shifts and headcount but not the four walls. Right: an ophthalmologist — skilled labor with many years of training is also a fixed factor in the short run; a hospital cannot conjure up another ophthalmologist on a month's notice. Both illustrate the same lesson: in the short run, you optimise around the factors you cannot change.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Rivian's R1 line weekly output as a function of workers (L) and robots (K).  Built from the Cobb-Douglas Q = 3.155 · √K · L^0.3 – strictly diminishing in each input individually.  Look down a column: MPL falls as you add labor with capital fixed.  Look along a row: MPK falls as you add robots with labor fixed.  Strict diminishing returns in both directions – the textbook story.  Per-worker MPL is also strictly diminishing across the non-uniform L grid (extra L=250 step at the start).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numbers as the table on the previous slide, now plotted. Four lines for four plant-capital levels (100, 200, 300, 400 robots). Each line rises but flattens – diminishing MPL. The vertical spacing between adjacent lines narrows as K grows – diminishing MPK. Memorise this shape: it shows up in every production context, from factories to consulting teams.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orientation. We've established what a production function is and how it behaves. Now we shift into the short run – capital is fixed, labor is the lever – and ask the operating question: how many workers should the firm hire? The next several slides build the marginal-product machinery we'll use to answer that.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Re-anchor the short-run framing: capital is fixed (we write the bar over K to emphasise that K is held constant) while labor is flexible. Now introduce the marginal product of labor formally: MPL is the CHANGE in output due to a CHANGE in labor input. The formula MPL = ΔQ / ΔL is shorthand for "how much extra output do I get from one more worker?" – exactly the question every plant manager asks every shift.  Next slide: the actual numbers from the Rivian production function show MPL declining.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Cobb-Douglas function we used on slides 10 and 11, now with K = 100 robots fixed and L walked through {0, 250, 500, 1000, 1500, 2000, 2500} workers.  L grid is denser at the start (two 250-worker steps) so the steep first interval is visible before the 500-worker steps take over.  MPL falls from 0.660 cars/worker (going from 0 to 250 workers) down to 0.042 cars/worker (going from 2,000 to 2,500 workers) — that's the diminishing-marginal-product story in one column.  Convention: ΔL and ΔQ are step-by-step changes (current row minus previous row), NOT changes relative to L = 0.  This is the textbook MPL and it's what makes "diminishing marginal product" show up numerically.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of this section. Diminishing MPL is a near-universal feature of short-run production: each additional worker has to share the same fixed capital, so the marginal contribution shrinks. This isn't a quirk of Rivian – it's nearly always true.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favorite historical example. The Black Death killed roughly 40% of Europe's labor force in the 14th century. Wages of survivors rose sharply – consistent with their (now higher) marginal product. Real-world proof of marginal-product reasoning, 600 years before economists named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for the next several slides.  We'll derive Rivian's optimal hiring level.  Given: Rivian R1 sells at ~$80K (average transaction price reported by Rivian for 2024–25), and capital (the plant and robot count) is fixed in the short run.  Materials and other variable costs are deliberately set aside here – we handle them on the cost side of the module.  Question: how many workers should Rivian hire?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MRPL — Marginal Revenue Product of Labor.  In plain terms: how much extra revenue does one more worker produce?  The textbook definition is MR × MPL — marginal revenue per unit times the marginal product of labor.  For a firm small enough that one more truck doesn't move the market price (price-taker), MR ≈ P, so MRPL ≈ P × MPL.  Since MPL falls as L grows (diminishing returns), MRPL also falls — which is why every firm has a finite optimal hiring level.  We're staying in the short run here: capital K is fixed, so the only lever is L.  Materials and other variable costs come back in the cost-side of the module.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concept with a concrete scenario. At 2,300 workers and 100 robots, ask students first to find which interval in the production-function table contains L = 2,300 — that's 2,000 → 2,500 per our MPL convention.  Then reframe the per-car return: of the $80k price, about $35k is material cost, so the net revenue per car is roughly $45k.  Assume this is approximately constant across quantity, so MRPL  ≈  (Net Revenue) × MPL.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PollEv – compute the MRPL at 2,300 employees and submit. Give them 30 seconds. The point isn't the exact number; it's to make sure everyone identifies the right interval (2,000 → 2,500) and does the calculation in their head.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the answer step by step.  Step 1: ask which interval contains L = 2,300 — answer 2,000 → 2,500, because our MPL convention always computes ΔQ / ΔL over a full table interval.  Step 2: pull Q(2,000) = 309 and Q(2,500) = 330 from the production-function table at K = 100 robots.  Step 3: apply the convention — ΔQ = 21, ΔL = 500, so MPL ≈ 0.042 cars per worker per week.  Step 4: MRPL  =  MPL × MR.  MR per car is the net revenue after material cost (~$80k price − ~$35k materials = ~$45k), so MRPL  ≈  0.042 × $45,000  ≈  $1,890 per worker per week. The most common slip is comparing MRPL to the TOTAL wage bill instead of the weekly wage of ONE more worker.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rule, in algebra: MRPL = w at the optimum. Burn this into your brain. Every short-run hiring problem you encounter as an executive is some version of this comparison.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Numerical solution to the optimal-hiring rule.  Re-use the MPL values from slide 14, multiply each by the net revenue per car ($45k, established on slide 19) to get MRPL.  Compare each interval's MRPL against the weekly wage of $1,500.  The optimum is the interval just BEFORE MRPL falls below the wage — here, somewhere between L=3,000 and L=3,500 if we extended the table, but for the 0–2,500 range every MRPL above $1,890 still exceeds the wage, so we'd keep hiring.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been assuming wages are constant — fine for a small firm hiring at the market wage.  But a large employer (relative to the local labor market) hiring many workers pushes the wage up.  Two concrete examples: a regional hospital hiring specialized surgeons can't just pay the market wage when it adds 20 of them; a frontier AI lab adding 100 senior researchers in one year drives up the going rate.  The technical term is monopsony, but you don't need the word — the intuition is enough.  Call such a firm a wage searcher (not a wage taker): the wage rate is upward-sloping in employment.  Punchline at the bottom: the TRUE marginal cost of labor includes the wage-bid-up effect — when you hire one more, you typically have to bump everyone else's wage too.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wage data across firms of different sizes. The pattern – larger firms tend to pay more – is consistent with the wage-search story, though many other things matter too (productivity, location, benefits).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torn-from-the-headlines wage-search example. Anthropic wants to poach a star researcher from Google DeepMind. She's rare; the third hire requires bumping up the existing senior researchers too. So the third hire is way more expensive than her salary alone. The 2024-2026 AI talent wars are the textbook wage-searcher story.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PollEv – what's the full marginal cost of the new researcher? Watch for the common trap of just reporting her $5M salary; the real answer includes the raises paid to researchers 1 and 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marginal cost of the third researcher is $8M, not her $5M salary. The lesson: when you're a big enough buyer of scarce talent (or anything), your hiring moves the market price. Factor that in. The same logic applied at Meta when they paid up to keep AI researchers from leaving in 2024.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empirical question that closes this section. Do real-world wages roughly equal MRPL? The UC wage-comparison tool lets you check for yourself. Spoiler: yes, broadly, but with persistent gaps that economists still argue about.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Switching gears now from short run to long run. In the long run, capacity is no longer fixed – we get to choose K AND L from scratch. New decision: what's the right MIX of capital and labor?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setup: Rivian building its new plant in Stanton Springs, Georgia (recently revived after the VW partnership in 2024). They get to pick everything – plant size, machinery, workforce, layout. How should they choose?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general framework: we need a decision rule for combining inputs when both are variable. The rule will look familiar – it's the same logic as the short-run hiring rule, generalized. Three conditions under the rule: both inputs flexible, output Q held fixed, input prices w and p_K constant. Spend each additional dollar on whichever input gives the most extra output per dollar.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Recipe for applying the rule.  Two cases when the MP-per-dollar ratios are not yet equal:  if MP_L/w is the higher one, the firm should shift toward labor (use more L, less K);  if MP_K/p_K is higher, shift toward capital.  As the adjustment happens, diminishing marginal returns kick in — adding L pulls MP_L down, taking K away pushes MP_K up — so the two ratios converge.  Keep going until they meet:  MP_L/w = MP_K/p_K is the optimum.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Rivian announced a second US assembly plant in Stanton Springs, Georgia – a multi-billion-dollar project meant to add capacity once it ramps.  We'll apply the bang-for-the-buck rule to a stylised version of those plans:  robots vs. workers, given each input's price and marginal product.  Current plan is K = 300 robots and L = 2,000 workers — both on the production-function table grid, so the next slides read Q, MPL, MPK straight off the table.  The strategic point: when the two MP/price ratios aren't equal, the firm should reallocate.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production function for Georgia in numbers.  At K = 300, L = 2,000 the table reads Q = 534.  Walk through the derivation: by convention we step UP to the next grid value (2,000 → 2,500 for labor, 300 → 400 for robots), so MPL = (571 − 534)/500 ≈ 0.07 cars per worker per week and MPK = (617 − 534)/100 ≈ 0.83 cars per robot.  Don't reveal whether the mix is optimal yet — the next slide is the PollEV.</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PollEv.  Looking at the numbers from the previous slide — current plan K = 300 robots, L = 2,000 workers (Q = 534), with MPL ≈ 0.07 and MPK ≈ 0.83 — is the current mix optimal?  Give them 30 seconds to think through the bang-for-the-buck ratios (MP / price).  Some will say yes, some no;  reveal in the next slide.  The point isn't the vote count, it's the active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the mix isn't optimal.  Workers' bang-for-the-buck (MPL / w ≈ 5.8 × 10⁻⁵) is roughly 1.4× robots' (MPK / pK ≈ 4.2 × 10⁻⁵), so Rivian should hire more workers and use fewer robots.  Intuition: at K = 300, L = 2,000 the marginal worker delivers more output per dollar than the marginal robot — robots are relatively over-priced for the current labor force. Same bang-for-the-buck rule as before; the conclusion direction depends on where the operating point sits.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Comparative statics. When input prices change, the optimal mix shifts: a tax on robots pushes Rivian toward more labor; rising wages push them toward more automation. Real strategic implications for any firm facing input-price shocks – including AI labs deciding between GPU spend and engineer headcount.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bang-for-the-buck rule isn't just for factories – you apply it every week at the grocery store. P&amp;G offers two sizes of Tide Ultra Oxi: small at 29 loads for $17, large at 81 loads for $35. Compute loads-per-dollar: 29/17 ≈ 1.7 for the small, 81/35 ≈ 2.3 for the large. The large size delivers more cleaning per dollar, so the bang-for-the-buck rule says to buy the large bottle. Same logic as the factory's input choice, just a different decision.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 Costs. We've covered what to PRODUCE; now we cover what it COSTS, and crucially, which costs actually matter for decisions.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cost concept for executives, in five words: sunk costs are not costs. They've already been spent; they cannot be recovered. Any forward-looking decision should ignore them. Period.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group-work exercise. Two cars, same daily operating cost, but different sunk amounts. Which should you drive today? Whatever your gut says, the answer is: ignore the sunk cost – it's the same either way (the lease is sunk; only the variable per-mile costs matter for the marginal trip decision).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Hollywood case. Kevin Costner's Waterworld – they knew it would flop, why release it anyway? Answer: even a flop adds revenue net of marketing/release costs. The hundreds of millions already spent on production are sunk. Decision should be forward-looking only.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decision tree behind the Waterworld decision. Three scenarios – optimistic, neutral, pessimistic – differ in how much was sunk vs. how much more it costs to release. In ALL three the release-anyway revenue exceeds the marginal release cost. So they released. Sunk costs are sunk.</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logic, in a current strategic context. Meta's Reality Labs has lost roughly $50B from 2020-2024 on Metaverse and VR investments. Wall Street keeps asking when it pays off. Zuckerberg keeps investing – correctly – because the past losses are sunk. The right question is forward-looking: does the next $10B have positive expected value? Same lesson as Waterworld, dressed in 2025 clothes.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flip side of sunk costs is opportunity cost. Apple killed Project Titan in 2024 after roughly a decade and $10B spent. The sunk costs were sunk. What killed the project was opportunity cost: those engineers and that capital had a higher-MPL use in Apple Intelligence and AI.</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reference: fixed, variable, sunk, marginal, average, opportunity. A cheat sheet you'll refer to for the rest of the module. Make sure you can give a one-sentence example of each.</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concepts in the real world – a page from Ross Stores' annual report. Have students classify each line as fixed or variable. The point is to ground the abstract concepts in something they'll see in a 10-K.</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pricing case students will recognize from their own subscriptions. ChatGPT Plus costs $20/user/month; ChatGPT Team costs $25/user/month but requires a 2-user minimum. If you have one user on Plus and want to add a second, what's the marginal cost of that second user? Hint: it's not just $25.</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PollEv.  Compute the marginal cost of adding the second user to a ChatGPT Team plan.  The common trap: students see the $25 Team rate and answer $25.  But the FIRST user gets re-priced from $20 to $25 when they switch plans — so the true MC of the 2nd user is $5 (the re-pricing) + $25 (the new fee) = $30.  This is the canonical example for MC ≠ AC.  Give them 30 seconds, then reveal the solution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MC = $30/user-month for the second user (you go from $20 to $50 total). The lesson: tiered subscription pricing can hide a marginal cost that's HIGHER than the average rate. The opposite of the classic 'volume discount' story – and increasingly common in SaaS.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concept applied to finance: when a bigger loan comes with a worse rate, the marginal cost of the extra dollars is much higher than the average rate the loan was quoted at. This is a very common executive trap when comparing financing options.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back to Rivian. The Georgia plant's weekly total cost function – how total cost varies with output Q. Fixed cost of $10M, variable cost of $30K per vehicle, plus a quadratic term ($40 × Q²) that captures the rising marginal cost at high volumes.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Decompose total cost into its components: fixed plus variable, broken into sub-categories. The visual lets students see how the cost structure shifts as output grows: at low Q, the fixed cost ($10M) dominates; at high Q, the quadratic term takes over.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Rivian data, but expressed per vehicle: average cost (AC), average variable cost (AVC), and marginal cost (MC). Three curves on one chart. Note: MC crosses AVC and AC at their respective minima – this is the textbook U-shape and a diagnostic students should be able to read.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iPhone manufacturing teardowns – what do the parts and assembly actually cost for the current-gen iPhone 17? Have students guess BEFORE you reveal in two slides. Discuss what's included (components, labor, assembly) and what's not (R&amp;D, marketing, retail). Most students wildly overestimate the build cost.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PollEv.  Given the iPhone 17 teardown numbers (display, logic board, chips, battery, casing, labour &amp; assembly), what is the AVC of one unit?  Most students overestimate because they confuse retail price with marginal cost.  The teardown estimates put it around $580 — roughly half the retail price of ~$1,200.  That gap (price minus MC) is the contribution margin Apple keeps on each handset.  Reveal the answer next.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AVC ≈ $580 for iPhone 17 (vs. ~$1,199 retail). About half of retail. The rest – fixed-cost recovery, gross margin – funds Apple's R&amp;D, retail network, and ecosystem. Students consistently overestimate this number.</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iPhone naïve cost function – total cost as output rises. Linear: a fixed cost plus a constant marginal cost. This is the simplest model of a cost function; we'll see more complex shapes later (capacity constraints, increasing returns).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data, per unit. Note the constant MC and (implicit) declining AC – the classic shape when fixed costs spread over more units. With constant MC, AVC = MC at every Q. AC = AVC + AFC, so AC starts above MC and falls toward it as Q → ∞.</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Reality check: cost functions can be more complex than a straight line. The classic textbook shape is a U for marginal cost – MC high at low Q (under-utilised plant), falls as you hit the sweet spot, then rises again at high Q (over-stretched capacity, overtime, congestion). We saw the convex piece in the Rivian quadratic. For most decisions in this course we will still use linear MC – it captures the right intuition without the algebra. Pull out the U-shape only when scale effects are the whole point.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Transitioning from the cost concepts (fixed/variable/marginal/average) to what happens in the LONG run, when the plant size itself can change. Three big ideas next: long-run vs short-run cost curves, the LR-AC envelope, and economies of scale.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distinction. Short run: you're stuck with the plant you have, so you're paying for capacity you may not be using (or scrambling to get more). Long run: you get to build the right plant for the output you want. With more freedom comes weakly lower cost – long-run TC is never higher than short-run TC at any given Q, because the long run is the option to pick the best short-run plant for that Q.</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envelope diagram. Each plant size has its own short-run AC curve – U-shaped, with a minimum at the output it was designed for. The long-run AC is the lower envelope of all these short-run curves: for each output level Q, you pick the plant size that produces it at the lowest AC. In this drawing, the LAC slopes down – meaning economies of scale: bigger plant → lower AC at its respective optimum.</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Economies of scale describes what happens to long-run average cost as output rises. Three cases: falling (EoS), flat (constant), rising (DEoS). Drivers are either input-price effects – you get bulk discounts, or you bid up prices when you're huge – or pure technology effects. Important: 'economies of scale' is a COST-side concept, while 'returns to scale' (a textbook term) is a TECHNOLOGY concept. The two overlap but aren't the same. A firm can have constant returns to scale but enjoy economies of scale from bulk pricing.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technology often favour larger scale? Four classic drivers. Specialisation – Adam Smith's pin factory – workers get better at narrow tasks. Lumpiness – you can't build half a network or half an R&amp;D lab, so the fixed cost is the same whether you have 1M or 100M users. Geometry – for cylinders and tanks, volume grows faster than the surface area you have to build, so cost per unit of capacity drops with size. And scale unlocks DIFFERENT technologies entirely: only Amazon-scale firms can justify their own AI infrastructure or fulfilment robotics.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example. Both aircraft burn fuel, pay pilots, pay landing fees – many of those costs scale with the airframe, not with passenger count. Spread across far more seats, the big plane achieves a similar or lower cost per passenger-hour. (Numbers are illustrative, based on FAA operating-cost data.) This is why long-haul routes use wide-body and short regional hops use small jets: the economics of scale depend on the load.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bigger isn't always cheaper. Coordination costs explode with size: longer reporting chains, more meetings, more alignment overhead. Monitoring a 50-person team is one thing; monitoring 5,000 is qualitatively different. Bureaucracy scales super-linearly – legal, HR, compliance all expand faster than headcount. Recent business-press examples drive this home: Boeing's quality issues at scale, and the wave of big-tech reorganisations explicitly framed around 'getting back to small-team velocity'.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is the cousin of scale – but about the BREADTH of products a firm makes, not the depth of any one. Same firm, many products, sharing capabilities that are expensive to build: engineering knowledge, supply chain, brand. Airbus designed the A380 and A318 with shared engineering DNA – cockpit commonalities, pilot training, supplier base. Apple does it across iPhone/iPad/Mac (shared silicon, OS, retail). Recognising scope is what separates a firm that 'diversifies' into unrelated junk from one that genuinely lowers costs.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prompt. Amazon is the canonical 'both' case. Scale: AWS is a fixed-cost-heavy business where capacity is shared across millions of customers. Fulfilment is denser the more orders flow through. Suppliers offer better terms at scale. Scope: Prime bundles shipping + video + music + grocery; advertising, devices, and AWS all benefit from customer data created in retail. The strategic question for students: which of these is most defensible, and which is just incremental?</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 discussion. Watch the pitch (Vimeo link), focus 4:50 – 5:40 where they discuss sales volumes and costs. Two questions on PollEV. First: is this a business with economies of scale? Compare last year's volume and unit cost with this year's projection. Second: of the two deals the sharks offered, which is more founder-friendly? Comparison requires estimating profit per can.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The numbers show a clear AC drop – $1.30 → $1.10 per can – as volume more than doubles. That's economies of scale in the can-production business. Wholesale price $2.69 leaves about $1.50 profit per can. Deal A (25¢ royalty) is roughly 16.6% of profit per can; Deal B (15% equity) is structurally similar in expected value. The real decision then turns on non-cash factors: control, signalling, dilution path, and the founder's view on probability of upside.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showing what a very high marginal product of labor looks like in practice — the start of Rivian's hiring ramp, where each additional worker adds a lot of output.  Linked from the 'Very high MPL image' annotation on slide 16; the bottom-right back button returns to slide 16.</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showing what a very low marginal product of labor looks like in practice — the saturated tail of Rivian's hiring curve, where each additional worker adds almost nothing.  Linked from the 'Very low MPL image' annotation on slide 16; the bottom-right back button returns to slide 16.</a:t>
            </a:r>
          </a:p>
        </p:txBody>
      </p:sp>
      <p:sp>
        <p:nvSpPr>
          <p:cNvPr id="4" name="Slide Number Placeholder 3"/>
          <p:cNvSpPr>
            <a:spLocks noGrp="1"/>
          </p:cNvSpPr>
          <p:nvPr>
            <p:ph type="sldNum" idx="5" sz="quarter"/>
          </p:nvPr>
        </p:nvSpPr>
        <p:spPr/>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405 Slides Layou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notesSlide" Target="../notesSlides/notesSlide16.xml"/><Relationship Id="rId5" Type="http://schemas.openxmlformats.org/officeDocument/2006/relationships/slide" Target="slide75.xml"/><Relationship Id="rId6" Type="http://schemas.openxmlformats.org/officeDocument/2006/relationships/slide" Target="slide7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hyperlink" Target="https://ucannualwage.ucop.edu/wage/" TargetMode="Externa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jp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31.jpg"/><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74.xml"/><Relationship Id="rId4" Type="http://schemas.openxmlformats.org/officeDocument/2006/relationships/slide" Target="slide1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75.xml"/><Relationship Id="rId4" Type="http://schemas.openxmlformats.org/officeDocument/2006/relationships/slide" Target="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1999" y="1828800"/>
            <a:ext cx="11687697" cy="1188720"/>
          </a:xfrm>
          <a:prstGeom prst="rect">
            <a:avLst/>
          </a:prstGeom>
          <a:noFill/>
        </p:spPr>
        <p:txBody>
          <a:bodyPr wrap="square" lIns="0" rIns="0" tIns="0" bIns="0">
            <a:spAutoFit/>
          </a:bodyPr>
          <a:lstStyle/>
          <a:p>
            <a:pPr algn="ctr"/>
            <a:r>
              <a:rPr sz="6000" b="1" i="0">
                <a:solidFill>
                  <a:srgbClr val="0B2B4E"/>
                </a:solidFill>
                <a:latin typeface="Calibri"/>
              </a:rPr>
              <a:t>Production and Costs</a:t>
            </a:r>
          </a:p>
        </p:txBody>
      </p:sp>
      <p:sp>
        <p:nvSpPr>
          <p:cNvPr id="3" name="TextBox 2"/>
          <p:cNvSpPr txBox="1"/>
          <p:nvPr/>
        </p:nvSpPr>
        <p:spPr>
          <a:xfrm>
            <a:off x="251999" y="3063240"/>
            <a:ext cx="11687697" cy="685800"/>
          </a:xfrm>
          <a:prstGeom prst="rect">
            <a:avLst/>
          </a:prstGeom>
          <a:noFill/>
        </p:spPr>
        <p:txBody>
          <a:bodyPr wrap="square" lIns="0" rIns="0" tIns="0" bIns="0">
            <a:spAutoFit/>
          </a:bodyPr>
          <a:lstStyle/>
          <a:p>
            <a:pPr algn="ctr"/>
            <a:r>
              <a:rPr sz="4000" b="1" i="0">
                <a:solidFill>
                  <a:srgbClr val="E09F3E"/>
                </a:solidFill>
                <a:latin typeface="Calibri"/>
              </a:rPr>
              <a:t>Module 3</a:t>
            </a:r>
          </a:p>
        </p:txBody>
      </p:sp>
      <p:sp>
        <p:nvSpPr>
          <p:cNvPr id="4" name="Rectangle 3"/>
          <p:cNvSpPr/>
          <p:nvPr/>
        </p:nvSpPr>
        <p:spPr>
          <a:xfrm>
            <a:off x="4267047" y="4023360"/>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1999" y="4389120"/>
            <a:ext cx="11687697" cy="502920"/>
          </a:xfrm>
          <a:prstGeom prst="rect">
            <a:avLst/>
          </a:prstGeom>
          <a:noFill/>
        </p:spPr>
        <p:txBody>
          <a:bodyPr wrap="square" lIns="0" rIns="0" tIns="0" bIns="0">
            <a:spAutoFit/>
          </a:bodyPr>
          <a:lstStyle/>
          <a:p>
            <a:pPr algn="ctr"/>
            <a:r>
              <a:rPr sz="2600" b="1" i="0">
                <a:solidFill>
                  <a:srgbClr val="555B66"/>
                </a:solidFill>
                <a:latin typeface="Calibri"/>
              </a:rPr>
              <a:t>Management 405  ·  EMBA</a:t>
            </a:r>
          </a:p>
        </p:txBody>
      </p:sp>
      <p:sp>
        <p:nvSpPr>
          <p:cNvPr id="6" name="TextBox 5"/>
          <p:cNvSpPr txBox="1"/>
          <p:nvPr/>
        </p:nvSpPr>
        <p:spPr>
          <a:xfrm>
            <a:off x="251999" y="5029200"/>
            <a:ext cx="11687697" cy="457200"/>
          </a:xfrm>
          <a:prstGeom prst="rect">
            <a:avLst/>
          </a:prstGeom>
          <a:noFill/>
        </p:spPr>
        <p:txBody>
          <a:bodyPr wrap="square" lIns="0" rIns="0" tIns="0" bIns="0">
            <a:spAutoFit/>
          </a:bodyPr>
          <a:lstStyle/>
          <a:p>
            <a:pPr algn="ctr"/>
            <a:r>
              <a:rPr sz="2200" b="0" i="0">
                <a:solidFill>
                  <a:srgbClr val="555B66"/>
                </a:solidFill>
                <a:latin typeface="Calibri"/>
              </a:rPr>
              <a:t>Prof. Nico Voigtlaender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Logistics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Zoom-Specific Logistics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572000"/>
          </a:xfrm>
          <a:prstGeom prst="rect">
            <a:avLst/>
          </a:prstGeom>
          <a:noFill/>
        </p:spPr>
        <p:txBody>
          <a:bodyPr wrap="square" lIns="0" rIns="0" tIns="0" bIns="0">
            <a:spAutoFit/>
          </a:bodyPr>
          <a:lstStyle>
            <a:lvl1pPr marL="342900" indent="-342900">
              <a:spcBef>
                <a:spcPts val="2200"/>
              </a:spcBef>
              <a:buClr>
                <a:srgbClr val="0B2B4E"/>
              </a:buClr>
              <a:buFont typeface="Calibri"/>
              <a:buChar char="▪"/>
              <a:defRPr sz="3200" b="0">
                <a:solidFill>
                  <a:srgbClr val="0B2B4E"/>
                </a:solidFill>
                <a:latin typeface="Calibri"/>
              </a:defRPr>
            </a:lvl1pPr>
            <a:lvl2pPr marL="685800" indent="-228600">
              <a:spcBef>
                <a:spcPts val="300"/>
              </a:spcBef>
              <a:buClr>
                <a:srgbClr val="555B66"/>
              </a:buClr>
              <a:buFont typeface="Calibri"/>
              <a:buChar char="–"/>
              <a:defRPr sz="2800" b="0">
                <a:solidFill>
                  <a:srgbClr val="555B66"/>
                </a:solidFill>
                <a:latin typeface="Calibri"/>
              </a:defRPr>
            </a:lvl2pPr>
          </a:lstStyle>
          <a:p>
            <a:pPr algn="l"/>
            <a:r>
              <a:rPr>
                <a:latin typeface="Calibri"/>
              </a:rPr>
              <a:t>If your internet permits, keep video on, mic muted</a:t>
            </a:r>
          </a:p>
          <a:p>
            <a:pPr algn="l"/>
            <a:r>
              <a:rPr>
                <a:latin typeface="Calibri"/>
              </a:rPr>
              <a:t>Class discussions: raise hand</a:t>
            </a:r>
          </a:p>
          <a:p>
            <a:pPr algn="l" lvl="1"/>
            <a:r>
              <a:rPr>
                <a:latin typeface="Calibri"/>
              </a:rPr>
              <a:t>Will call on you to unmute</a:t>
            </a:r>
          </a:p>
          <a:p>
            <a:pPr algn="l"/>
            <a:r>
              <a:rPr>
                <a:latin typeface="Calibri"/>
              </a:rPr>
              <a:t>Chat on Zoom: only clarifying questions to TA</a:t>
            </a:r>
          </a:p>
          <a:p>
            <a:pPr algn="l" lvl="1"/>
            <a:r>
              <a:rPr>
                <a:latin typeface="Calibri"/>
              </a:rPr>
              <a:t>TA will filter questions and raise hand if needed</a:t>
            </a:r>
          </a:p>
          <a:p>
            <a:pPr algn="l"/>
            <a:r>
              <a:rPr>
                <a:latin typeface="Calibri"/>
              </a:rPr>
              <a:t>Group discussions / exercises: breakout rooms</a:t>
            </a:r>
          </a:p>
        </p:txBody>
      </p:sp>
      <p:pic>
        <p:nvPicPr>
          <p:cNvPr id="8" name="Picture 7" descr="_zoom_logo.png"/>
          <p:cNvPicPr>
            <a:picLocks noChangeAspect="1"/>
          </p:cNvPicPr>
          <p:nvPr/>
        </p:nvPicPr>
        <p:blipFill>
          <a:blip r:embed="rId2"/>
          <a:stretch>
            <a:fillRect/>
          </a:stretch>
        </p:blipFill>
        <p:spPr>
          <a:xfrm>
            <a:off x="10332720" y="594360"/>
            <a:ext cx="1463040" cy="847023"/>
          </a:xfrm>
          <a:prstGeom prst="rect">
            <a:avLst/>
          </a:prstGeom>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2" name="TextBox 11"/>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Announcements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Announcements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572000"/>
          </a:xfrm>
          <a:prstGeom prst="rect">
            <a:avLst/>
          </a:prstGeom>
          <a:noFill/>
        </p:spPr>
        <p:txBody>
          <a:bodyPr wrap="square" lIns="0" rIns="0" tIns="0" bIns="0">
            <a:spAutoFit/>
          </a:bodyPr>
          <a:lstStyle>
            <a:lvl1pPr marL="342900" indent="-342900">
              <a:spcBef>
                <a:spcPts val="1200"/>
              </a:spcBef>
              <a:buClr>
                <a:srgbClr val="0B2B4E"/>
              </a:buClr>
              <a:buFont typeface="Calibri"/>
              <a:buChar char="▪"/>
              <a:defRPr sz="3000" b="0">
                <a:solidFill>
                  <a:srgbClr val="0B2B4E"/>
                </a:solidFill>
                <a:latin typeface="Calibri"/>
              </a:defRPr>
            </a:lvl1pPr>
            <a:lvl2pPr marL="685800" indent="-228600">
              <a:spcBef>
                <a:spcPts val="300"/>
              </a:spcBef>
              <a:buClr>
                <a:srgbClr val="555B66"/>
              </a:buClr>
              <a:buFont typeface="Calibri"/>
              <a:buChar char="–"/>
              <a:defRPr sz="2600" b="0">
                <a:solidFill>
                  <a:srgbClr val="555B66"/>
                </a:solidFill>
                <a:latin typeface="Calibri"/>
              </a:defRPr>
            </a:lvl2pPr>
          </a:lstStyle>
          <a:p>
            <a:pPr algn="l"/>
            <a:r>
              <a:rPr>
                <a:latin typeface="Calibri"/>
              </a:rPr>
              <a:t>Midterm logistics</a:t>
            </a:r>
          </a:p>
          <a:p>
            <a:pPr algn="l" lvl="1"/>
            <a:r>
              <a:rPr>
                <a:latin typeface="Calibri"/>
              </a:rPr>
              <a:t>3.5-hour window at home, any time during {{MIDTERM_WINDOW}}</a:t>
            </a:r>
          </a:p>
          <a:p>
            <a:pPr algn="l" lvl="1"/>
            <a:r>
              <a:rPr>
                <a:latin typeface="Calibri"/>
              </a:rPr>
              <a:t>Guaranteed TA availability: {{TA_WINDOW}}</a:t>
            </a:r>
          </a:p>
          <a:p>
            <a:pPr algn="l"/>
            <a:r>
              <a:rPr>
                <a:latin typeface="Calibri"/>
              </a:rPr>
              <a:t>Material covered</a:t>
            </a:r>
          </a:p>
          <a:p>
            <a:pPr algn="l" lvl="1"/>
            <a:r>
              <a:rPr>
                <a:latin typeface="Calibri"/>
              </a:rPr>
              <a:t>All material from Modules 1 and 2 (includes PS 1 + 2)</a:t>
            </a:r>
          </a:p>
          <a:p>
            <a:pPr algn="l" lvl="1"/>
            <a:r>
              <a:rPr>
                <a:latin typeface="Calibri"/>
              </a:rPr>
              <a:t>Problem-solving exercises similar to PS 1 + 2</a:t>
            </a:r>
          </a:p>
          <a:p>
            <a:pPr algn="l"/>
            <a:r>
              <a:rPr>
                <a:latin typeface="Calibri"/>
              </a:rPr>
              <a:t>Review sessions during the midterm week</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1" name="TextBox 10"/>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Recap</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Recap of Module 2</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572000"/>
          </a:xfrm>
          <a:prstGeom prst="rect">
            <a:avLst/>
          </a:prstGeom>
          <a:noFill/>
        </p:spPr>
        <p:txBody>
          <a:bodyPr wrap="square" lIns="0" rIns="0" tIns="0" bIns="0">
            <a:spAutoFit/>
          </a:bodyPr>
          <a:lstStyle>
            <a:lvl1pPr marL="342900" indent="-342900">
              <a:spcBef>
                <a:spcPts val="1000"/>
              </a:spcBef>
              <a:buClr>
                <a:srgbClr val="0B2B4E"/>
              </a:buClr>
              <a:buFont typeface="Calibri"/>
              <a:buChar char="▪"/>
              <a:defRPr sz="3200" b="0">
                <a:solidFill>
                  <a:srgbClr val="0B2B4E"/>
                </a:solidFill>
                <a:latin typeface="Calibri"/>
              </a:defRPr>
            </a:lvl1pPr>
            <a:lvl2pPr marL="685800" indent="-228600">
              <a:spcBef>
                <a:spcPts val="300"/>
              </a:spcBef>
              <a:buClr>
                <a:srgbClr val="555B66"/>
              </a:buClr>
              <a:buFont typeface="Calibri"/>
              <a:buChar char="–"/>
              <a:defRPr sz="2600" b="0">
                <a:solidFill>
                  <a:srgbClr val="555B66"/>
                </a:solidFill>
                <a:latin typeface="Calibri"/>
              </a:defRPr>
            </a:lvl2pPr>
          </a:lstStyle>
          <a:p>
            <a:pPr algn="l"/>
            <a:r>
              <a:rPr>
                <a:latin typeface="Calibri"/>
              </a:rPr>
              <a:t>The law of demand</a:t>
            </a:r>
          </a:p>
          <a:p>
            <a:pPr algn="l" lvl="1"/>
            <a:r>
              <a:rPr>
                <a:latin typeface="Calibri"/>
              </a:rPr>
              <a:t>Holding everything else constant, if P falls, Q rises</a:t>
            </a:r>
          </a:p>
          <a:p>
            <a:pPr algn="l"/>
            <a:r>
              <a:rPr>
                <a:latin typeface="Calibri"/>
              </a:rPr>
              <a:t>Elasticities</a:t>
            </a:r>
          </a:p>
          <a:p>
            <a:pPr algn="l" lvl="1"/>
            <a:r>
              <a:rPr>
                <a:latin typeface="Calibri"/>
              </a:rPr>
              <a:t>Responsiveness of demand to own-price, income, competitors' price</a:t>
            </a:r>
          </a:p>
          <a:p>
            <a:pPr algn="l"/>
            <a:r>
              <a:rPr>
                <a:latin typeface="Calibri"/>
              </a:rPr>
              <a:t>Demand and revenue</a:t>
            </a:r>
          </a:p>
          <a:p>
            <a:pPr algn="l" lvl="1"/>
            <a:r>
              <a:rPr>
                <a:latin typeface="Calibri"/>
              </a:rPr>
              <a:t>Own-price elasticity drives total revenue; marginal revenue via the 3-step method</a:t>
            </a:r>
          </a:p>
          <a:p>
            <a:pPr algn="l"/>
            <a:r>
              <a:rPr>
                <a:latin typeface="Calibri"/>
              </a:rPr>
              <a:t>Demand estimation</a:t>
            </a:r>
          </a:p>
          <a:p>
            <a:pPr algn="l" lvl="1"/>
            <a:r>
              <a:rPr>
                <a:latin typeface="Calibri"/>
              </a:rPr>
              <a:t>Market experimentation and regression analysis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1" name="TextBox 10"/>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Course Roadmap</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Agenda for the Class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63927" y="1828800"/>
            <a:ext cx="78638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Calibri"/>
              </a:rPr>
              <a:t>1. Basic Principles and Economic Way of Thinking</a:t>
            </a:r>
          </a:p>
        </p:txBody>
      </p:sp>
      <p:sp>
        <p:nvSpPr>
          <p:cNvPr id="8" name="Rounded Rectangle 7"/>
          <p:cNvSpPr/>
          <p:nvPr/>
        </p:nvSpPr>
        <p:spPr>
          <a:xfrm>
            <a:off x="175244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Calibri"/>
              </a:rPr>
              <a:t>2. Value and Demand</a:t>
            </a:r>
          </a:p>
        </p:txBody>
      </p:sp>
      <p:sp>
        <p:nvSpPr>
          <p:cNvPr id="9" name="Rounded Rectangle 8"/>
          <p:cNvSpPr/>
          <p:nvPr/>
        </p:nvSpPr>
        <p:spPr>
          <a:xfrm>
            <a:off x="6233007" y="3337560"/>
            <a:ext cx="420624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Calibri"/>
              </a:rPr>
              <a:t>3. Supply and Cost</a:t>
            </a:r>
          </a:p>
        </p:txBody>
      </p:sp>
      <p:sp>
        <p:nvSpPr>
          <p:cNvPr id="10" name="Rounded Rectangle 9"/>
          <p:cNvSpPr/>
          <p:nvPr/>
        </p:nvSpPr>
        <p:spPr>
          <a:xfrm>
            <a:off x="2163927" y="5029200"/>
            <a:ext cx="78638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Calibri"/>
              </a:rPr>
              <a:t>4. Markets, Pricing, and Strategy</a:t>
            </a:r>
          </a:p>
        </p:txBody>
      </p:sp>
      <p:cxnSp>
        <p:nvCxnSpPr>
          <p:cNvPr id="11" name="Connector 10"/>
          <p:cNvCxnSpPr/>
          <p:nvPr/>
        </p:nvCxnSpPr>
        <p:spPr>
          <a:xfrm flipH="1">
            <a:off x="3855567" y="2606040"/>
            <a:ext cx="2240280" cy="731520"/>
          </a:xfrm>
          <a:prstGeom prst="line">
            <a:avLst/>
          </a:prstGeom>
          <a:ln w="38100">
            <a:solidFill>
              <a:srgbClr val="B0B5BC"/>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2606040"/>
            <a:ext cx="2240280" cy="731520"/>
          </a:xfrm>
          <a:prstGeom prst="line">
            <a:avLst/>
          </a:prstGeom>
          <a:ln w="444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55567" y="4114800"/>
            <a:ext cx="2240280" cy="914400"/>
          </a:xfrm>
          <a:prstGeom prst="line">
            <a:avLst/>
          </a:prstGeom>
          <a:ln w="38100">
            <a:solidFill>
              <a:srgbClr val="B0B5BC"/>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095847" y="4114800"/>
            <a:ext cx="2240280" cy="914400"/>
          </a:xfrm>
          <a:prstGeom prst="line">
            <a:avLst/>
          </a:prstGeom>
          <a:ln w="38100">
            <a:solidFill>
              <a:srgbClr val="B0B5BC"/>
            </a:solidFill>
            <a:tailEnd type="triangle" w="med" h="med"/>
          </a:ln>
        </p:spPr>
        <p:style>
          <a:lnRef idx="2">
            <a:schemeClr val="accent1"/>
          </a:lnRef>
          <a:fillRef idx="0">
            <a:schemeClr val="accent1"/>
          </a:fillRef>
          <a:effectRef idx="1">
            <a:schemeClr val="accent1"/>
          </a:effectRef>
          <a:fontRef idx="minor">
            <a:schemeClr val="tx1"/>
          </a:fontRef>
        </p:style>
      </p:cxnSp>
      <p:sp>
        <p:nvSpPr>
          <p:cNvPr id="15" name="Up Arrow 14"/>
          <p:cNvSpPr/>
          <p:nvPr/>
        </p:nvSpPr>
        <p:spPr>
          <a:xfrm>
            <a:off x="8587587" y="4160520"/>
            <a:ext cx="502920" cy="502920"/>
          </a:xfrm>
          <a:prstGeom prst="up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35927" y="4681728"/>
            <a:ext cx="4206240" cy="292608"/>
          </a:xfrm>
          <a:prstGeom prst="rect">
            <a:avLst/>
          </a:prstGeom>
          <a:noFill/>
        </p:spPr>
        <p:txBody>
          <a:bodyPr wrap="square" lIns="0" rIns="0" tIns="0" bIns="0">
            <a:spAutoFit/>
          </a:bodyPr>
          <a:lstStyle/>
          <a:p>
            <a:pPr algn="ctr"/>
            <a:r>
              <a:rPr sz="1600" b="1" i="1">
                <a:solidFill>
                  <a:srgbClr val="E09F3E"/>
                </a:solidFill>
                <a:latin typeface="Calibri"/>
              </a:rPr>
              <a:t>we are here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20" name="TextBox 19"/>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Big Picture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Big Picture of Module 3</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874519"/>
            <a:ext cx="4389120" cy="96012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600" b="1">
                <a:solidFill>
                  <a:srgbClr val="FFFFFF"/>
                </a:solidFill>
                <a:latin typeface="Calibri"/>
              </a:rPr>
              <a:t>Production Functions</a:t>
            </a:r>
          </a:p>
        </p:txBody>
      </p:sp>
      <p:sp>
        <p:nvSpPr>
          <p:cNvPr id="8" name="Rounded Rectangle 7"/>
          <p:cNvSpPr/>
          <p:nvPr/>
        </p:nvSpPr>
        <p:spPr>
          <a:xfrm>
            <a:off x="457200" y="3520440"/>
            <a:ext cx="4389120" cy="96012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600" b="1">
                <a:solidFill>
                  <a:srgbClr val="FFFFFF"/>
                </a:solidFill>
                <a:latin typeface="Calibri"/>
              </a:rPr>
              <a:t>Costs</a:t>
            </a:r>
          </a:p>
        </p:txBody>
      </p:sp>
      <p:sp>
        <p:nvSpPr>
          <p:cNvPr id="9" name="Rounded Rectangle 8"/>
          <p:cNvSpPr/>
          <p:nvPr/>
        </p:nvSpPr>
        <p:spPr>
          <a:xfrm>
            <a:off x="7863840" y="1874519"/>
            <a:ext cx="3840480" cy="96012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600" b="1">
                <a:solidFill>
                  <a:srgbClr val="FFFFFF"/>
                </a:solidFill>
                <a:latin typeface="Calibri"/>
              </a:rPr>
              <a:t>Demand</a:t>
            </a:r>
          </a:p>
        </p:txBody>
      </p:sp>
      <p:sp>
        <p:nvSpPr>
          <p:cNvPr id="10" name="Rounded Rectangle 9"/>
          <p:cNvSpPr/>
          <p:nvPr/>
        </p:nvSpPr>
        <p:spPr>
          <a:xfrm>
            <a:off x="2895447" y="5303520"/>
            <a:ext cx="6400800" cy="960120"/>
          </a:xfrm>
          <a:prstGeom prst="roundRect">
            <a:avLst>
              <a:gd name="adj" fmla="val 6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600" b="1">
                <a:solidFill>
                  <a:srgbClr val="FFFFFF"/>
                </a:solidFill>
                <a:latin typeface="Calibri"/>
              </a:rPr>
              <a:t>Output Decisions</a:t>
            </a:r>
          </a:p>
        </p:txBody>
      </p:sp>
      <p:cxnSp>
        <p:nvCxnSpPr>
          <p:cNvPr id="11" name="Connector 10"/>
          <p:cNvCxnSpPr/>
          <p:nvPr/>
        </p:nvCxnSpPr>
        <p:spPr>
          <a:xfrm>
            <a:off x="2651760" y="2834639"/>
            <a:ext cx="0" cy="685801"/>
          </a:xfrm>
          <a:prstGeom prst="line">
            <a:avLst/>
          </a:prstGeom>
          <a:ln w="444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651760" y="4480560"/>
            <a:ext cx="2163927" cy="822960"/>
          </a:xfrm>
          <a:prstGeom prst="line">
            <a:avLst/>
          </a:prstGeom>
          <a:ln w="444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7376007" y="2834639"/>
            <a:ext cx="2408073" cy="2468881"/>
          </a:xfrm>
          <a:prstGeom prst="line">
            <a:avLst/>
          </a:prstGeom>
          <a:ln w="38100">
            <a:solidFill>
              <a:srgbClr val="B0B5BC"/>
            </a:solidFill>
            <a:tailEnd type="triangle" w="med" h="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7" name="TextBox 16"/>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Concept Map</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How the Pieces of Module 3 Connect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234440"/>
            <a:ext cx="5486400" cy="411480"/>
          </a:xfrm>
          <a:prstGeom prst="rect">
            <a:avLst/>
          </a:prstGeom>
          <a:noFill/>
        </p:spPr>
        <p:txBody>
          <a:bodyPr wrap="square" lIns="0" rIns="0" tIns="0" bIns="0">
            <a:spAutoFit/>
          </a:bodyPr>
          <a:lstStyle/>
          <a:p>
            <a:pPr algn="ctr"/>
            <a:r>
              <a:rPr sz="2200" b="1" i="0">
                <a:solidFill>
                  <a:srgbClr val="555B66"/>
                </a:solidFill>
                <a:latin typeface="Calibri"/>
              </a:rPr>
              <a:t>PRODUCTION</a:t>
            </a:r>
          </a:p>
        </p:txBody>
      </p:sp>
      <p:sp>
        <p:nvSpPr>
          <p:cNvPr id="8" name="TextBox 7"/>
          <p:cNvSpPr txBox="1"/>
          <p:nvPr/>
        </p:nvSpPr>
        <p:spPr>
          <a:xfrm>
            <a:off x="6400800" y="1234440"/>
            <a:ext cx="5486400" cy="411480"/>
          </a:xfrm>
          <a:prstGeom prst="rect">
            <a:avLst/>
          </a:prstGeom>
          <a:noFill/>
        </p:spPr>
        <p:txBody>
          <a:bodyPr wrap="square" lIns="0" rIns="0" tIns="0" bIns="0">
            <a:spAutoFit/>
          </a:bodyPr>
          <a:lstStyle/>
          <a:p>
            <a:pPr algn="ctr"/>
            <a:r>
              <a:rPr sz="2200" b="1" i="0">
                <a:solidFill>
                  <a:srgbClr val="555B66"/>
                </a:solidFill>
                <a:latin typeface="Calibri"/>
              </a:rPr>
              <a:t>COSTS</a:t>
            </a:r>
          </a:p>
        </p:txBody>
      </p:sp>
      <p:sp>
        <p:nvSpPr>
          <p:cNvPr id="9" name="Rectangle 8"/>
          <p:cNvSpPr/>
          <p:nvPr/>
        </p:nvSpPr>
        <p:spPr>
          <a:xfrm>
            <a:off x="914400" y="1737360"/>
            <a:ext cx="4206240" cy="86868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
            </a:r>
          </a:p>
        </p:txBody>
      </p:sp>
      <p:sp>
        <p:nvSpPr>
          <p:cNvPr id="10" name="TextBox 9"/>
          <p:cNvSpPr txBox="1"/>
          <p:nvPr/>
        </p:nvSpPr>
        <p:spPr>
          <a:xfrm>
            <a:off x="914400" y="1792224"/>
            <a:ext cx="4206240" cy="274320"/>
          </a:xfrm>
          <a:prstGeom prst="rect">
            <a:avLst/>
          </a:prstGeom>
          <a:noFill/>
        </p:spPr>
        <p:txBody>
          <a:bodyPr wrap="square" lIns="0" rIns="0" tIns="0" bIns="0">
            <a:spAutoFit/>
          </a:bodyPr>
          <a:lstStyle/>
          <a:p>
            <a:pPr algn="ctr"/>
            <a:r>
              <a:rPr sz="1600" b="1" i="0">
                <a:solidFill>
                  <a:srgbClr val="FFFFFF"/>
                </a:solidFill>
                <a:latin typeface="Calibri"/>
              </a:rPr>
              <a:t>Production function</a:t>
            </a:r>
          </a:p>
        </p:txBody>
      </p:sp>
      <p:sp>
        <p:nvSpPr>
          <p:cNvPr id="11" name="TextBox 10"/>
          <p:cNvSpPr txBox="1"/>
          <p:nvPr/>
        </p:nvSpPr>
        <p:spPr>
          <a:xfrm>
            <a:off x="914400" y="2066544"/>
            <a:ext cx="4206240" cy="484632"/>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FFFFFF"/>
                </a:solidFill>
                <a:latin typeface="Cambria Math"/>
              </a:defRPr>
            </a:pPr>
            <a14:m>
              <m:oMathPara>
                <m:oMathParaPr>
                  <m:jc m:val="centerGroup"/>
                </m:oMathParaPr>
                <m:oMath>
                  <m:r>
                    <a:rPr lang="en-US" b="0" i="1" sz="2400">
                      <a:latin typeface="Cambria Math"/>
                      <a:ea typeface="Cambria Math"/>
                      <a:solidFill>
                        <a:srgbClr val="FFFFFF"/>
                      </a:solidFill>
                    </a:rPr>
                    <m:t>Q</m:t>
                  </m:r>
                  <m:r>
                    <m:rPr>
                      <m:sty m:val="p"/>
                    </m:rPr>
                    <a:rPr lang="en-US" b="0" i="0" sz="2400">
                      <a:latin typeface="Cambria Math"/>
                      <a:solidFill>
                        <a:srgbClr val="FFFFFF"/>
                      </a:solidFill>
                    </a:rPr>
                    <m:t xml:space="preserve"> = </m:t>
                  </m:r>
                  <m:r>
                    <a:rPr lang="en-US" b="0" i="1" sz="2400">
                      <a:latin typeface="Cambria Math"/>
                      <a:ea typeface="Cambria Math"/>
                      <a:solidFill>
                        <a:srgbClr val="FFFFFF"/>
                      </a:solidFill>
                    </a:rPr>
                    <m:t>f</m:t>
                  </m:r>
                  <m:r>
                    <m:rPr>
                      <m:sty m:val="p"/>
                    </m:rPr>
                    <a:rPr lang="en-US" b="0" i="0" sz="2400">
                      <a:latin typeface="Cambria Math"/>
                      <a:solidFill>
                        <a:srgbClr val="FFFFFF"/>
                      </a:solidFill>
                    </a:rPr>
                    <m:t xml:space="preserve">(</m:t>
                  </m:r>
                  <m:r>
                    <a:rPr lang="en-US" b="0" i="1" sz="2400">
                      <a:latin typeface="Cambria Math"/>
                      <a:ea typeface="Cambria Math"/>
                      <a:solidFill>
                        <a:srgbClr val="FFFFFF"/>
                      </a:solidFill>
                    </a:rPr>
                    <m:t>K</m:t>
                  </m:r>
                  <m:r>
                    <m:rPr>
                      <m:sty m:val="p"/>
                    </m:rPr>
                    <a:rPr lang="en-US" b="0" i="0" sz="2400">
                      <a:latin typeface="Cambria Math"/>
                      <a:solidFill>
                        <a:srgbClr val="FFFFFF"/>
                      </a:solidFill>
                    </a:rPr>
                    <m:t xml:space="preserve">, </m:t>
                  </m:r>
                  <m:r>
                    <a:rPr lang="en-US" b="0" i="1" sz="2400">
                      <a:latin typeface="Cambria Math"/>
                      <a:ea typeface="Cambria Math"/>
                      <a:solidFill>
                        <a:srgbClr val="FFFFFF"/>
                      </a:solidFill>
                    </a:rPr>
                    <m:t>L</m:t>
                  </m:r>
                  <m:r>
                    <m:rPr>
                      <m:sty m:val="p"/>
                    </m:rPr>
                    <a:rPr lang="en-US" b="0" i="0" sz="2400">
                      <a:latin typeface="Cambria Math"/>
                      <a:solidFill>
                        <a:srgbClr val="FFFFFF"/>
                      </a:solidFill>
                    </a:rPr>
                    <m:t xml:space="preserve">)</m:t>
                  </m:r>
                </m:oMath>
              </m:oMathPara>
            </a14:m>
            <a:endParaRPr lang="en-US" sz="2400"/>
          </a:p>
        </p:txBody>
      </p:sp>
      <p:sp>
        <p:nvSpPr>
          <p:cNvPr id="12" name="Rectangle 11"/>
          <p:cNvSpPr/>
          <p:nvPr/>
        </p:nvSpPr>
        <p:spPr>
          <a:xfrm>
            <a:off x="274320" y="2788920"/>
            <a:ext cx="2560320" cy="5943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Short Run
(K fixed, L flexible)</a:t>
            </a:r>
          </a:p>
        </p:txBody>
      </p:sp>
      <p:sp>
        <p:nvSpPr>
          <p:cNvPr id="13" name="Rectangle 12"/>
          <p:cNvSpPr/>
          <p:nvPr/>
        </p:nvSpPr>
        <p:spPr>
          <a:xfrm>
            <a:off x="3200400" y="2788920"/>
            <a:ext cx="2560320" cy="5943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Long Run
(Both K and L flexible)</a:t>
            </a:r>
          </a:p>
        </p:txBody>
      </p:sp>
      <p:sp>
        <p:nvSpPr>
          <p:cNvPr id="14" name="Rectangle 13"/>
          <p:cNvSpPr/>
          <p:nvPr/>
        </p:nvSpPr>
        <p:spPr>
          <a:xfrm>
            <a:off x="274320" y="3566160"/>
            <a:ext cx="2560320" cy="96012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
            </a:r>
          </a:p>
        </p:txBody>
      </p:sp>
      <p:sp>
        <p:nvSpPr>
          <p:cNvPr id="15" name="TextBox 14"/>
          <p:cNvSpPr txBox="1"/>
          <p:nvPr/>
        </p:nvSpPr>
        <p:spPr>
          <a:xfrm>
            <a:off x="274320" y="3621024"/>
            <a:ext cx="2560320" cy="274320"/>
          </a:xfrm>
          <a:prstGeom prst="rect">
            <a:avLst/>
          </a:prstGeom>
          <a:noFill/>
        </p:spPr>
        <p:txBody>
          <a:bodyPr wrap="square" lIns="0" rIns="0" tIns="0" bIns="0">
            <a:spAutoFit/>
          </a:bodyPr>
          <a:lstStyle/>
          <a:p>
            <a:pPr algn="ctr"/>
            <a:r>
              <a:rPr sz="1200" b="1" i="0">
                <a:solidFill>
                  <a:srgbClr val="FFFFFF"/>
                </a:solidFill>
                <a:latin typeface="Calibri"/>
              </a:rPr>
              <a:t>Hire until</a:t>
            </a:r>
          </a:p>
        </p:txBody>
      </p:sp>
      <p:sp>
        <p:nvSpPr>
          <p:cNvPr id="16" name="TextBox 15"/>
          <p:cNvSpPr txBox="1"/>
          <p:nvPr/>
        </p:nvSpPr>
        <p:spPr>
          <a:xfrm>
            <a:off x="274320" y="3895344"/>
            <a:ext cx="2560320" cy="576072"/>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FFFFFF"/>
                </a:solidFill>
                <a:latin typeface="Cambria Math"/>
              </a:defRPr>
            </a:pPr>
            <a14:m>
              <m:oMathPara>
                <m:oMathParaPr>
                  <m:jc m:val="centerGroup"/>
                </m:oMathParaPr>
                <m:oMath>
                  <m:r>
                    <m:rPr>
                      <m:sty m:val="p"/>
                    </m:rPr>
                    <a:rPr lang="en-US" b="0" i="0" sz="2400">
                      <a:latin typeface="Cambria Math"/>
                      <a:solidFill>
                        <a:srgbClr val="FFFFFF"/>
                      </a:solidFill>
                    </a:rPr>
                    <m:t xml:space="preserve">MRPL</m:t>
                  </m:r>
                  <m:r>
                    <m:rPr>
                      <m:sty m:val="p"/>
                    </m:rPr>
                    <a:rPr lang="en-US" b="0" i="0" sz="2400">
                      <a:latin typeface="Cambria Math"/>
                      <a:solidFill>
                        <a:srgbClr val="FFFFFF"/>
                      </a:solidFill>
                    </a:rPr>
                    <m:t xml:space="preserve"> = </m:t>
                  </m:r>
                  <m:r>
                    <a:rPr lang="en-US" b="0" i="1" sz="2400">
                      <a:latin typeface="Cambria Math"/>
                      <a:ea typeface="Cambria Math"/>
                      <a:solidFill>
                        <a:srgbClr val="FFFFFF"/>
                      </a:solidFill>
                    </a:rPr>
                    <m:t>w</m:t>
                  </m:r>
                </m:oMath>
              </m:oMathPara>
            </a14:m>
            <a:endParaRPr lang="en-US" sz="2400"/>
          </a:p>
        </p:txBody>
      </p:sp>
      <p:sp>
        <p:nvSpPr>
          <p:cNvPr id="17" name="Rectangle 16"/>
          <p:cNvSpPr/>
          <p:nvPr/>
        </p:nvSpPr>
        <p:spPr>
          <a:xfrm>
            <a:off x="3200400" y="3566160"/>
            <a:ext cx="2560320" cy="96012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
            </a:r>
          </a:p>
        </p:txBody>
      </p:sp>
      <p:sp>
        <p:nvSpPr>
          <p:cNvPr id="18" name="TextBox 17"/>
          <p:cNvSpPr txBox="1"/>
          <p:nvPr/>
        </p:nvSpPr>
        <p:spPr>
          <a:xfrm>
            <a:off x="3200400" y="3621024"/>
            <a:ext cx="2560320" cy="274320"/>
          </a:xfrm>
          <a:prstGeom prst="rect">
            <a:avLst/>
          </a:prstGeom>
          <a:noFill/>
        </p:spPr>
        <p:txBody>
          <a:bodyPr wrap="square" lIns="0" rIns="0" tIns="0" bIns="0">
            <a:spAutoFit/>
          </a:bodyPr>
          <a:lstStyle/>
          <a:p>
            <a:pPr algn="ctr"/>
            <a:r>
              <a:rPr sz="1200" b="1" i="0">
                <a:solidFill>
                  <a:srgbClr val="FFFFFF"/>
                </a:solidFill>
                <a:latin typeface="Calibri"/>
              </a:rPr>
              <a:t>Bang-for-the-buck</a:t>
            </a:r>
          </a:p>
        </p:txBody>
      </p:sp>
      <p:sp>
        <p:nvSpPr>
          <p:cNvPr id="19" name="TextBox 18"/>
          <p:cNvSpPr txBox="1"/>
          <p:nvPr/>
        </p:nvSpPr>
        <p:spPr>
          <a:xfrm>
            <a:off x="3200400" y="3895344"/>
            <a:ext cx="2560320" cy="576072"/>
          </a:xfrm>
          <a:prstGeom prst="rect">
            <a:avLst/>
          </a:prstGeom>
          <a:noFill/>
        </p:spPr>
        <p:txBody>
          <a:bodyPr wrap="square" anchor="ctr">
            <a:spAutoFit/>
          </a:bodyPr>
          <a:lstStyle/>
          <a:p xmlns:m="http://schemas.openxmlformats.org/officeDocument/2006/math" xmlns:a14="http://schemas.microsoft.com/office/drawing/2010/main">
            <a:pPr algn="ctr">
              <a:defRPr sz="1700" b="0" i="1">
                <a:solidFill>
                  <a:srgbClr val="FFFFFF"/>
                </a:solidFill>
                <a:latin typeface="Cambria Math"/>
              </a:defRPr>
            </a:pPr>
            <a14:m>
              <m:oMathPara>
                <m:oMathParaPr>
                  <m:jc m:val="centerGroup"/>
                </m:oMathParaPr>
                <m:oMath>
                  <m:f>
                    <m:fPr>
                      <m:ctrlPr>
                        <a:rPr lang="en-US" i="1">
                          <a:latin typeface="Cambria Math"/>
                        </a:rPr>
                      </m:ctrlPr>
                    </m:fPr>
                    <m:num>
                      <m:sSub>
                        <m:sSubPr>
                          <m:ctrlPr>
                            <a:rPr lang="en-US" i="1">
                              <a:latin typeface="Cambria Math"/>
                            </a:rPr>
                          </m:ctrlPr>
                        </m:sSubPr>
                        <m:e>
                          <m:r>
                            <m:rPr>
                              <m:sty m:val="p"/>
                            </m:rPr>
                            <a:rPr lang="en-US" b="0" i="0" sz="1700">
                              <a:latin typeface="Cambria Math"/>
                              <a:solidFill>
                                <a:srgbClr val="FFFFFF"/>
                              </a:solidFill>
                            </a:rPr>
                            <m:t xml:space="preserve">MP</m:t>
                          </m:r>
                        </m:e>
                        <m:sub>
                          <m:r>
                            <a:rPr lang="en-US" b="0" i="1" sz="1700">
                              <a:latin typeface="Cambria Math"/>
                              <a:ea typeface="Cambria Math"/>
                              <a:solidFill>
                                <a:srgbClr val="FFFFFF"/>
                              </a:solidFill>
                            </a:rPr>
                            <m:t>K</m:t>
                          </m:r>
                        </m:sub>
                      </m:sSub>
                    </m:num>
                    <m:den>
                      <m:sSub>
                        <m:sSubPr>
                          <m:ctrlPr>
                            <a:rPr lang="en-US" i="1">
                              <a:latin typeface="Cambria Math"/>
                            </a:rPr>
                          </m:ctrlPr>
                        </m:sSubPr>
                        <m:e>
                          <m:r>
                            <a:rPr lang="en-US" b="0" i="1" sz="1700">
                              <a:latin typeface="Cambria Math"/>
                              <a:ea typeface="Cambria Math"/>
                              <a:solidFill>
                                <a:srgbClr val="FFFFFF"/>
                              </a:solidFill>
                            </a:rPr>
                            <m:t>p</m:t>
                          </m:r>
                        </m:e>
                        <m:sub>
                          <m:r>
                            <a:rPr lang="en-US" b="0" i="1" sz="1700">
                              <a:latin typeface="Cambria Math"/>
                              <a:ea typeface="Cambria Math"/>
                              <a:solidFill>
                                <a:srgbClr val="FFFFFF"/>
                              </a:solidFill>
                            </a:rPr>
                            <m:t>K</m:t>
                          </m:r>
                        </m:sub>
                      </m:sSub>
                    </m:den>
                  </m:f>
                  <m:r>
                    <m:rPr>
                      <m:sty m:val="p"/>
                    </m:rPr>
                    <a:rPr lang="en-US" b="0" i="0" sz="1700">
                      <a:latin typeface="Cambria Math"/>
                      <a:solidFill>
                        <a:srgbClr val="FFFFFF"/>
                      </a:solidFill>
                    </a:rPr>
                    <m:t xml:space="preserve"> = </m:t>
                  </m:r>
                  <m:f>
                    <m:fPr>
                      <m:ctrlPr>
                        <a:rPr lang="en-US" i="1">
                          <a:latin typeface="Cambria Math"/>
                        </a:rPr>
                      </m:ctrlPr>
                    </m:fPr>
                    <m:num>
                      <m:sSub>
                        <m:sSubPr>
                          <m:ctrlPr>
                            <a:rPr lang="en-US" i="1">
                              <a:latin typeface="Cambria Math"/>
                            </a:rPr>
                          </m:ctrlPr>
                        </m:sSubPr>
                        <m:e>
                          <m:r>
                            <m:rPr>
                              <m:sty m:val="p"/>
                            </m:rPr>
                            <a:rPr lang="en-US" b="0" i="0" sz="1700">
                              <a:latin typeface="Cambria Math"/>
                              <a:solidFill>
                                <a:srgbClr val="FFFFFF"/>
                              </a:solidFill>
                            </a:rPr>
                            <m:t xml:space="preserve">MP</m:t>
                          </m:r>
                        </m:e>
                        <m:sub>
                          <m:r>
                            <a:rPr lang="en-US" b="0" i="1" sz="1700">
                              <a:latin typeface="Cambria Math"/>
                              <a:ea typeface="Cambria Math"/>
                              <a:solidFill>
                                <a:srgbClr val="FFFFFF"/>
                              </a:solidFill>
                            </a:rPr>
                            <m:t>L</m:t>
                          </m:r>
                        </m:sub>
                      </m:sSub>
                    </m:num>
                    <m:den>
                      <m:r>
                        <a:rPr lang="en-US" b="0" i="1" sz="1700">
                          <a:latin typeface="Cambria Math"/>
                          <a:ea typeface="Cambria Math"/>
                          <a:solidFill>
                            <a:srgbClr val="FFFFFF"/>
                          </a:solidFill>
                        </a:rPr>
                        <m:t>w</m:t>
                      </m:r>
                    </m:den>
                  </m:f>
                </m:oMath>
              </m:oMathPara>
            </a14:m>
            <a:endParaRPr lang="en-US" sz="1700"/>
          </a:p>
        </p:txBody>
      </p:sp>
      <p:sp>
        <p:nvSpPr>
          <p:cNvPr id="20" name="TextBox 19"/>
          <p:cNvSpPr txBox="1"/>
          <p:nvPr/>
        </p:nvSpPr>
        <p:spPr>
          <a:xfrm>
            <a:off x="274320" y="4572000"/>
            <a:ext cx="2560320" cy="256032"/>
          </a:xfrm>
          <a:prstGeom prst="rect">
            <a:avLst/>
          </a:prstGeom>
          <a:noFill/>
        </p:spPr>
        <p:txBody>
          <a:bodyPr wrap="square" lIns="0" rIns="0" tIns="0" bIns="0">
            <a:spAutoFit/>
          </a:bodyPr>
          <a:lstStyle/>
          <a:p>
            <a:pPr algn="ctr"/>
            <a:r>
              <a:rPr sz="1200" b="1" i="1">
                <a:solidFill>
                  <a:srgbClr val="E09F3E"/>
                </a:solidFill>
                <a:latin typeface="Calibri"/>
              </a:rPr>
              <a:t>↑  short-run optimization</a:t>
            </a:r>
          </a:p>
        </p:txBody>
      </p:sp>
      <p:sp>
        <p:nvSpPr>
          <p:cNvPr id="21" name="TextBox 20"/>
          <p:cNvSpPr txBox="1"/>
          <p:nvPr/>
        </p:nvSpPr>
        <p:spPr>
          <a:xfrm>
            <a:off x="3200400" y="4572000"/>
            <a:ext cx="2560320" cy="256032"/>
          </a:xfrm>
          <a:prstGeom prst="rect">
            <a:avLst/>
          </a:prstGeom>
          <a:noFill/>
        </p:spPr>
        <p:txBody>
          <a:bodyPr wrap="square" lIns="0" rIns="0" tIns="0" bIns="0">
            <a:spAutoFit/>
          </a:bodyPr>
          <a:lstStyle/>
          <a:p>
            <a:pPr algn="ctr"/>
            <a:r>
              <a:rPr sz="1200" b="1" i="1">
                <a:solidFill>
                  <a:srgbClr val="E09F3E"/>
                </a:solidFill>
                <a:latin typeface="Calibri"/>
              </a:rPr>
              <a:t>↑  long-run optimization</a:t>
            </a:r>
          </a:p>
        </p:txBody>
      </p:sp>
      <p:sp>
        <p:nvSpPr>
          <p:cNvPr id="22" name="Rectangle 21"/>
          <p:cNvSpPr/>
          <p:nvPr/>
        </p:nvSpPr>
        <p:spPr>
          <a:xfrm>
            <a:off x="6766560" y="1737360"/>
            <a:ext cx="5120640" cy="86868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
            </a:r>
          </a:p>
        </p:txBody>
      </p:sp>
      <p:sp>
        <p:nvSpPr>
          <p:cNvPr id="23" name="TextBox 22"/>
          <p:cNvSpPr txBox="1"/>
          <p:nvPr/>
        </p:nvSpPr>
        <p:spPr>
          <a:xfrm>
            <a:off x="6766560" y="1792224"/>
            <a:ext cx="5120640" cy="274320"/>
          </a:xfrm>
          <a:prstGeom prst="rect">
            <a:avLst/>
          </a:prstGeom>
          <a:noFill/>
        </p:spPr>
        <p:txBody>
          <a:bodyPr wrap="square" lIns="0" rIns="0" tIns="0" bIns="0">
            <a:spAutoFit/>
          </a:bodyPr>
          <a:lstStyle/>
          <a:p>
            <a:pPr algn="ctr"/>
            <a:r>
              <a:rPr sz="1600" b="1" i="0">
                <a:solidFill>
                  <a:srgbClr val="FFFFFF"/>
                </a:solidFill>
                <a:latin typeface="Calibri"/>
              </a:rPr>
              <a:t>Cost types</a:t>
            </a:r>
          </a:p>
        </p:txBody>
      </p:sp>
      <p:sp>
        <p:nvSpPr>
          <p:cNvPr id="24" name="TextBox 23"/>
          <p:cNvSpPr txBox="1"/>
          <p:nvPr/>
        </p:nvSpPr>
        <p:spPr>
          <a:xfrm>
            <a:off x="6766560" y="2066544"/>
            <a:ext cx="5120640" cy="484632"/>
          </a:xfrm>
          <a:prstGeom prst="rect">
            <a:avLst/>
          </a:prstGeom>
          <a:noFill/>
        </p:spPr>
        <p:txBody>
          <a:bodyPr wrap="square" anchor="ctr">
            <a:spAutoFit/>
          </a:bodyPr>
          <a:lstStyle/>
          <a:p xmlns:m="http://schemas.openxmlformats.org/officeDocument/2006/math" xmlns:a14="http://schemas.microsoft.com/office/drawing/2010/main">
            <a:pPr algn="ctr">
              <a:defRPr sz="2000" b="0" i="1">
                <a:solidFill>
                  <a:srgbClr val="FFFFFF"/>
                </a:solidFill>
                <a:latin typeface="Cambria Math"/>
              </a:defRPr>
            </a:pPr>
            <a14:m>
              <m:oMathPara>
                <m:oMathParaPr>
                  <m:jc m:val="centerGroup"/>
                </m:oMathParaPr>
                <m:oMath>
                  <m:r>
                    <m:rPr>
                      <m:sty m:val="p"/>
                    </m:rPr>
                    <a:rPr lang="en-US" b="0" i="0" sz="2000">
                      <a:latin typeface="Cambria Math"/>
                      <a:solidFill>
                        <a:srgbClr val="FFFFFF"/>
                      </a:solidFill>
                    </a:rPr>
                    <m:t xml:space="preserve">TFC</m:t>
                  </m:r>
                  <m:r>
                    <m:rPr>
                      <m:sty m:val="p"/>
                    </m:rPr>
                    <a:rPr lang="en-US" b="0" i="0" sz="2000">
                      <a:latin typeface="Cambria Math"/>
                      <a:solidFill>
                        <a:srgbClr val="FFFFFF"/>
                      </a:solidFill>
                    </a:rPr>
                    <m:t xml:space="preserve">  /  </m:t>
                  </m:r>
                  <m:r>
                    <m:rPr>
                      <m:sty m:val="p"/>
                    </m:rPr>
                    <a:rPr lang="en-US" b="0" i="0" sz="2000">
                      <a:latin typeface="Cambria Math"/>
                      <a:solidFill>
                        <a:srgbClr val="FFFFFF"/>
                      </a:solidFill>
                    </a:rPr>
                    <m:t xml:space="preserve">TVC</m:t>
                  </m:r>
                  <m:r>
                    <m:rPr>
                      <m:sty m:val="p"/>
                    </m:rPr>
                    <a:rPr lang="en-US" b="0" i="0" sz="2000">
                      <a:latin typeface="Cambria Math"/>
                      <a:solidFill>
                        <a:srgbClr val="FFFFFF"/>
                      </a:solidFill>
                    </a:rPr>
                    <m:t xml:space="preserve">  /  </m:t>
                  </m:r>
                  <m:r>
                    <m:rPr>
                      <m:sty m:val="p"/>
                    </m:rPr>
                    <a:rPr lang="en-US" b="0" i="0" sz="2000">
                      <a:latin typeface="Cambria Math"/>
                      <a:solidFill>
                        <a:srgbClr val="FFFFFF"/>
                      </a:solidFill>
                    </a:rPr>
                    <m:t xml:space="preserve">AFC</m:t>
                  </m:r>
                  <m:r>
                    <m:rPr>
                      <m:sty m:val="p"/>
                    </m:rPr>
                    <a:rPr lang="en-US" b="0" i="0" sz="2000">
                      <a:latin typeface="Cambria Math"/>
                      <a:solidFill>
                        <a:srgbClr val="FFFFFF"/>
                      </a:solidFill>
                    </a:rPr>
                    <m:t xml:space="preserve">  /  </m:t>
                  </m:r>
                  <m:r>
                    <m:rPr>
                      <m:sty m:val="p"/>
                    </m:rPr>
                    <a:rPr lang="en-US" b="0" i="0" sz="2000">
                      <a:latin typeface="Cambria Math"/>
                      <a:solidFill>
                        <a:srgbClr val="FFFFFF"/>
                      </a:solidFill>
                    </a:rPr>
                    <m:t xml:space="preserve">AVC</m:t>
                  </m:r>
                  <m:r>
                    <m:rPr>
                      <m:sty m:val="p"/>
                    </m:rPr>
                    <a:rPr lang="en-US" b="0" i="0" sz="2000">
                      <a:latin typeface="Cambria Math"/>
                      <a:solidFill>
                        <a:srgbClr val="FFFFFF"/>
                      </a:solidFill>
                    </a:rPr>
                    <m:t xml:space="preserve">  /  </m:t>
                  </m:r>
                  <m:r>
                    <m:rPr>
                      <m:sty m:val="p"/>
                    </m:rPr>
                    <a:rPr lang="en-US" b="0" i="0" sz="2000">
                      <a:latin typeface="Cambria Math"/>
                      <a:solidFill>
                        <a:srgbClr val="FFFFFF"/>
                      </a:solidFill>
                    </a:rPr>
                    <m:t xml:space="preserve">ATC</m:t>
                  </m:r>
                  <m:r>
                    <m:rPr>
                      <m:sty m:val="p"/>
                    </m:rPr>
                    <a:rPr lang="en-US" b="0" i="0" sz="2000">
                      <a:latin typeface="Cambria Math"/>
                      <a:solidFill>
                        <a:srgbClr val="FFFFFF"/>
                      </a:solidFill>
                    </a:rPr>
                    <m:t xml:space="preserve">  /  </m:t>
                  </m:r>
                  <m:r>
                    <m:rPr>
                      <m:sty m:val="p"/>
                    </m:rPr>
                    <a:rPr lang="en-US" b="0" i="0" sz="2000">
                      <a:latin typeface="Cambria Math"/>
                      <a:solidFill>
                        <a:srgbClr val="FFFFFF"/>
                      </a:solidFill>
                    </a:rPr>
                    <m:t xml:space="preserve">MC</m:t>
                  </m:r>
                </m:oMath>
              </m:oMathPara>
            </a14:m>
            <a:endParaRPr lang="en-US" sz="2000"/>
          </a:p>
        </p:txBody>
      </p:sp>
      <p:sp>
        <p:nvSpPr>
          <p:cNvPr id="25" name="Rectangle 24"/>
          <p:cNvSpPr/>
          <p:nvPr/>
        </p:nvSpPr>
        <p:spPr>
          <a:xfrm>
            <a:off x="6766560" y="2788920"/>
            <a:ext cx="1584960" cy="17373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Fixed costs
⇒ ignore if
they are sunk</a:t>
            </a:r>
          </a:p>
        </p:txBody>
      </p:sp>
      <p:sp>
        <p:nvSpPr>
          <p:cNvPr id="26" name="Rectangle 25"/>
          <p:cNvSpPr/>
          <p:nvPr/>
        </p:nvSpPr>
        <p:spPr>
          <a:xfrm>
            <a:off x="8534400" y="2788920"/>
            <a:ext cx="1584960" cy="17373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Marginal Costs
crucial for optimal
output decisions:
MR = MC
(In Module 4)</a:t>
            </a:r>
          </a:p>
        </p:txBody>
      </p:sp>
      <p:sp>
        <p:nvSpPr>
          <p:cNvPr id="27" name="Rectangle 26"/>
          <p:cNvSpPr/>
          <p:nvPr/>
        </p:nvSpPr>
        <p:spPr>
          <a:xfrm>
            <a:off x="10302240" y="2788920"/>
            <a:ext cx="1584960" cy="17373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Average Costs
mostly for
accounting purposes</a:t>
            </a:r>
          </a:p>
        </p:txBody>
      </p:sp>
      <p:cxnSp>
        <p:nvCxnSpPr>
          <p:cNvPr id="28" name="Connector 27"/>
          <p:cNvCxnSpPr/>
          <p:nvPr/>
        </p:nvCxnSpPr>
        <p:spPr>
          <a:xfrm flipH="1">
            <a:off x="1554480" y="2606040"/>
            <a:ext cx="1463040" cy="182880"/>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017520" y="2606040"/>
            <a:ext cx="1463040" cy="182880"/>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554480" y="3383280"/>
            <a:ext cx="0" cy="182880"/>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480560" y="3383280"/>
            <a:ext cx="0" cy="182880"/>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7559040" y="2606040"/>
            <a:ext cx="1767840" cy="182880"/>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326880" y="2606040"/>
            <a:ext cx="0" cy="182880"/>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326880" y="2606040"/>
            <a:ext cx="1767840" cy="182880"/>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35" name="12-Point Star 34"/>
          <p:cNvSpPr/>
          <p:nvPr/>
        </p:nvSpPr>
        <p:spPr>
          <a:xfrm>
            <a:off x="731520" y="4983480"/>
            <a:ext cx="1645920" cy="1234440"/>
          </a:xfrm>
          <a:prstGeom prst="star12">
            <a:avLst/>
          </a:prstGeom>
          <a:solidFill>
            <a:srgbClr val="E09F3E"/>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19556" y="5261229"/>
            <a:ext cx="1069848" cy="678942"/>
          </a:xfrm>
          <a:prstGeom prst="rect">
            <a:avLst/>
          </a:prstGeom>
          <a:noFill/>
        </p:spPr>
        <p:txBody>
          <a:bodyPr wrap="square" lIns="0" rIns="0" tIns="0" bIns="0" anchor="ctr">
            <a:spAutoFit/>
          </a:bodyPr>
          <a:lstStyle/>
          <a:p>
            <a:pPr algn="ctr"/>
            <a:r>
              <a:rPr sz="1600" b="1">
                <a:solidFill>
                  <a:srgbClr val="0B2B4E"/>
                </a:solidFill>
                <a:latin typeface="Calibri"/>
              </a:rPr>
              <a:t>MB = MC</a:t>
            </a:r>
          </a:p>
          <a:p>
            <a:pPr algn="ctr"/>
            <a:r>
              <a:rPr sz="1200" i="1" b="1">
                <a:solidFill>
                  <a:srgbClr val="0B2B4E"/>
                </a:solidFill>
                <a:latin typeface="Calibri"/>
              </a:rPr>
              <a:t>(of labor)</a:t>
            </a:r>
          </a:p>
        </p:txBody>
      </p:sp>
      <p:cxnSp>
        <p:nvCxnSpPr>
          <p:cNvPr id="37" name="Connector 36"/>
          <p:cNvCxnSpPr/>
          <p:nvPr/>
        </p:nvCxnSpPr>
        <p:spPr>
          <a:xfrm flipV="1">
            <a:off x="1554480" y="4526280"/>
            <a:ext cx="0" cy="45720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108960" y="5120640"/>
            <a:ext cx="2743200" cy="960120"/>
          </a:xfrm>
          <a:prstGeom prst="rect">
            <a:avLst/>
          </a:prstGeom>
          <a:solidFill>
            <a:srgbClr val="FFFFFF"/>
          </a:solidFill>
          <a:ln w="254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Minimum cost
for any given Q</a:t>
            </a:r>
          </a:p>
        </p:txBody>
      </p:sp>
      <p:cxnSp>
        <p:nvCxnSpPr>
          <p:cNvPr id="39" name="Connector 38"/>
          <p:cNvCxnSpPr/>
          <p:nvPr/>
        </p:nvCxnSpPr>
        <p:spPr>
          <a:xfrm>
            <a:off x="4480560" y="4818888"/>
            <a:ext cx="0" cy="301752"/>
          </a:xfrm>
          <a:prstGeom prst="line">
            <a:avLst/>
          </a:prstGeom>
          <a:ln w="3810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5577840" y="4526280"/>
            <a:ext cx="1554480" cy="731520"/>
          </a:xfrm>
          <a:prstGeom prst="line">
            <a:avLst/>
          </a:prstGeom>
          <a:ln w="3810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92240" y="4983480"/>
            <a:ext cx="1554480" cy="731520"/>
          </a:xfrm>
          <a:prstGeom prst="rect">
            <a:avLst/>
          </a:prstGeom>
          <a:noFill/>
        </p:spPr>
        <p:txBody>
          <a:bodyPr wrap="square" lIns="0" rIns="0" tIns="0" bIns="0">
            <a:spAutoFit/>
          </a:bodyPr>
          <a:lstStyle/>
          <a:p>
            <a:pPr algn="ctr"/>
            <a:r>
              <a:rPr sz="1400" b="1" i="1">
                <a:solidFill>
                  <a:srgbClr val="E09F3E"/>
                </a:solidFill>
                <a:latin typeface="Calibri"/>
              </a:rPr>
              <a:t>Optimized production leads to minimum-possible costs</a:t>
            </a:r>
          </a:p>
        </p:txBody>
      </p:sp>
      <p:sp>
        <p:nvSpPr>
          <p:cNvPr id="42" name="12-Point Star 41"/>
          <p:cNvSpPr/>
          <p:nvPr/>
        </p:nvSpPr>
        <p:spPr>
          <a:xfrm>
            <a:off x="8503920" y="4983480"/>
            <a:ext cx="1645920" cy="1234440"/>
          </a:xfrm>
          <a:prstGeom prst="star12">
            <a:avLst/>
          </a:prstGeom>
          <a:solidFill>
            <a:srgbClr val="E09F3E"/>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791956" y="5261229"/>
            <a:ext cx="1069848" cy="678942"/>
          </a:xfrm>
          <a:prstGeom prst="rect">
            <a:avLst/>
          </a:prstGeom>
          <a:noFill/>
        </p:spPr>
        <p:txBody>
          <a:bodyPr wrap="square" lIns="0" rIns="0" tIns="0" bIns="0" anchor="ctr">
            <a:spAutoFit/>
          </a:bodyPr>
          <a:lstStyle/>
          <a:p>
            <a:pPr algn="ctr"/>
            <a:r>
              <a:rPr sz="1600" b="1">
                <a:solidFill>
                  <a:srgbClr val="0B2B4E"/>
                </a:solidFill>
                <a:latin typeface="Calibri"/>
              </a:rPr>
              <a:t>MB = MC</a:t>
            </a:r>
          </a:p>
          <a:p>
            <a:pPr algn="ctr"/>
            <a:r>
              <a:rPr sz="1200" i="1" b="1">
                <a:solidFill>
                  <a:srgbClr val="0B2B4E"/>
                </a:solidFill>
                <a:latin typeface="Calibri"/>
              </a:rPr>
              <a:t>(of output)</a:t>
            </a:r>
          </a:p>
        </p:txBody>
      </p:sp>
      <p:cxnSp>
        <p:nvCxnSpPr>
          <p:cNvPr id="44" name="Connector 43"/>
          <p:cNvCxnSpPr/>
          <p:nvPr/>
        </p:nvCxnSpPr>
        <p:spPr>
          <a:xfrm flipV="1">
            <a:off x="9326880" y="4526280"/>
            <a:ext cx="0" cy="45720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0302240" y="5074920"/>
            <a:ext cx="1584960" cy="960120"/>
          </a:xfrm>
          <a:prstGeom prst="rect">
            <a:avLst/>
          </a:prstGeom>
          <a:solidFill>
            <a:srgbClr val="FFFFFF"/>
          </a:solidFill>
          <a:ln w="1905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2B4E"/>
                </a:solidFill>
                <a:latin typeface="Calibri"/>
              </a:rPr>
              <a:t>If long-run AC
falls with Q
⇒ Economies
of Scale</a:t>
            </a:r>
          </a:p>
        </p:txBody>
      </p:sp>
      <p:cxnSp>
        <p:nvCxnSpPr>
          <p:cNvPr id="46" name="Connector 45"/>
          <p:cNvCxnSpPr/>
          <p:nvPr/>
        </p:nvCxnSpPr>
        <p:spPr>
          <a:xfrm>
            <a:off x="11094720" y="4526280"/>
            <a:ext cx="0" cy="548640"/>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50" name="TextBox 49"/>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Agenda</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Part 1: Production – Picking the Right Inputs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548640"/>
          </a:xfrm>
          <a:prstGeom prst="rect">
            <a:avLst/>
          </a:prstGeom>
          <a:noFill/>
        </p:spPr>
        <p:txBody>
          <a:bodyPr wrap="square" lIns="0" rIns="0" tIns="0" bIns="0">
            <a:spAutoFit/>
          </a:bodyPr>
          <a:lstStyle/>
          <a:p>
            <a:pPr algn="l"/>
            <a:r>
              <a:rPr sz="3000" b="1" i="0">
                <a:solidFill>
                  <a:srgbClr val="0B2B4E"/>
                </a:solidFill>
                <a:latin typeface="Calibri"/>
              </a:rPr>
              <a:t>Part 1: Production – Picking the Right Inputs</a:t>
            </a:r>
          </a:p>
        </p:txBody>
      </p:sp>
      <p:sp>
        <p:nvSpPr>
          <p:cNvPr id="8" name="TextBox 7"/>
          <p:cNvSpPr txBox="1"/>
          <p:nvPr/>
        </p:nvSpPr>
        <p:spPr>
          <a:xfrm>
            <a:off x="617759" y="2240280"/>
            <a:ext cx="11321937" cy="1234440"/>
          </a:xfrm>
          <a:prstGeom prst="rect">
            <a:avLst/>
          </a:prstGeom>
          <a:noFill/>
        </p:spPr>
        <p:txBody>
          <a:bodyPr wrap="square" lIns="0" rIns="0" tIns="0" bIns="0">
            <a:spAutoFit/>
          </a:bodyPr>
          <a:lstStyle/>
          <a:p>
            <a:pPr algn="l" marL="457200" indent="-457200">
              <a:buClr>
                <a:srgbClr val="0B2B4E"/>
              </a:buClr>
              <a:buFont typeface="Calibri"/>
              <a:buAutoNum type="alphaLcPeriod"/>
            </a:pPr>
            <a:r>
              <a:rPr sz="2400" b="0">
                <a:solidFill>
                  <a:srgbClr val="0B2B4E"/>
                </a:solidFill>
                <a:latin typeface="Calibri"/>
              </a:rPr>
              <a:t>Production Function</a:t>
            </a:r>
          </a:p>
          <a:p>
            <a:pPr algn="l" marL="457200" indent="-457200">
              <a:spcBef>
                <a:spcPts val="300"/>
              </a:spcBef>
              <a:buClr>
                <a:srgbClr val="0B2B4E"/>
              </a:buClr>
              <a:buFont typeface="Calibri"/>
              <a:buAutoNum type="alphaLcPeriod"/>
            </a:pPr>
            <a:r>
              <a:rPr sz="2400" b="0">
                <a:solidFill>
                  <a:srgbClr val="0B2B4E"/>
                </a:solidFill>
                <a:latin typeface="Calibri"/>
              </a:rPr>
              <a:t>Short Run – Hiring Decisions</a:t>
            </a:r>
          </a:p>
          <a:p>
            <a:pPr algn="l" marL="457200" indent="-457200">
              <a:spcBef>
                <a:spcPts val="300"/>
              </a:spcBef>
              <a:buClr>
                <a:srgbClr val="0B2B4E"/>
              </a:buClr>
              <a:buFont typeface="Calibri"/>
              <a:buAutoNum type="alphaLcPeriod"/>
            </a:pPr>
            <a:r>
              <a:rPr sz="2400" b="0">
                <a:solidFill>
                  <a:srgbClr val="0B2B4E"/>
                </a:solidFill>
                <a:latin typeface="Calibri"/>
              </a:rPr>
              <a:t>Long Run – Optimal Input Mix</a:t>
            </a:r>
          </a:p>
        </p:txBody>
      </p:sp>
      <p:sp>
        <p:nvSpPr>
          <p:cNvPr id="9" name="TextBox 8"/>
          <p:cNvSpPr txBox="1"/>
          <p:nvPr/>
        </p:nvSpPr>
        <p:spPr>
          <a:xfrm>
            <a:off x="251999" y="3611880"/>
            <a:ext cx="11687697" cy="548640"/>
          </a:xfrm>
          <a:prstGeom prst="rect">
            <a:avLst/>
          </a:prstGeom>
          <a:noFill/>
        </p:spPr>
        <p:txBody>
          <a:bodyPr wrap="square" lIns="0" rIns="0" tIns="0" bIns="0">
            <a:spAutoFit/>
          </a:bodyPr>
          <a:lstStyle/>
          <a:p>
            <a:pPr algn="l"/>
            <a:r>
              <a:rPr sz="3000" b="1" i="0">
                <a:solidFill>
                  <a:srgbClr val="B0B5BC"/>
                </a:solidFill>
                <a:latin typeface="Calibri"/>
              </a:rPr>
              <a:t>Part 2: Costs – Producing at the Lowest Price</a:t>
            </a:r>
          </a:p>
        </p:txBody>
      </p:sp>
      <p:sp>
        <p:nvSpPr>
          <p:cNvPr id="10" name="TextBox 9"/>
          <p:cNvSpPr txBox="1"/>
          <p:nvPr/>
        </p:nvSpPr>
        <p:spPr>
          <a:xfrm>
            <a:off x="617759" y="4160520"/>
            <a:ext cx="11321937" cy="1234440"/>
          </a:xfrm>
          <a:prstGeom prst="rect">
            <a:avLst/>
          </a:prstGeom>
          <a:noFill/>
        </p:spPr>
        <p:txBody>
          <a:bodyPr wrap="square" lIns="0" rIns="0" tIns="0" bIns="0">
            <a:spAutoFit/>
          </a:bodyPr>
          <a:lstStyle/>
          <a:p>
            <a:pPr algn="l" marL="457200" indent="-457200">
              <a:buClr>
                <a:srgbClr val="B0B5BC"/>
              </a:buClr>
              <a:buFont typeface="Calibri"/>
              <a:buAutoNum type="alphaLcPeriod"/>
            </a:pPr>
            <a:r>
              <a:rPr sz="2400" b="0">
                <a:solidFill>
                  <a:srgbClr val="B0B5BC"/>
                </a:solidFill>
                <a:latin typeface="Calibri"/>
              </a:rPr>
              <a:t>Cost Concepts</a:t>
            </a:r>
          </a:p>
          <a:p>
            <a:pPr algn="l" marL="457200" indent="-457200">
              <a:spcBef>
                <a:spcPts val="300"/>
              </a:spcBef>
              <a:buClr>
                <a:srgbClr val="B0B5BC"/>
              </a:buClr>
              <a:buFont typeface="Calibri"/>
              <a:buAutoNum type="alphaLcPeriod"/>
            </a:pPr>
            <a:r>
              <a:rPr sz="2400" b="0">
                <a:solidFill>
                  <a:srgbClr val="B0B5BC"/>
                </a:solidFill>
                <a:latin typeface="Calibri"/>
              </a:rPr>
              <a:t>Scale &amp; Scope</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The Production Function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828800"/>
            <a:ext cx="11687697" cy="914400"/>
          </a:xfrm>
          <a:prstGeom prst="rect">
            <a:avLst/>
          </a:prstGeom>
          <a:noFill/>
        </p:spPr>
        <p:txBody>
          <a:bodyPr wrap="square" lIns="0" rIns="0" tIns="0" bIns="0">
            <a:spAutoFit/>
          </a:bodyPr>
          <a:lstStyle/>
          <a:p>
            <a:pPr algn="ctr"/>
            <a:r>
              <a:rPr sz="5400" b="1" i="0">
                <a:solidFill>
                  <a:srgbClr val="0B2B4E"/>
                </a:solidFill>
                <a:latin typeface="Calibri"/>
              </a:rPr>
              <a:t>Q = f (K, L, etc)</a:t>
            </a:r>
          </a:p>
        </p:txBody>
      </p:sp>
      <p:sp>
        <p:nvSpPr>
          <p:cNvPr id="8" name="TextBox 7"/>
          <p:cNvSpPr txBox="1"/>
          <p:nvPr/>
        </p:nvSpPr>
        <p:spPr>
          <a:xfrm>
            <a:off x="709199" y="3017520"/>
            <a:ext cx="7772400" cy="2377440"/>
          </a:xfrm>
          <a:prstGeom prst="rect">
            <a:avLst/>
          </a:prstGeom>
          <a:noFill/>
        </p:spPr>
        <p:txBody>
          <a:bodyPr wrap="square" lIns="0" rIns="0" tIns="0" bIns="0">
            <a:sp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Q  =  Output</a:t>
            </a:r>
          </a:p>
          <a:p>
            <a:pPr algn="l"/>
            <a:r>
              <a:rPr>
                <a:latin typeface="Calibri"/>
              </a:rPr>
              <a:t>f   =  a function of inputs:</a:t>
            </a:r>
          </a:p>
          <a:p>
            <a:pPr algn="l" lvl="1"/>
            <a:r>
              <a:rPr>
                <a:latin typeface="Calibri"/>
              </a:rPr>
              <a:t>K  =  Capital  (physical: factories, machinery, software, IP)</a:t>
            </a:r>
          </a:p>
          <a:p>
            <a:pPr algn="l" lvl="1"/>
            <a:r>
              <a:rPr>
                <a:latin typeface="Calibri"/>
              </a:rPr>
              <a:t>L  =  Labor</a:t>
            </a:r>
          </a:p>
          <a:p>
            <a:pPr algn="l" lvl="1"/>
            <a:r>
              <a:rPr>
                <a:latin typeface="Calibri"/>
              </a:rPr>
              <a:t>"etc" can be raw materials, energy...</a:t>
            </a:r>
          </a:p>
        </p:txBody>
      </p:sp>
      <p:pic>
        <p:nvPicPr>
          <p:cNvPr id="9" name="Picture 8" descr="slide8_rId4.jpg"/>
          <p:cNvPicPr>
            <a:picLocks noChangeAspect="1"/>
          </p:cNvPicPr>
          <p:nvPr/>
        </p:nvPicPr>
        <p:blipFill>
          <a:blip r:embed="rId2"/>
          <a:stretch>
            <a:fillRect/>
          </a:stretch>
        </p:blipFill>
        <p:spPr>
          <a:xfrm>
            <a:off x="9418320" y="3017520"/>
            <a:ext cx="2194560" cy="2194560"/>
          </a:xfrm>
          <a:prstGeom prst="rect">
            <a:avLst/>
          </a:prstGeom>
        </p:spPr>
      </p:pic>
      <p:sp>
        <p:nvSpPr>
          <p:cNvPr id="10" name="TextBox 9"/>
          <p:cNvSpPr txBox="1"/>
          <p:nvPr/>
        </p:nvSpPr>
        <p:spPr>
          <a:xfrm>
            <a:off x="9418320" y="5349240"/>
            <a:ext cx="2194560" cy="228600"/>
          </a:xfrm>
          <a:prstGeom prst="rect">
            <a:avLst/>
          </a:prstGeom>
          <a:noFill/>
        </p:spPr>
        <p:txBody>
          <a:bodyPr wrap="square" lIns="0" rIns="0" tIns="0" bIns="0">
            <a:spAutoFit/>
          </a:bodyPr>
          <a:lstStyle/>
          <a:p>
            <a:pPr algn="ctr"/>
            <a:r>
              <a:rPr sz="1200" b="0" i="1">
                <a:solidFill>
                  <a:srgbClr val="555B66"/>
                </a:solidFill>
                <a:latin typeface="Calibri"/>
              </a:rPr>
              <a:t>Marx, Das Kapital  (1867)</a:t>
            </a:r>
          </a:p>
        </p:txBody>
      </p:sp>
      <p:sp>
        <p:nvSpPr>
          <p:cNvPr id="11" name="Rounded Rectangle 10"/>
          <p:cNvSpPr/>
          <p:nvPr/>
        </p:nvSpPr>
        <p:spPr>
          <a:xfrm>
            <a:off x="1066647" y="5577840"/>
            <a:ext cx="10058400" cy="91440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9527" y="5687568"/>
            <a:ext cx="9692640" cy="694944"/>
          </a:xfrm>
          <a:prstGeom prst="rect">
            <a:avLst/>
          </a:prstGeom>
          <a:noFill/>
        </p:spPr>
        <p:txBody>
          <a:bodyPr wrap="square" lIns="45720" rIns="45720" tIns="0" bIns="0" anchor="ctr">
            <a:spAutoFit/>
          </a:bodyPr>
          <a:lstStyle/>
          <a:p>
            <a:pPr algn="ctr"/>
            <a:r>
              <a:rPr sz="2000" b="1" i="0">
                <a:solidFill>
                  <a:srgbClr val="0B2B4E"/>
                </a:solidFill>
                <a:latin typeface="Calibri"/>
              </a:rPr>
              <a:t>A production function transforms inputs into outputs.</a:t>
            </a:r>
          </a:p>
          <a:p>
            <a:pPr algn="ctr"/>
            <a:r>
              <a:rPr sz="2000" b="0" i="0">
                <a:solidFill>
                  <a:srgbClr val="0B2B4E"/>
                </a:solidFill>
                <a:latin typeface="Calibri"/>
              </a:rPr>
              <a:t>The more efficient this process, the higher is productivity</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6" name="TextBox 15"/>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Short vs. Long Run:  A Critical Distinction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572000"/>
          </a:xfrm>
          <a:prstGeom prst="rect">
            <a:avLst/>
          </a:prstGeom>
          <a:noFill/>
        </p:spPr>
        <p:txBody>
          <a:bodyPr wrap="square" lIns="0" rIns="0" tIns="0" bIns="0">
            <a:spAutoFit/>
          </a:bodyPr>
          <a:lstStyle>
            <a:lvl1pPr marL="342900" indent="-342900">
              <a:spcBef>
                <a:spcPts val="14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In the short run, some inputs (fixed factors) cannot be increased or decreased</a:t>
            </a:r>
          </a:p>
          <a:p>
            <a:pPr algn="l"/>
            <a:r>
              <a:rPr>
                <a:latin typeface="Calibri"/>
              </a:rPr>
              <a:t>The long run is a period long enough for all inputs to be variable</a:t>
            </a:r>
          </a:p>
        </p:txBody>
      </p:sp>
      <p:sp>
        <p:nvSpPr>
          <p:cNvPr id="8" name="TextBox 7"/>
          <p:cNvSpPr txBox="1"/>
          <p:nvPr/>
        </p:nvSpPr>
        <p:spPr>
          <a:xfrm>
            <a:off x="914400" y="3017520"/>
            <a:ext cx="4572000" cy="292608"/>
          </a:xfrm>
          <a:prstGeom prst="rect">
            <a:avLst/>
          </a:prstGeom>
          <a:noFill/>
        </p:spPr>
        <p:txBody>
          <a:bodyPr wrap="square" lIns="0" rIns="0" tIns="0" bIns="0">
            <a:spAutoFit/>
          </a:bodyPr>
          <a:lstStyle/>
          <a:p>
            <a:pPr algn="ctr"/>
            <a:r>
              <a:rPr sz="1400" b="1" i="1">
                <a:solidFill>
                  <a:srgbClr val="0B2B4E"/>
                </a:solidFill>
                <a:latin typeface="Calibri"/>
              </a:rPr>
              <a:t>Capital fixed in short run</a:t>
            </a:r>
          </a:p>
        </p:txBody>
      </p:sp>
      <p:sp>
        <p:nvSpPr>
          <p:cNvPr id="9" name="TextBox 8"/>
          <p:cNvSpPr txBox="1"/>
          <p:nvPr/>
        </p:nvSpPr>
        <p:spPr>
          <a:xfrm>
            <a:off x="6675120" y="3017520"/>
            <a:ext cx="4572000" cy="292608"/>
          </a:xfrm>
          <a:prstGeom prst="rect">
            <a:avLst/>
          </a:prstGeom>
          <a:noFill/>
        </p:spPr>
        <p:txBody>
          <a:bodyPr wrap="square" lIns="0" rIns="0" tIns="0" bIns="0">
            <a:spAutoFit/>
          </a:bodyPr>
          <a:lstStyle/>
          <a:p>
            <a:pPr algn="ctr"/>
            <a:r>
              <a:rPr sz="1400" b="1" i="1">
                <a:solidFill>
                  <a:srgbClr val="0B2B4E"/>
                </a:solidFill>
                <a:latin typeface="Calibri"/>
              </a:rPr>
              <a:t>Labor (ophthalmologists) fixed in short run</a:t>
            </a:r>
          </a:p>
        </p:txBody>
      </p:sp>
      <p:pic>
        <p:nvPicPr>
          <p:cNvPr id="10" name="Picture 9" descr="_rivian_plant.jpg"/>
          <p:cNvPicPr>
            <a:picLocks noChangeAspect="1"/>
          </p:cNvPicPr>
          <p:nvPr/>
        </p:nvPicPr>
        <p:blipFill>
          <a:blip r:embed="rId2"/>
          <a:stretch>
            <a:fillRect/>
          </a:stretch>
        </p:blipFill>
        <p:spPr>
          <a:xfrm>
            <a:off x="914400" y="3337560"/>
            <a:ext cx="4572000" cy="2743200"/>
          </a:xfrm>
          <a:prstGeom prst="roundRect">
            <a:avLst>
              <a:gd name="adj" fmla="val 8000"/>
            </a:avLst>
          </a:prstGeom>
          <a:effectLst>
            <a:outerShdw blurRad="50800" dist="38100" dir="2700000" algn="tl" rotWithShape="0">
              <a:srgbClr val="000000">
                <a:alpha val="50000"/>
              </a:srgbClr>
            </a:outerShdw>
          </a:effectLst>
        </p:spPr>
      </p:pic>
      <p:pic>
        <p:nvPicPr>
          <p:cNvPr id="11" name="Picture 10" descr="slide9_rId5.jpg"/>
          <p:cNvPicPr>
            <a:picLocks noChangeAspect="1"/>
          </p:cNvPicPr>
          <p:nvPr/>
        </p:nvPicPr>
        <p:blipFill>
          <a:blip r:embed="rId3"/>
          <a:stretch>
            <a:fillRect/>
          </a:stretch>
        </p:blipFill>
        <p:spPr>
          <a:xfrm>
            <a:off x="6675120" y="3337560"/>
            <a:ext cx="4572000" cy="2743200"/>
          </a:xfrm>
          <a:prstGeom prst="roundRect">
            <a:avLst>
              <a:gd name="adj" fmla="val 8000"/>
            </a:avLst>
          </a:prstGeom>
          <a:effectLst>
            <a:outerShdw blurRad="50800" dist="38100" dir="2700000" algn="tl" rotWithShape="0">
              <a:srgbClr val="000000">
                <a:alpha val="50000"/>
              </a:srgbClr>
            </a:outerShdw>
          </a:effectLst>
        </p:spPr>
      </p:pic>
      <p:sp>
        <p:nvSpPr>
          <p:cNvPr id="12" name="TextBox 11"/>
          <p:cNvSpPr txBox="1"/>
          <p:nvPr/>
        </p:nvSpPr>
        <p:spPr>
          <a:xfrm>
            <a:off x="914400" y="6153912"/>
            <a:ext cx="4572000" cy="164592"/>
          </a:xfrm>
          <a:prstGeom prst="rect">
            <a:avLst/>
          </a:prstGeom>
          <a:noFill/>
        </p:spPr>
        <p:txBody>
          <a:bodyPr wrap="square" lIns="0" rIns="0" tIns="0" bIns="0">
            <a:spAutoFit/>
          </a:bodyPr>
          <a:lstStyle/>
          <a:p>
            <a:pPr algn="ctr"/>
            <a:r>
              <a:rPr sz="900" b="0" i="1">
                <a:solidFill>
                  <a:srgbClr val="555B66"/>
                </a:solidFill>
                <a:latin typeface="Calibri"/>
              </a:rPr>
              <a:t>Rivian Normal, IL plant  (CC BY-SA, Wikimedia)</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6" name="TextBox 15"/>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Rivian's Production Function:  R1 Line Weekly Output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75607" y="2011680"/>
            <a:ext cx="3840480" cy="365760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4175607" y="2011680"/>
          <a:ext cx="3840480" cy="3657600"/>
        </p:xfrm>
        <a:graphic>
          <a:graphicData uri="http://schemas.openxmlformats.org/drawingml/2006/table">
            <a:tbl>
              <a:tblPr firstRow="1" bandRow="1">
                <a:tableStyleId>{5C22544A-7EE6-4342-B048-85BDC9FD1C3A}</a:tableStyleId>
              </a:tblPr>
              <a:tblGrid>
                <a:gridCol w="914400"/>
                <a:gridCol w="731520"/>
                <a:gridCol w="731520"/>
                <a:gridCol w="731520"/>
                <a:gridCol w="731520"/>
              </a:tblGrid>
              <a:tr h="281353">
                <a:tc>
                  <a:txBody>
                    <a:bodyPr/>
                    <a:lstStyle/>
                    <a:p>
                      <a:pPr algn="ctr"/>
                    </a:p>
                  </a:txBody>
                  <a:tcPr marL="182880" marR="182880" marT="18288" marB="18288">
                    <a:solidFill>
                      <a:srgbClr val="0B2B4E"/>
                    </a:solidFill>
                  </a:tcPr>
                </a:tc>
                <a:tc>
                  <a:txBody>
                    <a:bodyPr/>
                    <a:lstStyle/>
                    <a:p>
                      <a:pPr algn="ctr"/>
                      <a:r>
                        <a:rPr sz="1400" b="1">
                          <a:solidFill>
                            <a:srgbClr val="FFFFFF"/>
                          </a:solidFill>
                          <a:latin typeface="Calibri"/>
                        </a:rPr>
                        <a:t>100</a:t>
                      </a:r>
                    </a:p>
                  </a:txBody>
                  <a:tcPr marL="182880" marR="182880" marT="18288" marB="18288">
                    <a:solidFill>
                      <a:srgbClr val="0B2B4E"/>
                    </a:solidFill>
                  </a:tcPr>
                </a:tc>
                <a:tc>
                  <a:txBody>
                    <a:bodyPr/>
                    <a:lstStyle/>
                    <a:p>
                      <a:pPr algn="ctr"/>
                      <a:r>
                        <a:rPr sz="1400" b="1">
                          <a:solidFill>
                            <a:srgbClr val="FFFFFF"/>
                          </a:solidFill>
                          <a:latin typeface="Calibri"/>
                        </a:rPr>
                        <a:t>200</a:t>
                      </a:r>
                    </a:p>
                  </a:txBody>
                  <a:tcPr marL="182880" marR="182880" marT="18288" marB="18288">
                    <a:solidFill>
                      <a:srgbClr val="0B2B4E"/>
                    </a:solidFill>
                  </a:tcPr>
                </a:tc>
                <a:tc>
                  <a:txBody>
                    <a:bodyPr/>
                    <a:lstStyle/>
                    <a:p>
                      <a:pPr algn="ctr"/>
                      <a:r>
                        <a:rPr sz="1400" b="1">
                          <a:solidFill>
                            <a:srgbClr val="FFFFFF"/>
                          </a:solidFill>
                          <a:latin typeface="Calibri"/>
                        </a:rPr>
                        <a:t>300</a:t>
                      </a:r>
                    </a:p>
                  </a:txBody>
                  <a:tcPr marL="182880" marR="182880" marT="18288" marB="18288">
                    <a:solidFill>
                      <a:srgbClr val="0B2B4E"/>
                    </a:solidFill>
                  </a:tcPr>
                </a:tc>
                <a:tc>
                  <a:txBody>
                    <a:bodyPr/>
                    <a:lstStyle/>
                    <a:p>
                      <a:pPr algn="ctr"/>
                      <a:r>
                        <a:rPr sz="1400" b="1">
                          <a:solidFill>
                            <a:srgbClr val="FFFFFF"/>
                          </a:solidFill>
                          <a:latin typeface="Calibri"/>
                        </a:rPr>
                        <a:t>400</a:t>
                      </a:r>
                    </a:p>
                  </a:txBody>
                  <a:tcPr marL="182880" marR="182880" marT="18288" marB="18288">
                    <a:solidFill>
                      <a:srgbClr val="0B2B4E"/>
                    </a:solidFill>
                  </a:tcPr>
                </a:tc>
              </a:tr>
              <a:tr h="281353">
                <a:tc>
                  <a:txBody>
                    <a:bodyPr/>
                    <a:lstStyle/>
                    <a:p>
                      <a:pPr algn="ctr"/>
                      <a:r>
                        <a:rPr sz="1400" b="1">
                          <a:solidFill>
                            <a:srgbClr val="FFFFFF"/>
                          </a:solidFill>
                          <a:latin typeface="Calibri"/>
                        </a:rPr>
                        <a:t>0</a:t>
                      </a:r>
                    </a:p>
                  </a:txBody>
                  <a:tcPr marL="182880" marR="182880" marT="18288" marB="18288">
                    <a:solidFill>
                      <a:srgbClr val="0B2B4E"/>
                    </a:solidFill>
                  </a:tcPr>
                </a:tc>
                <a:tc>
                  <a:txBody>
                    <a:bodyPr/>
                    <a:lstStyle/>
                    <a:p>
                      <a:pPr algn="ctr"/>
                      <a:r>
                        <a:rPr sz="1400">
                          <a:solidFill>
                            <a:srgbClr val="0B2B4E"/>
                          </a:solidFill>
                          <a:latin typeface="Calibri"/>
                        </a:rPr>
                        <a:t>0</a:t>
                      </a:r>
                    </a:p>
                  </a:txBody>
                  <a:tcPr marL="182880" marR="182880" marT="18288" marB="18288">
                    <a:solidFill>
                      <a:srgbClr val="FFFFFF"/>
                    </a:solidFill>
                  </a:tcPr>
                </a:tc>
                <a:tc>
                  <a:txBody>
                    <a:bodyPr/>
                    <a:lstStyle/>
                    <a:p>
                      <a:pPr algn="ctr"/>
                      <a:r>
                        <a:rPr sz="1400">
                          <a:solidFill>
                            <a:srgbClr val="0B2B4E"/>
                          </a:solidFill>
                          <a:latin typeface="Calibri"/>
                        </a:rPr>
                        <a:t>0</a:t>
                      </a:r>
                    </a:p>
                  </a:txBody>
                  <a:tcPr marL="182880" marR="182880" marT="18288" marB="18288">
                    <a:solidFill>
                      <a:srgbClr val="FFFFFF"/>
                    </a:solidFill>
                  </a:tcPr>
                </a:tc>
                <a:tc>
                  <a:txBody>
                    <a:bodyPr/>
                    <a:lstStyle/>
                    <a:p>
                      <a:pPr algn="ctr"/>
                      <a:r>
                        <a:rPr sz="1400">
                          <a:solidFill>
                            <a:srgbClr val="0B2B4E"/>
                          </a:solidFill>
                          <a:latin typeface="Calibri"/>
                        </a:rPr>
                        <a:t>0</a:t>
                      </a:r>
                    </a:p>
                  </a:txBody>
                  <a:tcPr marL="182880" marR="182880" marT="18288" marB="18288">
                    <a:solidFill>
                      <a:srgbClr val="FFFFFF"/>
                    </a:solidFill>
                  </a:tcPr>
                </a:tc>
                <a:tc>
                  <a:txBody>
                    <a:bodyPr/>
                    <a:lstStyle/>
                    <a:p>
                      <a:pPr algn="ctr"/>
                      <a:r>
                        <a:rPr sz="1400">
                          <a:solidFill>
                            <a:srgbClr val="0B2B4E"/>
                          </a:solidFill>
                          <a:latin typeface="Calibri"/>
                        </a:rPr>
                        <a:t>0</a:t>
                      </a:r>
                    </a:p>
                  </a:txBody>
                  <a:tcPr marL="182880" marR="182880" marT="18288" marB="18288">
                    <a:solidFill>
                      <a:srgbClr val="FFFFFF"/>
                    </a:solidFill>
                  </a:tcPr>
                </a:tc>
              </a:tr>
              <a:tr h="281353">
                <a:tc>
                  <a:txBody>
                    <a:bodyPr/>
                    <a:lstStyle/>
                    <a:p>
                      <a:pPr algn="ctr"/>
                      <a:r>
                        <a:rPr sz="1400" b="1">
                          <a:solidFill>
                            <a:srgbClr val="FFFFFF"/>
                          </a:solidFill>
                          <a:latin typeface="Calibri"/>
                        </a:rPr>
                        <a:t>250</a:t>
                      </a:r>
                    </a:p>
                  </a:txBody>
                  <a:tcPr marL="182880" marR="182880" marT="18288" marB="18288">
                    <a:solidFill>
                      <a:srgbClr val="0B2B4E"/>
                    </a:solidFill>
                  </a:tcPr>
                </a:tc>
                <a:tc>
                  <a:txBody>
                    <a:bodyPr/>
                    <a:lstStyle/>
                    <a:p>
                      <a:pPr algn="ctr"/>
                      <a:r>
                        <a:rPr sz="1400">
                          <a:solidFill>
                            <a:srgbClr val="0B2B4E"/>
                          </a:solidFill>
                          <a:latin typeface="Calibri"/>
                        </a:rPr>
                        <a:t>165</a:t>
                      </a:r>
                    </a:p>
                  </a:txBody>
                  <a:tcPr marL="182880" marR="182880" marT="18288" marB="18288">
                    <a:solidFill>
                      <a:srgbClr val="FFFFFF"/>
                    </a:solidFill>
                  </a:tcPr>
                </a:tc>
                <a:tc>
                  <a:txBody>
                    <a:bodyPr/>
                    <a:lstStyle/>
                    <a:p>
                      <a:pPr algn="ctr"/>
                      <a:r>
                        <a:rPr sz="1400">
                          <a:solidFill>
                            <a:srgbClr val="0B2B4E"/>
                          </a:solidFill>
                          <a:latin typeface="Calibri"/>
                        </a:rPr>
                        <a:t>234</a:t>
                      </a:r>
                    </a:p>
                  </a:txBody>
                  <a:tcPr marL="182880" marR="182880" marT="18288" marB="18288">
                    <a:solidFill>
                      <a:srgbClr val="FFFFFF"/>
                    </a:solidFill>
                  </a:tcPr>
                </a:tc>
                <a:tc>
                  <a:txBody>
                    <a:bodyPr/>
                    <a:lstStyle/>
                    <a:p>
                      <a:pPr algn="ctr"/>
                      <a:r>
                        <a:rPr sz="1400">
                          <a:solidFill>
                            <a:srgbClr val="0B2B4E"/>
                          </a:solidFill>
                          <a:latin typeface="Calibri"/>
                        </a:rPr>
                        <a:t>286</a:t>
                      </a:r>
                    </a:p>
                  </a:txBody>
                  <a:tcPr marL="182880" marR="182880" marT="18288" marB="18288">
                    <a:solidFill>
                      <a:srgbClr val="FFFFFF"/>
                    </a:solidFill>
                  </a:tcPr>
                </a:tc>
                <a:tc>
                  <a:txBody>
                    <a:bodyPr/>
                    <a:lstStyle/>
                    <a:p>
                      <a:pPr algn="ctr"/>
                      <a:r>
                        <a:rPr sz="1400">
                          <a:solidFill>
                            <a:srgbClr val="0B2B4E"/>
                          </a:solidFill>
                          <a:latin typeface="Calibri"/>
                        </a:rPr>
                        <a:t>331</a:t>
                      </a:r>
                    </a:p>
                  </a:txBody>
                  <a:tcPr marL="182880" marR="182880" marT="18288" marB="18288">
                    <a:solidFill>
                      <a:srgbClr val="FFFFFF"/>
                    </a:solidFill>
                  </a:tcPr>
                </a:tc>
              </a:tr>
              <a:tr h="281353">
                <a:tc>
                  <a:txBody>
                    <a:bodyPr/>
                    <a:lstStyle/>
                    <a:p>
                      <a:pPr algn="ctr"/>
                      <a:r>
                        <a:rPr sz="1400" b="1">
                          <a:solidFill>
                            <a:srgbClr val="FFFFFF"/>
                          </a:solidFill>
                          <a:latin typeface="Calibri"/>
                        </a:rPr>
                        <a:t>500</a:t>
                      </a:r>
                    </a:p>
                  </a:txBody>
                  <a:tcPr marL="182880" marR="182880" marT="18288" marB="18288">
                    <a:solidFill>
                      <a:srgbClr val="0B2B4E"/>
                    </a:solidFill>
                  </a:tcPr>
                </a:tc>
                <a:tc>
                  <a:txBody>
                    <a:bodyPr/>
                    <a:lstStyle/>
                    <a:p>
                      <a:pPr algn="ctr"/>
                      <a:r>
                        <a:rPr sz="1400">
                          <a:solidFill>
                            <a:srgbClr val="0B2B4E"/>
                          </a:solidFill>
                          <a:latin typeface="Calibri"/>
                        </a:rPr>
                        <a:t>204</a:t>
                      </a:r>
                    </a:p>
                  </a:txBody>
                  <a:tcPr marL="182880" marR="182880" marT="18288" marB="18288">
                    <a:solidFill>
                      <a:srgbClr val="FFFFFF"/>
                    </a:solidFill>
                  </a:tcPr>
                </a:tc>
                <a:tc>
                  <a:txBody>
                    <a:bodyPr/>
                    <a:lstStyle/>
                    <a:p>
                      <a:pPr algn="ctr"/>
                      <a:r>
                        <a:rPr sz="1400">
                          <a:solidFill>
                            <a:srgbClr val="0B2B4E"/>
                          </a:solidFill>
                          <a:latin typeface="Calibri"/>
                        </a:rPr>
                        <a:t>288</a:t>
                      </a:r>
                    </a:p>
                  </a:txBody>
                  <a:tcPr marL="182880" marR="182880" marT="18288" marB="18288">
                    <a:solidFill>
                      <a:srgbClr val="FFFFFF"/>
                    </a:solidFill>
                  </a:tcPr>
                </a:tc>
                <a:tc>
                  <a:txBody>
                    <a:bodyPr/>
                    <a:lstStyle/>
                    <a:p>
                      <a:pPr algn="ctr"/>
                      <a:r>
                        <a:rPr sz="1400">
                          <a:solidFill>
                            <a:srgbClr val="0B2B4E"/>
                          </a:solidFill>
                          <a:latin typeface="Calibri"/>
                        </a:rPr>
                        <a:t>353</a:t>
                      </a:r>
                    </a:p>
                  </a:txBody>
                  <a:tcPr marL="182880" marR="182880" marT="18288" marB="18288">
                    <a:solidFill>
                      <a:srgbClr val="FFFFFF"/>
                    </a:solidFill>
                  </a:tcPr>
                </a:tc>
                <a:tc>
                  <a:txBody>
                    <a:bodyPr/>
                    <a:lstStyle/>
                    <a:p>
                      <a:pPr algn="ctr"/>
                      <a:r>
                        <a:rPr sz="1400">
                          <a:solidFill>
                            <a:srgbClr val="0B2B4E"/>
                          </a:solidFill>
                          <a:latin typeface="Calibri"/>
                        </a:rPr>
                        <a:t>407</a:t>
                      </a:r>
                    </a:p>
                  </a:txBody>
                  <a:tcPr marL="182880" marR="182880" marT="18288" marB="18288">
                    <a:solidFill>
                      <a:srgbClr val="FFFFFF"/>
                    </a:solidFill>
                  </a:tcPr>
                </a:tc>
              </a:tr>
              <a:tr h="281353">
                <a:tc>
                  <a:txBody>
                    <a:bodyPr/>
                    <a:lstStyle/>
                    <a:p>
                      <a:pPr algn="ctr"/>
                      <a:r>
                        <a:rPr sz="1400" b="1">
                          <a:solidFill>
                            <a:srgbClr val="FFFFFF"/>
                          </a:solidFill>
                          <a:latin typeface="Calibri"/>
                        </a:rPr>
                        <a:t>1,000</a:t>
                      </a:r>
                    </a:p>
                  </a:txBody>
                  <a:tcPr marL="182880" marR="182880" marT="18288" marB="18288">
                    <a:solidFill>
                      <a:srgbClr val="0B2B4E"/>
                    </a:solidFill>
                  </a:tcPr>
                </a:tc>
                <a:tc>
                  <a:txBody>
                    <a:bodyPr/>
                    <a:lstStyle/>
                    <a:p>
                      <a:pPr algn="ctr"/>
                      <a:r>
                        <a:rPr sz="1400">
                          <a:solidFill>
                            <a:srgbClr val="0B2B4E"/>
                          </a:solidFill>
                          <a:latin typeface="Calibri"/>
                        </a:rPr>
                        <a:t>251</a:t>
                      </a:r>
                    </a:p>
                  </a:txBody>
                  <a:tcPr marL="182880" marR="182880" marT="18288" marB="18288">
                    <a:solidFill>
                      <a:srgbClr val="FFFFFF"/>
                    </a:solidFill>
                  </a:tcPr>
                </a:tc>
                <a:tc>
                  <a:txBody>
                    <a:bodyPr/>
                    <a:lstStyle/>
                    <a:p>
                      <a:pPr algn="ctr"/>
                      <a:r>
                        <a:rPr sz="1400">
                          <a:solidFill>
                            <a:srgbClr val="0B2B4E"/>
                          </a:solidFill>
                          <a:latin typeface="Calibri"/>
                        </a:rPr>
                        <a:t>354</a:t>
                      </a:r>
                    </a:p>
                  </a:txBody>
                  <a:tcPr marL="182880" marR="182880" marT="18288" marB="18288">
                    <a:solidFill>
                      <a:srgbClr val="FFFFFF"/>
                    </a:solidFill>
                  </a:tcPr>
                </a:tc>
                <a:tc>
                  <a:txBody>
                    <a:bodyPr/>
                    <a:lstStyle/>
                    <a:p>
                      <a:pPr algn="ctr"/>
                      <a:r>
                        <a:rPr sz="1400">
                          <a:solidFill>
                            <a:srgbClr val="0B2B4E"/>
                          </a:solidFill>
                          <a:latin typeface="Calibri"/>
                        </a:rPr>
                        <a:t>434</a:t>
                      </a:r>
                    </a:p>
                  </a:txBody>
                  <a:tcPr marL="182880" marR="182880" marT="18288" marB="18288">
                    <a:solidFill>
                      <a:srgbClr val="FFFFFF"/>
                    </a:solidFill>
                  </a:tcPr>
                </a:tc>
                <a:tc>
                  <a:txBody>
                    <a:bodyPr/>
                    <a:lstStyle/>
                    <a:p>
                      <a:pPr algn="ctr"/>
                      <a:r>
                        <a:rPr sz="1400">
                          <a:solidFill>
                            <a:srgbClr val="0B2B4E"/>
                          </a:solidFill>
                          <a:latin typeface="Calibri"/>
                        </a:rPr>
                        <a:t>501</a:t>
                      </a:r>
                    </a:p>
                  </a:txBody>
                  <a:tcPr marL="182880" marR="182880" marT="18288" marB="18288">
                    <a:solidFill>
                      <a:srgbClr val="FFFFFF"/>
                    </a:solidFill>
                  </a:tcPr>
                </a:tc>
              </a:tr>
              <a:tr h="281353">
                <a:tc>
                  <a:txBody>
                    <a:bodyPr/>
                    <a:lstStyle/>
                    <a:p>
                      <a:pPr algn="ctr"/>
                      <a:r>
                        <a:rPr sz="1400" b="1">
                          <a:solidFill>
                            <a:srgbClr val="FFFFFF"/>
                          </a:solidFill>
                          <a:latin typeface="Calibri"/>
                        </a:rPr>
                        <a:t>1,500</a:t>
                      </a:r>
                    </a:p>
                  </a:txBody>
                  <a:tcPr marL="182880" marR="182880" marT="18288" marB="18288">
                    <a:solidFill>
                      <a:srgbClr val="0B2B4E"/>
                    </a:solidFill>
                  </a:tcPr>
                </a:tc>
                <a:tc>
                  <a:txBody>
                    <a:bodyPr/>
                    <a:lstStyle/>
                    <a:p>
                      <a:pPr algn="ctr"/>
                      <a:r>
                        <a:rPr sz="1400">
                          <a:solidFill>
                            <a:srgbClr val="0B2B4E"/>
                          </a:solidFill>
                          <a:latin typeface="Calibri"/>
                        </a:rPr>
                        <a:t>283</a:t>
                      </a:r>
                    </a:p>
                  </a:txBody>
                  <a:tcPr marL="182880" marR="182880" marT="18288" marB="18288">
                    <a:solidFill>
                      <a:srgbClr val="FFFFFF"/>
                    </a:solidFill>
                  </a:tcPr>
                </a:tc>
                <a:tc>
                  <a:txBody>
                    <a:bodyPr/>
                    <a:lstStyle/>
                    <a:p>
                      <a:pPr algn="ctr"/>
                      <a:r>
                        <a:rPr sz="1400">
                          <a:solidFill>
                            <a:srgbClr val="0B2B4E"/>
                          </a:solidFill>
                          <a:latin typeface="Calibri"/>
                        </a:rPr>
                        <a:t>400</a:t>
                      </a:r>
                    </a:p>
                  </a:txBody>
                  <a:tcPr marL="182880" marR="182880" marT="18288" marB="18288">
                    <a:solidFill>
                      <a:srgbClr val="FFFFFF"/>
                    </a:solidFill>
                  </a:tcPr>
                </a:tc>
                <a:tc>
                  <a:txBody>
                    <a:bodyPr/>
                    <a:lstStyle/>
                    <a:p>
                      <a:pPr algn="ctr"/>
                      <a:r>
                        <a:rPr sz="1400">
                          <a:solidFill>
                            <a:srgbClr val="0B2B4E"/>
                          </a:solidFill>
                          <a:latin typeface="Calibri"/>
                        </a:rPr>
                        <a:t>490</a:t>
                      </a:r>
                    </a:p>
                  </a:txBody>
                  <a:tcPr marL="182880" marR="182880" marT="18288" marB="18288">
                    <a:solidFill>
                      <a:srgbClr val="FFFFFF"/>
                    </a:solidFill>
                  </a:tcPr>
                </a:tc>
                <a:tc>
                  <a:txBody>
                    <a:bodyPr/>
                    <a:lstStyle/>
                    <a:p>
                      <a:pPr algn="ctr"/>
                      <a:r>
                        <a:rPr sz="1400">
                          <a:solidFill>
                            <a:srgbClr val="0B2B4E"/>
                          </a:solidFill>
                          <a:latin typeface="Calibri"/>
                        </a:rPr>
                        <a:t>566</a:t>
                      </a:r>
                    </a:p>
                  </a:txBody>
                  <a:tcPr marL="182880" marR="182880" marT="18288" marB="18288">
                    <a:solidFill>
                      <a:srgbClr val="FFFFFF"/>
                    </a:solidFill>
                  </a:tcPr>
                </a:tc>
              </a:tr>
              <a:tr h="281353">
                <a:tc>
                  <a:txBody>
                    <a:bodyPr/>
                    <a:lstStyle/>
                    <a:p>
                      <a:pPr algn="ctr"/>
                      <a:r>
                        <a:rPr sz="1400" b="1">
                          <a:solidFill>
                            <a:srgbClr val="FFFFFF"/>
                          </a:solidFill>
                          <a:latin typeface="Calibri"/>
                        </a:rPr>
                        <a:t>2,000</a:t>
                      </a:r>
                    </a:p>
                  </a:txBody>
                  <a:tcPr marL="182880" marR="182880" marT="18288" marB="18288">
                    <a:solidFill>
                      <a:srgbClr val="0B2B4E"/>
                    </a:solidFill>
                  </a:tcPr>
                </a:tc>
                <a:tc>
                  <a:txBody>
                    <a:bodyPr/>
                    <a:lstStyle/>
                    <a:p>
                      <a:pPr algn="ctr"/>
                      <a:r>
                        <a:rPr sz="1400">
                          <a:solidFill>
                            <a:srgbClr val="0B2B4E"/>
                          </a:solidFill>
                          <a:latin typeface="Calibri"/>
                        </a:rPr>
                        <a:t>309</a:t>
                      </a:r>
                    </a:p>
                  </a:txBody>
                  <a:tcPr marL="182880" marR="182880" marT="18288" marB="18288">
                    <a:solidFill>
                      <a:srgbClr val="FFFFFF"/>
                    </a:solidFill>
                  </a:tcPr>
                </a:tc>
                <a:tc>
                  <a:txBody>
                    <a:bodyPr/>
                    <a:lstStyle/>
                    <a:p>
                      <a:pPr algn="ctr"/>
                      <a:r>
                        <a:rPr sz="1400">
                          <a:solidFill>
                            <a:srgbClr val="0B2B4E"/>
                          </a:solidFill>
                          <a:latin typeface="Calibri"/>
                        </a:rPr>
                        <a:t>436</a:t>
                      </a:r>
                    </a:p>
                  </a:txBody>
                  <a:tcPr marL="182880" marR="182880" marT="18288" marB="18288">
                    <a:solidFill>
                      <a:srgbClr val="FFFFFF"/>
                    </a:solidFill>
                  </a:tcPr>
                </a:tc>
                <a:tc>
                  <a:txBody>
                    <a:bodyPr/>
                    <a:lstStyle/>
                    <a:p>
                      <a:pPr algn="ctr"/>
                      <a:r>
                        <a:rPr sz="1400">
                          <a:solidFill>
                            <a:srgbClr val="0B2B4E"/>
                          </a:solidFill>
                          <a:latin typeface="Calibri"/>
                        </a:rPr>
                        <a:t>534</a:t>
                      </a:r>
                    </a:p>
                  </a:txBody>
                  <a:tcPr marL="182880" marR="182880" marT="18288" marB="18288">
                    <a:solidFill>
                      <a:srgbClr val="FFFFFF"/>
                    </a:solidFill>
                  </a:tcPr>
                </a:tc>
                <a:tc>
                  <a:txBody>
                    <a:bodyPr/>
                    <a:lstStyle/>
                    <a:p>
                      <a:pPr algn="ctr"/>
                      <a:r>
                        <a:rPr sz="1400">
                          <a:solidFill>
                            <a:srgbClr val="0B2B4E"/>
                          </a:solidFill>
                          <a:latin typeface="Calibri"/>
                        </a:rPr>
                        <a:t>617</a:t>
                      </a:r>
                    </a:p>
                  </a:txBody>
                  <a:tcPr marL="182880" marR="182880" marT="18288" marB="18288">
                    <a:solidFill>
                      <a:srgbClr val="FFFFFF"/>
                    </a:solidFill>
                  </a:tcPr>
                </a:tc>
              </a:tr>
              <a:tr h="281353">
                <a:tc>
                  <a:txBody>
                    <a:bodyPr/>
                    <a:lstStyle/>
                    <a:p>
                      <a:pPr algn="ctr"/>
                      <a:r>
                        <a:rPr sz="1400" b="1">
                          <a:solidFill>
                            <a:srgbClr val="FFFFFF"/>
                          </a:solidFill>
                          <a:latin typeface="Calibri"/>
                        </a:rPr>
                        <a:t>2,500</a:t>
                      </a:r>
                    </a:p>
                  </a:txBody>
                  <a:tcPr marL="182880" marR="182880" marT="18288" marB="18288">
                    <a:solidFill>
                      <a:srgbClr val="0B2B4E"/>
                    </a:solidFill>
                  </a:tcPr>
                </a:tc>
                <a:tc>
                  <a:txBody>
                    <a:bodyPr/>
                    <a:lstStyle/>
                    <a:p>
                      <a:pPr algn="ctr"/>
                      <a:r>
                        <a:rPr sz="1400">
                          <a:solidFill>
                            <a:srgbClr val="0B2B4E"/>
                          </a:solidFill>
                          <a:latin typeface="Calibri"/>
                        </a:rPr>
                        <a:t>330</a:t>
                      </a:r>
                    </a:p>
                  </a:txBody>
                  <a:tcPr marL="182880" marR="182880" marT="18288" marB="18288">
                    <a:solidFill>
                      <a:srgbClr val="FFFFFF"/>
                    </a:solidFill>
                  </a:tcPr>
                </a:tc>
                <a:tc>
                  <a:txBody>
                    <a:bodyPr/>
                    <a:lstStyle/>
                    <a:p>
                      <a:pPr algn="ctr"/>
                      <a:r>
                        <a:rPr sz="1400">
                          <a:solidFill>
                            <a:srgbClr val="0B2B4E"/>
                          </a:solidFill>
                          <a:latin typeface="Calibri"/>
                        </a:rPr>
                        <a:t>467</a:t>
                      </a:r>
                    </a:p>
                  </a:txBody>
                  <a:tcPr marL="182880" marR="182880" marT="18288" marB="18288">
                    <a:solidFill>
                      <a:srgbClr val="FFFFFF"/>
                    </a:solidFill>
                  </a:tcPr>
                </a:tc>
                <a:tc>
                  <a:txBody>
                    <a:bodyPr/>
                    <a:lstStyle/>
                    <a:p>
                      <a:pPr algn="ctr"/>
                      <a:r>
                        <a:rPr sz="1400">
                          <a:solidFill>
                            <a:srgbClr val="0B2B4E"/>
                          </a:solidFill>
                          <a:latin typeface="Calibri"/>
                        </a:rPr>
                        <a:t>571</a:t>
                      </a:r>
                    </a:p>
                  </a:txBody>
                  <a:tcPr marL="182880" marR="182880" marT="18288" marB="18288">
                    <a:solidFill>
                      <a:srgbClr val="FFFFFF"/>
                    </a:solidFill>
                  </a:tcPr>
                </a:tc>
                <a:tc>
                  <a:txBody>
                    <a:bodyPr/>
                    <a:lstStyle/>
                    <a:p>
                      <a:pPr algn="ctr"/>
                      <a:r>
                        <a:rPr sz="1400">
                          <a:solidFill>
                            <a:srgbClr val="0B2B4E"/>
                          </a:solidFill>
                          <a:latin typeface="Calibri"/>
                        </a:rPr>
                        <a:t>660</a:t>
                      </a:r>
                    </a:p>
                  </a:txBody>
                  <a:tcPr marL="182880" marR="182880" marT="18288" marB="18288">
                    <a:solidFill>
                      <a:srgbClr val="FFFFFF"/>
                    </a:solidFill>
                  </a:tcPr>
                </a:tc>
              </a:tr>
              <a:tr h="281353">
                <a:tc>
                  <a:txBody>
                    <a:bodyPr/>
                    <a:lstStyle/>
                    <a:p>
                      <a:pPr algn="ctr"/>
                      <a:r>
                        <a:rPr sz="1400" b="1">
                          <a:solidFill>
                            <a:srgbClr val="FFFFFF"/>
                          </a:solidFill>
                          <a:latin typeface="Calibri"/>
                        </a:rPr>
                        <a:t>3,000</a:t>
                      </a:r>
                    </a:p>
                  </a:txBody>
                  <a:tcPr marL="182880" marR="182880" marT="18288" marB="18288">
                    <a:solidFill>
                      <a:srgbClr val="0B2B4E"/>
                    </a:solidFill>
                  </a:tcPr>
                </a:tc>
                <a:tc>
                  <a:txBody>
                    <a:bodyPr/>
                    <a:lstStyle/>
                    <a:p>
                      <a:pPr algn="ctr"/>
                      <a:r>
                        <a:rPr sz="1400">
                          <a:solidFill>
                            <a:srgbClr val="0B2B4E"/>
                          </a:solidFill>
                          <a:latin typeface="Calibri"/>
                        </a:rPr>
                        <a:t>348</a:t>
                      </a:r>
                    </a:p>
                  </a:txBody>
                  <a:tcPr marL="182880" marR="182880" marT="18288" marB="18288">
                    <a:solidFill>
                      <a:srgbClr val="FFFFFF"/>
                    </a:solidFill>
                  </a:tcPr>
                </a:tc>
                <a:tc>
                  <a:txBody>
                    <a:bodyPr/>
                    <a:lstStyle/>
                    <a:p>
                      <a:pPr algn="ctr"/>
                      <a:r>
                        <a:rPr sz="1400">
                          <a:solidFill>
                            <a:srgbClr val="0B2B4E"/>
                          </a:solidFill>
                          <a:latin typeface="Calibri"/>
                        </a:rPr>
                        <a:t>493</a:t>
                      </a:r>
                    </a:p>
                  </a:txBody>
                  <a:tcPr marL="182880" marR="182880" marT="18288" marB="18288">
                    <a:solidFill>
                      <a:srgbClr val="FFFFFF"/>
                    </a:solidFill>
                  </a:tcPr>
                </a:tc>
                <a:tc>
                  <a:txBody>
                    <a:bodyPr/>
                    <a:lstStyle/>
                    <a:p>
                      <a:pPr algn="ctr"/>
                      <a:r>
                        <a:rPr sz="1400">
                          <a:solidFill>
                            <a:srgbClr val="0B2B4E"/>
                          </a:solidFill>
                          <a:latin typeface="Calibri"/>
                        </a:rPr>
                        <a:t>604</a:t>
                      </a:r>
                    </a:p>
                  </a:txBody>
                  <a:tcPr marL="182880" marR="182880" marT="18288" marB="18288">
                    <a:solidFill>
                      <a:srgbClr val="FFFFFF"/>
                    </a:solidFill>
                  </a:tcPr>
                </a:tc>
                <a:tc>
                  <a:txBody>
                    <a:bodyPr/>
                    <a:lstStyle/>
                    <a:p>
                      <a:pPr algn="ctr"/>
                      <a:r>
                        <a:rPr sz="1400">
                          <a:solidFill>
                            <a:srgbClr val="0B2B4E"/>
                          </a:solidFill>
                          <a:latin typeface="Calibri"/>
                        </a:rPr>
                        <a:t>697</a:t>
                      </a:r>
                    </a:p>
                  </a:txBody>
                  <a:tcPr marL="182880" marR="182880" marT="18288" marB="18288">
                    <a:solidFill>
                      <a:srgbClr val="FFFFFF"/>
                    </a:solidFill>
                  </a:tcPr>
                </a:tc>
              </a:tr>
              <a:tr h="281353">
                <a:tc>
                  <a:txBody>
                    <a:bodyPr/>
                    <a:lstStyle/>
                    <a:p>
                      <a:pPr algn="ctr"/>
                      <a:r>
                        <a:rPr sz="1400" b="1">
                          <a:solidFill>
                            <a:srgbClr val="FFFFFF"/>
                          </a:solidFill>
                          <a:latin typeface="Calibri"/>
                        </a:rPr>
                        <a:t>3,500</a:t>
                      </a:r>
                    </a:p>
                  </a:txBody>
                  <a:tcPr marL="182880" marR="182880" marT="18288" marB="18288">
                    <a:solidFill>
                      <a:srgbClr val="0B2B4E"/>
                    </a:solidFill>
                  </a:tcPr>
                </a:tc>
                <a:tc>
                  <a:txBody>
                    <a:bodyPr/>
                    <a:lstStyle/>
                    <a:p>
                      <a:pPr algn="ctr"/>
                      <a:r>
                        <a:rPr sz="1400">
                          <a:solidFill>
                            <a:srgbClr val="0B2B4E"/>
                          </a:solidFill>
                          <a:latin typeface="Calibri"/>
                        </a:rPr>
                        <a:t>365</a:t>
                      </a:r>
                    </a:p>
                  </a:txBody>
                  <a:tcPr marL="182880" marR="182880" marT="18288" marB="18288">
                    <a:solidFill>
                      <a:srgbClr val="FFFFFF"/>
                    </a:solidFill>
                  </a:tcPr>
                </a:tc>
                <a:tc>
                  <a:txBody>
                    <a:bodyPr/>
                    <a:lstStyle/>
                    <a:p>
                      <a:pPr algn="ctr"/>
                      <a:r>
                        <a:rPr sz="1400">
                          <a:solidFill>
                            <a:srgbClr val="0B2B4E"/>
                          </a:solidFill>
                          <a:latin typeface="Calibri"/>
                        </a:rPr>
                        <a:t>516</a:t>
                      </a:r>
                    </a:p>
                  </a:txBody>
                  <a:tcPr marL="182880" marR="182880" marT="18288" marB="18288">
                    <a:solidFill>
                      <a:srgbClr val="FFFFFF"/>
                    </a:solidFill>
                  </a:tcPr>
                </a:tc>
                <a:tc>
                  <a:txBody>
                    <a:bodyPr/>
                    <a:lstStyle/>
                    <a:p>
                      <a:pPr algn="ctr"/>
                      <a:r>
                        <a:rPr sz="1400">
                          <a:solidFill>
                            <a:srgbClr val="0B2B4E"/>
                          </a:solidFill>
                          <a:latin typeface="Calibri"/>
                        </a:rPr>
                        <a:t>632</a:t>
                      </a:r>
                    </a:p>
                  </a:txBody>
                  <a:tcPr marL="182880" marR="182880" marT="18288" marB="18288">
                    <a:solidFill>
                      <a:srgbClr val="FFFFFF"/>
                    </a:solidFill>
                  </a:tcPr>
                </a:tc>
                <a:tc>
                  <a:txBody>
                    <a:bodyPr/>
                    <a:lstStyle/>
                    <a:p>
                      <a:pPr algn="ctr"/>
                      <a:r>
                        <a:rPr sz="1400">
                          <a:solidFill>
                            <a:srgbClr val="0B2B4E"/>
                          </a:solidFill>
                          <a:latin typeface="Calibri"/>
                        </a:rPr>
                        <a:t>730</a:t>
                      </a:r>
                    </a:p>
                  </a:txBody>
                  <a:tcPr marL="182880" marR="182880" marT="18288" marB="18288">
                    <a:solidFill>
                      <a:srgbClr val="FFFFFF"/>
                    </a:solidFill>
                  </a:tcPr>
                </a:tc>
              </a:tr>
              <a:tr h="281353">
                <a:tc>
                  <a:txBody>
                    <a:bodyPr/>
                    <a:lstStyle/>
                    <a:p>
                      <a:pPr algn="ctr"/>
                      <a:r>
                        <a:rPr sz="1400" b="1">
                          <a:solidFill>
                            <a:srgbClr val="FFFFFF"/>
                          </a:solidFill>
                          <a:latin typeface="Calibri"/>
                        </a:rPr>
                        <a:t>4,000</a:t>
                      </a:r>
                    </a:p>
                  </a:txBody>
                  <a:tcPr marL="182880" marR="182880" marT="18288" marB="18288">
                    <a:solidFill>
                      <a:srgbClr val="0B2B4E"/>
                    </a:solidFill>
                  </a:tcPr>
                </a:tc>
                <a:tc>
                  <a:txBody>
                    <a:bodyPr/>
                    <a:lstStyle/>
                    <a:p>
                      <a:pPr algn="ctr"/>
                      <a:r>
                        <a:rPr sz="1400">
                          <a:solidFill>
                            <a:srgbClr val="0B2B4E"/>
                          </a:solidFill>
                          <a:latin typeface="Calibri"/>
                        </a:rPr>
                        <a:t>380</a:t>
                      </a:r>
                    </a:p>
                  </a:txBody>
                  <a:tcPr marL="182880" marR="182880" marT="18288" marB="18288">
                    <a:solidFill>
                      <a:srgbClr val="FFFFFF"/>
                    </a:solidFill>
                  </a:tcPr>
                </a:tc>
                <a:tc>
                  <a:txBody>
                    <a:bodyPr/>
                    <a:lstStyle/>
                    <a:p>
                      <a:pPr algn="ctr"/>
                      <a:r>
                        <a:rPr sz="1400">
                          <a:solidFill>
                            <a:srgbClr val="0B2B4E"/>
                          </a:solidFill>
                          <a:latin typeface="Calibri"/>
                        </a:rPr>
                        <a:t>537</a:t>
                      </a:r>
                    </a:p>
                  </a:txBody>
                  <a:tcPr marL="182880" marR="182880" marT="18288" marB="18288">
                    <a:solidFill>
                      <a:srgbClr val="FFFFFF"/>
                    </a:solidFill>
                  </a:tcPr>
                </a:tc>
                <a:tc>
                  <a:txBody>
                    <a:bodyPr/>
                    <a:lstStyle/>
                    <a:p>
                      <a:pPr algn="ctr"/>
                      <a:r>
                        <a:rPr sz="1400">
                          <a:solidFill>
                            <a:srgbClr val="0B2B4E"/>
                          </a:solidFill>
                          <a:latin typeface="Calibri"/>
                        </a:rPr>
                        <a:t>658</a:t>
                      </a:r>
                    </a:p>
                  </a:txBody>
                  <a:tcPr marL="182880" marR="182880" marT="18288" marB="18288">
                    <a:solidFill>
                      <a:srgbClr val="FFFFFF"/>
                    </a:solidFill>
                  </a:tcPr>
                </a:tc>
                <a:tc>
                  <a:txBody>
                    <a:bodyPr/>
                    <a:lstStyle/>
                    <a:p>
                      <a:pPr algn="ctr"/>
                      <a:r>
                        <a:rPr sz="1400">
                          <a:solidFill>
                            <a:srgbClr val="0B2B4E"/>
                          </a:solidFill>
                          <a:latin typeface="Calibri"/>
                        </a:rPr>
                        <a:t>760</a:t>
                      </a:r>
                    </a:p>
                  </a:txBody>
                  <a:tcPr marL="182880" marR="182880" marT="18288" marB="18288">
                    <a:solidFill>
                      <a:srgbClr val="FFFFFF"/>
                    </a:solidFill>
                  </a:tcPr>
                </a:tc>
              </a:tr>
              <a:tr h="281353">
                <a:tc>
                  <a:txBody>
                    <a:bodyPr/>
                    <a:lstStyle/>
                    <a:p>
                      <a:pPr algn="ctr"/>
                      <a:r>
                        <a:rPr sz="1400" b="1">
                          <a:solidFill>
                            <a:srgbClr val="FFFFFF"/>
                          </a:solidFill>
                          <a:latin typeface="Calibri"/>
                        </a:rPr>
                        <a:t>4,500</a:t>
                      </a:r>
                    </a:p>
                  </a:txBody>
                  <a:tcPr marL="182880" marR="182880" marT="18288" marB="18288">
                    <a:solidFill>
                      <a:srgbClr val="0B2B4E"/>
                    </a:solidFill>
                  </a:tcPr>
                </a:tc>
                <a:tc>
                  <a:txBody>
                    <a:bodyPr/>
                    <a:lstStyle/>
                    <a:p>
                      <a:pPr algn="ctr"/>
                      <a:r>
                        <a:rPr sz="1400">
                          <a:solidFill>
                            <a:srgbClr val="0B2B4E"/>
                          </a:solidFill>
                          <a:latin typeface="Calibri"/>
                        </a:rPr>
                        <a:t>394</a:t>
                      </a:r>
                    </a:p>
                  </a:txBody>
                  <a:tcPr marL="182880" marR="182880" marT="18288" marB="18288">
                    <a:solidFill>
                      <a:srgbClr val="FFFFFF"/>
                    </a:solidFill>
                  </a:tcPr>
                </a:tc>
                <a:tc>
                  <a:txBody>
                    <a:bodyPr/>
                    <a:lstStyle/>
                    <a:p>
                      <a:pPr algn="ctr"/>
                      <a:r>
                        <a:rPr sz="1400">
                          <a:solidFill>
                            <a:srgbClr val="0B2B4E"/>
                          </a:solidFill>
                          <a:latin typeface="Calibri"/>
                        </a:rPr>
                        <a:t>557</a:t>
                      </a:r>
                    </a:p>
                  </a:txBody>
                  <a:tcPr marL="182880" marR="182880" marT="18288" marB="18288">
                    <a:solidFill>
                      <a:srgbClr val="FFFFFF"/>
                    </a:solidFill>
                  </a:tcPr>
                </a:tc>
                <a:tc>
                  <a:txBody>
                    <a:bodyPr/>
                    <a:lstStyle/>
                    <a:p>
                      <a:pPr algn="ctr"/>
                      <a:r>
                        <a:rPr sz="1400">
                          <a:solidFill>
                            <a:srgbClr val="0B2B4E"/>
                          </a:solidFill>
                          <a:latin typeface="Calibri"/>
                        </a:rPr>
                        <a:t>682</a:t>
                      </a:r>
                    </a:p>
                  </a:txBody>
                  <a:tcPr marL="182880" marR="182880" marT="18288" marB="18288">
                    <a:solidFill>
                      <a:srgbClr val="FFFFFF"/>
                    </a:solidFill>
                  </a:tcPr>
                </a:tc>
                <a:tc>
                  <a:txBody>
                    <a:bodyPr/>
                    <a:lstStyle/>
                    <a:p>
                      <a:pPr algn="ctr"/>
                      <a:r>
                        <a:rPr sz="1400">
                          <a:solidFill>
                            <a:srgbClr val="0B2B4E"/>
                          </a:solidFill>
                          <a:latin typeface="Calibri"/>
                        </a:rPr>
                        <a:t>787</a:t>
                      </a:r>
                    </a:p>
                  </a:txBody>
                  <a:tcPr marL="182880" marR="182880" marT="18288" marB="18288">
                    <a:solidFill>
                      <a:srgbClr val="FFFFFF"/>
                    </a:solidFill>
                  </a:tcPr>
                </a:tc>
              </a:tr>
              <a:tr h="281364">
                <a:tc>
                  <a:txBody>
                    <a:bodyPr/>
                    <a:lstStyle/>
                    <a:p>
                      <a:pPr algn="ctr"/>
                      <a:r>
                        <a:rPr sz="1400" b="1">
                          <a:solidFill>
                            <a:srgbClr val="FFFFFF"/>
                          </a:solidFill>
                          <a:latin typeface="Calibri"/>
                        </a:rPr>
                        <a:t>5,000</a:t>
                      </a:r>
                    </a:p>
                  </a:txBody>
                  <a:tcPr marL="182880" marR="182880" marT="18288" marB="18288">
                    <a:solidFill>
                      <a:srgbClr val="0B2B4E"/>
                    </a:solidFill>
                  </a:tcPr>
                </a:tc>
                <a:tc>
                  <a:txBody>
                    <a:bodyPr/>
                    <a:lstStyle/>
                    <a:p>
                      <a:pPr algn="ctr"/>
                      <a:r>
                        <a:rPr sz="1400">
                          <a:solidFill>
                            <a:srgbClr val="0B2B4E"/>
                          </a:solidFill>
                          <a:latin typeface="Calibri"/>
                        </a:rPr>
                        <a:t>406</a:t>
                      </a:r>
                    </a:p>
                  </a:txBody>
                  <a:tcPr marL="182880" marR="182880" marT="18288" marB="18288">
                    <a:solidFill>
                      <a:srgbClr val="FFFFFF"/>
                    </a:solidFill>
                  </a:tcPr>
                </a:tc>
                <a:tc>
                  <a:txBody>
                    <a:bodyPr/>
                    <a:lstStyle/>
                    <a:p>
                      <a:pPr algn="ctr"/>
                      <a:r>
                        <a:rPr sz="1400">
                          <a:solidFill>
                            <a:srgbClr val="0B2B4E"/>
                          </a:solidFill>
                          <a:latin typeface="Calibri"/>
                        </a:rPr>
                        <a:t>574</a:t>
                      </a:r>
                    </a:p>
                  </a:txBody>
                  <a:tcPr marL="182880" marR="182880" marT="18288" marB="18288">
                    <a:solidFill>
                      <a:srgbClr val="FFFFFF"/>
                    </a:solidFill>
                  </a:tcPr>
                </a:tc>
                <a:tc>
                  <a:txBody>
                    <a:bodyPr/>
                    <a:lstStyle/>
                    <a:p>
                      <a:pPr algn="ctr"/>
                      <a:r>
                        <a:rPr sz="1400">
                          <a:solidFill>
                            <a:srgbClr val="0B2B4E"/>
                          </a:solidFill>
                          <a:latin typeface="Calibri"/>
                        </a:rPr>
                        <a:t>703</a:t>
                      </a:r>
                    </a:p>
                  </a:txBody>
                  <a:tcPr marL="182880" marR="182880" marT="18288" marB="18288">
                    <a:solidFill>
                      <a:srgbClr val="FFFFFF"/>
                    </a:solidFill>
                  </a:tcPr>
                </a:tc>
                <a:tc>
                  <a:txBody>
                    <a:bodyPr/>
                    <a:lstStyle/>
                    <a:p>
                      <a:pPr algn="ctr"/>
                      <a:r>
                        <a:rPr sz="1400">
                          <a:solidFill>
                            <a:srgbClr val="0B2B4E"/>
                          </a:solidFill>
                          <a:latin typeface="Calibri"/>
                        </a:rPr>
                        <a:t>812</a:t>
                      </a:r>
                    </a:p>
                  </a:txBody>
                  <a:tcPr marL="182880" marR="182880" marT="18288" marB="18288">
                    <a:solidFill>
                      <a:srgbClr val="FFFFFF"/>
                    </a:solidFill>
                  </a:tcPr>
                </a:tc>
              </a:tr>
            </a:tbl>
          </a:graphicData>
        </a:graphic>
      </p:graphicFrame>
      <p:sp>
        <p:nvSpPr>
          <p:cNvPr id="9" name="Right Arrow 8"/>
          <p:cNvSpPr/>
          <p:nvPr/>
        </p:nvSpPr>
        <p:spPr>
          <a:xfrm>
            <a:off x="5090007" y="1700784"/>
            <a:ext cx="2926080" cy="274320"/>
          </a:xfrm>
          <a:prstGeom prst="right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wn Arrow 9"/>
          <p:cNvSpPr/>
          <p:nvPr/>
        </p:nvSpPr>
        <p:spPr>
          <a:xfrm>
            <a:off x="3791559" y="2293315"/>
            <a:ext cx="274320" cy="3375964"/>
          </a:xfrm>
          <a:prstGeom prst="down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90007" y="1472184"/>
            <a:ext cx="2926080" cy="365760"/>
          </a:xfrm>
          <a:prstGeom prst="rect">
            <a:avLst/>
          </a:prstGeom>
          <a:noFill/>
        </p:spPr>
        <p:txBody>
          <a:bodyPr wrap="square" lIns="0" rIns="0" tIns="0" bIns="0">
            <a:spAutoFit/>
          </a:bodyPr>
          <a:lstStyle/>
          <a:p>
            <a:pPr algn="ctr"/>
            <a:r>
              <a:rPr sz="1800" b="1" i="0">
                <a:solidFill>
                  <a:srgbClr val="0B2B4E"/>
                </a:solidFill>
                <a:latin typeface="Calibri"/>
              </a:rPr>
              <a:t>Number of robots (K)</a:t>
            </a:r>
          </a:p>
        </p:txBody>
      </p:sp>
      <p:sp>
        <p:nvSpPr>
          <p:cNvPr id="12" name="TextBox 11"/>
          <p:cNvSpPr txBox="1"/>
          <p:nvPr/>
        </p:nvSpPr>
        <p:spPr>
          <a:xfrm>
            <a:off x="1871319" y="3524097"/>
            <a:ext cx="1828800" cy="731520"/>
          </a:xfrm>
          <a:prstGeom prst="rect">
            <a:avLst/>
          </a:prstGeom>
          <a:noFill/>
        </p:spPr>
        <p:txBody>
          <a:bodyPr wrap="square" lIns="0" rIns="0" tIns="0" bIns="0" anchor="ctr">
            <a:spAutoFit/>
          </a:bodyPr>
          <a:lstStyle/>
          <a:p>
            <a:pPr algn="r"/>
            <a:r>
              <a:rPr sz="1800" b="1" i="0">
                <a:solidFill>
                  <a:srgbClr val="0B2B4E"/>
                </a:solidFill>
                <a:latin typeface="Calibri"/>
              </a:rPr>
              <a:t>Number of
workers (L)</a:t>
            </a:r>
          </a:p>
        </p:txBody>
      </p:sp>
      <p:sp>
        <p:nvSpPr>
          <p:cNvPr id="13" name="Rounded Rectangle 12"/>
          <p:cNvSpPr/>
          <p:nvPr/>
        </p:nvSpPr>
        <p:spPr>
          <a:xfrm>
            <a:off x="3071469" y="5779008"/>
            <a:ext cx="6479438" cy="608076"/>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54349" y="5888736"/>
            <a:ext cx="6113678" cy="388620"/>
          </a:xfrm>
          <a:prstGeom prst="rect">
            <a:avLst/>
          </a:prstGeom>
          <a:noFill/>
        </p:spPr>
        <p:txBody>
          <a:bodyPr wrap="square" lIns="45720" rIns="45720" tIns="0" bIns="0" anchor="ctr">
            <a:spAutoFit/>
          </a:bodyPr>
          <a:lstStyle/>
          <a:p>
            <a:pPr algn="ctr"/>
            <a:r>
              <a:rPr sz="1700" b="1" i="0">
                <a:solidFill>
                  <a:srgbClr val="0B2B4E"/>
                </a:solidFill>
                <a:latin typeface="Calibri"/>
              </a:rPr>
              <a:t>Output = cars per week</a:t>
            </a:r>
          </a:p>
          <a:p>
            <a:pPr algn="ctr"/>
            <a:r>
              <a:rPr sz="1700" b="1" i="0">
                <a:solidFill>
                  <a:srgbClr val="0B2B4E"/>
                </a:solidFill>
                <a:latin typeface="Calibri"/>
              </a:rPr>
              <a:t>MPL falls down each column;  MPK falls along each row</a:t>
            </a:r>
          </a:p>
        </p:txBody>
      </p:sp>
      <p:grpSp>
        <p:nvGrpSpPr>
          <p:cNvPr id="101" name="Group 16">
            <a:extLst>
              <a:ext uri="{FF2B5EF4-FFF2-40B4-BE49-F238E27FC236}">
                <a16:creationId xmlns:a16="http://schemas.microsoft.com/office/drawing/2014/main" id="{CCFFE88A-C1F2-920E-75A7-DC37624177EC}"/>
              </a:ext>
            </a:extLst>
          </p:cNvPr>
          <p:cNvGrpSpPr/>
          <p:nvPr/>
        </p:nvGrpSpPr>
        <p:grpSpPr>
          <a:xfrm>
            <a:off x="5669321" y="3150554"/>
            <a:ext cx="5054639" cy="1236280"/>
            <a:chOff x="3902753" y="3429000"/>
            <a:chExt cx="5054639" cy="1236280"/>
          </a:xfrm>
        </p:grpSpPr>
        <p:sp>
          <p:nvSpPr>
            <p:cNvPr id="102" name="Oval 17">
              <a:extLst>
                <a:ext uri="{FF2B5EF4-FFF2-40B4-BE49-F238E27FC236}">
                  <a16:creationId xmlns:a16="http://schemas.microsoft.com/office/drawing/2014/main" id="{149BAB88-5F44-F462-B3EF-E90763362AA2}"/>
                </a:ext>
              </a:extLst>
            </p:cNvPr>
            <p:cNvSpPr/>
            <p:nvPr/>
          </p:nvSpPr>
          <p:spPr>
            <a:xfrm>
              <a:off x="3902753" y="4279192"/>
              <a:ext cx="969223" cy="386088"/>
            </a:xfrm>
            <a:prstGeom prst="ellipse">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3" name="Rectangle 8">
              <a:extLst>
                <a:ext uri="{FF2B5EF4-FFF2-40B4-BE49-F238E27FC236}">
                  <a16:creationId xmlns:a16="http://schemas.microsoft.com/office/drawing/2014/main" id="{64C69EA1-DAB2-A1C9-80EF-8CB4813BCBB1}"/>
                </a:ext>
              </a:extLst>
            </p:cNvPr>
            <p:cNvSpPr>
              <a:spLocks noChangeArrowheads="1"/>
            </p:cNvSpPr>
            <p:nvPr/>
          </p:nvSpPr>
          <p:spPr bwMode="auto">
            <a:xfrm>
              <a:off x="7532631" y="3429000"/>
              <a:ext cx="1424761" cy="422371"/>
            </a:xfrm>
            <a:prstGeom prst="rect">
              <a:avLst/>
            </a:prstGeom>
            <a:noFill/>
            <a:ln w="9525">
              <a:noFill/>
              <a:miter lim="800000"/>
              <a:headEnd/>
              <a:tailEnd/>
            </a:ln>
            <a:effectLst/>
          </p:spPr>
          <p:txBody>
            <a:bodyPr wrap="none" lIns="20048" tIns="28402" rIns="20048" bIns="28402"/>
            <a:lstStyle/>
            <a:p>
              <a:pPr algn="ctr">
                <a:lnSpc>
                  <a:spcPts val="1700"/>
                </a:lnSpc>
                <a:tabLst>
                  <a:tab pos="481157" algn="l"/>
                  <a:tab pos="962315" algn="l"/>
                  <a:tab pos="1443472" algn="l"/>
                </a:tabLst>
              </a:pPr>
              <a:r>
                <a:rPr lang="en-US" b="0" dirty="0">
                  <a:latin typeface="Whitney-Book" pitchFamily="50" charset="0"/>
                  <a:cs typeface="Whitney-Book" pitchFamily="50" charset="0"/>
                </a:rPr>
                <a:t>Number of</a:t>
              </a:r>
            </a:p>
            <a:p>
              <a:pPr algn="ctr">
                <a:lnSpc>
                  <a:spcPts val="1700"/>
                </a:lnSpc>
                <a:tabLst>
                  <a:tab pos="481157" algn="l"/>
                  <a:tab pos="962315" algn="l"/>
                  <a:tab pos="1443472" algn="l"/>
                </a:tabLst>
              </a:pPr>
              <a:r>
                <a:rPr lang="en-US" dirty="0">
                  <a:effectLst>
                    <a:outerShdw blurRad="38100" dist="38100" dir="2700000" algn="tl">
                      <a:srgbClr val="C0C0C0"/>
                    </a:outerShdw>
                  </a:effectLst>
                  <a:latin typeface="Whitney-Book" pitchFamily="50" charset="0"/>
                  <a:cs typeface="Whitney-Book" pitchFamily="50" charset="0"/>
                </a:rPr>
                <a:t>cars</a:t>
              </a:r>
              <a:endParaRPr lang="en-US" b="0" dirty="0">
                <a:effectLst>
                  <a:outerShdw blurRad="38100" dist="38100" dir="2700000" algn="tl">
                    <a:srgbClr val="C0C0C0"/>
                  </a:outerShdw>
                </a:effectLst>
                <a:latin typeface="Whitney-Book" pitchFamily="50" charset="0"/>
                <a:cs typeface="Whitney-Book" pitchFamily="50" charset="0"/>
              </a:endParaRPr>
            </a:p>
          </p:txBody>
        </p:sp>
        <p:sp>
          <p:nvSpPr>
            <p:cNvPr id="104" name="Line 11">
              <a:extLst>
                <a:ext uri="{FF2B5EF4-FFF2-40B4-BE49-F238E27FC236}">
                  <a16:creationId xmlns:a16="http://schemas.microsoft.com/office/drawing/2014/main" id="{2D13A4FD-F41A-D960-86D4-A41F1454BC30}"/>
                </a:ext>
              </a:extLst>
            </p:cNvPr>
            <p:cNvSpPr>
              <a:spLocks noChangeShapeType="1"/>
            </p:cNvSpPr>
            <p:nvPr/>
          </p:nvSpPr>
          <p:spPr bwMode="auto">
            <a:xfrm flipH="1">
              <a:off x="4871976" y="3727766"/>
              <a:ext cx="2885453" cy="633968"/>
            </a:xfrm>
            <a:prstGeom prst="line">
              <a:avLst/>
            </a:prstGeom>
            <a:noFill/>
            <a:ln w="34925">
              <a:solidFill>
                <a:schemeClr val="tx1"/>
              </a:solidFill>
              <a:round/>
              <a:headEnd type="none" w="sm" len="sm"/>
              <a:tailEnd type="stealth" w="med" len="lg"/>
            </a:ln>
            <a:effectLst/>
          </p:spPr>
          <p:txBody>
            <a:bodyPr wrap="none" lIns="96231" tIns="48116" rIns="96231" bIns="48116" anchor="ctr"/>
            <a:lstStyle/>
            <a:p>
              <a:endParaRPr lang="en-US" sz="3200" b="0">
                <a:latin typeface="Whitney-Book" pitchFamily="50" charset="0"/>
                <a:cs typeface="Whitney-Book" pitchFamily="50" charset="0"/>
              </a:endParaRPr>
            </a:p>
          </p:txBody>
        </p:sp>
      </p:grpSp>
      <p:sp>
        <p:nvSpPr>
          <p:cNvPr id="105" name="Rectangle 10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08" name="TextBox 107"/>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Plotting Total Output:  Q vs. L on the R1 Line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10358" y="1188720"/>
            <a:ext cx="7680960" cy="438912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Chart 7"/>
          <p:cNvGraphicFramePr>
            <a:graphicFrameLocks noGrp="1"/>
          </p:cNvGraphicFramePr>
          <p:nvPr/>
        </p:nvGraphicFramePr>
        <p:xfrm>
          <a:off x="2410358" y="1188720"/>
          <a:ext cx="7680960" cy="4389120"/>
        </p:xfrm>
        <a:graphic>
          <a:graphicData uri="http://schemas.openxmlformats.org/drawingml/2006/chart">
            <c:chart xmlns:c="http://schemas.openxmlformats.org/drawingml/2006/chart" r:id="rId2"/>
          </a:graphicData>
        </a:graphic>
      </p:graphicFrame>
      <p:sp>
        <p:nvSpPr>
          <p:cNvPr id="9" name="Rounded Rectangle 8"/>
          <p:cNvSpPr/>
          <p:nvPr/>
        </p:nvSpPr>
        <p:spPr>
          <a:xfrm>
            <a:off x="2410358" y="5701284"/>
            <a:ext cx="7576718" cy="713232"/>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47518" y="5737860"/>
            <a:ext cx="7302398" cy="640080"/>
          </a:xfrm>
          <a:prstGeom prst="rect">
            <a:avLst/>
          </a:prstGeom>
          <a:noFill/>
        </p:spPr>
        <p:txBody>
          <a:bodyPr wrap="square" lIns="45720" rIns="45720" tIns="0" bIns="0" anchor="ctr">
            <a:spAutoFit/>
          </a:bodyPr>
          <a:lstStyle/>
          <a:p>
            <a:pPr algn="ctr"/>
            <a:r>
              <a:rPr sz="1700" b="1" i="0">
                <a:solidFill>
                  <a:srgbClr val="0B2B4E"/>
                </a:solidFill>
                <a:latin typeface="Calibri"/>
              </a:rPr>
              <a:t>Each curve flattens as L rises  (diminishing MPL)</a:t>
            </a:r>
          </a:p>
          <a:p>
            <a:pPr algn="ctr"/>
            <a:r>
              <a:rPr sz="1700" b="1" i="0">
                <a:solidFill>
                  <a:srgbClr val="0B2B4E"/>
                </a:solidFill>
                <a:latin typeface="Calibri"/>
              </a:rPr>
              <a:t>The vertical distance between curves narrows as K rises  (diminishing MPK)</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Agenda</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Part 1.b:  Short Run – Hiring Decisions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548640"/>
          </a:xfrm>
          <a:prstGeom prst="rect">
            <a:avLst/>
          </a:prstGeom>
          <a:noFill/>
        </p:spPr>
        <p:txBody>
          <a:bodyPr wrap="square" lIns="0" rIns="0" tIns="0" bIns="0">
            <a:spAutoFit/>
          </a:bodyPr>
          <a:lstStyle/>
          <a:p>
            <a:pPr algn="l"/>
            <a:r>
              <a:rPr sz="3000" b="1" i="0">
                <a:solidFill>
                  <a:srgbClr val="0B2B4E"/>
                </a:solidFill>
                <a:latin typeface="Calibri"/>
              </a:rPr>
              <a:t>Part 1: Production – Picking the Right Inputs</a:t>
            </a:r>
          </a:p>
        </p:txBody>
      </p:sp>
      <p:sp>
        <p:nvSpPr>
          <p:cNvPr id="8" name="TextBox 7"/>
          <p:cNvSpPr txBox="1"/>
          <p:nvPr/>
        </p:nvSpPr>
        <p:spPr>
          <a:xfrm>
            <a:off x="617759" y="2240280"/>
            <a:ext cx="11321937" cy="1234440"/>
          </a:xfrm>
          <a:prstGeom prst="rect">
            <a:avLst/>
          </a:prstGeom>
          <a:noFill/>
        </p:spPr>
        <p:txBody>
          <a:bodyPr wrap="square" lIns="0" rIns="0" tIns="0" bIns="0">
            <a:spAutoFit/>
          </a:bodyPr>
          <a:lstStyle/>
          <a:p>
            <a:pPr algn="l" marL="457200" indent="-457200">
              <a:buClr>
                <a:srgbClr val="B0B5BC"/>
              </a:buClr>
              <a:buFont typeface="Calibri"/>
              <a:buAutoNum type="alphaLcPeriod"/>
            </a:pPr>
            <a:r>
              <a:rPr sz="2400" b="0">
                <a:solidFill>
                  <a:srgbClr val="B0B5BC"/>
                </a:solidFill>
                <a:latin typeface="Calibri"/>
              </a:rPr>
              <a:t>Production Function</a:t>
            </a:r>
          </a:p>
          <a:p>
            <a:pPr algn="l" marL="457200" indent="-457200">
              <a:spcBef>
                <a:spcPts val="300"/>
              </a:spcBef>
              <a:buClr>
                <a:srgbClr val="0B2B4E"/>
              </a:buClr>
              <a:buFont typeface="Calibri"/>
              <a:buAutoNum type="alphaLcPeriod"/>
            </a:pPr>
            <a:r>
              <a:rPr sz="2400" b="0">
                <a:solidFill>
                  <a:srgbClr val="0B2B4E"/>
                </a:solidFill>
                <a:latin typeface="Calibri"/>
              </a:rPr>
              <a:t>Short Run – Hiring Decisions</a:t>
            </a:r>
          </a:p>
          <a:p>
            <a:pPr algn="l" marL="457200" indent="-457200">
              <a:spcBef>
                <a:spcPts val="300"/>
              </a:spcBef>
              <a:buClr>
                <a:srgbClr val="B0B5BC"/>
              </a:buClr>
              <a:buFont typeface="Calibri"/>
              <a:buAutoNum type="alphaLcPeriod"/>
            </a:pPr>
            <a:r>
              <a:rPr sz="2400" b="0">
                <a:solidFill>
                  <a:srgbClr val="B0B5BC"/>
                </a:solidFill>
                <a:latin typeface="Calibri"/>
              </a:rPr>
              <a:t>Long Run – Optimal Input Mix</a:t>
            </a:r>
          </a:p>
        </p:txBody>
      </p:sp>
      <p:sp>
        <p:nvSpPr>
          <p:cNvPr id="9" name="TextBox 8"/>
          <p:cNvSpPr txBox="1"/>
          <p:nvPr/>
        </p:nvSpPr>
        <p:spPr>
          <a:xfrm>
            <a:off x="251999" y="3611880"/>
            <a:ext cx="11687697" cy="548640"/>
          </a:xfrm>
          <a:prstGeom prst="rect">
            <a:avLst/>
          </a:prstGeom>
          <a:noFill/>
        </p:spPr>
        <p:txBody>
          <a:bodyPr wrap="square" lIns="0" rIns="0" tIns="0" bIns="0">
            <a:spAutoFit/>
          </a:bodyPr>
          <a:lstStyle/>
          <a:p>
            <a:pPr algn="l"/>
            <a:r>
              <a:rPr sz="3000" b="1" i="0">
                <a:solidFill>
                  <a:srgbClr val="B0B5BC"/>
                </a:solidFill>
                <a:latin typeface="Calibri"/>
              </a:rPr>
              <a:t>Part 2: Costs – Producing at the Lowest Price</a:t>
            </a:r>
          </a:p>
        </p:txBody>
      </p:sp>
      <p:sp>
        <p:nvSpPr>
          <p:cNvPr id="10" name="TextBox 9"/>
          <p:cNvSpPr txBox="1"/>
          <p:nvPr/>
        </p:nvSpPr>
        <p:spPr>
          <a:xfrm>
            <a:off x="617759" y="4160520"/>
            <a:ext cx="11321937" cy="1234440"/>
          </a:xfrm>
          <a:prstGeom prst="rect">
            <a:avLst/>
          </a:prstGeom>
          <a:noFill/>
        </p:spPr>
        <p:txBody>
          <a:bodyPr wrap="square" lIns="0" rIns="0" tIns="0" bIns="0">
            <a:spAutoFit/>
          </a:bodyPr>
          <a:lstStyle/>
          <a:p>
            <a:pPr algn="l" marL="457200" indent="-457200">
              <a:buClr>
                <a:srgbClr val="B0B5BC"/>
              </a:buClr>
              <a:buFont typeface="Calibri"/>
              <a:buAutoNum type="alphaLcPeriod"/>
            </a:pPr>
            <a:r>
              <a:rPr sz="2400" b="0">
                <a:solidFill>
                  <a:srgbClr val="B0B5BC"/>
                </a:solidFill>
                <a:latin typeface="Calibri"/>
              </a:rPr>
              <a:t>Cost Concepts</a:t>
            </a:r>
          </a:p>
          <a:p>
            <a:pPr algn="l" marL="457200" indent="-457200">
              <a:spcBef>
                <a:spcPts val="300"/>
              </a:spcBef>
              <a:buClr>
                <a:srgbClr val="B0B5BC"/>
              </a:buClr>
              <a:buFont typeface="Calibri"/>
              <a:buAutoNum type="alphaLcPeriod"/>
            </a:pPr>
            <a:r>
              <a:rPr sz="2400" b="0">
                <a:solidFill>
                  <a:srgbClr val="B0B5BC"/>
                </a:solidFill>
                <a:latin typeface="Calibri"/>
              </a:rPr>
              <a:t>Scale &amp; Scope</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Short Run:  Marginal Product of Labor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11480"/>
          </a:xfrm>
          <a:prstGeom prst="rect">
            <a:avLst/>
          </a:prstGeom>
          <a:noFill/>
        </p:spPr>
        <p:txBody>
          <a:bodyPr wrap="square" lIns="45720" rIns="45720" tIns="0" bIns="0">
            <a:spAutoFit/>
          </a:bodyPr>
          <a:lstStyle/>
          <a:p>
            <a:pPr algn="l"/>
            <a:r>
              <a:rPr sz="2800" b="1" i="0">
                <a:solidFill>
                  <a:srgbClr val="0B2B4E"/>
                </a:solidFill>
                <a:latin typeface="Calibri"/>
              </a:rPr>
              <a:t>▪  </a:t>
            </a:r>
            <a:r>
              <a:rPr sz="2800" b="1" i="0">
                <a:solidFill>
                  <a:srgbClr val="0B2B4E"/>
                </a:solidFill>
                <a:latin typeface="Calibri"/>
              </a:rPr>
              <a:t>Typically</a:t>
            </a:r>
            <a:r>
              <a:rPr sz="2800" b="1" i="0">
                <a:solidFill>
                  <a:srgbClr val="0B2B4E"/>
                </a:solidFill>
                <a:latin typeface="Calibri"/>
              </a:rPr>
              <a:t> in the short run:</a:t>
            </a:r>
          </a:p>
        </p:txBody>
      </p:sp>
      <p:sp>
        <p:nvSpPr>
          <p:cNvPr id="8" name="TextBox 7"/>
          <p:cNvSpPr txBox="1"/>
          <p:nvPr/>
        </p:nvSpPr>
        <p:spPr>
          <a:xfrm>
            <a:off x="663479" y="2240280"/>
            <a:ext cx="11276217" cy="1097280"/>
          </a:xfrm>
          <a:prstGeom prst="rect">
            <a:avLst/>
          </a:prstGeom>
          <a:noFill/>
        </p:spPr>
        <p:txBody>
          <a:bodyPr wrap="square" lIns="45720" rIns="45720" tIns="0" bIns="0">
            <a:spAutoFit/>
          </a:bodyPr>
          <a:lstStyle/>
          <a:p xmlns:m="http://schemas.openxmlformats.org/officeDocument/2006/math" xmlns:a14="http://schemas.microsoft.com/office/drawing/2010/main">
            <a:r>
              <a:rPr lang="en-US" sz="2600">
                <a:solidFill>
                  <a:srgbClr val="0B2B4E"/>
                </a:solidFill>
                <a:latin typeface="Calibri"/>
              </a:rPr>
              <a:t>–  </a:t>
            </a:r>
            <a:r>
              <a:rPr lang="en-US" sz="2600">
                <a:solidFill>
                  <a:srgbClr val="0B2B4E"/>
                </a:solidFill>
                <a:latin typeface="Calibri"/>
              </a:rPr>
              <a:t>Capital is </a:t>
            </a:r>
            <a:r>
              <a:rPr lang="en-US" sz="2600" b="1">
                <a:solidFill>
                  <a:srgbClr val="0B2B4E"/>
                </a:solidFill>
                <a:latin typeface="Calibri"/>
              </a:rPr>
              <a:t>fixed</a:t>
            </a:r>
            <a:r>
              <a:rPr lang="en-US" sz="2600">
                <a:solidFill>
                  <a:srgbClr val="0B2B4E"/>
                </a:solidFill>
                <a:latin typeface="Calibri"/>
              </a:rPr>
              <a:t>  (</a:t>
            </a:r>
            <a14:m>
              <m:oMath>
                <m:acc>
                  <m:accPr>
                    <m:chr m:val="̅"/>
                  </m:accPr>
                  <m:e>
                    <m:r>
                      <a:rPr lang="en-US" b="0" i="1" sz="2600">
                        <a:latin typeface="Cambria Math"/>
                        <a:solidFill>
                          <a:srgbClr val="0B2B4E"/>
                        </a:solidFill>
                      </a:rPr>
                      <m:t>K</m:t>
                    </m:r>
                  </m:e>
                </m:acc>
              </m:oMath>
            </a14:m>
            <a:r>
              <a:rPr lang="en-US" sz="2600">
                <a:solidFill>
                  <a:srgbClr val="0B2B4E"/>
                </a:solidFill>
                <a:latin typeface="Calibri"/>
              </a:rPr>
              <a:t>)</a:t>
            </a:r>
            <a:endParaRPr lang="en-US"/>
          </a:p>
          <a:p xmlns:m="http://schemas.openxmlformats.org/officeDocument/2006/math" xmlns:a14="http://schemas.microsoft.com/office/drawing/2010/main">
            <a:r>
              <a:rPr lang="en-US" sz="2600">
                <a:solidFill>
                  <a:srgbClr val="0B2B4E"/>
                </a:solidFill>
                <a:latin typeface="Calibri"/>
              </a:rPr>
              <a:t>–  </a:t>
            </a:r>
            <a:r>
              <a:rPr lang="en-US" sz="2600">
                <a:solidFill>
                  <a:srgbClr val="0B2B4E"/>
                </a:solidFill>
                <a:latin typeface="Calibri"/>
              </a:rPr>
              <a:t>Labor is flexible  (</a:t>
            </a:r>
            <a14:m>
              <m:oMath>
                <m:r>
                  <a:rPr lang="en-US" b="0" i="1" sz="2600">
                    <a:latin typeface="Cambria Math"/>
                    <a:ea typeface="Cambria Math"/>
                    <a:solidFill>
                      <a:srgbClr val="0B2B4E"/>
                    </a:solidFill>
                  </a:rPr>
                  <m:t>L</m:t>
                </m:r>
              </m:oMath>
            </a14:m>
            <a:r>
              <a:rPr lang="en-US" sz="2600">
                <a:solidFill>
                  <a:srgbClr val="0B2B4E"/>
                </a:solidFill>
                <a:latin typeface="Calibri"/>
              </a:rPr>
              <a:t>)</a:t>
            </a:r>
            <a:endParaRPr lang="en-US"/>
          </a:p>
        </p:txBody>
      </p:sp>
      <p:sp>
        <p:nvSpPr>
          <p:cNvPr id="9" name="TextBox 8"/>
          <p:cNvSpPr txBox="1"/>
          <p:nvPr/>
        </p:nvSpPr>
        <p:spPr>
          <a:xfrm>
            <a:off x="251999" y="3657600"/>
            <a:ext cx="11687697" cy="411480"/>
          </a:xfrm>
          <a:prstGeom prst="rect">
            <a:avLst/>
          </a:prstGeom>
          <a:noFill/>
        </p:spPr>
        <p:txBody>
          <a:bodyPr wrap="square" lIns="45720" rIns="45720" tIns="0" bIns="0">
            <a:spAutoFit/>
          </a:bodyPr>
          <a:lstStyle/>
          <a:p>
            <a:pPr algn="l"/>
            <a:r>
              <a:rPr sz="2800" b="1" i="0">
                <a:solidFill>
                  <a:srgbClr val="0B2B4E"/>
                </a:solidFill>
                <a:latin typeface="Calibri"/>
              </a:rPr>
              <a:t>▪  </a:t>
            </a:r>
            <a:r>
              <a:rPr sz="2800" b="1" i="0">
                <a:solidFill>
                  <a:srgbClr val="0B2B4E"/>
                </a:solidFill>
                <a:latin typeface="Calibri"/>
              </a:rPr>
              <a:t>Important Concept:  </a:t>
            </a:r>
            <a:r>
              <a:rPr sz="2800" b="1" i="0">
                <a:solidFill>
                  <a:srgbClr val="0070C0"/>
                </a:solidFill>
                <a:latin typeface="Calibri"/>
              </a:rPr>
              <a:t>Marginal Product of Labor</a:t>
            </a:r>
          </a:p>
        </p:txBody>
      </p:sp>
      <p:sp>
        <p:nvSpPr>
          <p:cNvPr id="10" name="TextBox 9"/>
          <p:cNvSpPr txBox="1"/>
          <p:nvPr/>
        </p:nvSpPr>
        <p:spPr>
          <a:xfrm>
            <a:off x="663479" y="4206240"/>
            <a:ext cx="11276217" cy="685800"/>
          </a:xfrm>
          <a:prstGeom prst="rect">
            <a:avLst/>
          </a:prstGeom>
          <a:noFill/>
        </p:spPr>
        <p:txBody>
          <a:bodyPr wrap="square" lIns="45720" rIns="45720" tIns="0" bIns="0">
            <a:spAutoFit/>
          </a:bodyPr>
          <a:lstStyle/>
          <a:p>
            <a:r>
              <a:rPr sz="2600" b="0" i="0">
                <a:solidFill>
                  <a:srgbClr val="0B2B4E"/>
                </a:solidFill>
                <a:latin typeface="Calibri"/>
              </a:rPr>
              <a:t>–  </a:t>
            </a:r>
            <a:r>
              <a:rPr sz="2600" b="0" i="0">
                <a:solidFill>
                  <a:srgbClr val="0B2B4E"/>
                </a:solidFill>
                <a:latin typeface="Calibri"/>
              </a:rPr>
              <a:t>The </a:t>
            </a:r>
            <a:r>
              <a:rPr sz="2600" b="0" i="0">
                <a:solidFill>
                  <a:srgbClr val="0070C0"/>
                </a:solidFill>
                <a:latin typeface="Calibri"/>
              </a:rPr>
              <a:t>marginal product of labor </a:t>
            </a:r>
            <a:r>
              <a:rPr sz="2600" b="0" i="0">
                <a:solidFill>
                  <a:srgbClr val="0B2B4E"/>
                </a:solidFill>
                <a:latin typeface="Calibri"/>
              </a:rPr>
              <a:t>is the </a:t>
            </a:r>
            <a:r>
              <a:rPr sz="2600" b="0" i="1">
                <a:solidFill>
                  <a:srgbClr val="B8860B"/>
                </a:solidFill>
                <a:latin typeface="Calibri"/>
              </a:rPr>
              <a:t>change</a:t>
            </a:r>
            <a:r>
              <a:rPr sz="2600" b="0" i="0">
                <a:solidFill>
                  <a:srgbClr val="0B2B4E"/>
                </a:solidFill>
                <a:latin typeface="Calibri"/>
              </a:rPr>
              <a:t> in output due to a </a:t>
            </a:r>
            <a:r>
              <a:rPr sz="2600" b="0" i="1">
                <a:solidFill>
                  <a:srgbClr val="B8860B"/>
                </a:solidFill>
                <a:latin typeface="Calibri"/>
              </a:rPr>
              <a:t>change</a:t>
            </a:r>
            <a:r>
              <a:rPr sz="2600" b="0" i="0">
                <a:solidFill>
                  <a:srgbClr val="0B2B4E"/>
                </a:solidFill>
                <a:latin typeface="Calibri"/>
              </a:rPr>
              <a:t> in labor input:</a:t>
            </a:r>
          </a:p>
        </p:txBody>
      </p:sp>
      <p:sp>
        <p:nvSpPr>
          <p:cNvPr id="11" name="TextBox 10"/>
          <p:cNvSpPr txBox="1"/>
          <p:nvPr/>
        </p:nvSpPr>
        <p:spPr>
          <a:xfrm>
            <a:off x="4297680" y="5074920"/>
            <a:ext cx="3657600" cy="1143000"/>
          </a:xfrm>
          <a:prstGeom prst="rect">
            <a:avLst/>
          </a:prstGeom>
          <a:noFill/>
        </p:spPr>
        <p:txBody>
          <a:bodyPr wrap="square" anchor="ctr">
            <a:spAutoFit/>
          </a:bodyPr>
          <a:lstStyle/>
          <a:p xmlns:m="http://schemas.openxmlformats.org/officeDocument/2006/math" xmlns:a14="http://schemas.microsoft.com/office/drawing/2010/main">
            <a:pPr algn="ctr">
              <a:defRPr sz="3600" b="0" i="1">
                <a:solidFill>
                  <a:srgbClr val="0070C0"/>
                </a:solidFill>
                <a:latin typeface="Cambria Math"/>
              </a:defRPr>
            </a:pPr>
            <a14:m>
              <m:oMathPara>
                <m:oMathParaPr>
                  <m:jc m:val="centerGroup"/>
                </m:oMathParaPr>
                <m:oMath>
                  <m:sSub>
                    <m:sSubPr>
                      <m:ctrlPr>
                        <a:rPr lang="en-US" i="1">
                          <a:latin typeface="Cambria Math"/>
                        </a:rPr>
                      </m:ctrlPr>
                    </m:sSubPr>
                    <m:e>
                      <m:r>
                        <a:rPr lang="en-US" b="0" i="1" sz="3600">
                          <a:latin typeface="Cambria Math"/>
                          <a:ea typeface="Cambria Math"/>
                          <a:solidFill>
                            <a:srgbClr val="0070C0"/>
                          </a:solidFill>
                        </a:rPr>
                        <m:t>MP</m:t>
                      </m:r>
                    </m:e>
                    <m:sub>
                      <m:r>
                        <a:rPr lang="en-US" b="0" i="1" sz="3600">
                          <a:latin typeface="Cambria Math"/>
                          <a:ea typeface="Cambria Math"/>
                          <a:solidFill>
                            <a:srgbClr val="0070C0"/>
                          </a:solidFill>
                        </a:rPr>
                        <m:t>L</m:t>
                      </m:r>
                    </m:sub>
                  </m:sSub>
                  <m:r>
                    <m:rPr>
                      <m:sty m:val="p"/>
                    </m:rPr>
                    <a:rPr lang="en-US" b="0" i="0" sz="3600">
                      <a:latin typeface="Cambria Math"/>
                      <a:solidFill>
                        <a:srgbClr val="0070C0"/>
                      </a:solidFill>
                    </a:rPr>
                    <m:t xml:space="preserve"> = </m:t>
                  </m:r>
                  <m:f>
                    <m:fPr>
                      <m:ctrlPr>
                        <a:rPr lang="en-US" i="1">
                          <a:latin typeface="Cambria Math"/>
                        </a:rPr>
                      </m:ctrlPr>
                    </m:fPr>
                    <m:num>
                      <m:r>
                        <m:rPr>
                          <m:sty m:val="p"/>
                        </m:rPr>
                        <a:rPr lang="en-US" b="0" i="0" sz="3600">
                          <a:latin typeface="Cambria Math"/>
                          <a:solidFill>
                            <a:srgbClr val="0070C0"/>
                          </a:solidFill>
                        </a:rPr>
                        <m:t xml:space="preserve">Δ</m:t>
                      </m:r>
                      <m:r>
                        <a:rPr lang="en-US" b="0" i="1" sz="3600">
                          <a:latin typeface="Cambria Math"/>
                          <a:ea typeface="Cambria Math"/>
                          <a:solidFill>
                            <a:srgbClr val="0070C0"/>
                          </a:solidFill>
                        </a:rPr>
                        <m:t>Q</m:t>
                      </m:r>
                    </m:num>
                    <m:den>
                      <m:r>
                        <m:rPr>
                          <m:sty m:val="p"/>
                        </m:rPr>
                        <a:rPr lang="en-US" b="0" i="0" sz="3600">
                          <a:latin typeface="Cambria Math"/>
                          <a:solidFill>
                            <a:srgbClr val="0070C0"/>
                          </a:solidFill>
                        </a:rPr>
                        <m:t xml:space="preserve">Δ</m:t>
                      </m:r>
                      <m:r>
                        <a:rPr lang="en-US" b="0" i="1" sz="3600">
                          <a:latin typeface="Cambria Math"/>
                          <a:ea typeface="Cambria Math"/>
                          <a:solidFill>
                            <a:srgbClr val="0070C0"/>
                          </a:solidFill>
                        </a:rPr>
                        <m:t>L</m:t>
                      </m:r>
                    </m:den>
                  </m:f>
                </m:oMath>
              </m:oMathPara>
            </a14:m>
            <a:endParaRPr lang="en-US" sz="3600"/>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5" name="TextBox 14"/>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Marginal Product of Labor (MPL):  Calculation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11480"/>
          </a:xfrm>
          <a:prstGeom prst="rect">
            <a:avLst/>
          </a:prstGeom>
          <a:noFill/>
        </p:spPr>
        <p:txBody>
          <a:bodyPr wrap="square" lIns="45720" rIns="45720" tIns="0" bIns="0">
            <a:spAutoFit/>
          </a:bodyPr>
          <a:lstStyle/>
          <a:p xmlns:m="http://schemas.openxmlformats.org/officeDocument/2006/math" xmlns:a14="http://schemas.microsoft.com/office/drawing/2010/main">
            <a:r>
              <a:rPr lang="en-US" sz="2400" b="1">
                <a:solidFill>
                  <a:srgbClr val="0B2B4E"/>
                </a:solidFill>
                <a:latin typeface="Calibri"/>
              </a:rPr>
              <a:t>▪  </a:t>
            </a:r>
            <a:r>
              <a:rPr lang="en-US" sz="2400" b="1">
                <a:solidFill>
                  <a:srgbClr val="0B2B4E"/>
                </a:solidFill>
                <a:latin typeface="Calibri"/>
              </a:rPr>
              <a:t>Example:  MPL from Rivian Production function.</a:t>
            </a:r>
            <a:endParaRPr lang="en-US"/>
          </a:p>
        </p:txBody>
      </p:sp>
      <p:sp>
        <p:nvSpPr>
          <p:cNvPr id="8" name="TextBox 7"/>
          <p:cNvSpPr txBox="1"/>
          <p:nvPr/>
        </p:nvSpPr>
        <p:spPr>
          <a:xfrm>
            <a:off x="663479" y="2148840"/>
            <a:ext cx="11276217" cy="365760"/>
          </a:xfrm>
          <a:prstGeom prst="rect">
            <a:avLst/>
          </a:prstGeom>
          <a:noFill/>
        </p:spPr>
        <p:txBody>
          <a:bodyPr wrap="square" lIns="45720" rIns="45720" tIns="0" bIns="0">
            <a:spAutoFit/>
          </a:bodyPr>
          <a:lstStyle/>
          <a:p xmlns:m="http://schemas.openxmlformats.org/officeDocument/2006/math" xmlns:a14="http://schemas.microsoft.com/office/drawing/2010/main">
            <a:r>
              <a:rPr lang="en-US" sz="2200">
                <a:solidFill>
                  <a:srgbClr val="0B2B4E"/>
                </a:solidFill>
                <a:latin typeface="Calibri"/>
              </a:rPr>
              <a:t>–  </a:t>
            </a:r>
            <a:r>
              <a:rPr lang="en-US" sz="2200">
                <a:solidFill>
                  <a:srgbClr val="0B2B4E"/>
                </a:solidFill>
                <a:latin typeface="Calibri"/>
              </a:rPr>
              <a:t>Fix capital at  </a:t>
            </a:r>
            <a14:m>
              <m:oMath>
                <m:acc>
                  <m:accPr>
                    <m:chr m:val="̅"/>
                  </m:accPr>
                  <m:e>
                    <m:r>
                      <a:rPr lang="en-US" b="0" i="1" sz="2200">
                        <a:latin typeface="Cambria Math"/>
                        <a:solidFill>
                          <a:srgbClr val="0B2B4E"/>
                        </a:solidFill>
                      </a:rPr>
                      <m:t>K</m:t>
                    </m:r>
                  </m:e>
                </m:acc>
              </m:oMath>
            </a14:m>
            <a:r>
              <a:rPr lang="en-US" sz="2200" b="1">
                <a:solidFill>
                  <a:srgbClr val="0B2B4E"/>
                </a:solidFill>
                <a:latin typeface="Calibri"/>
              </a:rPr>
              <a:t>  =  100</a:t>
            </a:r>
            <a:endParaRPr lang="en-US"/>
          </a:p>
        </p:txBody>
      </p:sp>
      <p:sp>
        <p:nvSpPr>
          <p:cNvPr id="9" name="Rectangle 8"/>
          <p:cNvSpPr/>
          <p:nvPr/>
        </p:nvSpPr>
        <p:spPr>
          <a:xfrm>
            <a:off x="731520" y="2606040"/>
            <a:ext cx="4389120" cy="2612898"/>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731520" y="2606040"/>
          <a:ext cx="4389120" cy="2612898"/>
        </p:xfrm>
        <a:graphic>
          <a:graphicData uri="http://schemas.openxmlformats.org/drawingml/2006/table">
            <a:tbl>
              <a:tblPr firstRow="1" bandRow="1">
                <a:tableStyleId>{5C22544A-7EE6-4342-B048-85BDC9FD1C3A}</a:tableStyleId>
              </a:tblPr>
              <a:tblGrid>
                <a:gridCol w="731520"/>
                <a:gridCol w="594360"/>
                <a:gridCol w="731520"/>
                <a:gridCol w="777240"/>
                <a:gridCol w="685800"/>
                <a:gridCol w="868680"/>
              </a:tblGrid>
              <a:tr h="326612">
                <a:tc>
                  <a:txBody>
                    <a:bodyPr/>
                    <a:lstStyle/>
                    <a:p>
                      <a:pPr algn="ctr"/>
                      <a:r>
                        <a:rPr sz="1600" b="1">
                          <a:solidFill>
                            <a:srgbClr val="FFFFFF"/>
                          </a:solidFill>
                          <a:latin typeface="Calibri"/>
                        </a:rPr>
                        <a:t>L</a:t>
                      </a:r>
                    </a:p>
                  </a:txBody>
                  <a:tcPr marL="91440" marR="91440" marT="27432" marB="27432" anchor="ctr">
                    <a:solidFill>
                      <a:srgbClr val="0B2B4E"/>
                    </a:solidFill>
                  </a:tcPr>
                </a:tc>
                <a:tc>
                  <a:txBody>
                    <a:bodyPr/>
                    <a:lstStyle/>
                    <a:p>
                      <a:pPr algn="ctr"/>
                      <a:r>
                        <a:rPr sz="1600" b="1">
                          <a:solidFill>
                            <a:srgbClr val="FFFFFF"/>
                          </a:solidFill>
                          <a:latin typeface="Calibri"/>
                        </a:rPr>
                        <a:t>K</a:t>
                      </a:r>
                    </a:p>
                  </a:txBody>
                  <a:tcPr marL="91440" marR="91440" marT="27432" marB="27432" anchor="ctr">
                    <a:solidFill>
                      <a:srgbClr val="0B2B4E"/>
                    </a:solidFill>
                  </a:tcPr>
                </a:tc>
                <a:tc>
                  <a:txBody>
                    <a:bodyPr/>
                    <a:lstStyle/>
                    <a:p>
                      <a:pPr algn="ctr"/>
                      <a:r>
                        <a:rPr sz="1600" b="1">
                          <a:solidFill>
                            <a:srgbClr val="FFFFFF"/>
                          </a:solidFill>
                          <a:latin typeface="Calibri"/>
                        </a:rPr>
                        <a:t>Q</a:t>
                      </a:r>
                    </a:p>
                  </a:txBody>
                  <a:tcPr marL="91440" marR="91440" marT="27432" marB="27432" anchor="ctr">
                    <a:solidFill>
                      <a:srgbClr val="0B2B4E"/>
                    </a:solidFill>
                  </a:tcPr>
                </a:tc>
                <a:tc>
                  <a:txBody>
                    <a:bodyPr/>
                    <a:lstStyle/>
                    <a:p>
                      <a:pPr algn="ctr"/>
                      <a:r>
                        <a:rPr sz="1600" b="1">
                          <a:solidFill>
                            <a:srgbClr val="FFFFFF"/>
                          </a:solidFill>
                          <a:latin typeface="Calibri"/>
                        </a:rPr>
                        <a:t>ΔQ</a:t>
                      </a:r>
                    </a:p>
                  </a:txBody>
                  <a:tcPr marL="91440" marR="91440" marT="27432" marB="27432" anchor="ctr">
                    <a:solidFill>
                      <a:srgbClr val="0B2B4E"/>
                    </a:solidFill>
                  </a:tcPr>
                </a:tc>
                <a:tc>
                  <a:txBody>
                    <a:bodyPr/>
                    <a:lstStyle/>
                    <a:p>
                      <a:pPr algn="ctr"/>
                      <a:r>
                        <a:rPr sz="1600" b="1">
                          <a:solidFill>
                            <a:srgbClr val="FFFFFF"/>
                          </a:solidFill>
                          <a:latin typeface="Calibri"/>
                        </a:rPr>
                        <a:t>ΔL</a:t>
                      </a:r>
                    </a:p>
                  </a:txBody>
                  <a:tcPr marL="91440" marR="91440" marT="27432" marB="27432" anchor="ctr">
                    <a:solidFill>
                      <a:srgbClr val="0B2B4E"/>
                    </a:solidFill>
                  </a:tcPr>
                </a:tc>
                <a:tc>
                  <a:txBody>
                    <a:bodyPr/>
                    <a:lstStyle/>
                    <a:p>
                      <a:pPr algn="ctr"/>
                      <a:r>
                        <a:rPr sz="1600" b="1">
                          <a:solidFill>
                            <a:srgbClr val="FFFFFF"/>
                          </a:solidFill>
                          <a:latin typeface="Calibri"/>
                        </a:rPr>
                        <a:t>MPL</a:t>
                      </a:r>
                    </a:p>
                  </a:txBody>
                  <a:tcPr marL="91440" marR="91440" marT="27432" marB="27432" anchor="ctr">
                    <a:solidFill>
                      <a:srgbClr val="0B2B4E"/>
                    </a:solidFill>
                  </a:tcPr>
                </a:tc>
              </a:tr>
              <a:tr h="326612">
                <a:tc>
                  <a:txBody>
                    <a:bodyPr/>
                    <a:lstStyle/>
                    <a:p>
                      <a:pPr algn="ctr"/>
                      <a:r>
                        <a:rPr sz="1600">
                          <a:solidFill>
                            <a:srgbClr val="000000"/>
                          </a:solidFill>
                          <a:latin typeface="Calibri"/>
                        </a:rPr>
                        <a:t>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0</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612">
                <a:tc>
                  <a:txBody>
                    <a:bodyPr/>
                    <a:lstStyle/>
                    <a:p>
                      <a:pPr algn="ctr"/>
                      <a:r>
                        <a:rPr sz="1600">
                          <a:solidFill>
                            <a:srgbClr val="000000"/>
                          </a:solidFill>
                          <a:latin typeface="Calibri"/>
                        </a:rPr>
                        <a:t>250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165</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612">
                <a:tc>
                  <a:txBody>
                    <a:bodyPr/>
                    <a:lstStyle/>
                    <a:p>
                      <a:pPr algn="ctr"/>
                      <a:r>
                        <a:rPr sz="1600">
                          <a:solidFill>
                            <a:srgbClr val="000000"/>
                          </a:solidFill>
                          <a:latin typeface="Calibri"/>
                        </a:rPr>
                        <a:t>500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204</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612">
                <a:tc>
                  <a:txBody>
                    <a:bodyPr/>
                    <a:lstStyle/>
                    <a:p>
                      <a:pPr algn="ctr"/>
                      <a:r>
                        <a:rPr sz="1600">
                          <a:solidFill>
                            <a:srgbClr val="000000"/>
                          </a:solidFill>
                          <a:latin typeface="Calibri"/>
                        </a:rPr>
                        <a:t>1,000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251</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612">
                <a:tc>
                  <a:txBody>
                    <a:bodyPr/>
                    <a:lstStyle/>
                    <a:p>
                      <a:pPr algn="ctr"/>
                      <a:r>
                        <a:rPr sz="1600">
                          <a:solidFill>
                            <a:srgbClr val="000000"/>
                          </a:solidFill>
                          <a:latin typeface="Calibri"/>
                        </a:rPr>
                        <a:t>1,500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283</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612">
                <a:tc>
                  <a:txBody>
                    <a:bodyPr/>
                    <a:lstStyle/>
                    <a:p>
                      <a:pPr algn="ctr"/>
                      <a:r>
                        <a:rPr sz="1600">
                          <a:solidFill>
                            <a:srgbClr val="000000"/>
                          </a:solidFill>
                          <a:latin typeface="Calibri"/>
                        </a:rPr>
                        <a:t>2,000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309</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614">
                <a:tc>
                  <a:txBody>
                    <a:bodyPr/>
                    <a:lstStyle/>
                    <a:p>
                      <a:pPr algn="ctr"/>
                      <a:r>
                        <a:rPr sz="1600">
                          <a:solidFill>
                            <a:srgbClr val="000000"/>
                          </a:solidFill>
                          <a:latin typeface="Calibri"/>
                        </a:rPr>
                        <a:t>2,500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330</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bl>
          </a:graphicData>
        </a:graphic>
      </p:graphicFrame>
      <p:sp>
        <p:nvSpPr>
          <p:cNvPr id="11" name="TextBox 10"/>
          <p:cNvSpPr txBox="1"/>
          <p:nvPr/>
        </p:nvSpPr>
        <p:spPr>
          <a:xfrm>
            <a:off x="2788920" y="3067812"/>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165</a:t>
            </a:r>
          </a:p>
        </p:txBody>
      </p:sp>
      <p:sp>
        <p:nvSpPr>
          <p:cNvPr id="12" name="TextBox 11"/>
          <p:cNvSpPr txBox="1"/>
          <p:nvPr/>
        </p:nvSpPr>
        <p:spPr>
          <a:xfrm>
            <a:off x="3566160" y="3067812"/>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250</a:t>
            </a:r>
          </a:p>
        </p:txBody>
      </p:sp>
      <p:sp>
        <p:nvSpPr>
          <p:cNvPr id="13" name="Rounded Rectangle 12"/>
          <p:cNvSpPr/>
          <p:nvPr/>
        </p:nvSpPr>
        <p:spPr>
          <a:xfrm>
            <a:off x="4288536" y="3067812"/>
            <a:ext cx="79552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51960" y="3067812"/>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0.660</a:t>
            </a:r>
          </a:p>
        </p:txBody>
      </p:sp>
      <p:sp>
        <p:nvSpPr>
          <p:cNvPr id="15" name="TextBox 14"/>
          <p:cNvSpPr txBox="1"/>
          <p:nvPr/>
        </p:nvSpPr>
        <p:spPr>
          <a:xfrm>
            <a:off x="2788920" y="3404311"/>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39</a:t>
            </a:r>
          </a:p>
        </p:txBody>
      </p:sp>
      <p:sp>
        <p:nvSpPr>
          <p:cNvPr id="16" name="TextBox 15"/>
          <p:cNvSpPr txBox="1"/>
          <p:nvPr/>
        </p:nvSpPr>
        <p:spPr>
          <a:xfrm>
            <a:off x="3566160" y="3404311"/>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250</a:t>
            </a:r>
          </a:p>
        </p:txBody>
      </p:sp>
      <p:sp>
        <p:nvSpPr>
          <p:cNvPr id="17" name="Rounded Rectangle 16"/>
          <p:cNvSpPr/>
          <p:nvPr/>
        </p:nvSpPr>
        <p:spPr>
          <a:xfrm>
            <a:off x="4288536" y="3404311"/>
            <a:ext cx="79552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51960" y="3404311"/>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0.156</a:t>
            </a:r>
          </a:p>
        </p:txBody>
      </p:sp>
      <p:sp>
        <p:nvSpPr>
          <p:cNvPr id="19" name="TextBox 18"/>
          <p:cNvSpPr txBox="1"/>
          <p:nvPr/>
        </p:nvSpPr>
        <p:spPr>
          <a:xfrm>
            <a:off x="2788920" y="3730752"/>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47</a:t>
            </a:r>
          </a:p>
        </p:txBody>
      </p:sp>
      <p:sp>
        <p:nvSpPr>
          <p:cNvPr id="20" name="TextBox 19"/>
          <p:cNvSpPr txBox="1"/>
          <p:nvPr/>
        </p:nvSpPr>
        <p:spPr>
          <a:xfrm>
            <a:off x="3566160" y="3730752"/>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500</a:t>
            </a:r>
          </a:p>
        </p:txBody>
      </p:sp>
      <p:sp>
        <p:nvSpPr>
          <p:cNvPr id="21" name="Rounded Rectangle 20"/>
          <p:cNvSpPr/>
          <p:nvPr/>
        </p:nvSpPr>
        <p:spPr>
          <a:xfrm>
            <a:off x="4288536" y="3730752"/>
            <a:ext cx="79552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51960" y="3730752"/>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0.094</a:t>
            </a:r>
          </a:p>
        </p:txBody>
      </p:sp>
      <p:sp>
        <p:nvSpPr>
          <p:cNvPr id="23" name="TextBox 22"/>
          <p:cNvSpPr txBox="1"/>
          <p:nvPr/>
        </p:nvSpPr>
        <p:spPr>
          <a:xfrm>
            <a:off x="2788920" y="4048963"/>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32</a:t>
            </a:r>
          </a:p>
        </p:txBody>
      </p:sp>
      <p:sp>
        <p:nvSpPr>
          <p:cNvPr id="24" name="TextBox 23"/>
          <p:cNvSpPr txBox="1"/>
          <p:nvPr/>
        </p:nvSpPr>
        <p:spPr>
          <a:xfrm>
            <a:off x="3566160" y="4048963"/>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500</a:t>
            </a:r>
          </a:p>
        </p:txBody>
      </p:sp>
      <p:sp>
        <p:nvSpPr>
          <p:cNvPr id="25" name="Rounded Rectangle 24"/>
          <p:cNvSpPr/>
          <p:nvPr/>
        </p:nvSpPr>
        <p:spPr>
          <a:xfrm>
            <a:off x="4288536" y="4048963"/>
            <a:ext cx="79552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51960" y="4048963"/>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0.064</a:t>
            </a:r>
          </a:p>
        </p:txBody>
      </p:sp>
      <p:sp>
        <p:nvSpPr>
          <p:cNvPr id="27" name="TextBox 26"/>
          <p:cNvSpPr txBox="1"/>
          <p:nvPr/>
        </p:nvSpPr>
        <p:spPr>
          <a:xfrm>
            <a:off x="2788920" y="4384548"/>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26</a:t>
            </a:r>
          </a:p>
        </p:txBody>
      </p:sp>
      <p:sp>
        <p:nvSpPr>
          <p:cNvPr id="28" name="TextBox 27"/>
          <p:cNvSpPr txBox="1"/>
          <p:nvPr/>
        </p:nvSpPr>
        <p:spPr>
          <a:xfrm>
            <a:off x="3566160" y="4384548"/>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500</a:t>
            </a:r>
          </a:p>
        </p:txBody>
      </p:sp>
      <p:sp>
        <p:nvSpPr>
          <p:cNvPr id="29" name="Rounded Rectangle 28"/>
          <p:cNvSpPr/>
          <p:nvPr/>
        </p:nvSpPr>
        <p:spPr>
          <a:xfrm>
            <a:off x="4288536" y="4384548"/>
            <a:ext cx="79552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51960" y="4384548"/>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0.052</a:t>
            </a:r>
          </a:p>
        </p:txBody>
      </p:sp>
      <p:sp>
        <p:nvSpPr>
          <p:cNvPr id="31" name="TextBox 30"/>
          <p:cNvSpPr txBox="1"/>
          <p:nvPr/>
        </p:nvSpPr>
        <p:spPr>
          <a:xfrm>
            <a:off x="2788920" y="4720132"/>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21</a:t>
            </a:r>
          </a:p>
        </p:txBody>
      </p:sp>
      <p:sp>
        <p:nvSpPr>
          <p:cNvPr id="32" name="TextBox 31"/>
          <p:cNvSpPr txBox="1"/>
          <p:nvPr/>
        </p:nvSpPr>
        <p:spPr>
          <a:xfrm>
            <a:off x="3566160" y="4720132"/>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500</a:t>
            </a:r>
          </a:p>
        </p:txBody>
      </p:sp>
      <p:sp>
        <p:nvSpPr>
          <p:cNvPr id="33" name="Rounded Rectangle 32"/>
          <p:cNvSpPr/>
          <p:nvPr/>
        </p:nvSpPr>
        <p:spPr>
          <a:xfrm>
            <a:off x="4288536" y="4720132"/>
            <a:ext cx="79552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51960" y="4720132"/>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0.042</a:t>
            </a:r>
          </a:p>
        </p:txBody>
      </p:sp>
      <p:cxnSp>
        <p:nvCxnSpPr>
          <p:cNvPr id="35" name="Connector 34"/>
          <p:cNvCxnSpPr/>
          <p:nvPr/>
        </p:nvCxnSpPr>
        <p:spPr>
          <a:xfrm>
            <a:off x="2657246" y="3058668"/>
            <a:ext cx="0" cy="329184"/>
          </a:xfrm>
          <a:prstGeom prst="line">
            <a:avLst/>
          </a:prstGeom>
          <a:ln w="38100">
            <a:solidFill>
              <a:srgbClr val="1B5E20"/>
            </a:solidFill>
            <a:tailEnd type="triangle" w="med" h="med"/>
          </a:ln>
        </p:spPr>
        <p:style>
          <a:lnRef idx="2">
            <a:schemeClr val="accent1"/>
          </a:lnRef>
          <a:fillRef idx="0">
            <a:schemeClr val="accent1"/>
          </a:fillRef>
          <a:effectRef idx="1">
            <a:schemeClr val="accent1"/>
          </a:effectRef>
          <a:fontRef idx="minor">
            <a:schemeClr val="tx1"/>
          </a:fontRef>
        </p:style>
      </p:cxnSp>
      <p:sp>
        <p:nvSpPr>
          <p:cNvPr id="0" name="WavyLine"/>
          <p:cNvSpPr/>
          <p:nvPr/>
        </p:nvSpPr>
        <p:spPr>
          <a:xfrm flipH="0">
            <a:off x="2657246" y="3204972"/>
            <a:ext cx="351130" cy="36576"/>
          </a:xfrm>
          <a:custGeom>
            <a:avLst/>
            <a:gdLst/>
            <a:ahLst/>
            <a:cxnLst/>
            <a:rect l="0" t="0" r="0" b="0"/>
            <a:pathLst>
              <a:path w="100000" h="100000" fill="none">
                <a:moveTo>
                  <a:pt x="0" y="50000"/>
                </a:moveTo>
                <a:lnTo>
                  <a:pt x="2778" y="34965"/>
                </a:lnTo>
                <a:lnTo>
                  <a:pt x="5556" y="21321"/>
                </a:lnTo>
                <a:lnTo>
                  <a:pt x="8333" y="10332"/>
                </a:lnTo>
                <a:lnTo>
                  <a:pt x="11111" y="3015"/>
                </a:lnTo>
                <a:lnTo>
                  <a:pt x="13889" y="48"/>
                </a:lnTo>
                <a:lnTo>
                  <a:pt x="16667" y="1704"/>
                </a:lnTo>
                <a:lnTo>
                  <a:pt x="19444" y="7830"/>
                </a:lnTo>
                <a:lnTo>
                  <a:pt x="22222" y="17861"/>
                </a:lnTo>
                <a:lnTo>
                  <a:pt x="25000" y="30866"/>
                </a:lnTo>
                <a:lnTo>
                  <a:pt x="27778" y="45642"/>
                </a:lnTo>
                <a:lnTo>
                  <a:pt x="30556" y="60822"/>
                </a:lnTo>
                <a:lnTo>
                  <a:pt x="33333" y="75000"/>
                </a:lnTo>
                <a:lnTo>
                  <a:pt x="36111" y="86864"/>
                </a:lnTo>
                <a:lnTo>
                  <a:pt x="38889" y="95315"/>
                </a:lnTo>
                <a:lnTo>
                  <a:pt x="41667" y="99572"/>
                </a:lnTo>
                <a:lnTo>
                  <a:pt x="44444" y="99240"/>
                </a:lnTo>
                <a:lnTo>
                  <a:pt x="47222" y="94351"/>
                </a:lnTo>
                <a:lnTo>
                  <a:pt x="50000" y="85355"/>
                </a:lnTo>
                <a:lnTo>
                  <a:pt x="52778" y="73087"/>
                </a:lnTo>
                <a:lnTo>
                  <a:pt x="55556" y="58682"/>
                </a:lnTo>
                <a:lnTo>
                  <a:pt x="58333" y="43474"/>
                </a:lnTo>
                <a:lnTo>
                  <a:pt x="61111" y="28869"/>
                </a:lnTo>
                <a:lnTo>
                  <a:pt x="63889" y="16220"/>
                </a:lnTo>
                <a:lnTo>
                  <a:pt x="66667" y="6699"/>
                </a:lnTo>
                <a:lnTo>
                  <a:pt x="69444" y="1185"/>
                </a:lnTo>
                <a:lnTo>
                  <a:pt x="72222" y="190"/>
                </a:lnTo>
                <a:lnTo>
                  <a:pt x="75000" y="3806"/>
                </a:lnTo>
                <a:lnTo>
                  <a:pt x="77778" y="11698"/>
                </a:lnTo>
                <a:lnTo>
                  <a:pt x="80556" y="23135"/>
                </a:lnTo>
                <a:lnTo>
                  <a:pt x="83333" y="37059"/>
                </a:lnTo>
                <a:lnTo>
                  <a:pt x="86111" y="52181"/>
                </a:lnTo>
                <a:lnTo>
                  <a:pt x="88889" y="67101"/>
                </a:lnTo>
                <a:lnTo>
                  <a:pt x="91667" y="80438"/>
                </a:lnTo>
                <a:lnTo>
                  <a:pt x="94444" y="90958"/>
                </a:lnTo>
                <a:lnTo>
                  <a:pt x="97222" y="97686"/>
                </a:lnTo>
                <a:lnTo>
                  <a:pt x="100000" y="100000"/>
                </a:lnTo>
              </a:path>
            </a:pathLst>
          </a:custGeom>
          <a:noFill/>
          <a:ln w="19050" cap="rnd">
            <a:solidFill>
              <a:srgbClr val="1B5E20"/>
            </a:solidFill>
          </a:ln>
        </p:spPr>
      </p:sp>
      <p:cxnSp>
        <p:nvCxnSpPr>
          <p:cNvPr id="36" name="Connector 35"/>
          <p:cNvCxnSpPr/>
          <p:nvPr/>
        </p:nvCxnSpPr>
        <p:spPr>
          <a:xfrm>
            <a:off x="2657246" y="3395167"/>
            <a:ext cx="0" cy="329184"/>
          </a:xfrm>
          <a:prstGeom prst="line">
            <a:avLst/>
          </a:prstGeom>
          <a:ln w="38100">
            <a:solidFill>
              <a:srgbClr val="1B5E20"/>
            </a:solidFill>
            <a:tailEnd type="triangle" w="med" h="med"/>
          </a:ln>
        </p:spPr>
        <p:style>
          <a:lnRef idx="2">
            <a:schemeClr val="accent1"/>
          </a:lnRef>
          <a:fillRef idx="0">
            <a:schemeClr val="accent1"/>
          </a:fillRef>
          <a:effectRef idx="1">
            <a:schemeClr val="accent1"/>
          </a:effectRef>
          <a:fontRef idx="minor">
            <a:schemeClr val="tx1"/>
          </a:fontRef>
        </p:style>
      </p:cxnSp>
      <p:sp>
        <p:nvSpPr>
          <p:cNvPr id="0" name="WavyLine"/>
          <p:cNvSpPr/>
          <p:nvPr/>
        </p:nvSpPr>
        <p:spPr>
          <a:xfrm flipH="0">
            <a:off x="2657246" y="3541471"/>
            <a:ext cx="399136" cy="36576"/>
          </a:xfrm>
          <a:custGeom>
            <a:avLst/>
            <a:gdLst/>
            <a:ahLst/>
            <a:cxnLst/>
            <a:rect l="0" t="0" r="0" b="0"/>
            <a:pathLst>
              <a:path w="100000" h="100000" fill="none">
                <a:moveTo>
                  <a:pt x="0" y="50000"/>
                </a:moveTo>
                <a:lnTo>
                  <a:pt x="2778" y="34965"/>
                </a:lnTo>
                <a:lnTo>
                  <a:pt x="5556" y="21321"/>
                </a:lnTo>
                <a:lnTo>
                  <a:pt x="8333" y="10332"/>
                </a:lnTo>
                <a:lnTo>
                  <a:pt x="11111" y="3015"/>
                </a:lnTo>
                <a:lnTo>
                  <a:pt x="13889" y="48"/>
                </a:lnTo>
                <a:lnTo>
                  <a:pt x="16667" y="1704"/>
                </a:lnTo>
                <a:lnTo>
                  <a:pt x="19444" y="7830"/>
                </a:lnTo>
                <a:lnTo>
                  <a:pt x="22222" y="17861"/>
                </a:lnTo>
                <a:lnTo>
                  <a:pt x="25000" y="30866"/>
                </a:lnTo>
                <a:lnTo>
                  <a:pt x="27778" y="45642"/>
                </a:lnTo>
                <a:lnTo>
                  <a:pt x="30556" y="60822"/>
                </a:lnTo>
                <a:lnTo>
                  <a:pt x="33333" y="75000"/>
                </a:lnTo>
                <a:lnTo>
                  <a:pt x="36111" y="86864"/>
                </a:lnTo>
                <a:lnTo>
                  <a:pt x="38889" y="95315"/>
                </a:lnTo>
                <a:lnTo>
                  <a:pt x="41667" y="99572"/>
                </a:lnTo>
                <a:lnTo>
                  <a:pt x="44444" y="99240"/>
                </a:lnTo>
                <a:lnTo>
                  <a:pt x="47222" y="94351"/>
                </a:lnTo>
                <a:lnTo>
                  <a:pt x="50000" y="85355"/>
                </a:lnTo>
                <a:lnTo>
                  <a:pt x="52778" y="73087"/>
                </a:lnTo>
                <a:lnTo>
                  <a:pt x="55556" y="58682"/>
                </a:lnTo>
                <a:lnTo>
                  <a:pt x="58333" y="43474"/>
                </a:lnTo>
                <a:lnTo>
                  <a:pt x="61111" y="28869"/>
                </a:lnTo>
                <a:lnTo>
                  <a:pt x="63889" y="16220"/>
                </a:lnTo>
                <a:lnTo>
                  <a:pt x="66667" y="6699"/>
                </a:lnTo>
                <a:lnTo>
                  <a:pt x="69444" y="1185"/>
                </a:lnTo>
                <a:lnTo>
                  <a:pt x="72222" y="190"/>
                </a:lnTo>
                <a:lnTo>
                  <a:pt x="75000" y="3806"/>
                </a:lnTo>
                <a:lnTo>
                  <a:pt x="77778" y="11698"/>
                </a:lnTo>
                <a:lnTo>
                  <a:pt x="80556" y="23135"/>
                </a:lnTo>
                <a:lnTo>
                  <a:pt x="83333" y="37059"/>
                </a:lnTo>
                <a:lnTo>
                  <a:pt x="86111" y="52181"/>
                </a:lnTo>
                <a:lnTo>
                  <a:pt x="88889" y="67101"/>
                </a:lnTo>
                <a:lnTo>
                  <a:pt x="91667" y="80438"/>
                </a:lnTo>
                <a:lnTo>
                  <a:pt x="94444" y="90958"/>
                </a:lnTo>
                <a:lnTo>
                  <a:pt x="97222" y="97686"/>
                </a:lnTo>
                <a:lnTo>
                  <a:pt x="100000" y="100000"/>
                </a:lnTo>
              </a:path>
            </a:pathLst>
          </a:custGeom>
          <a:noFill/>
          <a:ln w="19050" cap="rnd">
            <a:solidFill>
              <a:srgbClr val="1B5E20"/>
            </a:solidFill>
          </a:ln>
        </p:spPr>
      </p:sp>
      <p:cxnSp>
        <p:nvCxnSpPr>
          <p:cNvPr id="37" name="Connector 36"/>
          <p:cNvCxnSpPr/>
          <p:nvPr/>
        </p:nvCxnSpPr>
        <p:spPr>
          <a:xfrm>
            <a:off x="2657246" y="3721608"/>
            <a:ext cx="0" cy="329184"/>
          </a:xfrm>
          <a:prstGeom prst="line">
            <a:avLst/>
          </a:prstGeom>
          <a:ln w="38100">
            <a:solidFill>
              <a:srgbClr val="1B5E20"/>
            </a:solidFill>
            <a:tailEnd type="triangle" w="med" h="med"/>
          </a:ln>
        </p:spPr>
        <p:style>
          <a:lnRef idx="2">
            <a:schemeClr val="accent1"/>
          </a:lnRef>
          <a:fillRef idx="0">
            <a:schemeClr val="accent1"/>
          </a:fillRef>
          <a:effectRef idx="1">
            <a:schemeClr val="accent1"/>
          </a:effectRef>
          <a:fontRef idx="minor">
            <a:schemeClr val="tx1"/>
          </a:fontRef>
        </p:style>
      </p:cxnSp>
      <p:sp>
        <p:nvSpPr>
          <p:cNvPr id="0" name="WavyLine"/>
          <p:cNvSpPr/>
          <p:nvPr/>
        </p:nvSpPr>
        <p:spPr>
          <a:xfrm flipH="0">
            <a:off x="2657246" y="3867912"/>
            <a:ext cx="399136" cy="36576"/>
          </a:xfrm>
          <a:custGeom>
            <a:avLst/>
            <a:gdLst/>
            <a:ahLst/>
            <a:cxnLst/>
            <a:rect l="0" t="0" r="0" b="0"/>
            <a:pathLst>
              <a:path w="100000" h="100000" fill="none">
                <a:moveTo>
                  <a:pt x="0" y="50000"/>
                </a:moveTo>
                <a:lnTo>
                  <a:pt x="2778" y="34965"/>
                </a:lnTo>
                <a:lnTo>
                  <a:pt x="5556" y="21321"/>
                </a:lnTo>
                <a:lnTo>
                  <a:pt x="8333" y="10332"/>
                </a:lnTo>
                <a:lnTo>
                  <a:pt x="11111" y="3015"/>
                </a:lnTo>
                <a:lnTo>
                  <a:pt x="13889" y="48"/>
                </a:lnTo>
                <a:lnTo>
                  <a:pt x="16667" y="1704"/>
                </a:lnTo>
                <a:lnTo>
                  <a:pt x="19444" y="7830"/>
                </a:lnTo>
                <a:lnTo>
                  <a:pt x="22222" y="17861"/>
                </a:lnTo>
                <a:lnTo>
                  <a:pt x="25000" y="30866"/>
                </a:lnTo>
                <a:lnTo>
                  <a:pt x="27778" y="45642"/>
                </a:lnTo>
                <a:lnTo>
                  <a:pt x="30556" y="60822"/>
                </a:lnTo>
                <a:lnTo>
                  <a:pt x="33333" y="75000"/>
                </a:lnTo>
                <a:lnTo>
                  <a:pt x="36111" y="86864"/>
                </a:lnTo>
                <a:lnTo>
                  <a:pt x="38889" y="95315"/>
                </a:lnTo>
                <a:lnTo>
                  <a:pt x="41667" y="99572"/>
                </a:lnTo>
                <a:lnTo>
                  <a:pt x="44444" y="99240"/>
                </a:lnTo>
                <a:lnTo>
                  <a:pt x="47222" y="94351"/>
                </a:lnTo>
                <a:lnTo>
                  <a:pt x="50000" y="85355"/>
                </a:lnTo>
                <a:lnTo>
                  <a:pt x="52778" y="73087"/>
                </a:lnTo>
                <a:lnTo>
                  <a:pt x="55556" y="58682"/>
                </a:lnTo>
                <a:lnTo>
                  <a:pt x="58333" y="43474"/>
                </a:lnTo>
                <a:lnTo>
                  <a:pt x="61111" y="28869"/>
                </a:lnTo>
                <a:lnTo>
                  <a:pt x="63889" y="16220"/>
                </a:lnTo>
                <a:lnTo>
                  <a:pt x="66667" y="6699"/>
                </a:lnTo>
                <a:lnTo>
                  <a:pt x="69444" y="1185"/>
                </a:lnTo>
                <a:lnTo>
                  <a:pt x="72222" y="190"/>
                </a:lnTo>
                <a:lnTo>
                  <a:pt x="75000" y="3806"/>
                </a:lnTo>
                <a:lnTo>
                  <a:pt x="77778" y="11698"/>
                </a:lnTo>
                <a:lnTo>
                  <a:pt x="80556" y="23135"/>
                </a:lnTo>
                <a:lnTo>
                  <a:pt x="83333" y="37059"/>
                </a:lnTo>
                <a:lnTo>
                  <a:pt x="86111" y="52181"/>
                </a:lnTo>
                <a:lnTo>
                  <a:pt x="88889" y="67101"/>
                </a:lnTo>
                <a:lnTo>
                  <a:pt x="91667" y="80438"/>
                </a:lnTo>
                <a:lnTo>
                  <a:pt x="94444" y="90958"/>
                </a:lnTo>
                <a:lnTo>
                  <a:pt x="97222" y="97686"/>
                </a:lnTo>
                <a:lnTo>
                  <a:pt x="100000" y="100000"/>
                </a:lnTo>
              </a:path>
            </a:pathLst>
          </a:custGeom>
          <a:noFill/>
          <a:ln w="19050" cap="rnd">
            <a:solidFill>
              <a:srgbClr val="1B5E20"/>
            </a:solidFill>
          </a:ln>
        </p:spPr>
      </p:sp>
      <p:cxnSp>
        <p:nvCxnSpPr>
          <p:cNvPr id="38" name="Connector 37"/>
          <p:cNvCxnSpPr/>
          <p:nvPr/>
        </p:nvCxnSpPr>
        <p:spPr>
          <a:xfrm>
            <a:off x="2657246" y="4039819"/>
            <a:ext cx="0" cy="329184"/>
          </a:xfrm>
          <a:prstGeom prst="line">
            <a:avLst/>
          </a:prstGeom>
          <a:ln w="38100">
            <a:solidFill>
              <a:srgbClr val="1B5E20"/>
            </a:solidFill>
            <a:tailEnd type="triangle" w="med" h="med"/>
          </a:ln>
        </p:spPr>
        <p:style>
          <a:lnRef idx="2">
            <a:schemeClr val="accent1"/>
          </a:lnRef>
          <a:fillRef idx="0">
            <a:schemeClr val="accent1"/>
          </a:fillRef>
          <a:effectRef idx="1">
            <a:schemeClr val="accent1"/>
          </a:effectRef>
          <a:fontRef idx="minor">
            <a:schemeClr val="tx1"/>
          </a:fontRef>
        </p:style>
      </p:cxnSp>
      <p:sp>
        <p:nvSpPr>
          <p:cNvPr id="0" name="WavyLine"/>
          <p:cNvSpPr/>
          <p:nvPr/>
        </p:nvSpPr>
        <p:spPr>
          <a:xfrm flipH="0">
            <a:off x="2657246" y="4186123"/>
            <a:ext cx="399136" cy="36576"/>
          </a:xfrm>
          <a:custGeom>
            <a:avLst/>
            <a:gdLst/>
            <a:ahLst/>
            <a:cxnLst/>
            <a:rect l="0" t="0" r="0" b="0"/>
            <a:pathLst>
              <a:path w="100000" h="100000" fill="none">
                <a:moveTo>
                  <a:pt x="0" y="50000"/>
                </a:moveTo>
                <a:lnTo>
                  <a:pt x="2778" y="34965"/>
                </a:lnTo>
                <a:lnTo>
                  <a:pt x="5556" y="21321"/>
                </a:lnTo>
                <a:lnTo>
                  <a:pt x="8333" y="10332"/>
                </a:lnTo>
                <a:lnTo>
                  <a:pt x="11111" y="3015"/>
                </a:lnTo>
                <a:lnTo>
                  <a:pt x="13889" y="48"/>
                </a:lnTo>
                <a:lnTo>
                  <a:pt x="16667" y="1704"/>
                </a:lnTo>
                <a:lnTo>
                  <a:pt x="19444" y="7830"/>
                </a:lnTo>
                <a:lnTo>
                  <a:pt x="22222" y="17861"/>
                </a:lnTo>
                <a:lnTo>
                  <a:pt x="25000" y="30866"/>
                </a:lnTo>
                <a:lnTo>
                  <a:pt x="27778" y="45642"/>
                </a:lnTo>
                <a:lnTo>
                  <a:pt x="30556" y="60822"/>
                </a:lnTo>
                <a:lnTo>
                  <a:pt x="33333" y="75000"/>
                </a:lnTo>
                <a:lnTo>
                  <a:pt x="36111" y="86864"/>
                </a:lnTo>
                <a:lnTo>
                  <a:pt x="38889" y="95315"/>
                </a:lnTo>
                <a:lnTo>
                  <a:pt x="41667" y="99572"/>
                </a:lnTo>
                <a:lnTo>
                  <a:pt x="44444" y="99240"/>
                </a:lnTo>
                <a:lnTo>
                  <a:pt x="47222" y="94351"/>
                </a:lnTo>
                <a:lnTo>
                  <a:pt x="50000" y="85355"/>
                </a:lnTo>
                <a:lnTo>
                  <a:pt x="52778" y="73087"/>
                </a:lnTo>
                <a:lnTo>
                  <a:pt x="55556" y="58682"/>
                </a:lnTo>
                <a:lnTo>
                  <a:pt x="58333" y="43474"/>
                </a:lnTo>
                <a:lnTo>
                  <a:pt x="61111" y="28869"/>
                </a:lnTo>
                <a:lnTo>
                  <a:pt x="63889" y="16220"/>
                </a:lnTo>
                <a:lnTo>
                  <a:pt x="66667" y="6699"/>
                </a:lnTo>
                <a:lnTo>
                  <a:pt x="69444" y="1185"/>
                </a:lnTo>
                <a:lnTo>
                  <a:pt x="72222" y="190"/>
                </a:lnTo>
                <a:lnTo>
                  <a:pt x="75000" y="3806"/>
                </a:lnTo>
                <a:lnTo>
                  <a:pt x="77778" y="11698"/>
                </a:lnTo>
                <a:lnTo>
                  <a:pt x="80556" y="23135"/>
                </a:lnTo>
                <a:lnTo>
                  <a:pt x="83333" y="37059"/>
                </a:lnTo>
                <a:lnTo>
                  <a:pt x="86111" y="52181"/>
                </a:lnTo>
                <a:lnTo>
                  <a:pt x="88889" y="67101"/>
                </a:lnTo>
                <a:lnTo>
                  <a:pt x="91667" y="80438"/>
                </a:lnTo>
                <a:lnTo>
                  <a:pt x="94444" y="90958"/>
                </a:lnTo>
                <a:lnTo>
                  <a:pt x="97222" y="97686"/>
                </a:lnTo>
                <a:lnTo>
                  <a:pt x="100000" y="100000"/>
                </a:lnTo>
              </a:path>
            </a:pathLst>
          </a:custGeom>
          <a:noFill/>
          <a:ln w="19050" cap="rnd">
            <a:solidFill>
              <a:srgbClr val="1B5E20"/>
            </a:solidFill>
          </a:ln>
        </p:spPr>
      </p:sp>
      <p:cxnSp>
        <p:nvCxnSpPr>
          <p:cNvPr id="39" name="Connector 38"/>
          <p:cNvCxnSpPr/>
          <p:nvPr/>
        </p:nvCxnSpPr>
        <p:spPr>
          <a:xfrm>
            <a:off x="2657246" y="4375404"/>
            <a:ext cx="0" cy="329184"/>
          </a:xfrm>
          <a:prstGeom prst="line">
            <a:avLst/>
          </a:prstGeom>
          <a:ln w="38100">
            <a:solidFill>
              <a:srgbClr val="1B5E20"/>
            </a:solidFill>
            <a:tailEnd type="triangle" w="med" h="med"/>
          </a:ln>
        </p:spPr>
        <p:style>
          <a:lnRef idx="2">
            <a:schemeClr val="accent1"/>
          </a:lnRef>
          <a:fillRef idx="0">
            <a:schemeClr val="accent1"/>
          </a:fillRef>
          <a:effectRef idx="1">
            <a:schemeClr val="accent1"/>
          </a:effectRef>
          <a:fontRef idx="minor">
            <a:schemeClr val="tx1"/>
          </a:fontRef>
        </p:style>
      </p:cxnSp>
      <p:sp>
        <p:nvSpPr>
          <p:cNvPr id="0" name="WavyLine"/>
          <p:cNvSpPr/>
          <p:nvPr/>
        </p:nvSpPr>
        <p:spPr>
          <a:xfrm flipH="0">
            <a:off x="2657246" y="4521708"/>
            <a:ext cx="399136" cy="36576"/>
          </a:xfrm>
          <a:custGeom>
            <a:avLst/>
            <a:gdLst/>
            <a:ahLst/>
            <a:cxnLst/>
            <a:rect l="0" t="0" r="0" b="0"/>
            <a:pathLst>
              <a:path w="100000" h="100000" fill="none">
                <a:moveTo>
                  <a:pt x="0" y="50000"/>
                </a:moveTo>
                <a:lnTo>
                  <a:pt x="2778" y="34965"/>
                </a:lnTo>
                <a:lnTo>
                  <a:pt x="5556" y="21321"/>
                </a:lnTo>
                <a:lnTo>
                  <a:pt x="8333" y="10332"/>
                </a:lnTo>
                <a:lnTo>
                  <a:pt x="11111" y="3015"/>
                </a:lnTo>
                <a:lnTo>
                  <a:pt x="13889" y="48"/>
                </a:lnTo>
                <a:lnTo>
                  <a:pt x="16667" y="1704"/>
                </a:lnTo>
                <a:lnTo>
                  <a:pt x="19444" y="7830"/>
                </a:lnTo>
                <a:lnTo>
                  <a:pt x="22222" y="17861"/>
                </a:lnTo>
                <a:lnTo>
                  <a:pt x="25000" y="30866"/>
                </a:lnTo>
                <a:lnTo>
                  <a:pt x="27778" y="45642"/>
                </a:lnTo>
                <a:lnTo>
                  <a:pt x="30556" y="60822"/>
                </a:lnTo>
                <a:lnTo>
                  <a:pt x="33333" y="75000"/>
                </a:lnTo>
                <a:lnTo>
                  <a:pt x="36111" y="86864"/>
                </a:lnTo>
                <a:lnTo>
                  <a:pt x="38889" y="95315"/>
                </a:lnTo>
                <a:lnTo>
                  <a:pt x="41667" y="99572"/>
                </a:lnTo>
                <a:lnTo>
                  <a:pt x="44444" y="99240"/>
                </a:lnTo>
                <a:lnTo>
                  <a:pt x="47222" y="94351"/>
                </a:lnTo>
                <a:lnTo>
                  <a:pt x="50000" y="85355"/>
                </a:lnTo>
                <a:lnTo>
                  <a:pt x="52778" y="73087"/>
                </a:lnTo>
                <a:lnTo>
                  <a:pt x="55556" y="58682"/>
                </a:lnTo>
                <a:lnTo>
                  <a:pt x="58333" y="43474"/>
                </a:lnTo>
                <a:lnTo>
                  <a:pt x="61111" y="28869"/>
                </a:lnTo>
                <a:lnTo>
                  <a:pt x="63889" y="16220"/>
                </a:lnTo>
                <a:lnTo>
                  <a:pt x="66667" y="6699"/>
                </a:lnTo>
                <a:lnTo>
                  <a:pt x="69444" y="1185"/>
                </a:lnTo>
                <a:lnTo>
                  <a:pt x="72222" y="190"/>
                </a:lnTo>
                <a:lnTo>
                  <a:pt x="75000" y="3806"/>
                </a:lnTo>
                <a:lnTo>
                  <a:pt x="77778" y="11698"/>
                </a:lnTo>
                <a:lnTo>
                  <a:pt x="80556" y="23135"/>
                </a:lnTo>
                <a:lnTo>
                  <a:pt x="83333" y="37059"/>
                </a:lnTo>
                <a:lnTo>
                  <a:pt x="86111" y="52181"/>
                </a:lnTo>
                <a:lnTo>
                  <a:pt x="88889" y="67101"/>
                </a:lnTo>
                <a:lnTo>
                  <a:pt x="91667" y="80438"/>
                </a:lnTo>
                <a:lnTo>
                  <a:pt x="94444" y="90958"/>
                </a:lnTo>
                <a:lnTo>
                  <a:pt x="97222" y="97686"/>
                </a:lnTo>
                <a:lnTo>
                  <a:pt x="100000" y="100000"/>
                </a:lnTo>
              </a:path>
            </a:pathLst>
          </a:custGeom>
          <a:noFill/>
          <a:ln w="19050" cap="rnd">
            <a:solidFill>
              <a:srgbClr val="1B5E20"/>
            </a:solidFill>
          </a:ln>
        </p:spPr>
      </p:sp>
      <p:cxnSp>
        <p:nvCxnSpPr>
          <p:cNvPr id="40" name="Connector 39"/>
          <p:cNvCxnSpPr/>
          <p:nvPr/>
        </p:nvCxnSpPr>
        <p:spPr>
          <a:xfrm>
            <a:off x="2657246" y="4710988"/>
            <a:ext cx="0" cy="329184"/>
          </a:xfrm>
          <a:prstGeom prst="line">
            <a:avLst/>
          </a:prstGeom>
          <a:ln w="38100">
            <a:solidFill>
              <a:srgbClr val="1B5E20"/>
            </a:solidFill>
            <a:tailEnd type="triangle" w="med" h="med"/>
          </a:ln>
        </p:spPr>
        <p:style>
          <a:lnRef idx="2">
            <a:schemeClr val="accent1"/>
          </a:lnRef>
          <a:fillRef idx="0">
            <a:schemeClr val="accent1"/>
          </a:fillRef>
          <a:effectRef idx="1">
            <a:schemeClr val="accent1"/>
          </a:effectRef>
          <a:fontRef idx="minor">
            <a:schemeClr val="tx1"/>
          </a:fontRef>
        </p:style>
      </p:cxnSp>
      <p:sp>
        <p:nvSpPr>
          <p:cNvPr id="0" name="WavyLine"/>
          <p:cNvSpPr/>
          <p:nvPr/>
        </p:nvSpPr>
        <p:spPr>
          <a:xfrm flipH="0">
            <a:off x="2657246" y="4857292"/>
            <a:ext cx="399136" cy="36576"/>
          </a:xfrm>
          <a:custGeom>
            <a:avLst/>
            <a:gdLst/>
            <a:ahLst/>
            <a:cxnLst/>
            <a:rect l="0" t="0" r="0" b="0"/>
            <a:pathLst>
              <a:path w="100000" h="100000" fill="none">
                <a:moveTo>
                  <a:pt x="0" y="50000"/>
                </a:moveTo>
                <a:lnTo>
                  <a:pt x="2778" y="34965"/>
                </a:lnTo>
                <a:lnTo>
                  <a:pt x="5556" y="21321"/>
                </a:lnTo>
                <a:lnTo>
                  <a:pt x="8333" y="10332"/>
                </a:lnTo>
                <a:lnTo>
                  <a:pt x="11111" y="3015"/>
                </a:lnTo>
                <a:lnTo>
                  <a:pt x="13889" y="48"/>
                </a:lnTo>
                <a:lnTo>
                  <a:pt x="16667" y="1704"/>
                </a:lnTo>
                <a:lnTo>
                  <a:pt x="19444" y="7830"/>
                </a:lnTo>
                <a:lnTo>
                  <a:pt x="22222" y="17861"/>
                </a:lnTo>
                <a:lnTo>
                  <a:pt x="25000" y="30866"/>
                </a:lnTo>
                <a:lnTo>
                  <a:pt x="27778" y="45642"/>
                </a:lnTo>
                <a:lnTo>
                  <a:pt x="30556" y="60822"/>
                </a:lnTo>
                <a:lnTo>
                  <a:pt x="33333" y="75000"/>
                </a:lnTo>
                <a:lnTo>
                  <a:pt x="36111" y="86864"/>
                </a:lnTo>
                <a:lnTo>
                  <a:pt x="38889" y="95315"/>
                </a:lnTo>
                <a:lnTo>
                  <a:pt x="41667" y="99572"/>
                </a:lnTo>
                <a:lnTo>
                  <a:pt x="44444" y="99240"/>
                </a:lnTo>
                <a:lnTo>
                  <a:pt x="47222" y="94351"/>
                </a:lnTo>
                <a:lnTo>
                  <a:pt x="50000" y="85355"/>
                </a:lnTo>
                <a:lnTo>
                  <a:pt x="52778" y="73087"/>
                </a:lnTo>
                <a:lnTo>
                  <a:pt x="55556" y="58682"/>
                </a:lnTo>
                <a:lnTo>
                  <a:pt x="58333" y="43474"/>
                </a:lnTo>
                <a:lnTo>
                  <a:pt x="61111" y="28869"/>
                </a:lnTo>
                <a:lnTo>
                  <a:pt x="63889" y="16220"/>
                </a:lnTo>
                <a:lnTo>
                  <a:pt x="66667" y="6699"/>
                </a:lnTo>
                <a:lnTo>
                  <a:pt x="69444" y="1185"/>
                </a:lnTo>
                <a:lnTo>
                  <a:pt x="72222" y="190"/>
                </a:lnTo>
                <a:lnTo>
                  <a:pt x="75000" y="3806"/>
                </a:lnTo>
                <a:lnTo>
                  <a:pt x="77778" y="11698"/>
                </a:lnTo>
                <a:lnTo>
                  <a:pt x="80556" y="23135"/>
                </a:lnTo>
                <a:lnTo>
                  <a:pt x="83333" y="37059"/>
                </a:lnTo>
                <a:lnTo>
                  <a:pt x="86111" y="52181"/>
                </a:lnTo>
                <a:lnTo>
                  <a:pt x="88889" y="67101"/>
                </a:lnTo>
                <a:lnTo>
                  <a:pt x="91667" y="80438"/>
                </a:lnTo>
                <a:lnTo>
                  <a:pt x="94444" y="90958"/>
                </a:lnTo>
                <a:lnTo>
                  <a:pt x="97222" y="97686"/>
                </a:lnTo>
                <a:lnTo>
                  <a:pt x="100000" y="100000"/>
                </a:lnTo>
              </a:path>
            </a:pathLst>
          </a:custGeom>
          <a:noFill/>
          <a:ln w="19050" cap="rnd">
            <a:solidFill>
              <a:srgbClr val="1B5E20"/>
            </a:solidFill>
          </a:ln>
        </p:spPr>
      </p:sp>
      <p:sp>
        <p:nvSpPr>
          <p:cNvPr id="0" name="HalfCircleArc"/>
          <p:cNvSpPr/>
          <p:nvPr/>
        </p:nvSpPr>
        <p:spPr>
          <a:xfrm>
            <a:off x="2657246" y="3063240"/>
            <a:ext cx="2920594" cy="160020"/>
          </a:xfrm>
          <a:custGeom>
            <a:avLst/>
            <a:gdLst/>
            <a:ahLst/>
            <a:cxnLst/>
            <a:rect l="0" t="0" r="0" b="0"/>
            <a:pathLst>
              <a:path w="100000" h="100000" fill="none">
                <a:moveTo>
                  <a:pt x="0" y="100000"/>
                </a:moveTo>
                <a:cubicBezTo>
                  <a:pt x="8000" y="0"/>
                  <a:pt x="92000" y="0"/>
                  <a:pt x="100000" y="85714"/>
                </a:cubicBezTo>
              </a:path>
            </a:pathLst>
          </a:custGeom>
          <a:noFill/>
          <a:ln w="19050" cap="rnd">
            <a:solidFill>
              <a:srgbClr val="1B5E20"/>
            </a:solidFill>
          </a:ln>
        </p:spPr>
      </p:sp>
      <p:cxnSp>
        <p:nvCxnSpPr>
          <p:cNvPr id="41" name="Connector 40"/>
          <p:cNvCxnSpPr/>
          <p:nvPr/>
        </p:nvCxnSpPr>
        <p:spPr>
          <a:xfrm>
            <a:off x="4686300" y="5310378"/>
            <a:ext cx="0" cy="221742"/>
          </a:xfrm>
          <a:prstGeom prst="line">
            <a:avLst/>
          </a:prstGeom>
          <a:ln w="3810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5623560" y="3180969"/>
            <a:ext cx="5303520" cy="146304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88152" y="3272409"/>
            <a:ext cx="4974336" cy="1280160"/>
          </a:xfrm>
          <a:prstGeom prst="rect">
            <a:avLst/>
          </a:prstGeom>
          <a:noFill/>
        </p:spPr>
        <p:txBody>
          <a:bodyPr wrap="square" lIns="45720" rIns="45720" tIns="0" bIns="0">
            <a:spAutoFit/>
          </a:bodyPr>
          <a:lstStyle/>
          <a:p xmlns:m="http://schemas.openxmlformats.org/officeDocument/2006/math" xmlns:a14="http://schemas.microsoft.com/office/drawing/2010/main">
            <a:r>
              <a:rPr lang="en-US" sz="1900" b="1">
                <a:solidFill>
                  <a:srgbClr val="0B2B4E"/>
                </a:solidFill>
                <a:latin typeface="Calibri"/>
              </a:rPr>
              <a:t>Convention:  </a:t>
            </a:r>
            <a:r>
              <a:rPr lang="en-US" sz="1900">
                <a:solidFill>
                  <a:srgbClr val="0B2B4E"/>
                </a:solidFill>
                <a:latin typeface="Calibri"/>
              </a:rPr>
              <a:t>Compute  </a:t>
            </a:r>
            <a14:m>
              <m:oMath>
                <m:r>
                  <m:rPr>
                    <m:sty m:val="p"/>
                  </m:rPr>
                  <a:rPr lang="en-US" b="0" i="0" sz="1900">
                    <a:solidFill>
                      <a:srgbClr val="1B5E20"/>
                    </a:solidFill>
                    <a:latin typeface="Cambria Math"/>
                  </a:rPr>
                  <m:t xml:space="preserve">Δ</m:t>
                </m:r>
                <m:r>
                  <a:rPr lang="en-US" b="0" i="1" sz="1900">
                    <a:solidFill>
                      <a:srgbClr val="1B5E20"/>
                    </a:solidFill>
                    <a:latin typeface="Cambria Math"/>
                    <a:ea typeface="Cambria Math"/>
                  </a:rPr>
                  <m:t>L</m:t>
                </m:r>
              </m:oMath>
            </a14:m>
            <a:r>
              <a:rPr lang="en-US" sz="1900">
                <a:solidFill>
                  <a:srgbClr val="0B2B4E"/>
                </a:solidFill>
                <a:latin typeface="Calibri"/>
              </a:rPr>
              <a:t>  and  </a:t>
            </a:r>
            <a14:m>
              <m:oMath>
                <m:r>
                  <m:rPr>
                    <m:sty m:val="p"/>
                  </m:rPr>
                  <a:rPr lang="en-US" b="0" i="0" sz="1900">
                    <a:solidFill>
                      <a:srgbClr val="1B5E20"/>
                    </a:solidFill>
                    <a:latin typeface="Cambria Math"/>
                  </a:rPr>
                  <m:t xml:space="preserve">Δ</m:t>
                </m:r>
                <m:r>
                  <a:rPr lang="en-US" b="0" i="1" sz="1900">
                    <a:solidFill>
                      <a:srgbClr val="1B5E20"/>
                    </a:solidFill>
                    <a:latin typeface="Cambria Math"/>
                    <a:ea typeface="Cambria Math"/>
                  </a:rPr>
                  <m:t>Q</m:t>
                </m:r>
              </m:oMath>
            </a14:m>
            <a:r>
              <a:rPr lang="en-US" sz="1900">
                <a:solidFill>
                  <a:srgbClr val="0B2B4E"/>
                </a:solidFill>
                <a:latin typeface="Calibri"/>
              </a:rPr>
              <a:t>  for each interval</a:t>
            </a:r>
            <a:endParaRPr lang="en-US"/>
          </a:p>
          <a:p xmlns:m="http://schemas.openxmlformats.org/officeDocument/2006/math" xmlns:a14="http://schemas.microsoft.com/office/drawing/2010/main">
            <a:r>
              <a:rPr lang="en-US" sz="1900" b="1">
                <a:solidFill>
                  <a:srgbClr val="0B2B4E"/>
                </a:solidFill>
                <a:latin typeface="Calibri"/>
              </a:rPr>
              <a:t>Interpretation:  </a:t>
            </a:r>
            <a:r>
              <a:rPr lang="en-US" sz="1900">
                <a:solidFill>
                  <a:srgbClr val="0B2B4E"/>
                </a:solidFill>
                <a:latin typeface="Calibri"/>
              </a:rPr>
              <a:t>Between 0 and 250 workers, MPL is approximately 0.660</a:t>
            </a:r>
            <a:endParaRPr lang="en-US"/>
          </a:p>
        </p:txBody>
      </p:sp>
      <p:sp>
        <p:nvSpPr>
          <p:cNvPr id="44" name="Rounded Rectangle 43"/>
          <p:cNvSpPr/>
          <p:nvPr/>
        </p:nvSpPr>
        <p:spPr>
          <a:xfrm>
            <a:off x="5605272" y="2142439"/>
            <a:ext cx="2143353" cy="87508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96712" y="2188159"/>
            <a:ext cx="1960473" cy="783640"/>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0070C0"/>
                </a:solidFill>
                <a:latin typeface="Cambria Math"/>
              </a:defRPr>
            </a:pPr>
            <a14:m>
              <m:oMathPara>
                <m:oMathParaPr>
                  <m:jc m:val="centerGroup"/>
                </m:oMathParaPr>
                <m:oMath>
                  <m:sSub>
                    <m:sSubPr>
                      <m:ctrlPr>
                        <a:rPr lang="en-US" i="1">
                          <a:latin typeface="Cambria Math"/>
                        </a:rPr>
                      </m:ctrlPr>
                    </m:sSubPr>
                    <m:e>
                      <m:r>
                        <a:rPr lang="en-US" b="0" i="1" sz="2400">
                          <a:latin typeface="Cambria Math"/>
                          <a:ea typeface="Cambria Math"/>
                          <a:solidFill>
                            <a:srgbClr val="0070C0"/>
                          </a:solidFill>
                        </a:rPr>
                        <m:t>MP</m:t>
                      </m:r>
                    </m:e>
                    <m:sub>
                      <m:r>
                        <a:rPr lang="en-US" b="0" i="1" sz="2400">
                          <a:latin typeface="Cambria Math"/>
                          <a:ea typeface="Cambria Math"/>
                          <a:solidFill>
                            <a:srgbClr val="0070C0"/>
                          </a:solidFill>
                        </a:rPr>
                        <m:t>L</m:t>
                      </m:r>
                    </m:sub>
                  </m:sSub>
                  <m:r>
                    <m:rPr>
                      <m:sty m:val="p"/>
                    </m:rPr>
                    <a:rPr lang="en-US" b="0" i="0" sz="2400">
                      <a:latin typeface="Cambria Math"/>
                      <a:solidFill>
                        <a:srgbClr val="0070C0"/>
                      </a:solidFill>
                    </a:rPr>
                    <m:t xml:space="preserve"> = </m:t>
                  </m:r>
                  <m:f>
                    <m:fPr>
                      <m:ctrlPr>
                        <a:rPr lang="en-US" i="1">
                          <a:latin typeface="Cambria Math"/>
                        </a:rPr>
                      </m:ctrlPr>
                    </m:fPr>
                    <m:num>
                      <m:r>
                        <m:rPr>
                          <m:sty m:val="p"/>
                        </m:rPr>
                        <a:rPr lang="en-US" b="0" i="0" sz="2400">
                          <a:latin typeface="Cambria Math"/>
                          <a:solidFill>
                            <a:srgbClr val="0070C0"/>
                          </a:solidFill>
                        </a:rPr>
                        <m:t xml:space="preserve">Δ</m:t>
                      </m:r>
                      <m:r>
                        <a:rPr lang="en-US" b="0" i="1" sz="2400">
                          <a:latin typeface="Cambria Math"/>
                          <a:ea typeface="Cambria Math"/>
                          <a:solidFill>
                            <a:srgbClr val="0070C0"/>
                          </a:solidFill>
                        </a:rPr>
                        <m:t>Q</m:t>
                      </m:r>
                    </m:num>
                    <m:den>
                      <m:r>
                        <m:rPr>
                          <m:sty m:val="p"/>
                        </m:rPr>
                        <a:rPr lang="en-US" b="0" i="0" sz="2400">
                          <a:latin typeface="Cambria Math"/>
                          <a:solidFill>
                            <a:srgbClr val="0070C0"/>
                          </a:solidFill>
                        </a:rPr>
                        <m:t xml:space="preserve">Δ</m:t>
                      </m:r>
                      <m:r>
                        <a:rPr lang="en-US" b="0" i="1" sz="2400">
                          <a:latin typeface="Cambria Math"/>
                          <a:ea typeface="Cambria Math"/>
                          <a:solidFill>
                            <a:srgbClr val="0070C0"/>
                          </a:solidFill>
                        </a:rPr>
                        <m:t>L</m:t>
                      </m:r>
                    </m:den>
                  </m:f>
                </m:oMath>
              </m:oMathPara>
            </a14:m>
            <a:endParaRPr lang="en-US" sz="2400"/>
          </a:p>
        </p:txBody>
      </p:sp>
      <p:cxnSp>
        <p:nvCxnSpPr>
          <p:cNvPr id="46" name="Connector 45"/>
          <p:cNvCxnSpPr/>
          <p:nvPr/>
        </p:nvCxnSpPr>
        <p:spPr>
          <a:xfrm flipV="1">
            <a:off x="5001768" y="2724912"/>
            <a:ext cx="786384" cy="498348"/>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2346808" y="5577840"/>
            <a:ext cx="7498079" cy="68580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529688" y="5687568"/>
            <a:ext cx="7132319" cy="466344"/>
          </a:xfrm>
          <a:prstGeom prst="rect">
            <a:avLst/>
          </a:prstGeom>
          <a:noFill/>
        </p:spPr>
        <p:txBody>
          <a:bodyPr wrap="square" lIns="45720" rIns="45720" tIns="0" bIns="0" anchor="ctr">
            <a:spAutoFit/>
          </a:bodyPr>
          <a:lstStyle/>
          <a:p>
            <a:pPr algn="ctr"/>
            <a:r>
              <a:rPr sz="2200" b="1" i="0">
                <a:solidFill>
                  <a:srgbClr val="0B2B4E"/>
                </a:solidFill>
                <a:latin typeface="Calibri"/>
              </a:rPr>
              <a:t>Note:  </a:t>
            </a:r>
            <a:r>
              <a:rPr sz="2200" b="1" i="1">
                <a:solidFill>
                  <a:srgbClr val="0070C0"/>
                </a:solidFill>
                <a:latin typeface="Calibri"/>
              </a:rPr>
              <a:t>MPL </a:t>
            </a:r>
            <a:r>
              <a:rPr sz="2200" b="1" i="0">
                <a:solidFill>
                  <a:srgbClr val="0B2B4E"/>
                </a:solidFill>
                <a:latin typeface="Calibri"/>
              </a:rPr>
              <a:t>is </a:t>
            </a:r>
            <a:r>
              <a:rPr sz="2200" b="1" i="1">
                <a:solidFill>
                  <a:srgbClr val="0070C0"/>
                </a:solidFill>
                <a:latin typeface="Calibri"/>
              </a:rPr>
              <a:t>declining</a:t>
            </a:r>
            <a:r>
              <a:rPr sz="2200" b="1" i="0">
                <a:solidFill>
                  <a:srgbClr val="0B2B4E"/>
                </a:solidFill>
                <a:latin typeface="Calibri"/>
              </a:rPr>
              <a:t> as we add workers</a:t>
            </a:r>
          </a:p>
        </p:txBody>
      </p:sp>
      <p:sp>
        <p:nvSpPr>
          <p:cNvPr id="49" name="Rectangle 4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52" name="TextBox 51"/>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Diminishing Marginal Product of Labor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399032"/>
            <a:ext cx="11687697" cy="4572000"/>
          </a:xfrm>
          <a:prstGeom prst="rect">
            <a:avLst/>
          </a:prstGeom>
          <a:noFill/>
        </p:spPr>
        <p:txBody>
          <a:bodyPr wrap="square" lIns="0" rIns="0" tIns="0" bIns="0">
            <a:spAutoFit/>
          </a:bodyPr>
          <a:lstStyle>
            <a:lvl1pPr marL="342900" indent="-342900">
              <a:spcBef>
                <a:spcPts val="200"/>
              </a:spcBef>
              <a:buClr>
                <a:srgbClr val="0B2B4E"/>
              </a:buClr>
              <a:buFont typeface="Calibri"/>
              <a:buChar char="▪"/>
              <a:defRPr sz="2200" b="0">
                <a:solidFill>
                  <a:srgbClr val="0B2B4E"/>
                </a:solidFill>
                <a:latin typeface="Calibri"/>
              </a:defRPr>
            </a:lvl1pPr>
            <a:lvl2pPr marL="685800" indent="-228600">
              <a:spcBef>
                <a:spcPts val="0"/>
              </a:spcBef>
              <a:buClr>
                <a:srgbClr val="555B66"/>
              </a:buClr>
              <a:buFont typeface="Calibri"/>
              <a:buChar char="–"/>
              <a:defRPr sz="2000" b="0">
                <a:solidFill>
                  <a:srgbClr val="555B66"/>
                </a:solidFill>
                <a:latin typeface="Calibri"/>
              </a:defRPr>
            </a:lvl2pPr>
          </a:lstStyle>
          <a:p>
            <a:pPr algn="l"/>
            <a:r>
              <a:rPr>
                <a:latin typeface="Calibri"/>
              </a:rPr>
              <a:t>We hold one input fixed (capital) and…</a:t>
            </a:r>
          </a:p>
          <a:p>
            <a:pPr algn="l"/>
            <a:r>
              <a:rPr>
                <a:latin typeface="Calibri"/>
              </a:rPr>
              <a:t>Use more and more of a variable input (labor)</a:t>
            </a:r>
          </a:p>
          <a:p>
            <a:pPr algn="l" lvl="1"/>
            <a:r>
              <a:rPr>
                <a:latin typeface="Calibri"/>
              </a:rPr>
              <a:t>Then total output will increase by less and less</a:t>
            </a:r>
          </a:p>
          <a:p>
            <a:pPr algn="l" lvl="1"/>
            <a:r>
              <a:rPr>
                <a:latin typeface="Calibri"/>
              </a:rPr>
              <a:t>i.e., the Marginal Product of Labor (MPL) goes down</a:t>
            </a:r>
          </a:p>
        </p:txBody>
      </p:sp>
      <p:sp>
        <p:nvSpPr>
          <p:cNvPr id="8" name="Rectangle 7"/>
          <p:cNvSpPr/>
          <p:nvPr/>
        </p:nvSpPr>
        <p:spPr>
          <a:xfrm>
            <a:off x="365760" y="3273552"/>
            <a:ext cx="5394960" cy="260604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365760" y="3273552"/>
          <a:ext cx="5394960" cy="2606040"/>
        </p:xfrm>
        <a:graphic>
          <a:graphicData uri="http://schemas.openxmlformats.org/drawingml/2006/chart">
            <c:chart xmlns:c="http://schemas.openxmlformats.org/drawingml/2006/chart" r:id="rId2"/>
          </a:graphicData>
        </a:graphic>
      </p:graphicFrame>
      <p:sp>
        <p:nvSpPr>
          <p:cNvPr id="10" name="Rectangle 9"/>
          <p:cNvSpPr/>
          <p:nvPr/>
        </p:nvSpPr>
        <p:spPr>
          <a:xfrm>
            <a:off x="6400800" y="3273552"/>
            <a:ext cx="5394960" cy="260604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6400800" y="3273552"/>
          <a:ext cx="5394960" cy="2606040"/>
        </p:xfrm>
        <a:graphic>
          <a:graphicData uri="http://schemas.openxmlformats.org/drawingml/2006/chart">
            <c:chart xmlns:c="http://schemas.openxmlformats.org/drawingml/2006/chart" r:id="rId3"/>
          </a:graphicData>
        </a:graphic>
      </p:graphicFrame>
      <p:cxnSp>
        <p:nvCxnSpPr>
          <p:cNvPr id="12" name="Connector 11"/>
          <p:cNvCxnSpPr/>
          <p:nvPr/>
        </p:nvCxnSpPr>
        <p:spPr>
          <a:xfrm flipV="1">
            <a:off x="1165860" y="3653942"/>
            <a:ext cx="928116" cy="1634033"/>
          </a:xfrm>
          <a:prstGeom prst="line">
            <a:avLst/>
          </a:prstGeom>
          <a:ln w="25400">
            <a:solidFill>
              <a:srgbClr val="E09F3E"/>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4019702" y="3538728"/>
            <a:ext cx="1371600" cy="230428"/>
          </a:xfrm>
          <a:prstGeom prst="line">
            <a:avLst/>
          </a:prstGeom>
          <a:ln w="25400">
            <a:solidFill>
              <a:srgbClr val="E09F3E"/>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65760" y="2971800"/>
            <a:ext cx="5394960" cy="274320"/>
          </a:xfrm>
          <a:prstGeom prst="rect">
            <a:avLst/>
          </a:prstGeom>
          <a:noFill/>
        </p:spPr>
        <p:txBody>
          <a:bodyPr wrap="square" lIns="0" rIns="0" tIns="0" bIns="0">
            <a:spAutoFit/>
          </a:bodyPr>
          <a:lstStyle/>
          <a:p>
            <a:pPr algn="ctr"/>
            <a:r>
              <a:rPr sz="1300" b="1" i="0">
                <a:solidFill>
                  <a:srgbClr val="0B2B4E"/>
                </a:solidFill>
                <a:latin typeface="Calibri"/>
              </a:rPr>
              <a:t>Total output  (rising, flattening)</a:t>
            </a:r>
          </a:p>
        </p:txBody>
      </p:sp>
      <p:sp>
        <p:nvSpPr>
          <p:cNvPr id="15" name="TextBox 14"/>
          <p:cNvSpPr txBox="1"/>
          <p:nvPr/>
        </p:nvSpPr>
        <p:spPr>
          <a:xfrm>
            <a:off x="6592824" y="3108960"/>
            <a:ext cx="5394960" cy="274320"/>
          </a:xfrm>
          <a:prstGeom prst="rect">
            <a:avLst/>
          </a:prstGeom>
          <a:solidFill>
            <a:srgbClr val="FFFFFF"/>
          </a:solidFill>
        </p:spPr>
        <p:txBody>
          <a:bodyPr wrap="square" lIns="0" rIns="0" tIns="0" bIns="0">
            <a:spAutoFit/>
          </a:bodyPr>
          <a:lstStyle/>
          <a:p>
            <a:pPr algn="ctr"/>
            <a:r>
              <a:rPr sz="1300" b="1" i="0">
                <a:solidFill>
                  <a:srgbClr val="0B2B4E"/>
                </a:solidFill>
                <a:latin typeface="Calibri"/>
              </a:rPr>
              <a:t>Marginal Product of Labor  (declining)</a:t>
            </a:r>
          </a:p>
        </p:txBody>
      </p:sp>
      <p:sp>
        <p:nvSpPr>
          <p:cNvPr id="16" name="Rounded Rectangle 15"/>
          <p:cNvSpPr/>
          <p:nvPr/>
        </p:nvSpPr>
        <p:spPr>
          <a:xfrm>
            <a:off x="8226856" y="3713378"/>
            <a:ext cx="2547518" cy="50292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09736" y="3749954"/>
            <a:ext cx="2181758" cy="429768"/>
          </a:xfrm>
          <a:prstGeom prst="rect">
            <a:avLst/>
          </a:prstGeom>
          <a:noFill/>
        </p:spPr>
        <p:txBody>
          <a:bodyPr wrap="square" lIns="45720" rIns="45720" tIns="0" bIns="0" anchor="ctr">
            <a:spAutoFit/>
          </a:bodyPr>
          <a:lstStyle/>
          <a:p>
            <a:pPr algn="ctr">
              <a:lnSpc>
                <a:spcPct val="80000"/>
              </a:lnSpc>
            </a:pPr>
            <a:r>
              <a:rPr sz="1200" b="1" i="0">
                <a:solidFill>
                  <a:srgbClr val="0B2B4E"/>
                </a:solidFill>
                <a:latin typeface="Calibri"/>
              </a:rPr>
              <a:t>Note:  </a:t>
            </a:r>
            <a:r>
              <a:rPr sz="1200" b="0" i="0">
                <a:solidFill>
                  <a:srgbClr val="0B2B4E"/>
                </a:solidFill>
                <a:latin typeface="Calibri"/>
              </a:rPr>
              <a:t>MPL is plotted at the middle of each interval  (per our convention)</a:t>
            </a:r>
          </a:p>
        </p:txBody>
      </p:sp>
      <p:cxnSp>
        <p:nvCxnSpPr>
          <p:cNvPr id="18" name="Connector 17"/>
          <p:cNvCxnSpPr/>
          <p:nvPr/>
        </p:nvCxnSpPr>
        <p:spPr>
          <a:xfrm flipH="1">
            <a:off x="7941564" y="4219956"/>
            <a:ext cx="345643" cy="658368"/>
          </a:xfrm>
          <a:prstGeom prst="line">
            <a:avLst/>
          </a:prstGeom>
          <a:ln w="190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983480" y="4247388"/>
            <a:ext cx="950976" cy="658368"/>
          </a:xfrm>
          <a:prstGeom prst="roundRect">
            <a:avLst>
              <a:gd name="adj" fmla="val 18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B2B4E"/>
                </a:solidFill>
                <a:latin typeface="Calibri"/>
              </a:rPr>
              <a:t>plot the slope</a:t>
            </a:r>
          </a:p>
        </p:txBody>
      </p:sp>
      <p:sp>
        <p:nvSpPr>
          <p:cNvPr id="20" name="Right Arrow 19"/>
          <p:cNvSpPr/>
          <p:nvPr/>
        </p:nvSpPr>
        <p:spPr>
          <a:xfrm>
            <a:off x="5934456" y="4398264"/>
            <a:ext cx="658368" cy="356616"/>
          </a:xfrm>
          <a:prstGeom prst="rightArrow">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flipH="1">
            <a:off x="1408176" y="4609490"/>
            <a:ext cx="3575304" cy="323698"/>
          </a:xfrm>
          <a:prstGeom prst="line">
            <a:avLst/>
          </a:prstGeom>
          <a:ln w="12700">
            <a:solidFill>
              <a:srgbClr val="E09F3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910328" y="3653942"/>
            <a:ext cx="691286" cy="593446"/>
          </a:xfrm>
          <a:prstGeom prst="line">
            <a:avLst/>
          </a:prstGeom>
          <a:ln w="12700">
            <a:solidFill>
              <a:srgbClr val="E09F3E"/>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058400" y="1417320"/>
            <a:ext cx="2130552" cy="822960"/>
          </a:xfrm>
          <a:prstGeom prst="roundRect">
            <a:avLst>
              <a:gd name="adj" fmla="val 15000"/>
            </a:avLst>
          </a:prstGeom>
          <a:no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31552" y="1499616"/>
            <a:ext cx="2066543" cy="365760"/>
          </a:xfrm>
          <a:prstGeom prst="rect">
            <a:avLst/>
          </a:prstGeom>
          <a:noFill/>
        </p:spPr>
        <p:txBody>
          <a:bodyPr wrap="square" lIns="0" rIns="0" tIns="0" bIns="0">
            <a:spAutoFit/>
          </a:bodyPr>
          <a:lstStyle/>
          <a:p>
            <a:pPr algn="l"/>
            <a:r>
              <a:rPr sz="1400">
                <a:solidFill>
                  <a:srgbClr val="0B2B4E"/>
                </a:solidFill>
                <a:latin typeface="Calibri"/>
              </a:rPr>
              <a:t>➤  </a:t>
            </a:r>
            <a:r>
              <a:rPr sz="1400" u="sng">
                <a:solidFill>
                  <a:srgbClr val="0B2B4E"/>
                </a:solidFill>
                <a:latin typeface="Calibri"/>
                <a:hlinkClick r:id="rId5" action="ppaction://hlinksldjump">
                  <a:extLst>
                    <a:ext uri="{A12FA001-AC4F-418D-AE19-62706E023703}">
                      <ahyp:hlinkClr xmlns:ahyp="http://schemas.microsoft.com/office/drawing/2018/hyperlinkcolor" val="tx"/>
                    </a:ext>
                  </a:extLst>
                </a:hlinkClick>
              </a:rPr>
              <a:t>Very high MPL image</a:t>
            </a:r>
          </a:p>
        </p:txBody>
      </p:sp>
      <p:sp>
        <p:nvSpPr>
          <p:cNvPr id="25" name="TextBox 24"/>
          <p:cNvSpPr txBox="1"/>
          <p:nvPr/>
        </p:nvSpPr>
        <p:spPr>
          <a:xfrm>
            <a:off x="10131552" y="1828800"/>
            <a:ext cx="2066543" cy="365760"/>
          </a:xfrm>
          <a:prstGeom prst="rect">
            <a:avLst/>
          </a:prstGeom>
          <a:noFill/>
        </p:spPr>
        <p:txBody>
          <a:bodyPr wrap="square" lIns="0" rIns="0" tIns="0" bIns="0">
            <a:spAutoFit/>
          </a:bodyPr>
          <a:lstStyle/>
          <a:p>
            <a:pPr algn="l"/>
            <a:r>
              <a:rPr sz="1400">
                <a:solidFill>
                  <a:srgbClr val="0B2B4E"/>
                </a:solidFill>
                <a:latin typeface="Calibri"/>
              </a:rPr>
              <a:t>➤  </a:t>
            </a:r>
            <a:r>
              <a:rPr sz="1400" u="sng">
                <a:solidFill>
                  <a:srgbClr val="0B2B4E"/>
                </a:solidFill>
                <a:latin typeface="Calibri"/>
                <a:hlinkClick r:id="rId6" action="ppaction://hlinksldjump">
                  <a:extLst>
                    <a:ext uri="{A12FA001-AC4F-418D-AE19-62706E023703}">
                      <ahyp:hlinkClr xmlns:ahyp="http://schemas.microsoft.com/office/drawing/2018/hyperlinkcolor" val="tx"/>
                    </a:ext>
                  </a:extLst>
                </a:hlinkClick>
              </a:rPr>
              <a:t>Very low MPL image</a:t>
            </a:r>
          </a:p>
        </p:txBody>
      </p:sp>
      <p:cxnSp>
        <p:nvCxnSpPr>
          <p:cNvPr id="26" name="Connector 25"/>
          <p:cNvCxnSpPr/>
          <p:nvPr/>
        </p:nvCxnSpPr>
        <p:spPr>
          <a:xfrm flipH="1">
            <a:off x="7424927" y="1709928"/>
            <a:ext cx="2885847" cy="1728216"/>
          </a:xfrm>
          <a:prstGeom prst="line">
            <a:avLst/>
          </a:prstGeom>
          <a:ln w="19050">
            <a:solidFill>
              <a:srgbClr val="0B2B4E"/>
            </a:solidFill>
            <a:prstDash val="dash"/>
            <a:tailEnd type="triangle" w="med" h="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338560" y="2093976"/>
            <a:ext cx="0" cy="3099816"/>
          </a:xfrm>
          <a:prstGeom prst="line">
            <a:avLst/>
          </a:prstGeom>
          <a:ln w="19050">
            <a:solidFill>
              <a:srgbClr val="0B2B4E"/>
            </a:solidFill>
            <a:prstDash val="dash"/>
            <a:tailEnd type="triangle" w="med" h="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752447" y="5989320"/>
            <a:ext cx="8686800" cy="50292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Note:  MPL is the slope  (dQ / dL)  of the output curve</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32" name="TextBox 31"/>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Famous Example for Diminishing Marginal Returns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0779" y="1525219"/>
            <a:ext cx="11687697" cy="1417320"/>
          </a:xfrm>
          <a:prstGeom prst="rect">
            <a:avLst/>
          </a:prstGeom>
          <a:noFill/>
        </p:spPr>
        <p:txBody>
          <a:bodyPr wrap="square" lIns="0" rIns="0" tIns="0" bIns="0">
            <a:spAutoFit/>
          </a:bodyPr>
          <a:lstStyle>
            <a:lvl1pPr marL="342900" indent="-342900">
              <a:spcBef>
                <a:spcPts val="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The (agriculture-based) economy before 1800:</a:t>
            </a:r>
          </a:p>
          <a:p>
            <a:pPr algn="l" lvl="1"/>
            <a:r>
              <a:rPr>
                <a:latin typeface="Calibri"/>
              </a:rPr>
              <a:t>Land was the fixed factor; labor was variable</a:t>
            </a:r>
          </a:p>
          <a:p>
            <a:pPr algn="l" lvl="1"/>
            <a:r>
              <a:rPr>
                <a:latin typeface="Calibri"/>
              </a:rPr>
              <a:t>Q = f (labor, land);  no capital</a:t>
            </a:r>
          </a:p>
        </p:txBody>
      </p:sp>
      <p:sp>
        <p:nvSpPr>
          <p:cNvPr id="8" name="Rounded Rectangle 7"/>
          <p:cNvSpPr/>
          <p:nvPr/>
        </p:nvSpPr>
        <p:spPr>
          <a:xfrm>
            <a:off x="251999" y="3291840"/>
            <a:ext cx="5303520" cy="2200960"/>
          </a:xfrm>
          <a:prstGeom prst="roundRect">
            <a:avLst>
              <a:gd name="adj" fmla="val 8000"/>
            </a:avLst>
          </a:prstGeom>
          <a:solidFill>
            <a:srgbClr val="F4F1EA"/>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l"/>
            <a:r>
              <a:rPr sz="2400">
                <a:solidFill>
                  <a:srgbClr val="0B2B4E"/>
                </a:solidFill>
                <a:latin typeface="Calibri"/>
              </a:rPr>
              <a:t>In 1348, the Black Death killed almost half the population (labor).</a:t>
            </a:r>
          </a:p>
          <a:p/>
          <a:p>
            <a:pPr algn="l"/>
            <a:r>
              <a:rPr sz="2600" b="1">
                <a:solidFill>
                  <a:srgbClr val="0B2B4E"/>
                </a:solidFill>
                <a:latin typeface="Calibri"/>
              </a:rPr>
              <a:t>→  What happened to the return to labor?</a:t>
            </a:r>
          </a:p>
        </p:txBody>
      </p:sp>
      <p:pic>
        <p:nvPicPr>
          <p:cNvPr id="9" name="Picture 8" descr="slide14_rId3.png"/>
          <p:cNvPicPr>
            <a:picLocks noChangeAspect="1"/>
          </p:cNvPicPr>
          <p:nvPr/>
        </p:nvPicPr>
        <p:blipFill>
          <a:blip r:embed="rId2"/>
          <a:stretch>
            <a:fillRect/>
          </a:stretch>
        </p:blipFill>
        <p:spPr>
          <a:xfrm>
            <a:off x="6083503" y="2668219"/>
            <a:ext cx="5760720" cy="3710066"/>
          </a:xfrm>
          <a:prstGeom prst="rect">
            <a:avLst/>
          </a:prstGeom>
          <a:effectLst>
            <a:outerShdw blurRad="50800" dist="38100" dir="2700000" algn="tl" rotWithShape="0">
              <a:srgbClr val="000000">
                <a:alpha val="45000"/>
              </a:srgbClr>
            </a:outerShdw>
          </a:effectLst>
        </p:spPr>
      </p:pic>
      <p:sp>
        <p:nvSpPr>
          <p:cNvPr id="10" name="TextBox 9"/>
          <p:cNvSpPr txBox="1"/>
          <p:nvPr/>
        </p:nvSpPr>
        <p:spPr>
          <a:xfrm>
            <a:off x="6126480" y="2697480"/>
            <a:ext cx="5760720" cy="228600"/>
          </a:xfrm>
          <a:prstGeom prst="rect">
            <a:avLst/>
          </a:prstGeom>
          <a:noFill/>
        </p:spPr>
        <p:txBody>
          <a:bodyPr wrap="square" lIns="0" rIns="0" tIns="0" bIns="0">
            <a:spAutoFit/>
          </a:bodyPr>
          <a:lstStyle/>
          <a:p>
            <a:pPr algn="ctr"/>
            <a:r>
              <a:rPr sz="1300" b="1" i="1">
                <a:solidFill>
                  <a:srgbClr val="0B2B4E"/>
                </a:solidFill>
                <a:latin typeface="Calibri"/>
              </a:rPr>
              <a:t>Wages and population, England 1300-1500</a:t>
            </a:r>
          </a:p>
        </p:txBody>
      </p:sp>
      <p:sp>
        <p:nvSpPr>
          <p:cNvPr id="11" name="TextBox 10"/>
          <p:cNvSpPr txBox="1"/>
          <p:nvPr/>
        </p:nvSpPr>
        <p:spPr>
          <a:xfrm>
            <a:off x="8963863" y="4903012"/>
            <a:ext cx="868680" cy="274320"/>
          </a:xfrm>
          <a:prstGeom prst="rect">
            <a:avLst/>
          </a:prstGeom>
          <a:noFill/>
        </p:spPr>
        <p:txBody>
          <a:bodyPr wrap="square" lIns="0" rIns="0" tIns="0" bIns="0">
            <a:spAutoFit/>
          </a:bodyPr>
          <a:lstStyle/>
          <a:p>
            <a:pPr algn="ctr"/>
            <a:r>
              <a:rPr sz="1200" b="1" i="1">
                <a:solidFill>
                  <a:srgbClr val="404040"/>
                </a:solidFill>
                <a:latin typeface="Calibri"/>
              </a:rPr>
              <a:t>Population</a:t>
            </a:r>
          </a:p>
        </p:txBody>
      </p:sp>
      <p:cxnSp>
        <p:nvCxnSpPr>
          <p:cNvPr id="12" name="Connector 11"/>
          <p:cNvCxnSpPr/>
          <p:nvPr/>
        </p:nvCxnSpPr>
        <p:spPr>
          <a:xfrm flipH="1" flipV="1">
            <a:off x="8652967" y="4590288"/>
            <a:ext cx="353873" cy="370332"/>
          </a:xfrm>
          <a:prstGeom prst="line">
            <a:avLst/>
          </a:prstGeom>
          <a:ln w="25400">
            <a:solidFill>
              <a:srgbClr val="404040"/>
            </a:solidFill>
            <a:tailEnd type="triangle" w="med" h="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09483" y="5218480"/>
            <a:ext cx="1188720" cy="274320"/>
          </a:xfrm>
          <a:prstGeom prst="rect">
            <a:avLst/>
          </a:prstGeom>
          <a:noFill/>
        </p:spPr>
        <p:txBody>
          <a:bodyPr wrap="square" lIns="0" rIns="0" tIns="0" bIns="0">
            <a:spAutoFit/>
          </a:bodyPr>
          <a:lstStyle/>
          <a:p>
            <a:pPr algn="ctr"/>
            <a:r>
              <a:rPr sz="1200" b="1" i="1">
                <a:solidFill>
                  <a:srgbClr val="000000"/>
                </a:solidFill>
                <a:latin typeface="Calibri"/>
              </a:rPr>
              <a:t>Return to labor</a:t>
            </a:r>
          </a:p>
        </p:txBody>
      </p:sp>
      <p:cxnSp>
        <p:nvCxnSpPr>
          <p:cNvPr id="14" name="Connector 13"/>
          <p:cNvCxnSpPr/>
          <p:nvPr/>
        </p:nvCxnSpPr>
        <p:spPr>
          <a:xfrm flipH="1" flipV="1">
            <a:off x="7882127" y="4775911"/>
            <a:ext cx="347473" cy="500177"/>
          </a:xfrm>
          <a:prstGeom prst="line">
            <a:avLst/>
          </a:prstGeom>
          <a:ln w="25400">
            <a:solidFill>
              <a:srgbClr val="000000"/>
            </a:solidFill>
            <a:tailEnd type="triangle" w="med" h="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8" name="TextBox 17"/>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Hiring Decisions in the Short Run —  Context &amp; Scenario</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7315200" cy="4023360"/>
          </a:xfrm>
          <a:prstGeom prst="rect">
            <a:avLst/>
          </a:prstGeom>
          <a:noFill/>
        </p:spPr>
        <p:txBody>
          <a:bodyPr wrap="square" lIns="0" rIns="0" tIns="0" bIns="0">
            <a:spAutoFit/>
          </a:bodyPr>
          <a:lstStyle>
            <a:lvl1pPr marL="342900" indent="-342900">
              <a:spcBef>
                <a:spcPts val="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Demand and output price are given</a:t>
            </a:r>
          </a:p>
          <a:p>
            <a:pPr algn="l" lvl="1"/>
            <a:r>
              <a:rPr>
                <a:latin typeface="Calibri"/>
              </a:rPr>
              <a:t>Large number of R1 ordered at price of ~$80k</a:t>
            </a:r>
          </a:p>
          <a:p>
            <a:pPr algn="l" lvl="1"/>
            <a:r>
              <a:rPr>
                <a:latin typeface="Calibri"/>
              </a:rPr>
              <a:t>Out of this, ~$35k is material cost → (Net) Revenue per car ~$45k</a:t>
            </a:r>
          </a:p>
          <a:p>
            <a:pPr algn="l"/>
            <a:r>
              <a:rPr>
                <a:latin typeface="Calibri"/>
              </a:rPr>
              <a:t>Short run:  capital (factory size, robots) is fixed</a:t>
            </a:r>
          </a:p>
          <a:p>
            <a:pPr algn="l"/>
            <a:r>
              <a:rPr>
                <a:latin typeface="Calibri"/>
              </a:rPr>
              <a:t>The only way to expand production is to hire more workers</a:t>
            </a:r>
          </a:p>
        </p:txBody>
      </p:sp>
      <p:pic>
        <p:nvPicPr>
          <p:cNvPr id="8" name="Picture 7" descr="_rivian.jpg"/>
          <p:cNvPicPr>
            <a:picLocks noChangeAspect="1"/>
          </p:cNvPicPr>
          <p:nvPr/>
        </p:nvPicPr>
        <p:blipFill>
          <a:blip r:embed="rId2"/>
          <a:stretch>
            <a:fillRect/>
          </a:stretch>
        </p:blipFill>
        <p:spPr>
          <a:xfrm>
            <a:off x="7818120" y="1783080"/>
            <a:ext cx="3931920" cy="2743200"/>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7818120" y="4617720"/>
            <a:ext cx="3931920" cy="182880"/>
          </a:xfrm>
          <a:prstGeom prst="rect">
            <a:avLst/>
          </a:prstGeom>
          <a:noFill/>
        </p:spPr>
        <p:txBody>
          <a:bodyPr wrap="square" lIns="0" rIns="0" tIns="0" bIns="0">
            <a:spAutoFit/>
          </a:bodyPr>
          <a:lstStyle/>
          <a:p>
            <a:pPr algn="ctr"/>
            <a:r>
              <a:rPr sz="900" b="0" i="1">
                <a:solidFill>
                  <a:srgbClr val="555B66"/>
                </a:solidFill>
                <a:latin typeface="Calibri"/>
              </a:rPr>
              <a:t>Rivian R1  (CC BY-SA, Wikimedia)</a:t>
            </a:r>
          </a:p>
        </p:txBody>
      </p:sp>
      <p:sp>
        <p:nvSpPr>
          <p:cNvPr id="10" name="Rounded Rectangle 9"/>
          <p:cNvSpPr/>
          <p:nvPr/>
        </p:nvSpPr>
        <p:spPr>
          <a:xfrm>
            <a:off x="3144621" y="5481828"/>
            <a:ext cx="6376111" cy="553212"/>
          </a:xfrm>
          <a:prstGeom prst="roundRect">
            <a:avLst>
              <a:gd name="adj" fmla="val 2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  How many workers should Rivian optimally hire?</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Hiring Decisions in the Short Run —  Core Concept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43837"/>
            <a:ext cx="11687697" cy="320040"/>
          </a:xfrm>
          <a:prstGeom prst="rect">
            <a:avLst/>
          </a:prstGeom>
          <a:noFill/>
        </p:spPr>
        <p:txBody>
          <a:bodyPr wrap="square" lIns="0" rIns="0" tIns="0" bIns="0">
            <a:spAutoFit/>
          </a:bodyPr>
          <a:lstStyle/>
          <a:p>
            <a:pPr algn="ctr"/>
            <a:r>
              <a:rPr sz="1800" b="1" i="1">
                <a:solidFill>
                  <a:srgbClr val="0B2B4E"/>
                </a:solidFill>
                <a:latin typeface="Calibri"/>
              </a:rPr>
              <a:t>In the short run  (capital K fixed):</a:t>
            </a:r>
          </a:p>
        </p:txBody>
      </p:sp>
      <p:sp>
        <p:nvSpPr>
          <p:cNvPr id="8" name="Rounded Rectangle 7"/>
          <p:cNvSpPr/>
          <p:nvPr/>
        </p:nvSpPr>
        <p:spPr>
          <a:xfrm>
            <a:off x="892454" y="1819656"/>
            <a:ext cx="10332720" cy="1014984"/>
          </a:xfrm>
          <a:prstGeom prst="roundRect">
            <a:avLst>
              <a:gd name="adj" fmla="val 6000"/>
            </a:avLst>
          </a:prstGeom>
          <a:solidFill>
            <a:srgbClr val="0B2B4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lIns="137160" rIns="137160" wrap="square"/>
          <a:lstStyle/>
          <a:p>
            <a:pPr algn="ctr"/>
            <a:r>
              <a:rPr sz="2800" b="1">
                <a:solidFill>
                  <a:srgbClr val="FFFFFF"/>
                </a:solidFill>
                <a:latin typeface="Calibri"/>
              </a:rPr>
              <a:t>MRPL  =  </a:t>
            </a:r>
            <a:r>
              <a:rPr sz="2800" b="1">
                <a:solidFill>
                  <a:srgbClr val="9EC5F7"/>
                </a:solidFill>
                <a:latin typeface="Calibri"/>
              </a:rPr>
              <a:t>Marginal Revenue Product of Labor</a:t>
            </a:r>
          </a:p>
          <a:p>
            <a:pPr algn="ctr">
              <a:spcBef>
                <a:spcPts val="400"/>
              </a:spcBef>
            </a:pPr>
            <a:r>
              <a:rPr sz="1700" b="0" i="1">
                <a:solidFill>
                  <a:srgbClr val="FFFFFF"/>
                </a:solidFill>
                <a:latin typeface="Calibri"/>
              </a:rPr>
              <a:t>the extra revenue from one more worker</a:t>
            </a:r>
          </a:p>
        </p:txBody>
      </p:sp>
      <p:sp>
        <p:nvSpPr>
          <p:cNvPr id="9" name="Rounded Rectangle 8"/>
          <p:cNvSpPr/>
          <p:nvPr/>
        </p:nvSpPr>
        <p:spPr>
          <a:xfrm>
            <a:off x="914400" y="3007461"/>
            <a:ext cx="10241280" cy="2286000"/>
          </a:xfrm>
          <a:prstGeom prst="roundRect">
            <a:avLst>
              <a:gd name="adj" fmla="val 6000"/>
            </a:avLst>
          </a:prstGeom>
          <a:solidFill>
            <a:srgbClr val="FDF6E6"/>
          </a:solidFill>
          <a:ln w="9525">
            <a:solidFill>
              <a:srgbClr val="0B2B4E"/>
            </a:solid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t" lIns="274320" rIns="274320" tIns="109728" bIns="73152" wrap="square"/>
          <a:lstStyle/>
          <a:p>
            <a:pPr algn="ctr"/>
            <a:r>
              <a:rPr sz="1800" b="1">
                <a:solidFill>
                  <a:srgbClr val="0B2B4E"/>
                </a:solidFill>
                <a:latin typeface="Calibri"/>
              </a:rPr>
              <a:t>Decomposition:   MRPL  =  MR × MPL</a:t>
            </a:r>
          </a:p>
          <a:p>
            <a:pPr algn="ctr">
              <a:spcBef>
                <a:spcPts val="400"/>
              </a:spcBef>
            </a:pPr>
            <a:r>
              <a:rPr sz="1400" i="1">
                <a:solidFill>
                  <a:srgbClr val="0B2B4E"/>
                </a:solidFill>
                <a:latin typeface="Calibri"/>
              </a:rPr>
              <a:t>MR:  marginal revenue from selling an extra item</a:t>
            </a:r>
          </a:p>
          <a:p>
            <a:pPr algn="ctr">
              <a:spcBef>
                <a:spcPts val="0"/>
              </a:spcBef>
            </a:pPr>
            <a:r>
              <a:rPr sz="1400" i="1">
                <a:solidFill>
                  <a:srgbClr val="0B2B4E"/>
                </a:solidFill>
                <a:latin typeface="Calibri"/>
              </a:rPr>
              <a:t>MPL:  extra output (marginal product) from hiring one more worker</a:t>
            </a:r>
          </a:p>
          <a:p>
            <a:pPr algn="l">
              <a:spcBef>
                <a:spcPts val="1000"/>
              </a:spcBef>
            </a:pPr>
            <a:r>
              <a:rPr sz="1600" b="1">
                <a:solidFill>
                  <a:srgbClr val="0B2B4E"/>
                </a:solidFill>
                <a:latin typeface="Calibri"/>
              </a:rPr>
              <a:t>•  When MPL falls, MRPL falls</a:t>
            </a:r>
          </a:p>
          <a:p>
            <a:pPr algn="l">
              <a:spcBef>
                <a:spcPts val="800"/>
              </a:spcBef>
            </a:pPr>
            <a:r>
              <a:rPr sz="1600" b="1">
                <a:solidFill>
                  <a:srgbClr val="0B2B4E"/>
                </a:solidFill>
                <a:latin typeface="Calibri"/>
              </a:rPr>
              <a:t>•  Decreasing MPL  ⇒ marginal (additional) hires produce less and less additional output</a:t>
            </a:r>
          </a:p>
          <a:p>
            <a:pPr algn="l">
              <a:spcBef>
                <a:spcPts val="800"/>
              </a:spcBef>
            </a:pPr>
            <a:r>
              <a:rPr sz="1600" b="1">
                <a:solidFill>
                  <a:srgbClr val="0B2B4E"/>
                </a:solidFill>
                <a:latin typeface="Calibri"/>
              </a:rPr>
              <a:t>•  Price-taker case:  MR = P,  so  MRPL = P × MPL</a:t>
            </a:r>
          </a:p>
          <a:p>
            <a:pPr algn="l">
              <a:spcBef>
                <a:spcPts val="400"/>
              </a:spcBef>
            </a:pPr>
            <a:r>
              <a:rPr sz="1600" i="1">
                <a:solidFill>
                  <a:srgbClr val="0B2B4E"/>
                </a:solidFill>
                <a:latin typeface="Calibri"/>
              </a:rPr>
              <a:t>     →  Even when holding MR (or price) constant, MRPL falls when labor is added, as a result of falling MPL</a:t>
            </a:r>
          </a:p>
        </p:txBody>
      </p:sp>
      <p:sp>
        <p:nvSpPr>
          <p:cNvPr id="10" name="12-Point Star 9"/>
          <p:cNvSpPr/>
          <p:nvPr/>
        </p:nvSpPr>
        <p:spPr>
          <a:xfrm>
            <a:off x="9930384" y="5307177"/>
            <a:ext cx="1691640" cy="1198778"/>
          </a:xfrm>
          <a:prstGeom prst="star12">
            <a:avLst/>
          </a:prstGeom>
          <a:solidFill>
            <a:srgbClr val="E09F3E"/>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226421" y="5576902"/>
            <a:ext cx="1099566" cy="659327"/>
          </a:xfrm>
          <a:prstGeom prst="rect">
            <a:avLst/>
          </a:prstGeom>
          <a:noFill/>
        </p:spPr>
        <p:txBody>
          <a:bodyPr wrap="square" lIns="0" rIns="0" tIns="0" bIns="0" anchor="ctr">
            <a:spAutoFit/>
          </a:bodyPr>
          <a:lstStyle/>
          <a:p>
            <a:pPr algn="ctr"/>
            <a:r>
              <a:rPr sz="1400" b="1">
                <a:solidFill>
                  <a:srgbClr val="0B2B4E"/>
                </a:solidFill>
                <a:latin typeface="Calibri"/>
              </a:rPr>
              <a:t>MB &gt; MC</a:t>
            </a:r>
          </a:p>
          <a:p>
            <a:pPr algn="ctr"/>
            <a:r>
              <a:rPr sz="1100" i="1" b="1">
                <a:solidFill>
                  <a:srgbClr val="0B2B4E"/>
                </a:solidFill>
                <a:latin typeface="Calibri"/>
              </a:rPr>
              <a:t>(of labor)</a:t>
            </a:r>
          </a:p>
          <a:p>
            <a:pPr algn="ctr"/>
            <a:r>
              <a:rPr sz="1100" i="1" b="1">
                <a:solidFill>
                  <a:srgbClr val="0B2B4E"/>
                </a:solidFill>
                <a:latin typeface="Calibri"/>
              </a:rPr>
              <a:t>→  Hire more</a:t>
            </a:r>
          </a:p>
        </p:txBody>
      </p:sp>
      <p:sp>
        <p:nvSpPr>
          <p:cNvPr id="12" name="Rounded Rectangle 11"/>
          <p:cNvSpPr/>
          <p:nvPr/>
        </p:nvSpPr>
        <p:spPr>
          <a:xfrm>
            <a:off x="2759659" y="5747004"/>
            <a:ext cx="6598310" cy="502920"/>
          </a:xfrm>
          <a:prstGeom prst="roundRect">
            <a:avLst>
              <a:gd name="adj" fmla="val 6000"/>
            </a:avLst>
          </a:pr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lIns="137160" rIns="137160" wrap="square"/>
          <a:lstStyle/>
          <a:p>
            <a:pPr algn="ctr"/>
            <a:r>
              <a:rPr sz="2000" b="1">
                <a:solidFill>
                  <a:srgbClr val="0B2B4E"/>
                </a:solidFill>
                <a:latin typeface="Calibri"/>
              </a:rPr>
              <a:t>Decision rule:   If  MRPL &gt; w (wage),   hire more workers</a:t>
            </a:r>
          </a:p>
        </p:txBody>
      </p:sp>
      <p:cxnSp>
        <p:nvCxnSpPr>
          <p:cNvPr id="13" name="Connector 12"/>
          <p:cNvCxnSpPr/>
          <p:nvPr/>
        </p:nvCxnSpPr>
        <p:spPr>
          <a:xfrm flipH="1">
            <a:off x="9357055" y="5911596"/>
            <a:ext cx="725119" cy="86868"/>
          </a:xfrm>
          <a:prstGeom prst="line">
            <a:avLst/>
          </a:prstGeom>
          <a:ln w="2540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7" name="TextBox 16"/>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Example:  Calculate MRPL at 2,300 Employees and 100 Robots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7132320" cy="4023360"/>
          </a:xfrm>
          <a:prstGeom prst="rect">
            <a:avLst/>
          </a:prstGeom>
          <a:noFill/>
        </p:spPr>
        <p:txBody>
          <a:bodyPr wrap="square" lIns="0" rIns="0" tIns="0" bIns="0">
            <a:spAutoFit/>
          </a:bodyPr>
          <a:lstStyle>
            <a:lvl1pPr marL="342900" indent="-342900">
              <a:spcBef>
                <a:spcPts val="10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800" b="0">
                <a:solidFill>
                  <a:srgbClr val="555B66"/>
                </a:solidFill>
                <a:latin typeface="Calibri"/>
              </a:defRPr>
            </a:lvl2pPr>
          </a:lstStyle>
          <a:p>
            <a:pPr algn="l"/>
            <a:r>
              <a:rPr>
                <a:latin typeface="Calibri"/>
              </a:rPr>
              <a:t>Currently 100 robots and 2,300 employees on the R1 line</a:t>
            </a:r>
          </a:p>
          <a:p>
            <a:pPr algn="l"/>
            <a:r>
              <a:rPr>
                <a:latin typeface="Calibri"/>
              </a:rPr>
              <a:t>(Net) Revenue per car ~$45k</a:t>
            </a:r>
          </a:p>
          <a:p>
            <a:pPr algn="l" lvl="1"/>
            <a:r>
              <a:rPr>
                <a:latin typeface="Calibri"/>
              </a:rPr>
              <a:t>Assume that this is approx. constant</a:t>
            </a:r>
          </a:p>
          <a:p>
            <a:pPr algn="l">
              <a:buNone/>
            </a:pPr>
          </a:p>
          <a:p>
            <a:pPr algn="l"/>
            <a:r>
              <a:rPr sz="3200">
                <a:latin typeface="Calibri"/>
              </a:rPr>
              <a:t>What is MRPL?  (in $ per worker, per week)</a:t>
            </a:r>
          </a:p>
        </p:txBody>
      </p:sp>
      <p:sp>
        <p:nvSpPr>
          <p:cNvPr id="8" name="Rectangle 7"/>
          <p:cNvSpPr/>
          <p:nvPr/>
        </p:nvSpPr>
        <p:spPr>
          <a:xfrm>
            <a:off x="8732520" y="1840687"/>
            <a:ext cx="2670048" cy="338328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8732520" y="1840687"/>
          <a:ext cx="2670048" cy="3383280"/>
        </p:xfrm>
        <a:graphic>
          <a:graphicData uri="http://schemas.openxmlformats.org/drawingml/2006/table">
            <a:tbl>
              <a:tblPr firstRow="1" bandRow="1">
                <a:tableStyleId>{5C22544A-7EE6-4342-B048-85BDC9FD1C3A}</a:tableStyleId>
              </a:tblPr>
              <a:tblGrid>
                <a:gridCol w="658368"/>
                <a:gridCol w="502920"/>
                <a:gridCol w="502920"/>
                <a:gridCol w="502920"/>
                <a:gridCol w="502920"/>
              </a:tblGrid>
              <a:tr h="260252">
                <a:tc>
                  <a:txBody>
                    <a:bodyPr/>
                    <a:lstStyle/>
                    <a:p>
                      <a:pPr algn="ctr"/>
                    </a:p>
                  </a:txBody>
                  <a:tcPr marL="54864" marR="54864" marT="9144" marB="9144">
                    <a:solidFill>
                      <a:srgbClr val="0B2B4E"/>
                    </a:solidFill>
                  </a:tcPr>
                </a:tc>
                <a:tc>
                  <a:txBody>
                    <a:bodyPr/>
                    <a:lstStyle/>
                    <a:p>
                      <a:pPr algn="ctr"/>
                      <a:r>
                        <a:rPr sz="1100" b="1">
                          <a:solidFill>
                            <a:srgbClr val="FFFFFF"/>
                          </a:solidFill>
                          <a:latin typeface="Calibri"/>
                        </a:rPr>
                        <a:t>100</a:t>
                      </a:r>
                    </a:p>
                  </a:txBody>
                  <a:tcPr marL="54864" marR="54864" marT="9144" marB="9144">
                    <a:solidFill>
                      <a:srgbClr val="0B2B4E"/>
                    </a:solidFill>
                  </a:tcPr>
                </a:tc>
                <a:tc>
                  <a:txBody>
                    <a:bodyPr/>
                    <a:lstStyle/>
                    <a:p>
                      <a:pPr algn="ctr"/>
                      <a:r>
                        <a:rPr sz="1100" b="1">
                          <a:solidFill>
                            <a:srgbClr val="FFFFFF"/>
                          </a:solidFill>
                          <a:latin typeface="Calibri"/>
                        </a:rPr>
                        <a:t>200</a:t>
                      </a:r>
                    </a:p>
                  </a:txBody>
                  <a:tcPr marL="54864" marR="54864" marT="9144" marB="9144">
                    <a:solidFill>
                      <a:srgbClr val="0B2B4E"/>
                    </a:solidFill>
                  </a:tcPr>
                </a:tc>
                <a:tc>
                  <a:txBody>
                    <a:bodyPr/>
                    <a:lstStyle/>
                    <a:p>
                      <a:pPr algn="ctr"/>
                      <a:r>
                        <a:rPr sz="1100" b="1">
                          <a:solidFill>
                            <a:srgbClr val="FFFFFF"/>
                          </a:solidFill>
                          <a:latin typeface="Calibri"/>
                        </a:rPr>
                        <a:t>300</a:t>
                      </a:r>
                    </a:p>
                  </a:txBody>
                  <a:tcPr marL="54864" marR="54864" marT="9144" marB="9144">
                    <a:solidFill>
                      <a:srgbClr val="0B2B4E"/>
                    </a:solidFill>
                  </a:tcPr>
                </a:tc>
                <a:tc>
                  <a:txBody>
                    <a:bodyPr/>
                    <a:lstStyle/>
                    <a:p>
                      <a:pPr algn="ctr"/>
                      <a:r>
                        <a:rPr sz="1100" b="1">
                          <a:solidFill>
                            <a:srgbClr val="FFFFFF"/>
                          </a:solidFill>
                          <a:latin typeface="Calibri"/>
                        </a:rPr>
                        <a:t>400</a:t>
                      </a:r>
                    </a:p>
                  </a:txBody>
                  <a:tcPr marL="54864" marR="54864" marT="9144" marB="9144">
                    <a:solidFill>
                      <a:srgbClr val="0B2B4E"/>
                    </a:solidFill>
                  </a:tcPr>
                </a:tc>
              </a:tr>
              <a:tr h="260252">
                <a:tc>
                  <a:txBody>
                    <a:bodyPr/>
                    <a:lstStyle/>
                    <a:p>
                      <a:pPr algn="ctr"/>
                      <a:r>
                        <a:rPr sz="1100" b="1">
                          <a:solidFill>
                            <a:srgbClr val="FFFFFF"/>
                          </a:solidFill>
                          <a:latin typeface="Calibri"/>
                        </a:rPr>
                        <a:t>0</a:t>
                      </a:r>
                    </a:p>
                  </a:txBody>
                  <a:tcPr marL="54864" marR="54864" marT="9144" marB="9144">
                    <a:solidFill>
                      <a:srgbClr val="0B2B4E"/>
                    </a:solidFill>
                  </a:tcPr>
                </a:tc>
                <a:tc>
                  <a:txBody>
                    <a:bodyPr/>
                    <a:lstStyle/>
                    <a:p>
                      <a:pPr algn="ctr"/>
                      <a:r>
                        <a:rPr sz="1100">
                          <a:solidFill>
                            <a:srgbClr val="0B2B4E"/>
                          </a:solidFill>
                          <a:latin typeface="Calibri"/>
                        </a:rPr>
                        <a:t>0</a:t>
                      </a:r>
                    </a:p>
                  </a:txBody>
                  <a:tcPr marL="54864" marR="54864" marT="9144" marB="9144">
                    <a:solidFill>
                      <a:srgbClr val="FFFFFF"/>
                    </a:solidFill>
                  </a:tcPr>
                </a:tc>
                <a:tc>
                  <a:txBody>
                    <a:bodyPr/>
                    <a:lstStyle/>
                    <a:p>
                      <a:pPr algn="ctr"/>
                      <a:r>
                        <a:rPr sz="1100">
                          <a:solidFill>
                            <a:srgbClr val="0B2B4E"/>
                          </a:solidFill>
                          <a:latin typeface="Calibri"/>
                        </a:rPr>
                        <a:t>0</a:t>
                      </a:r>
                    </a:p>
                  </a:txBody>
                  <a:tcPr marL="54864" marR="54864" marT="9144" marB="9144">
                    <a:solidFill>
                      <a:srgbClr val="FFFFFF"/>
                    </a:solidFill>
                  </a:tcPr>
                </a:tc>
                <a:tc>
                  <a:txBody>
                    <a:bodyPr/>
                    <a:lstStyle/>
                    <a:p>
                      <a:pPr algn="ctr"/>
                      <a:r>
                        <a:rPr sz="1100">
                          <a:solidFill>
                            <a:srgbClr val="0B2B4E"/>
                          </a:solidFill>
                          <a:latin typeface="Calibri"/>
                        </a:rPr>
                        <a:t>0</a:t>
                      </a:r>
                    </a:p>
                  </a:txBody>
                  <a:tcPr marL="54864" marR="54864" marT="9144" marB="9144">
                    <a:solidFill>
                      <a:srgbClr val="FFFFFF"/>
                    </a:solidFill>
                  </a:tcPr>
                </a:tc>
                <a:tc>
                  <a:txBody>
                    <a:bodyPr/>
                    <a:lstStyle/>
                    <a:p>
                      <a:pPr algn="ctr"/>
                      <a:r>
                        <a:rPr sz="1100">
                          <a:solidFill>
                            <a:srgbClr val="0B2B4E"/>
                          </a:solidFill>
                          <a:latin typeface="Calibri"/>
                        </a:rPr>
                        <a:t>0</a:t>
                      </a:r>
                    </a:p>
                  </a:txBody>
                  <a:tcPr marL="54864" marR="54864" marT="9144" marB="9144">
                    <a:solidFill>
                      <a:srgbClr val="FFFFFF"/>
                    </a:solidFill>
                  </a:tcPr>
                </a:tc>
              </a:tr>
              <a:tr h="260252">
                <a:tc>
                  <a:txBody>
                    <a:bodyPr/>
                    <a:lstStyle/>
                    <a:p>
                      <a:pPr algn="ctr"/>
                      <a:r>
                        <a:rPr sz="1100" b="1">
                          <a:solidFill>
                            <a:srgbClr val="FFFFFF"/>
                          </a:solidFill>
                          <a:latin typeface="Calibri"/>
                        </a:rPr>
                        <a:t>250</a:t>
                      </a:r>
                    </a:p>
                  </a:txBody>
                  <a:tcPr marL="54864" marR="54864" marT="9144" marB="9144">
                    <a:solidFill>
                      <a:srgbClr val="0B2B4E"/>
                    </a:solidFill>
                  </a:tcPr>
                </a:tc>
                <a:tc>
                  <a:txBody>
                    <a:bodyPr/>
                    <a:lstStyle/>
                    <a:p>
                      <a:pPr algn="ctr"/>
                      <a:r>
                        <a:rPr sz="1100">
                          <a:solidFill>
                            <a:srgbClr val="0B2B4E"/>
                          </a:solidFill>
                          <a:latin typeface="Calibri"/>
                        </a:rPr>
                        <a:t>165</a:t>
                      </a:r>
                    </a:p>
                  </a:txBody>
                  <a:tcPr marL="54864" marR="54864" marT="9144" marB="9144">
                    <a:solidFill>
                      <a:srgbClr val="FFFFFF"/>
                    </a:solidFill>
                  </a:tcPr>
                </a:tc>
                <a:tc>
                  <a:txBody>
                    <a:bodyPr/>
                    <a:lstStyle/>
                    <a:p>
                      <a:pPr algn="ctr"/>
                      <a:r>
                        <a:rPr sz="1100">
                          <a:solidFill>
                            <a:srgbClr val="0B2B4E"/>
                          </a:solidFill>
                          <a:latin typeface="Calibri"/>
                        </a:rPr>
                        <a:t>234</a:t>
                      </a:r>
                    </a:p>
                  </a:txBody>
                  <a:tcPr marL="54864" marR="54864" marT="9144" marB="9144">
                    <a:solidFill>
                      <a:srgbClr val="FFFFFF"/>
                    </a:solidFill>
                  </a:tcPr>
                </a:tc>
                <a:tc>
                  <a:txBody>
                    <a:bodyPr/>
                    <a:lstStyle/>
                    <a:p>
                      <a:pPr algn="ctr"/>
                      <a:r>
                        <a:rPr sz="1100">
                          <a:solidFill>
                            <a:srgbClr val="0B2B4E"/>
                          </a:solidFill>
                          <a:latin typeface="Calibri"/>
                        </a:rPr>
                        <a:t>286</a:t>
                      </a:r>
                    </a:p>
                  </a:txBody>
                  <a:tcPr marL="54864" marR="54864" marT="9144" marB="9144">
                    <a:solidFill>
                      <a:srgbClr val="FFFFFF"/>
                    </a:solidFill>
                  </a:tcPr>
                </a:tc>
                <a:tc>
                  <a:txBody>
                    <a:bodyPr/>
                    <a:lstStyle/>
                    <a:p>
                      <a:pPr algn="ctr"/>
                      <a:r>
                        <a:rPr sz="1100">
                          <a:solidFill>
                            <a:srgbClr val="0B2B4E"/>
                          </a:solidFill>
                          <a:latin typeface="Calibri"/>
                        </a:rPr>
                        <a:t>331</a:t>
                      </a:r>
                    </a:p>
                  </a:txBody>
                  <a:tcPr marL="54864" marR="54864" marT="9144" marB="9144">
                    <a:solidFill>
                      <a:srgbClr val="FFFFFF"/>
                    </a:solidFill>
                  </a:tcPr>
                </a:tc>
              </a:tr>
              <a:tr h="260252">
                <a:tc>
                  <a:txBody>
                    <a:bodyPr/>
                    <a:lstStyle/>
                    <a:p>
                      <a:pPr algn="ctr"/>
                      <a:r>
                        <a:rPr sz="1100" b="1">
                          <a:solidFill>
                            <a:srgbClr val="FFFFFF"/>
                          </a:solidFill>
                          <a:latin typeface="Calibri"/>
                        </a:rPr>
                        <a:t>500</a:t>
                      </a:r>
                    </a:p>
                  </a:txBody>
                  <a:tcPr marL="54864" marR="54864" marT="9144" marB="9144">
                    <a:solidFill>
                      <a:srgbClr val="0B2B4E"/>
                    </a:solidFill>
                  </a:tcPr>
                </a:tc>
                <a:tc>
                  <a:txBody>
                    <a:bodyPr/>
                    <a:lstStyle/>
                    <a:p>
                      <a:pPr algn="ctr"/>
                      <a:r>
                        <a:rPr sz="1100">
                          <a:solidFill>
                            <a:srgbClr val="0B2B4E"/>
                          </a:solidFill>
                          <a:latin typeface="Calibri"/>
                        </a:rPr>
                        <a:t>204</a:t>
                      </a:r>
                    </a:p>
                  </a:txBody>
                  <a:tcPr marL="54864" marR="54864" marT="9144" marB="9144">
                    <a:solidFill>
                      <a:srgbClr val="FFFFFF"/>
                    </a:solidFill>
                  </a:tcPr>
                </a:tc>
                <a:tc>
                  <a:txBody>
                    <a:bodyPr/>
                    <a:lstStyle/>
                    <a:p>
                      <a:pPr algn="ctr"/>
                      <a:r>
                        <a:rPr sz="1100">
                          <a:solidFill>
                            <a:srgbClr val="0B2B4E"/>
                          </a:solidFill>
                          <a:latin typeface="Calibri"/>
                        </a:rPr>
                        <a:t>288</a:t>
                      </a:r>
                    </a:p>
                  </a:txBody>
                  <a:tcPr marL="54864" marR="54864" marT="9144" marB="9144">
                    <a:solidFill>
                      <a:srgbClr val="FFFFFF"/>
                    </a:solidFill>
                  </a:tcPr>
                </a:tc>
                <a:tc>
                  <a:txBody>
                    <a:bodyPr/>
                    <a:lstStyle/>
                    <a:p>
                      <a:pPr algn="ctr"/>
                      <a:r>
                        <a:rPr sz="1100">
                          <a:solidFill>
                            <a:srgbClr val="0B2B4E"/>
                          </a:solidFill>
                          <a:latin typeface="Calibri"/>
                        </a:rPr>
                        <a:t>353</a:t>
                      </a:r>
                    </a:p>
                  </a:txBody>
                  <a:tcPr marL="54864" marR="54864" marT="9144" marB="9144">
                    <a:solidFill>
                      <a:srgbClr val="FFFFFF"/>
                    </a:solidFill>
                  </a:tcPr>
                </a:tc>
                <a:tc>
                  <a:txBody>
                    <a:bodyPr/>
                    <a:lstStyle/>
                    <a:p>
                      <a:pPr algn="ctr"/>
                      <a:r>
                        <a:rPr sz="1100">
                          <a:solidFill>
                            <a:srgbClr val="0B2B4E"/>
                          </a:solidFill>
                          <a:latin typeface="Calibri"/>
                        </a:rPr>
                        <a:t>407</a:t>
                      </a:r>
                    </a:p>
                  </a:txBody>
                  <a:tcPr marL="54864" marR="54864" marT="9144" marB="9144">
                    <a:solidFill>
                      <a:srgbClr val="FFFFFF"/>
                    </a:solidFill>
                  </a:tcPr>
                </a:tc>
              </a:tr>
              <a:tr h="260252">
                <a:tc>
                  <a:txBody>
                    <a:bodyPr/>
                    <a:lstStyle/>
                    <a:p>
                      <a:pPr algn="ctr"/>
                      <a:r>
                        <a:rPr sz="1100" b="1">
                          <a:solidFill>
                            <a:srgbClr val="FFFFFF"/>
                          </a:solidFill>
                          <a:latin typeface="Calibri"/>
                        </a:rPr>
                        <a:t>1,000</a:t>
                      </a:r>
                    </a:p>
                  </a:txBody>
                  <a:tcPr marL="54864" marR="54864" marT="9144" marB="9144">
                    <a:solidFill>
                      <a:srgbClr val="0B2B4E"/>
                    </a:solidFill>
                  </a:tcPr>
                </a:tc>
                <a:tc>
                  <a:txBody>
                    <a:bodyPr/>
                    <a:lstStyle/>
                    <a:p>
                      <a:pPr algn="ctr"/>
                      <a:r>
                        <a:rPr sz="1100">
                          <a:solidFill>
                            <a:srgbClr val="0B2B4E"/>
                          </a:solidFill>
                          <a:latin typeface="Calibri"/>
                        </a:rPr>
                        <a:t>251</a:t>
                      </a:r>
                    </a:p>
                  </a:txBody>
                  <a:tcPr marL="54864" marR="54864" marT="9144" marB="9144">
                    <a:solidFill>
                      <a:srgbClr val="FFFFFF"/>
                    </a:solidFill>
                  </a:tcPr>
                </a:tc>
                <a:tc>
                  <a:txBody>
                    <a:bodyPr/>
                    <a:lstStyle/>
                    <a:p>
                      <a:pPr algn="ctr"/>
                      <a:r>
                        <a:rPr sz="1100">
                          <a:solidFill>
                            <a:srgbClr val="0B2B4E"/>
                          </a:solidFill>
                          <a:latin typeface="Calibri"/>
                        </a:rPr>
                        <a:t>354</a:t>
                      </a:r>
                    </a:p>
                  </a:txBody>
                  <a:tcPr marL="54864" marR="54864" marT="9144" marB="9144">
                    <a:solidFill>
                      <a:srgbClr val="FFFFFF"/>
                    </a:solidFill>
                  </a:tcPr>
                </a:tc>
                <a:tc>
                  <a:txBody>
                    <a:bodyPr/>
                    <a:lstStyle/>
                    <a:p>
                      <a:pPr algn="ctr"/>
                      <a:r>
                        <a:rPr sz="1100">
                          <a:solidFill>
                            <a:srgbClr val="0B2B4E"/>
                          </a:solidFill>
                          <a:latin typeface="Calibri"/>
                        </a:rPr>
                        <a:t>434</a:t>
                      </a:r>
                    </a:p>
                  </a:txBody>
                  <a:tcPr marL="54864" marR="54864" marT="9144" marB="9144">
                    <a:solidFill>
                      <a:srgbClr val="FFFFFF"/>
                    </a:solidFill>
                  </a:tcPr>
                </a:tc>
                <a:tc>
                  <a:txBody>
                    <a:bodyPr/>
                    <a:lstStyle/>
                    <a:p>
                      <a:pPr algn="ctr"/>
                      <a:r>
                        <a:rPr sz="1100">
                          <a:solidFill>
                            <a:srgbClr val="0B2B4E"/>
                          </a:solidFill>
                          <a:latin typeface="Calibri"/>
                        </a:rPr>
                        <a:t>501</a:t>
                      </a:r>
                    </a:p>
                  </a:txBody>
                  <a:tcPr marL="54864" marR="54864" marT="9144" marB="9144">
                    <a:solidFill>
                      <a:srgbClr val="FFFFFF"/>
                    </a:solidFill>
                  </a:tcPr>
                </a:tc>
              </a:tr>
              <a:tr h="260252">
                <a:tc>
                  <a:txBody>
                    <a:bodyPr/>
                    <a:lstStyle/>
                    <a:p>
                      <a:pPr algn="ctr"/>
                      <a:r>
                        <a:rPr sz="1100" b="1">
                          <a:solidFill>
                            <a:srgbClr val="FFFFFF"/>
                          </a:solidFill>
                          <a:latin typeface="Calibri"/>
                        </a:rPr>
                        <a:t>1,500</a:t>
                      </a:r>
                    </a:p>
                  </a:txBody>
                  <a:tcPr marL="54864" marR="54864" marT="9144" marB="9144">
                    <a:solidFill>
                      <a:srgbClr val="0B2B4E"/>
                    </a:solidFill>
                  </a:tcPr>
                </a:tc>
                <a:tc>
                  <a:txBody>
                    <a:bodyPr/>
                    <a:lstStyle/>
                    <a:p>
                      <a:pPr algn="ctr"/>
                      <a:r>
                        <a:rPr sz="1100">
                          <a:solidFill>
                            <a:srgbClr val="0B2B4E"/>
                          </a:solidFill>
                          <a:latin typeface="Calibri"/>
                        </a:rPr>
                        <a:t>283</a:t>
                      </a:r>
                    </a:p>
                  </a:txBody>
                  <a:tcPr marL="54864" marR="54864" marT="9144" marB="9144">
                    <a:solidFill>
                      <a:srgbClr val="FFFFFF"/>
                    </a:solidFill>
                  </a:tcPr>
                </a:tc>
                <a:tc>
                  <a:txBody>
                    <a:bodyPr/>
                    <a:lstStyle/>
                    <a:p>
                      <a:pPr algn="ctr"/>
                      <a:r>
                        <a:rPr sz="1100">
                          <a:solidFill>
                            <a:srgbClr val="0B2B4E"/>
                          </a:solidFill>
                          <a:latin typeface="Calibri"/>
                        </a:rPr>
                        <a:t>400</a:t>
                      </a:r>
                    </a:p>
                  </a:txBody>
                  <a:tcPr marL="54864" marR="54864" marT="9144" marB="9144">
                    <a:solidFill>
                      <a:srgbClr val="FFFFFF"/>
                    </a:solidFill>
                  </a:tcPr>
                </a:tc>
                <a:tc>
                  <a:txBody>
                    <a:bodyPr/>
                    <a:lstStyle/>
                    <a:p>
                      <a:pPr algn="ctr"/>
                      <a:r>
                        <a:rPr sz="1100">
                          <a:solidFill>
                            <a:srgbClr val="0B2B4E"/>
                          </a:solidFill>
                          <a:latin typeface="Calibri"/>
                        </a:rPr>
                        <a:t>490</a:t>
                      </a:r>
                    </a:p>
                  </a:txBody>
                  <a:tcPr marL="54864" marR="54864" marT="9144" marB="9144">
                    <a:solidFill>
                      <a:srgbClr val="FFFFFF"/>
                    </a:solidFill>
                  </a:tcPr>
                </a:tc>
                <a:tc>
                  <a:txBody>
                    <a:bodyPr/>
                    <a:lstStyle/>
                    <a:p>
                      <a:pPr algn="ctr"/>
                      <a:r>
                        <a:rPr sz="1100">
                          <a:solidFill>
                            <a:srgbClr val="0B2B4E"/>
                          </a:solidFill>
                          <a:latin typeface="Calibri"/>
                        </a:rPr>
                        <a:t>566</a:t>
                      </a:r>
                    </a:p>
                  </a:txBody>
                  <a:tcPr marL="54864" marR="54864" marT="9144" marB="9144">
                    <a:solidFill>
                      <a:srgbClr val="FFFFFF"/>
                    </a:solidFill>
                  </a:tcPr>
                </a:tc>
              </a:tr>
              <a:tr h="260252">
                <a:tc>
                  <a:txBody>
                    <a:bodyPr/>
                    <a:lstStyle/>
                    <a:p>
                      <a:pPr algn="ctr"/>
                      <a:r>
                        <a:rPr sz="1100" b="1">
                          <a:solidFill>
                            <a:srgbClr val="FFFFFF"/>
                          </a:solidFill>
                          <a:latin typeface="Calibri"/>
                        </a:rPr>
                        <a:t>2,000</a:t>
                      </a:r>
                    </a:p>
                  </a:txBody>
                  <a:tcPr marL="54864" marR="54864" marT="9144" marB="9144">
                    <a:solidFill>
                      <a:srgbClr val="0B2B4E"/>
                    </a:solidFill>
                  </a:tcPr>
                </a:tc>
                <a:tc>
                  <a:txBody>
                    <a:bodyPr/>
                    <a:lstStyle/>
                    <a:p>
                      <a:pPr algn="ctr"/>
                      <a:r>
                        <a:rPr sz="1100">
                          <a:solidFill>
                            <a:srgbClr val="0B2B4E"/>
                          </a:solidFill>
                          <a:latin typeface="Calibri"/>
                        </a:rPr>
                        <a:t>309</a:t>
                      </a:r>
                    </a:p>
                  </a:txBody>
                  <a:tcPr marL="54864" marR="54864" marT="9144" marB="9144">
                    <a:solidFill>
                      <a:srgbClr val="FFFFFF"/>
                    </a:solidFill>
                  </a:tcPr>
                </a:tc>
                <a:tc>
                  <a:txBody>
                    <a:bodyPr/>
                    <a:lstStyle/>
                    <a:p>
                      <a:pPr algn="ctr"/>
                      <a:r>
                        <a:rPr sz="1100">
                          <a:solidFill>
                            <a:srgbClr val="0B2B4E"/>
                          </a:solidFill>
                          <a:latin typeface="Calibri"/>
                        </a:rPr>
                        <a:t>436</a:t>
                      </a:r>
                    </a:p>
                  </a:txBody>
                  <a:tcPr marL="54864" marR="54864" marT="9144" marB="9144">
                    <a:solidFill>
                      <a:srgbClr val="FFFFFF"/>
                    </a:solidFill>
                  </a:tcPr>
                </a:tc>
                <a:tc>
                  <a:txBody>
                    <a:bodyPr/>
                    <a:lstStyle/>
                    <a:p>
                      <a:pPr algn="ctr"/>
                      <a:r>
                        <a:rPr sz="1100">
                          <a:solidFill>
                            <a:srgbClr val="0B2B4E"/>
                          </a:solidFill>
                          <a:latin typeface="Calibri"/>
                        </a:rPr>
                        <a:t>534</a:t>
                      </a:r>
                    </a:p>
                  </a:txBody>
                  <a:tcPr marL="54864" marR="54864" marT="9144" marB="9144">
                    <a:solidFill>
                      <a:srgbClr val="FFFFFF"/>
                    </a:solidFill>
                  </a:tcPr>
                </a:tc>
                <a:tc>
                  <a:txBody>
                    <a:bodyPr/>
                    <a:lstStyle/>
                    <a:p>
                      <a:pPr algn="ctr"/>
                      <a:r>
                        <a:rPr sz="1100">
                          <a:solidFill>
                            <a:srgbClr val="0B2B4E"/>
                          </a:solidFill>
                          <a:latin typeface="Calibri"/>
                        </a:rPr>
                        <a:t>617</a:t>
                      </a:r>
                    </a:p>
                  </a:txBody>
                  <a:tcPr marL="54864" marR="54864" marT="9144" marB="9144">
                    <a:solidFill>
                      <a:srgbClr val="FFFFFF"/>
                    </a:solidFill>
                  </a:tcPr>
                </a:tc>
              </a:tr>
              <a:tr h="260252">
                <a:tc>
                  <a:txBody>
                    <a:bodyPr/>
                    <a:lstStyle/>
                    <a:p>
                      <a:pPr algn="ctr"/>
                      <a:r>
                        <a:rPr sz="1100" b="1">
                          <a:solidFill>
                            <a:srgbClr val="FFFFFF"/>
                          </a:solidFill>
                          <a:latin typeface="Calibri"/>
                        </a:rPr>
                        <a:t>2,500</a:t>
                      </a:r>
                    </a:p>
                  </a:txBody>
                  <a:tcPr marL="54864" marR="54864" marT="9144" marB="9144">
                    <a:solidFill>
                      <a:srgbClr val="0B2B4E"/>
                    </a:solidFill>
                  </a:tcPr>
                </a:tc>
                <a:tc>
                  <a:txBody>
                    <a:bodyPr/>
                    <a:lstStyle/>
                    <a:p>
                      <a:pPr algn="ctr"/>
                      <a:r>
                        <a:rPr sz="1100">
                          <a:solidFill>
                            <a:srgbClr val="0B2B4E"/>
                          </a:solidFill>
                          <a:latin typeface="Calibri"/>
                        </a:rPr>
                        <a:t>330</a:t>
                      </a:r>
                    </a:p>
                  </a:txBody>
                  <a:tcPr marL="54864" marR="54864" marT="9144" marB="9144">
                    <a:solidFill>
                      <a:srgbClr val="FFFFFF"/>
                    </a:solidFill>
                  </a:tcPr>
                </a:tc>
                <a:tc>
                  <a:txBody>
                    <a:bodyPr/>
                    <a:lstStyle/>
                    <a:p>
                      <a:pPr algn="ctr"/>
                      <a:r>
                        <a:rPr sz="1100">
                          <a:solidFill>
                            <a:srgbClr val="0B2B4E"/>
                          </a:solidFill>
                          <a:latin typeface="Calibri"/>
                        </a:rPr>
                        <a:t>467</a:t>
                      </a:r>
                    </a:p>
                  </a:txBody>
                  <a:tcPr marL="54864" marR="54864" marT="9144" marB="9144">
                    <a:solidFill>
                      <a:srgbClr val="FFFFFF"/>
                    </a:solidFill>
                  </a:tcPr>
                </a:tc>
                <a:tc>
                  <a:txBody>
                    <a:bodyPr/>
                    <a:lstStyle/>
                    <a:p>
                      <a:pPr algn="ctr"/>
                      <a:r>
                        <a:rPr sz="1100">
                          <a:solidFill>
                            <a:srgbClr val="0B2B4E"/>
                          </a:solidFill>
                          <a:latin typeface="Calibri"/>
                        </a:rPr>
                        <a:t>571</a:t>
                      </a:r>
                    </a:p>
                  </a:txBody>
                  <a:tcPr marL="54864" marR="54864" marT="9144" marB="9144">
                    <a:solidFill>
                      <a:srgbClr val="FFFFFF"/>
                    </a:solidFill>
                  </a:tcPr>
                </a:tc>
                <a:tc>
                  <a:txBody>
                    <a:bodyPr/>
                    <a:lstStyle/>
                    <a:p>
                      <a:pPr algn="ctr"/>
                      <a:r>
                        <a:rPr sz="1100">
                          <a:solidFill>
                            <a:srgbClr val="0B2B4E"/>
                          </a:solidFill>
                          <a:latin typeface="Calibri"/>
                        </a:rPr>
                        <a:t>660</a:t>
                      </a:r>
                    </a:p>
                  </a:txBody>
                  <a:tcPr marL="54864" marR="54864" marT="9144" marB="9144">
                    <a:solidFill>
                      <a:srgbClr val="FFFFFF"/>
                    </a:solidFill>
                  </a:tcPr>
                </a:tc>
              </a:tr>
              <a:tr h="260252">
                <a:tc>
                  <a:txBody>
                    <a:bodyPr/>
                    <a:lstStyle/>
                    <a:p>
                      <a:pPr algn="ctr"/>
                      <a:r>
                        <a:rPr sz="1100" b="1">
                          <a:solidFill>
                            <a:srgbClr val="FFFFFF"/>
                          </a:solidFill>
                          <a:latin typeface="Calibri"/>
                        </a:rPr>
                        <a:t>3,000</a:t>
                      </a:r>
                    </a:p>
                  </a:txBody>
                  <a:tcPr marL="54864" marR="54864" marT="9144" marB="9144">
                    <a:solidFill>
                      <a:srgbClr val="0B2B4E"/>
                    </a:solidFill>
                  </a:tcPr>
                </a:tc>
                <a:tc>
                  <a:txBody>
                    <a:bodyPr/>
                    <a:lstStyle/>
                    <a:p>
                      <a:pPr algn="ctr"/>
                      <a:r>
                        <a:rPr sz="1100">
                          <a:solidFill>
                            <a:srgbClr val="0B2B4E"/>
                          </a:solidFill>
                          <a:latin typeface="Calibri"/>
                        </a:rPr>
                        <a:t>348</a:t>
                      </a:r>
                    </a:p>
                  </a:txBody>
                  <a:tcPr marL="54864" marR="54864" marT="9144" marB="9144">
                    <a:solidFill>
                      <a:srgbClr val="FFFFFF"/>
                    </a:solidFill>
                  </a:tcPr>
                </a:tc>
                <a:tc>
                  <a:txBody>
                    <a:bodyPr/>
                    <a:lstStyle/>
                    <a:p>
                      <a:pPr algn="ctr"/>
                      <a:r>
                        <a:rPr sz="1100">
                          <a:solidFill>
                            <a:srgbClr val="0B2B4E"/>
                          </a:solidFill>
                          <a:latin typeface="Calibri"/>
                        </a:rPr>
                        <a:t>493</a:t>
                      </a:r>
                    </a:p>
                  </a:txBody>
                  <a:tcPr marL="54864" marR="54864" marT="9144" marB="9144">
                    <a:solidFill>
                      <a:srgbClr val="FFFFFF"/>
                    </a:solidFill>
                  </a:tcPr>
                </a:tc>
                <a:tc>
                  <a:txBody>
                    <a:bodyPr/>
                    <a:lstStyle/>
                    <a:p>
                      <a:pPr algn="ctr"/>
                      <a:r>
                        <a:rPr sz="1100">
                          <a:solidFill>
                            <a:srgbClr val="0B2B4E"/>
                          </a:solidFill>
                          <a:latin typeface="Calibri"/>
                        </a:rPr>
                        <a:t>604</a:t>
                      </a:r>
                    </a:p>
                  </a:txBody>
                  <a:tcPr marL="54864" marR="54864" marT="9144" marB="9144">
                    <a:solidFill>
                      <a:srgbClr val="FFFFFF"/>
                    </a:solidFill>
                  </a:tcPr>
                </a:tc>
                <a:tc>
                  <a:txBody>
                    <a:bodyPr/>
                    <a:lstStyle/>
                    <a:p>
                      <a:pPr algn="ctr"/>
                      <a:r>
                        <a:rPr sz="1100">
                          <a:solidFill>
                            <a:srgbClr val="0B2B4E"/>
                          </a:solidFill>
                          <a:latin typeface="Calibri"/>
                        </a:rPr>
                        <a:t>697</a:t>
                      </a:r>
                    </a:p>
                  </a:txBody>
                  <a:tcPr marL="54864" marR="54864" marT="9144" marB="9144">
                    <a:solidFill>
                      <a:srgbClr val="FFFFFF"/>
                    </a:solidFill>
                  </a:tcPr>
                </a:tc>
              </a:tr>
              <a:tr h="260252">
                <a:tc>
                  <a:txBody>
                    <a:bodyPr/>
                    <a:lstStyle/>
                    <a:p>
                      <a:pPr algn="ctr"/>
                      <a:r>
                        <a:rPr sz="1100" b="1">
                          <a:solidFill>
                            <a:srgbClr val="FFFFFF"/>
                          </a:solidFill>
                          <a:latin typeface="Calibri"/>
                        </a:rPr>
                        <a:t>3,500</a:t>
                      </a:r>
                    </a:p>
                  </a:txBody>
                  <a:tcPr marL="54864" marR="54864" marT="9144" marB="9144">
                    <a:solidFill>
                      <a:srgbClr val="0B2B4E"/>
                    </a:solidFill>
                  </a:tcPr>
                </a:tc>
                <a:tc>
                  <a:txBody>
                    <a:bodyPr/>
                    <a:lstStyle/>
                    <a:p>
                      <a:pPr algn="ctr"/>
                      <a:r>
                        <a:rPr sz="1100">
                          <a:solidFill>
                            <a:srgbClr val="0B2B4E"/>
                          </a:solidFill>
                          <a:latin typeface="Calibri"/>
                        </a:rPr>
                        <a:t>365</a:t>
                      </a:r>
                    </a:p>
                  </a:txBody>
                  <a:tcPr marL="54864" marR="54864" marT="9144" marB="9144">
                    <a:solidFill>
                      <a:srgbClr val="FFFFFF"/>
                    </a:solidFill>
                  </a:tcPr>
                </a:tc>
                <a:tc>
                  <a:txBody>
                    <a:bodyPr/>
                    <a:lstStyle/>
                    <a:p>
                      <a:pPr algn="ctr"/>
                      <a:r>
                        <a:rPr sz="1100">
                          <a:solidFill>
                            <a:srgbClr val="0B2B4E"/>
                          </a:solidFill>
                          <a:latin typeface="Calibri"/>
                        </a:rPr>
                        <a:t>516</a:t>
                      </a:r>
                    </a:p>
                  </a:txBody>
                  <a:tcPr marL="54864" marR="54864" marT="9144" marB="9144">
                    <a:solidFill>
                      <a:srgbClr val="FFFFFF"/>
                    </a:solidFill>
                  </a:tcPr>
                </a:tc>
                <a:tc>
                  <a:txBody>
                    <a:bodyPr/>
                    <a:lstStyle/>
                    <a:p>
                      <a:pPr algn="ctr"/>
                      <a:r>
                        <a:rPr sz="1100">
                          <a:solidFill>
                            <a:srgbClr val="0B2B4E"/>
                          </a:solidFill>
                          <a:latin typeface="Calibri"/>
                        </a:rPr>
                        <a:t>632</a:t>
                      </a:r>
                    </a:p>
                  </a:txBody>
                  <a:tcPr marL="54864" marR="54864" marT="9144" marB="9144">
                    <a:solidFill>
                      <a:srgbClr val="FFFFFF"/>
                    </a:solidFill>
                  </a:tcPr>
                </a:tc>
                <a:tc>
                  <a:txBody>
                    <a:bodyPr/>
                    <a:lstStyle/>
                    <a:p>
                      <a:pPr algn="ctr"/>
                      <a:r>
                        <a:rPr sz="1100">
                          <a:solidFill>
                            <a:srgbClr val="0B2B4E"/>
                          </a:solidFill>
                          <a:latin typeface="Calibri"/>
                        </a:rPr>
                        <a:t>730</a:t>
                      </a:r>
                    </a:p>
                  </a:txBody>
                  <a:tcPr marL="54864" marR="54864" marT="9144" marB="9144">
                    <a:solidFill>
                      <a:srgbClr val="FFFFFF"/>
                    </a:solidFill>
                  </a:tcPr>
                </a:tc>
              </a:tr>
              <a:tr h="260252">
                <a:tc>
                  <a:txBody>
                    <a:bodyPr/>
                    <a:lstStyle/>
                    <a:p>
                      <a:pPr algn="ctr"/>
                      <a:r>
                        <a:rPr sz="1100" b="1">
                          <a:solidFill>
                            <a:srgbClr val="FFFFFF"/>
                          </a:solidFill>
                          <a:latin typeface="Calibri"/>
                        </a:rPr>
                        <a:t>4,000</a:t>
                      </a:r>
                    </a:p>
                  </a:txBody>
                  <a:tcPr marL="54864" marR="54864" marT="9144" marB="9144">
                    <a:solidFill>
                      <a:srgbClr val="0B2B4E"/>
                    </a:solidFill>
                  </a:tcPr>
                </a:tc>
                <a:tc>
                  <a:txBody>
                    <a:bodyPr/>
                    <a:lstStyle/>
                    <a:p>
                      <a:pPr algn="ctr"/>
                      <a:r>
                        <a:rPr sz="1100">
                          <a:solidFill>
                            <a:srgbClr val="0B2B4E"/>
                          </a:solidFill>
                          <a:latin typeface="Calibri"/>
                        </a:rPr>
                        <a:t>380</a:t>
                      </a:r>
                    </a:p>
                  </a:txBody>
                  <a:tcPr marL="54864" marR="54864" marT="9144" marB="9144">
                    <a:solidFill>
                      <a:srgbClr val="FFFFFF"/>
                    </a:solidFill>
                  </a:tcPr>
                </a:tc>
                <a:tc>
                  <a:txBody>
                    <a:bodyPr/>
                    <a:lstStyle/>
                    <a:p>
                      <a:pPr algn="ctr"/>
                      <a:r>
                        <a:rPr sz="1100">
                          <a:solidFill>
                            <a:srgbClr val="0B2B4E"/>
                          </a:solidFill>
                          <a:latin typeface="Calibri"/>
                        </a:rPr>
                        <a:t>537</a:t>
                      </a:r>
                    </a:p>
                  </a:txBody>
                  <a:tcPr marL="54864" marR="54864" marT="9144" marB="9144">
                    <a:solidFill>
                      <a:srgbClr val="FFFFFF"/>
                    </a:solidFill>
                  </a:tcPr>
                </a:tc>
                <a:tc>
                  <a:txBody>
                    <a:bodyPr/>
                    <a:lstStyle/>
                    <a:p>
                      <a:pPr algn="ctr"/>
                      <a:r>
                        <a:rPr sz="1100">
                          <a:solidFill>
                            <a:srgbClr val="0B2B4E"/>
                          </a:solidFill>
                          <a:latin typeface="Calibri"/>
                        </a:rPr>
                        <a:t>658</a:t>
                      </a:r>
                    </a:p>
                  </a:txBody>
                  <a:tcPr marL="54864" marR="54864" marT="9144" marB="9144">
                    <a:solidFill>
                      <a:srgbClr val="FFFFFF"/>
                    </a:solidFill>
                  </a:tcPr>
                </a:tc>
                <a:tc>
                  <a:txBody>
                    <a:bodyPr/>
                    <a:lstStyle/>
                    <a:p>
                      <a:pPr algn="ctr"/>
                      <a:r>
                        <a:rPr sz="1100">
                          <a:solidFill>
                            <a:srgbClr val="0B2B4E"/>
                          </a:solidFill>
                          <a:latin typeface="Calibri"/>
                        </a:rPr>
                        <a:t>760</a:t>
                      </a:r>
                    </a:p>
                  </a:txBody>
                  <a:tcPr marL="54864" marR="54864" marT="9144" marB="9144">
                    <a:solidFill>
                      <a:srgbClr val="FFFFFF"/>
                    </a:solidFill>
                  </a:tcPr>
                </a:tc>
              </a:tr>
              <a:tr h="260252">
                <a:tc>
                  <a:txBody>
                    <a:bodyPr/>
                    <a:lstStyle/>
                    <a:p>
                      <a:pPr algn="ctr"/>
                      <a:r>
                        <a:rPr sz="1100" b="1">
                          <a:solidFill>
                            <a:srgbClr val="FFFFFF"/>
                          </a:solidFill>
                          <a:latin typeface="Calibri"/>
                        </a:rPr>
                        <a:t>4,500</a:t>
                      </a:r>
                    </a:p>
                  </a:txBody>
                  <a:tcPr marL="54864" marR="54864" marT="9144" marB="9144">
                    <a:solidFill>
                      <a:srgbClr val="0B2B4E"/>
                    </a:solidFill>
                  </a:tcPr>
                </a:tc>
                <a:tc>
                  <a:txBody>
                    <a:bodyPr/>
                    <a:lstStyle/>
                    <a:p>
                      <a:pPr algn="ctr"/>
                      <a:r>
                        <a:rPr sz="1100">
                          <a:solidFill>
                            <a:srgbClr val="0B2B4E"/>
                          </a:solidFill>
                          <a:latin typeface="Calibri"/>
                        </a:rPr>
                        <a:t>394</a:t>
                      </a:r>
                    </a:p>
                  </a:txBody>
                  <a:tcPr marL="54864" marR="54864" marT="9144" marB="9144">
                    <a:solidFill>
                      <a:srgbClr val="FFFFFF"/>
                    </a:solidFill>
                  </a:tcPr>
                </a:tc>
                <a:tc>
                  <a:txBody>
                    <a:bodyPr/>
                    <a:lstStyle/>
                    <a:p>
                      <a:pPr algn="ctr"/>
                      <a:r>
                        <a:rPr sz="1100">
                          <a:solidFill>
                            <a:srgbClr val="0B2B4E"/>
                          </a:solidFill>
                          <a:latin typeface="Calibri"/>
                        </a:rPr>
                        <a:t>557</a:t>
                      </a:r>
                    </a:p>
                  </a:txBody>
                  <a:tcPr marL="54864" marR="54864" marT="9144" marB="9144">
                    <a:solidFill>
                      <a:srgbClr val="FFFFFF"/>
                    </a:solidFill>
                  </a:tcPr>
                </a:tc>
                <a:tc>
                  <a:txBody>
                    <a:bodyPr/>
                    <a:lstStyle/>
                    <a:p>
                      <a:pPr algn="ctr"/>
                      <a:r>
                        <a:rPr sz="1100">
                          <a:solidFill>
                            <a:srgbClr val="0B2B4E"/>
                          </a:solidFill>
                          <a:latin typeface="Calibri"/>
                        </a:rPr>
                        <a:t>682</a:t>
                      </a:r>
                    </a:p>
                  </a:txBody>
                  <a:tcPr marL="54864" marR="54864" marT="9144" marB="9144">
                    <a:solidFill>
                      <a:srgbClr val="FFFFFF"/>
                    </a:solidFill>
                  </a:tcPr>
                </a:tc>
                <a:tc>
                  <a:txBody>
                    <a:bodyPr/>
                    <a:lstStyle/>
                    <a:p>
                      <a:pPr algn="ctr"/>
                      <a:r>
                        <a:rPr sz="1100">
                          <a:solidFill>
                            <a:srgbClr val="0B2B4E"/>
                          </a:solidFill>
                          <a:latin typeface="Calibri"/>
                        </a:rPr>
                        <a:t>787</a:t>
                      </a:r>
                    </a:p>
                  </a:txBody>
                  <a:tcPr marL="54864" marR="54864" marT="9144" marB="9144">
                    <a:solidFill>
                      <a:srgbClr val="FFFFFF"/>
                    </a:solidFill>
                  </a:tcPr>
                </a:tc>
              </a:tr>
              <a:tr h="260256">
                <a:tc>
                  <a:txBody>
                    <a:bodyPr/>
                    <a:lstStyle/>
                    <a:p>
                      <a:pPr algn="ctr"/>
                      <a:r>
                        <a:rPr sz="1100" b="1">
                          <a:solidFill>
                            <a:srgbClr val="FFFFFF"/>
                          </a:solidFill>
                          <a:latin typeface="Calibri"/>
                        </a:rPr>
                        <a:t>5,000</a:t>
                      </a:r>
                    </a:p>
                  </a:txBody>
                  <a:tcPr marL="54864" marR="54864" marT="9144" marB="9144">
                    <a:solidFill>
                      <a:srgbClr val="0B2B4E"/>
                    </a:solidFill>
                  </a:tcPr>
                </a:tc>
                <a:tc>
                  <a:txBody>
                    <a:bodyPr/>
                    <a:lstStyle/>
                    <a:p>
                      <a:pPr algn="ctr"/>
                      <a:r>
                        <a:rPr sz="1100">
                          <a:solidFill>
                            <a:srgbClr val="0B2B4E"/>
                          </a:solidFill>
                          <a:latin typeface="Calibri"/>
                        </a:rPr>
                        <a:t>406</a:t>
                      </a:r>
                    </a:p>
                  </a:txBody>
                  <a:tcPr marL="54864" marR="54864" marT="9144" marB="9144">
                    <a:solidFill>
                      <a:srgbClr val="FFFFFF"/>
                    </a:solidFill>
                  </a:tcPr>
                </a:tc>
                <a:tc>
                  <a:txBody>
                    <a:bodyPr/>
                    <a:lstStyle/>
                    <a:p>
                      <a:pPr algn="ctr"/>
                      <a:r>
                        <a:rPr sz="1100">
                          <a:solidFill>
                            <a:srgbClr val="0B2B4E"/>
                          </a:solidFill>
                          <a:latin typeface="Calibri"/>
                        </a:rPr>
                        <a:t>574</a:t>
                      </a:r>
                    </a:p>
                  </a:txBody>
                  <a:tcPr marL="54864" marR="54864" marT="9144" marB="9144">
                    <a:solidFill>
                      <a:srgbClr val="FFFFFF"/>
                    </a:solidFill>
                  </a:tcPr>
                </a:tc>
                <a:tc>
                  <a:txBody>
                    <a:bodyPr/>
                    <a:lstStyle/>
                    <a:p>
                      <a:pPr algn="ctr"/>
                      <a:r>
                        <a:rPr sz="1100">
                          <a:solidFill>
                            <a:srgbClr val="0B2B4E"/>
                          </a:solidFill>
                          <a:latin typeface="Calibri"/>
                        </a:rPr>
                        <a:t>703</a:t>
                      </a:r>
                    </a:p>
                  </a:txBody>
                  <a:tcPr marL="54864" marR="54864" marT="9144" marB="9144">
                    <a:solidFill>
                      <a:srgbClr val="FFFFFF"/>
                    </a:solidFill>
                  </a:tcPr>
                </a:tc>
                <a:tc>
                  <a:txBody>
                    <a:bodyPr/>
                    <a:lstStyle/>
                    <a:p>
                      <a:pPr algn="ctr"/>
                      <a:r>
                        <a:rPr sz="1100">
                          <a:solidFill>
                            <a:srgbClr val="0B2B4E"/>
                          </a:solidFill>
                          <a:latin typeface="Calibri"/>
                        </a:rPr>
                        <a:t>812</a:t>
                      </a:r>
                    </a:p>
                  </a:txBody>
                  <a:tcPr marL="54864" marR="54864" marT="9144" marB="9144">
                    <a:solidFill>
                      <a:srgbClr val="FFFFFF"/>
                    </a:solidFill>
                  </a:tcPr>
                </a:tc>
              </a:tr>
            </a:tbl>
          </a:graphicData>
        </a:graphic>
      </p:graphicFrame>
      <p:sp>
        <p:nvSpPr>
          <p:cNvPr id="10" name="TextBox 9"/>
          <p:cNvSpPr txBox="1"/>
          <p:nvPr/>
        </p:nvSpPr>
        <p:spPr>
          <a:xfrm>
            <a:off x="8732520" y="5297119"/>
            <a:ext cx="2670048" cy="228600"/>
          </a:xfrm>
          <a:prstGeom prst="rect">
            <a:avLst/>
          </a:prstGeom>
          <a:noFill/>
        </p:spPr>
        <p:txBody>
          <a:bodyPr wrap="square" lIns="0" rIns="0" tIns="0" bIns="0">
            <a:spAutoFit/>
          </a:bodyPr>
          <a:lstStyle/>
          <a:p>
            <a:pPr algn="ctr"/>
            <a:r>
              <a:rPr sz="1100" b="0" i="1">
                <a:solidFill>
                  <a:srgbClr val="555B66"/>
                </a:solidFill>
                <a:latin typeface="Calibri"/>
              </a:rPr>
              <a:t>Production-function table  (</a:t>
            </a:r>
            <a:r>
              <a:rPr sz="1100" b="0" i="1" u="sng">
                <a:latin typeface="Calibri"/>
                <a:solidFill>
                  <a:srgbClr val="0563C1"/>
                </a:solidFill>
                <a:hlinkClick r:id="rId2" action="ppaction://hlinksldjump"/>
              </a:rPr>
              <a:t>link</a:t>
            </a:r>
            <a:r>
              <a:rPr sz="1100" b="0" i="1">
                <a:solidFill>
                  <a:srgbClr val="555B66"/>
                </a:solidFill>
                <a:latin typeface="Calibri"/>
              </a:rPr>
              <a:t>)</a:t>
            </a:r>
          </a:p>
        </p:txBody>
      </p:sp>
      <p:sp>
        <p:nvSpPr>
          <p:cNvPr id="11" name="TextBox 10"/>
          <p:cNvSpPr txBox="1"/>
          <p:nvPr/>
        </p:nvSpPr>
        <p:spPr>
          <a:xfrm>
            <a:off x="8571585" y="1544421"/>
            <a:ext cx="3132734" cy="245973"/>
          </a:xfrm>
          <a:prstGeom prst="rect">
            <a:avLst/>
          </a:prstGeom>
          <a:noFill/>
        </p:spPr>
        <p:txBody>
          <a:bodyPr wrap="square" lIns="0" rIns="0" tIns="0" bIns="0">
            <a:spAutoFit/>
          </a:bodyPr>
          <a:lstStyle/>
          <a:p>
            <a:pPr algn="ctr"/>
            <a:r>
              <a:rPr sz="1600" b="0" i="1">
                <a:solidFill>
                  <a:srgbClr val="0B2B4E"/>
                </a:solidFill>
                <a:latin typeface="Calibri"/>
              </a:rPr>
              <a:t>K  (robots)</a:t>
            </a:r>
          </a:p>
        </p:txBody>
      </p:sp>
      <p:sp>
        <p:nvSpPr>
          <p:cNvPr id="12" name="TextBox 11"/>
          <p:cNvSpPr txBox="1"/>
          <p:nvPr/>
        </p:nvSpPr>
        <p:spPr>
          <a:xfrm rot="16200000">
            <a:off x="7973568" y="3408883"/>
            <a:ext cx="996696" cy="245973"/>
          </a:xfrm>
          <a:prstGeom prst="rect">
            <a:avLst/>
          </a:prstGeom>
          <a:noFill/>
        </p:spPr>
        <p:txBody>
          <a:bodyPr wrap="square" lIns="0" rIns="0" tIns="0" bIns="0">
            <a:spAutoFit/>
          </a:bodyPr>
          <a:lstStyle/>
          <a:p>
            <a:pPr algn="ctr"/>
            <a:r>
              <a:rPr sz="1600" b="0" i="1">
                <a:solidFill>
                  <a:srgbClr val="0B2B4E"/>
                </a:solidFill>
                <a:latin typeface="Calibri"/>
              </a:rPr>
              <a:t>L  (workers)</a:t>
            </a:r>
          </a:p>
        </p:txBody>
      </p:sp>
      <p:sp>
        <p:nvSpPr>
          <p:cNvPr id="13" name="Rectangle 12"/>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8944" y="5715000"/>
            <a:ext cx="3072384" cy="658368"/>
          </a:xfrm>
          <a:prstGeom prst="rect">
            <a:avLst/>
          </a:prstGeom>
          <a:noFill/>
        </p:spPr>
        <p:txBody>
          <a:bodyPr wrap="none" anchor="ctr" lIns="45720" rIns="45720" tIns="18288" bIns="18288">
            <a:spAutoFit/>
          </a:bodyPr>
          <a:lstStyle/>
          <a:p>
            <a:pPr algn="ctr"/>
            <a:r>
              <a:rPr sz="2800" b="1">
                <a:solidFill>
                  <a:srgbClr val="0B2B4E"/>
                </a:solidFill>
                <a:latin typeface="Calibri"/>
              </a:rPr>
              <a:t>Discussion Break</a:t>
            </a:r>
          </a:p>
        </p:txBody>
      </p:sp>
      <p:sp>
        <p:nvSpPr>
          <p:cNvPr id="15" name="Rectangle 1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8" name="TextBox 17"/>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What Is Rivian's MRPL at 2,300 Employees?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19_rId4.png"/>
          <p:cNvPicPr>
            <a:picLocks noChangeAspect="1"/>
          </p:cNvPicPr>
          <p:nvPr/>
        </p:nvPicPr>
        <p:blipFill>
          <a:blip r:embed="rId2"/>
          <a:stretch>
            <a:fillRect/>
          </a:stretch>
        </p:blipFill>
        <p:spPr>
          <a:xfrm>
            <a:off x="2926080" y="1431036"/>
            <a:ext cx="6217920" cy="4663440"/>
          </a:xfrm>
          <a:prstGeom prst="rect">
            <a:avLst/>
          </a:prstGeom>
          <a:effectLst>
            <a:outerShdw blurRad="50800" dist="38100" dir="2700000" algn="tl" rotWithShape="0">
              <a:srgbClr val="000000">
                <a:alpha val="45000"/>
              </a:srgbClr>
            </a:outerShdw>
          </a:effectLst>
        </p:spPr>
      </p:pic>
      <p:sp>
        <p:nvSpPr>
          <p:cNvPr id="8" name="TextBox 7"/>
          <p:cNvSpPr txBox="1"/>
          <p:nvPr/>
        </p:nvSpPr>
        <p:spPr>
          <a:xfrm>
            <a:off x="251999" y="6400800"/>
            <a:ext cx="11687697" cy="274320"/>
          </a:xfrm>
          <a:prstGeom prst="rect">
            <a:avLst/>
          </a:prstGeom>
          <a:noFill/>
        </p:spPr>
        <p:txBody>
          <a:bodyPr wrap="square" lIns="0" rIns="0" tIns="0" bIns="0">
            <a:spAutoFit/>
          </a:bodyPr>
          <a:lstStyle/>
          <a:p>
            <a:pPr algn="ctr"/>
            <a:r>
              <a:rPr sz="1400" b="0" i="1">
                <a:solidFill>
                  <a:srgbClr val="555B66"/>
                </a:solidFill>
                <a:latin typeface="Calibri"/>
              </a:rPr>
              <a:t>Respond at PollEv.com/nvoigtlaender</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2" name="TextBox 11"/>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21</a:t>
            </a:r>
          </a:p>
        </p:txBody>
      </p:sp>
      <p:sp>
        <p:nvSpPr>
          <p:cNvPr id="13" name="Rounded Rectangle 12"/>
          <p:cNvSpPr/>
          <p:nvPr/>
        </p:nvSpPr>
        <p:spPr>
          <a:xfrm>
            <a:off x="10579984" y="5907024"/>
            <a:ext cx="1359712" cy="466344"/>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79984" y="5907024"/>
            <a:ext cx="1359712" cy="466344"/>
          </a:xfrm>
          <a:prstGeom prst="rect">
            <a:avLst/>
          </a:prstGeom>
          <a:noFill/>
        </p:spPr>
        <p:txBody>
          <a:bodyPr wrap="square" lIns="0" rIns="0" tIns="0" bIns="0" anchor="ctr">
            <a:spAutoFit/>
          </a:bodyPr>
          <a:lstStyle/>
          <a:p>
            <a:pPr algn="ctr"/>
            <a:r>
              <a:rPr sz="1600" b="1" i="0">
                <a:solidFill>
                  <a:srgbClr val="0B2B4E"/>
                </a:solidFill>
                <a:latin typeface="Calibri"/>
              </a:rPr>
              <a:t>POLL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Solution:  MRPL of Rivian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572000"/>
          </a:xfrm>
          <a:prstGeom prst="rect">
            <a:avLst/>
          </a:prstGeom>
          <a:noFill/>
        </p:spPr>
        <p:txBody>
          <a:bodyPr wrap="square" lIns="0" rIns="0" tIns="0" bIns="0">
            <a:sp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Check which interval contains the current workforce  (L = 2,300)</a:t>
            </a:r>
          </a:p>
          <a:p>
            <a:pPr algn="l" lvl="1" marL="457200">
              <a:spcBef>
                <a:spcPts val="300"/>
              </a:spcBef>
              <a:buNone/>
            </a:pPr>
            <a:r>
              <a:rPr sz="2200">
                <a:solidFill>
                  <a:srgbClr val="555B66"/>
                </a:solidFill>
                <a:latin typeface="Calibri"/>
              </a:rPr>
              <a:t>→  use the 2,000 → 2,500 step</a:t>
            </a:r>
          </a:p>
          <a:p>
            <a:pPr algn="l"/>
            <a:r>
              <a:rPr>
                <a:latin typeface="Calibri"/>
              </a:rPr>
              <a:t>From the production-function table  (</a:t>
            </a:r>
            <a:r>
              <a:rPr u="sng">
                <a:latin typeface="Calibri"/>
                <a:solidFill>
                  <a:srgbClr val="0563C1"/>
                </a:solidFill>
                <a:hlinkClick r:id="rId2" action="ppaction://hlinksldjump"/>
              </a:rPr>
              <a:t>link</a:t>
            </a:r>
            <a:r>
              <a:rPr>
                <a:latin typeface="Calibri"/>
              </a:rPr>
              <a:t>):</a:t>
            </a:r>
          </a:p>
          <a:p>
            <a:pPr algn="l" lvl="1"/>
            <a:r>
              <a:rPr>
                <a:latin typeface="Calibri"/>
              </a:rPr>
              <a:t>Q (2,000)  =  309 R1 per week</a:t>
            </a:r>
          </a:p>
          <a:p>
            <a:pPr algn="l" lvl="1"/>
            <a:r>
              <a:rPr>
                <a:latin typeface="Calibri"/>
              </a:rPr>
              <a:t>Q (2,500)  =  330 R1 per week</a:t>
            </a:r>
          </a:p>
          <a:p>
            <a:pPr algn="l"/>
            <a:r>
              <a:rPr>
                <a:latin typeface="Calibri"/>
              </a:rPr>
              <a:t>Compute MPL  =  ΔQ / ΔL</a:t>
            </a:r>
          </a:p>
          <a:p>
            <a:pPr algn="l" lvl="1"/>
            <a:r>
              <a:rPr>
                <a:latin typeface="Calibri"/>
              </a:rPr>
              <a:t>MPL  =  (330 − 309) / 500  =  0.042 cars per worker per week</a:t>
            </a:r>
          </a:p>
          <a:p>
            <a:pPr algn="l"/>
            <a:r>
              <a:rPr>
                <a:latin typeface="Calibri"/>
              </a:rPr>
              <a:t>MRPL  =  MPL × MR</a:t>
            </a:r>
          </a:p>
          <a:p>
            <a:pPr algn="l" lvl="1"/>
            <a:r>
              <a:rPr>
                <a:latin typeface="Calibri"/>
              </a:rPr>
              <a:t>MR per car (net of material costs) is ≈ $45,000 </a:t>
            </a:r>
          </a:p>
          <a:p>
            <a:pPr algn="l" lvl="1" marL="457200">
              <a:spcBef>
                <a:spcPts val="1200"/>
              </a:spcBef>
              <a:buNone/>
            </a:pPr>
            <a:r>
              <a:rPr sz="2000" b="0" i="0">
                <a:solidFill>
                  <a:srgbClr val="555B66"/>
                </a:solidFill>
                <a:latin typeface="Calibri"/>
                <a:sym typeface="Wingdings"/>
              </a:rPr>
              <a:t></a:t>
            </a:r>
            <a:r>
              <a:rPr sz="2000" b="0" i="0">
                <a:solidFill>
                  <a:srgbClr val="555B66"/>
                </a:solidFill>
                <a:latin typeface="Calibri"/>
              </a:rPr>
              <a:t>  </a:t>
            </a:r>
            <a:r>
              <a:rPr sz="2000" b="1" i="0" u="sng">
                <a:solidFill>
                  <a:srgbClr val="555B66"/>
                </a:solidFill>
                <a:latin typeface="Calibri"/>
              </a:rPr>
              <a:t>Solution</a:t>
            </a:r>
            <a:r>
              <a:rPr sz="2000" b="0" i="0">
                <a:solidFill>
                  <a:srgbClr val="555B66"/>
                </a:solidFill>
                <a:latin typeface="Calibri"/>
              </a:rPr>
              <a:t>: </a:t>
            </a:r>
            <a:r>
              <a:rPr sz="2000" b="1" i="0">
                <a:solidFill>
                  <a:srgbClr val="555B66"/>
                </a:solidFill>
                <a:latin typeface="Calibri"/>
              </a:rPr>
              <a:t>MRPL  =  </a:t>
            </a:r>
            <a:r>
              <a:rPr sz="2000" b="0" i="0">
                <a:solidFill>
                  <a:srgbClr val="555B66"/>
                </a:solidFill>
                <a:latin typeface="Calibri"/>
              </a:rPr>
              <a:t>0.042 × $45,000  =  </a:t>
            </a:r>
            <a:r>
              <a:rPr sz="2000" b="1" i="0" u="sng">
                <a:solidFill>
                  <a:srgbClr val="555B66"/>
                </a:solidFill>
                <a:latin typeface="Calibri"/>
              </a:rPr>
              <a:t>$1,890</a:t>
            </a:r>
            <a:r>
              <a:rPr sz="2000" b="0" i="0">
                <a:solidFill>
                  <a:srgbClr val="555B66"/>
                </a:solidFill>
                <a:latin typeface="Calibri"/>
              </a:rPr>
              <a:t> per worker per week</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1" name="TextBox 10"/>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The Optimal Hiring Rule in the Short Run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5486400" cy="3931920"/>
          </a:xfrm>
          <a:prstGeom prst="rect">
            <a:avLst/>
          </a:prstGeom>
          <a:noFill/>
        </p:spPr>
        <p:txBody>
          <a:bodyPr wrap="square" lIns="0" rIns="0" tIns="0" bIns="0">
            <a:sp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Should Rivian hire more workers?</a:t>
            </a:r>
          </a:p>
          <a:p>
            <a:pPr algn="l" lvl="1"/>
            <a:r>
              <a:rPr>
                <a:latin typeface="Calibri"/>
              </a:rPr>
              <a:t>Suppose the weekly wage  (incl. benefits)  is $1,500 per worker</a:t>
            </a:r>
          </a:p>
          <a:p>
            <a:pPr algn="l"/>
            <a:r>
              <a:rPr>
                <a:latin typeface="Calibri"/>
              </a:rPr>
              <a:t>Hiring one more worker:</a:t>
            </a:r>
          </a:p>
          <a:p>
            <a:pPr algn="l" lvl="1"/>
            <a:r>
              <a:rPr>
                <a:latin typeface="Calibri"/>
              </a:rPr>
              <a:t>Revenue rises by MRPL</a:t>
            </a:r>
          </a:p>
          <a:p>
            <a:pPr algn="l" lvl="1"/>
            <a:r>
              <a:rPr>
                <a:latin typeface="Calibri"/>
              </a:rPr>
              <a:t>Wage bill rises by w</a:t>
            </a:r>
          </a:p>
          <a:p>
            <a:pPr algn="l" lvl="1"/>
            <a:r>
              <a:rPr>
                <a:latin typeface="Calibri"/>
              </a:rPr>
              <a:t>Profit rises whenever MRPL &gt; w</a:t>
            </a:r>
          </a:p>
          <a:p>
            <a:pPr algn="l"/>
            <a:r>
              <a:rPr>
                <a:latin typeface="Calibri"/>
              </a:rPr>
              <a:t>Optimum:  hire L*  where  MRPL = w</a:t>
            </a:r>
          </a:p>
        </p:txBody>
      </p:sp>
      <p:sp>
        <p:nvSpPr>
          <p:cNvPr id="8" name="Rectangle 7"/>
          <p:cNvSpPr/>
          <p:nvPr/>
        </p:nvSpPr>
        <p:spPr>
          <a:xfrm>
            <a:off x="6854342" y="1783080"/>
            <a:ext cx="4782312" cy="3072384"/>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6854342" y="1783080"/>
          <a:ext cx="4782312" cy="3072384"/>
        </p:xfrm>
        <a:graphic>
          <a:graphicData uri="http://schemas.openxmlformats.org/drawingml/2006/chart">
            <c:chart xmlns:c="http://schemas.openxmlformats.org/drawingml/2006/chart" r:id="rId2"/>
          </a:graphicData>
        </a:graphic>
      </p:graphicFrame>
      <p:cxnSp>
        <p:nvCxnSpPr>
          <p:cNvPr id="10" name="Connector 9"/>
          <p:cNvCxnSpPr/>
          <p:nvPr/>
        </p:nvCxnSpPr>
        <p:spPr>
          <a:xfrm>
            <a:off x="10012867" y="3683441"/>
            <a:ext cx="0" cy="738202"/>
          </a:xfrm>
          <a:prstGeom prst="line">
            <a:avLst/>
          </a:prstGeom>
          <a:ln w="19050">
            <a:solidFill>
              <a:srgbClr val="0B2B4E"/>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990734" y="4147718"/>
            <a:ext cx="350215" cy="245973"/>
          </a:xfrm>
          <a:prstGeom prst="rect">
            <a:avLst/>
          </a:prstGeom>
          <a:noFill/>
        </p:spPr>
        <p:txBody>
          <a:bodyPr wrap="none" lIns="0" rIns="0" tIns="0" bIns="0">
            <a:spAutoFit/>
          </a:bodyPr>
          <a:lstStyle/>
          <a:p>
            <a:pPr algn="ctr"/>
            <a:r>
              <a:rPr sz="1600" b="1" i="1">
                <a:solidFill>
                  <a:srgbClr val="0B2B4E"/>
                </a:solidFill>
                <a:latin typeface="Calibri"/>
              </a:rPr>
              <a:t>L*</a:t>
            </a:r>
          </a:p>
        </p:txBody>
      </p:sp>
      <p:sp>
        <p:nvSpPr>
          <p:cNvPr id="12" name="12-Point Star 11"/>
          <p:cNvSpPr/>
          <p:nvPr/>
        </p:nvSpPr>
        <p:spPr>
          <a:xfrm>
            <a:off x="1447495" y="5293461"/>
            <a:ext cx="1463040" cy="960120"/>
          </a:xfrm>
          <a:prstGeom prst="star12">
            <a:avLst/>
          </a:prstGeom>
          <a:solidFill>
            <a:srgbClr val="E09F3E"/>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703527" y="5509488"/>
            <a:ext cx="950976" cy="528066"/>
          </a:xfrm>
          <a:prstGeom prst="rect">
            <a:avLst/>
          </a:prstGeom>
          <a:noFill/>
        </p:spPr>
        <p:txBody>
          <a:bodyPr wrap="square" lIns="0" rIns="0" tIns="0" bIns="0" anchor="ctr">
            <a:spAutoFit/>
          </a:bodyPr>
          <a:lstStyle/>
          <a:p>
            <a:pPr algn="ctr"/>
            <a:r>
              <a:rPr sz="1400" b="1">
                <a:solidFill>
                  <a:srgbClr val="0B2B4E"/>
                </a:solidFill>
                <a:latin typeface="Calibri"/>
              </a:rPr>
              <a:t>MB = MC</a:t>
            </a:r>
          </a:p>
          <a:p>
            <a:pPr algn="ctr"/>
            <a:r>
              <a:rPr sz="1100" i="1" b="1">
                <a:solidFill>
                  <a:srgbClr val="0B2B4E"/>
                </a:solidFill>
                <a:latin typeface="Calibri"/>
              </a:rPr>
              <a:t>(of labor)</a:t>
            </a:r>
          </a:p>
        </p:txBody>
      </p:sp>
      <p:sp>
        <p:nvSpPr>
          <p:cNvPr id="14" name="Rounded Rectangle 13"/>
          <p:cNvSpPr/>
          <p:nvPr/>
        </p:nvSpPr>
        <p:spPr>
          <a:xfrm>
            <a:off x="3139135" y="5463540"/>
            <a:ext cx="7171639" cy="50292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Optimal Number of Workers:  L*  where:  </a:t>
            </a:r>
            <a:r>
              <a:rPr sz="2400" b="1">
                <a:solidFill>
                  <a:srgbClr val="FFFFFF"/>
                </a:solidFill>
                <a:latin typeface="Calibri"/>
              </a:rPr>
              <a:t>MRPL  =  w</a:t>
            </a:r>
          </a:p>
        </p:txBody>
      </p:sp>
      <p:cxnSp>
        <p:nvCxnSpPr>
          <p:cNvPr id="15" name="Connector 14"/>
          <p:cNvCxnSpPr/>
          <p:nvPr/>
        </p:nvCxnSpPr>
        <p:spPr>
          <a:xfrm flipV="1">
            <a:off x="2910535" y="5715000"/>
            <a:ext cx="228600" cy="58521"/>
          </a:xfrm>
          <a:prstGeom prst="line">
            <a:avLst/>
          </a:prstGeom>
          <a:ln w="2540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9" name="TextBox 18"/>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Optimal Hiring Rule in the Short Run:  Numerical 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331366"/>
            <a:ext cx="11687697" cy="411480"/>
          </a:xfrm>
          <a:prstGeom prst="rect">
            <a:avLst/>
          </a:prstGeom>
          <a:noFill/>
        </p:spPr>
        <p:txBody>
          <a:bodyPr wrap="square" lIns="45720" rIns="45720" tIns="0" bIns="0">
            <a:spAutoFit/>
          </a:bodyPr>
          <a:lstStyle/>
          <a:p xmlns:m="http://schemas.openxmlformats.org/officeDocument/2006/math" xmlns:a14="http://schemas.microsoft.com/office/drawing/2010/main">
            <a:r>
              <a:rPr lang="en-US" sz="2400" b="1">
                <a:solidFill>
                  <a:srgbClr val="0B2B4E"/>
                </a:solidFill>
                <a:latin typeface="Calibri"/>
              </a:rPr>
              <a:t>▪  </a:t>
            </a:r>
            <a:r>
              <a:rPr lang="en-US" sz="2400" b="1">
                <a:solidFill>
                  <a:srgbClr val="0B2B4E"/>
                </a:solidFill>
                <a:latin typeface="Calibri"/>
              </a:rPr>
              <a:t>Compute MRPL for each L-interval</a:t>
            </a:r>
            <a:r>
              <a:rPr lang="en-US" sz="2200">
                <a:solidFill>
                  <a:srgbClr val="0B2B4E"/>
                </a:solidFill>
                <a:latin typeface="Calibri"/>
              </a:rPr>
              <a:t>  (0-250, 250-500, 500-1,000…)</a:t>
            </a:r>
            <a:endParaRPr lang="en-US"/>
          </a:p>
        </p:txBody>
      </p:sp>
      <p:sp>
        <p:nvSpPr>
          <p:cNvPr id="8" name="Rectangle 7"/>
          <p:cNvSpPr/>
          <p:nvPr/>
        </p:nvSpPr>
        <p:spPr>
          <a:xfrm>
            <a:off x="694944" y="1826971"/>
            <a:ext cx="5349240" cy="424373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94944" y="1826971"/>
          <a:ext cx="5349240" cy="4243730"/>
        </p:xfrm>
        <a:graphic>
          <a:graphicData uri="http://schemas.openxmlformats.org/drawingml/2006/table">
            <a:tbl>
              <a:tblPr firstRow="1" bandRow="1">
                <a:tableStyleId>{5C22544A-7EE6-4342-B048-85BDC9FD1C3A}</a:tableStyleId>
              </a:tblPr>
              <a:tblGrid>
                <a:gridCol w="731520"/>
                <a:gridCol w="594360"/>
                <a:gridCol w="731520"/>
                <a:gridCol w="777240"/>
                <a:gridCol w="685800"/>
                <a:gridCol w="868680"/>
                <a:gridCol w="960120"/>
              </a:tblGrid>
              <a:tr h="326440">
                <a:tc>
                  <a:txBody>
                    <a:bodyPr/>
                    <a:lstStyle/>
                    <a:p>
                      <a:pPr algn="ctr"/>
                      <a:r>
                        <a:rPr sz="1600" b="1">
                          <a:solidFill>
                            <a:srgbClr val="FFFFFF"/>
                          </a:solidFill>
                          <a:latin typeface="Calibri"/>
                        </a:rPr>
                        <a:t>L</a:t>
                      </a:r>
                    </a:p>
                  </a:txBody>
                  <a:tcPr marL="91440" marR="91440" marT="27432" marB="27432" anchor="ctr">
                    <a:solidFill>
                      <a:srgbClr val="0B2B4E"/>
                    </a:solidFill>
                  </a:tcPr>
                </a:tc>
                <a:tc>
                  <a:txBody>
                    <a:bodyPr/>
                    <a:lstStyle/>
                    <a:p>
                      <a:pPr algn="ctr"/>
                      <a:r>
                        <a:rPr sz="1600" b="1">
                          <a:solidFill>
                            <a:srgbClr val="FFFFFF"/>
                          </a:solidFill>
                          <a:latin typeface="Calibri"/>
                        </a:rPr>
                        <a:t>K</a:t>
                      </a:r>
                    </a:p>
                  </a:txBody>
                  <a:tcPr marL="91440" marR="91440" marT="27432" marB="27432" anchor="ctr">
                    <a:solidFill>
                      <a:srgbClr val="0B2B4E"/>
                    </a:solidFill>
                  </a:tcPr>
                </a:tc>
                <a:tc>
                  <a:txBody>
                    <a:bodyPr/>
                    <a:lstStyle/>
                    <a:p>
                      <a:pPr algn="ctr"/>
                      <a:r>
                        <a:rPr sz="1600" b="1">
                          <a:solidFill>
                            <a:srgbClr val="FFFFFF"/>
                          </a:solidFill>
                          <a:latin typeface="Calibri"/>
                        </a:rPr>
                        <a:t>Q</a:t>
                      </a:r>
                    </a:p>
                  </a:txBody>
                  <a:tcPr marL="91440" marR="91440" marT="27432" marB="27432" anchor="ctr">
                    <a:solidFill>
                      <a:srgbClr val="0B2B4E"/>
                    </a:solidFill>
                  </a:tcPr>
                </a:tc>
                <a:tc>
                  <a:txBody>
                    <a:bodyPr/>
                    <a:lstStyle/>
                    <a:p>
                      <a:pPr algn="ctr"/>
                      <a:r>
                        <a:rPr sz="1600" b="1">
                          <a:solidFill>
                            <a:srgbClr val="FFFFFF"/>
                          </a:solidFill>
                          <a:latin typeface="Calibri"/>
                        </a:rPr>
                        <a:t>ΔQ</a:t>
                      </a:r>
                    </a:p>
                  </a:txBody>
                  <a:tcPr marL="91440" marR="91440" marT="27432" marB="27432" anchor="ctr">
                    <a:solidFill>
                      <a:srgbClr val="0B2B4E"/>
                    </a:solidFill>
                  </a:tcPr>
                </a:tc>
                <a:tc>
                  <a:txBody>
                    <a:bodyPr/>
                    <a:lstStyle/>
                    <a:p>
                      <a:pPr algn="ctr"/>
                      <a:r>
                        <a:rPr sz="1600" b="1">
                          <a:solidFill>
                            <a:srgbClr val="FFFFFF"/>
                          </a:solidFill>
                          <a:latin typeface="Calibri"/>
                        </a:rPr>
                        <a:t>ΔL</a:t>
                      </a:r>
                    </a:p>
                  </a:txBody>
                  <a:tcPr marL="91440" marR="91440" marT="27432" marB="27432" anchor="ctr">
                    <a:solidFill>
                      <a:srgbClr val="0B2B4E"/>
                    </a:solidFill>
                  </a:tcPr>
                </a:tc>
                <a:tc>
                  <a:txBody>
                    <a:bodyPr/>
                    <a:lstStyle/>
                    <a:p>
                      <a:pPr algn="ctr"/>
                      <a:r>
                        <a:rPr sz="1600" b="1">
                          <a:solidFill>
                            <a:srgbClr val="FFFFFF"/>
                          </a:solidFill>
                          <a:latin typeface="Calibri"/>
                        </a:rPr>
                        <a:t>MPL</a:t>
                      </a:r>
                    </a:p>
                  </a:txBody>
                  <a:tcPr marL="91440" marR="91440" marT="27432" marB="27432" anchor="ctr">
                    <a:solidFill>
                      <a:srgbClr val="0B2B4E"/>
                    </a:solidFill>
                  </a:tcPr>
                </a:tc>
                <a:tc>
                  <a:txBody>
                    <a:bodyPr/>
                    <a:lstStyle/>
                    <a:p>
                      <a:pPr algn="ctr"/>
                      <a:r>
                        <a:rPr sz="1600" b="1">
                          <a:solidFill>
                            <a:srgbClr val="FFFFFF"/>
                          </a:solidFill>
                          <a:latin typeface="Calibri"/>
                        </a:rPr>
                        <a:t>MRPL</a:t>
                      </a:r>
                    </a:p>
                  </a:txBody>
                  <a:tcPr marL="91440" marR="91440" marT="27432" marB="27432" anchor="ctr">
                    <a:solidFill>
                      <a:srgbClr val="0B2B4E"/>
                    </a:solidFill>
                  </a:tcPr>
                </a:tc>
              </a:tr>
              <a:tr h="326440">
                <a:tc>
                  <a:txBody>
                    <a:bodyPr/>
                    <a:lstStyle/>
                    <a:p>
                      <a:pPr algn="ctr"/>
                      <a:r>
                        <a:rPr sz="1600">
                          <a:solidFill>
                            <a:srgbClr val="000000"/>
                          </a:solidFill>
                          <a:latin typeface="Calibri"/>
                        </a:rPr>
                        <a:t>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0</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440">
                <a:tc>
                  <a:txBody>
                    <a:bodyPr/>
                    <a:lstStyle/>
                    <a:p>
                      <a:pPr algn="ctr"/>
                      <a:r>
                        <a:rPr sz="1600">
                          <a:solidFill>
                            <a:srgbClr val="000000"/>
                          </a:solidFill>
                          <a:latin typeface="Calibri"/>
                        </a:rPr>
                        <a:t>250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165</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440">
                <a:tc>
                  <a:txBody>
                    <a:bodyPr/>
                    <a:lstStyle/>
                    <a:p>
                      <a:pPr algn="ctr"/>
                      <a:r>
                        <a:rPr sz="1600">
                          <a:solidFill>
                            <a:srgbClr val="000000"/>
                          </a:solidFill>
                          <a:latin typeface="Calibri"/>
                        </a:rPr>
                        <a:t>500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204</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440">
                <a:tc>
                  <a:txBody>
                    <a:bodyPr/>
                    <a:lstStyle/>
                    <a:p>
                      <a:pPr algn="ctr"/>
                      <a:r>
                        <a:rPr sz="1600">
                          <a:solidFill>
                            <a:srgbClr val="000000"/>
                          </a:solidFill>
                          <a:latin typeface="Calibri"/>
                        </a:rPr>
                        <a:t>1,000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251</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440">
                <a:tc>
                  <a:txBody>
                    <a:bodyPr/>
                    <a:lstStyle/>
                    <a:p>
                      <a:pPr algn="ctr"/>
                      <a:r>
                        <a:rPr sz="1600">
                          <a:solidFill>
                            <a:srgbClr val="000000"/>
                          </a:solidFill>
                          <a:latin typeface="Calibri"/>
                        </a:rPr>
                        <a:t>1,500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283</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440">
                <a:tc>
                  <a:txBody>
                    <a:bodyPr/>
                    <a:lstStyle/>
                    <a:p>
                      <a:pPr algn="ctr"/>
                      <a:r>
                        <a:rPr sz="1600">
                          <a:solidFill>
                            <a:srgbClr val="000000"/>
                          </a:solidFill>
                          <a:latin typeface="Calibri"/>
                        </a:rPr>
                        <a:t>2,000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309</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440">
                <a:tc>
                  <a:txBody>
                    <a:bodyPr/>
                    <a:lstStyle/>
                    <a:p>
                      <a:pPr algn="ctr"/>
                      <a:r>
                        <a:rPr sz="1600">
                          <a:solidFill>
                            <a:srgbClr val="000000"/>
                          </a:solidFill>
                          <a:latin typeface="Calibri"/>
                        </a:rPr>
                        <a:t>2,500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330</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440">
                <a:tc>
                  <a:txBody>
                    <a:bodyPr/>
                    <a:lstStyle/>
                    <a:p>
                      <a:pPr algn="ctr"/>
                      <a:r>
                        <a:rPr sz="1600">
                          <a:solidFill>
                            <a:srgbClr val="000000"/>
                          </a:solidFill>
                          <a:latin typeface="Calibri"/>
                        </a:rPr>
                        <a:t>3,000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348</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440">
                <a:tc>
                  <a:txBody>
                    <a:bodyPr/>
                    <a:lstStyle/>
                    <a:p>
                      <a:pPr algn="ctr"/>
                      <a:r>
                        <a:rPr sz="1600">
                          <a:solidFill>
                            <a:srgbClr val="000000"/>
                          </a:solidFill>
                          <a:latin typeface="Calibri"/>
                        </a:rPr>
                        <a:t>3,500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365</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440">
                <a:tc>
                  <a:txBody>
                    <a:bodyPr/>
                    <a:lstStyle/>
                    <a:p>
                      <a:pPr algn="ctr"/>
                      <a:r>
                        <a:rPr sz="1600">
                          <a:solidFill>
                            <a:srgbClr val="000000"/>
                          </a:solidFill>
                          <a:latin typeface="Calibri"/>
                        </a:rPr>
                        <a:t>4,000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380</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440">
                <a:tc>
                  <a:txBody>
                    <a:bodyPr/>
                    <a:lstStyle/>
                    <a:p>
                      <a:pPr algn="ctr"/>
                      <a:r>
                        <a:rPr sz="1600">
                          <a:solidFill>
                            <a:srgbClr val="000000"/>
                          </a:solidFill>
                          <a:latin typeface="Calibri"/>
                        </a:rPr>
                        <a:t>4,500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394</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r h="326450">
                <a:tc>
                  <a:txBody>
                    <a:bodyPr/>
                    <a:lstStyle/>
                    <a:p>
                      <a:pPr algn="ctr"/>
                      <a:r>
                        <a:rPr sz="1600">
                          <a:solidFill>
                            <a:srgbClr val="000000"/>
                          </a:solidFill>
                          <a:latin typeface="Calibri"/>
                        </a:rPr>
                        <a:t>5,000</a:t>
                      </a:r>
                    </a:p>
                  </a:txBody>
                  <a:tcPr marL="91440" marR="91440" marT="27432" marB="27432" anchor="ctr">
                    <a:solidFill>
                      <a:srgbClr val="FFFFFF"/>
                    </a:solidFill>
                  </a:tcPr>
                </a:tc>
                <a:tc>
                  <a:txBody>
                    <a:bodyPr/>
                    <a:lstStyle/>
                    <a:p>
                      <a:pPr algn="ctr"/>
                      <a:r>
                        <a:rPr sz="1600">
                          <a:solidFill>
                            <a:srgbClr val="C00000"/>
                          </a:solidFill>
                          <a:latin typeface="Calibri"/>
                        </a:rPr>
                        <a:t>100</a:t>
                      </a:r>
                    </a:p>
                  </a:txBody>
                  <a:tcPr marL="91440" marR="91440" marT="27432" marB="27432" anchor="ctr">
                    <a:solidFill>
                      <a:srgbClr val="FFFFFF"/>
                    </a:solidFill>
                  </a:tcPr>
                </a:tc>
                <a:tc>
                  <a:txBody>
                    <a:bodyPr/>
                    <a:lstStyle/>
                    <a:p>
                      <a:pPr algn="ctr"/>
                      <a:r>
                        <a:rPr sz="1600">
                          <a:solidFill>
                            <a:srgbClr val="000000"/>
                          </a:solidFill>
                          <a:latin typeface="Calibri"/>
                        </a:rPr>
                        <a:t>406</a:t>
                      </a: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c>
                  <a:txBody>
                    <a:bodyPr/>
                    <a:lstStyle/>
                    <a:p>
                      <a:pPr algn="ctr"/>
                    </a:p>
                  </a:txBody>
                  <a:tcPr marL="91440" marR="91440" marT="27432" marB="27432" anchor="ctr">
                    <a:solidFill>
                      <a:srgbClr val="FFFFFF"/>
                    </a:solidFill>
                  </a:tcPr>
                </a:tc>
              </a:tr>
            </a:tbl>
          </a:graphicData>
        </a:graphic>
      </p:graphicFrame>
      <p:sp>
        <p:nvSpPr>
          <p:cNvPr id="10" name="TextBox 9"/>
          <p:cNvSpPr txBox="1"/>
          <p:nvPr/>
        </p:nvSpPr>
        <p:spPr>
          <a:xfrm>
            <a:off x="2752344" y="2324404"/>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165</a:t>
            </a:r>
          </a:p>
        </p:txBody>
      </p:sp>
      <p:sp>
        <p:nvSpPr>
          <p:cNvPr id="11" name="TextBox 10"/>
          <p:cNvSpPr txBox="1"/>
          <p:nvPr/>
        </p:nvSpPr>
        <p:spPr>
          <a:xfrm>
            <a:off x="3529584" y="2324404"/>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250</a:t>
            </a:r>
          </a:p>
        </p:txBody>
      </p:sp>
      <p:sp>
        <p:nvSpPr>
          <p:cNvPr id="12" name="TextBox 11"/>
          <p:cNvSpPr txBox="1"/>
          <p:nvPr/>
        </p:nvSpPr>
        <p:spPr>
          <a:xfrm>
            <a:off x="4215384" y="2324404"/>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0.660</a:t>
            </a:r>
          </a:p>
        </p:txBody>
      </p:sp>
      <p:sp>
        <p:nvSpPr>
          <p:cNvPr id="13" name="Rounded Rectangle 12"/>
          <p:cNvSpPr/>
          <p:nvPr/>
        </p:nvSpPr>
        <p:spPr>
          <a:xfrm>
            <a:off x="5120640" y="2324404"/>
            <a:ext cx="88696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4064" y="2324404"/>
            <a:ext cx="960120" cy="310896"/>
          </a:xfrm>
          <a:prstGeom prst="rect">
            <a:avLst/>
          </a:prstGeom>
          <a:noFill/>
        </p:spPr>
        <p:txBody>
          <a:bodyPr wrap="square" lIns="18288" rIns="18288" tIns="0" bIns="0" anchor="ctr">
            <a:noAutofit/>
          </a:bodyPr>
          <a:lstStyle/>
          <a:p>
            <a:pPr algn="ctr"/>
            <a:r>
              <a:rPr sz="1600" b="1">
                <a:solidFill>
                  <a:srgbClr val="0070C0"/>
                </a:solidFill>
                <a:latin typeface="Calibri"/>
              </a:rPr>
              <a:t>$29,700</a:t>
            </a:r>
          </a:p>
        </p:txBody>
      </p:sp>
      <p:sp>
        <p:nvSpPr>
          <p:cNvPr id="15" name="TextBox 14"/>
          <p:cNvSpPr txBox="1"/>
          <p:nvPr/>
        </p:nvSpPr>
        <p:spPr>
          <a:xfrm>
            <a:off x="2752344" y="2650845"/>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39</a:t>
            </a:r>
          </a:p>
        </p:txBody>
      </p:sp>
      <p:sp>
        <p:nvSpPr>
          <p:cNvPr id="16" name="TextBox 15"/>
          <p:cNvSpPr txBox="1"/>
          <p:nvPr/>
        </p:nvSpPr>
        <p:spPr>
          <a:xfrm>
            <a:off x="3529584" y="2650845"/>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250</a:t>
            </a:r>
          </a:p>
        </p:txBody>
      </p:sp>
      <p:sp>
        <p:nvSpPr>
          <p:cNvPr id="17" name="TextBox 16"/>
          <p:cNvSpPr txBox="1"/>
          <p:nvPr/>
        </p:nvSpPr>
        <p:spPr>
          <a:xfrm>
            <a:off x="4215384" y="2650845"/>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0.156</a:t>
            </a:r>
          </a:p>
        </p:txBody>
      </p:sp>
      <p:sp>
        <p:nvSpPr>
          <p:cNvPr id="18" name="Rounded Rectangle 17"/>
          <p:cNvSpPr/>
          <p:nvPr/>
        </p:nvSpPr>
        <p:spPr>
          <a:xfrm>
            <a:off x="5120640" y="2650845"/>
            <a:ext cx="88696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84064" y="2650845"/>
            <a:ext cx="960120" cy="310896"/>
          </a:xfrm>
          <a:prstGeom prst="rect">
            <a:avLst/>
          </a:prstGeom>
          <a:noFill/>
        </p:spPr>
        <p:txBody>
          <a:bodyPr wrap="square" lIns="18288" rIns="18288" tIns="0" bIns="0" anchor="ctr">
            <a:noAutofit/>
          </a:bodyPr>
          <a:lstStyle/>
          <a:p>
            <a:pPr algn="ctr"/>
            <a:r>
              <a:rPr sz="1600" b="1">
                <a:solidFill>
                  <a:srgbClr val="0070C0"/>
                </a:solidFill>
                <a:latin typeface="Calibri"/>
              </a:rPr>
              <a:t>$7,020</a:t>
            </a:r>
          </a:p>
        </p:txBody>
      </p:sp>
      <p:sp>
        <p:nvSpPr>
          <p:cNvPr id="20" name="TextBox 19"/>
          <p:cNvSpPr txBox="1"/>
          <p:nvPr/>
        </p:nvSpPr>
        <p:spPr>
          <a:xfrm>
            <a:off x="2752344" y="2977286"/>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47</a:t>
            </a:r>
          </a:p>
        </p:txBody>
      </p:sp>
      <p:sp>
        <p:nvSpPr>
          <p:cNvPr id="21" name="TextBox 20"/>
          <p:cNvSpPr txBox="1"/>
          <p:nvPr/>
        </p:nvSpPr>
        <p:spPr>
          <a:xfrm>
            <a:off x="3529584" y="2977286"/>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500</a:t>
            </a:r>
          </a:p>
        </p:txBody>
      </p:sp>
      <p:sp>
        <p:nvSpPr>
          <p:cNvPr id="22" name="TextBox 21"/>
          <p:cNvSpPr txBox="1"/>
          <p:nvPr/>
        </p:nvSpPr>
        <p:spPr>
          <a:xfrm>
            <a:off x="4215384" y="2977286"/>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0.094</a:t>
            </a:r>
          </a:p>
        </p:txBody>
      </p:sp>
      <p:sp>
        <p:nvSpPr>
          <p:cNvPr id="23" name="Rounded Rectangle 22"/>
          <p:cNvSpPr/>
          <p:nvPr/>
        </p:nvSpPr>
        <p:spPr>
          <a:xfrm>
            <a:off x="5120640" y="2977286"/>
            <a:ext cx="88696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84064" y="2977286"/>
            <a:ext cx="960120" cy="310896"/>
          </a:xfrm>
          <a:prstGeom prst="rect">
            <a:avLst/>
          </a:prstGeom>
          <a:noFill/>
        </p:spPr>
        <p:txBody>
          <a:bodyPr wrap="square" lIns="18288" rIns="18288" tIns="0" bIns="0" anchor="ctr">
            <a:noAutofit/>
          </a:bodyPr>
          <a:lstStyle/>
          <a:p>
            <a:pPr algn="ctr"/>
            <a:r>
              <a:rPr sz="1600" b="1">
                <a:solidFill>
                  <a:srgbClr val="0070C0"/>
                </a:solidFill>
                <a:latin typeface="Calibri"/>
              </a:rPr>
              <a:t>$4,230</a:t>
            </a:r>
          </a:p>
        </p:txBody>
      </p:sp>
      <p:sp>
        <p:nvSpPr>
          <p:cNvPr id="25" name="TextBox 24"/>
          <p:cNvSpPr txBox="1"/>
          <p:nvPr/>
        </p:nvSpPr>
        <p:spPr>
          <a:xfrm>
            <a:off x="2752344" y="3303727"/>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32</a:t>
            </a:r>
          </a:p>
        </p:txBody>
      </p:sp>
      <p:sp>
        <p:nvSpPr>
          <p:cNvPr id="26" name="TextBox 25"/>
          <p:cNvSpPr txBox="1"/>
          <p:nvPr/>
        </p:nvSpPr>
        <p:spPr>
          <a:xfrm>
            <a:off x="3529584" y="3303727"/>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500</a:t>
            </a:r>
          </a:p>
        </p:txBody>
      </p:sp>
      <p:sp>
        <p:nvSpPr>
          <p:cNvPr id="27" name="TextBox 26"/>
          <p:cNvSpPr txBox="1"/>
          <p:nvPr/>
        </p:nvSpPr>
        <p:spPr>
          <a:xfrm>
            <a:off x="4215384" y="3303727"/>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0.064</a:t>
            </a:r>
          </a:p>
        </p:txBody>
      </p:sp>
      <p:sp>
        <p:nvSpPr>
          <p:cNvPr id="28" name="Rounded Rectangle 27"/>
          <p:cNvSpPr/>
          <p:nvPr/>
        </p:nvSpPr>
        <p:spPr>
          <a:xfrm>
            <a:off x="5120640" y="3303727"/>
            <a:ext cx="88696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84064" y="3303727"/>
            <a:ext cx="960120" cy="310896"/>
          </a:xfrm>
          <a:prstGeom prst="rect">
            <a:avLst/>
          </a:prstGeom>
          <a:noFill/>
        </p:spPr>
        <p:txBody>
          <a:bodyPr wrap="square" lIns="18288" rIns="18288" tIns="0" bIns="0" anchor="ctr">
            <a:noAutofit/>
          </a:bodyPr>
          <a:lstStyle/>
          <a:p>
            <a:pPr algn="ctr"/>
            <a:r>
              <a:rPr sz="1600" b="1">
                <a:solidFill>
                  <a:srgbClr val="0070C0"/>
                </a:solidFill>
                <a:latin typeface="Calibri"/>
              </a:rPr>
              <a:t>$2,880</a:t>
            </a:r>
          </a:p>
        </p:txBody>
      </p:sp>
      <p:sp>
        <p:nvSpPr>
          <p:cNvPr id="30" name="TextBox 29"/>
          <p:cNvSpPr txBox="1"/>
          <p:nvPr/>
        </p:nvSpPr>
        <p:spPr>
          <a:xfrm>
            <a:off x="2752344" y="3630167"/>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26</a:t>
            </a:r>
          </a:p>
        </p:txBody>
      </p:sp>
      <p:sp>
        <p:nvSpPr>
          <p:cNvPr id="31" name="TextBox 30"/>
          <p:cNvSpPr txBox="1"/>
          <p:nvPr/>
        </p:nvSpPr>
        <p:spPr>
          <a:xfrm>
            <a:off x="3529584" y="3630167"/>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500</a:t>
            </a:r>
          </a:p>
        </p:txBody>
      </p:sp>
      <p:sp>
        <p:nvSpPr>
          <p:cNvPr id="32" name="TextBox 31"/>
          <p:cNvSpPr txBox="1"/>
          <p:nvPr/>
        </p:nvSpPr>
        <p:spPr>
          <a:xfrm>
            <a:off x="4215384" y="3630167"/>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0.052</a:t>
            </a:r>
          </a:p>
        </p:txBody>
      </p:sp>
      <p:sp>
        <p:nvSpPr>
          <p:cNvPr id="33" name="Rounded Rectangle 32"/>
          <p:cNvSpPr/>
          <p:nvPr/>
        </p:nvSpPr>
        <p:spPr>
          <a:xfrm>
            <a:off x="5120640" y="3630167"/>
            <a:ext cx="88696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84064" y="3630167"/>
            <a:ext cx="960120" cy="310896"/>
          </a:xfrm>
          <a:prstGeom prst="rect">
            <a:avLst/>
          </a:prstGeom>
          <a:noFill/>
        </p:spPr>
        <p:txBody>
          <a:bodyPr wrap="square" lIns="18288" rIns="18288" tIns="0" bIns="0" anchor="ctr">
            <a:noAutofit/>
          </a:bodyPr>
          <a:lstStyle/>
          <a:p>
            <a:pPr algn="ctr"/>
            <a:r>
              <a:rPr sz="1600" b="1">
                <a:solidFill>
                  <a:srgbClr val="0070C0"/>
                </a:solidFill>
                <a:latin typeface="Calibri"/>
              </a:rPr>
              <a:t>$2,340</a:t>
            </a:r>
          </a:p>
        </p:txBody>
      </p:sp>
      <p:sp>
        <p:nvSpPr>
          <p:cNvPr id="35" name="TextBox 34"/>
          <p:cNvSpPr txBox="1"/>
          <p:nvPr/>
        </p:nvSpPr>
        <p:spPr>
          <a:xfrm>
            <a:off x="2752344" y="3956608"/>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21</a:t>
            </a:r>
          </a:p>
        </p:txBody>
      </p:sp>
      <p:sp>
        <p:nvSpPr>
          <p:cNvPr id="36" name="TextBox 35"/>
          <p:cNvSpPr txBox="1"/>
          <p:nvPr/>
        </p:nvSpPr>
        <p:spPr>
          <a:xfrm>
            <a:off x="3529584" y="3956608"/>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500</a:t>
            </a:r>
          </a:p>
        </p:txBody>
      </p:sp>
      <p:sp>
        <p:nvSpPr>
          <p:cNvPr id="37" name="TextBox 36"/>
          <p:cNvSpPr txBox="1"/>
          <p:nvPr/>
        </p:nvSpPr>
        <p:spPr>
          <a:xfrm>
            <a:off x="4215384" y="3956608"/>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0.042</a:t>
            </a:r>
          </a:p>
        </p:txBody>
      </p:sp>
      <p:sp>
        <p:nvSpPr>
          <p:cNvPr id="38" name="Rounded Rectangle 37"/>
          <p:cNvSpPr/>
          <p:nvPr/>
        </p:nvSpPr>
        <p:spPr>
          <a:xfrm>
            <a:off x="5120640" y="3956608"/>
            <a:ext cx="88696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84064" y="3956608"/>
            <a:ext cx="960120" cy="310896"/>
          </a:xfrm>
          <a:prstGeom prst="rect">
            <a:avLst/>
          </a:prstGeom>
          <a:noFill/>
        </p:spPr>
        <p:txBody>
          <a:bodyPr wrap="square" lIns="18288" rIns="18288" tIns="0" bIns="0" anchor="ctr">
            <a:noAutofit/>
          </a:bodyPr>
          <a:lstStyle/>
          <a:p>
            <a:pPr algn="ctr"/>
            <a:r>
              <a:rPr sz="1600" b="1">
                <a:solidFill>
                  <a:srgbClr val="0070C0"/>
                </a:solidFill>
                <a:latin typeface="Calibri"/>
              </a:rPr>
              <a:t>$1,890</a:t>
            </a:r>
          </a:p>
        </p:txBody>
      </p:sp>
      <p:sp>
        <p:nvSpPr>
          <p:cNvPr id="40" name="TextBox 39"/>
          <p:cNvSpPr txBox="1"/>
          <p:nvPr/>
        </p:nvSpPr>
        <p:spPr>
          <a:xfrm>
            <a:off x="2752344" y="4283049"/>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18</a:t>
            </a:r>
          </a:p>
        </p:txBody>
      </p:sp>
      <p:sp>
        <p:nvSpPr>
          <p:cNvPr id="41" name="TextBox 40"/>
          <p:cNvSpPr txBox="1"/>
          <p:nvPr/>
        </p:nvSpPr>
        <p:spPr>
          <a:xfrm>
            <a:off x="3529584" y="4283049"/>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500</a:t>
            </a:r>
          </a:p>
        </p:txBody>
      </p:sp>
      <p:sp>
        <p:nvSpPr>
          <p:cNvPr id="42" name="TextBox 41"/>
          <p:cNvSpPr txBox="1"/>
          <p:nvPr/>
        </p:nvSpPr>
        <p:spPr>
          <a:xfrm>
            <a:off x="4215384" y="4283049"/>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0.036</a:t>
            </a:r>
          </a:p>
        </p:txBody>
      </p:sp>
      <p:sp>
        <p:nvSpPr>
          <p:cNvPr id="43" name="Rounded Rectangle 42"/>
          <p:cNvSpPr/>
          <p:nvPr/>
        </p:nvSpPr>
        <p:spPr>
          <a:xfrm>
            <a:off x="5120640" y="4283049"/>
            <a:ext cx="88696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84064" y="4283049"/>
            <a:ext cx="960120" cy="310896"/>
          </a:xfrm>
          <a:prstGeom prst="rect">
            <a:avLst/>
          </a:prstGeom>
          <a:noFill/>
        </p:spPr>
        <p:txBody>
          <a:bodyPr wrap="square" lIns="18288" rIns="18288" tIns="0" bIns="0" anchor="ctr">
            <a:noAutofit/>
          </a:bodyPr>
          <a:lstStyle/>
          <a:p>
            <a:pPr algn="ctr"/>
            <a:r>
              <a:rPr sz="1600" b="1">
                <a:solidFill>
                  <a:srgbClr val="0070C0"/>
                </a:solidFill>
                <a:latin typeface="Calibri"/>
              </a:rPr>
              <a:t>$1,620</a:t>
            </a:r>
          </a:p>
        </p:txBody>
      </p:sp>
      <p:sp>
        <p:nvSpPr>
          <p:cNvPr id="45" name="TextBox 44"/>
          <p:cNvSpPr txBox="1"/>
          <p:nvPr/>
        </p:nvSpPr>
        <p:spPr>
          <a:xfrm>
            <a:off x="2752344" y="4609490"/>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17</a:t>
            </a:r>
          </a:p>
        </p:txBody>
      </p:sp>
      <p:sp>
        <p:nvSpPr>
          <p:cNvPr id="46" name="TextBox 45"/>
          <p:cNvSpPr txBox="1"/>
          <p:nvPr/>
        </p:nvSpPr>
        <p:spPr>
          <a:xfrm>
            <a:off x="3529584" y="4609490"/>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500</a:t>
            </a:r>
          </a:p>
        </p:txBody>
      </p:sp>
      <p:sp>
        <p:nvSpPr>
          <p:cNvPr id="47" name="TextBox 46"/>
          <p:cNvSpPr txBox="1"/>
          <p:nvPr/>
        </p:nvSpPr>
        <p:spPr>
          <a:xfrm>
            <a:off x="4215384" y="4609490"/>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0.034</a:t>
            </a:r>
          </a:p>
        </p:txBody>
      </p:sp>
      <p:sp>
        <p:nvSpPr>
          <p:cNvPr id="48" name="Rounded Rectangle 47"/>
          <p:cNvSpPr/>
          <p:nvPr/>
        </p:nvSpPr>
        <p:spPr>
          <a:xfrm>
            <a:off x="5120640" y="4609490"/>
            <a:ext cx="88696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84064" y="4609490"/>
            <a:ext cx="960120" cy="310896"/>
          </a:xfrm>
          <a:prstGeom prst="rect">
            <a:avLst/>
          </a:prstGeom>
          <a:noFill/>
        </p:spPr>
        <p:txBody>
          <a:bodyPr wrap="square" lIns="18288" rIns="18288" tIns="0" bIns="0" anchor="ctr">
            <a:noAutofit/>
          </a:bodyPr>
          <a:lstStyle/>
          <a:p>
            <a:pPr algn="ctr"/>
            <a:r>
              <a:rPr sz="1600" b="1">
                <a:solidFill>
                  <a:srgbClr val="0070C0"/>
                </a:solidFill>
                <a:latin typeface="Calibri"/>
              </a:rPr>
              <a:t>$1,530</a:t>
            </a:r>
          </a:p>
        </p:txBody>
      </p:sp>
      <p:sp>
        <p:nvSpPr>
          <p:cNvPr id="50" name="TextBox 49"/>
          <p:cNvSpPr txBox="1"/>
          <p:nvPr/>
        </p:nvSpPr>
        <p:spPr>
          <a:xfrm>
            <a:off x="2752344" y="4935931"/>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15</a:t>
            </a:r>
          </a:p>
        </p:txBody>
      </p:sp>
      <p:sp>
        <p:nvSpPr>
          <p:cNvPr id="51" name="TextBox 50"/>
          <p:cNvSpPr txBox="1"/>
          <p:nvPr/>
        </p:nvSpPr>
        <p:spPr>
          <a:xfrm>
            <a:off x="3529584" y="4935931"/>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500</a:t>
            </a:r>
          </a:p>
        </p:txBody>
      </p:sp>
      <p:sp>
        <p:nvSpPr>
          <p:cNvPr id="52" name="TextBox 51"/>
          <p:cNvSpPr txBox="1"/>
          <p:nvPr/>
        </p:nvSpPr>
        <p:spPr>
          <a:xfrm>
            <a:off x="4215384" y="4935931"/>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0.030</a:t>
            </a:r>
          </a:p>
        </p:txBody>
      </p:sp>
      <p:sp>
        <p:nvSpPr>
          <p:cNvPr id="53" name="Rounded Rectangle 52"/>
          <p:cNvSpPr/>
          <p:nvPr/>
        </p:nvSpPr>
        <p:spPr>
          <a:xfrm>
            <a:off x="5120640" y="4935931"/>
            <a:ext cx="88696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84064" y="4935931"/>
            <a:ext cx="960120" cy="310896"/>
          </a:xfrm>
          <a:prstGeom prst="rect">
            <a:avLst/>
          </a:prstGeom>
          <a:noFill/>
        </p:spPr>
        <p:txBody>
          <a:bodyPr wrap="square" lIns="18288" rIns="18288" tIns="0" bIns="0" anchor="ctr">
            <a:noAutofit/>
          </a:bodyPr>
          <a:lstStyle/>
          <a:p>
            <a:pPr algn="ctr"/>
            <a:r>
              <a:rPr sz="1600" b="1">
                <a:solidFill>
                  <a:srgbClr val="0070C0"/>
                </a:solidFill>
                <a:latin typeface="Calibri"/>
              </a:rPr>
              <a:t>$1,350</a:t>
            </a:r>
          </a:p>
        </p:txBody>
      </p:sp>
      <p:sp>
        <p:nvSpPr>
          <p:cNvPr id="55" name="TextBox 54"/>
          <p:cNvSpPr txBox="1"/>
          <p:nvPr/>
        </p:nvSpPr>
        <p:spPr>
          <a:xfrm>
            <a:off x="2752344" y="5262372"/>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14</a:t>
            </a:r>
          </a:p>
        </p:txBody>
      </p:sp>
      <p:sp>
        <p:nvSpPr>
          <p:cNvPr id="56" name="TextBox 55"/>
          <p:cNvSpPr txBox="1"/>
          <p:nvPr/>
        </p:nvSpPr>
        <p:spPr>
          <a:xfrm>
            <a:off x="3529584" y="5262372"/>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500</a:t>
            </a:r>
          </a:p>
        </p:txBody>
      </p:sp>
      <p:sp>
        <p:nvSpPr>
          <p:cNvPr id="57" name="TextBox 56"/>
          <p:cNvSpPr txBox="1"/>
          <p:nvPr/>
        </p:nvSpPr>
        <p:spPr>
          <a:xfrm>
            <a:off x="4215384" y="5262372"/>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0.028</a:t>
            </a:r>
          </a:p>
        </p:txBody>
      </p:sp>
      <p:sp>
        <p:nvSpPr>
          <p:cNvPr id="58" name="Rounded Rectangle 57"/>
          <p:cNvSpPr/>
          <p:nvPr/>
        </p:nvSpPr>
        <p:spPr>
          <a:xfrm>
            <a:off x="5120640" y="5262372"/>
            <a:ext cx="88696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084064" y="5262372"/>
            <a:ext cx="960120" cy="310896"/>
          </a:xfrm>
          <a:prstGeom prst="rect">
            <a:avLst/>
          </a:prstGeom>
          <a:noFill/>
        </p:spPr>
        <p:txBody>
          <a:bodyPr wrap="square" lIns="18288" rIns="18288" tIns="0" bIns="0" anchor="ctr">
            <a:noAutofit/>
          </a:bodyPr>
          <a:lstStyle/>
          <a:p>
            <a:pPr algn="ctr"/>
            <a:r>
              <a:rPr sz="1600" b="1">
                <a:solidFill>
                  <a:srgbClr val="0070C0"/>
                </a:solidFill>
                <a:latin typeface="Calibri"/>
              </a:rPr>
              <a:t>$1,260</a:t>
            </a:r>
          </a:p>
        </p:txBody>
      </p:sp>
      <p:sp>
        <p:nvSpPr>
          <p:cNvPr id="60" name="TextBox 59"/>
          <p:cNvSpPr txBox="1"/>
          <p:nvPr/>
        </p:nvSpPr>
        <p:spPr>
          <a:xfrm>
            <a:off x="2752344" y="5588812"/>
            <a:ext cx="777240" cy="310896"/>
          </a:xfrm>
          <a:prstGeom prst="rect">
            <a:avLst/>
          </a:prstGeom>
          <a:noFill/>
        </p:spPr>
        <p:txBody>
          <a:bodyPr wrap="square" lIns="18288" rIns="18288" tIns="0" bIns="0" anchor="ctr">
            <a:noAutofit/>
          </a:bodyPr>
          <a:lstStyle/>
          <a:p>
            <a:pPr algn="ctr"/>
            <a:r>
              <a:rPr sz="1600" b="0">
                <a:solidFill>
                  <a:srgbClr val="1B5E20"/>
                </a:solidFill>
                <a:latin typeface="Calibri"/>
              </a:rPr>
              <a:t>12</a:t>
            </a:r>
          </a:p>
        </p:txBody>
      </p:sp>
      <p:sp>
        <p:nvSpPr>
          <p:cNvPr id="61" name="TextBox 60"/>
          <p:cNvSpPr txBox="1"/>
          <p:nvPr/>
        </p:nvSpPr>
        <p:spPr>
          <a:xfrm>
            <a:off x="3529584" y="5588812"/>
            <a:ext cx="685800" cy="310896"/>
          </a:xfrm>
          <a:prstGeom prst="rect">
            <a:avLst/>
          </a:prstGeom>
          <a:noFill/>
        </p:spPr>
        <p:txBody>
          <a:bodyPr wrap="square" lIns="18288" rIns="18288" tIns="0" bIns="0" anchor="ctr">
            <a:noAutofit/>
          </a:bodyPr>
          <a:lstStyle/>
          <a:p>
            <a:pPr algn="ctr"/>
            <a:r>
              <a:rPr sz="1600" b="0">
                <a:solidFill>
                  <a:srgbClr val="1B5E20"/>
                </a:solidFill>
                <a:latin typeface="Calibri"/>
              </a:rPr>
              <a:t>500</a:t>
            </a:r>
          </a:p>
        </p:txBody>
      </p:sp>
      <p:sp>
        <p:nvSpPr>
          <p:cNvPr id="62" name="TextBox 61"/>
          <p:cNvSpPr txBox="1"/>
          <p:nvPr/>
        </p:nvSpPr>
        <p:spPr>
          <a:xfrm>
            <a:off x="4215384" y="5588812"/>
            <a:ext cx="868680" cy="310896"/>
          </a:xfrm>
          <a:prstGeom prst="rect">
            <a:avLst/>
          </a:prstGeom>
          <a:noFill/>
        </p:spPr>
        <p:txBody>
          <a:bodyPr wrap="square" lIns="18288" rIns="18288" tIns="0" bIns="0" anchor="ctr">
            <a:noAutofit/>
          </a:bodyPr>
          <a:lstStyle/>
          <a:p>
            <a:pPr algn="ctr"/>
            <a:r>
              <a:rPr sz="1600" b="1">
                <a:solidFill>
                  <a:srgbClr val="0070C0"/>
                </a:solidFill>
                <a:latin typeface="Calibri"/>
              </a:rPr>
              <a:t>0.024</a:t>
            </a:r>
          </a:p>
        </p:txBody>
      </p:sp>
      <p:sp>
        <p:nvSpPr>
          <p:cNvPr id="63" name="Rounded Rectangle 62"/>
          <p:cNvSpPr/>
          <p:nvPr/>
        </p:nvSpPr>
        <p:spPr>
          <a:xfrm>
            <a:off x="5120640" y="5588812"/>
            <a:ext cx="886968" cy="310896"/>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84064" y="5588812"/>
            <a:ext cx="960120" cy="310896"/>
          </a:xfrm>
          <a:prstGeom prst="rect">
            <a:avLst/>
          </a:prstGeom>
          <a:noFill/>
        </p:spPr>
        <p:txBody>
          <a:bodyPr wrap="square" lIns="18288" rIns="18288" tIns="0" bIns="0" anchor="ctr">
            <a:noAutofit/>
          </a:bodyPr>
          <a:lstStyle/>
          <a:p>
            <a:pPr algn="ctr"/>
            <a:r>
              <a:rPr sz="1600" b="1">
                <a:solidFill>
                  <a:srgbClr val="0070C0"/>
                </a:solidFill>
                <a:latin typeface="Calibri"/>
              </a:rPr>
              <a:t>$1,080</a:t>
            </a:r>
          </a:p>
        </p:txBody>
      </p:sp>
      <p:sp>
        <p:nvSpPr>
          <p:cNvPr id="65" name="Rectangle 64"/>
          <p:cNvSpPr/>
          <p:nvPr/>
        </p:nvSpPr>
        <p:spPr>
          <a:xfrm>
            <a:off x="6764731" y="1826971"/>
            <a:ext cx="960120" cy="4080509"/>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764731" y="1826971"/>
            <a:ext cx="960120" cy="32644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a:lstStyle/>
          <a:p>
            <a:pPr algn="ctr"/>
            <a:r>
              <a:rPr sz="1600" b="1">
                <a:solidFill>
                  <a:srgbClr val="FFFFFF"/>
                </a:solidFill>
                <a:latin typeface="Calibri"/>
              </a:rPr>
              <a:t>Wage</a:t>
            </a:r>
          </a:p>
        </p:txBody>
      </p:sp>
      <p:sp>
        <p:nvSpPr>
          <p:cNvPr id="67" name="Rounded Rectangle 66"/>
          <p:cNvSpPr/>
          <p:nvPr/>
        </p:nvSpPr>
        <p:spPr>
          <a:xfrm>
            <a:off x="6801307" y="2316632"/>
            <a:ext cx="886968" cy="326440"/>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a:lstStyle/>
          <a:p>
            <a:pPr algn="ctr"/>
            <a:r>
              <a:rPr sz="1600" b="1">
                <a:solidFill>
                  <a:srgbClr val="0070C0"/>
                </a:solidFill>
                <a:latin typeface="Calibri"/>
              </a:rPr>
              <a:t>$1,500</a:t>
            </a:r>
          </a:p>
        </p:txBody>
      </p:sp>
      <p:sp>
        <p:nvSpPr>
          <p:cNvPr id="68" name="Rounded Rectangle 67"/>
          <p:cNvSpPr/>
          <p:nvPr/>
        </p:nvSpPr>
        <p:spPr>
          <a:xfrm>
            <a:off x="6801307" y="2643073"/>
            <a:ext cx="886968" cy="326440"/>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a:lstStyle/>
          <a:p>
            <a:pPr algn="ctr"/>
            <a:r>
              <a:rPr sz="1600" b="1">
                <a:solidFill>
                  <a:srgbClr val="0070C0"/>
                </a:solidFill>
                <a:latin typeface="Calibri"/>
              </a:rPr>
              <a:t>$1,500</a:t>
            </a:r>
          </a:p>
        </p:txBody>
      </p:sp>
      <p:sp>
        <p:nvSpPr>
          <p:cNvPr id="69" name="Rounded Rectangle 68"/>
          <p:cNvSpPr/>
          <p:nvPr/>
        </p:nvSpPr>
        <p:spPr>
          <a:xfrm>
            <a:off x="6801307" y="2969514"/>
            <a:ext cx="886968" cy="326440"/>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a:lstStyle/>
          <a:p>
            <a:pPr algn="ctr"/>
            <a:r>
              <a:rPr sz="1600" b="1">
                <a:solidFill>
                  <a:srgbClr val="0070C0"/>
                </a:solidFill>
                <a:latin typeface="Calibri"/>
              </a:rPr>
              <a:t>$1,500</a:t>
            </a:r>
          </a:p>
        </p:txBody>
      </p:sp>
      <p:sp>
        <p:nvSpPr>
          <p:cNvPr id="70" name="Rounded Rectangle 69"/>
          <p:cNvSpPr/>
          <p:nvPr/>
        </p:nvSpPr>
        <p:spPr>
          <a:xfrm>
            <a:off x="6801307" y="3295955"/>
            <a:ext cx="886968" cy="326440"/>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a:lstStyle/>
          <a:p>
            <a:pPr algn="ctr"/>
            <a:r>
              <a:rPr sz="1600" b="1">
                <a:solidFill>
                  <a:srgbClr val="0070C0"/>
                </a:solidFill>
                <a:latin typeface="Calibri"/>
              </a:rPr>
              <a:t>$1,500</a:t>
            </a:r>
          </a:p>
        </p:txBody>
      </p:sp>
      <p:sp>
        <p:nvSpPr>
          <p:cNvPr id="71" name="Rounded Rectangle 70"/>
          <p:cNvSpPr/>
          <p:nvPr/>
        </p:nvSpPr>
        <p:spPr>
          <a:xfrm>
            <a:off x="6801307" y="3622395"/>
            <a:ext cx="886968" cy="326440"/>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a:lstStyle/>
          <a:p>
            <a:pPr algn="ctr"/>
            <a:r>
              <a:rPr sz="1600" b="1">
                <a:solidFill>
                  <a:srgbClr val="0070C0"/>
                </a:solidFill>
                <a:latin typeface="Calibri"/>
              </a:rPr>
              <a:t>$1,500</a:t>
            </a:r>
          </a:p>
        </p:txBody>
      </p:sp>
      <p:sp>
        <p:nvSpPr>
          <p:cNvPr id="72" name="Rounded Rectangle 71"/>
          <p:cNvSpPr/>
          <p:nvPr/>
        </p:nvSpPr>
        <p:spPr>
          <a:xfrm>
            <a:off x="6801307" y="3948836"/>
            <a:ext cx="886968" cy="326440"/>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a:lstStyle/>
          <a:p>
            <a:pPr algn="ctr"/>
            <a:r>
              <a:rPr sz="1600" b="1">
                <a:solidFill>
                  <a:srgbClr val="0070C0"/>
                </a:solidFill>
                <a:latin typeface="Calibri"/>
              </a:rPr>
              <a:t>$1,500</a:t>
            </a:r>
          </a:p>
        </p:txBody>
      </p:sp>
      <p:sp>
        <p:nvSpPr>
          <p:cNvPr id="73" name="Rounded Rectangle 72"/>
          <p:cNvSpPr/>
          <p:nvPr/>
        </p:nvSpPr>
        <p:spPr>
          <a:xfrm>
            <a:off x="6801307" y="4275277"/>
            <a:ext cx="886968" cy="326440"/>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a:lstStyle/>
          <a:p>
            <a:pPr algn="ctr"/>
            <a:r>
              <a:rPr sz="1600" b="1">
                <a:solidFill>
                  <a:srgbClr val="0070C0"/>
                </a:solidFill>
                <a:latin typeface="Calibri"/>
              </a:rPr>
              <a:t>$1,500</a:t>
            </a:r>
          </a:p>
        </p:txBody>
      </p:sp>
      <p:sp>
        <p:nvSpPr>
          <p:cNvPr id="74" name="Rounded Rectangle 73"/>
          <p:cNvSpPr/>
          <p:nvPr/>
        </p:nvSpPr>
        <p:spPr>
          <a:xfrm>
            <a:off x="6801307" y="4601718"/>
            <a:ext cx="886968" cy="326440"/>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a:lstStyle/>
          <a:p>
            <a:pPr algn="ctr"/>
            <a:r>
              <a:rPr sz="1600" b="1">
                <a:solidFill>
                  <a:srgbClr val="0070C0"/>
                </a:solidFill>
                <a:latin typeface="Calibri"/>
              </a:rPr>
              <a:t>$1,500</a:t>
            </a:r>
          </a:p>
        </p:txBody>
      </p:sp>
      <p:sp>
        <p:nvSpPr>
          <p:cNvPr id="75" name="Rounded Rectangle 74"/>
          <p:cNvSpPr/>
          <p:nvPr/>
        </p:nvSpPr>
        <p:spPr>
          <a:xfrm>
            <a:off x="6801307" y="4928159"/>
            <a:ext cx="886968" cy="326440"/>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a:lstStyle/>
          <a:p>
            <a:pPr algn="ctr"/>
            <a:r>
              <a:rPr sz="1600" b="1">
                <a:solidFill>
                  <a:srgbClr val="0070C0"/>
                </a:solidFill>
                <a:latin typeface="Calibri"/>
              </a:rPr>
              <a:t>$1,500</a:t>
            </a:r>
          </a:p>
        </p:txBody>
      </p:sp>
      <p:sp>
        <p:nvSpPr>
          <p:cNvPr id="76" name="Rounded Rectangle 75"/>
          <p:cNvSpPr/>
          <p:nvPr/>
        </p:nvSpPr>
        <p:spPr>
          <a:xfrm>
            <a:off x="6801307" y="5254600"/>
            <a:ext cx="886968" cy="326440"/>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a:lstStyle/>
          <a:p>
            <a:pPr algn="ctr"/>
            <a:r>
              <a:rPr sz="1600" b="1">
                <a:solidFill>
                  <a:srgbClr val="0070C0"/>
                </a:solidFill>
                <a:latin typeface="Calibri"/>
              </a:rPr>
              <a:t>$1,500</a:t>
            </a:r>
          </a:p>
        </p:txBody>
      </p:sp>
      <p:sp>
        <p:nvSpPr>
          <p:cNvPr id="77" name="Rounded Rectangle 76"/>
          <p:cNvSpPr/>
          <p:nvPr/>
        </p:nvSpPr>
        <p:spPr>
          <a:xfrm>
            <a:off x="6801307" y="5581040"/>
            <a:ext cx="886968" cy="326440"/>
          </a:xfrm>
          <a:prstGeom prst="roundRect">
            <a:avLst>
              <a:gd name="adj" fmla="val 18000"/>
            </a:avLst>
          </a:prstGeom>
          <a:solidFill>
            <a:srgbClr val="FFF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a:lstStyle/>
          <a:p>
            <a:pPr algn="ctr"/>
            <a:r>
              <a:rPr sz="1600" b="1">
                <a:solidFill>
                  <a:srgbClr val="0070C0"/>
                </a:solidFill>
                <a:latin typeface="Calibri"/>
              </a:rPr>
              <a:t>$1,500</a:t>
            </a:r>
          </a:p>
        </p:txBody>
      </p:sp>
      <p:cxnSp>
        <p:nvCxnSpPr>
          <p:cNvPr id="78" name="Connector 77"/>
          <p:cNvCxnSpPr/>
          <p:nvPr/>
        </p:nvCxnSpPr>
        <p:spPr>
          <a:xfrm>
            <a:off x="6404457" y="2635300"/>
            <a:ext cx="0" cy="1891894"/>
          </a:xfrm>
          <a:prstGeom prst="line">
            <a:avLst/>
          </a:prstGeom>
          <a:ln w="44450">
            <a:solidFill>
              <a:srgbClr val="0B2B4E"/>
            </a:solidFill>
            <a:tailEnd type="triangle" w="med" h="med"/>
          </a:ln>
          <a:effectLst>
            <a:outerShdw blurRad="50800" dist="38100" dir="2700000" algn="tl" rotWithShape="0">
              <a:srgbClr val="000000">
                <a:alpha val="45000"/>
              </a:srgbClr>
            </a:outerShdw>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6404457" y="5002682"/>
            <a:ext cx="0" cy="586130"/>
          </a:xfrm>
          <a:prstGeom prst="line">
            <a:avLst/>
          </a:prstGeom>
          <a:ln w="44450">
            <a:solidFill>
              <a:srgbClr val="0B2B4E"/>
            </a:solidFill>
            <a:tailEnd type="triangle" w="med" h="med"/>
          </a:ln>
          <a:effectLst>
            <a:outerShdw blurRad="50800" dist="38100" dir="2700000" algn="tl" rotWithShape="0">
              <a:srgbClr val="000000">
                <a:alpha val="45000"/>
              </a:srgbClr>
            </a:outerShdw>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6221577" y="4582058"/>
            <a:ext cx="365760" cy="365760"/>
          </a:xfrm>
          <a:prstGeom prst="rect">
            <a:avLst/>
          </a:prstGeom>
          <a:noFill/>
          <a:effectLst>
            <a:outerShdw blurRad="50800" dist="38100" dir="2700000" algn="tl" rotWithShape="0">
              <a:srgbClr val="000000">
                <a:alpha val="45000"/>
              </a:srgbClr>
            </a:outerShdw>
          </a:effectLst>
        </p:spPr>
        <p:txBody>
          <a:bodyPr wrap="none" lIns="0" rIns="0" tIns="0" bIns="0" anchor="ctr">
            <a:noAutofit/>
          </a:bodyPr>
          <a:lstStyle/>
          <a:p>
            <a:pPr algn="ctr"/>
            <a:r>
              <a:rPr sz="2800" b="1">
                <a:solidFill>
                  <a:srgbClr val="0B2B4E"/>
                </a:solidFill>
                <a:latin typeface="Calibri"/>
              </a:rPr>
              <a:t>≈</a:t>
            </a:r>
          </a:p>
        </p:txBody>
      </p:sp>
      <p:sp>
        <p:nvSpPr>
          <p:cNvPr id="81" name="Rounded Rectangle 80"/>
          <p:cNvSpPr/>
          <p:nvPr/>
        </p:nvSpPr>
        <p:spPr>
          <a:xfrm>
            <a:off x="7999171" y="4488789"/>
            <a:ext cx="4107484" cy="615391"/>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182051" y="4598517"/>
            <a:ext cx="3741724" cy="395935"/>
          </a:xfrm>
          <a:prstGeom prst="rect">
            <a:avLst/>
          </a:prstGeom>
          <a:noFill/>
        </p:spPr>
        <p:txBody>
          <a:bodyPr wrap="square" lIns="45720" rIns="45720" tIns="0" bIns="0" anchor="ctr">
            <a:spAutoFit/>
          </a:bodyPr>
          <a:lstStyle/>
          <a:p>
            <a:pPr algn="ctr"/>
            <a:r>
              <a:rPr sz="1900" b="1" i="0">
                <a:solidFill>
                  <a:srgbClr val="0B2B4E"/>
                </a:solidFill>
                <a:latin typeface="Calibri"/>
              </a:rPr>
              <a:t>Optimal hiring</a:t>
            </a:r>
            <a:r>
              <a:rPr sz="1900" b="0" i="0">
                <a:solidFill>
                  <a:srgbClr val="0B2B4E"/>
                </a:solidFill>
                <a:latin typeface="Calibri"/>
              </a:rPr>
              <a:t> falls into the interval between </a:t>
            </a:r>
            <a:r>
              <a:rPr sz="1900" b="1" i="0">
                <a:solidFill>
                  <a:srgbClr val="0B2B4E"/>
                </a:solidFill>
                <a:latin typeface="Calibri"/>
              </a:rPr>
              <a:t>3,000</a:t>
            </a:r>
            <a:r>
              <a:rPr sz="1900" b="0" i="0">
                <a:solidFill>
                  <a:srgbClr val="0B2B4E"/>
                </a:solidFill>
                <a:latin typeface="Calibri"/>
              </a:rPr>
              <a:t> and </a:t>
            </a:r>
            <a:r>
              <a:rPr sz="1900" b="1" i="0">
                <a:solidFill>
                  <a:srgbClr val="0B2B4E"/>
                </a:solidFill>
                <a:latin typeface="Calibri"/>
              </a:rPr>
              <a:t>3,500</a:t>
            </a:r>
            <a:r>
              <a:rPr sz="1900" b="0" i="0">
                <a:solidFill>
                  <a:srgbClr val="0B2B4E"/>
                </a:solidFill>
                <a:latin typeface="Calibri"/>
              </a:rPr>
              <a:t> workers.</a:t>
            </a:r>
          </a:p>
        </p:txBody>
      </p:sp>
      <p:cxnSp>
        <p:nvCxnSpPr>
          <p:cNvPr id="83" name="Connector 82"/>
          <p:cNvCxnSpPr/>
          <p:nvPr/>
        </p:nvCxnSpPr>
        <p:spPr>
          <a:xfrm>
            <a:off x="7688275" y="4764938"/>
            <a:ext cx="310896" cy="31546"/>
          </a:xfrm>
          <a:prstGeom prst="line">
            <a:avLst/>
          </a:prstGeom>
          <a:ln w="44450">
            <a:solidFill>
              <a:srgbClr val="0B2B4E"/>
            </a:solidFill>
          </a:ln>
          <a:effectLst>
            <a:outerShdw blurRad="50800" dist="38100" dir="2700000" algn="tl" rotWithShape="0">
              <a:srgbClr val="000000">
                <a:alpha val="45000"/>
              </a:srgbClr>
            </a:outerShdw>
          </a:effectLst>
        </p:spPr>
        <p:style>
          <a:lnRef idx="2">
            <a:schemeClr val="accent1"/>
          </a:lnRef>
          <a:fillRef idx="0">
            <a:schemeClr val="accent1"/>
          </a:fillRef>
          <a:effectRef idx="1">
            <a:schemeClr val="accent1"/>
          </a:effectRef>
          <a:fontRef idx="minor">
            <a:schemeClr val="tx1"/>
          </a:fontRef>
        </p:style>
      </p:cxnSp>
      <p:sp>
        <p:nvSpPr>
          <p:cNvPr id="84" name="Rounded Rectangle 83"/>
          <p:cNvSpPr/>
          <p:nvPr/>
        </p:nvSpPr>
        <p:spPr>
          <a:xfrm>
            <a:off x="5236311" y="6088440"/>
            <a:ext cx="2702052" cy="429768"/>
          </a:xfrm>
          <a:prstGeom prst="roundRect">
            <a:avLst>
              <a:gd name="adj" fmla="val 15000"/>
            </a:avLst>
          </a:prstGeom>
          <a:no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282031" y="6134160"/>
            <a:ext cx="2610612" cy="338328"/>
          </a:xfrm>
          <a:prstGeom prst="rect">
            <a:avLst/>
          </a:prstGeom>
          <a:noFill/>
        </p:spPr>
        <p:txBody>
          <a:bodyPr wrap="square" anchor="ctr">
            <a:spAutoFit/>
          </a:bodyPr>
          <a:lstStyle/>
          <a:p xmlns:m="http://schemas.openxmlformats.org/officeDocument/2006/math" xmlns:a14="http://schemas.microsoft.com/office/drawing/2010/main">
            <a:pPr algn="ctr">
              <a:defRPr sz="1600" b="0" i="1">
                <a:solidFill>
                  <a:srgbClr val="0B2B4E"/>
                </a:solidFill>
                <a:latin typeface="Cambria Math"/>
              </a:defRPr>
            </a:pPr>
            <a14:m>
              <m:oMathPara>
                <m:oMathParaPr>
                  <m:jc m:val="centerGroup"/>
                </m:oMathParaPr>
                <m:oMath>
                  <m:r>
                    <m:rPr>
                      <m:sty m:val="p"/>
                    </m:rPr>
                    <a:rPr lang="en-US" b="0" i="0" sz="1600">
                      <a:latin typeface="Cambria Math"/>
                      <a:solidFill>
                        <a:srgbClr val="0B2B4E"/>
                      </a:solidFill>
                    </a:rPr>
                    <m:t xml:space="preserve">MRPL</m:t>
                  </m:r>
                  <m:r>
                    <m:rPr>
                      <m:sty m:val="p"/>
                    </m:rPr>
                    <a:rPr lang="en-US" b="0" i="0" sz="1600">
                      <a:latin typeface="Cambria Math"/>
                      <a:solidFill>
                        <a:srgbClr val="0B2B4E"/>
                      </a:solidFill>
                    </a:rPr>
                    <m:t xml:space="preserve"> = $45,000 × </m:t>
                  </m:r>
                  <m:r>
                    <m:rPr>
                      <m:sty m:val="p"/>
                    </m:rPr>
                    <a:rPr lang="en-US" b="0" i="0" sz="1600">
                      <a:latin typeface="Cambria Math"/>
                      <a:solidFill>
                        <a:srgbClr val="0B2B4E"/>
                      </a:solidFill>
                    </a:rPr>
                    <m:t xml:space="preserve">MPL</m:t>
                  </m:r>
                </m:oMath>
              </m:oMathPara>
            </a14:m>
            <a:endParaRPr lang="en-US" sz="1600"/>
          </a:p>
        </p:txBody>
      </p:sp>
      <p:cxnSp>
        <p:nvCxnSpPr>
          <p:cNvPr id="86" name="Connector 85"/>
          <p:cNvCxnSpPr/>
          <p:nvPr/>
        </p:nvCxnSpPr>
        <p:spPr>
          <a:xfrm>
            <a:off x="5564124" y="5899708"/>
            <a:ext cx="0" cy="188732"/>
          </a:xfrm>
          <a:prstGeom prst="line">
            <a:avLst/>
          </a:prstGeom>
          <a:ln w="44450">
            <a:solidFill>
              <a:srgbClr val="0B2B4E"/>
            </a:solidFill>
          </a:ln>
        </p:spPr>
        <p:style>
          <a:lnRef idx="2">
            <a:schemeClr val="accent1"/>
          </a:lnRef>
          <a:fillRef idx="0">
            <a:schemeClr val="accent1"/>
          </a:fillRef>
          <a:effectRef idx="1">
            <a:schemeClr val="accent1"/>
          </a:effectRef>
          <a:fontRef idx="minor">
            <a:schemeClr val="tx1"/>
          </a:fontRef>
        </p:style>
      </p:cxnSp>
      <p:sp>
        <p:nvSpPr>
          <p:cNvPr id="87" name="12-Point Star 86"/>
          <p:cNvSpPr/>
          <p:nvPr/>
        </p:nvSpPr>
        <p:spPr>
          <a:xfrm>
            <a:off x="8962948" y="5426049"/>
            <a:ext cx="1463040" cy="960120"/>
          </a:xfrm>
          <a:prstGeom prst="star12">
            <a:avLst/>
          </a:prstGeom>
          <a:solidFill>
            <a:srgbClr val="E09F3E"/>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9218980" y="5642076"/>
            <a:ext cx="950976" cy="528066"/>
          </a:xfrm>
          <a:prstGeom prst="rect">
            <a:avLst/>
          </a:prstGeom>
          <a:noFill/>
        </p:spPr>
        <p:txBody>
          <a:bodyPr wrap="square" lIns="0" rIns="0" tIns="0" bIns="0" anchor="ctr">
            <a:spAutoFit/>
          </a:bodyPr>
          <a:lstStyle/>
          <a:p>
            <a:pPr algn="ctr"/>
            <a:r>
              <a:rPr sz="1400" b="1">
                <a:solidFill>
                  <a:srgbClr val="0B2B4E"/>
                </a:solidFill>
                <a:latin typeface="Calibri"/>
              </a:rPr>
              <a:t>MB ≈ MC</a:t>
            </a:r>
          </a:p>
          <a:p>
            <a:pPr algn="ctr"/>
            <a:r>
              <a:rPr sz="1100" i="1" b="1">
                <a:solidFill>
                  <a:srgbClr val="0B2B4E"/>
                </a:solidFill>
                <a:latin typeface="Calibri"/>
              </a:rPr>
              <a:t>(of labor)</a:t>
            </a:r>
          </a:p>
        </p:txBody>
      </p:sp>
      <p:cxnSp>
        <p:nvCxnSpPr>
          <p:cNvPr id="89" name="Connector 88"/>
          <p:cNvCxnSpPr/>
          <p:nvPr/>
        </p:nvCxnSpPr>
        <p:spPr>
          <a:xfrm flipH="1" flipV="1">
            <a:off x="7724851" y="4920386"/>
            <a:ext cx="1410005" cy="914400"/>
          </a:xfrm>
          <a:prstGeom prst="line">
            <a:avLst/>
          </a:prstGeom>
          <a:ln w="2540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93" name="TextBox 92"/>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Wage Searchers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The Case of Wage Searchers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572000"/>
          </a:xfrm>
          <a:prstGeom prst="rect">
            <a:avLst/>
          </a:prstGeom>
          <a:noFill/>
        </p:spPr>
        <p:txBody>
          <a:bodyPr wrap="square" lIns="0" rIns="0" tIns="0" bIns="0">
            <a:spAutoFit/>
          </a:bodyPr>
          <a:lstStyle>
            <a:lvl1pPr marL="342900" indent="-342900">
              <a:spcBef>
                <a:spcPts val="12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So far, we've assumed wages are constant</a:t>
            </a:r>
          </a:p>
          <a:p>
            <a:pPr algn="l" lvl="1"/>
            <a:r>
              <a:rPr>
                <a:latin typeface="Calibri"/>
              </a:rPr>
              <a:t>Realistic for a small firm hiring at the market wage</a:t>
            </a:r>
          </a:p>
          <a:p>
            <a:pPr algn="l"/>
            <a:r>
              <a:rPr>
                <a:latin typeface="Calibri"/>
              </a:rPr>
              <a:t>For a large firm (relative to the local labor market), hiring more workers can push the wage up</a:t>
            </a:r>
          </a:p>
          <a:p>
            <a:pPr algn="l" lvl="1"/>
            <a:r>
              <a:rPr>
                <a:latin typeface="Calibri"/>
              </a:rPr>
              <a:t>Example: a local hospital hiring highly specialized surgeons</a:t>
            </a:r>
          </a:p>
          <a:p>
            <a:pPr algn="l" lvl="1"/>
            <a:r>
              <a:rPr>
                <a:latin typeface="Calibri"/>
              </a:rPr>
              <a:t>Example: a frontier AI lab adding 100 senior researchers in one year</a:t>
            </a:r>
          </a:p>
          <a:p>
            <a:pPr algn="l"/>
            <a:r>
              <a:rPr>
                <a:latin typeface="Calibri"/>
              </a:rPr>
              <a:t>Term:  the firm is a wage searcher  (not a wage taker)</a:t>
            </a:r>
          </a:p>
          <a:p>
            <a:pPr algn="l" lvl="1"/>
            <a:r>
              <a:rPr>
                <a:latin typeface="Calibri"/>
              </a:rPr>
              <a:t>the wage rate is upward-sloping in employment</a:t>
            </a:r>
          </a:p>
        </p:txBody>
      </p:sp>
      <p:sp>
        <p:nvSpPr>
          <p:cNvPr id="8" name="Rounded Rectangle 7"/>
          <p:cNvSpPr/>
          <p:nvPr/>
        </p:nvSpPr>
        <p:spPr>
          <a:xfrm>
            <a:off x="1938528" y="5798210"/>
            <a:ext cx="8783726" cy="54041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The true marginal cost of labor includes the wage-bid-up effect</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2" name="TextBox 11"/>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Wage Searchers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Wage Searcher Caveat: Nobody likes being treated unequally…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25_rId5.png"/>
          <p:cNvPicPr>
            <a:picLocks noChangeAspect="1"/>
          </p:cNvPicPr>
          <p:nvPr/>
        </p:nvPicPr>
        <p:blipFill>
          <a:blip r:embed="rId2"/>
          <a:stretch>
            <a:fillRect/>
          </a:stretch>
        </p:blipFill>
        <p:spPr>
          <a:xfrm>
            <a:off x="1730044" y="1379829"/>
            <a:ext cx="8728862" cy="4911242"/>
          </a:xfrm>
          <a:prstGeom prst="rect">
            <a:avLst/>
          </a:prstGeom>
          <a:effectLst>
            <a:outerShdw blurRad="50800" dist="38100" dir="2700000" algn="tl" rotWithShape="0">
              <a:srgbClr val="000000">
                <a:alpha val="45000"/>
              </a:srgbClr>
            </a:outerShdw>
          </a:effectLst>
        </p:spPr>
      </p:pic>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1" name="TextBox 10"/>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Wage Searchers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Example:  The Full Cost of Poaching an AI Researcher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8229600" cy="3657600"/>
          </a:xfrm>
          <a:prstGeom prst="rect">
            <a:avLst/>
          </a:prstGeom>
          <a:noFill/>
        </p:spPr>
        <p:txBody>
          <a:bodyPr wrap="square" lIns="0" rIns="0" tIns="0" bIns="0">
            <a:spAutoFit/>
          </a:bodyPr>
          <a:lstStyle>
            <a:lvl1pPr marL="342900" indent="-342900">
              <a:spcBef>
                <a:spcPts val="10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800" b="0">
                <a:solidFill>
                  <a:srgbClr val="555B66"/>
                </a:solidFill>
                <a:latin typeface="Calibri"/>
              </a:defRPr>
            </a:lvl2pPr>
          </a:lstStyle>
          <a:p>
            <a:pPr algn="l"/>
            <a:r>
              <a:rPr>
                <a:latin typeface="Calibri"/>
              </a:rPr>
              <a:t>Anthropic is trying to poach a star researcher from Google DeepMind</a:t>
            </a:r>
          </a:p>
          <a:p>
            <a:pPr algn="l" lvl="1"/>
            <a:r>
              <a:rPr>
                <a:latin typeface="Calibri"/>
              </a:rPr>
              <a:t>She would join Anthropic for a $5M annual salary</a:t>
            </a:r>
          </a:p>
          <a:p>
            <a:pPr algn="l"/>
            <a:r>
              <a:rPr>
                <a:latin typeface="Calibri"/>
              </a:rPr>
              <a:t>Anthropic already employs 2 star researchers, each earning $3.5M</a:t>
            </a:r>
          </a:p>
          <a:p>
            <a:pPr algn="l" lvl="1"/>
            <a:r>
              <a:rPr>
                <a:latin typeface="Calibri"/>
              </a:rPr>
              <a:t>If the new researcher is hired, the existing two will demand the same salary</a:t>
            </a:r>
          </a:p>
        </p:txBody>
      </p:sp>
      <p:pic>
        <p:nvPicPr>
          <p:cNvPr id="8" name="Picture 7" descr="slide26_rId4.jpg"/>
          <p:cNvPicPr>
            <a:picLocks noChangeAspect="1"/>
          </p:cNvPicPr>
          <p:nvPr/>
        </p:nvPicPr>
        <p:blipFill>
          <a:blip r:embed="rId2"/>
          <a:stretch>
            <a:fillRect/>
          </a:stretch>
        </p:blipFill>
        <p:spPr>
          <a:xfrm>
            <a:off x="8869680" y="1828800"/>
            <a:ext cx="3017520" cy="3453884"/>
          </a:xfrm>
          <a:prstGeom prst="rect">
            <a:avLst/>
          </a:prstGeom>
          <a:effectLst>
            <a:outerShdw blurRad="50800" dist="38100" dir="2700000" algn="tl" rotWithShape="0">
              <a:srgbClr val="000000">
                <a:alpha val="45000"/>
              </a:srgbClr>
            </a:outerShdw>
          </a:effectLst>
        </p:spPr>
      </p:pic>
      <p:sp>
        <p:nvSpPr>
          <p:cNvPr id="9" name="TextBox 8"/>
          <p:cNvSpPr txBox="1"/>
          <p:nvPr/>
        </p:nvSpPr>
        <p:spPr>
          <a:xfrm>
            <a:off x="8841333" y="5302605"/>
            <a:ext cx="3017520" cy="228600"/>
          </a:xfrm>
          <a:prstGeom prst="rect">
            <a:avLst/>
          </a:prstGeom>
          <a:noFill/>
        </p:spPr>
        <p:txBody>
          <a:bodyPr wrap="square" lIns="0" rIns="0" tIns="0" bIns="0">
            <a:spAutoFit/>
          </a:bodyPr>
          <a:lstStyle/>
          <a:p>
            <a:pPr algn="ctr"/>
            <a:r>
              <a:rPr sz="1100" b="0" i="1">
                <a:solidFill>
                  <a:srgbClr val="555B66"/>
                </a:solidFill>
                <a:latin typeface="Calibri"/>
              </a:rPr>
              <a:t>Demis Hassabis  (CC BY, C. Michel via Wikimedia)</a:t>
            </a:r>
          </a:p>
        </p:txBody>
      </p:sp>
      <p:sp>
        <p:nvSpPr>
          <p:cNvPr id="10" name="Rounded Rectangle 9"/>
          <p:cNvSpPr/>
          <p:nvPr/>
        </p:nvSpPr>
        <p:spPr>
          <a:xfrm>
            <a:off x="611733" y="5161788"/>
            <a:ext cx="6633972" cy="461772"/>
          </a:xfrm>
          <a:prstGeom prst="roundRect">
            <a:avLst>
              <a:gd name="adj" fmla="val 2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  What is the marginal cost of the 3rd researcher?</a:t>
            </a:r>
          </a:p>
        </p:txBody>
      </p:sp>
      <p:sp>
        <p:nvSpPr>
          <p:cNvPr id="11" name="Rectangle 10"/>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08944" y="5715000"/>
            <a:ext cx="3072384" cy="658368"/>
          </a:xfrm>
          <a:prstGeom prst="rect">
            <a:avLst/>
          </a:prstGeom>
          <a:noFill/>
        </p:spPr>
        <p:txBody>
          <a:bodyPr wrap="none" anchor="ctr" lIns="45720" rIns="45720" tIns="18288" bIns="18288">
            <a:spAutoFit/>
          </a:bodyPr>
          <a:lstStyle/>
          <a:p>
            <a:pPr algn="ctr"/>
            <a:r>
              <a:rPr sz="2800" b="1">
                <a:solidFill>
                  <a:srgbClr val="0B2B4E"/>
                </a:solidFill>
                <a:latin typeface="Calibri"/>
              </a:rPr>
              <a:t>Discussion Break</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6" name="TextBox 15"/>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Wage Searchers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What Is the Full Marginal Cost of the New Researcher?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27_rId4.png"/>
          <p:cNvPicPr>
            <a:picLocks noChangeAspect="1"/>
          </p:cNvPicPr>
          <p:nvPr/>
        </p:nvPicPr>
        <p:blipFill>
          <a:blip r:embed="rId2"/>
          <a:stretch>
            <a:fillRect/>
          </a:stretch>
        </p:blipFill>
        <p:spPr>
          <a:xfrm>
            <a:off x="2926080" y="1691640"/>
            <a:ext cx="6217920" cy="4663440"/>
          </a:xfrm>
          <a:prstGeom prst="rect">
            <a:avLst/>
          </a:prstGeom>
          <a:effectLst>
            <a:outerShdw blurRad="50800" dist="38100" dir="2700000" algn="tl" rotWithShape="0">
              <a:srgbClr val="000000">
                <a:alpha val="45000"/>
              </a:srgbClr>
            </a:outerShdw>
          </a:effectLst>
        </p:spPr>
      </p:pic>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1" name="TextBox 10"/>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28</a:t>
            </a:r>
          </a:p>
        </p:txBody>
      </p:sp>
      <p:sp>
        <p:nvSpPr>
          <p:cNvPr id="12" name="Rounded Rectangle 11"/>
          <p:cNvSpPr/>
          <p:nvPr/>
        </p:nvSpPr>
        <p:spPr>
          <a:xfrm>
            <a:off x="10579984" y="5907024"/>
            <a:ext cx="1359712" cy="466344"/>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79984" y="5907024"/>
            <a:ext cx="1359712" cy="466344"/>
          </a:xfrm>
          <a:prstGeom prst="rect">
            <a:avLst/>
          </a:prstGeom>
          <a:noFill/>
        </p:spPr>
        <p:txBody>
          <a:bodyPr wrap="square" lIns="0" rIns="0" tIns="0" bIns="0" anchor="ctr">
            <a:spAutoFit/>
          </a:bodyPr>
          <a:lstStyle/>
          <a:p>
            <a:pPr algn="ctr"/>
            <a:r>
              <a:rPr sz="1600" b="1" i="0">
                <a:solidFill>
                  <a:srgbClr val="0B2B4E"/>
                </a:solidFill>
                <a:latin typeface="Calibri"/>
              </a:rPr>
              <a:t>POLL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Wage Searchers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Solution:  Marginal Cost of the 3rd Researcher = $8M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3474720"/>
          </a:xfrm>
          <a:prstGeom prst="rect">
            <a:avLst/>
          </a:prstGeom>
          <a:noFill/>
        </p:spPr>
        <p:txBody>
          <a:bodyPr wrap="square" lIns="0" rIns="0" tIns="0" bIns="0">
            <a:spAutoFit/>
          </a:bodyPr>
          <a:lstStyle>
            <a:lvl1pPr marL="342900" indent="-342900">
              <a:spcBef>
                <a:spcPts val="1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The star researcher herself is paid  $5M</a:t>
            </a:r>
          </a:p>
          <a:p>
            <a:pPr algn="l"/>
            <a:r>
              <a:rPr>
                <a:latin typeface="Calibri"/>
              </a:rPr>
              <a:t>The two existing researchers each get a raise of  ($5M − $3.5M) = $1.5M</a:t>
            </a:r>
          </a:p>
          <a:p>
            <a:pPr algn="l"/>
            <a:r>
              <a:rPr>
                <a:latin typeface="Calibri"/>
              </a:rPr>
              <a:t>Total extra wage bill:  $5M + 2 × $1.5M</a:t>
            </a:r>
          </a:p>
          <a:p>
            <a:pPr algn="l"/>
            <a:r>
              <a:rPr>
                <a:latin typeface="Calibri"/>
              </a:rPr>
              <a:t>Full Marginal Cost of the 3rd researcher  =  </a:t>
            </a:r>
            <a:r>
              <a:rPr b="1">
                <a:latin typeface="Calibri"/>
              </a:rPr>
              <a:t>$8M</a:t>
            </a:r>
          </a:p>
        </p:txBody>
      </p:sp>
      <p:sp>
        <p:nvSpPr>
          <p:cNvPr id="8" name="Rounded Rectangle 7"/>
          <p:cNvSpPr/>
          <p:nvPr/>
        </p:nvSpPr>
        <p:spPr>
          <a:xfrm>
            <a:off x="1719986" y="4828032"/>
            <a:ext cx="8879738" cy="502920"/>
          </a:xfrm>
          <a:prstGeom prst="roundRect">
            <a:avLst>
              <a:gd name="adj" fmla="val 2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Take-Away:  Big buyers of scarce talent can affect wages  —  factor it in</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2" name="TextBox 11"/>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Wage Searchers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Are Real-World Wages = MRPL?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29_rId4.png"/>
          <p:cNvPicPr>
            <a:picLocks noChangeAspect="1"/>
          </p:cNvPicPr>
          <p:nvPr/>
        </p:nvPicPr>
        <p:blipFill>
          <a:blip r:embed="rId2"/>
          <a:stretch>
            <a:fillRect/>
          </a:stretch>
        </p:blipFill>
        <p:spPr>
          <a:xfrm>
            <a:off x="2300630" y="1420063"/>
            <a:ext cx="7589520" cy="4569524"/>
          </a:xfrm>
          <a:prstGeom prst="rect">
            <a:avLst/>
          </a:prstGeom>
        </p:spPr>
      </p:pic>
      <p:pic>
        <p:nvPicPr>
          <p:cNvPr id="8" name="Picture 7" descr="slide29_rId5.png"/>
          <p:cNvPicPr>
            <a:picLocks noChangeAspect="1"/>
          </p:cNvPicPr>
          <p:nvPr/>
        </p:nvPicPr>
        <p:blipFill>
          <a:blip r:embed="rId3"/>
          <a:stretch>
            <a:fillRect/>
          </a:stretch>
        </p:blipFill>
        <p:spPr>
          <a:xfrm>
            <a:off x="2300630" y="1412748"/>
            <a:ext cx="7589520" cy="4569524"/>
          </a:xfrm>
          <a:prstGeom prst="rect">
            <a:avLst/>
          </a:prstGeom>
          <a:effectLst>
            <a:outerShdw blurRad="50800" dist="38100" dir="2700000" algn="tl" rotWithShape="0">
              <a:srgbClr val="000000">
                <a:alpha val="45000"/>
              </a:srgbClr>
            </a:outerShdw>
          </a:effectLst>
        </p:spPr>
      </p:pic>
      <p:sp>
        <p:nvSpPr>
          <p:cNvPr id="9" name="TextBox 8"/>
          <p:cNvSpPr txBox="1"/>
          <p:nvPr/>
        </p:nvSpPr>
        <p:spPr>
          <a:xfrm>
            <a:off x="4603089" y="5988405"/>
            <a:ext cx="7589520" cy="502920"/>
          </a:xfrm>
          <a:prstGeom prst="rect">
            <a:avLst/>
          </a:prstGeom>
          <a:noFill/>
        </p:spPr>
        <p:txBody>
          <a:bodyPr wrap="square" anchor="ctr">
            <a:spAutoFit/>
          </a:bodyPr>
          <a:lstStyle/>
          <a:p>
            <a:pPr algn="ctr"/>
            <a:r>
              <a:rPr sz="1400" b="0">
                <a:solidFill>
                  <a:srgbClr val="000000"/>
                </a:solidFill>
                <a:latin typeface="Calibri"/>
              </a:rPr>
              <a:t>Search tool:  </a:t>
            </a:r>
            <a:r>
              <a:rPr sz="1400" b="0" u="none">
                <a:solidFill>
                  <a:srgbClr val="000000"/>
                </a:solidFill>
                <a:latin typeface="Calibri"/>
                <a:hlinkClick r:id="rId4"/>
              </a:rPr>
              <a:t>https://ucannualwage.ucop.edu/wage/</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3" name="TextBox 12"/>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Agenda</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Part 1.c:  Long Run – Choosing the Right Input Mix</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548640"/>
          </a:xfrm>
          <a:prstGeom prst="rect">
            <a:avLst/>
          </a:prstGeom>
          <a:noFill/>
        </p:spPr>
        <p:txBody>
          <a:bodyPr wrap="square" lIns="0" rIns="0" tIns="0" bIns="0">
            <a:spAutoFit/>
          </a:bodyPr>
          <a:lstStyle/>
          <a:p>
            <a:pPr algn="l"/>
            <a:r>
              <a:rPr sz="3000" b="1" i="0">
                <a:solidFill>
                  <a:srgbClr val="0B2B4E"/>
                </a:solidFill>
                <a:latin typeface="Calibri"/>
              </a:rPr>
              <a:t>Part 1: Production – Picking the Right Inputs</a:t>
            </a:r>
          </a:p>
        </p:txBody>
      </p:sp>
      <p:sp>
        <p:nvSpPr>
          <p:cNvPr id="8" name="TextBox 7"/>
          <p:cNvSpPr txBox="1"/>
          <p:nvPr/>
        </p:nvSpPr>
        <p:spPr>
          <a:xfrm>
            <a:off x="617759" y="2240280"/>
            <a:ext cx="11321937" cy="1234440"/>
          </a:xfrm>
          <a:prstGeom prst="rect">
            <a:avLst/>
          </a:prstGeom>
          <a:noFill/>
        </p:spPr>
        <p:txBody>
          <a:bodyPr wrap="square" lIns="0" rIns="0" tIns="0" bIns="0">
            <a:spAutoFit/>
          </a:bodyPr>
          <a:lstStyle/>
          <a:p>
            <a:pPr algn="l" marL="457200" indent="-457200">
              <a:buClr>
                <a:srgbClr val="B0B5BC"/>
              </a:buClr>
              <a:buFont typeface="Calibri"/>
              <a:buAutoNum type="alphaLcPeriod"/>
            </a:pPr>
            <a:r>
              <a:rPr sz="2400" b="0">
                <a:solidFill>
                  <a:srgbClr val="B0B5BC"/>
                </a:solidFill>
                <a:latin typeface="Calibri"/>
              </a:rPr>
              <a:t>Production Function</a:t>
            </a:r>
          </a:p>
          <a:p>
            <a:pPr algn="l" marL="457200" indent="-457200">
              <a:spcBef>
                <a:spcPts val="300"/>
              </a:spcBef>
              <a:buClr>
                <a:srgbClr val="B0B5BC"/>
              </a:buClr>
              <a:buFont typeface="Calibri"/>
              <a:buAutoNum type="alphaLcPeriod"/>
            </a:pPr>
            <a:r>
              <a:rPr sz="2400" b="0">
                <a:solidFill>
                  <a:srgbClr val="B0B5BC"/>
                </a:solidFill>
                <a:latin typeface="Calibri"/>
              </a:rPr>
              <a:t>Short Run – Hiring Decisions</a:t>
            </a:r>
          </a:p>
          <a:p>
            <a:pPr algn="l" marL="457200" indent="-457200">
              <a:spcBef>
                <a:spcPts val="300"/>
              </a:spcBef>
              <a:buClr>
                <a:srgbClr val="0B2B4E"/>
              </a:buClr>
              <a:buFont typeface="Calibri"/>
              <a:buAutoNum type="alphaLcPeriod"/>
            </a:pPr>
            <a:r>
              <a:rPr sz="2400" b="0">
                <a:solidFill>
                  <a:srgbClr val="0B2B4E"/>
                </a:solidFill>
                <a:latin typeface="Calibri"/>
              </a:rPr>
              <a:t>Long Run – Optimal Input Mix</a:t>
            </a:r>
          </a:p>
        </p:txBody>
      </p:sp>
      <p:sp>
        <p:nvSpPr>
          <p:cNvPr id="9" name="TextBox 8"/>
          <p:cNvSpPr txBox="1"/>
          <p:nvPr/>
        </p:nvSpPr>
        <p:spPr>
          <a:xfrm>
            <a:off x="251999" y="3611880"/>
            <a:ext cx="11687697" cy="548640"/>
          </a:xfrm>
          <a:prstGeom prst="rect">
            <a:avLst/>
          </a:prstGeom>
          <a:noFill/>
        </p:spPr>
        <p:txBody>
          <a:bodyPr wrap="square" lIns="0" rIns="0" tIns="0" bIns="0">
            <a:spAutoFit/>
          </a:bodyPr>
          <a:lstStyle/>
          <a:p>
            <a:pPr algn="l"/>
            <a:r>
              <a:rPr sz="3000" b="1" i="0">
                <a:solidFill>
                  <a:srgbClr val="B0B5BC"/>
                </a:solidFill>
                <a:latin typeface="Calibri"/>
              </a:rPr>
              <a:t>Part 2: Costs – Producing at the Lowest Price</a:t>
            </a:r>
          </a:p>
        </p:txBody>
      </p:sp>
      <p:sp>
        <p:nvSpPr>
          <p:cNvPr id="10" name="TextBox 9"/>
          <p:cNvSpPr txBox="1"/>
          <p:nvPr/>
        </p:nvSpPr>
        <p:spPr>
          <a:xfrm>
            <a:off x="617759" y="4160520"/>
            <a:ext cx="11321937" cy="1234440"/>
          </a:xfrm>
          <a:prstGeom prst="rect">
            <a:avLst/>
          </a:prstGeom>
          <a:noFill/>
        </p:spPr>
        <p:txBody>
          <a:bodyPr wrap="square" lIns="0" rIns="0" tIns="0" bIns="0">
            <a:spAutoFit/>
          </a:bodyPr>
          <a:lstStyle/>
          <a:p>
            <a:pPr algn="l" marL="457200" indent="-457200">
              <a:buClr>
                <a:srgbClr val="B0B5BC"/>
              </a:buClr>
              <a:buFont typeface="Calibri"/>
              <a:buAutoNum type="alphaLcPeriod"/>
            </a:pPr>
            <a:r>
              <a:rPr sz="2400" b="0">
                <a:solidFill>
                  <a:srgbClr val="B0B5BC"/>
                </a:solidFill>
                <a:latin typeface="Calibri"/>
              </a:rPr>
              <a:t>Cost Concepts</a:t>
            </a:r>
          </a:p>
          <a:p>
            <a:pPr algn="l" marL="457200" indent="-457200">
              <a:spcBef>
                <a:spcPts val="300"/>
              </a:spcBef>
              <a:buClr>
                <a:srgbClr val="B0B5BC"/>
              </a:buClr>
              <a:buFont typeface="Calibri"/>
              <a:buAutoNum type="alphaLcPeriod"/>
            </a:pPr>
            <a:r>
              <a:rPr sz="2400" b="0">
                <a:solidFill>
                  <a:srgbClr val="B0B5BC"/>
                </a:solidFill>
                <a:latin typeface="Calibri"/>
              </a:rPr>
              <a:t>Scale &amp; Scope</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Long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Long Run:  Rivian Builds a New Georgia Plant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6217920" cy="4206240"/>
          </a:xfrm>
          <a:prstGeom prst="rect">
            <a:avLst/>
          </a:prstGeom>
          <a:noFill/>
        </p:spPr>
        <p:txBody>
          <a:bodyPr wrap="square" lIns="0" rIns="0" tIns="0" bIns="0">
            <a:spAutoFit/>
          </a:bodyPr>
          <a:lstStyle>
            <a:lvl1pPr marL="342900" indent="-342900">
              <a:spcBef>
                <a:spcPts val="10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Context: Rivian builds its new Georgia plant</a:t>
            </a:r>
          </a:p>
          <a:p>
            <a:pPr algn="l"/>
            <a:r>
              <a:rPr>
                <a:latin typeface="Calibri"/>
              </a:rPr>
              <a:t>Both capital and labor are flexible inputs</a:t>
            </a:r>
          </a:p>
          <a:p>
            <a:pPr algn="l"/>
            <a:r>
              <a:rPr>
                <a:latin typeface="Calibri"/>
              </a:rPr>
              <a:t>What is the optimal input mix?</a:t>
            </a:r>
          </a:p>
          <a:p>
            <a:pPr algn="l" lvl="1"/>
            <a:r>
              <a:rPr>
                <a:latin typeface="Calibri"/>
              </a:rPr>
              <a:t>E.g., robots (K) and workers (L)</a:t>
            </a:r>
          </a:p>
          <a:p>
            <a:pPr algn="l"/>
            <a:r>
              <a:rPr>
                <a:latin typeface="Calibri"/>
              </a:rPr>
              <a:t>We will:</a:t>
            </a:r>
          </a:p>
          <a:p>
            <a:pPr algn="l" lvl="1"/>
            <a:r>
              <a:rPr>
                <a:latin typeface="Calibri"/>
              </a:rPr>
              <a:t>Use marginal analysis</a:t>
            </a:r>
          </a:p>
          <a:p>
            <a:pPr algn="l" lvl="1"/>
            <a:r>
              <a:rPr>
                <a:latin typeface="Calibri"/>
              </a:rPr>
              <a:t>Learn a simple rule for the optimal combination of inputs</a:t>
            </a:r>
          </a:p>
        </p:txBody>
      </p:sp>
      <p:pic>
        <p:nvPicPr>
          <p:cNvPr id="8" name="Picture 7" descr="_rivian_georgia.jpg"/>
          <p:cNvPicPr>
            <a:picLocks noChangeAspect="1"/>
          </p:cNvPicPr>
          <p:nvPr/>
        </p:nvPicPr>
        <p:blipFill>
          <a:blip r:embed="rId2"/>
          <a:stretch>
            <a:fillRect/>
          </a:stretch>
        </p:blipFill>
        <p:spPr>
          <a:xfrm>
            <a:off x="6614769" y="1480413"/>
            <a:ext cx="5326380" cy="2995574"/>
          </a:xfrm>
          <a:prstGeom prst="rect">
            <a:avLst/>
          </a:prstGeom>
          <a:effectLst>
            <a:outerShdw blurRad="50800" dist="38100" dir="2700000" algn="tl" rotWithShape="0">
              <a:srgbClr val="000000">
                <a:alpha val="45000"/>
              </a:srgbClr>
            </a:outerShdw>
          </a:effectLst>
        </p:spPr>
      </p:pic>
      <p:sp>
        <p:nvSpPr>
          <p:cNvPr id="9" name="TextBox 8"/>
          <p:cNvSpPr txBox="1"/>
          <p:nvPr/>
        </p:nvSpPr>
        <p:spPr>
          <a:xfrm>
            <a:off x="7471562" y="4561941"/>
            <a:ext cx="4021531" cy="182880"/>
          </a:xfrm>
          <a:prstGeom prst="rect">
            <a:avLst/>
          </a:prstGeom>
          <a:noFill/>
        </p:spPr>
        <p:txBody>
          <a:bodyPr wrap="square" lIns="0" rIns="0" tIns="0" bIns="0">
            <a:spAutoFit/>
          </a:bodyPr>
          <a:lstStyle/>
          <a:p>
            <a:pPr algn="ctr"/>
            <a:r>
              <a:rPr sz="1050" b="0" i="1">
                <a:solidFill>
                  <a:srgbClr val="555B66"/>
                </a:solidFill>
                <a:latin typeface="Calibri"/>
              </a:rPr>
              <a:t>Brian Cassella  |  Tribune News Service  |  Getty Images</a:t>
            </a:r>
          </a:p>
        </p:txBody>
      </p:sp>
      <p:sp>
        <p:nvSpPr>
          <p:cNvPr id="10" name="Rounded Rectangle 9"/>
          <p:cNvSpPr/>
          <p:nvPr/>
        </p:nvSpPr>
        <p:spPr>
          <a:xfrm>
            <a:off x="3432657" y="5598871"/>
            <a:ext cx="5326380" cy="454456"/>
          </a:xfrm>
          <a:prstGeom prst="roundRect">
            <a:avLst>
              <a:gd name="adj" fmla="val 2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Long run  ⇒  pick the optimal K-and-L mix</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Long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Optimal Combination of Inputs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312164"/>
            <a:ext cx="11687697" cy="5029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3200" b="0">
                <a:solidFill>
                  <a:srgbClr val="0B2B4E"/>
                </a:solidFill>
                <a:latin typeface="Calibri"/>
              </a:defRPr>
            </a:lvl1pPr>
            <a:lvl2pPr marL="685800" indent="-228600">
              <a:spcBef>
                <a:spcPts val="300"/>
              </a:spcBef>
              <a:buClr>
                <a:srgbClr val="555B66"/>
              </a:buClr>
              <a:buFont typeface="Calibri"/>
              <a:buChar char="–"/>
              <a:defRPr sz="2800" b="0">
                <a:solidFill>
                  <a:srgbClr val="555B66"/>
                </a:solidFill>
                <a:latin typeface="Calibri"/>
              </a:defRPr>
            </a:lvl2pPr>
          </a:lstStyle>
          <a:p>
            <a:pPr algn="l"/>
            <a:r>
              <a:rPr>
                <a:latin typeface="Calibri"/>
              </a:rPr>
              <a:t>Optimal Input Mix:  How much K and how much L?</a:t>
            </a:r>
          </a:p>
        </p:txBody>
      </p:sp>
      <p:sp>
        <p:nvSpPr>
          <p:cNvPr id="8" name="TextBox 7"/>
          <p:cNvSpPr txBox="1"/>
          <p:nvPr/>
        </p:nvSpPr>
        <p:spPr>
          <a:xfrm>
            <a:off x="251999" y="2071116"/>
            <a:ext cx="11687697" cy="457200"/>
          </a:xfrm>
          <a:prstGeom prst="rect">
            <a:avLst/>
          </a:prstGeom>
          <a:noFill/>
        </p:spPr>
        <p:txBody>
          <a:bodyPr wrap="square" lIns="0" rIns="0" tIns="0" bIns="0">
            <a:spAutoFit/>
          </a:bodyPr>
          <a:lstStyle/>
          <a:p>
            <a:pPr algn="ctr"/>
            <a:r>
              <a:rPr sz="2800" b="0" i="0">
                <a:solidFill>
                  <a:srgbClr val="555B66"/>
                </a:solidFill>
                <a:latin typeface="Calibri"/>
              </a:rPr>
              <a:t>Decision rule for the long run:</a:t>
            </a:r>
          </a:p>
        </p:txBody>
      </p:sp>
      <p:sp>
        <p:nvSpPr>
          <p:cNvPr id="9" name="TextBox 8"/>
          <p:cNvSpPr txBox="1"/>
          <p:nvPr/>
        </p:nvSpPr>
        <p:spPr>
          <a:xfrm>
            <a:off x="2286000" y="2702052"/>
            <a:ext cx="7589520" cy="1371600"/>
          </a:xfrm>
          <a:prstGeom prst="rect">
            <a:avLst/>
          </a:prstGeom>
          <a:noFill/>
        </p:spPr>
        <p:txBody>
          <a:bodyPr wrap="square" anchor="ctr">
            <a:spAutoFit/>
          </a:bodyPr>
          <a:lstStyle/>
          <a:p xmlns:m="http://schemas.openxmlformats.org/officeDocument/2006/math" xmlns:a14="http://schemas.microsoft.com/office/drawing/2010/main">
            <a:pPr algn="ctr">
              <a:defRPr sz="4400" b="0" i="1">
                <a:solidFill>
                  <a:srgbClr val="0B2B4E"/>
                </a:solidFill>
                <a:latin typeface="Cambria Math"/>
              </a:defRPr>
            </a:pPr>
            <a14:m>
              <m:oMathPara>
                <m:oMathParaPr>
                  <m:jc m:val="centerGroup"/>
                </m:oMathParaPr>
                <m:oMath>
                  <m:f>
                    <m:fPr>
                      <m:ctrlPr>
                        <a:rPr lang="en-US" i="1">
                          <a:latin typeface="Cambria Math"/>
                        </a:rPr>
                      </m:ctrlPr>
                    </m:fPr>
                    <m:num>
                      <m:sSub>
                        <m:sSubPr>
                          <m:ctrlPr>
                            <a:rPr lang="en-US" i="1">
                              <a:latin typeface="Cambria Math"/>
                            </a:rPr>
                          </m:ctrlPr>
                        </m:sSubPr>
                        <m:e>
                          <m:r>
                            <a:rPr lang="en-US" b="0" i="1" sz="4400">
                              <a:latin typeface="Cambria Math"/>
                              <a:ea typeface="Cambria Math"/>
                              <a:solidFill>
                                <a:srgbClr val="0B2B4E"/>
                              </a:solidFill>
                            </a:rPr>
                            <m:t>MP</m:t>
                          </m:r>
                        </m:e>
                        <m:sub>
                          <m:r>
                            <a:rPr lang="en-US" b="0" i="1" sz="4400">
                              <a:latin typeface="Cambria Math"/>
                              <a:ea typeface="Cambria Math"/>
                              <a:solidFill>
                                <a:srgbClr val="0B2B4E"/>
                              </a:solidFill>
                            </a:rPr>
                            <m:t>K</m:t>
                          </m:r>
                        </m:sub>
                      </m:sSub>
                    </m:num>
                    <m:den>
                      <m:sSub>
                        <m:sSubPr>
                          <m:ctrlPr>
                            <a:rPr lang="en-US" i="1">
                              <a:latin typeface="Cambria Math"/>
                            </a:rPr>
                          </m:ctrlPr>
                        </m:sSubPr>
                        <m:e>
                          <m:r>
                            <a:rPr lang="en-US" b="0" i="1" sz="4400">
                              <a:latin typeface="Cambria Math"/>
                              <a:ea typeface="Cambria Math"/>
                              <a:solidFill>
                                <a:srgbClr val="0B2B4E"/>
                              </a:solidFill>
                            </a:rPr>
                            <m:t>p</m:t>
                          </m:r>
                        </m:e>
                        <m:sub>
                          <m:r>
                            <a:rPr lang="en-US" b="0" i="1" sz="4400">
                              <a:latin typeface="Cambria Math"/>
                              <a:ea typeface="Cambria Math"/>
                              <a:solidFill>
                                <a:srgbClr val="0B2B4E"/>
                              </a:solidFill>
                            </a:rPr>
                            <m:t>K</m:t>
                          </m:r>
                        </m:sub>
                      </m:sSub>
                    </m:den>
                  </m:f>
                  <m:r>
                    <m:rPr>
                      <m:sty m:val="p"/>
                    </m:rPr>
                    <a:rPr lang="en-US" b="0" i="0" sz="4400">
                      <a:latin typeface="Cambria Math"/>
                      <a:solidFill>
                        <a:srgbClr val="0B2B4E"/>
                      </a:solidFill>
                    </a:rPr>
                    <m:t xml:space="preserve"> = </m:t>
                  </m:r>
                  <m:f>
                    <m:fPr>
                      <m:ctrlPr>
                        <a:rPr lang="en-US" i="1">
                          <a:latin typeface="Cambria Math"/>
                        </a:rPr>
                      </m:ctrlPr>
                    </m:fPr>
                    <m:num>
                      <m:sSub>
                        <m:sSubPr>
                          <m:ctrlPr>
                            <a:rPr lang="en-US" i="1">
                              <a:latin typeface="Cambria Math"/>
                            </a:rPr>
                          </m:ctrlPr>
                        </m:sSubPr>
                        <m:e>
                          <m:r>
                            <a:rPr lang="en-US" b="0" i="1" sz="4400">
                              <a:latin typeface="Cambria Math"/>
                              <a:ea typeface="Cambria Math"/>
                              <a:solidFill>
                                <a:srgbClr val="0B2B4E"/>
                              </a:solidFill>
                            </a:rPr>
                            <m:t>MP</m:t>
                          </m:r>
                        </m:e>
                        <m:sub>
                          <m:r>
                            <a:rPr lang="en-US" b="0" i="1" sz="4400">
                              <a:latin typeface="Cambria Math"/>
                              <a:ea typeface="Cambria Math"/>
                              <a:solidFill>
                                <a:srgbClr val="0B2B4E"/>
                              </a:solidFill>
                            </a:rPr>
                            <m:t>L</m:t>
                          </m:r>
                        </m:sub>
                      </m:sSub>
                    </m:num>
                    <m:den>
                      <m:r>
                        <a:rPr lang="en-US" b="0" i="1" sz="4400">
                          <a:latin typeface="Cambria Math"/>
                          <a:ea typeface="Cambria Math"/>
                          <a:solidFill>
                            <a:srgbClr val="0B2B4E"/>
                          </a:solidFill>
                        </a:rPr>
                        <m:t>w</m:t>
                      </m:r>
                    </m:den>
                  </m:f>
                </m:oMath>
              </m:oMathPara>
            </a14:m>
            <a:endParaRPr lang="en-US" sz="4400"/>
          </a:p>
        </p:txBody>
      </p:sp>
      <p:sp>
        <p:nvSpPr>
          <p:cNvPr id="10" name="Rounded Rectangle 9"/>
          <p:cNvSpPr/>
          <p:nvPr/>
        </p:nvSpPr>
        <p:spPr>
          <a:xfrm>
            <a:off x="3995013" y="4351629"/>
            <a:ext cx="4378147" cy="565099"/>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latin typeface="Calibri"/>
              </a:rPr>
              <a:t>Bang for the Buck Rule</a:t>
            </a:r>
          </a:p>
        </p:txBody>
      </p:sp>
      <p:sp>
        <p:nvSpPr>
          <p:cNvPr id="11" name="Rounded Rectangle 10"/>
          <p:cNvSpPr/>
          <p:nvPr/>
        </p:nvSpPr>
        <p:spPr>
          <a:xfrm>
            <a:off x="8631936" y="2856585"/>
            <a:ext cx="3262579" cy="1179576"/>
          </a:xfrm>
          <a:prstGeom prst="roundRect">
            <a:avLst>
              <a:gd name="adj" fmla="val 10000"/>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05088" y="2879445"/>
            <a:ext cx="3116275" cy="1133856"/>
          </a:xfrm>
          <a:prstGeom prst="rect">
            <a:avLst/>
          </a:prstGeom>
          <a:noFill/>
        </p:spPr>
        <p:txBody>
          <a:bodyPr wrap="square" lIns="45720" rIns="45720" tIns="0" bIns="0" anchor="ctr">
            <a:spAutoFit/>
          </a:bodyPr>
          <a:lstStyle/>
          <a:p>
            <a:pPr algn="l"/>
            <a:r>
              <a:rPr sz="1800" b="1" i="0">
                <a:solidFill>
                  <a:srgbClr val="0B2B4E"/>
                </a:solidFill>
                <a:latin typeface="Calibri"/>
              </a:rPr>
              <a:t>MP</a:t>
            </a:r>
            <a:r>
              <a:rPr sz="1800" b="1" i="0" baseline="-25000">
                <a:solidFill>
                  <a:srgbClr val="0B2B4E"/>
                </a:solidFill>
                <a:latin typeface="Calibri"/>
              </a:rPr>
              <a:t>K</a:t>
            </a:r>
            <a:r>
              <a:rPr sz="1600" b="0" i="0">
                <a:solidFill>
                  <a:srgbClr val="0B2B4E"/>
                </a:solidFill>
                <a:latin typeface="Calibri"/>
              </a:rPr>
              <a:t>  :  Marginal Product of Capital</a:t>
            </a:r>
          </a:p>
          <a:p>
            <a:pPr algn="l"/>
            <a:r>
              <a:rPr sz="1800" b="1" i="0">
                <a:solidFill>
                  <a:srgbClr val="0B2B4E"/>
                </a:solidFill>
                <a:latin typeface="Calibri"/>
              </a:rPr>
              <a:t>MP</a:t>
            </a:r>
            <a:r>
              <a:rPr sz="1800" b="1" i="0" baseline="-25000">
                <a:solidFill>
                  <a:srgbClr val="0B2B4E"/>
                </a:solidFill>
                <a:latin typeface="Calibri"/>
              </a:rPr>
              <a:t>L</a:t>
            </a:r>
            <a:r>
              <a:rPr sz="1600" b="0" i="0">
                <a:solidFill>
                  <a:srgbClr val="0B2B4E"/>
                </a:solidFill>
                <a:latin typeface="Calibri"/>
              </a:rPr>
              <a:t>  :  Marginal Product of Labor</a:t>
            </a:r>
          </a:p>
          <a:p>
            <a:pPr algn="l"/>
            <a:r>
              <a:rPr sz="1800" b="1" i="1">
                <a:solidFill>
                  <a:srgbClr val="0B2B4E"/>
                </a:solidFill>
                <a:latin typeface="Calibri"/>
              </a:rPr>
              <a:t>p</a:t>
            </a:r>
            <a:r>
              <a:rPr sz="1800" b="1" i="0">
                <a:solidFill>
                  <a:srgbClr val="0B2B4E"/>
                </a:solidFill>
                <a:latin typeface="Calibri"/>
              </a:rPr>
              <a:t>ₖ</a:t>
            </a:r>
            <a:r>
              <a:rPr sz="1600" b="0" i="0">
                <a:solidFill>
                  <a:srgbClr val="0B2B4E"/>
                </a:solidFill>
                <a:latin typeface="Calibri"/>
              </a:rPr>
              <a:t>  :  Price of Capital</a:t>
            </a:r>
          </a:p>
          <a:p>
            <a:pPr algn="l"/>
            <a:r>
              <a:rPr sz="1800" b="1" i="1">
                <a:solidFill>
                  <a:srgbClr val="0B2B4E"/>
                </a:solidFill>
                <a:latin typeface="Calibri"/>
              </a:rPr>
              <a:t>w</a:t>
            </a:r>
            <a:r>
              <a:rPr sz="1600" b="0" i="0">
                <a:solidFill>
                  <a:srgbClr val="0B2B4E"/>
                </a:solidFill>
                <a:latin typeface="Calibri"/>
              </a:rPr>
              <a:t>  :  Wage</a:t>
            </a:r>
          </a:p>
        </p:txBody>
      </p:sp>
      <p:sp>
        <p:nvSpPr>
          <p:cNvPr id="13" name="TextBox 12"/>
          <p:cNvSpPr txBox="1"/>
          <p:nvPr/>
        </p:nvSpPr>
        <p:spPr>
          <a:xfrm>
            <a:off x="213055" y="5298948"/>
            <a:ext cx="5882335" cy="1092708"/>
          </a:xfrm>
          <a:prstGeom prst="rect">
            <a:avLst/>
          </a:prstGeom>
          <a:noFill/>
        </p:spPr>
        <p:txBody>
          <a:bodyPr wrap="square" lIns="0" rIns="0" tIns="0" bIns="0">
            <a:sp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lvl="1"/>
            <a:r>
              <a:rPr>
                <a:latin typeface="Calibri"/>
              </a:rPr>
              <a:t>Holds when both L and K are flexible</a:t>
            </a:r>
          </a:p>
          <a:p>
            <a:pPr algn="l" lvl="1"/>
            <a:r>
              <a:rPr>
                <a:latin typeface="Calibri"/>
              </a:rPr>
              <a:t>Refers to a given output quantity Q</a:t>
            </a:r>
          </a:p>
          <a:p>
            <a:pPr algn="l" lvl="1"/>
            <a:r>
              <a:rPr>
                <a:latin typeface="Calibri"/>
              </a:rPr>
              <a:t>Assumes input prices w and pₖ are constant</a:t>
            </a:r>
          </a:p>
        </p:txBody>
      </p:sp>
      <p:sp>
        <p:nvSpPr>
          <p:cNvPr id="14" name="Rounded Rectangle 13"/>
          <p:cNvSpPr/>
          <p:nvPr/>
        </p:nvSpPr>
        <p:spPr>
          <a:xfrm>
            <a:off x="7657185" y="5865876"/>
            <a:ext cx="4470501" cy="548640"/>
          </a:xfrm>
          <a:prstGeom prst="roundRect">
            <a:avLst>
              <a:gd name="adj" fmla="val 20000"/>
            </a:avLst>
          </a:prstGeom>
          <a:solidFill>
            <a:srgbClr val="FAC090"/>
          </a:solidFill>
          <a:ln w="15875">
            <a:solidFill>
              <a:srgbClr val="0B2B4E"/>
            </a:solidFill>
            <a:prstDash val="dash"/>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Folded Corner 14"/>
          <p:cNvSpPr/>
          <p:nvPr/>
        </p:nvSpPr>
        <p:spPr>
          <a:xfrm>
            <a:off x="7840065" y="5911596"/>
            <a:ext cx="457200" cy="457200"/>
          </a:xfrm>
          <a:prstGeom prst="foldedCorner">
            <a:avLst/>
          </a:prstGeom>
          <a:solidFill>
            <a:srgbClr val="FFFFFF"/>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0B2B4E"/>
                </a:solidFill>
                <a:latin typeface="Calibri"/>
              </a:rPr>
              <a:t>PDF</a:t>
            </a:r>
          </a:p>
        </p:txBody>
      </p:sp>
      <p:sp>
        <p:nvSpPr>
          <p:cNvPr id="16" name="TextBox 15"/>
          <p:cNvSpPr txBox="1"/>
          <p:nvPr/>
        </p:nvSpPr>
        <p:spPr>
          <a:xfrm>
            <a:off x="8480145" y="5865876"/>
            <a:ext cx="3464661" cy="548640"/>
          </a:xfrm>
          <a:prstGeom prst="rect">
            <a:avLst/>
          </a:prstGeom>
          <a:noFill/>
        </p:spPr>
        <p:txBody>
          <a:bodyPr wrap="square" lIns="0" rIns="0" tIns="0" bIns="0" anchor="ctr">
            <a:spAutoFit/>
          </a:bodyPr>
          <a:lstStyle/>
          <a:p>
            <a:pPr algn="l"/>
            <a:r>
              <a:rPr sz="1200" b="1">
                <a:solidFill>
                  <a:srgbClr val="0B2B4E"/>
                </a:solidFill>
                <a:latin typeface="Calibri"/>
              </a:rPr>
              <a:t>SEE TEACHING NOTE  →  </a:t>
            </a:r>
            <a:r>
              <a:rPr sz="1600" i="1" b="1">
                <a:solidFill>
                  <a:srgbClr val="0B2B4E"/>
                </a:solidFill>
                <a:latin typeface="Calibri"/>
              </a:rPr>
              <a:t>Bang-for-the-Buck Rule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20" name="TextBox 19"/>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Long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Applying the 'Bang for the Buck' Rule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188720"/>
            <a:ext cx="11687697" cy="411480"/>
          </a:xfrm>
          <a:prstGeom prst="rect">
            <a:avLst/>
          </a:prstGeom>
          <a:noFill/>
        </p:spPr>
        <p:txBody>
          <a:bodyPr wrap="square" lIns="0" rIns="0" tIns="0" bIns="0">
            <a:spAutoFit/>
          </a:bodyPr>
          <a:lstStyle/>
          <a:p>
            <a:pPr algn="l"/>
            <a:r>
              <a:rPr sz="2000" b="0" i="1">
                <a:solidFill>
                  <a:srgbClr val="555B66"/>
                </a:solidFill>
                <a:latin typeface="Calibri"/>
              </a:rPr>
              <a:t>('recipe' for exams)</a:t>
            </a:r>
          </a:p>
        </p:txBody>
      </p:sp>
      <p:sp>
        <p:nvSpPr>
          <p:cNvPr id="8" name="TextBox 7"/>
          <p:cNvSpPr txBox="1"/>
          <p:nvPr/>
        </p:nvSpPr>
        <p:spPr>
          <a:xfrm>
            <a:off x="251999" y="1783080"/>
            <a:ext cx="11687697" cy="4572000"/>
          </a:xfrm>
          <a:prstGeom prst="rect">
            <a:avLst/>
          </a:prstGeom>
          <a:noFill/>
        </p:spPr>
        <p:txBody>
          <a:bodyPr wrap="square" lIns="0" rIns="0" tIns="0" bIns="0">
            <a:spAutoFit/>
          </a:bodyPr>
          <a:lstStyle>
            <a:lvl1pPr marL="342900" indent="-342900">
              <a:spcBef>
                <a:spcPts val="10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marL="0" indent="0">
              <a:buNone/>
            </a:pPr>
            <a:r>
              <a:rPr sz="2800">
                <a:solidFill>
                  <a:srgbClr val="0B2B4E"/>
                </a:solidFill>
                <a:latin typeface="Calibri"/>
              </a:rPr>
              <a:t>How to adjust L and K in order to produce a given quantity at lower cost</a:t>
            </a:r>
          </a:p>
          <a:p>
            <a:pPr algn="l">
              <a:spcBef>
                <a:spcPts val="1800"/>
              </a:spcBef>
            </a:pPr>
            <a:r>
              <a:rPr>
                <a:latin typeface="Calibri"/>
              </a:rPr>
              <a:t>If  </a:t>
            </a:r>
            <a14:m xmlns:a14="http://schemas.microsoft.com/office/drawing/2010/main" xmlns:m="http://schemas.openxmlformats.org/officeDocument/2006/math">
              <m:oMath>
                <m:f>
                  <m:fPr>
                    <m:ctrlPr>
                      <a:rPr lang="en-US" i="1">
                        <a:latin typeface="Cambria Math"/>
                      </a:rPr>
                    </m:ctrlPr>
                  </m:fPr>
                  <m:num>
                    <m:sSub>
                      <m:sSubPr>
                        <m:ctrlPr>
                          <a:rPr lang="en-US" i="1">
                            <a:latin typeface="Cambria Math"/>
                          </a:rPr>
                        </m:ctrlPr>
                      </m:sSubPr>
                      <m:e>
                        <m:r>
                          <a:rPr lang="en-US" b="0" i="1" sz="2800">
                            <a:latin typeface="Cambria Math"/>
                            <a:ea typeface="Cambria Math"/>
                            <a:solidFill>
                              <a:srgbClr val="0B2B4E"/>
                            </a:solidFill>
                          </a:rPr>
                          <m:t>MP</m:t>
                        </m:r>
                      </m:e>
                      <m:sub>
                        <m:r>
                          <a:rPr lang="en-US" b="0" i="1" sz="2800">
                            <a:latin typeface="Cambria Math"/>
                            <a:ea typeface="Cambria Math"/>
                            <a:solidFill>
                              <a:srgbClr val="0B2B4E"/>
                            </a:solidFill>
                          </a:rPr>
                          <m:t>L</m:t>
                        </m:r>
                      </m:sub>
                    </m:sSub>
                  </m:num>
                  <m:den>
                    <m:r>
                      <a:rPr lang="en-US" b="0" i="1" sz="2800">
                        <a:latin typeface="Cambria Math"/>
                        <a:ea typeface="Cambria Math"/>
                        <a:solidFill>
                          <a:srgbClr val="0B2B4E"/>
                        </a:solidFill>
                      </a:rPr>
                      <m:t>w</m:t>
                    </m:r>
                  </m:den>
                </m:f>
              </m:oMath>
            </a14:m>
            <a:r>
              <a:rPr>
                <a:latin typeface="Calibri"/>
              </a:rPr>
              <a:t> &gt; </a:t>
            </a:r>
            <a14:m xmlns:a14="http://schemas.microsoft.com/office/drawing/2010/main" xmlns:m="http://schemas.openxmlformats.org/officeDocument/2006/math">
              <m:oMath>
                <m:f>
                  <m:fPr>
                    <m:ctrlPr>
                      <a:rPr lang="en-US" i="1">
                        <a:latin typeface="Cambria Math"/>
                      </a:rPr>
                    </m:ctrlPr>
                  </m:fPr>
                  <m:num>
                    <m:sSub>
                      <m:sSubPr>
                        <m:ctrlPr>
                          <a:rPr lang="en-US" i="1">
                            <a:latin typeface="Cambria Math"/>
                          </a:rPr>
                        </m:ctrlPr>
                      </m:sSubPr>
                      <m:e>
                        <m:r>
                          <a:rPr lang="en-US" b="0" i="1" sz="2800">
                            <a:latin typeface="Cambria Math"/>
                            <a:ea typeface="Cambria Math"/>
                            <a:solidFill>
                              <a:srgbClr val="0B2B4E"/>
                            </a:solidFill>
                          </a:rPr>
                          <m:t>MP</m:t>
                        </m:r>
                      </m:e>
                      <m:sub>
                        <m:r>
                          <a:rPr lang="en-US" b="0" i="1" sz="2800">
                            <a:latin typeface="Cambria Math"/>
                            <a:ea typeface="Cambria Math"/>
                            <a:solidFill>
                              <a:srgbClr val="0B2B4E"/>
                            </a:solidFill>
                          </a:rPr>
                          <m:t>K</m:t>
                        </m:r>
                      </m:sub>
                    </m:sSub>
                  </m:num>
                  <m:den>
                    <m:sSub>
                      <m:sSubPr>
                        <m:ctrlPr>
                          <a:rPr lang="en-US" i="1">
                            <a:latin typeface="Cambria Math"/>
                          </a:rPr>
                        </m:ctrlPr>
                      </m:sSubPr>
                      <m:e>
                        <m:r>
                          <a:rPr lang="en-US" b="0" i="1" sz="2800">
                            <a:latin typeface="Cambria Math"/>
                            <a:ea typeface="Cambria Math"/>
                            <a:solidFill>
                              <a:srgbClr val="0B2B4E"/>
                            </a:solidFill>
                          </a:rPr>
                          <m:t>p</m:t>
                        </m:r>
                      </m:e>
                      <m:sub>
                        <m:r>
                          <a:rPr lang="en-US" b="0" i="1" sz="2800">
                            <a:latin typeface="Cambria Math"/>
                            <a:ea typeface="Cambria Math"/>
                            <a:solidFill>
                              <a:srgbClr val="0B2B4E"/>
                            </a:solidFill>
                          </a:rPr>
                          <m:t>K</m:t>
                        </m:r>
                      </m:sub>
                    </m:sSub>
                  </m:den>
                </m:f>
              </m:oMath>
            </a14:m>
            <a:r>
              <a:rPr>
                <a:latin typeface="Calibri"/>
              </a:rPr>
              <a:t>   →    use more </a:t>
            </a:r>
            <a:r>
              <a:rPr i="1">
                <a:latin typeface="Calibri"/>
              </a:rPr>
              <a:t>L</a:t>
            </a:r>
            <a:r>
              <a:rPr>
                <a:latin typeface="Calibri"/>
              </a:rPr>
              <a:t> and less </a:t>
            </a:r>
            <a:r>
              <a:rPr i="1">
                <a:latin typeface="Calibri"/>
              </a:rPr>
              <a:t>K</a:t>
            </a:r>
          </a:p>
          <a:p>
            <a:pPr algn="l" lvl="1"/>
            <a:r>
              <a:rPr>
                <a:latin typeface="Calibri"/>
              </a:rPr>
              <a:t>Decreasing marginal returns imply:</a:t>
            </a:r>
          </a:p>
          <a:p>
            <a:pPr algn="l" lvl="2" marL="1028700" indent="-228600">
              <a:spcBef>
                <a:spcPts val="300"/>
              </a:spcBef>
              <a:buClr>
                <a:srgbClr val="555B66"/>
              </a:buClr>
              <a:buFont typeface="Calibri"/>
              <a:buChar char="–"/>
            </a:pPr>
            <a:r>
              <a:rPr sz="2200">
                <a:solidFill>
                  <a:srgbClr val="555B66"/>
                </a:solidFill>
                <a:latin typeface="Calibri"/>
              </a:rPr>
              <a:t>Due to increased </a:t>
            </a:r>
            <a:r>
              <a:rPr sz="2200" i="1">
                <a:solidFill>
                  <a:srgbClr val="555B66"/>
                </a:solidFill>
                <a:latin typeface="Calibri"/>
              </a:rPr>
              <a:t>L</a:t>
            </a:r>
            <a:r>
              <a:rPr sz="2200">
                <a:solidFill>
                  <a:srgbClr val="555B66"/>
                </a:solidFill>
                <a:latin typeface="Calibri"/>
              </a:rPr>
              <a:t>,  </a:t>
            </a:r>
            <a14:m xmlns:a14="http://schemas.microsoft.com/office/drawing/2010/main" xmlns:m="http://schemas.openxmlformats.org/officeDocument/2006/math">
              <m:oMath>
                <m:sSub>
                  <m:sSubPr>
                    <m:ctrlPr>
                      <a:rPr lang="en-US" i="1">
                        <a:latin typeface="Cambria Math"/>
                      </a:rPr>
                    </m:ctrlPr>
                  </m:sSubPr>
                  <m:e>
                    <m:r>
                      <a:rPr lang="en-US" b="0" i="1" sz="2200">
                        <a:latin typeface="Cambria Math"/>
                        <a:ea typeface="Cambria Math"/>
                        <a:solidFill>
                          <a:srgbClr val="555B66"/>
                        </a:solidFill>
                      </a:rPr>
                      <m:t>MP</m:t>
                    </m:r>
                  </m:e>
                  <m:sub>
                    <m:r>
                      <a:rPr lang="en-US" b="0" i="1" sz="2200">
                        <a:latin typeface="Cambria Math"/>
                        <a:ea typeface="Cambria Math"/>
                        <a:solidFill>
                          <a:srgbClr val="555B66"/>
                        </a:solidFill>
                      </a:rPr>
                      <m:t>L</m:t>
                    </m:r>
                  </m:sub>
                </m:sSub>
              </m:oMath>
            </a14:m>
            <a:r>
              <a:rPr sz="2200">
                <a:solidFill>
                  <a:srgbClr val="555B66"/>
                </a:solidFill>
                <a:latin typeface="Calibri"/>
              </a:rPr>
              <a:t>   will fall as </a:t>
            </a:r>
            <a:r>
              <a:rPr sz="2200" i="1">
                <a:solidFill>
                  <a:srgbClr val="555B66"/>
                </a:solidFill>
                <a:latin typeface="Calibri"/>
              </a:rPr>
              <a:t>L</a:t>
            </a:r>
            <a:r>
              <a:rPr sz="2200">
                <a:solidFill>
                  <a:srgbClr val="555B66"/>
                </a:solidFill>
                <a:latin typeface="Calibri"/>
              </a:rPr>
              <a:t> increases</a:t>
            </a:r>
          </a:p>
          <a:p>
            <a:pPr algn="l" lvl="2" marL="1028700" indent="-228600">
              <a:spcBef>
                <a:spcPts val="300"/>
              </a:spcBef>
              <a:buClr>
                <a:srgbClr val="555B66"/>
              </a:buClr>
              <a:buFont typeface="Calibri"/>
              <a:buChar char="–"/>
            </a:pPr>
            <a:r>
              <a:rPr sz="2200">
                <a:solidFill>
                  <a:srgbClr val="555B66"/>
                </a:solidFill>
                <a:latin typeface="Calibri"/>
              </a:rPr>
              <a:t>Due to reduced </a:t>
            </a:r>
            <a:r>
              <a:rPr sz="2200" i="1">
                <a:solidFill>
                  <a:srgbClr val="555B66"/>
                </a:solidFill>
                <a:latin typeface="Calibri"/>
              </a:rPr>
              <a:t>K</a:t>
            </a:r>
            <a:r>
              <a:rPr sz="2200">
                <a:solidFill>
                  <a:srgbClr val="555B66"/>
                </a:solidFill>
                <a:latin typeface="Calibri"/>
              </a:rPr>
              <a:t>,  </a:t>
            </a:r>
            <a14:m xmlns:a14="http://schemas.microsoft.com/office/drawing/2010/main" xmlns:m="http://schemas.openxmlformats.org/officeDocument/2006/math">
              <m:oMath>
                <m:sSub>
                  <m:sSubPr>
                    <m:ctrlPr>
                      <a:rPr lang="en-US" i="1">
                        <a:latin typeface="Cambria Math"/>
                      </a:rPr>
                    </m:ctrlPr>
                  </m:sSubPr>
                  <m:e>
                    <m:r>
                      <a:rPr lang="en-US" b="0" i="1" sz="2200">
                        <a:latin typeface="Cambria Math"/>
                        <a:ea typeface="Cambria Math"/>
                        <a:solidFill>
                          <a:srgbClr val="555B66"/>
                        </a:solidFill>
                      </a:rPr>
                      <m:t>MP</m:t>
                    </m:r>
                  </m:e>
                  <m:sub>
                    <m:r>
                      <a:rPr lang="en-US" b="0" i="1" sz="2200">
                        <a:latin typeface="Cambria Math"/>
                        <a:ea typeface="Cambria Math"/>
                        <a:solidFill>
                          <a:srgbClr val="555B66"/>
                        </a:solidFill>
                      </a:rPr>
                      <m:t>K</m:t>
                    </m:r>
                  </m:sub>
                </m:sSub>
              </m:oMath>
            </a14:m>
            <a:r>
              <a:rPr sz="2200">
                <a:solidFill>
                  <a:srgbClr val="555B66"/>
                </a:solidFill>
                <a:latin typeface="Calibri"/>
              </a:rPr>
              <a:t>   will rise as </a:t>
            </a:r>
            <a:r>
              <a:rPr sz="2200" i="1">
                <a:solidFill>
                  <a:srgbClr val="555B66"/>
                </a:solidFill>
                <a:latin typeface="Calibri"/>
              </a:rPr>
              <a:t>L</a:t>
            </a:r>
            <a:r>
              <a:rPr sz="2200">
                <a:solidFill>
                  <a:srgbClr val="555B66"/>
                </a:solidFill>
                <a:latin typeface="Calibri"/>
              </a:rPr>
              <a:t> increases</a:t>
            </a:r>
          </a:p>
          <a:p>
            <a:pPr algn="l">
              <a:spcBef>
                <a:spcPts val="1800"/>
              </a:spcBef>
            </a:pPr>
            <a:r>
              <a:rPr>
                <a:latin typeface="Calibri"/>
              </a:rPr>
              <a:t>If  </a:t>
            </a:r>
            <a14:m xmlns:a14="http://schemas.microsoft.com/office/drawing/2010/main" xmlns:m="http://schemas.openxmlformats.org/officeDocument/2006/math">
              <m:oMath>
                <m:f>
                  <m:fPr>
                    <m:ctrlPr>
                      <a:rPr lang="en-US" i="1">
                        <a:latin typeface="Cambria Math"/>
                      </a:rPr>
                    </m:ctrlPr>
                  </m:fPr>
                  <m:num>
                    <m:sSub>
                      <m:sSubPr>
                        <m:ctrlPr>
                          <a:rPr lang="en-US" i="1">
                            <a:latin typeface="Cambria Math"/>
                          </a:rPr>
                        </m:ctrlPr>
                      </m:sSubPr>
                      <m:e>
                        <m:r>
                          <a:rPr lang="en-US" b="0" i="1" sz="2800">
                            <a:latin typeface="Cambria Math"/>
                            <a:ea typeface="Cambria Math"/>
                            <a:solidFill>
                              <a:srgbClr val="0B2B4E"/>
                            </a:solidFill>
                          </a:rPr>
                          <m:t>MP</m:t>
                        </m:r>
                      </m:e>
                      <m:sub>
                        <m:r>
                          <a:rPr lang="en-US" b="0" i="1" sz="2800">
                            <a:latin typeface="Cambria Math"/>
                            <a:ea typeface="Cambria Math"/>
                            <a:solidFill>
                              <a:srgbClr val="0B2B4E"/>
                            </a:solidFill>
                          </a:rPr>
                          <m:t>L</m:t>
                        </m:r>
                      </m:sub>
                    </m:sSub>
                  </m:num>
                  <m:den>
                    <m:r>
                      <a:rPr lang="en-US" b="0" i="1" sz="2800">
                        <a:latin typeface="Cambria Math"/>
                        <a:ea typeface="Cambria Math"/>
                        <a:solidFill>
                          <a:srgbClr val="0B2B4E"/>
                        </a:solidFill>
                      </a:rPr>
                      <m:t>w</m:t>
                    </m:r>
                  </m:den>
                </m:f>
              </m:oMath>
            </a14:m>
            <a:r>
              <a:rPr>
                <a:latin typeface="Calibri"/>
              </a:rPr>
              <a:t> &lt; </a:t>
            </a:r>
            <a14:m xmlns:a14="http://schemas.microsoft.com/office/drawing/2010/main" xmlns:m="http://schemas.openxmlformats.org/officeDocument/2006/math">
              <m:oMath>
                <m:f>
                  <m:fPr>
                    <m:ctrlPr>
                      <a:rPr lang="en-US" i="1">
                        <a:latin typeface="Cambria Math"/>
                      </a:rPr>
                    </m:ctrlPr>
                  </m:fPr>
                  <m:num>
                    <m:sSub>
                      <m:sSubPr>
                        <m:ctrlPr>
                          <a:rPr lang="en-US" i="1">
                            <a:latin typeface="Cambria Math"/>
                          </a:rPr>
                        </m:ctrlPr>
                      </m:sSubPr>
                      <m:e>
                        <m:r>
                          <a:rPr lang="en-US" b="0" i="1" sz="2800">
                            <a:latin typeface="Cambria Math"/>
                            <a:ea typeface="Cambria Math"/>
                            <a:solidFill>
                              <a:srgbClr val="0B2B4E"/>
                            </a:solidFill>
                          </a:rPr>
                          <m:t>MP</m:t>
                        </m:r>
                      </m:e>
                      <m:sub>
                        <m:r>
                          <a:rPr lang="en-US" b="0" i="1" sz="2800">
                            <a:latin typeface="Cambria Math"/>
                            <a:ea typeface="Cambria Math"/>
                            <a:solidFill>
                              <a:srgbClr val="0B2B4E"/>
                            </a:solidFill>
                          </a:rPr>
                          <m:t>K</m:t>
                        </m:r>
                      </m:sub>
                    </m:sSub>
                  </m:num>
                  <m:den>
                    <m:sSub>
                      <m:sSubPr>
                        <m:ctrlPr>
                          <a:rPr lang="en-US" i="1">
                            <a:latin typeface="Cambria Math"/>
                          </a:rPr>
                        </m:ctrlPr>
                      </m:sSubPr>
                      <m:e>
                        <m:r>
                          <a:rPr lang="en-US" b="0" i="1" sz="2800">
                            <a:latin typeface="Cambria Math"/>
                            <a:ea typeface="Cambria Math"/>
                            <a:solidFill>
                              <a:srgbClr val="0B2B4E"/>
                            </a:solidFill>
                          </a:rPr>
                          <m:t>p</m:t>
                        </m:r>
                      </m:e>
                      <m:sub>
                        <m:r>
                          <a:rPr lang="en-US" b="0" i="1" sz="2800">
                            <a:latin typeface="Cambria Math"/>
                            <a:ea typeface="Cambria Math"/>
                            <a:solidFill>
                              <a:srgbClr val="0B2B4E"/>
                            </a:solidFill>
                          </a:rPr>
                          <m:t>K</m:t>
                        </m:r>
                      </m:sub>
                    </m:sSub>
                  </m:den>
                </m:f>
              </m:oMath>
            </a14:m>
            <a:r>
              <a:rPr>
                <a:latin typeface="Calibri"/>
              </a:rPr>
              <a:t>   →    use less </a:t>
            </a:r>
            <a:r>
              <a:rPr i="1">
                <a:latin typeface="Calibri"/>
              </a:rPr>
              <a:t>L</a:t>
            </a:r>
            <a:r>
              <a:rPr>
                <a:latin typeface="Calibri"/>
              </a:rPr>
              <a:t> and more </a:t>
            </a:r>
            <a:r>
              <a:rPr i="1">
                <a:latin typeface="Calibri"/>
              </a:rPr>
              <a:t>K</a:t>
            </a:r>
          </a:p>
          <a:p>
            <a:pPr algn="l">
              <a:spcBef>
                <a:spcPts val="1800"/>
              </a:spcBef>
            </a:pPr>
            <a:r>
              <a:rPr>
                <a:latin typeface="Calibri"/>
              </a:rPr>
              <a:t>…continue to adjust until    </a:t>
            </a:r>
            <a14:m xmlns:a14="http://schemas.microsoft.com/office/drawing/2010/main" xmlns:m="http://schemas.openxmlformats.org/officeDocument/2006/math">
              <m:oMath>
                <m:f>
                  <m:fPr>
                    <m:ctrlPr>
                      <a:rPr lang="en-US" i="1">
                        <a:latin typeface="Cambria Math"/>
                      </a:rPr>
                    </m:ctrlPr>
                  </m:fPr>
                  <m:num>
                    <m:sSub>
                      <m:sSubPr>
                        <m:ctrlPr>
                          <a:rPr lang="en-US" i="1">
                            <a:latin typeface="Cambria Math"/>
                          </a:rPr>
                        </m:ctrlPr>
                      </m:sSubPr>
                      <m:e>
                        <m:r>
                          <a:rPr lang="en-US" b="0" i="1" sz="2800">
                            <a:latin typeface="Cambria Math"/>
                            <a:ea typeface="Cambria Math"/>
                            <a:solidFill>
                              <a:srgbClr val="0B2B4E"/>
                            </a:solidFill>
                          </a:rPr>
                          <m:t>MP</m:t>
                        </m:r>
                      </m:e>
                      <m:sub>
                        <m:r>
                          <a:rPr lang="en-US" b="0" i="1" sz="2800">
                            <a:latin typeface="Cambria Math"/>
                            <a:ea typeface="Cambria Math"/>
                            <a:solidFill>
                              <a:srgbClr val="0B2B4E"/>
                            </a:solidFill>
                          </a:rPr>
                          <m:t>L</m:t>
                        </m:r>
                      </m:sub>
                    </m:sSub>
                  </m:num>
                  <m:den>
                    <m:r>
                      <a:rPr lang="en-US" b="0" i="1" sz="2800">
                        <a:latin typeface="Cambria Math"/>
                        <a:ea typeface="Cambria Math"/>
                        <a:solidFill>
                          <a:srgbClr val="0B2B4E"/>
                        </a:solidFill>
                      </a:rPr>
                      <m:t>w</m:t>
                    </m:r>
                  </m:den>
                </m:f>
                <m:r>
                  <m:rPr>
                    <m:sty m:val="p"/>
                  </m:rPr>
                  <a:rPr lang="en-US" b="0" i="0" sz="2800">
                    <a:latin typeface="Cambria Math"/>
                    <a:solidFill>
                      <a:srgbClr val="0B2B4E"/>
                    </a:solidFill>
                  </a:rPr>
                  <m:t xml:space="preserve">  =  </m:t>
                </m:r>
                <m:f>
                  <m:fPr>
                    <m:ctrlPr>
                      <a:rPr lang="en-US" i="1">
                        <a:latin typeface="Cambria Math"/>
                      </a:rPr>
                    </m:ctrlPr>
                  </m:fPr>
                  <m:num>
                    <m:sSub>
                      <m:sSubPr>
                        <m:ctrlPr>
                          <a:rPr lang="en-US" i="1">
                            <a:latin typeface="Cambria Math"/>
                          </a:rPr>
                        </m:ctrlPr>
                      </m:sSubPr>
                      <m:e>
                        <m:r>
                          <a:rPr lang="en-US" b="0" i="1" sz="2800">
                            <a:latin typeface="Cambria Math"/>
                            <a:ea typeface="Cambria Math"/>
                            <a:solidFill>
                              <a:srgbClr val="0B2B4E"/>
                            </a:solidFill>
                          </a:rPr>
                          <m:t>MP</m:t>
                        </m:r>
                      </m:e>
                      <m:sub>
                        <m:r>
                          <a:rPr lang="en-US" b="0" i="1" sz="2800">
                            <a:latin typeface="Cambria Math"/>
                            <a:ea typeface="Cambria Math"/>
                            <a:solidFill>
                              <a:srgbClr val="0B2B4E"/>
                            </a:solidFill>
                          </a:rPr>
                          <m:t>K</m:t>
                        </m:r>
                      </m:sub>
                    </m:sSub>
                  </m:num>
                  <m:den>
                    <m:sSub>
                      <m:sSubPr>
                        <m:ctrlPr>
                          <a:rPr lang="en-US" i="1">
                            <a:latin typeface="Cambria Math"/>
                          </a:rPr>
                        </m:ctrlPr>
                      </m:sSubPr>
                      <m:e>
                        <m:r>
                          <a:rPr lang="en-US" b="0" i="1" sz="2800">
                            <a:latin typeface="Cambria Math"/>
                            <a:ea typeface="Cambria Math"/>
                            <a:solidFill>
                              <a:srgbClr val="0B2B4E"/>
                            </a:solidFill>
                          </a:rPr>
                          <m:t>p</m:t>
                        </m:r>
                      </m:e>
                      <m:sub>
                        <m:r>
                          <a:rPr lang="en-US" b="0" i="1" sz="2800">
                            <a:latin typeface="Cambria Math"/>
                            <a:ea typeface="Cambria Math"/>
                            <a:solidFill>
                              <a:srgbClr val="0B2B4E"/>
                            </a:solidFill>
                          </a:rPr>
                          <m:t>K</m:t>
                        </m:r>
                      </m:sub>
                    </m:sSub>
                  </m:den>
                </m:f>
              </m:oMath>
            </a14:m>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2" name="TextBox 11"/>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Long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Example:  Rivian's New Georgia Plant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7315200" cy="4023360"/>
          </a:xfrm>
          <a:prstGeom prst="rect">
            <a:avLst/>
          </a:prstGeom>
          <a:noFill/>
        </p:spPr>
        <p:txBody>
          <a:bodyPr wrap="square" lIns="0" rIns="0" tIns="0" bIns="0">
            <a:sp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Rivian is building a new plant in Stanton Springs, Georgia</a:t>
            </a:r>
          </a:p>
          <a:p>
            <a:pPr algn="l"/>
            <a:r>
              <a:rPr>
                <a:latin typeface="Calibri"/>
              </a:rPr>
              <a:t>They ask for your advice on the optimal mix of robots and workers</a:t>
            </a:r>
          </a:p>
          <a:p>
            <a:pPr algn="l"/>
            <a:r>
              <a:rPr>
                <a:latin typeface="Calibri"/>
              </a:rPr>
              <a:t>You know:</a:t>
            </a:r>
          </a:p>
          <a:p>
            <a:pPr algn="l" lvl="1"/>
            <a:r>
              <a:rPr>
                <a:latin typeface="Calibri"/>
              </a:rPr>
              <a:t>Current plan:  300 robots and 2,000 workers</a:t>
            </a:r>
          </a:p>
          <a:p>
            <a:pPr algn="l" lvl="1"/>
            <a:r>
              <a:rPr>
                <a:latin typeface="Calibri"/>
              </a:rPr>
              <a:t>Weekly wage for suitable workers:  w = $1,200</a:t>
            </a:r>
          </a:p>
          <a:p>
            <a:pPr algn="l" lvl="1"/>
            <a:r>
              <a:rPr>
                <a:latin typeface="Calibri"/>
              </a:rPr>
              <a:t>Cost of one robot (per week):  pₖ = $20,000</a:t>
            </a:r>
          </a:p>
          <a:p>
            <a:pPr algn="l"/>
            <a:r>
              <a:rPr>
                <a:latin typeface="Calibri"/>
              </a:rPr>
              <a:t>Is Rivian's 300 robots / 2,000 workers plan optimal?</a:t>
            </a:r>
          </a:p>
        </p:txBody>
      </p:sp>
      <p:pic>
        <p:nvPicPr>
          <p:cNvPr id="8" name="Picture 7" descr="_rivian_georgia_plan.png"/>
          <p:cNvPicPr>
            <a:picLocks noChangeAspect="1"/>
          </p:cNvPicPr>
          <p:nvPr/>
        </p:nvPicPr>
        <p:blipFill>
          <a:blip r:embed="rId2"/>
          <a:stretch>
            <a:fillRect/>
          </a:stretch>
        </p:blipFill>
        <p:spPr>
          <a:xfrm>
            <a:off x="7361834" y="1284732"/>
            <a:ext cx="4742992" cy="3163824"/>
          </a:xfrm>
          <a:prstGeom prst="roundRect">
            <a:avLst>
              <a:gd name="adj" fmla="val 8000"/>
            </a:avLst>
          </a:prstGeom>
          <a:effectLst>
            <a:outerShdw blurRad="50800" dist="38100" dir="2700000" algn="tl" rotWithShape="0">
              <a:srgbClr val="000000">
                <a:alpha val="50000"/>
              </a:srgbClr>
            </a:outerShdw>
          </a:effectLst>
        </p:spPr>
      </p:pic>
      <p:sp>
        <p:nvSpPr>
          <p:cNvPr id="9" name="Rectangle 8"/>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08944" y="5715000"/>
            <a:ext cx="3072384" cy="658368"/>
          </a:xfrm>
          <a:prstGeom prst="rect">
            <a:avLst/>
          </a:prstGeom>
          <a:noFill/>
        </p:spPr>
        <p:txBody>
          <a:bodyPr wrap="none" anchor="ctr" lIns="45720" rIns="45720" tIns="18288" bIns="18288">
            <a:spAutoFit/>
          </a:bodyPr>
          <a:lstStyle/>
          <a:p>
            <a:pPr algn="ctr"/>
            <a:r>
              <a:rPr sz="2800" b="1">
                <a:solidFill>
                  <a:srgbClr val="0B2B4E"/>
                </a:solidFill>
                <a:latin typeface="Calibri"/>
              </a:rPr>
              <a:t>Discussion Break</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Long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Is Rivian's Current Plan Optimal?  (Production Function)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8229600" cy="4389120"/>
          </a:xfrm>
          <a:prstGeom prst="rect">
            <a:avLst/>
          </a:prstGeom>
          <a:noFill/>
        </p:spPr>
        <p:txBody>
          <a:bodyPr wrap="square" lIns="0" rIns="0" tIns="0" bIns="0">
            <a:spAutoFit/>
          </a:bodyPr>
          <a:lstStyle>
            <a:lvl1pPr marL="342900" indent="-342900">
              <a:spcBef>
                <a:spcPts val="10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The production function at Rivian's new plant:</a:t>
            </a:r>
          </a:p>
          <a:p>
            <a:pPr algn="l"/>
            <a:r>
              <a:rPr>
                <a:solidFill>
                  <a:srgbClr val="0070C0"/>
                </a:solidFill>
                <a:latin typeface="Calibri"/>
              </a:rPr>
              <a:t>Current mix:  300 robots, 2,000 workers</a:t>
            </a:r>
          </a:p>
          <a:p>
            <a:pPr algn="l"/>
            <a:r>
              <a:rPr>
                <a:latin typeface="Calibri"/>
              </a:rPr>
              <a:t>Let's derive the “ingredients” for the bang-for-the-buck rule</a:t>
            </a:r>
          </a:p>
          <a:p>
            <a:pPr algn="l" lvl="1"/>
            <a:r>
              <a:rPr>
                <a:latin typeface="Calibri"/>
              </a:rPr>
              <a:t>Convention:  use the next-higher input level (Δ goes forward)</a:t>
            </a:r>
          </a:p>
          <a:p>
            <a:pPr algn="l" lvl="1"/>
            <a:r>
              <a:rPr>
                <a:solidFill>
                  <a:srgbClr val="4F6128"/>
                </a:solidFill>
                <a:latin typeface="Calibri"/>
              </a:rPr>
              <a:t>Labor:   MPₗ  =  ΔQ / ΔL  =  (571 − 534) / (2,500 − 2,000)  =  0.07</a:t>
            </a:r>
          </a:p>
          <a:p>
            <a:pPr algn="l" lvl="1"/>
            <a:r>
              <a:rPr>
                <a:solidFill>
                  <a:srgbClr val="C00000"/>
                </a:solidFill>
                <a:latin typeface="Calibri"/>
              </a:rPr>
              <a:t>Robots:  MPₖ  =  ΔQ / ΔK  =  (617 − 534) / (400 − 300)  =  0.83</a:t>
            </a:r>
          </a:p>
          <a:p>
            <a:pPr algn="l"/>
            <a:r>
              <a:rPr>
                <a:latin typeface="Calibri"/>
              </a:rPr>
              <a:t>Now:  Check if Rivian's proposed choice is optimal  (PollEV)</a:t>
            </a:r>
          </a:p>
        </p:txBody>
      </p:sp>
      <p:sp>
        <p:nvSpPr>
          <p:cNvPr id="8" name="Rectangle 7"/>
          <p:cNvSpPr/>
          <p:nvPr/>
        </p:nvSpPr>
        <p:spPr>
          <a:xfrm>
            <a:off x="8732520" y="2103120"/>
            <a:ext cx="2670048" cy="338328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8732520" y="2103120"/>
          <a:ext cx="2670048" cy="3383280"/>
        </p:xfrm>
        <a:graphic>
          <a:graphicData uri="http://schemas.openxmlformats.org/drawingml/2006/table">
            <a:tbl>
              <a:tblPr firstRow="1" bandRow="1">
                <a:tableStyleId>{5C22544A-7EE6-4342-B048-85BDC9FD1C3A}</a:tableStyleId>
              </a:tblPr>
              <a:tblGrid>
                <a:gridCol w="658368"/>
                <a:gridCol w="502920"/>
                <a:gridCol w="502920"/>
                <a:gridCol w="502920"/>
                <a:gridCol w="502920"/>
              </a:tblGrid>
              <a:tr h="260252">
                <a:tc>
                  <a:txBody>
                    <a:bodyPr/>
                    <a:lstStyle/>
                    <a:p>
                      <a:pPr algn="ctr"/>
                    </a:p>
                  </a:txBody>
                  <a:tcPr marL="54864" marR="54864" marT="9144" marB="9144">
                    <a:solidFill>
                      <a:srgbClr val="0B2B4E"/>
                    </a:solidFill>
                  </a:tcPr>
                </a:tc>
                <a:tc>
                  <a:txBody>
                    <a:bodyPr/>
                    <a:lstStyle/>
                    <a:p>
                      <a:pPr algn="ctr"/>
                      <a:r>
                        <a:rPr sz="1100" b="1">
                          <a:solidFill>
                            <a:srgbClr val="FFFFFF"/>
                          </a:solidFill>
                          <a:latin typeface="Calibri"/>
                        </a:rPr>
                        <a:t>100</a:t>
                      </a:r>
                    </a:p>
                  </a:txBody>
                  <a:tcPr marL="54864" marR="54864" marT="9144" marB="9144">
                    <a:solidFill>
                      <a:srgbClr val="0B2B4E"/>
                    </a:solidFill>
                  </a:tcPr>
                </a:tc>
                <a:tc>
                  <a:txBody>
                    <a:bodyPr/>
                    <a:lstStyle/>
                    <a:p>
                      <a:pPr algn="ctr"/>
                      <a:r>
                        <a:rPr sz="1100" b="1">
                          <a:solidFill>
                            <a:srgbClr val="FFFFFF"/>
                          </a:solidFill>
                          <a:latin typeface="Calibri"/>
                        </a:rPr>
                        <a:t>200</a:t>
                      </a:r>
                    </a:p>
                  </a:txBody>
                  <a:tcPr marL="54864" marR="54864" marT="9144" marB="9144">
                    <a:solidFill>
                      <a:srgbClr val="0B2B4E"/>
                    </a:solidFill>
                  </a:tcPr>
                </a:tc>
                <a:tc>
                  <a:txBody>
                    <a:bodyPr/>
                    <a:lstStyle/>
                    <a:p>
                      <a:pPr algn="ctr"/>
                      <a:r>
                        <a:rPr sz="1100" b="1">
                          <a:solidFill>
                            <a:srgbClr val="FFFFFF"/>
                          </a:solidFill>
                          <a:latin typeface="Calibri"/>
                        </a:rPr>
                        <a:t>300</a:t>
                      </a:r>
                    </a:p>
                  </a:txBody>
                  <a:tcPr marL="54864" marR="54864" marT="9144" marB="9144">
                    <a:solidFill>
                      <a:srgbClr val="0B2B4E"/>
                    </a:solidFill>
                  </a:tcPr>
                </a:tc>
                <a:tc>
                  <a:txBody>
                    <a:bodyPr/>
                    <a:lstStyle/>
                    <a:p>
                      <a:pPr algn="ctr"/>
                      <a:r>
                        <a:rPr sz="1100" b="1">
                          <a:solidFill>
                            <a:srgbClr val="FFFFFF"/>
                          </a:solidFill>
                          <a:latin typeface="Calibri"/>
                        </a:rPr>
                        <a:t>400</a:t>
                      </a:r>
                    </a:p>
                  </a:txBody>
                  <a:tcPr marL="54864" marR="54864" marT="9144" marB="9144">
                    <a:solidFill>
                      <a:srgbClr val="0B2B4E"/>
                    </a:solidFill>
                  </a:tcPr>
                </a:tc>
              </a:tr>
              <a:tr h="260252">
                <a:tc>
                  <a:txBody>
                    <a:bodyPr/>
                    <a:lstStyle/>
                    <a:p>
                      <a:pPr algn="ctr"/>
                      <a:r>
                        <a:rPr sz="1100" b="1">
                          <a:solidFill>
                            <a:srgbClr val="FFFFFF"/>
                          </a:solidFill>
                          <a:latin typeface="Calibri"/>
                        </a:rPr>
                        <a:t>0</a:t>
                      </a:r>
                    </a:p>
                  </a:txBody>
                  <a:tcPr marL="54864" marR="54864" marT="9144" marB="9144">
                    <a:solidFill>
                      <a:srgbClr val="0B2B4E"/>
                    </a:solidFill>
                  </a:tcPr>
                </a:tc>
                <a:tc>
                  <a:txBody>
                    <a:bodyPr/>
                    <a:lstStyle/>
                    <a:p>
                      <a:pPr algn="ctr"/>
                      <a:r>
                        <a:rPr sz="1100">
                          <a:solidFill>
                            <a:srgbClr val="0B2B4E"/>
                          </a:solidFill>
                          <a:latin typeface="Calibri"/>
                        </a:rPr>
                        <a:t>0</a:t>
                      </a:r>
                    </a:p>
                  </a:txBody>
                  <a:tcPr marL="54864" marR="54864" marT="9144" marB="9144">
                    <a:solidFill>
                      <a:srgbClr val="FFFFFF"/>
                    </a:solidFill>
                  </a:tcPr>
                </a:tc>
                <a:tc>
                  <a:txBody>
                    <a:bodyPr/>
                    <a:lstStyle/>
                    <a:p>
                      <a:pPr algn="ctr"/>
                      <a:r>
                        <a:rPr sz="1100">
                          <a:solidFill>
                            <a:srgbClr val="0B2B4E"/>
                          </a:solidFill>
                          <a:latin typeface="Calibri"/>
                        </a:rPr>
                        <a:t>0</a:t>
                      </a:r>
                    </a:p>
                  </a:txBody>
                  <a:tcPr marL="54864" marR="54864" marT="9144" marB="9144">
                    <a:solidFill>
                      <a:srgbClr val="FFFFFF"/>
                    </a:solidFill>
                  </a:tcPr>
                </a:tc>
                <a:tc>
                  <a:txBody>
                    <a:bodyPr/>
                    <a:lstStyle/>
                    <a:p>
                      <a:pPr algn="ctr"/>
                      <a:r>
                        <a:rPr sz="1100">
                          <a:solidFill>
                            <a:srgbClr val="0B2B4E"/>
                          </a:solidFill>
                          <a:latin typeface="Calibri"/>
                        </a:rPr>
                        <a:t>0</a:t>
                      </a:r>
                    </a:p>
                  </a:txBody>
                  <a:tcPr marL="54864" marR="54864" marT="9144" marB="9144">
                    <a:solidFill>
                      <a:srgbClr val="FFFFFF"/>
                    </a:solidFill>
                  </a:tcPr>
                </a:tc>
                <a:tc>
                  <a:txBody>
                    <a:bodyPr/>
                    <a:lstStyle/>
                    <a:p>
                      <a:pPr algn="ctr"/>
                      <a:r>
                        <a:rPr sz="1100">
                          <a:solidFill>
                            <a:srgbClr val="0B2B4E"/>
                          </a:solidFill>
                          <a:latin typeface="Calibri"/>
                        </a:rPr>
                        <a:t>0</a:t>
                      </a:r>
                    </a:p>
                  </a:txBody>
                  <a:tcPr marL="54864" marR="54864" marT="9144" marB="9144">
                    <a:solidFill>
                      <a:srgbClr val="FFFFFF"/>
                    </a:solidFill>
                  </a:tcPr>
                </a:tc>
              </a:tr>
              <a:tr h="260252">
                <a:tc>
                  <a:txBody>
                    <a:bodyPr/>
                    <a:lstStyle/>
                    <a:p>
                      <a:pPr algn="ctr"/>
                      <a:r>
                        <a:rPr sz="1100" b="1">
                          <a:solidFill>
                            <a:srgbClr val="FFFFFF"/>
                          </a:solidFill>
                          <a:latin typeface="Calibri"/>
                        </a:rPr>
                        <a:t>250</a:t>
                      </a:r>
                    </a:p>
                  </a:txBody>
                  <a:tcPr marL="54864" marR="54864" marT="9144" marB="9144">
                    <a:solidFill>
                      <a:srgbClr val="0B2B4E"/>
                    </a:solidFill>
                  </a:tcPr>
                </a:tc>
                <a:tc>
                  <a:txBody>
                    <a:bodyPr/>
                    <a:lstStyle/>
                    <a:p>
                      <a:pPr algn="ctr"/>
                      <a:r>
                        <a:rPr sz="1100">
                          <a:solidFill>
                            <a:srgbClr val="0B2B4E"/>
                          </a:solidFill>
                          <a:latin typeface="Calibri"/>
                        </a:rPr>
                        <a:t>165</a:t>
                      </a:r>
                    </a:p>
                  </a:txBody>
                  <a:tcPr marL="54864" marR="54864" marT="9144" marB="9144">
                    <a:solidFill>
                      <a:srgbClr val="FFFFFF"/>
                    </a:solidFill>
                  </a:tcPr>
                </a:tc>
                <a:tc>
                  <a:txBody>
                    <a:bodyPr/>
                    <a:lstStyle/>
                    <a:p>
                      <a:pPr algn="ctr"/>
                      <a:r>
                        <a:rPr sz="1100">
                          <a:solidFill>
                            <a:srgbClr val="0B2B4E"/>
                          </a:solidFill>
                          <a:latin typeface="Calibri"/>
                        </a:rPr>
                        <a:t>234</a:t>
                      </a:r>
                    </a:p>
                  </a:txBody>
                  <a:tcPr marL="54864" marR="54864" marT="9144" marB="9144">
                    <a:solidFill>
                      <a:srgbClr val="FFFFFF"/>
                    </a:solidFill>
                  </a:tcPr>
                </a:tc>
                <a:tc>
                  <a:txBody>
                    <a:bodyPr/>
                    <a:lstStyle/>
                    <a:p>
                      <a:pPr algn="ctr"/>
                      <a:r>
                        <a:rPr sz="1100">
                          <a:solidFill>
                            <a:srgbClr val="0B2B4E"/>
                          </a:solidFill>
                          <a:latin typeface="Calibri"/>
                        </a:rPr>
                        <a:t>286</a:t>
                      </a:r>
                    </a:p>
                  </a:txBody>
                  <a:tcPr marL="54864" marR="54864" marT="9144" marB="9144">
                    <a:solidFill>
                      <a:srgbClr val="FFFFFF"/>
                    </a:solidFill>
                  </a:tcPr>
                </a:tc>
                <a:tc>
                  <a:txBody>
                    <a:bodyPr/>
                    <a:lstStyle/>
                    <a:p>
                      <a:pPr algn="ctr"/>
                      <a:r>
                        <a:rPr sz="1100">
                          <a:solidFill>
                            <a:srgbClr val="0B2B4E"/>
                          </a:solidFill>
                          <a:latin typeface="Calibri"/>
                        </a:rPr>
                        <a:t>331</a:t>
                      </a:r>
                    </a:p>
                  </a:txBody>
                  <a:tcPr marL="54864" marR="54864" marT="9144" marB="9144">
                    <a:solidFill>
                      <a:srgbClr val="FFFFFF"/>
                    </a:solidFill>
                  </a:tcPr>
                </a:tc>
              </a:tr>
              <a:tr h="260252">
                <a:tc>
                  <a:txBody>
                    <a:bodyPr/>
                    <a:lstStyle/>
                    <a:p>
                      <a:pPr algn="ctr"/>
                      <a:r>
                        <a:rPr sz="1100" b="1">
                          <a:solidFill>
                            <a:srgbClr val="FFFFFF"/>
                          </a:solidFill>
                          <a:latin typeface="Calibri"/>
                        </a:rPr>
                        <a:t>500</a:t>
                      </a:r>
                    </a:p>
                  </a:txBody>
                  <a:tcPr marL="54864" marR="54864" marT="9144" marB="9144">
                    <a:solidFill>
                      <a:srgbClr val="0B2B4E"/>
                    </a:solidFill>
                  </a:tcPr>
                </a:tc>
                <a:tc>
                  <a:txBody>
                    <a:bodyPr/>
                    <a:lstStyle/>
                    <a:p>
                      <a:pPr algn="ctr"/>
                      <a:r>
                        <a:rPr sz="1100">
                          <a:solidFill>
                            <a:srgbClr val="0B2B4E"/>
                          </a:solidFill>
                          <a:latin typeface="Calibri"/>
                        </a:rPr>
                        <a:t>204</a:t>
                      </a:r>
                    </a:p>
                  </a:txBody>
                  <a:tcPr marL="54864" marR="54864" marT="9144" marB="9144">
                    <a:solidFill>
                      <a:srgbClr val="FFFFFF"/>
                    </a:solidFill>
                  </a:tcPr>
                </a:tc>
                <a:tc>
                  <a:txBody>
                    <a:bodyPr/>
                    <a:lstStyle/>
                    <a:p>
                      <a:pPr algn="ctr"/>
                      <a:r>
                        <a:rPr sz="1100">
                          <a:solidFill>
                            <a:srgbClr val="0B2B4E"/>
                          </a:solidFill>
                          <a:latin typeface="Calibri"/>
                        </a:rPr>
                        <a:t>288</a:t>
                      </a:r>
                    </a:p>
                  </a:txBody>
                  <a:tcPr marL="54864" marR="54864" marT="9144" marB="9144">
                    <a:solidFill>
                      <a:srgbClr val="FFFFFF"/>
                    </a:solidFill>
                  </a:tcPr>
                </a:tc>
                <a:tc>
                  <a:txBody>
                    <a:bodyPr/>
                    <a:lstStyle/>
                    <a:p>
                      <a:pPr algn="ctr"/>
                      <a:r>
                        <a:rPr sz="1100">
                          <a:solidFill>
                            <a:srgbClr val="0B2B4E"/>
                          </a:solidFill>
                          <a:latin typeface="Calibri"/>
                        </a:rPr>
                        <a:t>353</a:t>
                      </a:r>
                    </a:p>
                  </a:txBody>
                  <a:tcPr marL="54864" marR="54864" marT="9144" marB="9144">
                    <a:solidFill>
                      <a:srgbClr val="FFFFFF"/>
                    </a:solidFill>
                  </a:tcPr>
                </a:tc>
                <a:tc>
                  <a:txBody>
                    <a:bodyPr/>
                    <a:lstStyle/>
                    <a:p>
                      <a:pPr algn="ctr"/>
                      <a:r>
                        <a:rPr sz="1100">
                          <a:solidFill>
                            <a:srgbClr val="0B2B4E"/>
                          </a:solidFill>
                          <a:latin typeface="Calibri"/>
                        </a:rPr>
                        <a:t>407</a:t>
                      </a:r>
                    </a:p>
                  </a:txBody>
                  <a:tcPr marL="54864" marR="54864" marT="9144" marB="9144">
                    <a:solidFill>
                      <a:srgbClr val="FFFFFF"/>
                    </a:solidFill>
                  </a:tcPr>
                </a:tc>
              </a:tr>
              <a:tr h="260252">
                <a:tc>
                  <a:txBody>
                    <a:bodyPr/>
                    <a:lstStyle/>
                    <a:p>
                      <a:pPr algn="ctr"/>
                      <a:r>
                        <a:rPr sz="1100" b="1">
                          <a:solidFill>
                            <a:srgbClr val="FFFFFF"/>
                          </a:solidFill>
                          <a:latin typeface="Calibri"/>
                        </a:rPr>
                        <a:t>1,000</a:t>
                      </a:r>
                    </a:p>
                  </a:txBody>
                  <a:tcPr marL="54864" marR="54864" marT="9144" marB="9144">
                    <a:solidFill>
                      <a:srgbClr val="0B2B4E"/>
                    </a:solidFill>
                  </a:tcPr>
                </a:tc>
                <a:tc>
                  <a:txBody>
                    <a:bodyPr/>
                    <a:lstStyle/>
                    <a:p>
                      <a:pPr algn="ctr"/>
                      <a:r>
                        <a:rPr sz="1100">
                          <a:solidFill>
                            <a:srgbClr val="0B2B4E"/>
                          </a:solidFill>
                          <a:latin typeface="Calibri"/>
                        </a:rPr>
                        <a:t>251</a:t>
                      </a:r>
                    </a:p>
                  </a:txBody>
                  <a:tcPr marL="54864" marR="54864" marT="9144" marB="9144">
                    <a:solidFill>
                      <a:srgbClr val="FFFFFF"/>
                    </a:solidFill>
                  </a:tcPr>
                </a:tc>
                <a:tc>
                  <a:txBody>
                    <a:bodyPr/>
                    <a:lstStyle/>
                    <a:p>
                      <a:pPr algn="ctr"/>
                      <a:r>
                        <a:rPr sz="1100">
                          <a:solidFill>
                            <a:srgbClr val="0B2B4E"/>
                          </a:solidFill>
                          <a:latin typeface="Calibri"/>
                        </a:rPr>
                        <a:t>354</a:t>
                      </a:r>
                    </a:p>
                  </a:txBody>
                  <a:tcPr marL="54864" marR="54864" marT="9144" marB="9144">
                    <a:solidFill>
                      <a:srgbClr val="FFFFFF"/>
                    </a:solidFill>
                  </a:tcPr>
                </a:tc>
                <a:tc>
                  <a:txBody>
                    <a:bodyPr/>
                    <a:lstStyle/>
                    <a:p>
                      <a:pPr algn="ctr"/>
                      <a:r>
                        <a:rPr sz="1100">
                          <a:solidFill>
                            <a:srgbClr val="0B2B4E"/>
                          </a:solidFill>
                          <a:latin typeface="Calibri"/>
                        </a:rPr>
                        <a:t>434</a:t>
                      </a:r>
                    </a:p>
                  </a:txBody>
                  <a:tcPr marL="54864" marR="54864" marT="9144" marB="9144">
                    <a:solidFill>
                      <a:srgbClr val="FFFFFF"/>
                    </a:solidFill>
                  </a:tcPr>
                </a:tc>
                <a:tc>
                  <a:txBody>
                    <a:bodyPr/>
                    <a:lstStyle/>
                    <a:p>
                      <a:pPr algn="ctr"/>
                      <a:r>
                        <a:rPr sz="1100">
                          <a:solidFill>
                            <a:srgbClr val="0B2B4E"/>
                          </a:solidFill>
                          <a:latin typeface="Calibri"/>
                        </a:rPr>
                        <a:t>501</a:t>
                      </a:r>
                    </a:p>
                  </a:txBody>
                  <a:tcPr marL="54864" marR="54864" marT="9144" marB="9144">
                    <a:solidFill>
                      <a:srgbClr val="FFFFFF"/>
                    </a:solidFill>
                  </a:tcPr>
                </a:tc>
              </a:tr>
              <a:tr h="260252">
                <a:tc>
                  <a:txBody>
                    <a:bodyPr/>
                    <a:lstStyle/>
                    <a:p>
                      <a:pPr algn="ctr"/>
                      <a:r>
                        <a:rPr sz="1100" b="1">
                          <a:solidFill>
                            <a:srgbClr val="FFFFFF"/>
                          </a:solidFill>
                          <a:latin typeface="Calibri"/>
                        </a:rPr>
                        <a:t>1,500</a:t>
                      </a:r>
                    </a:p>
                  </a:txBody>
                  <a:tcPr marL="54864" marR="54864" marT="9144" marB="9144">
                    <a:solidFill>
                      <a:srgbClr val="0B2B4E"/>
                    </a:solidFill>
                  </a:tcPr>
                </a:tc>
                <a:tc>
                  <a:txBody>
                    <a:bodyPr/>
                    <a:lstStyle/>
                    <a:p>
                      <a:pPr algn="ctr"/>
                      <a:r>
                        <a:rPr sz="1100">
                          <a:solidFill>
                            <a:srgbClr val="0B2B4E"/>
                          </a:solidFill>
                          <a:latin typeface="Calibri"/>
                        </a:rPr>
                        <a:t>283</a:t>
                      </a:r>
                    </a:p>
                  </a:txBody>
                  <a:tcPr marL="54864" marR="54864" marT="9144" marB="9144">
                    <a:solidFill>
                      <a:srgbClr val="FFFFFF"/>
                    </a:solidFill>
                  </a:tcPr>
                </a:tc>
                <a:tc>
                  <a:txBody>
                    <a:bodyPr/>
                    <a:lstStyle/>
                    <a:p>
                      <a:pPr algn="ctr"/>
                      <a:r>
                        <a:rPr sz="1100">
                          <a:solidFill>
                            <a:srgbClr val="0B2B4E"/>
                          </a:solidFill>
                          <a:latin typeface="Calibri"/>
                        </a:rPr>
                        <a:t>400</a:t>
                      </a:r>
                    </a:p>
                  </a:txBody>
                  <a:tcPr marL="54864" marR="54864" marT="9144" marB="9144">
                    <a:solidFill>
                      <a:srgbClr val="FFFFFF"/>
                    </a:solidFill>
                  </a:tcPr>
                </a:tc>
                <a:tc>
                  <a:txBody>
                    <a:bodyPr/>
                    <a:lstStyle/>
                    <a:p>
                      <a:pPr algn="ctr"/>
                      <a:r>
                        <a:rPr sz="1100">
                          <a:solidFill>
                            <a:srgbClr val="0B2B4E"/>
                          </a:solidFill>
                          <a:latin typeface="Calibri"/>
                        </a:rPr>
                        <a:t>490</a:t>
                      </a:r>
                    </a:p>
                  </a:txBody>
                  <a:tcPr marL="54864" marR="54864" marT="9144" marB="9144">
                    <a:solidFill>
                      <a:srgbClr val="FFFFFF"/>
                    </a:solidFill>
                  </a:tcPr>
                </a:tc>
                <a:tc>
                  <a:txBody>
                    <a:bodyPr/>
                    <a:lstStyle/>
                    <a:p>
                      <a:pPr algn="ctr"/>
                      <a:r>
                        <a:rPr sz="1100">
                          <a:solidFill>
                            <a:srgbClr val="0B2B4E"/>
                          </a:solidFill>
                          <a:latin typeface="Calibri"/>
                        </a:rPr>
                        <a:t>566</a:t>
                      </a:r>
                    </a:p>
                  </a:txBody>
                  <a:tcPr marL="54864" marR="54864" marT="9144" marB="9144">
                    <a:solidFill>
                      <a:srgbClr val="FFFFFF"/>
                    </a:solidFill>
                  </a:tcPr>
                </a:tc>
              </a:tr>
              <a:tr h="260252">
                <a:tc>
                  <a:txBody>
                    <a:bodyPr/>
                    <a:lstStyle/>
                    <a:p>
                      <a:pPr algn="ctr"/>
                      <a:r>
                        <a:rPr sz="1100" b="1">
                          <a:solidFill>
                            <a:srgbClr val="FFFFFF"/>
                          </a:solidFill>
                          <a:latin typeface="Calibri"/>
                        </a:rPr>
                        <a:t>2,000</a:t>
                      </a:r>
                    </a:p>
                  </a:txBody>
                  <a:tcPr marL="54864" marR="54864" marT="9144" marB="9144">
                    <a:solidFill>
                      <a:srgbClr val="0B2B4E"/>
                    </a:solidFill>
                  </a:tcPr>
                </a:tc>
                <a:tc>
                  <a:txBody>
                    <a:bodyPr/>
                    <a:lstStyle/>
                    <a:p>
                      <a:pPr algn="ctr"/>
                      <a:r>
                        <a:rPr sz="1100">
                          <a:solidFill>
                            <a:srgbClr val="0B2B4E"/>
                          </a:solidFill>
                          <a:latin typeface="Calibri"/>
                        </a:rPr>
                        <a:t>309</a:t>
                      </a:r>
                    </a:p>
                  </a:txBody>
                  <a:tcPr marL="54864" marR="54864" marT="9144" marB="9144">
                    <a:solidFill>
                      <a:srgbClr val="FFFFFF"/>
                    </a:solidFill>
                  </a:tcPr>
                </a:tc>
                <a:tc>
                  <a:txBody>
                    <a:bodyPr/>
                    <a:lstStyle/>
                    <a:p>
                      <a:pPr algn="ctr"/>
                      <a:r>
                        <a:rPr sz="1100">
                          <a:solidFill>
                            <a:srgbClr val="0B2B4E"/>
                          </a:solidFill>
                          <a:latin typeface="Calibri"/>
                        </a:rPr>
                        <a:t>436</a:t>
                      </a:r>
                    </a:p>
                  </a:txBody>
                  <a:tcPr marL="54864" marR="54864" marT="9144" marB="9144">
                    <a:solidFill>
                      <a:srgbClr val="FFFFFF"/>
                    </a:solidFill>
                  </a:tcPr>
                </a:tc>
                <a:tc>
                  <a:txBody>
                    <a:bodyPr/>
                    <a:lstStyle/>
                    <a:p>
                      <a:pPr algn="ctr"/>
                      <a:r>
                        <a:rPr sz="1100">
                          <a:solidFill>
                            <a:srgbClr val="0B2B4E"/>
                          </a:solidFill>
                          <a:latin typeface="Calibri"/>
                        </a:rPr>
                        <a:t>534</a:t>
                      </a:r>
                    </a:p>
                  </a:txBody>
                  <a:tcPr marL="54864" marR="54864" marT="9144" marB="9144">
                    <a:solidFill>
                      <a:srgbClr val="FFFFFF"/>
                    </a:solidFill>
                  </a:tcPr>
                </a:tc>
                <a:tc>
                  <a:txBody>
                    <a:bodyPr/>
                    <a:lstStyle/>
                    <a:p>
                      <a:pPr algn="ctr"/>
                      <a:r>
                        <a:rPr sz="1100">
                          <a:solidFill>
                            <a:srgbClr val="0B2B4E"/>
                          </a:solidFill>
                          <a:latin typeface="Calibri"/>
                        </a:rPr>
                        <a:t>617</a:t>
                      </a:r>
                    </a:p>
                  </a:txBody>
                  <a:tcPr marL="54864" marR="54864" marT="9144" marB="9144">
                    <a:solidFill>
                      <a:srgbClr val="FFFFFF"/>
                    </a:solidFill>
                  </a:tcPr>
                </a:tc>
              </a:tr>
              <a:tr h="260252">
                <a:tc>
                  <a:txBody>
                    <a:bodyPr/>
                    <a:lstStyle/>
                    <a:p>
                      <a:pPr algn="ctr"/>
                      <a:r>
                        <a:rPr sz="1100" b="1">
                          <a:solidFill>
                            <a:srgbClr val="FFFFFF"/>
                          </a:solidFill>
                          <a:latin typeface="Calibri"/>
                        </a:rPr>
                        <a:t>2,500</a:t>
                      </a:r>
                    </a:p>
                  </a:txBody>
                  <a:tcPr marL="54864" marR="54864" marT="9144" marB="9144">
                    <a:solidFill>
                      <a:srgbClr val="0B2B4E"/>
                    </a:solidFill>
                  </a:tcPr>
                </a:tc>
                <a:tc>
                  <a:txBody>
                    <a:bodyPr/>
                    <a:lstStyle/>
                    <a:p>
                      <a:pPr algn="ctr"/>
                      <a:r>
                        <a:rPr sz="1100">
                          <a:solidFill>
                            <a:srgbClr val="0B2B4E"/>
                          </a:solidFill>
                          <a:latin typeface="Calibri"/>
                        </a:rPr>
                        <a:t>330</a:t>
                      </a:r>
                    </a:p>
                  </a:txBody>
                  <a:tcPr marL="54864" marR="54864" marT="9144" marB="9144">
                    <a:solidFill>
                      <a:srgbClr val="FFFFFF"/>
                    </a:solidFill>
                  </a:tcPr>
                </a:tc>
                <a:tc>
                  <a:txBody>
                    <a:bodyPr/>
                    <a:lstStyle/>
                    <a:p>
                      <a:pPr algn="ctr"/>
                      <a:r>
                        <a:rPr sz="1100">
                          <a:solidFill>
                            <a:srgbClr val="0B2B4E"/>
                          </a:solidFill>
                          <a:latin typeface="Calibri"/>
                        </a:rPr>
                        <a:t>467</a:t>
                      </a:r>
                    </a:p>
                  </a:txBody>
                  <a:tcPr marL="54864" marR="54864" marT="9144" marB="9144">
                    <a:solidFill>
                      <a:srgbClr val="FFFFFF"/>
                    </a:solidFill>
                  </a:tcPr>
                </a:tc>
                <a:tc>
                  <a:txBody>
                    <a:bodyPr/>
                    <a:lstStyle/>
                    <a:p>
                      <a:pPr algn="ctr"/>
                      <a:r>
                        <a:rPr sz="1100">
                          <a:solidFill>
                            <a:srgbClr val="0B2B4E"/>
                          </a:solidFill>
                          <a:latin typeface="Calibri"/>
                        </a:rPr>
                        <a:t>571</a:t>
                      </a:r>
                    </a:p>
                  </a:txBody>
                  <a:tcPr marL="54864" marR="54864" marT="9144" marB="9144">
                    <a:solidFill>
                      <a:srgbClr val="FFFFFF"/>
                    </a:solidFill>
                  </a:tcPr>
                </a:tc>
                <a:tc>
                  <a:txBody>
                    <a:bodyPr/>
                    <a:lstStyle/>
                    <a:p>
                      <a:pPr algn="ctr"/>
                      <a:r>
                        <a:rPr sz="1100">
                          <a:solidFill>
                            <a:srgbClr val="0B2B4E"/>
                          </a:solidFill>
                          <a:latin typeface="Calibri"/>
                        </a:rPr>
                        <a:t>660</a:t>
                      </a:r>
                    </a:p>
                  </a:txBody>
                  <a:tcPr marL="54864" marR="54864" marT="9144" marB="9144">
                    <a:solidFill>
                      <a:srgbClr val="FFFFFF"/>
                    </a:solidFill>
                  </a:tcPr>
                </a:tc>
              </a:tr>
              <a:tr h="260252">
                <a:tc>
                  <a:txBody>
                    <a:bodyPr/>
                    <a:lstStyle/>
                    <a:p>
                      <a:pPr algn="ctr"/>
                      <a:r>
                        <a:rPr sz="1100" b="1">
                          <a:solidFill>
                            <a:srgbClr val="FFFFFF"/>
                          </a:solidFill>
                          <a:latin typeface="Calibri"/>
                        </a:rPr>
                        <a:t>3,000</a:t>
                      </a:r>
                    </a:p>
                  </a:txBody>
                  <a:tcPr marL="54864" marR="54864" marT="9144" marB="9144">
                    <a:solidFill>
                      <a:srgbClr val="0B2B4E"/>
                    </a:solidFill>
                  </a:tcPr>
                </a:tc>
                <a:tc>
                  <a:txBody>
                    <a:bodyPr/>
                    <a:lstStyle/>
                    <a:p>
                      <a:pPr algn="ctr"/>
                      <a:r>
                        <a:rPr sz="1100">
                          <a:solidFill>
                            <a:srgbClr val="0B2B4E"/>
                          </a:solidFill>
                          <a:latin typeface="Calibri"/>
                        </a:rPr>
                        <a:t>348</a:t>
                      </a:r>
                    </a:p>
                  </a:txBody>
                  <a:tcPr marL="54864" marR="54864" marT="9144" marB="9144">
                    <a:solidFill>
                      <a:srgbClr val="FFFFFF"/>
                    </a:solidFill>
                  </a:tcPr>
                </a:tc>
                <a:tc>
                  <a:txBody>
                    <a:bodyPr/>
                    <a:lstStyle/>
                    <a:p>
                      <a:pPr algn="ctr"/>
                      <a:r>
                        <a:rPr sz="1100">
                          <a:solidFill>
                            <a:srgbClr val="0B2B4E"/>
                          </a:solidFill>
                          <a:latin typeface="Calibri"/>
                        </a:rPr>
                        <a:t>493</a:t>
                      </a:r>
                    </a:p>
                  </a:txBody>
                  <a:tcPr marL="54864" marR="54864" marT="9144" marB="9144">
                    <a:solidFill>
                      <a:srgbClr val="FFFFFF"/>
                    </a:solidFill>
                  </a:tcPr>
                </a:tc>
                <a:tc>
                  <a:txBody>
                    <a:bodyPr/>
                    <a:lstStyle/>
                    <a:p>
                      <a:pPr algn="ctr"/>
                      <a:r>
                        <a:rPr sz="1100">
                          <a:solidFill>
                            <a:srgbClr val="0B2B4E"/>
                          </a:solidFill>
                          <a:latin typeface="Calibri"/>
                        </a:rPr>
                        <a:t>604</a:t>
                      </a:r>
                    </a:p>
                  </a:txBody>
                  <a:tcPr marL="54864" marR="54864" marT="9144" marB="9144">
                    <a:solidFill>
                      <a:srgbClr val="FFFFFF"/>
                    </a:solidFill>
                  </a:tcPr>
                </a:tc>
                <a:tc>
                  <a:txBody>
                    <a:bodyPr/>
                    <a:lstStyle/>
                    <a:p>
                      <a:pPr algn="ctr"/>
                      <a:r>
                        <a:rPr sz="1100">
                          <a:solidFill>
                            <a:srgbClr val="0B2B4E"/>
                          </a:solidFill>
                          <a:latin typeface="Calibri"/>
                        </a:rPr>
                        <a:t>697</a:t>
                      </a:r>
                    </a:p>
                  </a:txBody>
                  <a:tcPr marL="54864" marR="54864" marT="9144" marB="9144">
                    <a:solidFill>
                      <a:srgbClr val="FFFFFF"/>
                    </a:solidFill>
                  </a:tcPr>
                </a:tc>
              </a:tr>
              <a:tr h="260252">
                <a:tc>
                  <a:txBody>
                    <a:bodyPr/>
                    <a:lstStyle/>
                    <a:p>
                      <a:pPr algn="ctr"/>
                      <a:r>
                        <a:rPr sz="1100" b="1">
                          <a:solidFill>
                            <a:srgbClr val="FFFFFF"/>
                          </a:solidFill>
                          <a:latin typeface="Calibri"/>
                        </a:rPr>
                        <a:t>3,500</a:t>
                      </a:r>
                    </a:p>
                  </a:txBody>
                  <a:tcPr marL="54864" marR="54864" marT="9144" marB="9144">
                    <a:solidFill>
                      <a:srgbClr val="0B2B4E"/>
                    </a:solidFill>
                  </a:tcPr>
                </a:tc>
                <a:tc>
                  <a:txBody>
                    <a:bodyPr/>
                    <a:lstStyle/>
                    <a:p>
                      <a:pPr algn="ctr"/>
                      <a:r>
                        <a:rPr sz="1100">
                          <a:solidFill>
                            <a:srgbClr val="0B2B4E"/>
                          </a:solidFill>
                          <a:latin typeface="Calibri"/>
                        </a:rPr>
                        <a:t>365</a:t>
                      </a:r>
                    </a:p>
                  </a:txBody>
                  <a:tcPr marL="54864" marR="54864" marT="9144" marB="9144">
                    <a:solidFill>
                      <a:srgbClr val="FFFFFF"/>
                    </a:solidFill>
                  </a:tcPr>
                </a:tc>
                <a:tc>
                  <a:txBody>
                    <a:bodyPr/>
                    <a:lstStyle/>
                    <a:p>
                      <a:pPr algn="ctr"/>
                      <a:r>
                        <a:rPr sz="1100">
                          <a:solidFill>
                            <a:srgbClr val="0B2B4E"/>
                          </a:solidFill>
                          <a:latin typeface="Calibri"/>
                        </a:rPr>
                        <a:t>516</a:t>
                      </a:r>
                    </a:p>
                  </a:txBody>
                  <a:tcPr marL="54864" marR="54864" marT="9144" marB="9144">
                    <a:solidFill>
                      <a:srgbClr val="FFFFFF"/>
                    </a:solidFill>
                  </a:tcPr>
                </a:tc>
                <a:tc>
                  <a:txBody>
                    <a:bodyPr/>
                    <a:lstStyle/>
                    <a:p>
                      <a:pPr algn="ctr"/>
                      <a:r>
                        <a:rPr sz="1100">
                          <a:solidFill>
                            <a:srgbClr val="0B2B4E"/>
                          </a:solidFill>
                          <a:latin typeface="Calibri"/>
                        </a:rPr>
                        <a:t>632</a:t>
                      </a:r>
                    </a:p>
                  </a:txBody>
                  <a:tcPr marL="54864" marR="54864" marT="9144" marB="9144">
                    <a:solidFill>
                      <a:srgbClr val="FFFFFF"/>
                    </a:solidFill>
                  </a:tcPr>
                </a:tc>
                <a:tc>
                  <a:txBody>
                    <a:bodyPr/>
                    <a:lstStyle/>
                    <a:p>
                      <a:pPr algn="ctr"/>
                      <a:r>
                        <a:rPr sz="1100">
                          <a:solidFill>
                            <a:srgbClr val="0B2B4E"/>
                          </a:solidFill>
                          <a:latin typeface="Calibri"/>
                        </a:rPr>
                        <a:t>730</a:t>
                      </a:r>
                    </a:p>
                  </a:txBody>
                  <a:tcPr marL="54864" marR="54864" marT="9144" marB="9144">
                    <a:solidFill>
                      <a:srgbClr val="FFFFFF"/>
                    </a:solidFill>
                  </a:tcPr>
                </a:tc>
              </a:tr>
              <a:tr h="260252">
                <a:tc>
                  <a:txBody>
                    <a:bodyPr/>
                    <a:lstStyle/>
                    <a:p>
                      <a:pPr algn="ctr"/>
                      <a:r>
                        <a:rPr sz="1100" b="1">
                          <a:solidFill>
                            <a:srgbClr val="FFFFFF"/>
                          </a:solidFill>
                          <a:latin typeface="Calibri"/>
                        </a:rPr>
                        <a:t>4,000</a:t>
                      </a:r>
                    </a:p>
                  </a:txBody>
                  <a:tcPr marL="54864" marR="54864" marT="9144" marB="9144">
                    <a:solidFill>
                      <a:srgbClr val="0B2B4E"/>
                    </a:solidFill>
                  </a:tcPr>
                </a:tc>
                <a:tc>
                  <a:txBody>
                    <a:bodyPr/>
                    <a:lstStyle/>
                    <a:p>
                      <a:pPr algn="ctr"/>
                      <a:r>
                        <a:rPr sz="1100">
                          <a:solidFill>
                            <a:srgbClr val="0B2B4E"/>
                          </a:solidFill>
                          <a:latin typeface="Calibri"/>
                        </a:rPr>
                        <a:t>380</a:t>
                      </a:r>
                    </a:p>
                  </a:txBody>
                  <a:tcPr marL="54864" marR="54864" marT="9144" marB="9144">
                    <a:solidFill>
                      <a:srgbClr val="FFFFFF"/>
                    </a:solidFill>
                  </a:tcPr>
                </a:tc>
                <a:tc>
                  <a:txBody>
                    <a:bodyPr/>
                    <a:lstStyle/>
                    <a:p>
                      <a:pPr algn="ctr"/>
                      <a:r>
                        <a:rPr sz="1100">
                          <a:solidFill>
                            <a:srgbClr val="0B2B4E"/>
                          </a:solidFill>
                          <a:latin typeface="Calibri"/>
                        </a:rPr>
                        <a:t>537</a:t>
                      </a:r>
                    </a:p>
                  </a:txBody>
                  <a:tcPr marL="54864" marR="54864" marT="9144" marB="9144">
                    <a:solidFill>
                      <a:srgbClr val="FFFFFF"/>
                    </a:solidFill>
                  </a:tcPr>
                </a:tc>
                <a:tc>
                  <a:txBody>
                    <a:bodyPr/>
                    <a:lstStyle/>
                    <a:p>
                      <a:pPr algn="ctr"/>
                      <a:r>
                        <a:rPr sz="1100">
                          <a:solidFill>
                            <a:srgbClr val="0B2B4E"/>
                          </a:solidFill>
                          <a:latin typeface="Calibri"/>
                        </a:rPr>
                        <a:t>658</a:t>
                      </a:r>
                    </a:p>
                  </a:txBody>
                  <a:tcPr marL="54864" marR="54864" marT="9144" marB="9144">
                    <a:solidFill>
                      <a:srgbClr val="FFFFFF"/>
                    </a:solidFill>
                  </a:tcPr>
                </a:tc>
                <a:tc>
                  <a:txBody>
                    <a:bodyPr/>
                    <a:lstStyle/>
                    <a:p>
                      <a:pPr algn="ctr"/>
                      <a:r>
                        <a:rPr sz="1100">
                          <a:solidFill>
                            <a:srgbClr val="0B2B4E"/>
                          </a:solidFill>
                          <a:latin typeface="Calibri"/>
                        </a:rPr>
                        <a:t>760</a:t>
                      </a:r>
                    </a:p>
                  </a:txBody>
                  <a:tcPr marL="54864" marR="54864" marT="9144" marB="9144">
                    <a:solidFill>
                      <a:srgbClr val="FFFFFF"/>
                    </a:solidFill>
                  </a:tcPr>
                </a:tc>
              </a:tr>
              <a:tr h="260252">
                <a:tc>
                  <a:txBody>
                    <a:bodyPr/>
                    <a:lstStyle/>
                    <a:p>
                      <a:pPr algn="ctr"/>
                      <a:r>
                        <a:rPr sz="1100" b="1">
                          <a:solidFill>
                            <a:srgbClr val="FFFFFF"/>
                          </a:solidFill>
                          <a:latin typeface="Calibri"/>
                        </a:rPr>
                        <a:t>4,500</a:t>
                      </a:r>
                    </a:p>
                  </a:txBody>
                  <a:tcPr marL="54864" marR="54864" marT="9144" marB="9144">
                    <a:solidFill>
                      <a:srgbClr val="0B2B4E"/>
                    </a:solidFill>
                  </a:tcPr>
                </a:tc>
                <a:tc>
                  <a:txBody>
                    <a:bodyPr/>
                    <a:lstStyle/>
                    <a:p>
                      <a:pPr algn="ctr"/>
                      <a:r>
                        <a:rPr sz="1100">
                          <a:solidFill>
                            <a:srgbClr val="0B2B4E"/>
                          </a:solidFill>
                          <a:latin typeface="Calibri"/>
                        </a:rPr>
                        <a:t>394</a:t>
                      </a:r>
                    </a:p>
                  </a:txBody>
                  <a:tcPr marL="54864" marR="54864" marT="9144" marB="9144">
                    <a:solidFill>
                      <a:srgbClr val="FFFFFF"/>
                    </a:solidFill>
                  </a:tcPr>
                </a:tc>
                <a:tc>
                  <a:txBody>
                    <a:bodyPr/>
                    <a:lstStyle/>
                    <a:p>
                      <a:pPr algn="ctr"/>
                      <a:r>
                        <a:rPr sz="1100">
                          <a:solidFill>
                            <a:srgbClr val="0B2B4E"/>
                          </a:solidFill>
                          <a:latin typeface="Calibri"/>
                        </a:rPr>
                        <a:t>557</a:t>
                      </a:r>
                    </a:p>
                  </a:txBody>
                  <a:tcPr marL="54864" marR="54864" marT="9144" marB="9144">
                    <a:solidFill>
                      <a:srgbClr val="FFFFFF"/>
                    </a:solidFill>
                  </a:tcPr>
                </a:tc>
                <a:tc>
                  <a:txBody>
                    <a:bodyPr/>
                    <a:lstStyle/>
                    <a:p>
                      <a:pPr algn="ctr"/>
                      <a:r>
                        <a:rPr sz="1100">
                          <a:solidFill>
                            <a:srgbClr val="0B2B4E"/>
                          </a:solidFill>
                          <a:latin typeface="Calibri"/>
                        </a:rPr>
                        <a:t>682</a:t>
                      </a:r>
                    </a:p>
                  </a:txBody>
                  <a:tcPr marL="54864" marR="54864" marT="9144" marB="9144">
                    <a:solidFill>
                      <a:srgbClr val="FFFFFF"/>
                    </a:solidFill>
                  </a:tcPr>
                </a:tc>
                <a:tc>
                  <a:txBody>
                    <a:bodyPr/>
                    <a:lstStyle/>
                    <a:p>
                      <a:pPr algn="ctr"/>
                      <a:r>
                        <a:rPr sz="1100">
                          <a:solidFill>
                            <a:srgbClr val="0B2B4E"/>
                          </a:solidFill>
                          <a:latin typeface="Calibri"/>
                        </a:rPr>
                        <a:t>787</a:t>
                      </a:r>
                    </a:p>
                  </a:txBody>
                  <a:tcPr marL="54864" marR="54864" marT="9144" marB="9144">
                    <a:solidFill>
                      <a:srgbClr val="FFFFFF"/>
                    </a:solidFill>
                  </a:tcPr>
                </a:tc>
              </a:tr>
              <a:tr h="260256">
                <a:tc>
                  <a:txBody>
                    <a:bodyPr/>
                    <a:lstStyle/>
                    <a:p>
                      <a:pPr algn="ctr"/>
                      <a:r>
                        <a:rPr sz="1100" b="1">
                          <a:solidFill>
                            <a:srgbClr val="FFFFFF"/>
                          </a:solidFill>
                          <a:latin typeface="Calibri"/>
                        </a:rPr>
                        <a:t>5,000</a:t>
                      </a:r>
                    </a:p>
                  </a:txBody>
                  <a:tcPr marL="54864" marR="54864" marT="9144" marB="9144">
                    <a:solidFill>
                      <a:srgbClr val="0B2B4E"/>
                    </a:solidFill>
                  </a:tcPr>
                </a:tc>
                <a:tc>
                  <a:txBody>
                    <a:bodyPr/>
                    <a:lstStyle/>
                    <a:p>
                      <a:pPr algn="ctr"/>
                      <a:r>
                        <a:rPr sz="1100">
                          <a:solidFill>
                            <a:srgbClr val="0B2B4E"/>
                          </a:solidFill>
                          <a:latin typeface="Calibri"/>
                        </a:rPr>
                        <a:t>406</a:t>
                      </a:r>
                    </a:p>
                  </a:txBody>
                  <a:tcPr marL="54864" marR="54864" marT="9144" marB="9144">
                    <a:solidFill>
                      <a:srgbClr val="FFFFFF"/>
                    </a:solidFill>
                  </a:tcPr>
                </a:tc>
                <a:tc>
                  <a:txBody>
                    <a:bodyPr/>
                    <a:lstStyle/>
                    <a:p>
                      <a:pPr algn="ctr"/>
                      <a:r>
                        <a:rPr sz="1100">
                          <a:solidFill>
                            <a:srgbClr val="0B2B4E"/>
                          </a:solidFill>
                          <a:latin typeface="Calibri"/>
                        </a:rPr>
                        <a:t>574</a:t>
                      </a:r>
                    </a:p>
                  </a:txBody>
                  <a:tcPr marL="54864" marR="54864" marT="9144" marB="9144">
                    <a:solidFill>
                      <a:srgbClr val="FFFFFF"/>
                    </a:solidFill>
                  </a:tcPr>
                </a:tc>
                <a:tc>
                  <a:txBody>
                    <a:bodyPr/>
                    <a:lstStyle/>
                    <a:p>
                      <a:pPr algn="ctr"/>
                      <a:r>
                        <a:rPr sz="1100">
                          <a:solidFill>
                            <a:srgbClr val="0B2B4E"/>
                          </a:solidFill>
                          <a:latin typeface="Calibri"/>
                        </a:rPr>
                        <a:t>703</a:t>
                      </a:r>
                    </a:p>
                  </a:txBody>
                  <a:tcPr marL="54864" marR="54864" marT="9144" marB="9144">
                    <a:solidFill>
                      <a:srgbClr val="FFFFFF"/>
                    </a:solidFill>
                  </a:tcPr>
                </a:tc>
                <a:tc>
                  <a:txBody>
                    <a:bodyPr/>
                    <a:lstStyle/>
                    <a:p>
                      <a:pPr algn="ctr"/>
                      <a:r>
                        <a:rPr sz="1100">
                          <a:solidFill>
                            <a:srgbClr val="0B2B4E"/>
                          </a:solidFill>
                          <a:latin typeface="Calibri"/>
                        </a:rPr>
                        <a:t>812</a:t>
                      </a:r>
                    </a:p>
                  </a:txBody>
                  <a:tcPr marL="54864" marR="54864" marT="9144" marB="9144">
                    <a:solidFill>
                      <a:srgbClr val="FFFFFF"/>
                    </a:solidFill>
                  </a:tcPr>
                </a:tc>
              </a:tr>
            </a:tbl>
          </a:graphicData>
        </a:graphic>
      </p:graphicFrame>
      <p:sp>
        <p:nvSpPr>
          <p:cNvPr id="10" name="TextBox 9"/>
          <p:cNvSpPr txBox="1"/>
          <p:nvPr/>
        </p:nvSpPr>
        <p:spPr>
          <a:xfrm>
            <a:off x="8732520" y="5559552"/>
            <a:ext cx="2670048" cy="228600"/>
          </a:xfrm>
          <a:prstGeom prst="rect">
            <a:avLst/>
          </a:prstGeom>
          <a:noFill/>
        </p:spPr>
        <p:txBody>
          <a:bodyPr wrap="square" lIns="0" rIns="0" tIns="0" bIns="0">
            <a:spAutoFit/>
          </a:bodyPr>
          <a:lstStyle/>
          <a:p>
            <a:pPr algn="ctr"/>
            <a:r>
              <a:rPr sz="1100" b="0" i="1">
                <a:solidFill>
                  <a:srgbClr val="555B66"/>
                </a:solidFill>
                <a:latin typeface="Calibri"/>
              </a:rPr>
              <a:t>Production-function table  (</a:t>
            </a:r>
            <a:r>
              <a:rPr sz="1100" b="0" i="1" u="sng">
                <a:latin typeface="Calibri"/>
                <a:solidFill>
                  <a:srgbClr val="0563C1"/>
                </a:solidFill>
                <a:hlinkClick r:id="rId2" action="ppaction://hlinksldjump"/>
              </a:rPr>
              <a:t>link</a:t>
            </a:r>
            <a:r>
              <a:rPr sz="1100" b="0" i="1">
                <a:solidFill>
                  <a:srgbClr val="555B66"/>
                </a:solidFill>
                <a:latin typeface="Calibri"/>
              </a:rPr>
              <a:t>)</a:t>
            </a:r>
          </a:p>
        </p:txBody>
      </p:sp>
      <p:sp>
        <p:nvSpPr>
          <p:cNvPr id="11" name="TextBox 10"/>
          <p:cNvSpPr txBox="1"/>
          <p:nvPr/>
        </p:nvSpPr>
        <p:spPr>
          <a:xfrm>
            <a:off x="9390888" y="1874520"/>
            <a:ext cx="2011680" cy="228600"/>
          </a:xfrm>
          <a:prstGeom prst="rect">
            <a:avLst/>
          </a:prstGeom>
          <a:noFill/>
        </p:spPr>
        <p:txBody>
          <a:bodyPr wrap="square" lIns="0" rIns="0" tIns="0" bIns="0">
            <a:spAutoFit/>
          </a:bodyPr>
          <a:lstStyle/>
          <a:p>
            <a:pPr algn="ctr"/>
            <a:r>
              <a:rPr sz="1400" b="0" i="1">
                <a:solidFill>
                  <a:srgbClr val="0B2B4E"/>
                </a:solidFill>
                <a:latin typeface="Calibri"/>
              </a:rPr>
              <a:t>K  (robots)</a:t>
            </a:r>
          </a:p>
        </p:txBody>
      </p:sp>
      <p:sp>
        <p:nvSpPr>
          <p:cNvPr id="12" name="TextBox 11"/>
          <p:cNvSpPr txBox="1"/>
          <p:nvPr/>
        </p:nvSpPr>
        <p:spPr>
          <a:xfrm rot="16200000">
            <a:off x="7973568" y="3671316"/>
            <a:ext cx="996696" cy="245973"/>
          </a:xfrm>
          <a:prstGeom prst="rect">
            <a:avLst/>
          </a:prstGeom>
          <a:noFill/>
        </p:spPr>
        <p:txBody>
          <a:bodyPr wrap="square" lIns="0" rIns="0" tIns="0" bIns="0">
            <a:spAutoFit/>
          </a:bodyPr>
          <a:lstStyle/>
          <a:p>
            <a:pPr algn="ctr"/>
            <a:r>
              <a:rPr sz="1400" b="0" i="1">
                <a:solidFill>
                  <a:srgbClr val="0B2B4E"/>
                </a:solidFill>
                <a:latin typeface="Calibri"/>
              </a:rPr>
              <a:t>L  (workers)</a:t>
            </a:r>
          </a:p>
        </p:txBody>
      </p:sp>
      <p:sp>
        <p:nvSpPr>
          <p:cNvPr id="13" name="Oval 12"/>
          <p:cNvSpPr/>
          <p:nvPr/>
        </p:nvSpPr>
        <p:spPr>
          <a:xfrm>
            <a:off x="10396728" y="3543300"/>
            <a:ext cx="502920" cy="502920"/>
          </a:xfrm>
          <a:prstGeom prst="ellipse">
            <a:avLst/>
          </a:prstGeom>
          <a:noFill/>
          <a:ln w="2222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369296" y="3637201"/>
            <a:ext cx="557784" cy="575368"/>
          </a:xfrm>
          <a:prstGeom prst="roundRect">
            <a:avLst>
              <a:gd name="adj" fmla="val 18000"/>
            </a:avLst>
          </a:prstGeom>
          <a:noFill/>
          <a:ln w="22225">
            <a:solidFill>
              <a:srgbClr val="4F61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369296" y="3637201"/>
            <a:ext cx="1060704" cy="315116"/>
          </a:xfrm>
          <a:prstGeom prst="roundRect">
            <a:avLst>
              <a:gd name="adj" fmla="val 35000"/>
            </a:avLst>
          </a:prstGeom>
          <a:no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577240" y="5907024"/>
            <a:ext cx="1362456" cy="466344"/>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77240" y="5907024"/>
            <a:ext cx="1362456" cy="466344"/>
          </a:xfrm>
          <a:prstGeom prst="rect">
            <a:avLst/>
          </a:prstGeom>
          <a:noFill/>
        </p:spPr>
        <p:txBody>
          <a:bodyPr wrap="square" lIns="0" rIns="0" tIns="0" bIns="0" anchor="ctr">
            <a:spAutoFit/>
          </a:bodyPr>
          <a:lstStyle/>
          <a:p>
            <a:pPr algn="ctr"/>
            <a:r>
              <a:rPr sz="1600" b="1" i="0">
                <a:solidFill>
                  <a:srgbClr val="0B2B4E"/>
                </a:solidFill>
                <a:latin typeface="Calibri"/>
              </a:rPr>
              <a:t>POLL</a:t>
            </a:r>
          </a:p>
        </p:txBody>
      </p:sp>
      <p:sp>
        <p:nvSpPr>
          <p:cNvPr id="18" name="Rectangle 1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21" name="TextBox 20"/>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Long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Is Rivian's Input Mix Optimal?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38_rId4.png"/>
          <p:cNvPicPr>
            <a:picLocks noChangeAspect="1"/>
          </p:cNvPicPr>
          <p:nvPr/>
        </p:nvPicPr>
        <p:blipFill>
          <a:blip r:embed="rId2"/>
          <a:stretch>
            <a:fillRect/>
          </a:stretch>
        </p:blipFill>
        <p:spPr>
          <a:xfrm>
            <a:off x="2926080" y="1691640"/>
            <a:ext cx="6217920" cy="4663440"/>
          </a:xfrm>
          <a:prstGeom prst="rect">
            <a:avLst/>
          </a:prstGeom>
          <a:effectLst>
            <a:outerShdw blurRad="50800" dist="38100" dir="2700000" algn="tl" rotWithShape="0">
              <a:srgbClr val="000000">
                <a:alpha val="45000"/>
              </a:srgbClr>
            </a:outerShdw>
          </a:effectLst>
        </p:spPr>
      </p:pic>
      <p:sp>
        <p:nvSpPr>
          <p:cNvPr id="8" name="TextBox 7"/>
          <p:cNvSpPr txBox="1"/>
          <p:nvPr/>
        </p:nvSpPr>
        <p:spPr>
          <a:xfrm>
            <a:off x="251999" y="6400800"/>
            <a:ext cx="11687697" cy="274320"/>
          </a:xfrm>
          <a:prstGeom prst="rect">
            <a:avLst/>
          </a:prstGeom>
          <a:noFill/>
        </p:spPr>
        <p:txBody>
          <a:bodyPr wrap="square" lIns="0" rIns="0" tIns="0" bIns="0">
            <a:spAutoFit/>
          </a:bodyPr>
          <a:lstStyle/>
          <a:p>
            <a:pPr algn="ctr"/>
            <a:r>
              <a:rPr sz="1400" b="0" i="1">
                <a:solidFill>
                  <a:srgbClr val="555B66"/>
                </a:solidFill>
                <a:latin typeface="Calibri"/>
              </a:rPr>
              <a:t>Respond at PollEv.com/nvoigtlaender</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2" name="TextBox 11"/>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37</a:t>
            </a:r>
          </a:p>
        </p:txBody>
      </p:sp>
      <p:sp>
        <p:nvSpPr>
          <p:cNvPr id="13" name="Rounded Rectangle 12"/>
          <p:cNvSpPr/>
          <p:nvPr/>
        </p:nvSpPr>
        <p:spPr>
          <a:xfrm>
            <a:off x="10577240" y="5907024"/>
            <a:ext cx="1362456" cy="466344"/>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77240" y="5907024"/>
            <a:ext cx="1362456" cy="466344"/>
          </a:xfrm>
          <a:prstGeom prst="rect">
            <a:avLst/>
          </a:prstGeom>
          <a:noFill/>
        </p:spPr>
        <p:txBody>
          <a:bodyPr wrap="square" lIns="0" rIns="0" tIns="0" bIns="0" anchor="ctr">
            <a:spAutoFit/>
          </a:bodyPr>
          <a:lstStyle/>
          <a:p>
            <a:pPr algn="ctr"/>
            <a:r>
              <a:rPr sz="1600" b="1" i="0">
                <a:solidFill>
                  <a:srgbClr val="0B2B4E"/>
                </a:solidFill>
                <a:latin typeface="Calibri"/>
              </a:rPr>
              <a:t>POLL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Long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Solution:  The Optimal Input Mix</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6647" y="1828800"/>
            <a:ext cx="2743200" cy="640080"/>
          </a:xfrm>
          <a:prstGeom prst="rect">
            <a:avLst/>
          </a:prstGeom>
          <a:solidFill>
            <a:srgbClr val="0B2B4E"/>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
            </a:r>
          </a:p>
        </p:txBody>
      </p:sp>
      <p:sp>
        <p:nvSpPr>
          <p:cNvPr id="8" name="Rectangle 7"/>
          <p:cNvSpPr/>
          <p:nvPr/>
        </p:nvSpPr>
        <p:spPr>
          <a:xfrm>
            <a:off x="3809847" y="1828800"/>
            <a:ext cx="2286000" cy="640080"/>
          </a:xfrm>
          <a:prstGeom prst="rect">
            <a:avLst/>
          </a:prstGeom>
          <a:solidFill>
            <a:srgbClr val="0B2B4E"/>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MP</a:t>
            </a:r>
          </a:p>
        </p:txBody>
      </p:sp>
      <p:sp>
        <p:nvSpPr>
          <p:cNvPr id="9" name="Rectangle 8"/>
          <p:cNvSpPr/>
          <p:nvPr/>
        </p:nvSpPr>
        <p:spPr>
          <a:xfrm>
            <a:off x="6095847" y="1828800"/>
            <a:ext cx="2286000" cy="640080"/>
          </a:xfrm>
          <a:prstGeom prst="rect">
            <a:avLst/>
          </a:prstGeom>
          <a:solidFill>
            <a:srgbClr val="0B2B4E"/>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Price</a:t>
            </a:r>
          </a:p>
        </p:txBody>
      </p:sp>
      <p:sp>
        <p:nvSpPr>
          <p:cNvPr id="10" name="Rectangle 9"/>
          <p:cNvSpPr/>
          <p:nvPr/>
        </p:nvSpPr>
        <p:spPr>
          <a:xfrm>
            <a:off x="8381847" y="1828800"/>
            <a:ext cx="2743200" cy="640080"/>
          </a:xfrm>
          <a:prstGeom prst="rect">
            <a:avLst/>
          </a:prstGeom>
          <a:solidFill>
            <a:srgbClr val="0B2B4E"/>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MP per $</a:t>
            </a:r>
          </a:p>
        </p:txBody>
      </p:sp>
      <p:sp>
        <p:nvSpPr>
          <p:cNvPr id="11" name="Rectangle 10"/>
          <p:cNvSpPr/>
          <p:nvPr/>
        </p:nvSpPr>
        <p:spPr>
          <a:xfrm>
            <a:off x="1066647" y="2468880"/>
            <a:ext cx="2743200" cy="640080"/>
          </a:xfrm>
          <a:prstGeom prst="rect">
            <a:avLst/>
          </a:prstGeom>
          <a:solidFill>
            <a:srgbClr val="F4F1EA"/>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0B2B4E"/>
                </a:solidFill>
                <a:latin typeface="Calibri"/>
              </a:rPr>
              <a:t>Robots  (K)</a:t>
            </a:r>
          </a:p>
        </p:txBody>
      </p:sp>
      <p:sp>
        <p:nvSpPr>
          <p:cNvPr id="12" name="Rectangle 11"/>
          <p:cNvSpPr/>
          <p:nvPr/>
        </p:nvSpPr>
        <p:spPr>
          <a:xfrm>
            <a:off x="3809847" y="2468880"/>
            <a:ext cx="2286000" cy="640080"/>
          </a:xfrm>
          <a:prstGeom prst="rect">
            <a:avLst/>
          </a:prstGeom>
          <a:solidFill>
            <a:srgbClr val="F4F1EA"/>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0">
                <a:solidFill>
                  <a:srgbClr val="0B2B4E"/>
                </a:solidFill>
                <a:latin typeface="Calibri"/>
              </a:rPr>
              <a:t>≈ 0.83 cars</a:t>
            </a:r>
          </a:p>
        </p:txBody>
      </p:sp>
      <p:sp>
        <p:nvSpPr>
          <p:cNvPr id="13" name="Rectangle 12"/>
          <p:cNvSpPr/>
          <p:nvPr/>
        </p:nvSpPr>
        <p:spPr>
          <a:xfrm>
            <a:off x="6095847" y="2468880"/>
            <a:ext cx="2286000" cy="640080"/>
          </a:xfrm>
          <a:prstGeom prst="rect">
            <a:avLst/>
          </a:prstGeom>
          <a:solidFill>
            <a:srgbClr val="F4F1EA"/>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0">
                <a:solidFill>
                  <a:srgbClr val="0B2B4E"/>
                </a:solidFill>
                <a:latin typeface="Calibri"/>
              </a:rPr>
              <a:t>$20,000</a:t>
            </a:r>
          </a:p>
        </p:txBody>
      </p:sp>
      <p:sp>
        <p:nvSpPr>
          <p:cNvPr id="14" name="Rectangle 13"/>
          <p:cNvSpPr/>
          <p:nvPr/>
        </p:nvSpPr>
        <p:spPr>
          <a:xfrm>
            <a:off x="8381847" y="2468880"/>
            <a:ext cx="2743200" cy="640080"/>
          </a:xfrm>
          <a:prstGeom prst="rect">
            <a:avLst/>
          </a:prstGeom>
          <a:solidFill>
            <a:srgbClr val="F4F1EA"/>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0">
                <a:solidFill>
                  <a:srgbClr val="0B2B4E"/>
                </a:solidFill>
                <a:latin typeface="Calibri"/>
              </a:rPr>
              <a:t>0.000042 cars / $</a:t>
            </a:r>
          </a:p>
        </p:txBody>
      </p:sp>
      <p:sp>
        <p:nvSpPr>
          <p:cNvPr id="15" name="Rectangle 14"/>
          <p:cNvSpPr/>
          <p:nvPr/>
        </p:nvSpPr>
        <p:spPr>
          <a:xfrm>
            <a:off x="1066647" y="3108960"/>
            <a:ext cx="2743200" cy="640080"/>
          </a:xfrm>
          <a:prstGeom prst="rect">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0B2B4E"/>
                </a:solidFill>
                <a:latin typeface="Calibri"/>
              </a:rPr>
              <a:t>Workers (L)</a:t>
            </a:r>
          </a:p>
        </p:txBody>
      </p:sp>
      <p:sp>
        <p:nvSpPr>
          <p:cNvPr id="16" name="Rectangle 15"/>
          <p:cNvSpPr/>
          <p:nvPr/>
        </p:nvSpPr>
        <p:spPr>
          <a:xfrm>
            <a:off x="3809847" y="3108960"/>
            <a:ext cx="2286000" cy="640080"/>
          </a:xfrm>
          <a:prstGeom prst="rect">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0">
                <a:solidFill>
                  <a:srgbClr val="0B2B4E"/>
                </a:solidFill>
                <a:latin typeface="Calibri"/>
              </a:rPr>
              <a:t>≈ 0.07 cars</a:t>
            </a:r>
          </a:p>
        </p:txBody>
      </p:sp>
      <p:sp>
        <p:nvSpPr>
          <p:cNvPr id="17" name="Rectangle 16"/>
          <p:cNvSpPr/>
          <p:nvPr/>
        </p:nvSpPr>
        <p:spPr>
          <a:xfrm>
            <a:off x="6095847" y="3108960"/>
            <a:ext cx="2286000" cy="640080"/>
          </a:xfrm>
          <a:prstGeom prst="rect">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0">
                <a:solidFill>
                  <a:srgbClr val="0B2B4E"/>
                </a:solidFill>
                <a:latin typeface="Calibri"/>
              </a:rPr>
              <a:t>$1,200</a:t>
            </a:r>
          </a:p>
        </p:txBody>
      </p:sp>
      <p:sp>
        <p:nvSpPr>
          <p:cNvPr id="18" name="Rectangle 17"/>
          <p:cNvSpPr/>
          <p:nvPr/>
        </p:nvSpPr>
        <p:spPr>
          <a:xfrm>
            <a:off x="8381847" y="3108960"/>
            <a:ext cx="2743200" cy="640080"/>
          </a:xfrm>
          <a:prstGeom prst="rect">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0">
                <a:solidFill>
                  <a:srgbClr val="0B2B4E"/>
                </a:solidFill>
                <a:latin typeface="Calibri"/>
              </a:rPr>
              <a:t>0.000058 cars / $</a:t>
            </a:r>
          </a:p>
        </p:txBody>
      </p:sp>
      <p:sp>
        <p:nvSpPr>
          <p:cNvPr id="19" name="TextBox 18"/>
          <p:cNvSpPr txBox="1"/>
          <p:nvPr/>
        </p:nvSpPr>
        <p:spPr>
          <a:xfrm>
            <a:off x="4837176" y="3995928"/>
            <a:ext cx="2514600" cy="1097280"/>
          </a:xfrm>
          <a:prstGeom prst="rect">
            <a:avLst/>
          </a:prstGeom>
          <a:solidFill>
            <a:srgbClr val="F4F1EA"/>
          </a:solidFill>
          <a:ln w="9525">
            <a:solidFill>
              <a:srgbClr val="0B2B4E"/>
            </a:solidFill>
          </a:ln>
        </p:spPr>
        <p:txBody>
          <a:bodyPr wrap="square" anchor="ctr">
            <a:spAutoFit/>
          </a:bodyPr>
          <a:lstStyle/>
          <a:p xmlns:m="http://schemas.openxmlformats.org/officeDocument/2006/math" xmlns:a14="http://schemas.microsoft.com/office/drawing/2010/main">
            <a:pPr algn="ctr">
              <a:defRPr sz="3200" b="0" i="1">
                <a:solidFill>
                  <a:srgbClr val="0B2B4E"/>
                </a:solidFill>
                <a:latin typeface="Cambria Math"/>
              </a:defRPr>
            </a:pPr>
            <a14:m>
              <m:oMathPara>
                <m:oMathParaPr>
                  <m:jc m:val="centerGroup"/>
                </m:oMathParaPr>
                <m:oMath>
                  <m:f>
                    <m:fPr>
                      <m:ctrlPr>
                        <a:rPr lang="en-US" i="1">
                          <a:latin typeface="Cambria Math"/>
                        </a:rPr>
                      </m:ctrlPr>
                    </m:fPr>
                    <m:num>
                      <m:sSub>
                        <m:sSubPr>
                          <m:ctrlPr>
                            <a:rPr lang="en-US" i="1">
                              <a:latin typeface="Cambria Math"/>
                            </a:rPr>
                          </m:ctrlPr>
                        </m:sSubPr>
                        <m:e>
                          <m:r>
                            <a:rPr lang="en-US" b="0" i="1" sz="3200">
                              <a:latin typeface="Cambria Math"/>
                              <a:ea typeface="Cambria Math"/>
                              <a:solidFill>
                                <a:srgbClr val="0B2B4E"/>
                              </a:solidFill>
                            </a:rPr>
                            <m:t>MP</m:t>
                          </m:r>
                        </m:e>
                        <m:sub>
                          <m:r>
                            <a:rPr lang="en-US" b="0" i="1" sz="3200">
                              <a:latin typeface="Cambria Math"/>
                              <a:ea typeface="Cambria Math"/>
                              <a:solidFill>
                                <a:srgbClr val="0B2B4E"/>
                              </a:solidFill>
                            </a:rPr>
                            <m:t>L</m:t>
                          </m:r>
                        </m:sub>
                      </m:sSub>
                    </m:num>
                    <m:den>
                      <m:r>
                        <a:rPr lang="en-US" b="0" i="1" sz="3200">
                          <a:latin typeface="Cambria Math"/>
                          <a:ea typeface="Cambria Math"/>
                          <a:solidFill>
                            <a:srgbClr val="0B2B4E"/>
                          </a:solidFill>
                        </a:rPr>
                        <m:t>w</m:t>
                      </m:r>
                    </m:den>
                  </m:f>
                  <m:r>
                    <m:rPr>
                      <m:sty m:val="p"/>
                    </m:rPr>
                    <a:rPr lang="en-US" b="0" i="0" sz="3200">
                      <a:latin typeface="Cambria Math"/>
                      <a:solidFill>
                        <a:srgbClr val="0B2B4E"/>
                      </a:solidFill>
                    </a:rPr>
                    <m:t xml:space="preserve"> &gt; </m:t>
                  </m:r>
                  <m:f>
                    <m:fPr>
                      <m:ctrlPr>
                        <a:rPr lang="en-US" i="1">
                          <a:latin typeface="Cambria Math"/>
                        </a:rPr>
                      </m:ctrlPr>
                    </m:fPr>
                    <m:num>
                      <m:sSub>
                        <m:sSubPr>
                          <m:ctrlPr>
                            <a:rPr lang="en-US" i="1">
                              <a:latin typeface="Cambria Math"/>
                            </a:rPr>
                          </m:ctrlPr>
                        </m:sSubPr>
                        <m:e>
                          <m:r>
                            <a:rPr lang="en-US" b="0" i="1" sz="3200">
                              <a:latin typeface="Cambria Math"/>
                              <a:ea typeface="Cambria Math"/>
                              <a:solidFill>
                                <a:srgbClr val="0B2B4E"/>
                              </a:solidFill>
                            </a:rPr>
                            <m:t>MP</m:t>
                          </m:r>
                        </m:e>
                        <m:sub>
                          <m:r>
                            <a:rPr lang="en-US" b="0" i="1" sz="3200">
                              <a:latin typeface="Cambria Math"/>
                              <a:ea typeface="Cambria Math"/>
                              <a:solidFill>
                                <a:srgbClr val="0B2B4E"/>
                              </a:solidFill>
                            </a:rPr>
                            <m:t>K</m:t>
                          </m:r>
                        </m:sub>
                      </m:sSub>
                    </m:num>
                    <m:den>
                      <m:sSub>
                        <m:sSubPr>
                          <m:ctrlPr>
                            <a:rPr lang="en-US" i="1">
                              <a:latin typeface="Cambria Math"/>
                            </a:rPr>
                          </m:ctrlPr>
                        </m:sSubPr>
                        <m:e>
                          <m:r>
                            <a:rPr lang="en-US" b="0" i="1" sz="3200">
                              <a:latin typeface="Cambria Math"/>
                              <a:ea typeface="Cambria Math"/>
                              <a:solidFill>
                                <a:srgbClr val="0B2B4E"/>
                              </a:solidFill>
                            </a:rPr>
                            <m:t>p</m:t>
                          </m:r>
                        </m:e>
                        <m:sub>
                          <m:r>
                            <a:rPr lang="en-US" b="0" i="1" sz="3200">
                              <a:latin typeface="Cambria Math"/>
                              <a:ea typeface="Cambria Math"/>
                              <a:solidFill>
                                <a:srgbClr val="0B2B4E"/>
                              </a:solidFill>
                            </a:rPr>
                            <m:t>K</m:t>
                          </m:r>
                        </m:sub>
                      </m:sSub>
                    </m:den>
                  </m:f>
                </m:oMath>
              </m:oMathPara>
            </a14:m>
            <a:endParaRPr lang="en-US" sz="3200"/>
          </a:p>
        </p:txBody>
      </p:sp>
      <p:sp>
        <p:nvSpPr>
          <p:cNvPr id="20" name="TextBox 19"/>
          <p:cNvSpPr txBox="1"/>
          <p:nvPr/>
        </p:nvSpPr>
        <p:spPr>
          <a:xfrm>
            <a:off x="3694176" y="4251960"/>
            <a:ext cx="950976" cy="493776"/>
          </a:xfrm>
          <a:prstGeom prst="rect">
            <a:avLst/>
          </a:prstGeom>
          <a:noFill/>
        </p:spPr>
        <p:txBody>
          <a:bodyPr wrap="square" lIns="0" rIns="0" tIns="0" bIns="0">
            <a:spAutoFit/>
          </a:bodyPr>
          <a:lstStyle/>
          <a:p>
            <a:pPr algn="ctr"/>
            <a:r>
              <a:rPr sz="3200" b="1" i="0">
                <a:solidFill>
                  <a:srgbClr val="0B2B4E"/>
                </a:solidFill>
                <a:latin typeface="Calibri"/>
              </a:rPr>
              <a:t>Thus:</a:t>
            </a:r>
          </a:p>
        </p:txBody>
      </p:sp>
      <p:sp>
        <p:nvSpPr>
          <p:cNvPr id="21" name="TextBox 20"/>
          <p:cNvSpPr txBox="1"/>
          <p:nvPr/>
        </p:nvSpPr>
        <p:spPr>
          <a:xfrm>
            <a:off x="402336" y="5504688"/>
            <a:ext cx="11686032" cy="365760"/>
          </a:xfrm>
          <a:prstGeom prst="rect">
            <a:avLst/>
          </a:prstGeom>
          <a:noFill/>
        </p:spPr>
        <p:txBody>
          <a:bodyPr wrap="square" lIns="0" rIns="0" tIns="0" bIns="0">
            <a:spAutoFit/>
          </a:bodyPr>
          <a:lstStyle/>
          <a:p>
            <a:pPr algn="ctr"/>
            <a:r>
              <a:rPr sz="2000" b="1" i="0">
                <a:solidFill>
                  <a:srgbClr val="0B2B4E"/>
                </a:solidFill>
                <a:latin typeface="Calibri"/>
              </a:rPr>
              <a:t>→  Rivian should hire more workers, fewer robots</a:t>
            </a:r>
          </a:p>
        </p:txBody>
      </p:sp>
      <p:sp>
        <p:nvSpPr>
          <p:cNvPr id="22" name="Rectangle 2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25" name="TextBox 24"/>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Long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When Prices Change, the Input Mix Shifts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737360"/>
            <a:ext cx="11687697" cy="502920"/>
          </a:xfrm>
          <a:prstGeom prst="rect">
            <a:avLst/>
          </a:prstGeom>
          <a:noFill/>
        </p:spPr>
        <p:txBody>
          <a:bodyPr wrap="square" lIns="0" rIns="0" tIns="0" bIns="0">
            <a:spAutoFit/>
          </a:bodyPr>
          <a:lstStyle/>
          <a:p>
            <a:pPr algn="ctr"/>
            <a:r>
              <a:rPr sz="2400" b="0" i="1">
                <a:solidFill>
                  <a:srgbClr val="555B66"/>
                </a:solidFill>
                <a:latin typeface="Calibri"/>
              </a:rPr>
              <a:t>What's the effect on the optimal input mix if…</a:t>
            </a:r>
          </a:p>
        </p:txBody>
      </p:sp>
      <p:sp>
        <p:nvSpPr>
          <p:cNvPr id="8" name="Rectangle 7"/>
          <p:cNvSpPr/>
          <p:nvPr/>
        </p:nvSpPr>
        <p:spPr>
          <a:xfrm>
            <a:off x="426567" y="2468880"/>
            <a:ext cx="5486400" cy="64008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The government introduces a high tax on robots</a:t>
            </a:r>
          </a:p>
        </p:txBody>
      </p:sp>
      <p:sp>
        <p:nvSpPr>
          <p:cNvPr id="9" name="Rectangle 8"/>
          <p:cNvSpPr/>
          <p:nvPr/>
        </p:nvSpPr>
        <p:spPr>
          <a:xfrm>
            <a:off x="426567" y="3154680"/>
            <a:ext cx="5486400" cy="242316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0">
                <a:solidFill>
                  <a:srgbClr val="0B2B4E"/>
                </a:solidFill>
                <a:latin typeface="Calibri"/>
              </a:rPr>
              <a:t/>
            </a:r>
          </a:p>
        </p:txBody>
      </p:sp>
      <p:sp>
        <p:nvSpPr>
          <p:cNvPr id="10" name="TextBox 9"/>
          <p:cNvSpPr txBox="1"/>
          <p:nvPr/>
        </p:nvSpPr>
        <p:spPr>
          <a:xfrm>
            <a:off x="1984248" y="3657600"/>
            <a:ext cx="2743200" cy="850392"/>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0B2B4E"/>
                </a:solidFill>
                <a:latin typeface="Cambria Math"/>
              </a:defRPr>
            </a:pPr>
            <a14:m>
              <m:oMathPara>
                <m:oMathParaPr>
                  <m:jc m:val="centerGroup"/>
                </m:oMathParaPr>
                <m:oMath>
                  <m:sSub>
                    <m:sSubPr>
                      <m:ctrlPr>
                        <a:rPr lang="en-US" i="1">
                          <a:latin typeface="Cambria Math"/>
                        </a:rPr>
                      </m:ctrlPr>
                    </m:sSubPr>
                    <m:e>
                      <m:r>
                        <a:rPr lang="en-US" b="0" i="1" sz="2400">
                          <a:latin typeface="Cambria Math"/>
                          <a:ea typeface="Cambria Math"/>
                          <a:solidFill>
                            <a:srgbClr val="0B2B4E"/>
                          </a:solidFill>
                        </a:rPr>
                        <m:t>p</m:t>
                      </m:r>
                    </m:e>
                    <m:sub>
                      <m:r>
                        <a:rPr lang="en-US" b="0" i="1" sz="2400">
                          <a:latin typeface="Cambria Math"/>
                          <a:ea typeface="Cambria Math"/>
                          <a:solidFill>
                            <a:srgbClr val="0B2B4E"/>
                          </a:solidFill>
                        </a:rPr>
                        <m:t>K</m:t>
                      </m:r>
                    </m:sub>
                  </m:sSub>
                  <m:r>
                    <m:rPr>
                      <m:sty m:val="p"/>
                    </m:rPr>
                    <a:rPr lang="en-US" b="0" i="0" sz="2400">
                      <a:latin typeface="Cambria Math"/>
                      <a:solidFill>
                        <a:srgbClr val="0B2B4E"/>
                      </a:solidFill>
                    </a:rPr>
                    <m:t xml:space="preserve">↑   ⇒ </m:t>
                  </m:r>
                  <m:f>
                    <m:fPr>
                      <m:ctrlPr>
                        <a:rPr lang="en-US" i="1">
                          <a:latin typeface="Cambria Math"/>
                        </a:rPr>
                      </m:ctrlPr>
                    </m:fPr>
                    <m:num>
                      <m:sSub>
                        <m:sSubPr>
                          <m:ctrlPr>
                            <a:rPr lang="en-US" i="1">
                              <a:latin typeface="Cambria Math"/>
                            </a:rPr>
                          </m:ctrlPr>
                        </m:sSubPr>
                        <m:e>
                          <m:r>
                            <a:rPr lang="en-US" b="0" i="1" sz="2400">
                              <a:latin typeface="Cambria Math"/>
                              <a:ea typeface="Cambria Math"/>
                              <a:solidFill>
                                <a:srgbClr val="0B2B4E"/>
                              </a:solidFill>
                            </a:rPr>
                            <m:t>MP</m:t>
                          </m:r>
                        </m:e>
                        <m:sub>
                          <m:r>
                            <a:rPr lang="en-US" b="0" i="1" sz="2400">
                              <a:latin typeface="Cambria Math"/>
                              <a:ea typeface="Cambria Math"/>
                              <a:solidFill>
                                <a:srgbClr val="0B2B4E"/>
                              </a:solidFill>
                            </a:rPr>
                            <m:t>K</m:t>
                          </m:r>
                        </m:sub>
                      </m:sSub>
                    </m:num>
                    <m:den>
                      <m:sSub>
                        <m:sSubPr>
                          <m:ctrlPr>
                            <a:rPr lang="en-US" i="1">
                              <a:latin typeface="Cambria Math"/>
                            </a:rPr>
                          </m:ctrlPr>
                        </m:sSubPr>
                        <m:e>
                          <m:r>
                            <a:rPr lang="en-US" b="0" i="1" sz="2400">
                              <a:latin typeface="Cambria Math"/>
                              <a:ea typeface="Cambria Math"/>
                              <a:solidFill>
                                <a:srgbClr val="0B2B4E"/>
                              </a:solidFill>
                            </a:rPr>
                            <m:t>p</m:t>
                          </m:r>
                        </m:e>
                        <m:sub>
                          <m:r>
                            <a:rPr lang="en-US" b="0" i="1" sz="2400">
                              <a:latin typeface="Cambria Math"/>
                              <a:ea typeface="Cambria Math"/>
                              <a:solidFill>
                                <a:srgbClr val="0B2B4E"/>
                              </a:solidFill>
                            </a:rPr>
                            <m:t>K</m:t>
                          </m:r>
                        </m:sub>
                      </m:sSub>
                    </m:den>
                  </m:f>
                  <m:r>
                    <m:rPr>
                      <m:sty m:val="p"/>
                    </m:rPr>
                    <a:rPr lang="en-US" b="0" i="0" sz="2400">
                      <a:latin typeface="Cambria Math"/>
                      <a:solidFill>
                        <a:srgbClr val="0B2B4E"/>
                      </a:solidFill>
                    </a:rPr>
                    <m:t xml:space="preserve"> ↓</m:t>
                  </m:r>
                </m:oMath>
              </m:oMathPara>
            </a14:m>
            <a:endParaRPr lang="en-US" sz="2400"/>
          </a:p>
        </p:txBody>
      </p:sp>
      <p:sp>
        <p:nvSpPr>
          <p:cNvPr id="11" name="TextBox 10"/>
          <p:cNvSpPr txBox="1"/>
          <p:nvPr/>
        </p:nvSpPr>
        <p:spPr>
          <a:xfrm>
            <a:off x="426567" y="4800600"/>
            <a:ext cx="5486400" cy="457200"/>
          </a:xfrm>
          <a:prstGeom prst="rect">
            <a:avLst/>
          </a:prstGeom>
          <a:noFill/>
        </p:spPr>
        <p:txBody>
          <a:bodyPr wrap="square" lIns="0" rIns="0" tIns="0" bIns="0">
            <a:spAutoFit/>
          </a:bodyPr>
          <a:lstStyle/>
          <a:p>
            <a:pPr algn="ctr"/>
            <a:r>
              <a:rPr sz="2000" b="0" i="0">
                <a:solidFill>
                  <a:srgbClr val="0B2B4E"/>
                </a:solidFill>
                <a:latin typeface="Calibri"/>
              </a:rPr>
              <a:t>→  shift toward more labor</a:t>
            </a:r>
          </a:p>
        </p:txBody>
      </p:sp>
      <p:sp>
        <p:nvSpPr>
          <p:cNvPr id="12" name="Rectangle 11"/>
          <p:cNvSpPr/>
          <p:nvPr/>
        </p:nvSpPr>
        <p:spPr>
          <a:xfrm>
            <a:off x="6278727" y="2468880"/>
            <a:ext cx="5486400" cy="64008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Labor unions demand significantly higher wages</a:t>
            </a:r>
          </a:p>
        </p:txBody>
      </p:sp>
      <p:sp>
        <p:nvSpPr>
          <p:cNvPr id="13" name="Rectangle 12"/>
          <p:cNvSpPr/>
          <p:nvPr/>
        </p:nvSpPr>
        <p:spPr>
          <a:xfrm>
            <a:off x="6278727" y="3154680"/>
            <a:ext cx="5486400" cy="242316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0">
                <a:solidFill>
                  <a:srgbClr val="0B2B4E"/>
                </a:solidFill>
                <a:latin typeface="Calibri"/>
              </a:rPr>
              <a:t/>
            </a:r>
          </a:p>
        </p:txBody>
      </p:sp>
      <p:sp>
        <p:nvSpPr>
          <p:cNvPr id="14" name="TextBox 13"/>
          <p:cNvSpPr txBox="1"/>
          <p:nvPr/>
        </p:nvSpPr>
        <p:spPr>
          <a:xfrm>
            <a:off x="7982712" y="3794760"/>
            <a:ext cx="2331720" cy="786384"/>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0B2B4E"/>
                </a:solidFill>
                <a:latin typeface="Cambria Math"/>
              </a:defRPr>
            </a:pPr>
            <a14:m>
              <m:oMathPara>
                <m:oMathParaPr>
                  <m:jc m:val="centerGroup"/>
                </m:oMathParaPr>
                <m:oMath>
                  <m:r>
                    <a:rPr lang="en-US" b="0" i="1" sz="2400">
                      <a:latin typeface="Cambria Math"/>
                      <a:ea typeface="Cambria Math"/>
                      <a:solidFill>
                        <a:srgbClr val="0B2B4E"/>
                      </a:solidFill>
                    </a:rPr>
                    <m:t>w</m:t>
                  </m:r>
                  <m:r>
                    <m:rPr>
                      <m:sty m:val="p"/>
                    </m:rPr>
                    <a:rPr lang="en-US" b="0" i="0" sz="2400">
                      <a:latin typeface="Cambria Math"/>
                      <a:solidFill>
                        <a:srgbClr val="0B2B4E"/>
                      </a:solidFill>
                    </a:rPr>
                    <m:t xml:space="preserve">↑  ⇒ </m:t>
                  </m:r>
                  <m:f>
                    <m:fPr>
                      <m:ctrlPr>
                        <a:rPr lang="en-US" i="1">
                          <a:latin typeface="Cambria Math"/>
                        </a:rPr>
                      </m:ctrlPr>
                    </m:fPr>
                    <m:num>
                      <m:sSub>
                        <m:sSubPr>
                          <m:ctrlPr>
                            <a:rPr lang="en-US" i="1">
                              <a:latin typeface="Cambria Math"/>
                            </a:rPr>
                          </m:ctrlPr>
                        </m:sSubPr>
                        <m:e>
                          <m:r>
                            <a:rPr lang="en-US" b="0" i="1" sz="2400">
                              <a:latin typeface="Cambria Math"/>
                              <a:ea typeface="Cambria Math"/>
                              <a:solidFill>
                                <a:srgbClr val="0B2B4E"/>
                              </a:solidFill>
                            </a:rPr>
                            <m:t>MP</m:t>
                          </m:r>
                        </m:e>
                        <m:sub>
                          <m:r>
                            <a:rPr lang="en-US" b="0" i="1" sz="2400">
                              <a:latin typeface="Cambria Math"/>
                              <a:ea typeface="Cambria Math"/>
                              <a:solidFill>
                                <a:srgbClr val="0B2B4E"/>
                              </a:solidFill>
                            </a:rPr>
                            <m:t>L</m:t>
                          </m:r>
                        </m:sub>
                      </m:sSub>
                    </m:num>
                    <m:den>
                      <m:r>
                        <a:rPr lang="en-US" b="0" i="1" sz="2400">
                          <a:latin typeface="Cambria Math"/>
                          <a:ea typeface="Cambria Math"/>
                          <a:solidFill>
                            <a:srgbClr val="0B2B4E"/>
                          </a:solidFill>
                        </a:rPr>
                        <m:t>w</m:t>
                      </m:r>
                    </m:den>
                  </m:f>
                  <m:r>
                    <m:rPr>
                      <m:sty m:val="p"/>
                    </m:rPr>
                    <a:rPr lang="en-US" b="0" i="0" sz="2400">
                      <a:latin typeface="Cambria Math"/>
                      <a:solidFill>
                        <a:srgbClr val="0B2B4E"/>
                      </a:solidFill>
                    </a:rPr>
                    <m:t xml:space="preserve">↓</m:t>
                  </m:r>
                </m:oMath>
              </m:oMathPara>
            </a14:m>
            <a:endParaRPr lang="en-US" sz="2400"/>
          </a:p>
        </p:txBody>
      </p:sp>
      <p:sp>
        <p:nvSpPr>
          <p:cNvPr id="15" name="TextBox 14"/>
          <p:cNvSpPr txBox="1"/>
          <p:nvPr/>
        </p:nvSpPr>
        <p:spPr>
          <a:xfrm>
            <a:off x="6278727" y="4800600"/>
            <a:ext cx="5486400" cy="457200"/>
          </a:xfrm>
          <a:prstGeom prst="rect">
            <a:avLst/>
          </a:prstGeom>
          <a:noFill/>
        </p:spPr>
        <p:txBody>
          <a:bodyPr wrap="square" lIns="0" rIns="0" tIns="0" bIns="0">
            <a:spAutoFit/>
          </a:bodyPr>
          <a:lstStyle/>
          <a:p>
            <a:pPr algn="ctr"/>
            <a:r>
              <a:rPr sz="2000" b="0" i="0">
                <a:solidFill>
                  <a:srgbClr val="0B2B4E"/>
                </a:solidFill>
                <a:latin typeface="Calibri"/>
              </a:rPr>
              <a:t>→  shift toward more automation</a:t>
            </a:r>
          </a:p>
        </p:txBody>
      </p:sp>
      <p:sp>
        <p:nvSpPr>
          <p:cNvPr id="16" name="Rounded Rectangle 15"/>
          <p:cNvSpPr/>
          <p:nvPr/>
        </p:nvSpPr>
        <p:spPr>
          <a:xfrm>
            <a:off x="609447" y="5833872"/>
            <a:ext cx="1097280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0B2B4E"/>
                </a:solidFill>
                <a:latin typeface="Calibri"/>
              </a:rPr>
              <a:t>When input prices change, the optimal mix shifts toward the input that has become cheaper</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20" name="TextBox 19"/>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Production · Long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“Bang for the Buck” in Grocery Shopping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0972800" cy="1005840"/>
          </a:xfrm>
          <a:prstGeom prst="rect">
            <a:avLst/>
          </a:prstGeom>
          <a:noFill/>
        </p:spPr>
        <p:txBody>
          <a:bodyPr wrap="square" lIns="0" rIns="0" tIns="0" bIns="0">
            <a:sp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P&amp;G offers two sizes for its flagship detergent</a:t>
            </a:r>
          </a:p>
          <a:p>
            <a:pPr algn="l" lvl="1"/>
            <a:r>
              <a:rPr>
                <a:latin typeface="Calibri"/>
              </a:rPr>
              <a:t>Small Tide Ultra Oxi (29 loads) for $17</a:t>
            </a:r>
          </a:p>
          <a:p>
            <a:pPr algn="l" lvl="1"/>
            <a:r>
              <a:rPr>
                <a:latin typeface="Calibri"/>
              </a:rPr>
              <a:t>Large Tide Ultra Oxi (81 loads) for $35</a:t>
            </a:r>
          </a:p>
        </p:txBody>
      </p:sp>
      <p:sp>
        <p:nvSpPr>
          <p:cNvPr id="8" name="TextBox 7"/>
          <p:cNvSpPr txBox="1"/>
          <p:nvPr/>
        </p:nvSpPr>
        <p:spPr>
          <a:xfrm>
            <a:off x="1572768" y="2798978"/>
            <a:ext cx="2862072" cy="785469"/>
          </a:xfrm>
          <a:prstGeom prst="rect">
            <a:avLst/>
          </a:prstGeom>
          <a:noFill/>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f>
                    <m:fPr>
                      <m:ctrlPr>
                        <a:rPr lang="en-US" i="1">
                          <a:latin typeface="Cambria Math"/>
                        </a:rPr>
                      </m:ctrlPr>
                    </m:fPr>
                    <m:num>
                      <m:sSub>
                        <m:sSubPr>
                          <m:ctrlPr>
                            <a:rPr lang="en-US" i="1">
                              <a:latin typeface="Cambria Math"/>
                            </a:rPr>
                          </m:ctrlPr>
                        </m:sSubPr>
                        <m:e>
                          <m:r>
                            <a:rPr lang="en-US" b="0" i="1" sz="2200">
                              <a:latin typeface="Cambria Math"/>
                              <a:ea typeface="Cambria Math"/>
                              <a:solidFill>
                                <a:srgbClr val="0B2B4E"/>
                              </a:solidFill>
                            </a:rPr>
                            <m:t>MP</m:t>
                          </m:r>
                        </m:e>
                        <m:sub>
                          <m:r>
                            <a:rPr lang="en-US" b="0" i="1" sz="2200">
                              <a:latin typeface="Cambria Math"/>
                              <a:ea typeface="Cambria Math"/>
                              <a:solidFill>
                                <a:srgbClr val="0B2B4E"/>
                              </a:solidFill>
                            </a:rPr>
                            <m:t>small</m:t>
                          </m:r>
                        </m:sub>
                      </m:sSub>
                    </m:num>
                    <m:den>
                      <m:sSub>
                        <m:sSubPr>
                          <m:ctrlPr>
                            <a:rPr lang="en-US" i="1">
                              <a:latin typeface="Cambria Math"/>
                            </a:rPr>
                          </m:ctrlPr>
                        </m:sSubPr>
                        <m:e>
                          <m:r>
                            <a:rPr lang="en-US" b="0" i="1" sz="2200">
                              <a:latin typeface="Cambria Math"/>
                              <a:ea typeface="Cambria Math"/>
                              <a:solidFill>
                                <a:srgbClr val="0B2B4E"/>
                              </a:solidFill>
                            </a:rPr>
                            <m:t>p</m:t>
                          </m:r>
                        </m:e>
                        <m:sub>
                          <m:r>
                            <a:rPr lang="en-US" b="0" i="1" sz="2200">
                              <a:latin typeface="Cambria Math"/>
                              <a:ea typeface="Cambria Math"/>
                              <a:solidFill>
                                <a:srgbClr val="0B2B4E"/>
                              </a:solidFill>
                            </a:rPr>
                            <m:t>small</m:t>
                          </m:r>
                        </m:sub>
                      </m:sSub>
                    </m:den>
                  </m:f>
                  <m:r>
                    <m:rPr>
                      <m:sty m:val="p"/>
                    </m:rPr>
                    <a:rPr lang="en-US" b="0" i="0" sz="2200">
                      <a:latin typeface="Cambria Math"/>
                      <a:solidFill>
                        <a:srgbClr val="0B2B4E"/>
                      </a:solidFill>
                    </a:rPr>
                    <m:t xml:space="preserve"> = </m:t>
                  </m:r>
                  <m:f>
                    <m:fPr>
                      <m:ctrlPr>
                        <a:rPr lang="en-US" i="1">
                          <a:latin typeface="Cambria Math"/>
                        </a:rPr>
                      </m:ctrlPr>
                    </m:fPr>
                    <m:num>
                      <m:r>
                        <m:rPr>
                          <m:sty m:val="p"/>
                        </m:rPr>
                        <a:rPr lang="en-US" b="0" i="0" sz="2200">
                          <a:latin typeface="Cambria Math"/>
                          <a:solidFill>
                            <a:srgbClr val="0B2B4E"/>
                          </a:solidFill>
                        </a:rPr>
                        <m:t xml:space="preserve">29</m:t>
                      </m:r>
                    </m:num>
                    <m:den>
                      <m:r>
                        <m:rPr>
                          <m:sty m:val="p"/>
                        </m:rPr>
                        <a:rPr lang="en-US" b="0" i="0" sz="2200">
                          <a:latin typeface="Cambria Math"/>
                          <a:solidFill>
                            <a:srgbClr val="0B2B4E"/>
                          </a:solidFill>
                        </a:rPr>
                        <m:t xml:space="preserve">17</m:t>
                      </m:r>
                    </m:den>
                  </m:f>
                  <m:r>
                    <m:rPr>
                      <m:sty m:val="p"/>
                    </m:rPr>
                    <a:rPr lang="en-US" b="0" i="0" sz="2200">
                      <a:latin typeface="Cambria Math"/>
                      <a:solidFill>
                        <a:srgbClr val="0B2B4E"/>
                      </a:solidFill>
                    </a:rPr>
                    <m:t xml:space="preserve"> = </m:t>
                  </m:r>
                  <m:r>
                    <m:rPr>
                      <m:sty m:val="p"/>
                    </m:rPr>
                    <a:rPr lang="en-US" b="0" i="0" sz="2200">
                      <a:latin typeface="Cambria Math"/>
                      <a:solidFill>
                        <a:srgbClr val="0B2B4E"/>
                      </a:solidFill>
                    </a:rPr>
                    <m:t xml:space="preserve">1.7</m:t>
                  </m:r>
                </m:oMath>
              </m:oMathPara>
            </a14:m>
            <a:endParaRPr lang="en-US" sz="2200"/>
          </a:p>
        </p:txBody>
      </p:sp>
      <p:sp>
        <p:nvSpPr>
          <p:cNvPr id="9" name="TextBox 8"/>
          <p:cNvSpPr txBox="1"/>
          <p:nvPr/>
        </p:nvSpPr>
        <p:spPr>
          <a:xfrm>
            <a:off x="7388352" y="2747772"/>
            <a:ext cx="3075127" cy="832104"/>
          </a:xfrm>
          <a:prstGeom prst="rect">
            <a:avLst/>
          </a:prstGeom>
          <a:noFill/>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f>
                    <m:fPr>
                      <m:ctrlPr>
                        <a:rPr lang="en-US" i="1">
                          <a:latin typeface="Cambria Math"/>
                        </a:rPr>
                      </m:ctrlPr>
                    </m:fPr>
                    <m:num>
                      <m:sSub>
                        <m:sSubPr>
                          <m:ctrlPr>
                            <a:rPr lang="en-US" i="1">
                              <a:latin typeface="Cambria Math"/>
                            </a:rPr>
                          </m:ctrlPr>
                        </m:sSubPr>
                        <m:e>
                          <m:r>
                            <a:rPr lang="en-US" b="0" i="1" sz="2200">
                              <a:latin typeface="Cambria Math"/>
                              <a:ea typeface="Cambria Math"/>
                              <a:solidFill>
                                <a:srgbClr val="0B2B4E"/>
                              </a:solidFill>
                            </a:rPr>
                            <m:t>MP</m:t>
                          </m:r>
                        </m:e>
                        <m:sub>
                          <m:r>
                            <a:rPr lang="en-US" b="0" i="1" sz="2200">
                              <a:latin typeface="Cambria Math"/>
                              <a:ea typeface="Cambria Math"/>
                              <a:solidFill>
                                <a:srgbClr val="0B2B4E"/>
                              </a:solidFill>
                            </a:rPr>
                            <m:t>large</m:t>
                          </m:r>
                        </m:sub>
                      </m:sSub>
                    </m:num>
                    <m:den>
                      <m:sSub>
                        <m:sSubPr>
                          <m:ctrlPr>
                            <a:rPr lang="en-US" i="1">
                              <a:latin typeface="Cambria Math"/>
                            </a:rPr>
                          </m:ctrlPr>
                        </m:sSubPr>
                        <m:e>
                          <m:r>
                            <a:rPr lang="en-US" b="0" i="1" sz="2200">
                              <a:latin typeface="Cambria Math"/>
                              <a:ea typeface="Cambria Math"/>
                              <a:solidFill>
                                <a:srgbClr val="0B2B4E"/>
                              </a:solidFill>
                            </a:rPr>
                            <m:t>p</m:t>
                          </m:r>
                        </m:e>
                        <m:sub>
                          <m:r>
                            <a:rPr lang="en-US" b="0" i="1" sz="2200">
                              <a:latin typeface="Cambria Math"/>
                              <a:ea typeface="Cambria Math"/>
                              <a:solidFill>
                                <a:srgbClr val="0B2B4E"/>
                              </a:solidFill>
                            </a:rPr>
                            <m:t>large</m:t>
                          </m:r>
                        </m:sub>
                      </m:sSub>
                    </m:den>
                  </m:f>
                  <m:r>
                    <m:rPr>
                      <m:sty m:val="p"/>
                    </m:rPr>
                    <a:rPr lang="en-US" b="0" i="0" sz="2200">
                      <a:latin typeface="Cambria Math"/>
                      <a:solidFill>
                        <a:srgbClr val="0B2B4E"/>
                      </a:solidFill>
                    </a:rPr>
                    <m:t xml:space="preserve"> = </m:t>
                  </m:r>
                  <m:f>
                    <m:fPr>
                      <m:ctrlPr>
                        <a:rPr lang="en-US" i="1">
                          <a:latin typeface="Cambria Math"/>
                        </a:rPr>
                      </m:ctrlPr>
                    </m:fPr>
                    <m:num>
                      <m:r>
                        <m:rPr>
                          <m:sty m:val="p"/>
                        </m:rPr>
                        <a:rPr lang="en-US" b="0" i="0" sz="2200">
                          <a:latin typeface="Cambria Math"/>
                          <a:solidFill>
                            <a:srgbClr val="0B2B4E"/>
                          </a:solidFill>
                        </a:rPr>
                        <m:t xml:space="preserve">81</m:t>
                      </m:r>
                    </m:num>
                    <m:den>
                      <m:r>
                        <m:rPr>
                          <m:sty m:val="p"/>
                        </m:rPr>
                        <a:rPr lang="en-US" b="0" i="0" sz="2200">
                          <a:latin typeface="Cambria Math"/>
                          <a:solidFill>
                            <a:srgbClr val="0B2B4E"/>
                          </a:solidFill>
                        </a:rPr>
                        <m:t xml:space="preserve">35</m:t>
                      </m:r>
                    </m:den>
                  </m:f>
                  <m:r>
                    <m:rPr>
                      <m:sty m:val="p"/>
                    </m:rPr>
                    <a:rPr lang="en-US" b="0" i="0" sz="2200">
                      <a:latin typeface="Cambria Math"/>
                      <a:solidFill>
                        <a:srgbClr val="0B2B4E"/>
                      </a:solidFill>
                    </a:rPr>
                    <m:t xml:space="preserve"> = </m:t>
                  </m:r>
                  <m:r>
                    <m:rPr>
                      <m:sty m:val="p"/>
                    </m:rPr>
                    <a:rPr lang="en-US" b="0" i="0" sz="2200">
                      <a:latin typeface="Cambria Math"/>
                      <a:solidFill>
                        <a:srgbClr val="0B2B4E"/>
                      </a:solidFill>
                    </a:rPr>
                    <m:t xml:space="preserve">2.3</m:t>
                  </m:r>
                </m:oMath>
              </m:oMathPara>
            </a14:m>
            <a:endParaRPr lang="en-US" sz="2200"/>
          </a:p>
        </p:txBody>
      </p:sp>
      <p:sp>
        <p:nvSpPr>
          <p:cNvPr id="10" name="TextBox 9"/>
          <p:cNvSpPr txBox="1"/>
          <p:nvPr/>
        </p:nvSpPr>
        <p:spPr>
          <a:xfrm>
            <a:off x="4370832" y="4069080"/>
            <a:ext cx="3017520" cy="832104"/>
          </a:xfrm>
          <a:prstGeom prst="rect">
            <a:avLst/>
          </a:prstGeom>
          <a:noFill/>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f>
                    <m:fPr>
                      <m:ctrlPr>
                        <a:rPr lang="en-US" i="1">
                          <a:latin typeface="Cambria Math"/>
                        </a:rPr>
                      </m:ctrlPr>
                    </m:fPr>
                    <m:num>
                      <m:sSub>
                        <m:sSubPr>
                          <m:ctrlPr>
                            <a:rPr lang="en-US" i="1">
                              <a:latin typeface="Cambria Math"/>
                            </a:rPr>
                          </m:ctrlPr>
                        </m:sSubPr>
                        <m:e>
                          <m:r>
                            <a:rPr lang="en-US" b="0" i="1" sz="2200">
                              <a:latin typeface="Cambria Math"/>
                              <a:ea typeface="Cambria Math"/>
                              <a:solidFill>
                                <a:srgbClr val="0B2B4E"/>
                              </a:solidFill>
                            </a:rPr>
                            <m:t>MP</m:t>
                          </m:r>
                        </m:e>
                        <m:sub>
                          <m:r>
                            <a:rPr lang="en-US" b="0" i="1" sz="2200">
                              <a:latin typeface="Cambria Math"/>
                              <a:ea typeface="Cambria Math"/>
                              <a:solidFill>
                                <a:srgbClr val="0B2B4E"/>
                              </a:solidFill>
                            </a:rPr>
                            <m:t>small</m:t>
                          </m:r>
                        </m:sub>
                      </m:sSub>
                    </m:num>
                    <m:den>
                      <m:sSub>
                        <m:sSubPr>
                          <m:ctrlPr>
                            <a:rPr lang="en-US" i="1">
                              <a:latin typeface="Cambria Math"/>
                            </a:rPr>
                          </m:ctrlPr>
                        </m:sSubPr>
                        <m:e>
                          <m:r>
                            <a:rPr lang="en-US" b="0" i="1" sz="2200">
                              <a:latin typeface="Cambria Math"/>
                              <a:ea typeface="Cambria Math"/>
                              <a:solidFill>
                                <a:srgbClr val="0B2B4E"/>
                              </a:solidFill>
                            </a:rPr>
                            <m:t>p</m:t>
                          </m:r>
                        </m:e>
                        <m:sub>
                          <m:r>
                            <a:rPr lang="en-US" b="0" i="1" sz="2200">
                              <a:latin typeface="Cambria Math"/>
                              <a:ea typeface="Cambria Math"/>
                              <a:solidFill>
                                <a:srgbClr val="0B2B4E"/>
                              </a:solidFill>
                            </a:rPr>
                            <m:t>small</m:t>
                          </m:r>
                        </m:sub>
                      </m:sSub>
                    </m:den>
                  </m:f>
                  <m:r>
                    <m:rPr>
                      <m:sty m:val="p"/>
                    </m:rPr>
                    <a:rPr lang="en-US" b="0" i="0" sz="2200">
                      <a:latin typeface="Cambria Math"/>
                      <a:solidFill>
                        <a:srgbClr val="0B2B4E"/>
                      </a:solidFill>
                    </a:rPr>
                    <m:t xml:space="preserve"> &lt; </m:t>
                  </m:r>
                  <m:f>
                    <m:fPr>
                      <m:ctrlPr>
                        <a:rPr lang="en-US" i="1">
                          <a:latin typeface="Cambria Math"/>
                        </a:rPr>
                      </m:ctrlPr>
                    </m:fPr>
                    <m:num>
                      <m:sSub>
                        <m:sSubPr>
                          <m:ctrlPr>
                            <a:rPr lang="en-US" i="1">
                              <a:latin typeface="Cambria Math"/>
                            </a:rPr>
                          </m:ctrlPr>
                        </m:sSubPr>
                        <m:e>
                          <m:r>
                            <a:rPr lang="en-US" b="0" i="1" sz="2200">
                              <a:latin typeface="Cambria Math"/>
                              <a:ea typeface="Cambria Math"/>
                              <a:solidFill>
                                <a:srgbClr val="0B2B4E"/>
                              </a:solidFill>
                            </a:rPr>
                            <m:t>MP</m:t>
                          </m:r>
                        </m:e>
                        <m:sub>
                          <m:r>
                            <a:rPr lang="en-US" b="0" i="1" sz="2200">
                              <a:latin typeface="Cambria Math"/>
                              <a:ea typeface="Cambria Math"/>
                              <a:solidFill>
                                <a:srgbClr val="0B2B4E"/>
                              </a:solidFill>
                            </a:rPr>
                            <m:t>large</m:t>
                          </m:r>
                        </m:sub>
                      </m:sSub>
                    </m:num>
                    <m:den>
                      <m:sSub>
                        <m:sSubPr>
                          <m:ctrlPr>
                            <a:rPr lang="en-US" i="1">
                              <a:latin typeface="Cambria Math"/>
                            </a:rPr>
                          </m:ctrlPr>
                        </m:sSubPr>
                        <m:e>
                          <m:r>
                            <a:rPr lang="en-US" b="0" i="1" sz="2200">
                              <a:latin typeface="Cambria Math"/>
                              <a:ea typeface="Cambria Math"/>
                              <a:solidFill>
                                <a:srgbClr val="0B2B4E"/>
                              </a:solidFill>
                            </a:rPr>
                            <m:t>p</m:t>
                          </m:r>
                        </m:e>
                        <m:sub>
                          <m:r>
                            <a:rPr lang="en-US" b="0" i="1" sz="2200">
                              <a:latin typeface="Cambria Math"/>
                              <a:ea typeface="Cambria Math"/>
                              <a:solidFill>
                                <a:srgbClr val="0B2B4E"/>
                              </a:solidFill>
                            </a:rPr>
                            <m:t>large</m:t>
                          </m:r>
                        </m:sub>
                      </m:sSub>
                    </m:den>
                  </m:f>
                </m:oMath>
              </m:oMathPara>
            </a14:m>
            <a:endParaRPr lang="en-US" sz="2200"/>
          </a:p>
        </p:txBody>
      </p:sp>
      <p:pic>
        <p:nvPicPr>
          <p:cNvPr id="11" name="Picture 10" descr="slide41_rId5.jpg"/>
          <p:cNvPicPr>
            <a:picLocks noChangeAspect="1"/>
          </p:cNvPicPr>
          <p:nvPr/>
        </p:nvPicPr>
        <p:blipFill>
          <a:blip r:embed="rId2"/>
          <a:stretch>
            <a:fillRect/>
          </a:stretch>
        </p:blipFill>
        <p:spPr>
          <a:xfrm>
            <a:off x="2459736" y="3808476"/>
            <a:ext cx="1087587" cy="1737360"/>
          </a:xfrm>
          <a:prstGeom prst="rect">
            <a:avLst/>
          </a:prstGeom>
          <a:effectLst>
            <a:outerShdw blurRad="50800" dist="38100" dir="2700000" algn="tl" rotWithShape="0">
              <a:srgbClr val="000000">
                <a:alpha val="45000"/>
              </a:srgbClr>
            </a:outerShdw>
          </a:effectLst>
        </p:spPr>
      </p:pic>
      <p:pic>
        <p:nvPicPr>
          <p:cNvPr id="12" name="Picture 11" descr="slide41_rId6.jpg"/>
          <p:cNvPicPr>
            <a:picLocks noChangeAspect="1"/>
          </p:cNvPicPr>
          <p:nvPr/>
        </p:nvPicPr>
        <p:blipFill>
          <a:blip r:embed="rId3"/>
          <a:stretch>
            <a:fillRect/>
          </a:stretch>
        </p:blipFill>
        <p:spPr>
          <a:xfrm>
            <a:off x="7946136" y="3744468"/>
            <a:ext cx="1793253" cy="1975104"/>
          </a:xfrm>
          <a:prstGeom prst="rect">
            <a:avLst/>
          </a:prstGeom>
          <a:effectLst>
            <a:outerShdw blurRad="50800" dist="38100" dir="2700000" algn="tl" rotWithShape="0">
              <a:srgbClr val="000000">
                <a:alpha val="45000"/>
              </a:srgbClr>
            </a:outerShdw>
          </a:effectLst>
        </p:spPr>
      </p:pic>
      <p:sp>
        <p:nvSpPr>
          <p:cNvPr id="13" name="Rounded Rectangle 12"/>
          <p:cNvSpPr/>
          <p:nvPr/>
        </p:nvSpPr>
        <p:spPr>
          <a:xfrm>
            <a:off x="1981047" y="5943600"/>
            <a:ext cx="8229600" cy="50292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Bang-for-the-buck:  a universal decision rule</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7" name="TextBox 16"/>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Agenda</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Part 2:  Costs – Producing at the Lowest Price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548640"/>
          </a:xfrm>
          <a:prstGeom prst="rect">
            <a:avLst/>
          </a:prstGeom>
          <a:noFill/>
        </p:spPr>
        <p:txBody>
          <a:bodyPr wrap="square" lIns="0" rIns="0" tIns="0" bIns="0">
            <a:spAutoFit/>
          </a:bodyPr>
          <a:lstStyle/>
          <a:p>
            <a:pPr algn="l"/>
            <a:r>
              <a:rPr sz="3000" b="1" i="0">
                <a:solidFill>
                  <a:srgbClr val="B0B5BC"/>
                </a:solidFill>
                <a:latin typeface="Calibri"/>
              </a:rPr>
              <a:t>Part 1: Production – Picking the Right Inputs</a:t>
            </a:r>
          </a:p>
        </p:txBody>
      </p:sp>
      <p:sp>
        <p:nvSpPr>
          <p:cNvPr id="8" name="TextBox 7"/>
          <p:cNvSpPr txBox="1"/>
          <p:nvPr/>
        </p:nvSpPr>
        <p:spPr>
          <a:xfrm>
            <a:off x="617759" y="2240280"/>
            <a:ext cx="11321937" cy="1234440"/>
          </a:xfrm>
          <a:prstGeom prst="rect">
            <a:avLst/>
          </a:prstGeom>
          <a:noFill/>
        </p:spPr>
        <p:txBody>
          <a:bodyPr wrap="square" lIns="0" rIns="0" tIns="0" bIns="0">
            <a:spAutoFit/>
          </a:bodyPr>
          <a:lstStyle/>
          <a:p>
            <a:pPr algn="l" marL="457200" indent="-457200">
              <a:buClr>
                <a:srgbClr val="B0B5BC"/>
              </a:buClr>
              <a:buFont typeface="Calibri"/>
              <a:buAutoNum type="alphaLcPeriod"/>
            </a:pPr>
            <a:r>
              <a:rPr sz="2400" b="0">
                <a:solidFill>
                  <a:srgbClr val="B0B5BC"/>
                </a:solidFill>
                <a:latin typeface="Calibri"/>
              </a:rPr>
              <a:t>Production Function</a:t>
            </a:r>
          </a:p>
          <a:p>
            <a:pPr algn="l" marL="457200" indent="-457200">
              <a:spcBef>
                <a:spcPts val="300"/>
              </a:spcBef>
              <a:buClr>
                <a:srgbClr val="B0B5BC"/>
              </a:buClr>
              <a:buFont typeface="Calibri"/>
              <a:buAutoNum type="alphaLcPeriod"/>
            </a:pPr>
            <a:r>
              <a:rPr sz="2400" b="0">
                <a:solidFill>
                  <a:srgbClr val="B0B5BC"/>
                </a:solidFill>
                <a:latin typeface="Calibri"/>
              </a:rPr>
              <a:t>Short Run – Hiring Decisions</a:t>
            </a:r>
          </a:p>
          <a:p>
            <a:pPr algn="l" marL="457200" indent="-457200">
              <a:spcBef>
                <a:spcPts val="300"/>
              </a:spcBef>
              <a:buClr>
                <a:srgbClr val="B0B5BC"/>
              </a:buClr>
              <a:buFont typeface="Calibri"/>
              <a:buAutoNum type="alphaLcPeriod"/>
            </a:pPr>
            <a:r>
              <a:rPr sz="2400" b="0">
                <a:solidFill>
                  <a:srgbClr val="B0B5BC"/>
                </a:solidFill>
                <a:latin typeface="Calibri"/>
              </a:rPr>
              <a:t>Long Run – Optimal Input Mix</a:t>
            </a:r>
          </a:p>
        </p:txBody>
      </p:sp>
      <p:sp>
        <p:nvSpPr>
          <p:cNvPr id="9" name="TextBox 8"/>
          <p:cNvSpPr txBox="1"/>
          <p:nvPr/>
        </p:nvSpPr>
        <p:spPr>
          <a:xfrm>
            <a:off x="251999" y="3611880"/>
            <a:ext cx="11687697" cy="548640"/>
          </a:xfrm>
          <a:prstGeom prst="rect">
            <a:avLst/>
          </a:prstGeom>
          <a:noFill/>
        </p:spPr>
        <p:txBody>
          <a:bodyPr wrap="square" lIns="0" rIns="0" tIns="0" bIns="0">
            <a:spAutoFit/>
          </a:bodyPr>
          <a:lstStyle/>
          <a:p>
            <a:pPr algn="l"/>
            <a:r>
              <a:rPr sz="3000" b="1" i="0">
                <a:solidFill>
                  <a:srgbClr val="0B2B4E"/>
                </a:solidFill>
                <a:latin typeface="Calibri"/>
              </a:rPr>
              <a:t>Part 2: Costs – Producing at the Lowest Price</a:t>
            </a:r>
          </a:p>
        </p:txBody>
      </p:sp>
      <p:sp>
        <p:nvSpPr>
          <p:cNvPr id="10" name="TextBox 9"/>
          <p:cNvSpPr txBox="1"/>
          <p:nvPr/>
        </p:nvSpPr>
        <p:spPr>
          <a:xfrm>
            <a:off x="617759" y="4160520"/>
            <a:ext cx="11321937" cy="1234440"/>
          </a:xfrm>
          <a:prstGeom prst="rect">
            <a:avLst/>
          </a:prstGeom>
          <a:noFill/>
        </p:spPr>
        <p:txBody>
          <a:bodyPr wrap="square" lIns="0" rIns="0" tIns="0" bIns="0">
            <a:spAutoFit/>
          </a:bodyPr>
          <a:lstStyle/>
          <a:p>
            <a:pPr algn="l" marL="457200" indent="-457200">
              <a:buClr>
                <a:srgbClr val="0B2B4E"/>
              </a:buClr>
              <a:buFont typeface="Calibri"/>
              <a:buAutoNum type="alphaLcPeriod"/>
            </a:pPr>
            <a:r>
              <a:rPr sz="2400" b="0">
                <a:solidFill>
                  <a:srgbClr val="0B2B4E"/>
                </a:solidFill>
                <a:latin typeface="Calibri"/>
              </a:rPr>
              <a:t>Cost Concepts</a:t>
            </a:r>
          </a:p>
          <a:p>
            <a:pPr algn="l" marL="457200" indent="-457200">
              <a:spcBef>
                <a:spcPts val="300"/>
              </a:spcBef>
              <a:buClr>
                <a:srgbClr val="0B2B4E"/>
              </a:buClr>
              <a:buFont typeface="Calibri"/>
              <a:buAutoNum type="alphaLcPeriod"/>
            </a:pPr>
            <a:r>
              <a:rPr sz="2400" b="0">
                <a:solidFill>
                  <a:srgbClr val="0B2B4E"/>
                </a:solidFill>
                <a:latin typeface="Calibri"/>
              </a:rPr>
              <a:t>Scale &amp; Scope</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Three Cost Types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0867" y="1874519"/>
            <a:ext cx="3611880" cy="640080"/>
          </a:xfrm>
          <a:prstGeom prst="rect">
            <a:avLst/>
          </a:prstGeom>
          <a:solidFill>
            <a:srgbClr val="2E7D32"/>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Variable Costs</a:t>
            </a:r>
          </a:p>
        </p:txBody>
      </p:sp>
      <p:sp>
        <p:nvSpPr>
          <p:cNvPr id="8" name="Rectangle 7"/>
          <p:cNvSpPr/>
          <p:nvPr/>
        </p:nvSpPr>
        <p:spPr>
          <a:xfrm>
            <a:off x="540867" y="2514600"/>
            <a:ext cx="3611880" cy="1371600"/>
          </a:xfrm>
          <a:prstGeom prst="rect">
            <a:avLst/>
          </a:prstGeom>
          <a:solidFill>
            <a:srgbClr val="FFFFFF"/>
          </a:solidFill>
          <a:ln w="19050">
            <a:solidFill>
              <a:srgbClr val="2E7D32"/>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Depend on volume produced (Q)</a:t>
            </a:r>
          </a:p>
          <a:p>
            <a:pPr algn="ctr">
              <a:spcBef>
                <a:spcPts val="1200"/>
              </a:spcBef>
            </a:pPr>
            <a:r>
              <a:rPr sz="1800" b="0">
                <a:solidFill>
                  <a:srgbClr val="0B2B4E"/>
                </a:solidFill>
                <a:latin typeface="Calibri"/>
              </a:rPr>
              <a:t>→  Always consider!</a:t>
            </a:r>
          </a:p>
        </p:txBody>
      </p:sp>
      <p:sp>
        <p:nvSpPr>
          <p:cNvPr id="9" name="Rounded Rectangle 8"/>
          <p:cNvSpPr/>
          <p:nvPr/>
        </p:nvSpPr>
        <p:spPr>
          <a:xfrm>
            <a:off x="540867" y="3977639"/>
            <a:ext cx="3611880" cy="1097280"/>
          </a:xfrm>
          <a:prstGeom prst="roundRect">
            <a:avLst>
              <a:gd name="adj" fmla="val 10000"/>
            </a:avLst>
          </a:prstGeom>
          <a:solidFill>
            <a:srgbClr val="FFFFFF"/>
          </a:solidFill>
          <a:ln w="1587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18872" rIns="73152" tIns="54864"/>
          <a:lstStyle/>
          <a:p>
            <a:pPr algn="l"/>
            <a:r>
              <a:rPr sz="1200" b="1" i="1">
                <a:solidFill>
                  <a:srgbClr val="0B2B4E"/>
                </a:solidFill>
                <a:latin typeface="Calibri"/>
              </a:rPr>
              <a:t>Examples</a:t>
            </a:r>
          </a:p>
          <a:p>
            <a:pPr algn="l"/>
            <a:r>
              <a:rPr sz="1400" b="0">
                <a:solidFill>
                  <a:srgbClr val="0B2B4E"/>
                </a:solidFill>
                <a:latin typeface="Calibri"/>
              </a:rPr>
              <a:t>•  Buy raw materials</a:t>
            </a:r>
          </a:p>
          <a:p>
            <a:pPr algn="l"/>
            <a:r>
              <a:rPr sz="1400" b="0">
                <a:solidFill>
                  <a:srgbClr val="0B2B4E"/>
                </a:solidFill>
                <a:latin typeface="Calibri"/>
              </a:rPr>
              <a:t>•  Hire workers</a:t>
            </a:r>
          </a:p>
          <a:p>
            <a:pPr algn="l"/>
            <a:r>
              <a:rPr sz="1400" b="0">
                <a:solidFill>
                  <a:srgbClr val="0B2B4E"/>
                </a:solidFill>
                <a:latin typeface="Calibri"/>
              </a:rPr>
              <a:t>•  Shipping &amp; packaging</a:t>
            </a:r>
          </a:p>
        </p:txBody>
      </p:sp>
      <p:sp>
        <p:nvSpPr>
          <p:cNvPr id="10" name="Rectangle 9"/>
          <p:cNvSpPr/>
          <p:nvPr/>
        </p:nvSpPr>
        <p:spPr>
          <a:xfrm>
            <a:off x="4289907" y="1874519"/>
            <a:ext cx="3611880" cy="640080"/>
          </a:xfrm>
          <a:prstGeom prst="rect">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Fixed Costs</a:t>
            </a:r>
          </a:p>
        </p:txBody>
      </p:sp>
      <p:sp>
        <p:nvSpPr>
          <p:cNvPr id="11" name="Rectangle 10"/>
          <p:cNvSpPr/>
          <p:nvPr/>
        </p:nvSpPr>
        <p:spPr>
          <a:xfrm>
            <a:off x="4289907" y="2514600"/>
            <a:ext cx="3611880" cy="1371600"/>
          </a:xfrm>
          <a:prstGeom prst="rect">
            <a:avLst/>
          </a:prstGeom>
          <a:solidFill>
            <a:srgbClr val="FFFFFF"/>
          </a:solidFill>
          <a:ln w="1905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Do not depend on quantity produced (Q)</a:t>
            </a:r>
          </a:p>
          <a:p>
            <a:pPr algn="ctr">
              <a:spcBef>
                <a:spcPts val="1200"/>
              </a:spcBef>
            </a:pPr>
            <a:r>
              <a:rPr sz="1800" b="0">
                <a:solidFill>
                  <a:srgbClr val="0B2B4E"/>
                </a:solidFill>
                <a:latin typeface="Calibri"/>
              </a:rPr>
              <a:t>→  Consider for long-run decisions</a:t>
            </a:r>
          </a:p>
          <a:p>
            <a:pPr algn="ctr"/>
            <a:r>
              <a:rPr sz="1800" b="0">
                <a:solidFill>
                  <a:srgbClr val="0B2B4E"/>
                </a:solidFill>
                <a:latin typeface="Calibri"/>
              </a:rPr>
              <a:t>(entry, exit, capacity)</a:t>
            </a:r>
          </a:p>
        </p:txBody>
      </p:sp>
      <p:sp>
        <p:nvSpPr>
          <p:cNvPr id="12" name="Rounded Rectangle 11"/>
          <p:cNvSpPr/>
          <p:nvPr/>
        </p:nvSpPr>
        <p:spPr>
          <a:xfrm>
            <a:off x="4289907" y="3977639"/>
            <a:ext cx="3611880" cy="1097280"/>
          </a:xfrm>
          <a:prstGeom prst="roundRect">
            <a:avLst>
              <a:gd name="adj" fmla="val 10000"/>
            </a:avLst>
          </a:prstGeom>
          <a:solidFill>
            <a:srgbClr val="FFFFFF"/>
          </a:solidFill>
          <a:ln w="1587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18872" rIns="73152" tIns="54864"/>
          <a:lstStyle/>
          <a:p>
            <a:pPr algn="l"/>
            <a:r>
              <a:rPr sz="1200" b="1" i="1">
                <a:solidFill>
                  <a:srgbClr val="0B2B4E"/>
                </a:solidFill>
                <a:latin typeface="Calibri"/>
              </a:rPr>
              <a:t>Examples</a:t>
            </a:r>
          </a:p>
          <a:p>
            <a:pPr algn="l"/>
            <a:r>
              <a:rPr sz="1400" b="0">
                <a:solidFill>
                  <a:srgbClr val="0B2B4E"/>
                </a:solidFill>
                <a:latin typeface="Calibri"/>
              </a:rPr>
              <a:t>•  Rent / lease payments</a:t>
            </a:r>
          </a:p>
          <a:p>
            <a:pPr algn="l"/>
            <a:r>
              <a:rPr sz="1400" b="0">
                <a:solidFill>
                  <a:srgbClr val="0B2B4E"/>
                </a:solidFill>
                <a:latin typeface="Calibri"/>
              </a:rPr>
              <a:t>•  Insurance &amp; property tax</a:t>
            </a:r>
          </a:p>
          <a:p>
            <a:pPr algn="l"/>
            <a:r>
              <a:rPr sz="1400" b="0">
                <a:solidFill>
                  <a:srgbClr val="0B2B4E"/>
                </a:solidFill>
                <a:latin typeface="Calibri"/>
              </a:rPr>
              <a:t>•  R&amp;D investments (for future innovation)</a:t>
            </a:r>
          </a:p>
        </p:txBody>
      </p:sp>
      <p:sp>
        <p:nvSpPr>
          <p:cNvPr id="13" name="Rectangle 12"/>
          <p:cNvSpPr/>
          <p:nvPr/>
        </p:nvSpPr>
        <p:spPr>
          <a:xfrm>
            <a:off x="8038947" y="1874519"/>
            <a:ext cx="3611880" cy="640080"/>
          </a:xfrm>
          <a:prstGeom prst="rect">
            <a:avLst/>
          </a:prstGeom>
          <a:solidFill>
            <a:srgbClr val="8B1A1A"/>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Sunk Costs</a:t>
            </a:r>
          </a:p>
        </p:txBody>
      </p:sp>
      <p:sp>
        <p:nvSpPr>
          <p:cNvPr id="14" name="Rectangle 13"/>
          <p:cNvSpPr/>
          <p:nvPr/>
        </p:nvSpPr>
        <p:spPr>
          <a:xfrm>
            <a:off x="8038947" y="2514600"/>
            <a:ext cx="3611880" cy="1371600"/>
          </a:xfrm>
          <a:prstGeom prst="rect">
            <a:avLst/>
          </a:prstGeom>
          <a:solidFill>
            <a:srgbClr val="FFFFFF"/>
          </a:solidFill>
          <a:ln w="19050">
            <a:solidFill>
              <a:srgbClr val="8B1A1A"/>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A fixed cost that </a:t>
            </a:r>
          </a:p>
          <a:p>
            <a:pPr algn="ctr">
              <a:spcAft>
                <a:spcPts val="1200"/>
              </a:spcAft>
            </a:pPr>
            <a:r>
              <a:rPr sz="1800" b="0">
                <a:solidFill>
                  <a:srgbClr val="0B2B4E"/>
                </a:solidFill>
                <a:latin typeface="Calibri"/>
              </a:rPr>
              <a:t>cannot be recovered
→  Ignore!</a:t>
            </a:r>
          </a:p>
        </p:txBody>
      </p:sp>
      <p:sp>
        <p:nvSpPr>
          <p:cNvPr id="15" name="Rounded Rectangle 14"/>
          <p:cNvSpPr/>
          <p:nvPr/>
        </p:nvSpPr>
        <p:spPr>
          <a:xfrm>
            <a:off x="8038947" y="3977639"/>
            <a:ext cx="3611880" cy="1097280"/>
          </a:xfrm>
          <a:prstGeom prst="roundRect">
            <a:avLst>
              <a:gd name="adj" fmla="val 10000"/>
            </a:avLst>
          </a:prstGeom>
          <a:solidFill>
            <a:srgbClr val="FFFFFF"/>
          </a:solidFill>
          <a:ln w="1587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18872" rIns="73152" tIns="54864"/>
          <a:lstStyle/>
          <a:p>
            <a:pPr algn="l"/>
            <a:r>
              <a:rPr sz="1200" b="1" i="1">
                <a:solidFill>
                  <a:srgbClr val="0B2B4E"/>
                </a:solidFill>
                <a:latin typeface="Calibri"/>
              </a:rPr>
              <a:t>Examples</a:t>
            </a:r>
          </a:p>
          <a:p>
            <a:pPr algn="l"/>
            <a:r>
              <a:rPr sz="1400" b="0">
                <a:solidFill>
                  <a:srgbClr val="0B2B4E"/>
                </a:solidFill>
                <a:latin typeface="Calibri"/>
              </a:rPr>
              <a:t>•  Past R&amp;D</a:t>
            </a:r>
          </a:p>
          <a:p>
            <a:pPr algn="l"/>
            <a:r>
              <a:rPr sz="1400" b="0">
                <a:solidFill>
                  <a:srgbClr val="0B2B4E"/>
                </a:solidFill>
                <a:latin typeface="Calibri"/>
              </a:rPr>
              <a:t>•  Past advertising</a:t>
            </a:r>
          </a:p>
          <a:p>
            <a:pPr algn="l"/>
            <a:r>
              <a:rPr sz="1400" b="0">
                <a:solidFill>
                  <a:srgbClr val="0B2B4E"/>
                </a:solidFill>
                <a:latin typeface="Calibri"/>
              </a:rPr>
              <a:t>•  Non-refundable deposits</a:t>
            </a:r>
          </a:p>
        </p:txBody>
      </p:sp>
      <p:sp>
        <p:nvSpPr>
          <p:cNvPr id="16" name="Rounded Rectangle 15"/>
          <p:cNvSpPr/>
          <p:nvPr/>
        </p:nvSpPr>
        <p:spPr>
          <a:xfrm>
            <a:off x="8038947" y="5405247"/>
            <a:ext cx="3611880" cy="747521"/>
          </a:xfrm>
          <a:prstGeom prst="roundRect">
            <a:avLst>
              <a:gd name="adj" fmla="val 30000"/>
            </a:avLst>
          </a:prstGeom>
          <a:solidFill>
            <a:srgbClr val="8B1A1A"/>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Sunk costs should not affect managerial decisions</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20" name="TextBox 19"/>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Group Work:  Your Car or the Company Car?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502920"/>
          </a:xfrm>
          <a:prstGeom prst="rect">
            <a:avLst/>
          </a:prstGeom>
          <a:noFill/>
        </p:spPr>
        <p:txBody>
          <a:bodyPr wrap="square" lIns="0" rIns="0" tIns="0" bIns="0">
            <a:spAutoFit/>
          </a:bodyPr>
          <a:lstStyle/>
          <a:p>
            <a:pPr algn="l"/>
            <a:r>
              <a:rPr sz="2200" b="1" i="0">
                <a:solidFill>
                  <a:srgbClr val="0B2B4E"/>
                </a:solidFill>
                <a:latin typeface="Calibri"/>
              </a:rPr>
              <a:t>For a business trip, you can use:</a:t>
            </a:r>
          </a:p>
        </p:txBody>
      </p:sp>
      <p:sp>
        <p:nvSpPr>
          <p:cNvPr id="8" name="Rectangle 7"/>
          <p:cNvSpPr/>
          <p:nvPr/>
        </p:nvSpPr>
        <p:spPr>
          <a:xfrm>
            <a:off x="792327" y="2240280"/>
            <a:ext cx="5029200" cy="128016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B2B4E"/>
                </a:solidFill>
                <a:latin typeface="Calibri"/>
              </a:rPr>
              <a:t>Your own car</a:t>
            </a:r>
          </a:p>
          <a:p>
            <a:pPr algn="ctr"/>
            <a:r>
              <a:rPr sz="2000" b="1">
                <a:solidFill>
                  <a:srgbClr val="0B2B4E"/>
                </a:solidFill>
                <a:latin typeface="Calibri"/>
              </a:rPr>
              <a:t>
→  you are reimbursed 50¢ / mile</a:t>
            </a:r>
          </a:p>
        </p:txBody>
      </p:sp>
      <p:sp>
        <p:nvSpPr>
          <p:cNvPr id="9" name="Rectangle 8"/>
          <p:cNvSpPr/>
          <p:nvPr/>
        </p:nvSpPr>
        <p:spPr>
          <a:xfrm>
            <a:off x="6370167" y="2240280"/>
            <a:ext cx="5029200" cy="128016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B2B4E"/>
                </a:solidFill>
                <a:latin typeface="Calibri"/>
              </a:rPr>
              <a:t>Company car</a:t>
            </a:r>
          </a:p>
          <a:p>
            <a:pPr algn="ctr"/>
            <a:r>
              <a:rPr sz="2000" b="1">
                <a:solidFill>
                  <a:srgbClr val="0B2B4E"/>
                </a:solidFill>
                <a:latin typeface="Calibri"/>
              </a:rPr>
              <a:t>
(full cost incl. charge paid by your company)</a:t>
            </a:r>
          </a:p>
        </p:txBody>
      </p:sp>
      <p:sp>
        <p:nvSpPr>
          <p:cNvPr id="10" name="Rounded Rectangle 9"/>
          <p:cNvSpPr/>
          <p:nvPr/>
        </p:nvSpPr>
        <p:spPr>
          <a:xfrm>
            <a:off x="792327" y="3657600"/>
            <a:ext cx="5029200" cy="1371600"/>
          </a:xfrm>
          <a:prstGeom prst="roundRect">
            <a:avLst>
              <a:gd name="adj" fmla="val 4000"/>
            </a:avLst>
          </a:prstGeom>
          <a:solidFill>
            <a:srgbClr val="FFFFFF"/>
          </a:solidFill>
          <a:ln w="254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327" y="3749039"/>
            <a:ext cx="5029200" cy="365760"/>
          </a:xfrm>
          <a:prstGeom prst="rect">
            <a:avLst/>
          </a:prstGeom>
          <a:noFill/>
        </p:spPr>
        <p:txBody>
          <a:bodyPr wrap="square" lIns="0" rIns="0" tIns="0" bIns="0">
            <a:spAutoFit/>
          </a:bodyPr>
          <a:lstStyle/>
          <a:p>
            <a:pPr algn="ctr"/>
            <a:r>
              <a:rPr sz="1800" b="0" i="1">
                <a:solidFill>
                  <a:srgbClr val="555B66"/>
                </a:solidFill>
                <a:latin typeface="Calibri"/>
              </a:rPr>
              <a:t>Costs associated with your car  (per mile driven):</a:t>
            </a:r>
          </a:p>
        </p:txBody>
      </p:sp>
      <p:sp>
        <p:nvSpPr>
          <p:cNvPr id="12" name="Rectangle 11"/>
          <p:cNvSpPr/>
          <p:nvPr/>
        </p:nvSpPr>
        <p:spPr>
          <a:xfrm>
            <a:off x="975207" y="4135374"/>
            <a:ext cx="2286000" cy="3657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20¢   insurance</a:t>
            </a:r>
          </a:p>
        </p:txBody>
      </p:sp>
      <p:sp>
        <p:nvSpPr>
          <p:cNvPr id="13" name="Rectangle 12"/>
          <p:cNvSpPr/>
          <p:nvPr/>
        </p:nvSpPr>
        <p:spPr>
          <a:xfrm>
            <a:off x="3352647" y="4135374"/>
            <a:ext cx="2286000" cy="3657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20¢   maintenance</a:t>
            </a:r>
          </a:p>
        </p:txBody>
      </p:sp>
      <p:sp>
        <p:nvSpPr>
          <p:cNvPr id="14" name="Rectangle 13"/>
          <p:cNvSpPr/>
          <p:nvPr/>
        </p:nvSpPr>
        <p:spPr>
          <a:xfrm>
            <a:off x="975207" y="4546854"/>
            <a:ext cx="2286000" cy="3657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15¢   electricity</a:t>
            </a:r>
          </a:p>
        </p:txBody>
      </p:sp>
      <p:sp>
        <p:nvSpPr>
          <p:cNvPr id="15" name="Rectangle 14"/>
          <p:cNvSpPr/>
          <p:nvPr/>
        </p:nvSpPr>
        <p:spPr>
          <a:xfrm>
            <a:off x="3352647" y="4546854"/>
            <a:ext cx="2286000" cy="3657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45¢   lease on the vehicle</a:t>
            </a:r>
          </a:p>
        </p:txBody>
      </p:sp>
      <p:sp>
        <p:nvSpPr>
          <p:cNvPr id="16" name="TextBox 15"/>
          <p:cNvSpPr txBox="1"/>
          <p:nvPr/>
        </p:nvSpPr>
        <p:spPr>
          <a:xfrm>
            <a:off x="251999" y="5317236"/>
            <a:ext cx="11687697" cy="411480"/>
          </a:xfrm>
          <a:prstGeom prst="rect">
            <a:avLst/>
          </a:prstGeom>
          <a:noFill/>
        </p:spPr>
        <p:txBody>
          <a:bodyPr wrap="square" lIns="0" rIns="0" tIns="0" bIns="0">
            <a:spAutoFit/>
          </a:bodyPr>
          <a:lstStyle/>
          <a:p>
            <a:pPr algn="ctr"/>
            <a:r>
              <a:rPr sz="2200" b="1" i="0">
                <a:solidFill>
                  <a:srgbClr val="0B2B4E"/>
                </a:solidFill>
                <a:latin typeface="Calibri"/>
              </a:rPr>
              <a:t>⇒  Should you use your own car or the company car?</a:t>
            </a:r>
          </a:p>
        </p:txBody>
      </p:sp>
      <p:sp>
        <p:nvSpPr>
          <p:cNvPr id="17" name="Rectangle 16"/>
          <p:cNvSpPr/>
          <p:nvPr/>
        </p:nvSpPr>
        <p:spPr>
          <a:xfrm>
            <a:off x="7733080" y="5797296"/>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91448" y="5797296"/>
            <a:ext cx="3072384" cy="658368"/>
          </a:xfrm>
          <a:prstGeom prst="rect">
            <a:avLst/>
          </a:prstGeom>
          <a:noFill/>
        </p:spPr>
        <p:txBody>
          <a:bodyPr wrap="none" anchor="ctr" lIns="45720" rIns="45720" tIns="18288" bIns="18288">
            <a:spAutoFit/>
          </a:bodyPr>
          <a:lstStyle/>
          <a:p>
            <a:pPr algn="ctr"/>
            <a:r>
              <a:rPr sz="2800" b="1">
                <a:solidFill>
                  <a:srgbClr val="0B2B4E"/>
                </a:solidFill>
                <a:latin typeface="Calibri"/>
              </a:rPr>
              <a:t>Discussion Break</a:t>
            </a:r>
          </a:p>
        </p:txBody>
      </p:sp>
      <p:sp>
        <p:nvSpPr>
          <p:cNvPr id="19" name="Rectangle 1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22" name="TextBox 21"/>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Why Studios Finish Movies They Know Lose Money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20186" y="1420977"/>
            <a:ext cx="6094476" cy="523036"/>
          </a:xfrm>
          <a:prstGeom prst="rect">
            <a:avLst/>
          </a:prstGeom>
          <a:noFill/>
        </p:spPr>
        <p:txBody>
          <a:bodyPr wrap="square" lIns="0" rIns="0" tIns="0" bIns="0">
            <a:spAutoFit/>
          </a:bodyPr>
          <a:lstStyle/>
          <a:p>
            <a:pPr algn="ctr"/>
            <a:r>
              <a:rPr sz="2800" b="1" i="0">
                <a:solidFill>
                  <a:srgbClr val="0B2B4E"/>
                </a:solidFill>
                <a:latin typeface="Calibri"/>
              </a:rPr>
              <a:t>Waterworld (1995)</a:t>
            </a:r>
          </a:p>
        </p:txBody>
      </p:sp>
      <p:pic>
        <p:nvPicPr>
          <p:cNvPr id="8" name="Picture 7" descr="slide45_rId3.png"/>
          <p:cNvPicPr>
            <a:picLocks noChangeAspect="1"/>
          </p:cNvPicPr>
          <p:nvPr/>
        </p:nvPicPr>
        <p:blipFill>
          <a:blip r:embed="rId2"/>
          <a:stretch>
            <a:fillRect/>
          </a:stretch>
        </p:blipFill>
        <p:spPr>
          <a:xfrm>
            <a:off x="2423160" y="1938528"/>
            <a:ext cx="7885478" cy="4434840"/>
          </a:xfrm>
          <a:prstGeom prst="rect">
            <a:avLst/>
          </a:prstGeom>
          <a:effectLst>
            <a:outerShdw blurRad="50800" dist="38100" dir="2700000" algn="tl" rotWithShape="0">
              <a:srgbClr val="000000">
                <a:alpha val="45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2" name="TextBox 11"/>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Waterworld:  Sunk Costs and Decisions over Time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00887" y="1434693"/>
            <a:ext cx="3657600" cy="45720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a:solidFill>
                  <a:srgbClr val="0B2B4E"/>
                </a:solidFill>
                <a:latin typeface="Calibri"/>
              </a:rPr>
              <a:t/>
            </a:r>
          </a:p>
        </p:txBody>
      </p:sp>
      <p:sp>
        <p:nvSpPr>
          <p:cNvPr id="8" name="Rectangle 7"/>
          <p:cNvSpPr/>
          <p:nvPr/>
        </p:nvSpPr>
        <p:spPr>
          <a:xfrm>
            <a:off x="700887" y="1937613"/>
            <a:ext cx="36576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r>
              <a:rPr sz="1800" b="0">
                <a:solidFill>
                  <a:srgbClr val="0B2B4E"/>
                </a:solidFill>
                <a:latin typeface="Calibri"/>
              </a:rPr>
              <a:t>Expected Revenues  ($M)</a:t>
            </a:r>
          </a:p>
        </p:txBody>
      </p:sp>
      <p:sp>
        <p:nvSpPr>
          <p:cNvPr id="9" name="Rectangle 8"/>
          <p:cNvSpPr/>
          <p:nvPr/>
        </p:nvSpPr>
        <p:spPr>
          <a:xfrm>
            <a:off x="700887" y="2577693"/>
            <a:ext cx="36576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r>
              <a:rPr sz="1800" b="0">
                <a:solidFill>
                  <a:srgbClr val="0B2B4E"/>
                </a:solidFill>
                <a:latin typeface="Calibri"/>
              </a:rPr>
              <a:t>Sunk Cost  ($M)</a:t>
            </a:r>
          </a:p>
        </p:txBody>
      </p:sp>
      <p:sp>
        <p:nvSpPr>
          <p:cNvPr id="10" name="Rectangle 9"/>
          <p:cNvSpPr/>
          <p:nvPr/>
        </p:nvSpPr>
        <p:spPr>
          <a:xfrm>
            <a:off x="700887" y="3217773"/>
            <a:ext cx="36576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r>
              <a:rPr sz="1800" b="0">
                <a:solidFill>
                  <a:srgbClr val="0B2B4E"/>
                </a:solidFill>
                <a:latin typeface="Calibri"/>
              </a:rPr>
              <a:t>Expected Additional Cost  ($M)</a:t>
            </a:r>
          </a:p>
        </p:txBody>
      </p:sp>
      <p:sp>
        <p:nvSpPr>
          <p:cNvPr id="11" name="Rectangle 10"/>
          <p:cNvSpPr/>
          <p:nvPr/>
        </p:nvSpPr>
        <p:spPr>
          <a:xfrm>
            <a:off x="700887" y="3857853"/>
            <a:ext cx="36576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r>
              <a:rPr sz="1800" b="0">
                <a:solidFill>
                  <a:srgbClr val="0B2B4E"/>
                </a:solidFill>
                <a:latin typeface="Calibri"/>
              </a:rPr>
              <a:t>Overall Cost (incl. sunk)  ($M)</a:t>
            </a:r>
          </a:p>
        </p:txBody>
      </p:sp>
      <p:sp>
        <p:nvSpPr>
          <p:cNvPr id="12" name="Rectangle 11"/>
          <p:cNvSpPr/>
          <p:nvPr/>
        </p:nvSpPr>
        <p:spPr>
          <a:xfrm>
            <a:off x="700887" y="4497933"/>
            <a:ext cx="36576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r>
              <a:rPr sz="1800" b="0">
                <a:solidFill>
                  <a:srgbClr val="0B2B4E"/>
                </a:solidFill>
                <a:latin typeface="Calibri"/>
              </a:rPr>
              <a:t>Expected Profit  ($M)</a:t>
            </a:r>
          </a:p>
        </p:txBody>
      </p:sp>
      <p:sp>
        <p:nvSpPr>
          <p:cNvPr id="13" name="Rectangle 12"/>
          <p:cNvSpPr/>
          <p:nvPr/>
        </p:nvSpPr>
        <p:spPr>
          <a:xfrm>
            <a:off x="700887" y="5138013"/>
            <a:ext cx="3657600" cy="50292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r>
              <a:rPr sz="2000" b="1">
                <a:solidFill>
                  <a:srgbClr val="0B2B4E"/>
                </a:solidFill>
                <a:latin typeface="Calibri"/>
              </a:rPr>
              <a:t>Decision</a:t>
            </a:r>
          </a:p>
        </p:txBody>
      </p:sp>
      <p:sp>
        <p:nvSpPr>
          <p:cNvPr id="14" name="Rectangle 13"/>
          <p:cNvSpPr/>
          <p:nvPr/>
        </p:nvSpPr>
        <p:spPr>
          <a:xfrm>
            <a:off x="4449927" y="1434693"/>
            <a:ext cx="2286000" cy="45720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June 1994</a:t>
            </a:r>
          </a:p>
        </p:txBody>
      </p:sp>
      <p:sp>
        <p:nvSpPr>
          <p:cNvPr id="15" name="Rectangle 14"/>
          <p:cNvSpPr/>
          <p:nvPr/>
        </p:nvSpPr>
        <p:spPr>
          <a:xfrm>
            <a:off x="4449927" y="193761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150</a:t>
            </a:r>
          </a:p>
        </p:txBody>
      </p:sp>
      <p:sp>
        <p:nvSpPr>
          <p:cNvPr id="16" name="Rectangle 15"/>
          <p:cNvSpPr/>
          <p:nvPr/>
        </p:nvSpPr>
        <p:spPr>
          <a:xfrm>
            <a:off x="4449927" y="257769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16</a:t>
            </a:r>
          </a:p>
        </p:txBody>
      </p:sp>
      <p:sp>
        <p:nvSpPr>
          <p:cNvPr id="17" name="Rectangle 16"/>
          <p:cNvSpPr/>
          <p:nvPr/>
        </p:nvSpPr>
        <p:spPr>
          <a:xfrm>
            <a:off x="4449927" y="3217773"/>
            <a:ext cx="2286000" cy="548640"/>
          </a:xfrm>
          <a:prstGeom prst="rect">
            <a:avLst/>
          </a:prstGeom>
          <a:solidFill>
            <a:srgbClr val="FFF2CC"/>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84    (&lt;150)</a:t>
            </a:r>
          </a:p>
        </p:txBody>
      </p:sp>
      <p:sp>
        <p:nvSpPr>
          <p:cNvPr id="18" name="Rectangle 17"/>
          <p:cNvSpPr/>
          <p:nvPr/>
        </p:nvSpPr>
        <p:spPr>
          <a:xfrm>
            <a:off x="4449927" y="385785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100</a:t>
            </a:r>
          </a:p>
        </p:txBody>
      </p:sp>
      <p:sp>
        <p:nvSpPr>
          <p:cNvPr id="19" name="Rectangle 18"/>
          <p:cNvSpPr/>
          <p:nvPr/>
        </p:nvSpPr>
        <p:spPr>
          <a:xfrm>
            <a:off x="4449927" y="449793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+50</a:t>
            </a:r>
          </a:p>
        </p:txBody>
      </p:sp>
      <p:sp>
        <p:nvSpPr>
          <p:cNvPr id="20" name="Rectangle 19"/>
          <p:cNvSpPr/>
          <p:nvPr/>
        </p:nvSpPr>
        <p:spPr>
          <a:xfrm>
            <a:off x="4449927" y="5138013"/>
            <a:ext cx="2286000" cy="502920"/>
          </a:xfrm>
          <a:prstGeom prst="rect">
            <a:avLst/>
          </a:prstGeom>
          <a:solidFill>
            <a:srgbClr val="E09F3E"/>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Make the film!</a:t>
            </a:r>
          </a:p>
        </p:txBody>
      </p:sp>
      <p:sp>
        <p:nvSpPr>
          <p:cNvPr id="21" name="Rectangle 20"/>
          <p:cNvSpPr/>
          <p:nvPr/>
        </p:nvSpPr>
        <p:spPr>
          <a:xfrm>
            <a:off x="6827367" y="1434693"/>
            <a:ext cx="2286000" cy="45720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September 1994</a:t>
            </a:r>
          </a:p>
        </p:txBody>
      </p:sp>
      <p:sp>
        <p:nvSpPr>
          <p:cNvPr id="22" name="Rectangle 21"/>
          <p:cNvSpPr/>
          <p:nvPr/>
        </p:nvSpPr>
        <p:spPr>
          <a:xfrm>
            <a:off x="6827367" y="193761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150</a:t>
            </a:r>
          </a:p>
        </p:txBody>
      </p:sp>
      <p:sp>
        <p:nvSpPr>
          <p:cNvPr id="23" name="Rectangle 22"/>
          <p:cNvSpPr/>
          <p:nvPr/>
        </p:nvSpPr>
        <p:spPr>
          <a:xfrm>
            <a:off x="6827367" y="257769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100</a:t>
            </a:r>
          </a:p>
        </p:txBody>
      </p:sp>
      <p:sp>
        <p:nvSpPr>
          <p:cNvPr id="24" name="Rectangle 23"/>
          <p:cNvSpPr/>
          <p:nvPr/>
        </p:nvSpPr>
        <p:spPr>
          <a:xfrm>
            <a:off x="6827367" y="3217773"/>
            <a:ext cx="2286000" cy="548640"/>
          </a:xfrm>
          <a:prstGeom prst="rect">
            <a:avLst/>
          </a:prstGeom>
          <a:solidFill>
            <a:srgbClr val="FFF2CC"/>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40    (&lt;150)</a:t>
            </a:r>
          </a:p>
        </p:txBody>
      </p:sp>
      <p:sp>
        <p:nvSpPr>
          <p:cNvPr id="25" name="Rectangle 24"/>
          <p:cNvSpPr/>
          <p:nvPr/>
        </p:nvSpPr>
        <p:spPr>
          <a:xfrm>
            <a:off x="6827367" y="385785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140</a:t>
            </a:r>
          </a:p>
        </p:txBody>
      </p:sp>
      <p:sp>
        <p:nvSpPr>
          <p:cNvPr id="26" name="Rectangle 25"/>
          <p:cNvSpPr/>
          <p:nvPr/>
        </p:nvSpPr>
        <p:spPr>
          <a:xfrm>
            <a:off x="6827367" y="449793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+10</a:t>
            </a:r>
          </a:p>
        </p:txBody>
      </p:sp>
      <p:sp>
        <p:nvSpPr>
          <p:cNvPr id="27" name="Rectangle 26"/>
          <p:cNvSpPr/>
          <p:nvPr/>
        </p:nvSpPr>
        <p:spPr>
          <a:xfrm>
            <a:off x="6827367" y="5138013"/>
            <a:ext cx="2286000" cy="502920"/>
          </a:xfrm>
          <a:prstGeom prst="rect">
            <a:avLst/>
          </a:prstGeom>
          <a:solidFill>
            <a:srgbClr val="E09F3E"/>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Make the film!</a:t>
            </a:r>
          </a:p>
        </p:txBody>
      </p:sp>
      <p:sp>
        <p:nvSpPr>
          <p:cNvPr id="28" name="Rectangle 27"/>
          <p:cNvSpPr/>
          <p:nvPr/>
        </p:nvSpPr>
        <p:spPr>
          <a:xfrm>
            <a:off x="9204807" y="1434693"/>
            <a:ext cx="2286000" cy="45720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December 1994</a:t>
            </a:r>
          </a:p>
        </p:txBody>
      </p:sp>
      <p:sp>
        <p:nvSpPr>
          <p:cNvPr id="29" name="Rectangle 28"/>
          <p:cNvSpPr/>
          <p:nvPr/>
        </p:nvSpPr>
        <p:spPr>
          <a:xfrm>
            <a:off x="9204807" y="193761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150</a:t>
            </a:r>
          </a:p>
        </p:txBody>
      </p:sp>
      <p:sp>
        <p:nvSpPr>
          <p:cNvPr id="30" name="Rectangle 29"/>
          <p:cNvSpPr/>
          <p:nvPr/>
        </p:nvSpPr>
        <p:spPr>
          <a:xfrm>
            <a:off x="9204807" y="257769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140</a:t>
            </a:r>
          </a:p>
        </p:txBody>
      </p:sp>
      <p:sp>
        <p:nvSpPr>
          <p:cNvPr id="31" name="Rectangle 30"/>
          <p:cNvSpPr/>
          <p:nvPr/>
        </p:nvSpPr>
        <p:spPr>
          <a:xfrm>
            <a:off x="9204807" y="3217773"/>
            <a:ext cx="2286000" cy="548640"/>
          </a:xfrm>
          <a:prstGeom prst="rect">
            <a:avLst/>
          </a:prstGeom>
          <a:solidFill>
            <a:srgbClr val="FFF2CC"/>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35    (&lt;150)</a:t>
            </a:r>
          </a:p>
        </p:txBody>
      </p:sp>
      <p:sp>
        <p:nvSpPr>
          <p:cNvPr id="32" name="Rectangle 31"/>
          <p:cNvSpPr/>
          <p:nvPr/>
        </p:nvSpPr>
        <p:spPr>
          <a:xfrm>
            <a:off x="9204807" y="385785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175</a:t>
            </a:r>
          </a:p>
        </p:txBody>
      </p:sp>
      <p:sp>
        <p:nvSpPr>
          <p:cNvPr id="33" name="Rectangle 32"/>
          <p:cNvSpPr/>
          <p:nvPr/>
        </p:nvSpPr>
        <p:spPr>
          <a:xfrm>
            <a:off x="9204807" y="4497933"/>
            <a:ext cx="2286000" cy="54864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0B2B4E"/>
                </a:solidFill>
                <a:latin typeface="Calibri"/>
              </a:rPr>
              <a:t>−25</a:t>
            </a:r>
          </a:p>
        </p:txBody>
      </p:sp>
      <p:sp>
        <p:nvSpPr>
          <p:cNvPr id="34" name="Rectangle 33"/>
          <p:cNvSpPr/>
          <p:nvPr/>
        </p:nvSpPr>
        <p:spPr>
          <a:xfrm>
            <a:off x="9204807" y="5138013"/>
            <a:ext cx="2286000" cy="502920"/>
          </a:xfrm>
          <a:prstGeom prst="rect">
            <a:avLst/>
          </a:prstGeom>
          <a:solidFill>
            <a:srgbClr val="E09F3E"/>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Make the film!</a:t>
            </a:r>
          </a:p>
        </p:txBody>
      </p:sp>
      <p:sp>
        <p:nvSpPr>
          <p:cNvPr id="35" name="Rounded Rectangle 34"/>
          <p:cNvSpPr/>
          <p:nvPr/>
        </p:nvSpPr>
        <p:spPr>
          <a:xfrm>
            <a:off x="838047" y="5842101"/>
            <a:ext cx="10515600" cy="50292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Ignore sunk costs —  continue whenever          Expected Revenue  &gt;  Expected Additional Cost</a:t>
            </a:r>
          </a:p>
        </p:txBody>
      </p:sp>
      <p:sp>
        <p:nvSpPr>
          <p:cNvPr id="36" name="Rectangle 3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39" name="TextBox 38"/>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Modern Sunk Cost:  Meta's Reality Labs Has Lost $50B+ Since 2020</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6400800" cy="4480560"/>
          </a:xfrm>
          <a:prstGeom prst="rect">
            <a:avLst/>
          </a:prstGeom>
          <a:noFill/>
        </p:spPr>
        <p:txBody>
          <a:bodyPr wrap="square" lIns="0" rIns="0" tIns="0" bIns="0">
            <a:spAutoFit/>
          </a:bodyPr>
          <a:lstStyle>
            <a:lvl1pPr marL="342900" indent="-342900">
              <a:spcBef>
                <a:spcPts val="12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Meta has poured ~$50B into Reality Labs since 2020</a:t>
            </a:r>
          </a:p>
          <a:p>
            <a:pPr algn="l" lvl="1"/>
            <a:r>
              <a:rPr>
                <a:latin typeface="Calibri"/>
              </a:rPr>
              <a:t>Reality Labs:  Meta's AR/VR arm – building the next computing platform</a:t>
            </a:r>
          </a:p>
          <a:p>
            <a:pPr algn="l" lvl="1"/>
            <a:r>
              <a:rPr>
                <a:latin typeface="Calibri"/>
              </a:rPr>
              <a:t>Metaverse / VR / AR – Quest headsets, Horizon Worlds</a:t>
            </a:r>
          </a:p>
          <a:p>
            <a:pPr algn="l"/>
            <a:r>
              <a:rPr>
                <a:latin typeface="Calibri"/>
              </a:rPr>
              <a:t>Wall Street keeps asking when it pays off</a:t>
            </a:r>
          </a:p>
          <a:p>
            <a:pPr algn="l"/>
            <a:r>
              <a:rPr>
                <a:latin typeface="Calibri"/>
              </a:rPr>
              <a:t>Zuckerberg keeps investing – past losses are sunk</a:t>
            </a:r>
          </a:p>
          <a:p>
            <a:pPr algn="l"/>
            <a:r>
              <a:rPr>
                <a:latin typeface="Calibri"/>
              </a:rPr>
              <a:t>Right question: does the next $10B have positive Expected Value?</a:t>
            </a:r>
          </a:p>
        </p:txBody>
      </p:sp>
      <p:pic>
        <p:nvPicPr>
          <p:cNvPr id="8" name="Picture 7" descr="slide47_rId2.jpg"/>
          <p:cNvPicPr>
            <a:picLocks noChangeAspect="1"/>
          </p:cNvPicPr>
          <p:nvPr/>
        </p:nvPicPr>
        <p:blipFill>
          <a:blip r:embed="rId2"/>
          <a:stretch>
            <a:fillRect/>
          </a:stretch>
        </p:blipFill>
        <p:spPr>
          <a:xfrm>
            <a:off x="7743139" y="2670048"/>
            <a:ext cx="4089196" cy="2725066"/>
          </a:xfrm>
          <a:prstGeom prst="rect">
            <a:avLst/>
          </a:prstGeom>
          <a:effectLst>
            <a:outerShdw blurRad="50800" dist="38100" dir="2700000" algn="tl" rotWithShape="0">
              <a:srgbClr val="000000">
                <a:alpha val="45000"/>
              </a:srgbClr>
            </a:outerShdw>
          </a:effectLst>
        </p:spPr>
      </p:pic>
      <p:sp>
        <p:nvSpPr>
          <p:cNvPr id="9" name="TextBox 8"/>
          <p:cNvSpPr txBox="1"/>
          <p:nvPr/>
        </p:nvSpPr>
        <p:spPr>
          <a:xfrm>
            <a:off x="8732520" y="5532120"/>
            <a:ext cx="3017520" cy="274320"/>
          </a:xfrm>
          <a:prstGeom prst="rect">
            <a:avLst/>
          </a:prstGeom>
          <a:noFill/>
        </p:spPr>
        <p:txBody>
          <a:bodyPr wrap="square" lIns="0" rIns="0" tIns="0" bIns="0">
            <a:spAutoFit/>
          </a:bodyPr>
          <a:lstStyle/>
          <a:p>
            <a:pPr algn="ctr"/>
            <a:r>
              <a:rPr sz="1100" b="0" i="1">
                <a:solidFill>
                  <a:srgbClr val="555B66"/>
                </a:solidFill>
                <a:latin typeface="Calibri"/>
              </a:rPr>
              <a:t>Meta Quest 3  (CC BY-SA, Wikimedia)</a:t>
            </a:r>
          </a:p>
        </p:txBody>
      </p:sp>
      <p:sp>
        <p:nvSpPr>
          <p:cNvPr id="10" name="Rectangle 9"/>
          <p:cNvSpPr/>
          <p:nvPr/>
        </p:nvSpPr>
        <p:spPr>
          <a:xfrm>
            <a:off x="1066647" y="5943600"/>
            <a:ext cx="1005840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Same lesson as Waterworld  —  classic sunk-cost discipline, 2020s edition</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Opportunity Cost Is a Real Cost:  Apple's Canceled Apple Car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6400800" cy="4114800"/>
          </a:xfrm>
          <a:prstGeom prst="rect">
            <a:avLst/>
          </a:prstGeom>
          <a:noFill/>
        </p:spPr>
        <p:txBody>
          <a:bodyPr wrap="square" lIns="0" rIns="0" tIns="0" bIns="0">
            <a:spAutoFit/>
          </a:bodyPr>
          <a:lstStyle>
            <a:lvl1pPr marL="342900" indent="-342900">
              <a:spcBef>
                <a:spcPts val="12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Apple killed Project Titan in 2024 after ~10 years and ~$10B spent</a:t>
            </a:r>
          </a:p>
          <a:p>
            <a:pPr algn="l"/>
            <a:r>
              <a:rPr>
                <a:latin typeface="Calibri"/>
              </a:rPr>
              <a:t>Sunk costs ≠ a reason to keep going</a:t>
            </a:r>
          </a:p>
          <a:p>
            <a:pPr algn="l"/>
            <a:r>
              <a:rPr>
                <a:latin typeface="Calibri"/>
              </a:rPr>
              <a:t>Real reason to stop: opportunity cost of capital + 2,000 engineers</a:t>
            </a:r>
          </a:p>
          <a:p>
            <a:pPr algn="l" lvl="1"/>
            <a:r>
              <a:rPr>
                <a:latin typeface="Calibri"/>
              </a:rPr>
              <a:t>Reallocated → AI / Apple Intelligence (the higher-MPL use)</a:t>
            </a:r>
          </a:p>
        </p:txBody>
      </p:sp>
      <p:pic>
        <p:nvPicPr>
          <p:cNvPr id="8" name="Picture 7" descr="slide48_rId3.jpg"/>
          <p:cNvPicPr>
            <a:picLocks noChangeAspect="1"/>
          </p:cNvPicPr>
          <p:nvPr/>
        </p:nvPicPr>
        <p:blipFill>
          <a:blip r:embed="rId2"/>
          <a:stretch>
            <a:fillRect/>
          </a:stretch>
        </p:blipFill>
        <p:spPr>
          <a:xfrm>
            <a:off x="6812280" y="2011680"/>
            <a:ext cx="5074920" cy="2733690"/>
          </a:xfrm>
          <a:prstGeom prst="rect">
            <a:avLst/>
          </a:prstGeom>
          <a:effectLst>
            <a:outerShdw blurRad="50800" dist="38100" dir="2700000" algn="tl" rotWithShape="0">
              <a:srgbClr val="000000">
                <a:alpha val="45000"/>
              </a:srgbClr>
            </a:outerShdw>
          </a:effectLst>
        </p:spPr>
      </p:pic>
      <p:sp>
        <p:nvSpPr>
          <p:cNvPr id="9" name="TextBox 8"/>
          <p:cNvSpPr txBox="1"/>
          <p:nvPr/>
        </p:nvSpPr>
        <p:spPr>
          <a:xfrm>
            <a:off x="6812280" y="4800600"/>
            <a:ext cx="5074920" cy="320040"/>
          </a:xfrm>
          <a:prstGeom prst="rect">
            <a:avLst/>
          </a:prstGeom>
          <a:noFill/>
        </p:spPr>
        <p:txBody>
          <a:bodyPr wrap="square" lIns="0" rIns="0" tIns="0" bIns="0">
            <a:spAutoFit/>
          </a:bodyPr>
          <a:lstStyle/>
          <a:p>
            <a:pPr algn="ctr"/>
            <a:r>
              <a:rPr sz="1100" b="0" i="1">
                <a:solidFill>
                  <a:srgbClr val="555B66"/>
                </a:solidFill>
                <a:latin typeface="Calibri"/>
              </a:rPr>
              <a:t>Vanarama Apple Car concept  (fair use, © Vanarama)</a:t>
            </a:r>
          </a:p>
        </p:txBody>
      </p:sp>
      <p:sp>
        <p:nvSpPr>
          <p:cNvPr id="10" name="Rectangle 9"/>
          <p:cNvSpPr/>
          <p:nvPr/>
        </p:nvSpPr>
        <p:spPr>
          <a:xfrm>
            <a:off x="1295247" y="5943600"/>
            <a:ext cx="9601200" cy="50292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Opportunity cost  =  the next-best use of the same dollars  &amp;  people</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Dictionary of Costs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3707" y="1691640"/>
            <a:ext cx="3703320" cy="50292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Total Cost</a:t>
            </a:r>
          </a:p>
        </p:txBody>
      </p:sp>
      <p:sp>
        <p:nvSpPr>
          <p:cNvPr id="8" name="TextBox 7"/>
          <p:cNvSpPr txBox="1"/>
          <p:nvPr/>
        </p:nvSpPr>
        <p:spPr>
          <a:xfrm>
            <a:off x="403707" y="2286000"/>
            <a:ext cx="3703320" cy="868680"/>
          </a:xfrm>
          <a:prstGeom prst="rect">
            <a:avLst/>
          </a:prstGeom>
          <a:solidFill>
            <a:srgbClr val="FDF6E6"/>
          </a:solidFill>
          <a:ln w="9525">
            <a:solidFill>
              <a:srgbClr val="0B2B4E"/>
            </a:solidFill>
          </a:ln>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r>
                    <m:rPr>
                      <m:sty m:val="p"/>
                    </m:rPr>
                    <a:rPr lang="en-US" b="0" i="0" sz="2200">
                      <a:latin typeface="Cambria Math"/>
                      <a:solidFill>
                        <a:srgbClr val="0B2B4E"/>
                      </a:solidFill>
                    </a:rPr>
                    <m:t xml:space="preserve">TC = TFC + TVC</m:t>
                  </m:r>
                </m:oMath>
              </m:oMathPara>
            </a14:m>
            <a:endParaRPr lang="en-US" sz="2200"/>
          </a:p>
        </p:txBody>
      </p:sp>
      <p:sp>
        <p:nvSpPr>
          <p:cNvPr id="9" name="TextBox 8"/>
          <p:cNvSpPr txBox="1"/>
          <p:nvPr/>
        </p:nvSpPr>
        <p:spPr>
          <a:xfrm>
            <a:off x="540867" y="3291840"/>
            <a:ext cx="3429000" cy="2560320"/>
          </a:xfrm>
          <a:prstGeom prst="rect">
            <a:avLst/>
          </a:prstGeom>
          <a:noFill/>
        </p:spPr>
        <p:txBody>
          <a:bodyPr wrap="square" lIns="0" rIns="0" tIns="0" bIns="0">
            <a:spAutoFit/>
          </a:bodyPr>
          <a:lstStyle>
            <a:lvl1pPr marL="342900" indent="-342900">
              <a:spcBef>
                <a:spcPts val="800"/>
              </a:spcBef>
              <a:buClr>
                <a:srgbClr val="0B2B4E"/>
              </a:buClr>
              <a:buFont typeface="Calibri"/>
              <a:buChar char="▪"/>
              <a:defRPr sz="1500" b="0">
                <a:solidFill>
                  <a:srgbClr val="0B2B4E"/>
                </a:solidFill>
                <a:latin typeface="Calibri"/>
              </a:defRPr>
            </a:lvl1pPr>
            <a:lvl2pPr marL="685800" indent="-228600">
              <a:spcBef>
                <a:spcPts val="300"/>
              </a:spcBef>
              <a:buClr>
                <a:srgbClr val="555B66"/>
              </a:buClr>
              <a:buFont typeface="Calibri"/>
              <a:buChar char="–"/>
              <a:defRPr sz="1200" b="0">
                <a:solidFill>
                  <a:srgbClr val="555B66"/>
                </a:solidFill>
                <a:latin typeface="Calibri"/>
              </a:defRPr>
            </a:lvl2pPr>
          </a:lstStyle>
          <a:p>
            <a:pPr algn="l"/>
            <a:r>
              <a:rPr>
                <a:latin typeface="Calibri"/>
              </a:rPr>
              <a:t>TFC = Total Fixed Cost</a:t>
            </a:r>
          </a:p>
          <a:p>
            <a:pPr algn="l" lvl="1"/>
            <a:r>
              <a:rPr>
                <a:latin typeface="Calibri"/>
              </a:rPr>
              <a:t>(ignore sunk costs)</a:t>
            </a:r>
          </a:p>
          <a:p>
            <a:pPr algn="l"/>
            <a:r>
              <a:rPr>
                <a:latin typeface="Calibri"/>
              </a:rPr>
              <a:t>TVC = Total Variable Cost</a:t>
            </a:r>
          </a:p>
        </p:txBody>
      </p:sp>
      <p:sp>
        <p:nvSpPr>
          <p:cNvPr id="10" name="Rectangle 9"/>
          <p:cNvSpPr/>
          <p:nvPr/>
        </p:nvSpPr>
        <p:spPr>
          <a:xfrm>
            <a:off x="4244187" y="1691640"/>
            <a:ext cx="3703320" cy="50292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Average Cost</a:t>
            </a:r>
          </a:p>
        </p:txBody>
      </p:sp>
      <p:sp>
        <p:nvSpPr>
          <p:cNvPr id="11" name="TextBox 10"/>
          <p:cNvSpPr txBox="1"/>
          <p:nvPr/>
        </p:nvSpPr>
        <p:spPr>
          <a:xfrm>
            <a:off x="4244187" y="2286000"/>
            <a:ext cx="3703320" cy="868680"/>
          </a:xfrm>
          <a:prstGeom prst="rect">
            <a:avLst/>
          </a:prstGeom>
          <a:solidFill>
            <a:srgbClr val="FDF6E6"/>
          </a:solidFill>
          <a:ln w="9525">
            <a:solidFill>
              <a:srgbClr val="0B2B4E"/>
            </a:solidFill>
          </a:ln>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r>
                    <m:rPr>
                      <m:sty m:val="p"/>
                    </m:rPr>
                    <a:rPr lang="en-US" b="0" i="0" sz="2200">
                      <a:latin typeface="Cambria Math"/>
                      <a:solidFill>
                        <a:srgbClr val="0B2B4E"/>
                      </a:solidFill>
                    </a:rPr>
                    <m:t xml:space="preserve">ATC = </m:t>
                  </m:r>
                  <m:f>
                    <m:fPr>
                      <m:ctrlPr>
                        <a:rPr lang="en-US" i="1">
                          <a:latin typeface="Cambria Math"/>
                        </a:rPr>
                      </m:ctrlPr>
                    </m:fPr>
                    <m:num>
                      <m:r>
                        <m:rPr>
                          <m:sty m:val="p"/>
                        </m:rPr>
                        <a:rPr lang="en-US" b="0" i="0" sz="2200">
                          <a:latin typeface="Cambria Math"/>
                          <a:solidFill>
                            <a:srgbClr val="0B2B4E"/>
                          </a:solidFill>
                        </a:rPr>
                        <m:t xml:space="preserve">TC</m:t>
                      </m:r>
                    </m:num>
                    <m:den>
                      <m:r>
                        <m:rPr>
                          <m:sty m:val="p"/>
                        </m:rPr>
                        <a:rPr lang="en-US" b="0" i="0" sz="2200">
                          <a:latin typeface="Cambria Math"/>
                          <a:solidFill>
                            <a:srgbClr val="0B2B4E"/>
                          </a:solidFill>
                        </a:rPr>
                        <m:t xml:space="preserve">Q</m:t>
                      </m:r>
                    </m:den>
                  </m:f>
                </m:oMath>
              </m:oMathPara>
            </a14:m>
            <a:endParaRPr lang="en-US" sz="2200"/>
          </a:p>
        </p:txBody>
      </p:sp>
      <p:sp>
        <p:nvSpPr>
          <p:cNvPr id="12" name="TextBox 11"/>
          <p:cNvSpPr txBox="1"/>
          <p:nvPr/>
        </p:nvSpPr>
        <p:spPr>
          <a:xfrm>
            <a:off x="4381347" y="3291840"/>
            <a:ext cx="3429000" cy="2560320"/>
          </a:xfrm>
          <a:prstGeom prst="rect">
            <a:avLst/>
          </a:prstGeom>
          <a:noFill/>
        </p:spPr>
        <p:txBody>
          <a:bodyPr wrap="square" lIns="0" rIns="0" tIns="0" bIns="0">
            <a:spAutoFit/>
          </a:bodyPr>
          <a:lstStyle>
            <a:lvl1pPr marL="342900" indent="-342900">
              <a:spcBef>
                <a:spcPts val="800"/>
              </a:spcBef>
              <a:buClr>
                <a:srgbClr val="0B2B4E"/>
              </a:buClr>
              <a:buFont typeface="Calibri"/>
              <a:buChar char="▪"/>
              <a:defRPr sz="1500" b="0">
                <a:solidFill>
                  <a:srgbClr val="0B2B4E"/>
                </a:solidFill>
                <a:latin typeface="Calibri"/>
              </a:defRPr>
            </a:lvl1pPr>
            <a:lvl2pPr marL="685800" indent="-228600">
              <a:spcBef>
                <a:spcPts val="300"/>
              </a:spcBef>
              <a:buClr>
                <a:srgbClr val="555B66"/>
              </a:buClr>
              <a:buFont typeface="Calibri"/>
              <a:buChar char="–"/>
              <a:defRPr sz="1200" b="0">
                <a:solidFill>
                  <a:srgbClr val="555B66"/>
                </a:solidFill>
                <a:latin typeface="Calibri"/>
              </a:defRPr>
            </a:lvl2pPr>
          </a:lstStyle>
          <a:p>
            <a:pPr algn="l"/>
            <a:r>
              <a:rPr>
                <a:latin typeface="Calibri"/>
              </a:rPr>
              <a:t>AFC = TFC / Q</a:t>
            </a:r>
          </a:p>
          <a:p>
            <a:pPr algn="l"/>
            <a:r>
              <a:rPr>
                <a:latin typeface="Calibri"/>
              </a:rPr>
              <a:t>AVC = TVC / Q</a:t>
            </a:r>
          </a:p>
          <a:p>
            <a:pPr algn="l"/>
            <a:r>
              <a:rPr>
                <a:latin typeface="Calibri"/>
              </a:rPr>
              <a:t>ATC = AFC + AVC</a:t>
            </a:r>
          </a:p>
        </p:txBody>
      </p:sp>
      <p:sp>
        <p:nvSpPr>
          <p:cNvPr id="13" name="Rectangle 12"/>
          <p:cNvSpPr/>
          <p:nvPr/>
        </p:nvSpPr>
        <p:spPr>
          <a:xfrm>
            <a:off x="8084667" y="1691640"/>
            <a:ext cx="3703320" cy="50292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Marginal Cost</a:t>
            </a:r>
          </a:p>
        </p:txBody>
      </p:sp>
      <p:sp>
        <p:nvSpPr>
          <p:cNvPr id="14" name="TextBox 13"/>
          <p:cNvSpPr txBox="1"/>
          <p:nvPr/>
        </p:nvSpPr>
        <p:spPr>
          <a:xfrm>
            <a:off x="8084667" y="2286000"/>
            <a:ext cx="3703320" cy="868680"/>
          </a:xfrm>
          <a:prstGeom prst="rect">
            <a:avLst/>
          </a:prstGeom>
          <a:solidFill>
            <a:srgbClr val="FDF6E6"/>
          </a:solidFill>
          <a:ln w="9525">
            <a:solidFill>
              <a:srgbClr val="0B2B4E"/>
            </a:solidFill>
          </a:ln>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r>
                    <m:rPr>
                      <m:sty m:val="p"/>
                    </m:rPr>
                    <a:rPr lang="en-US" b="0" i="0" sz="2200">
                      <a:latin typeface="Cambria Math"/>
                      <a:solidFill>
                        <a:srgbClr val="0B2B4E"/>
                      </a:solidFill>
                    </a:rPr>
                    <m:t xml:space="preserve">MC = </m:t>
                  </m:r>
                  <m:f>
                    <m:fPr>
                      <m:ctrlPr>
                        <a:rPr lang="en-US" i="1">
                          <a:latin typeface="Cambria Math"/>
                        </a:rPr>
                      </m:ctrlPr>
                    </m:fPr>
                    <m:num>
                      <m:r>
                        <m:rPr>
                          <m:sty m:val="p"/>
                        </m:rPr>
                        <a:rPr lang="en-US" b="0" i="0" sz="2200">
                          <a:latin typeface="Cambria Math"/>
                          <a:solidFill>
                            <a:srgbClr val="0B2B4E"/>
                          </a:solidFill>
                        </a:rPr>
                        <m:t xml:space="preserve">Δ</m:t>
                      </m:r>
                      <m:r>
                        <m:rPr>
                          <m:sty m:val="p"/>
                        </m:rPr>
                        <a:rPr lang="en-US" b="0" i="0" sz="2200">
                          <a:latin typeface="Cambria Math"/>
                          <a:solidFill>
                            <a:srgbClr val="0B2B4E"/>
                          </a:solidFill>
                        </a:rPr>
                        <m:t xml:space="preserve">TC</m:t>
                      </m:r>
                    </m:num>
                    <m:den>
                      <m:r>
                        <m:rPr>
                          <m:sty m:val="p"/>
                        </m:rPr>
                        <a:rPr lang="en-US" b="0" i="0" sz="2200">
                          <a:latin typeface="Cambria Math"/>
                          <a:solidFill>
                            <a:srgbClr val="0B2B4E"/>
                          </a:solidFill>
                        </a:rPr>
                        <m:t xml:space="preserve">Δ</m:t>
                      </m:r>
                      <m:r>
                        <m:rPr>
                          <m:sty m:val="p"/>
                        </m:rPr>
                        <a:rPr lang="en-US" b="0" i="0" sz="2200">
                          <a:latin typeface="Cambria Math"/>
                          <a:solidFill>
                            <a:srgbClr val="0B2B4E"/>
                          </a:solidFill>
                        </a:rPr>
                        <m:t xml:space="preserve">Q</m:t>
                      </m:r>
                    </m:den>
                  </m:f>
                </m:oMath>
              </m:oMathPara>
            </a14:m>
            <a:endParaRPr lang="en-US" sz="2200"/>
          </a:p>
        </p:txBody>
      </p:sp>
      <p:sp>
        <p:nvSpPr>
          <p:cNvPr id="15" name="TextBox 14"/>
          <p:cNvSpPr txBox="1"/>
          <p:nvPr/>
        </p:nvSpPr>
        <p:spPr>
          <a:xfrm>
            <a:off x="8221827" y="3291840"/>
            <a:ext cx="3429000" cy="2560320"/>
          </a:xfrm>
          <a:prstGeom prst="rect">
            <a:avLst/>
          </a:prstGeom>
          <a:noFill/>
        </p:spPr>
        <p:txBody>
          <a:bodyPr wrap="square" lIns="0" rIns="0" tIns="0" bIns="0">
            <a:spAutoFit/>
          </a:bodyPr>
          <a:lstStyle>
            <a:lvl1pPr marL="342900" indent="-342900">
              <a:spcBef>
                <a:spcPts val="800"/>
              </a:spcBef>
              <a:buClr>
                <a:srgbClr val="0B2B4E"/>
              </a:buClr>
              <a:buFont typeface="Calibri"/>
              <a:buChar char="▪"/>
              <a:defRPr sz="1500" b="0">
                <a:solidFill>
                  <a:srgbClr val="0B2B4E"/>
                </a:solidFill>
                <a:latin typeface="Calibri"/>
              </a:defRPr>
            </a:lvl1pPr>
            <a:lvl2pPr marL="685800" indent="-228600">
              <a:spcBef>
                <a:spcPts val="300"/>
              </a:spcBef>
              <a:buClr>
                <a:srgbClr val="555B66"/>
              </a:buClr>
              <a:buFont typeface="Calibri"/>
              <a:buChar char="–"/>
              <a:defRPr sz="1200" b="0">
                <a:solidFill>
                  <a:srgbClr val="555B66"/>
                </a:solidFill>
                <a:latin typeface="Calibri"/>
              </a:defRPr>
            </a:lvl2pPr>
          </a:lstStyle>
          <a:p>
            <a:pPr algn="l"/>
            <a:r>
              <a:rPr>
                <a:latin typeface="Calibri"/>
              </a:rPr>
              <a:t>= ΔTVC / ΔQ  (TFC is constant)</a:t>
            </a:r>
          </a:p>
          <a:p>
            <a:pPr algn="l"/>
            <a:r>
              <a:rPr>
                <a:latin typeface="Calibri"/>
              </a:rPr>
              <a:t>Derivative form:</a:t>
            </a:r>
          </a:p>
          <a:p>
            <a:pPr algn="l" lvl="1"/>
            <a:r>
              <a:rPr>
                <a:latin typeface="Calibri"/>
              </a:rPr>
              <a:t>MC = dTC / dQ</a:t>
            </a:r>
          </a:p>
          <a:p>
            <a:pPr algn="l" lvl="1"/>
            <a:r>
              <a:rPr>
                <a:latin typeface="Calibri"/>
              </a:rPr>
              <a:t>    = dTVC / dQ</a:t>
            </a:r>
          </a:p>
        </p:txBody>
      </p:sp>
      <p:sp>
        <p:nvSpPr>
          <p:cNvPr id="16" name="TextBox 15"/>
          <p:cNvSpPr txBox="1"/>
          <p:nvPr/>
        </p:nvSpPr>
        <p:spPr>
          <a:xfrm>
            <a:off x="251999" y="6035040"/>
            <a:ext cx="11687697" cy="365760"/>
          </a:xfrm>
          <a:prstGeom prst="rect">
            <a:avLst/>
          </a:prstGeom>
          <a:noFill/>
        </p:spPr>
        <p:txBody>
          <a:bodyPr wrap="square" lIns="0" rIns="0" tIns="0" bIns="0">
            <a:spAutoFit/>
          </a:bodyPr>
          <a:lstStyle/>
          <a:p>
            <a:pPr algn="ctr"/>
            <a:r>
              <a:rPr sz="1400" b="0" i="1">
                <a:solidFill>
                  <a:srgbClr val="555B66"/>
                </a:solidFill>
                <a:latin typeface="Calibri"/>
              </a:rPr>
              <a:t>Cheat sheet to refer back to for the rest of the module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20" name="TextBox 19"/>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Cost Concepts in the Real World:  Ross Stores Annual Report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50_rId3.png"/>
          <p:cNvPicPr>
            <a:picLocks noChangeAspect="1"/>
          </p:cNvPicPr>
          <p:nvPr/>
        </p:nvPicPr>
        <p:blipFill>
          <a:blip r:embed="rId2"/>
          <a:stretch>
            <a:fillRect/>
          </a:stretch>
        </p:blipFill>
        <p:spPr>
          <a:xfrm>
            <a:off x="548640" y="1737360"/>
            <a:ext cx="3108960" cy="2011680"/>
          </a:xfrm>
          <a:prstGeom prst="rect">
            <a:avLst/>
          </a:prstGeom>
        </p:spPr>
      </p:pic>
      <p:pic>
        <p:nvPicPr>
          <p:cNvPr id="8" name="Picture 7" descr="slide50_rId4.png"/>
          <p:cNvPicPr>
            <a:picLocks noChangeAspect="1"/>
          </p:cNvPicPr>
          <p:nvPr/>
        </p:nvPicPr>
        <p:blipFill>
          <a:blip r:embed="rId3"/>
          <a:stretch>
            <a:fillRect/>
          </a:stretch>
        </p:blipFill>
        <p:spPr>
          <a:xfrm>
            <a:off x="3749040" y="1737360"/>
            <a:ext cx="1600200" cy="4023360"/>
          </a:xfrm>
          <a:prstGeom prst="rect">
            <a:avLst/>
          </a:prstGeom>
        </p:spPr>
      </p:pic>
      <p:pic>
        <p:nvPicPr>
          <p:cNvPr id="9" name="Picture 8" descr="slide50_rId5.png"/>
          <p:cNvPicPr>
            <a:picLocks noChangeAspect="1"/>
          </p:cNvPicPr>
          <p:nvPr/>
        </p:nvPicPr>
        <p:blipFill>
          <a:blip r:embed="rId4"/>
          <a:stretch>
            <a:fillRect/>
          </a:stretch>
        </p:blipFill>
        <p:spPr>
          <a:xfrm>
            <a:off x="5394960" y="1737360"/>
            <a:ext cx="1554480" cy="1691640"/>
          </a:xfrm>
          <a:prstGeom prst="rect">
            <a:avLst/>
          </a:prstGeom>
        </p:spPr>
      </p:pic>
      <p:pic>
        <p:nvPicPr>
          <p:cNvPr id="10" name="Picture 9" descr="slide50_rId6.png"/>
          <p:cNvPicPr>
            <a:picLocks noChangeAspect="1"/>
          </p:cNvPicPr>
          <p:nvPr/>
        </p:nvPicPr>
        <p:blipFill>
          <a:blip r:embed="rId5"/>
          <a:stretch>
            <a:fillRect/>
          </a:stretch>
        </p:blipFill>
        <p:spPr>
          <a:xfrm>
            <a:off x="822960" y="2606040"/>
            <a:ext cx="1371600" cy="411480"/>
          </a:xfrm>
          <a:prstGeom prst="rect">
            <a:avLst/>
          </a:prstGeom>
        </p:spPr>
      </p:pic>
      <p:pic>
        <p:nvPicPr>
          <p:cNvPr id="11" name="Picture 10" descr="slide50_rId7.png"/>
          <p:cNvPicPr>
            <a:picLocks noChangeAspect="1"/>
          </p:cNvPicPr>
          <p:nvPr/>
        </p:nvPicPr>
        <p:blipFill>
          <a:blip r:embed="rId6"/>
          <a:stretch>
            <a:fillRect/>
          </a:stretch>
        </p:blipFill>
        <p:spPr>
          <a:xfrm>
            <a:off x="822960" y="3383280"/>
            <a:ext cx="1280160" cy="365760"/>
          </a:xfrm>
          <a:prstGeom prst="rect">
            <a:avLst/>
          </a:prstGeom>
        </p:spPr>
      </p:pic>
      <p:sp>
        <p:nvSpPr>
          <p:cNvPr id="12" name="TextBox 11"/>
          <p:cNvSpPr txBox="1"/>
          <p:nvPr/>
        </p:nvSpPr>
        <p:spPr>
          <a:xfrm>
            <a:off x="8412480" y="1783080"/>
            <a:ext cx="3566160" cy="365760"/>
          </a:xfrm>
          <a:prstGeom prst="rect">
            <a:avLst/>
          </a:prstGeom>
          <a:noFill/>
        </p:spPr>
        <p:txBody>
          <a:bodyPr wrap="square" lIns="0" rIns="0" tIns="0" bIns="0">
            <a:spAutoFit/>
          </a:bodyPr>
          <a:lstStyle/>
          <a:p>
            <a:pPr algn="l"/>
            <a:r>
              <a:rPr sz="1800" b="1" i="1">
                <a:solidFill>
                  <a:srgbClr val="0B2B4E"/>
                </a:solidFill>
                <a:latin typeface="Calibri"/>
              </a:rPr>
              <a:t>Mapping to textbook concepts</a:t>
            </a:r>
          </a:p>
        </p:txBody>
      </p:sp>
      <p:sp>
        <p:nvSpPr>
          <p:cNvPr id="13" name="Rectangle 12"/>
          <p:cNvSpPr/>
          <p:nvPr/>
        </p:nvSpPr>
        <p:spPr>
          <a:xfrm>
            <a:off x="8412480" y="2240280"/>
            <a:ext cx="3566160" cy="5943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Cost of goods sold  ≈  TVC</a:t>
            </a:r>
          </a:p>
        </p:txBody>
      </p:sp>
      <p:sp>
        <p:nvSpPr>
          <p:cNvPr id="14" name="Rectangle 13"/>
          <p:cNvSpPr/>
          <p:nvPr/>
        </p:nvSpPr>
        <p:spPr>
          <a:xfrm>
            <a:off x="8412480" y="2926080"/>
            <a:ext cx="3566160" cy="5943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Total costs and expenses  ≈  TC</a:t>
            </a:r>
          </a:p>
        </p:txBody>
      </p:sp>
      <p:sp>
        <p:nvSpPr>
          <p:cNvPr id="15" name="Rectangle 14"/>
          <p:cNvSpPr/>
          <p:nvPr/>
        </p:nvSpPr>
        <p:spPr>
          <a:xfrm>
            <a:off x="8412480" y="3611880"/>
            <a:ext cx="3566160" cy="64008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B2B4E"/>
                </a:solidFill>
                <a:latin typeface="Calibri"/>
              </a:rPr>
              <a:t>SG&amp;A  ≈  Mix of fixed (rent, depreciation) and variable (wages)</a:t>
            </a:r>
          </a:p>
        </p:txBody>
      </p:sp>
      <p:sp>
        <p:nvSpPr>
          <p:cNvPr id="16" name="Rectangle 15"/>
          <p:cNvSpPr/>
          <p:nvPr/>
        </p:nvSpPr>
        <p:spPr>
          <a:xfrm>
            <a:off x="8412480" y="4343400"/>
            <a:ext cx="3566160" cy="640080"/>
          </a:xfrm>
          <a:prstGeom prst="rect">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B2B4E"/>
                </a:solidFill>
                <a:latin typeface="Calibri"/>
              </a:rPr>
              <a:t>Interest expense  ≈  Fixed (long-term debt service)</a:t>
            </a:r>
          </a:p>
        </p:txBody>
      </p:sp>
      <p:sp>
        <p:nvSpPr>
          <p:cNvPr id="17" name="Rectangle 16"/>
          <p:cNvSpPr/>
          <p:nvPr/>
        </p:nvSpPr>
        <p:spPr>
          <a:xfrm>
            <a:off x="1295247" y="5989320"/>
            <a:ext cx="960120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Every 10-K can be read as a fixed-vs-variable split</a:t>
            </a:r>
          </a:p>
        </p:txBody>
      </p:sp>
      <p:sp>
        <p:nvSpPr>
          <p:cNvPr id="18" name="Rectangle 1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21" name="TextBox 20"/>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Marginal Cost ≠ Average Cost:  ChatGPT Subscription Tiers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6319" y="1828800"/>
            <a:ext cx="3657600" cy="54864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ChatGPT Plus</a:t>
            </a:r>
          </a:p>
        </p:txBody>
      </p:sp>
      <p:sp>
        <p:nvSpPr>
          <p:cNvPr id="8" name="Rectangle 7"/>
          <p:cNvSpPr/>
          <p:nvPr/>
        </p:nvSpPr>
        <p:spPr>
          <a:xfrm>
            <a:off x="526319" y="2377440"/>
            <a:ext cx="3657600" cy="18288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0">
                <a:solidFill>
                  <a:srgbClr val="0B2B4E"/>
                </a:solidFill>
                <a:latin typeface="Calibri"/>
              </a:rPr>
              <a:t>$20 / user / month
1 user minimum</a:t>
            </a:r>
          </a:p>
        </p:txBody>
      </p:sp>
      <p:sp>
        <p:nvSpPr>
          <p:cNvPr id="9" name="Rectangle 8"/>
          <p:cNvSpPr/>
          <p:nvPr/>
        </p:nvSpPr>
        <p:spPr>
          <a:xfrm>
            <a:off x="4549679" y="1828800"/>
            <a:ext cx="3657600" cy="5486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0B2B4E"/>
                </a:solidFill>
                <a:latin typeface="Calibri"/>
              </a:rPr>
              <a:t>ChatGPT Team</a:t>
            </a:r>
          </a:p>
        </p:txBody>
      </p:sp>
      <p:sp>
        <p:nvSpPr>
          <p:cNvPr id="10" name="Rectangle 9"/>
          <p:cNvSpPr/>
          <p:nvPr/>
        </p:nvSpPr>
        <p:spPr>
          <a:xfrm>
            <a:off x="4549679" y="2377440"/>
            <a:ext cx="3657600" cy="1828800"/>
          </a:xfrm>
          <a:prstGeom prst="rect">
            <a:avLst/>
          </a:prstGeom>
          <a:solidFill>
            <a:srgbClr val="FFFFFF"/>
          </a:solidFill>
          <a:ln w="1905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0">
                <a:solidFill>
                  <a:srgbClr val="0B2B4E"/>
                </a:solidFill>
                <a:latin typeface="Calibri"/>
              </a:rPr>
              <a:t>$25 / user / month
2 users minimum</a:t>
            </a:r>
          </a:p>
        </p:txBody>
      </p:sp>
      <p:pic>
        <p:nvPicPr>
          <p:cNvPr id="11" name="Picture 10" descr="_chatgpt_logo.png"/>
          <p:cNvPicPr>
            <a:picLocks noChangeAspect="1"/>
          </p:cNvPicPr>
          <p:nvPr/>
        </p:nvPicPr>
        <p:blipFill>
          <a:blip r:embed="rId2"/>
          <a:stretch>
            <a:fillRect/>
          </a:stretch>
        </p:blipFill>
        <p:spPr>
          <a:xfrm>
            <a:off x="9006840" y="2194560"/>
            <a:ext cx="2743200" cy="1554480"/>
          </a:xfrm>
          <a:prstGeom prst="rect">
            <a:avLst/>
          </a:prstGeom>
        </p:spPr>
      </p:pic>
      <p:sp>
        <p:nvSpPr>
          <p:cNvPr id="12" name="TextBox 11"/>
          <p:cNvSpPr txBox="1"/>
          <p:nvPr/>
        </p:nvSpPr>
        <p:spPr>
          <a:xfrm>
            <a:off x="8778240" y="3886200"/>
            <a:ext cx="3200400" cy="274320"/>
          </a:xfrm>
          <a:prstGeom prst="rect">
            <a:avLst/>
          </a:prstGeom>
          <a:noFill/>
        </p:spPr>
        <p:txBody>
          <a:bodyPr wrap="square" lIns="0" rIns="0" tIns="0" bIns="0">
            <a:spAutoFit/>
          </a:bodyPr>
          <a:lstStyle/>
          <a:p>
            <a:pPr algn="ctr"/>
            <a:r>
              <a:rPr sz="1000" b="0" i="1">
                <a:solidFill>
                  <a:srgbClr val="555B66"/>
                </a:solidFill>
                <a:latin typeface="Calibri"/>
              </a:rPr>
              <a:t>ChatGPT logo  (OpenAI;  PD on Wikimedia)</a:t>
            </a:r>
          </a:p>
        </p:txBody>
      </p:sp>
      <p:sp>
        <p:nvSpPr>
          <p:cNvPr id="13" name="TextBox 12"/>
          <p:cNvSpPr txBox="1"/>
          <p:nvPr/>
        </p:nvSpPr>
        <p:spPr>
          <a:xfrm>
            <a:off x="251999" y="4572000"/>
            <a:ext cx="7863840" cy="502920"/>
          </a:xfrm>
          <a:prstGeom prst="rect">
            <a:avLst/>
          </a:prstGeom>
          <a:noFill/>
        </p:spPr>
        <p:txBody>
          <a:bodyPr wrap="square" lIns="0" rIns="0" tIns="0" bIns="0">
            <a:spAutoFit/>
          </a:bodyPr>
          <a:lstStyle/>
          <a:p>
            <a:pPr algn="ctr"/>
            <a:r>
              <a:rPr sz="2200" b="1" i="0">
                <a:solidFill>
                  <a:srgbClr val="0B2B4E"/>
                </a:solidFill>
                <a:latin typeface="Calibri"/>
              </a:rPr>
              <a:t>You're on Plus and want to add a 2nd user.</a:t>
            </a:r>
          </a:p>
        </p:txBody>
      </p:sp>
      <p:sp>
        <p:nvSpPr>
          <p:cNvPr id="14" name="TextBox 13"/>
          <p:cNvSpPr txBox="1"/>
          <p:nvPr/>
        </p:nvSpPr>
        <p:spPr>
          <a:xfrm>
            <a:off x="251999" y="5029200"/>
            <a:ext cx="7863840" cy="502920"/>
          </a:xfrm>
          <a:prstGeom prst="rect">
            <a:avLst/>
          </a:prstGeom>
          <a:noFill/>
        </p:spPr>
        <p:txBody>
          <a:bodyPr wrap="square" lIns="0" rIns="0" tIns="0" bIns="0">
            <a:spAutoFit/>
          </a:bodyPr>
          <a:lstStyle/>
          <a:p>
            <a:pPr algn="ctr"/>
            <a:r>
              <a:rPr sz="2200" b="1" i="0">
                <a:solidFill>
                  <a:srgbClr val="0B2B4E"/>
                </a:solidFill>
                <a:latin typeface="Calibri"/>
              </a:rPr>
              <a:t>What is the marginal cost of that 2nd user?</a:t>
            </a:r>
          </a:p>
        </p:txBody>
      </p:sp>
      <p:sp>
        <p:nvSpPr>
          <p:cNvPr id="15" name="Rectangle 14"/>
          <p:cNvSpPr/>
          <p:nvPr/>
        </p:nvSpPr>
        <p:spPr>
          <a:xfrm>
            <a:off x="3809847" y="5943600"/>
            <a:ext cx="457200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Hint:  it's not just $25</a:t>
            </a:r>
          </a:p>
        </p:txBody>
      </p: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9" name="TextBox 18"/>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What's the MC of Adding the 2nd User?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52_rId4.png"/>
          <p:cNvPicPr>
            <a:picLocks noChangeAspect="1"/>
          </p:cNvPicPr>
          <p:nvPr/>
        </p:nvPicPr>
        <p:blipFill>
          <a:blip r:embed="rId2"/>
          <a:stretch>
            <a:fillRect/>
          </a:stretch>
        </p:blipFill>
        <p:spPr>
          <a:xfrm>
            <a:off x="2926080" y="1691640"/>
            <a:ext cx="6217920" cy="4663440"/>
          </a:xfrm>
          <a:prstGeom prst="rect">
            <a:avLst/>
          </a:prstGeom>
          <a:effectLst>
            <a:outerShdw blurRad="50800" dist="38100" dir="2700000" algn="tl" rotWithShape="0">
              <a:srgbClr val="000000">
                <a:alpha val="45000"/>
              </a:srgbClr>
            </a:outerShdw>
          </a:effectLst>
        </p:spPr>
      </p:pic>
      <p:sp>
        <p:nvSpPr>
          <p:cNvPr id="8" name="TextBox 7"/>
          <p:cNvSpPr txBox="1"/>
          <p:nvPr/>
        </p:nvSpPr>
        <p:spPr>
          <a:xfrm>
            <a:off x="251999" y="6400800"/>
            <a:ext cx="11687697" cy="274320"/>
          </a:xfrm>
          <a:prstGeom prst="rect">
            <a:avLst/>
          </a:prstGeom>
          <a:noFill/>
        </p:spPr>
        <p:txBody>
          <a:bodyPr wrap="square" lIns="0" rIns="0" tIns="0" bIns="0">
            <a:spAutoFit/>
          </a:bodyPr>
          <a:lstStyle/>
          <a:p>
            <a:pPr algn="ctr"/>
            <a:r>
              <a:rPr sz="1400" b="0" i="1">
                <a:solidFill>
                  <a:srgbClr val="555B66"/>
                </a:solidFill>
                <a:latin typeface="Calibri"/>
              </a:rPr>
              <a:t>Respond at PollEv.com/nvoigtlaender</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2" name="TextBox 11"/>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51</a:t>
            </a:r>
          </a:p>
        </p:txBody>
      </p:sp>
      <p:sp>
        <p:nvSpPr>
          <p:cNvPr id="13" name="Rounded Rectangle 12"/>
          <p:cNvSpPr/>
          <p:nvPr/>
        </p:nvSpPr>
        <p:spPr>
          <a:xfrm>
            <a:off x="10979576" y="502920"/>
            <a:ext cx="960120" cy="384048"/>
          </a:xfrm>
          <a:prstGeom prst="roundRect">
            <a:avLst>
              <a:gd name="adj" fmla="val 50000"/>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9576" y="502920"/>
            <a:ext cx="960120" cy="384048"/>
          </a:xfrm>
          <a:prstGeom prst="rect">
            <a:avLst/>
          </a:prstGeom>
          <a:noFill/>
        </p:spPr>
        <p:txBody>
          <a:bodyPr wrap="square" lIns="0" rIns="0" tIns="0" bIns="0" anchor="ctr">
            <a:spAutoFit/>
          </a:bodyPr>
          <a:lstStyle/>
          <a:p>
            <a:pPr algn="ctr"/>
            <a:r>
              <a:rPr sz="1400" b="1" i="0">
                <a:solidFill>
                  <a:srgbClr val="FFFFFF"/>
                </a:solidFill>
                <a:latin typeface="Calibri"/>
              </a:rPr>
              <a:t>POLL</a:t>
            </a:r>
          </a:p>
        </p:txBody>
      </p:sp>
      <p:sp>
        <p:nvSpPr>
          <p:cNvPr id="15" name="Rectangle 14"/>
          <p:cNvSpPr/>
          <p:nvPr/>
        </p:nvSpPr>
        <p:spPr>
          <a:xfrm>
            <a:off x="10686968" y="621792"/>
            <a:ext cx="146304" cy="14630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Solution:  MC = $30 / user · month</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6607" y="1783080"/>
            <a:ext cx="5120640" cy="50292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1 user on Plus</a:t>
            </a:r>
          </a:p>
        </p:txBody>
      </p:sp>
      <p:sp>
        <p:nvSpPr>
          <p:cNvPr id="8" name="Rectangle 7"/>
          <p:cNvSpPr/>
          <p:nvPr/>
        </p:nvSpPr>
        <p:spPr>
          <a:xfrm>
            <a:off x="746607" y="2286000"/>
            <a:ext cx="5120640" cy="82296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0B2B4E"/>
                </a:solidFill>
                <a:latin typeface="Calibri"/>
              </a:rPr>
              <a:t>1 × $20  =  $20 / month</a:t>
            </a:r>
          </a:p>
        </p:txBody>
      </p:sp>
      <p:sp>
        <p:nvSpPr>
          <p:cNvPr id="9" name="Rectangle 8"/>
          <p:cNvSpPr/>
          <p:nvPr/>
        </p:nvSpPr>
        <p:spPr>
          <a:xfrm>
            <a:off x="6324447" y="1783080"/>
            <a:ext cx="512064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2 users on Team</a:t>
            </a:r>
          </a:p>
        </p:txBody>
      </p:sp>
      <p:sp>
        <p:nvSpPr>
          <p:cNvPr id="10" name="Rectangle 9"/>
          <p:cNvSpPr/>
          <p:nvPr/>
        </p:nvSpPr>
        <p:spPr>
          <a:xfrm>
            <a:off x="6324447" y="2286000"/>
            <a:ext cx="5120640" cy="822960"/>
          </a:xfrm>
          <a:prstGeom prst="rect">
            <a:avLst/>
          </a:prstGeom>
          <a:solidFill>
            <a:srgbClr val="FFFFFF"/>
          </a:solidFill>
          <a:ln w="1905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0B2B4E"/>
                </a:solidFill>
                <a:latin typeface="Calibri"/>
              </a:rPr>
              <a:t>2 × $25  =  $50 / month</a:t>
            </a:r>
          </a:p>
        </p:txBody>
      </p:sp>
      <p:sp>
        <p:nvSpPr>
          <p:cNvPr id="11" name="TextBox 10"/>
          <p:cNvSpPr txBox="1"/>
          <p:nvPr/>
        </p:nvSpPr>
        <p:spPr>
          <a:xfrm>
            <a:off x="251999" y="3383280"/>
            <a:ext cx="11687697" cy="457200"/>
          </a:xfrm>
          <a:prstGeom prst="rect">
            <a:avLst/>
          </a:prstGeom>
          <a:noFill/>
        </p:spPr>
        <p:txBody>
          <a:bodyPr wrap="square" lIns="0" rIns="0" tIns="0" bIns="0">
            <a:spAutoFit/>
          </a:bodyPr>
          <a:lstStyle/>
          <a:p>
            <a:pPr algn="ctr"/>
            <a:r>
              <a:rPr sz="2200" b="0" i="1">
                <a:solidFill>
                  <a:srgbClr val="555B66"/>
                </a:solidFill>
                <a:latin typeface="Calibri"/>
              </a:rPr>
              <a:t>Marginal cost of the 2nd user:</a:t>
            </a:r>
          </a:p>
        </p:txBody>
      </p:sp>
      <p:sp>
        <p:nvSpPr>
          <p:cNvPr id="12" name="Rectangle 11"/>
          <p:cNvSpPr/>
          <p:nvPr/>
        </p:nvSpPr>
        <p:spPr>
          <a:xfrm>
            <a:off x="2666847" y="3886200"/>
            <a:ext cx="6858000" cy="91440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latin typeface="Calibri"/>
              </a:rPr>
              <a:t>MC  =  $50  −  $20  =  $30 / month</a:t>
            </a:r>
          </a:p>
        </p:txBody>
      </p:sp>
      <p:sp>
        <p:nvSpPr>
          <p:cNvPr id="13" name="TextBox 12"/>
          <p:cNvSpPr txBox="1"/>
          <p:nvPr/>
        </p:nvSpPr>
        <p:spPr>
          <a:xfrm>
            <a:off x="251999" y="5029200"/>
            <a:ext cx="11687697" cy="457200"/>
          </a:xfrm>
          <a:prstGeom prst="rect">
            <a:avLst/>
          </a:prstGeom>
          <a:noFill/>
        </p:spPr>
        <p:txBody>
          <a:bodyPr wrap="square" lIns="0" rIns="0" tIns="0" bIns="0">
            <a:spAutoFit/>
          </a:bodyPr>
          <a:lstStyle/>
          <a:p>
            <a:pPr algn="ctr"/>
            <a:r>
              <a:rPr sz="1800" b="0" i="1">
                <a:solidFill>
                  <a:srgbClr val="0B2B4E"/>
                </a:solidFill>
                <a:latin typeface="Calibri"/>
              </a:rPr>
              <a:t>Re-price the existing user ($20 → $25)  +  add a new one ($25)  =  $30</a:t>
            </a:r>
          </a:p>
        </p:txBody>
      </p:sp>
      <p:sp>
        <p:nvSpPr>
          <p:cNvPr id="14" name="Rectangle 13"/>
          <p:cNvSpPr/>
          <p:nvPr/>
        </p:nvSpPr>
        <p:spPr>
          <a:xfrm>
            <a:off x="1066647" y="5943600"/>
            <a:ext cx="1005840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MC  &gt;  AC :  subscription tiers can hide a higher marginal cost</a:t>
            </a:r>
          </a:p>
        </p:txBody>
      </p:sp>
      <p:sp>
        <p:nvSpPr>
          <p:cNvPr id="15" name="Rectangle 1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8" name="TextBox 17"/>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Marginal Cost in Finance:  The True Rate on a Bigger Loan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57200"/>
          </a:xfrm>
          <a:prstGeom prst="rect">
            <a:avLst/>
          </a:prstGeom>
          <a:noFill/>
        </p:spPr>
        <p:txBody>
          <a:bodyPr wrap="square" lIns="0" rIns="0" tIns="0" bIns="0">
            <a:spAutoFit/>
          </a:bodyPr>
          <a:lstStyle/>
          <a:p>
            <a:pPr algn="l"/>
            <a:r>
              <a:rPr sz="2200" b="1" i="0">
                <a:solidFill>
                  <a:srgbClr val="0B2B4E"/>
                </a:solidFill>
                <a:latin typeface="Calibri"/>
              </a:rPr>
              <a:t>Two options for a personal loan:</a:t>
            </a:r>
          </a:p>
        </p:txBody>
      </p:sp>
      <p:sp>
        <p:nvSpPr>
          <p:cNvPr id="8" name="Rectangle 7"/>
          <p:cNvSpPr/>
          <p:nvPr/>
        </p:nvSpPr>
        <p:spPr>
          <a:xfrm>
            <a:off x="792327" y="2331720"/>
            <a:ext cx="5120640" cy="91440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Loan A:  $100K  @  5% annual</a:t>
            </a:r>
          </a:p>
        </p:txBody>
      </p:sp>
      <p:sp>
        <p:nvSpPr>
          <p:cNvPr id="9" name="Rectangle 8"/>
          <p:cNvSpPr/>
          <p:nvPr/>
        </p:nvSpPr>
        <p:spPr>
          <a:xfrm>
            <a:off x="6278727" y="2331720"/>
            <a:ext cx="5120640" cy="91440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Loan B:  $110K  @  6% annual</a:t>
            </a:r>
          </a:p>
        </p:txBody>
      </p:sp>
      <p:sp>
        <p:nvSpPr>
          <p:cNvPr id="10" name="TextBox 9"/>
          <p:cNvSpPr txBox="1"/>
          <p:nvPr/>
        </p:nvSpPr>
        <p:spPr>
          <a:xfrm>
            <a:off x="251999" y="3383280"/>
            <a:ext cx="11687697" cy="457200"/>
          </a:xfrm>
          <a:prstGeom prst="rect">
            <a:avLst/>
          </a:prstGeom>
          <a:noFill/>
        </p:spPr>
        <p:txBody>
          <a:bodyPr wrap="square" lIns="0" rIns="0" tIns="0" bIns="0">
            <a:spAutoFit/>
          </a:bodyPr>
          <a:lstStyle/>
          <a:p>
            <a:pPr algn="ctr"/>
            <a:r>
              <a:rPr sz="2200" b="1" i="0">
                <a:solidFill>
                  <a:srgbClr val="0B2B4E"/>
                </a:solidFill>
                <a:latin typeface="Calibri"/>
              </a:rPr>
              <a:t>What's the marginal interest rate on the extra $10K?</a:t>
            </a:r>
          </a:p>
        </p:txBody>
      </p:sp>
      <p:sp>
        <p:nvSpPr>
          <p:cNvPr id="11" name="TextBox 10"/>
          <p:cNvSpPr txBox="1"/>
          <p:nvPr/>
        </p:nvSpPr>
        <p:spPr>
          <a:xfrm>
            <a:off x="251999" y="4023360"/>
            <a:ext cx="11687697" cy="365760"/>
          </a:xfrm>
          <a:prstGeom prst="rect">
            <a:avLst/>
          </a:prstGeom>
          <a:noFill/>
        </p:spPr>
        <p:txBody>
          <a:bodyPr wrap="square" lIns="0" rIns="0" tIns="0" bIns="0">
            <a:spAutoFit/>
          </a:bodyPr>
          <a:lstStyle/>
          <a:p>
            <a:pPr algn="ctr"/>
            <a:r>
              <a:rPr sz="2000" b="0" i="0">
                <a:solidFill>
                  <a:srgbClr val="0B2B4E"/>
                </a:solidFill>
                <a:latin typeface="Calibri"/>
              </a:rPr>
              <a:t>Extra interest:   $6,600  −  $5,000   =   $1,600</a:t>
            </a:r>
          </a:p>
        </p:txBody>
      </p:sp>
      <p:sp>
        <p:nvSpPr>
          <p:cNvPr id="12" name="TextBox 11"/>
          <p:cNvSpPr txBox="1"/>
          <p:nvPr/>
        </p:nvSpPr>
        <p:spPr>
          <a:xfrm>
            <a:off x="251999" y="4434840"/>
            <a:ext cx="11687697" cy="365760"/>
          </a:xfrm>
          <a:prstGeom prst="rect">
            <a:avLst/>
          </a:prstGeom>
          <a:noFill/>
        </p:spPr>
        <p:txBody>
          <a:bodyPr wrap="square" lIns="0" rIns="0" tIns="0" bIns="0">
            <a:spAutoFit/>
          </a:bodyPr>
          <a:lstStyle/>
          <a:p>
            <a:pPr algn="ctr"/>
            <a:r>
              <a:rPr sz="2000" b="0" i="0">
                <a:solidFill>
                  <a:srgbClr val="0B2B4E"/>
                </a:solidFill>
                <a:latin typeface="Calibri"/>
              </a:rPr>
              <a:t>Extra loan amount:   $10,000</a:t>
            </a:r>
          </a:p>
        </p:txBody>
      </p:sp>
      <p:sp>
        <p:nvSpPr>
          <p:cNvPr id="13" name="TextBox 12"/>
          <p:cNvSpPr txBox="1"/>
          <p:nvPr/>
        </p:nvSpPr>
        <p:spPr>
          <a:xfrm>
            <a:off x="251999" y="4846320"/>
            <a:ext cx="11687697" cy="365760"/>
          </a:xfrm>
          <a:prstGeom prst="rect">
            <a:avLst/>
          </a:prstGeom>
          <a:noFill/>
        </p:spPr>
        <p:txBody>
          <a:bodyPr wrap="square" lIns="0" rIns="0" tIns="0" bIns="0">
            <a:spAutoFit/>
          </a:bodyPr>
          <a:lstStyle/>
          <a:p>
            <a:pPr algn="ctr"/>
            <a:r>
              <a:rPr sz="2000" b="0" i="0">
                <a:solidFill>
                  <a:srgbClr val="0B2B4E"/>
                </a:solidFill>
                <a:latin typeface="Calibri"/>
              </a:rPr>
              <a:t>Marginal rate:   $1,600  /  $10,000   =   16%</a:t>
            </a:r>
          </a:p>
        </p:txBody>
      </p:sp>
      <p:sp>
        <p:nvSpPr>
          <p:cNvPr id="14" name="Rectangle 13"/>
          <p:cNvSpPr/>
          <p:nvPr/>
        </p:nvSpPr>
        <p:spPr>
          <a:xfrm>
            <a:off x="1066647" y="5943600"/>
            <a:ext cx="1005840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Marginal cost (16%) is much higher than average rate (6%)</a:t>
            </a:r>
          </a:p>
        </p:txBody>
      </p:sp>
      <p:sp>
        <p:nvSpPr>
          <p:cNvPr id="15" name="Rectangle 1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8" name="TextBox 17"/>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Rivian's Georgia Plant —  Weekly Cost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57200"/>
          </a:xfrm>
          <a:prstGeom prst="rect">
            <a:avLst/>
          </a:prstGeom>
          <a:noFill/>
        </p:spPr>
        <p:txBody>
          <a:bodyPr wrap="square" lIns="0" rIns="0" tIns="0" bIns="0">
            <a:spAutoFit/>
          </a:bodyPr>
          <a:lstStyle/>
          <a:p>
            <a:pPr algn="l"/>
            <a:r>
              <a:rPr sz="2200" b="0" i="0">
                <a:solidFill>
                  <a:srgbClr val="0B2B4E"/>
                </a:solidFill>
                <a:latin typeface="Calibri"/>
              </a:rPr>
              <a:t>Collect data on total cost at different output levels (Q)</a:t>
            </a:r>
          </a:p>
        </p:txBody>
      </p:sp>
      <p:sp>
        <p:nvSpPr>
          <p:cNvPr id="8" name="TextBox 7"/>
          <p:cNvSpPr txBox="1"/>
          <p:nvPr/>
        </p:nvSpPr>
        <p:spPr>
          <a:xfrm>
            <a:off x="251999" y="2103120"/>
            <a:ext cx="11687697" cy="457200"/>
          </a:xfrm>
          <a:prstGeom prst="rect">
            <a:avLst/>
          </a:prstGeom>
          <a:noFill/>
        </p:spPr>
        <p:txBody>
          <a:bodyPr wrap="square" lIns="0" rIns="0" tIns="0" bIns="0">
            <a:spAutoFit/>
          </a:bodyPr>
          <a:lstStyle/>
          <a:p>
            <a:pPr algn="l"/>
            <a:r>
              <a:rPr sz="2200" b="0" i="1">
                <a:solidFill>
                  <a:srgbClr val="555B66"/>
                </a:solidFill>
                <a:latin typeface="Calibri"/>
              </a:rPr>
              <a:t>→  Estimate the cost function</a:t>
            </a:r>
          </a:p>
        </p:txBody>
      </p:sp>
      <p:sp>
        <p:nvSpPr>
          <p:cNvPr id="9" name="TextBox 8"/>
          <p:cNvSpPr txBox="1"/>
          <p:nvPr/>
        </p:nvSpPr>
        <p:spPr>
          <a:xfrm>
            <a:off x="1981047" y="2606040"/>
            <a:ext cx="8229600" cy="640080"/>
          </a:xfrm>
          <a:prstGeom prst="rect">
            <a:avLst/>
          </a:prstGeom>
          <a:solidFill>
            <a:srgbClr val="0B2B4E"/>
          </a:solidFill>
        </p:spPr>
        <p:txBody>
          <a:bodyPr wrap="square" anchor="ctr">
            <a:spAutoFit/>
          </a:bodyPr>
          <a:lstStyle/>
          <a:p xmlns:m="http://schemas.openxmlformats.org/officeDocument/2006/math" xmlns:a14="http://schemas.microsoft.com/office/drawing/2010/main">
            <a:pPr algn="ctr">
              <a:defRPr sz="2400" b="0" i="1">
                <a:solidFill>
                  <a:srgbClr val="FFFFFF"/>
                </a:solidFill>
                <a:latin typeface="Cambria Math"/>
              </a:defRPr>
            </a:pPr>
            <a14:m>
              <m:oMathPara>
                <m:oMathParaPr>
                  <m:jc m:val="centerGroup"/>
                </m:oMathParaPr>
                <m:oMath>
                  <m:r>
                    <m:rPr>
                      <m:sty m:val="p"/>
                    </m:rPr>
                    <a:rPr lang="en-US" b="0" i="0" sz="2400">
                      <a:latin typeface="Cambria Math"/>
                      <a:solidFill>
                        <a:srgbClr val="FFFFFF"/>
                      </a:solidFill>
                    </a:rPr>
                    <m:t xml:space="preserve">TC</m:t>
                  </m:r>
                  <m:r>
                    <m:rPr>
                      <m:sty m:val="p"/>
                    </m:rPr>
                    <a:rPr lang="en-US" b="0" i="0" sz="2400">
                      <a:latin typeface="Cambria Math"/>
                      <a:solidFill>
                        <a:srgbClr val="FFFFFF"/>
                      </a:solidFill>
                    </a:rPr>
                    <m:t xml:space="preserve"> = </m:t>
                  </m:r>
                  <m:r>
                    <m:rPr>
                      <m:sty m:val="p"/>
                    </m:rPr>
                    <a:rPr lang="en-US" b="0" i="0" sz="2400">
                      <a:latin typeface="Cambria Math"/>
                      <a:solidFill>
                        <a:srgbClr val="FFFFFF"/>
                      </a:solidFill>
                    </a:rPr>
                    <m:t xml:space="preserve">800,000</m:t>
                  </m:r>
                  <m:r>
                    <m:rPr>
                      <m:sty m:val="p"/>
                    </m:rPr>
                    <a:rPr lang="en-US" b="0" i="0" sz="2400">
                      <a:latin typeface="Cambria Math"/>
                      <a:solidFill>
                        <a:srgbClr val="FFFFFF"/>
                      </a:solidFill>
                    </a:rPr>
                    <m:t xml:space="preserve"> + </m:t>
                  </m:r>
                  <m:r>
                    <m:rPr>
                      <m:sty m:val="p"/>
                    </m:rPr>
                    <a:rPr lang="en-US" b="0" i="0" sz="2400">
                      <a:latin typeface="Cambria Math"/>
                      <a:solidFill>
                        <a:srgbClr val="FFFFFF"/>
                      </a:solidFill>
                    </a:rPr>
                    <m:t xml:space="preserve">200</m:t>
                  </m:r>
                  <m:r>
                    <m:rPr>
                      <m:sty m:val="p"/>
                    </m:rPr>
                    <a:rPr lang="en-US" b="0" i="0" sz="2400">
                      <a:latin typeface="Cambria Math"/>
                      <a:solidFill>
                        <a:srgbClr val="FFFFFF"/>
                      </a:solidFill>
                    </a:rPr>
                    <m:t xml:space="preserve"> · </m:t>
                  </m:r>
                  <m:sSup>
                    <m:sSupPr>
                      <m:ctrlPr>
                        <a:rPr lang="en-US" i="1">
                          <a:latin typeface="Cambria Math"/>
                        </a:rPr>
                      </m:ctrlPr>
                    </m:sSupPr>
                    <m:e>
                      <m:r>
                        <a:rPr lang="en-US" b="0" i="1" sz="2400">
                          <a:latin typeface="Cambria Math"/>
                          <a:ea typeface="Cambria Math"/>
                          <a:solidFill>
                            <a:srgbClr val="FFFFFF"/>
                          </a:solidFill>
                        </a:rPr>
                        <m:t>Q</m:t>
                      </m:r>
                    </m:e>
                    <m:sup>
                      <m:r>
                        <m:rPr>
                          <m:sty m:val="p"/>
                        </m:rPr>
                        <a:rPr lang="en-US" b="0" i="0" sz="2400">
                          <a:latin typeface="Cambria Math"/>
                          <a:solidFill>
                            <a:srgbClr val="FFFFFF"/>
                          </a:solidFill>
                        </a:rPr>
                        <m:t xml:space="preserve">2</m:t>
                      </m:r>
                    </m:sup>
                  </m:sSup>
                </m:oMath>
              </m:oMathPara>
            </a14:m>
            <a:endParaRPr lang="en-US" sz="2400"/>
          </a:p>
        </p:txBody>
      </p:sp>
      <p:sp>
        <p:nvSpPr>
          <p:cNvPr id="10" name="Rectangle 9"/>
          <p:cNvSpPr/>
          <p:nvPr/>
        </p:nvSpPr>
        <p:spPr>
          <a:xfrm>
            <a:off x="2286000" y="3429000"/>
            <a:ext cx="7589520" cy="242316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2286000" y="3429000"/>
          <a:ext cx="7589520" cy="2423160"/>
        </p:xfrm>
        <a:graphic>
          <a:graphicData uri="http://schemas.openxmlformats.org/drawingml/2006/chart">
            <c:chart xmlns:c="http://schemas.openxmlformats.org/drawingml/2006/chart" r:id="rId2"/>
          </a:graphicData>
        </a:graphic>
      </p:graphicFrame>
      <p:sp>
        <p:nvSpPr>
          <p:cNvPr id="12" name="Rectangle 11"/>
          <p:cNvSpPr/>
          <p:nvPr/>
        </p:nvSpPr>
        <p:spPr>
          <a:xfrm>
            <a:off x="1295247" y="5989320"/>
            <a:ext cx="960120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Fixed plus a convex quadratic term — cost rises faster than output</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6" name="TextBox 15"/>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Rivian's Georgia Plant —  Cost Components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91640"/>
            <a:ext cx="11247120" cy="416052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Chart 7"/>
          <p:cNvGraphicFramePr>
            <a:graphicFrameLocks noGrp="1"/>
          </p:cNvGraphicFramePr>
          <p:nvPr/>
        </p:nvGraphicFramePr>
        <p:xfrm>
          <a:off x="457200" y="1691640"/>
          <a:ext cx="11247120" cy="4160520"/>
        </p:xfrm>
        <a:graphic>
          <a:graphicData uri="http://schemas.openxmlformats.org/drawingml/2006/chart">
            <c:chart xmlns:c="http://schemas.openxmlformats.org/drawingml/2006/chart" r:id="rId2"/>
          </a:graphicData>
        </a:graphic>
      </p:graphicFrame>
      <p:sp>
        <p:nvSpPr>
          <p:cNvPr id="9" name="Rectangle 8"/>
          <p:cNvSpPr/>
          <p:nvPr/>
        </p:nvSpPr>
        <p:spPr>
          <a:xfrm>
            <a:off x="838047" y="5989320"/>
            <a:ext cx="10515600" cy="50292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Fixed costs dominate at low Q;  the quadratic TVC overtakes at scale</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3" name="TextBox 12"/>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Rivian's Georgia Plant —  Per-Unit Costs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91640"/>
            <a:ext cx="11247120" cy="416052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Chart 7"/>
          <p:cNvGraphicFramePr>
            <a:graphicFrameLocks noGrp="1"/>
          </p:cNvGraphicFramePr>
          <p:nvPr/>
        </p:nvGraphicFramePr>
        <p:xfrm>
          <a:off x="457200" y="1691640"/>
          <a:ext cx="11247120" cy="4160520"/>
        </p:xfrm>
        <a:graphic>
          <a:graphicData uri="http://schemas.openxmlformats.org/drawingml/2006/chart">
            <c:chart xmlns:c="http://schemas.openxmlformats.org/drawingml/2006/chart" r:id="rId2"/>
          </a:graphicData>
        </a:graphic>
      </p:graphicFrame>
      <p:sp>
        <p:nvSpPr>
          <p:cNvPr id="9" name="Rectangle 8"/>
          <p:cNvSpPr/>
          <p:nvPr/>
        </p:nvSpPr>
        <p:spPr>
          <a:xfrm>
            <a:off x="1066647" y="5989320"/>
            <a:ext cx="1005840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MC crosses ATC at the ATC minimum  —  the textbook U-shape</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3" name="TextBox 12"/>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Cost Estimation:  What Does an iPhone Cost to Make?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502920"/>
          </a:xfrm>
          <a:prstGeom prst="rect">
            <a:avLst/>
          </a:prstGeom>
          <a:noFill/>
        </p:spPr>
        <p:txBody>
          <a:bodyPr wrap="square" lIns="0" rIns="0" tIns="0" bIns="0">
            <a:spAutoFit/>
          </a:bodyPr>
          <a:lstStyle/>
          <a:p>
            <a:pPr algn="ctr"/>
            <a:r>
              <a:rPr sz="2400" b="1" i="0">
                <a:solidFill>
                  <a:srgbClr val="E09F3E"/>
                </a:solidFill>
                <a:latin typeface="Calibri"/>
              </a:rPr>
              <a:t>Without Internet Access!</a:t>
            </a:r>
          </a:p>
        </p:txBody>
      </p:sp>
      <p:sp>
        <p:nvSpPr>
          <p:cNvPr id="8" name="TextBox 7"/>
          <p:cNvSpPr txBox="1"/>
          <p:nvPr/>
        </p:nvSpPr>
        <p:spPr>
          <a:xfrm>
            <a:off x="251999" y="2286000"/>
            <a:ext cx="11687697" cy="502920"/>
          </a:xfrm>
          <a:prstGeom prst="rect">
            <a:avLst/>
          </a:prstGeom>
          <a:noFill/>
        </p:spPr>
        <p:txBody>
          <a:bodyPr wrap="square" lIns="0" rIns="0" tIns="0" bIns="0">
            <a:spAutoFit/>
          </a:bodyPr>
          <a:lstStyle/>
          <a:p>
            <a:pPr algn="ctr"/>
            <a:r>
              <a:rPr sz="2200" b="1" i="0">
                <a:solidFill>
                  <a:srgbClr val="0B2B4E"/>
                </a:solidFill>
                <a:latin typeface="Calibri"/>
              </a:rPr>
              <a:t>What is the average variable cost of producing a current-generation iPhone 17?</a:t>
            </a:r>
          </a:p>
        </p:txBody>
      </p:sp>
      <p:sp>
        <p:nvSpPr>
          <p:cNvPr id="9" name="TextBox 8"/>
          <p:cNvSpPr txBox="1"/>
          <p:nvPr/>
        </p:nvSpPr>
        <p:spPr>
          <a:xfrm>
            <a:off x="251999" y="3108960"/>
            <a:ext cx="11687697" cy="365760"/>
          </a:xfrm>
          <a:prstGeom prst="rect">
            <a:avLst/>
          </a:prstGeom>
          <a:noFill/>
        </p:spPr>
        <p:txBody>
          <a:bodyPr wrap="square" lIns="0" rIns="0" tIns="0" bIns="0">
            <a:spAutoFit/>
          </a:bodyPr>
          <a:lstStyle/>
          <a:p>
            <a:pPr algn="ctr"/>
            <a:r>
              <a:rPr sz="1800" b="0" i="1">
                <a:solidFill>
                  <a:srgbClr val="555B66"/>
                </a:solidFill>
                <a:latin typeface="Calibri"/>
              </a:rPr>
              <a:t>Provide a numerical guess  +  rough split:</a:t>
            </a:r>
          </a:p>
        </p:txBody>
      </p:sp>
      <p:sp>
        <p:nvSpPr>
          <p:cNvPr id="10" name="Rectangle 9"/>
          <p:cNvSpPr/>
          <p:nvPr/>
        </p:nvSpPr>
        <p:spPr>
          <a:xfrm>
            <a:off x="1386687" y="3566160"/>
            <a:ext cx="3017520" cy="100584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Processor
$ ?</a:t>
            </a:r>
          </a:p>
        </p:txBody>
      </p:sp>
      <p:sp>
        <p:nvSpPr>
          <p:cNvPr id="11" name="Rectangle 10"/>
          <p:cNvSpPr/>
          <p:nvPr/>
        </p:nvSpPr>
        <p:spPr>
          <a:xfrm>
            <a:off x="4587087" y="3566160"/>
            <a:ext cx="3017520" cy="100584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Other material inputs
$ ?</a:t>
            </a:r>
          </a:p>
        </p:txBody>
      </p:sp>
      <p:sp>
        <p:nvSpPr>
          <p:cNvPr id="12" name="Rectangle 11"/>
          <p:cNvSpPr/>
          <p:nvPr/>
        </p:nvSpPr>
        <p:spPr>
          <a:xfrm>
            <a:off x="7787487" y="3566160"/>
            <a:ext cx="3017520" cy="100584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Labor
$ ?</a:t>
            </a:r>
          </a:p>
        </p:txBody>
      </p:sp>
      <p:sp>
        <p:nvSpPr>
          <p:cNvPr id="13" name="TextBox 12"/>
          <p:cNvSpPr txBox="1"/>
          <p:nvPr/>
        </p:nvSpPr>
        <p:spPr>
          <a:xfrm>
            <a:off x="251999" y="4937760"/>
            <a:ext cx="11687697" cy="365760"/>
          </a:xfrm>
          <a:prstGeom prst="rect">
            <a:avLst/>
          </a:prstGeom>
          <a:noFill/>
        </p:spPr>
        <p:txBody>
          <a:bodyPr wrap="square" lIns="0" rIns="0" tIns="0" bIns="0">
            <a:spAutoFit/>
          </a:bodyPr>
          <a:lstStyle/>
          <a:p>
            <a:pPr algn="ctr"/>
            <a:r>
              <a:rPr sz="2000" b="0" i="1">
                <a:solidFill>
                  <a:srgbClr val="0B2B4E"/>
                </a:solidFill>
                <a:latin typeface="Calibri"/>
              </a:rPr>
              <a:t>Total retail price of an iPhone 17 ≈  $1,199</a:t>
            </a:r>
          </a:p>
        </p:txBody>
      </p:sp>
      <p:sp>
        <p:nvSpPr>
          <p:cNvPr id="14" name="Rectangle 13"/>
          <p:cNvSpPr/>
          <p:nvPr/>
        </p:nvSpPr>
        <p:spPr>
          <a:xfrm>
            <a:off x="7367696" y="5715000"/>
            <a:ext cx="4572000" cy="658368"/>
          </a:xfrm>
          <a:custGeom>
            <a:avLst/>
            <a:gdLst/>
            <a:ahLst/>
            <a:cxnLst/>
            <a:rect l="14400" t="0" r="85600" b="100000"/>
            <a:pathLst>
              <a:path w="100000" h="100000">
                <a:moveTo>
                  <a:pt x="19400" y="0"/>
                </a:moveTo>
                <a:lnTo>
                  <a:pt x="95000" y="0"/>
                </a:lnTo>
                <a:cubicBezTo>
                  <a:pt x="100000" y="0"/>
                  <a:pt x="100000" y="0"/>
                  <a:pt x="99280" y="5000"/>
                </a:cubicBezTo>
                <a:lnTo>
                  <a:pt x="86320" y="95000"/>
                </a:lnTo>
                <a:cubicBezTo>
                  <a:pt x="85600" y="100000"/>
                  <a:pt x="85600" y="100000"/>
                  <a:pt x="80600" y="100000"/>
                </a:cubicBezTo>
                <a:lnTo>
                  <a:pt x="5000" y="100000"/>
                </a:lnTo>
                <a:cubicBezTo>
                  <a:pt x="0" y="100000"/>
                  <a:pt x="0" y="100000"/>
                  <a:pt x="720" y="95000"/>
                </a:cubicBezTo>
                <a:lnTo>
                  <a:pt x="13680" y="5000"/>
                </a:lnTo>
                <a:cubicBezTo>
                  <a:pt x="14400" y="0"/>
                  <a:pt x="14400" y="0"/>
                  <a:pt x="194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6064" y="5715000"/>
            <a:ext cx="3255264" cy="658368"/>
          </a:xfrm>
          <a:prstGeom prst="rect">
            <a:avLst/>
          </a:prstGeom>
          <a:noFill/>
        </p:spPr>
        <p:txBody>
          <a:bodyPr wrap="none" anchor="ctr" lIns="45720" rIns="45720" tIns="18288" bIns="18288">
            <a:spAutoFit/>
          </a:bodyPr>
          <a:lstStyle/>
          <a:p>
            <a:pPr algn="ctr"/>
            <a:r>
              <a:rPr sz="2800" b="1">
                <a:solidFill>
                  <a:srgbClr val="0B2B4E"/>
                </a:solidFill>
                <a:latin typeface="Calibri"/>
              </a:rPr>
              <a:t>Discussion Break</a:t>
            </a:r>
          </a:p>
        </p:txBody>
      </p: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9" name="TextBox 18"/>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What's the AVC of an iPhone 17?</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59_rId4.png"/>
          <p:cNvPicPr>
            <a:picLocks noChangeAspect="1"/>
          </p:cNvPicPr>
          <p:nvPr/>
        </p:nvPicPr>
        <p:blipFill>
          <a:blip r:embed="rId2"/>
          <a:stretch>
            <a:fillRect/>
          </a:stretch>
        </p:blipFill>
        <p:spPr>
          <a:xfrm>
            <a:off x="2926080" y="1691640"/>
            <a:ext cx="6217920" cy="4663440"/>
          </a:xfrm>
          <a:prstGeom prst="rect">
            <a:avLst/>
          </a:prstGeom>
          <a:effectLst>
            <a:outerShdw blurRad="50800" dist="38100" dir="2700000" algn="tl" rotWithShape="0">
              <a:srgbClr val="000000">
                <a:alpha val="45000"/>
              </a:srgbClr>
            </a:outerShdw>
          </a:effectLst>
        </p:spPr>
      </p:pic>
      <p:sp>
        <p:nvSpPr>
          <p:cNvPr id="8" name="TextBox 7"/>
          <p:cNvSpPr txBox="1"/>
          <p:nvPr/>
        </p:nvSpPr>
        <p:spPr>
          <a:xfrm>
            <a:off x="251999" y="6400800"/>
            <a:ext cx="11687697" cy="274320"/>
          </a:xfrm>
          <a:prstGeom prst="rect">
            <a:avLst/>
          </a:prstGeom>
          <a:noFill/>
        </p:spPr>
        <p:txBody>
          <a:bodyPr wrap="square" lIns="0" rIns="0" tIns="0" bIns="0">
            <a:spAutoFit/>
          </a:bodyPr>
          <a:lstStyle/>
          <a:p>
            <a:pPr algn="ctr"/>
            <a:r>
              <a:rPr sz="1400" b="0" i="1">
                <a:solidFill>
                  <a:srgbClr val="555B66"/>
                </a:solidFill>
                <a:latin typeface="Calibri"/>
              </a:rPr>
              <a:t>Respond at PollEv.com/nvoigtlaender</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2" name="TextBox 11"/>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58</a:t>
            </a:r>
          </a:p>
        </p:txBody>
      </p:sp>
      <p:sp>
        <p:nvSpPr>
          <p:cNvPr id="13" name="Rounded Rectangle 12"/>
          <p:cNvSpPr/>
          <p:nvPr/>
        </p:nvSpPr>
        <p:spPr>
          <a:xfrm>
            <a:off x="10979576" y="502920"/>
            <a:ext cx="960120" cy="384048"/>
          </a:xfrm>
          <a:prstGeom prst="roundRect">
            <a:avLst>
              <a:gd name="adj" fmla="val 50000"/>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9576" y="502920"/>
            <a:ext cx="960120" cy="384048"/>
          </a:xfrm>
          <a:prstGeom prst="rect">
            <a:avLst/>
          </a:prstGeom>
          <a:noFill/>
        </p:spPr>
        <p:txBody>
          <a:bodyPr wrap="square" lIns="0" rIns="0" tIns="0" bIns="0" anchor="ctr">
            <a:spAutoFit/>
          </a:bodyPr>
          <a:lstStyle/>
          <a:p>
            <a:pPr algn="ctr"/>
            <a:r>
              <a:rPr sz="1400" b="1" i="0">
                <a:solidFill>
                  <a:srgbClr val="FFFFFF"/>
                </a:solidFill>
                <a:latin typeface="Calibri"/>
              </a:rPr>
              <a:t>POLL</a:t>
            </a:r>
          </a:p>
        </p:txBody>
      </p:sp>
      <p:sp>
        <p:nvSpPr>
          <p:cNvPr id="15" name="Rectangle 14"/>
          <p:cNvSpPr/>
          <p:nvPr/>
        </p:nvSpPr>
        <p:spPr>
          <a:xfrm>
            <a:off x="10686968" y="621792"/>
            <a:ext cx="146304" cy="14630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AVC of iPhone 17  ≈  $580</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60_rId4.png"/>
          <p:cNvPicPr>
            <a:picLocks noChangeAspect="1"/>
          </p:cNvPicPr>
          <p:nvPr/>
        </p:nvPicPr>
        <p:blipFill>
          <a:blip r:embed="rId2"/>
          <a:stretch>
            <a:fillRect/>
          </a:stretch>
        </p:blipFill>
        <p:spPr>
          <a:xfrm>
            <a:off x="457200" y="1691640"/>
            <a:ext cx="3486506" cy="4206240"/>
          </a:xfrm>
          <a:prstGeom prst="rect">
            <a:avLst/>
          </a:prstGeom>
          <a:effectLst>
            <a:outerShdw blurRad="50800" dist="38100" dir="2700000" algn="tl" rotWithShape="0">
              <a:srgbClr val="000000">
                <a:alpha val="45000"/>
              </a:srgbClr>
            </a:outerShdw>
          </a:effectLst>
        </p:spPr>
      </p:pic>
      <p:sp>
        <p:nvSpPr>
          <p:cNvPr id="8" name="TextBox 7"/>
          <p:cNvSpPr txBox="1"/>
          <p:nvPr/>
        </p:nvSpPr>
        <p:spPr>
          <a:xfrm>
            <a:off x="6858000" y="1828800"/>
            <a:ext cx="4937760" cy="502920"/>
          </a:xfrm>
          <a:prstGeom prst="rect">
            <a:avLst/>
          </a:prstGeom>
          <a:noFill/>
        </p:spPr>
        <p:txBody>
          <a:bodyPr wrap="square" lIns="0" rIns="0" tIns="0" bIns="0">
            <a:spAutoFit/>
          </a:bodyPr>
          <a:lstStyle/>
          <a:p>
            <a:pPr algn="l"/>
            <a:r>
              <a:rPr sz="2200" b="0" i="0">
                <a:solidFill>
                  <a:srgbClr val="555B66"/>
                </a:solidFill>
                <a:latin typeface="Calibri"/>
              </a:rPr>
              <a:t>Retail price:</a:t>
            </a:r>
          </a:p>
        </p:txBody>
      </p:sp>
      <p:sp>
        <p:nvSpPr>
          <p:cNvPr id="9" name="TextBox 8"/>
          <p:cNvSpPr txBox="1"/>
          <p:nvPr/>
        </p:nvSpPr>
        <p:spPr>
          <a:xfrm>
            <a:off x="6858000" y="2331720"/>
            <a:ext cx="4937760" cy="548640"/>
          </a:xfrm>
          <a:prstGeom prst="rect">
            <a:avLst/>
          </a:prstGeom>
          <a:noFill/>
        </p:spPr>
        <p:txBody>
          <a:bodyPr wrap="square" lIns="0" rIns="0" tIns="0" bIns="0">
            <a:spAutoFit/>
          </a:bodyPr>
          <a:lstStyle/>
          <a:p>
            <a:pPr algn="l"/>
            <a:r>
              <a:rPr sz="3600" b="1" i="0">
                <a:solidFill>
                  <a:srgbClr val="0B2B4E"/>
                </a:solidFill>
                <a:latin typeface="Calibri"/>
              </a:rPr>
              <a:t>$1,199</a:t>
            </a:r>
          </a:p>
        </p:txBody>
      </p:sp>
      <p:sp>
        <p:nvSpPr>
          <p:cNvPr id="10" name="TextBox 9"/>
          <p:cNvSpPr txBox="1"/>
          <p:nvPr/>
        </p:nvSpPr>
        <p:spPr>
          <a:xfrm>
            <a:off x="6858000" y="3108960"/>
            <a:ext cx="4937760" cy="502920"/>
          </a:xfrm>
          <a:prstGeom prst="rect">
            <a:avLst/>
          </a:prstGeom>
          <a:noFill/>
        </p:spPr>
        <p:txBody>
          <a:bodyPr wrap="square" lIns="0" rIns="0" tIns="0" bIns="0">
            <a:spAutoFit/>
          </a:bodyPr>
          <a:lstStyle/>
          <a:p>
            <a:pPr algn="l"/>
            <a:r>
              <a:rPr sz="2200" b="0" i="0">
                <a:solidFill>
                  <a:srgbClr val="555B66"/>
                </a:solidFill>
                <a:latin typeface="Calibri"/>
              </a:rPr>
              <a:t>Total variable cost  (TVC):</a:t>
            </a:r>
          </a:p>
        </p:txBody>
      </p:sp>
      <p:sp>
        <p:nvSpPr>
          <p:cNvPr id="11" name="TextBox 10"/>
          <p:cNvSpPr txBox="1"/>
          <p:nvPr/>
        </p:nvSpPr>
        <p:spPr>
          <a:xfrm>
            <a:off x="6858000" y="3611880"/>
            <a:ext cx="4937760" cy="548640"/>
          </a:xfrm>
          <a:prstGeom prst="rect">
            <a:avLst/>
          </a:prstGeom>
          <a:noFill/>
        </p:spPr>
        <p:txBody>
          <a:bodyPr wrap="square" lIns="0" rIns="0" tIns="0" bIns="0">
            <a:spAutoFit/>
          </a:bodyPr>
          <a:lstStyle/>
          <a:p>
            <a:pPr algn="l"/>
            <a:r>
              <a:rPr sz="3600" b="1" i="0">
                <a:solidFill>
                  <a:srgbClr val="E09F3E"/>
                </a:solidFill>
                <a:latin typeface="Calibri"/>
              </a:rPr>
              <a:t>≈  $580</a:t>
            </a:r>
          </a:p>
        </p:txBody>
      </p:sp>
      <p:sp>
        <p:nvSpPr>
          <p:cNvPr id="12" name="TextBox 11"/>
          <p:cNvSpPr txBox="1"/>
          <p:nvPr/>
        </p:nvSpPr>
        <p:spPr>
          <a:xfrm>
            <a:off x="6858000" y="4434840"/>
            <a:ext cx="4937760" cy="365760"/>
          </a:xfrm>
          <a:prstGeom prst="rect">
            <a:avLst/>
          </a:prstGeom>
          <a:noFill/>
        </p:spPr>
        <p:txBody>
          <a:bodyPr wrap="square" lIns="0" rIns="0" tIns="0" bIns="0">
            <a:spAutoFit/>
          </a:bodyPr>
          <a:lstStyle/>
          <a:p>
            <a:pPr algn="l"/>
            <a:r>
              <a:rPr sz="1400" b="0" i="1">
                <a:solidFill>
                  <a:srgbClr val="555B66"/>
                </a:solidFill>
                <a:latin typeface="Calibri"/>
              </a:rPr>
              <a:t>Plus missing components:</a:t>
            </a:r>
          </a:p>
        </p:txBody>
      </p:sp>
      <p:sp>
        <p:nvSpPr>
          <p:cNvPr id="13" name="TextBox 12"/>
          <p:cNvSpPr txBox="1"/>
          <p:nvPr/>
        </p:nvSpPr>
        <p:spPr>
          <a:xfrm>
            <a:off x="7040880" y="4754880"/>
            <a:ext cx="4754880" cy="274320"/>
          </a:xfrm>
          <a:prstGeom prst="rect">
            <a:avLst/>
          </a:prstGeom>
          <a:noFill/>
        </p:spPr>
        <p:txBody>
          <a:bodyPr wrap="square" lIns="0" rIns="0" tIns="0" bIns="0">
            <a:spAutoFit/>
          </a:bodyPr>
          <a:lstStyle/>
          <a:p>
            <a:pPr algn="l"/>
            <a:r>
              <a:rPr sz="1400" b="0" i="0">
                <a:solidFill>
                  <a:srgbClr val="555B66"/>
                </a:solidFill>
                <a:latin typeface="Calibri"/>
              </a:rPr>
              <a:t>–  Shipping &amp; handling</a:t>
            </a:r>
          </a:p>
        </p:txBody>
      </p:sp>
      <p:sp>
        <p:nvSpPr>
          <p:cNvPr id="14" name="TextBox 13"/>
          <p:cNvSpPr txBox="1"/>
          <p:nvPr/>
        </p:nvSpPr>
        <p:spPr>
          <a:xfrm>
            <a:off x="7040880" y="5047488"/>
            <a:ext cx="4754880" cy="274320"/>
          </a:xfrm>
          <a:prstGeom prst="rect">
            <a:avLst/>
          </a:prstGeom>
          <a:noFill/>
        </p:spPr>
        <p:txBody>
          <a:bodyPr wrap="square" lIns="0" rIns="0" tIns="0" bIns="0">
            <a:spAutoFit/>
          </a:bodyPr>
          <a:lstStyle/>
          <a:p>
            <a:pPr algn="l"/>
            <a:r>
              <a:rPr sz="1400" b="0" i="0">
                <a:solidFill>
                  <a:srgbClr val="555B66"/>
                </a:solidFill>
                <a:latin typeface="Calibri"/>
              </a:rPr>
              <a:t>–  Customer service</a:t>
            </a:r>
          </a:p>
        </p:txBody>
      </p:sp>
      <p:sp>
        <p:nvSpPr>
          <p:cNvPr id="15" name="TextBox 14"/>
          <p:cNvSpPr txBox="1"/>
          <p:nvPr/>
        </p:nvSpPr>
        <p:spPr>
          <a:xfrm>
            <a:off x="7040880" y="5340096"/>
            <a:ext cx="4754880" cy="274320"/>
          </a:xfrm>
          <a:prstGeom prst="rect">
            <a:avLst/>
          </a:prstGeom>
          <a:noFill/>
        </p:spPr>
        <p:txBody>
          <a:bodyPr wrap="square" lIns="0" rIns="0" tIns="0" bIns="0">
            <a:spAutoFit/>
          </a:bodyPr>
          <a:lstStyle/>
          <a:p>
            <a:pPr algn="l"/>
            <a:r>
              <a:rPr sz="1400" b="0" i="0">
                <a:solidFill>
                  <a:srgbClr val="555B66"/>
                </a:solidFill>
                <a:latin typeface="Calibri"/>
              </a:rPr>
              <a:t>–  Warranty costs</a:t>
            </a:r>
          </a:p>
        </p:txBody>
      </p:sp>
      <p:sp>
        <p:nvSpPr>
          <p:cNvPr id="16" name="Rectangle 15"/>
          <p:cNvSpPr/>
          <p:nvPr/>
        </p:nvSpPr>
        <p:spPr>
          <a:xfrm>
            <a:off x="1066647" y="5943600"/>
            <a:ext cx="10058400" cy="50292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About half of retail goes to fixed-cost recovery, R&amp;D, retail margin</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20" name="TextBox 19"/>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Naïve Linear Cost Function:  Total Cost View</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1463040" y="1828800"/>
            <a:ext cx="0" cy="3840480"/>
          </a:xfrm>
          <a:prstGeom prst="line">
            <a:avLst/>
          </a:prstGeom>
          <a:ln w="190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63040" y="5669280"/>
            <a:ext cx="6858000" cy="0"/>
          </a:xfrm>
          <a:prstGeom prst="line">
            <a:avLst/>
          </a:prstGeom>
          <a:ln w="190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8640" y="1417320"/>
            <a:ext cx="1828800" cy="365760"/>
          </a:xfrm>
          <a:prstGeom prst="rect">
            <a:avLst/>
          </a:prstGeom>
          <a:noFill/>
        </p:spPr>
        <p:txBody>
          <a:bodyPr wrap="square" lIns="0" rIns="0" tIns="0" bIns="0">
            <a:spAutoFit/>
          </a:bodyPr>
          <a:lstStyle/>
          <a:p>
            <a:pPr algn="l"/>
            <a:r>
              <a:rPr sz="1800" b="1" i="0">
                <a:solidFill>
                  <a:srgbClr val="0B2B4E"/>
                </a:solidFill>
                <a:latin typeface="Calibri"/>
              </a:rPr>
              <a:t>$  (Total cost)</a:t>
            </a:r>
          </a:p>
        </p:txBody>
      </p:sp>
      <p:sp>
        <p:nvSpPr>
          <p:cNvPr id="10" name="TextBox 9"/>
          <p:cNvSpPr txBox="1"/>
          <p:nvPr/>
        </p:nvSpPr>
        <p:spPr>
          <a:xfrm>
            <a:off x="6035040" y="5806440"/>
            <a:ext cx="3200400" cy="365760"/>
          </a:xfrm>
          <a:prstGeom prst="rect">
            <a:avLst/>
          </a:prstGeom>
          <a:noFill/>
        </p:spPr>
        <p:txBody>
          <a:bodyPr wrap="square" lIns="0" rIns="0" tIns="0" bIns="0">
            <a:spAutoFit/>
          </a:bodyPr>
          <a:lstStyle/>
          <a:p>
            <a:pPr algn="l"/>
            <a:r>
              <a:rPr sz="1800" b="1" i="0">
                <a:solidFill>
                  <a:srgbClr val="0B2B4E"/>
                </a:solidFill>
                <a:latin typeface="Calibri"/>
              </a:rPr>
              <a:t>Q  (quantity produced)</a:t>
            </a:r>
          </a:p>
        </p:txBody>
      </p:sp>
      <p:sp>
        <p:nvSpPr>
          <p:cNvPr id="11" name="TextBox 10"/>
          <p:cNvSpPr txBox="1"/>
          <p:nvPr/>
        </p:nvSpPr>
        <p:spPr>
          <a:xfrm>
            <a:off x="822960" y="4663440"/>
            <a:ext cx="640080" cy="365760"/>
          </a:xfrm>
          <a:prstGeom prst="rect">
            <a:avLst/>
          </a:prstGeom>
          <a:noFill/>
        </p:spPr>
        <p:txBody>
          <a:bodyPr wrap="square" lIns="0" rIns="0" tIns="0" bIns="0">
            <a:spAutoFit/>
          </a:bodyPr>
          <a:lstStyle/>
          <a:p>
            <a:pPr algn="l"/>
            <a:r>
              <a:rPr sz="1800" b="1" i="0">
                <a:solidFill>
                  <a:srgbClr val="E09F3E"/>
                </a:solidFill>
                <a:latin typeface="Calibri"/>
              </a:rPr>
              <a:t>TFC</a:t>
            </a:r>
          </a:p>
        </p:txBody>
      </p:sp>
      <p:cxnSp>
        <p:nvCxnSpPr>
          <p:cNvPr id="12" name="Connector 11"/>
          <p:cNvCxnSpPr/>
          <p:nvPr/>
        </p:nvCxnSpPr>
        <p:spPr>
          <a:xfrm>
            <a:off x="1417320" y="4846320"/>
            <a:ext cx="91440" cy="0"/>
          </a:xfrm>
          <a:prstGeom prst="line">
            <a:avLst/>
          </a:prstGeom>
          <a:ln w="25400">
            <a:solidFill>
              <a:srgbClr val="E09F3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463040" y="2194560"/>
            <a:ext cx="6400800" cy="2651760"/>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86800" y="2743200"/>
            <a:ext cx="3200400" cy="868680"/>
          </a:xfrm>
          <a:prstGeom prst="rect">
            <a:avLst/>
          </a:prstGeom>
          <a:solidFill>
            <a:srgbClr val="E09F3E"/>
          </a:solidFill>
        </p:spPr>
        <p:txBody>
          <a:bodyPr wrap="square" anchor="ctr">
            <a:spAutoFit/>
          </a:bodyPr>
          <a:lstStyle/>
          <a:p xmlns:m="http://schemas.openxmlformats.org/officeDocument/2006/math" xmlns:a14="http://schemas.microsoft.com/office/drawing/2010/main">
            <a:pPr algn="ctr">
              <a:defRPr sz="2400" b="0" i="1">
                <a:solidFill>
                  <a:srgbClr val="0B2B4E"/>
                </a:solidFill>
                <a:latin typeface="Cambria Math"/>
              </a:defRPr>
            </a:pPr>
            <a14:m>
              <m:oMathPara>
                <m:oMathParaPr>
                  <m:jc m:val="centerGroup"/>
                </m:oMathParaPr>
                <m:oMath>
                  <m:r>
                    <m:rPr>
                      <m:sty m:val="p"/>
                    </m:rPr>
                    <a:rPr lang="en-US" b="0" i="0" sz="2400">
                      <a:latin typeface="Cambria Math"/>
                      <a:solidFill>
                        <a:srgbClr val="0B2B4E"/>
                      </a:solidFill>
                    </a:rPr>
                    <m:t xml:space="preserve">TC</m:t>
                  </m:r>
                  <m:r>
                    <m:rPr>
                      <m:sty m:val="p"/>
                    </m:rPr>
                    <a:rPr lang="en-US" b="0" i="0" sz="2400">
                      <a:latin typeface="Cambria Math"/>
                      <a:solidFill>
                        <a:srgbClr val="0B2B4E"/>
                      </a:solidFill>
                    </a:rPr>
                    <m:t xml:space="preserve"> = </m:t>
                  </m:r>
                  <m:r>
                    <m:rPr>
                      <m:sty m:val="p"/>
                    </m:rPr>
                    <a:rPr lang="en-US" b="0" i="0" sz="2400">
                      <a:latin typeface="Cambria Math"/>
                      <a:solidFill>
                        <a:srgbClr val="0B2B4E"/>
                      </a:solidFill>
                    </a:rPr>
                    <m:t xml:space="preserve">TFC</m:t>
                  </m:r>
                  <m:r>
                    <m:rPr>
                      <m:sty m:val="p"/>
                    </m:rPr>
                    <a:rPr lang="en-US" b="0" i="0" sz="2400">
                      <a:latin typeface="Cambria Math"/>
                      <a:solidFill>
                        <a:srgbClr val="0B2B4E"/>
                      </a:solidFill>
                    </a:rPr>
                    <m:t xml:space="preserve"> + </m:t>
                  </m:r>
                  <m:r>
                    <m:rPr>
                      <m:sty m:val="p"/>
                    </m:rPr>
                    <a:rPr lang="en-US" b="0" i="0" sz="2400">
                      <a:latin typeface="Cambria Math"/>
                      <a:solidFill>
                        <a:srgbClr val="0B2B4E"/>
                      </a:solidFill>
                    </a:rPr>
                    <m:t xml:space="preserve">500</m:t>
                  </m:r>
                  <m:r>
                    <m:rPr>
                      <m:sty m:val="p"/>
                    </m:rPr>
                    <a:rPr lang="en-US" b="0" i="0" sz="2400">
                      <a:latin typeface="Cambria Math"/>
                      <a:solidFill>
                        <a:srgbClr val="0B2B4E"/>
                      </a:solidFill>
                    </a:rPr>
                    <m:t xml:space="preserve"> · </m:t>
                  </m:r>
                  <m:r>
                    <a:rPr lang="en-US" b="0" i="1" sz="2400">
                      <a:latin typeface="Cambria Math"/>
                      <a:ea typeface="Cambria Math"/>
                      <a:solidFill>
                        <a:srgbClr val="0B2B4E"/>
                      </a:solidFill>
                    </a:rPr>
                    <m:t>Q</m:t>
                  </m:r>
                </m:oMath>
              </m:oMathPara>
            </a14:m>
            <a:endParaRPr lang="en-US" sz="2400"/>
          </a:p>
        </p:txBody>
      </p:sp>
      <p:sp>
        <p:nvSpPr>
          <p:cNvPr id="15" name="Rectangle 14"/>
          <p:cNvSpPr/>
          <p:nvPr/>
        </p:nvSpPr>
        <p:spPr>
          <a:xfrm>
            <a:off x="5303520" y="3931920"/>
            <a:ext cx="2194560" cy="41148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slope  =  $500</a:t>
            </a:r>
          </a:p>
        </p:txBody>
      </p:sp>
      <p:sp>
        <p:nvSpPr>
          <p:cNvPr id="16" name="Rectangle 15"/>
          <p:cNvSpPr/>
          <p:nvPr/>
        </p:nvSpPr>
        <p:spPr>
          <a:xfrm>
            <a:off x="838047" y="5989320"/>
            <a:ext cx="10515600" cy="50292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Linear naïve TC :  fixed cost  +  constant marginal cost  ($500 / unit)</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20" name="TextBox 19"/>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Naïve Linear Cost Function:  Per-Unit View</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1463040" y="1828800"/>
            <a:ext cx="0" cy="3840480"/>
          </a:xfrm>
          <a:prstGeom prst="line">
            <a:avLst/>
          </a:prstGeom>
          <a:ln w="190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63040" y="5669280"/>
            <a:ext cx="6858000" cy="0"/>
          </a:xfrm>
          <a:prstGeom prst="line">
            <a:avLst/>
          </a:prstGeom>
          <a:ln w="190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8640" y="1417320"/>
            <a:ext cx="1828800" cy="365760"/>
          </a:xfrm>
          <a:prstGeom prst="rect">
            <a:avLst/>
          </a:prstGeom>
          <a:noFill/>
        </p:spPr>
        <p:txBody>
          <a:bodyPr wrap="square" lIns="0" rIns="0" tIns="0" bIns="0">
            <a:spAutoFit/>
          </a:bodyPr>
          <a:lstStyle/>
          <a:p>
            <a:pPr algn="l"/>
            <a:r>
              <a:rPr sz="1800" b="1" i="0">
                <a:solidFill>
                  <a:srgbClr val="0B2B4E"/>
                </a:solidFill>
                <a:latin typeface="Calibri"/>
              </a:rPr>
              <a:t>$ per unit</a:t>
            </a:r>
          </a:p>
        </p:txBody>
      </p:sp>
      <p:sp>
        <p:nvSpPr>
          <p:cNvPr id="10" name="TextBox 9"/>
          <p:cNvSpPr txBox="1"/>
          <p:nvPr/>
        </p:nvSpPr>
        <p:spPr>
          <a:xfrm>
            <a:off x="6035040" y="5806440"/>
            <a:ext cx="3200400" cy="365760"/>
          </a:xfrm>
          <a:prstGeom prst="rect">
            <a:avLst/>
          </a:prstGeom>
          <a:noFill/>
        </p:spPr>
        <p:txBody>
          <a:bodyPr wrap="square" lIns="0" rIns="0" tIns="0" bIns="0">
            <a:spAutoFit/>
          </a:bodyPr>
          <a:lstStyle/>
          <a:p>
            <a:pPr algn="l"/>
            <a:r>
              <a:rPr sz="1800" b="1" i="0">
                <a:solidFill>
                  <a:srgbClr val="0B2B4E"/>
                </a:solidFill>
                <a:latin typeface="Calibri"/>
              </a:rPr>
              <a:t>Q  (quantity produced)</a:t>
            </a:r>
          </a:p>
        </p:txBody>
      </p:sp>
      <p:cxnSp>
        <p:nvCxnSpPr>
          <p:cNvPr id="11" name="Connector 10"/>
          <p:cNvCxnSpPr/>
          <p:nvPr/>
        </p:nvCxnSpPr>
        <p:spPr>
          <a:xfrm>
            <a:off x="1645920" y="3840480"/>
            <a:ext cx="6400800" cy="0"/>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 y="3657600"/>
            <a:ext cx="640080" cy="365760"/>
          </a:xfrm>
          <a:prstGeom prst="rect">
            <a:avLst/>
          </a:prstGeom>
          <a:noFill/>
        </p:spPr>
        <p:txBody>
          <a:bodyPr wrap="square" lIns="0" rIns="0" tIns="0" bIns="0">
            <a:spAutoFit/>
          </a:bodyPr>
          <a:lstStyle/>
          <a:p>
            <a:pPr algn="r"/>
            <a:r>
              <a:rPr sz="1800" b="1" i="0">
                <a:solidFill>
                  <a:srgbClr val="E09F3E"/>
                </a:solidFill>
                <a:latin typeface="Calibri"/>
              </a:rPr>
              <a:t>500</a:t>
            </a:r>
          </a:p>
        </p:txBody>
      </p:sp>
      <p:sp>
        <p:nvSpPr>
          <p:cNvPr id="13" name="TextBox 12"/>
          <p:cNvSpPr txBox="1"/>
          <p:nvPr/>
        </p:nvSpPr>
        <p:spPr>
          <a:xfrm>
            <a:off x="3246120" y="3246120"/>
            <a:ext cx="3291840" cy="502920"/>
          </a:xfrm>
          <a:prstGeom prst="rect">
            <a:avLst/>
          </a:prstGeom>
          <a:noFill/>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r>
                    <m:rPr>
                      <m:sty m:val="p"/>
                    </m:rPr>
                    <a:rPr lang="en-US" b="0" i="0" sz="2200">
                      <a:latin typeface="Cambria Math"/>
                      <a:solidFill>
                        <a:srgbClr val="0B2B4E"/>
                      </a:solidFill>
                    </a:rPr>
                    <m:t xml:space="preserve">MC</m:t>
                  </m:r>
                  <m:r>
                    <m:rPr>
                      <m:sty m:val="p"/>
                    </m:rPr>
                    <a:rPr lang="en-US" b="0" i="0" sz="2200">
                      <a:latin typeface="Cambria Math"/>
                      <a:solidFill>
                        <a:srgbClr val="0B2B4E"/>
                      </a:solidFill>
                    </a:rPr>
                    <m:t xml:space="preserve"> = </m:t>
                  </m:r>
                  <m:r>
                    <m:rPr>
                      <m:sty m:val="p"/>
                    </m:rPr>
                    <a:rPr lang="en-US" b="0" i="0" sz="2200">
                      <a:latin typeface="Cambria Math"/>
                      <a:solidFill>
                        <a:srgbClr val="0B2B4E"/>
                      </a:solidFill>
                    </a:rPr>
                    <m:t xml:space="preserve">AVC</m:t>
                  </m:r>
                  <m:r>
                    <m:rPr>
                      <m:sty m:val="p"/>
                    </m:rPr>
                    <a:rPr lang="en-US" b="0" i="0" sz="2200">
                      <a:latin typeface="Cambria Math"/>
                      <a:solidFill>
                        <a:srgbClr val="0B2B4E"/>
                      </a:solidFill>
                    </a:rPr>
                    <m:t xml:space="preserve"> = </m:t>
                  </m:r>
                  <m:r>
                    <m:rPr>
                      <m:sty m:val="p"/>
                    </m:rPr>
                    <a:rPr lang="en-US" b="0" i="0" sz="2200">
                      <a:latin typeface="Cambria Math"/>
                      <a:solidFill>
                        <a:srgbClr val="0B2B4E"/>
                      </a:solidFill>
                    </a:rPr>
                    <m:t xml:space="preserve">$500</m:t>
                  </m:r>
                </m:oMath>
              </m:oMathPara>
            </a14:m>
            <a:endParaRPr lang="en-US" sz="2200"/>
          </a:p>
        </p:txBody>
      </p:sp>
      <p:sp>
        <p:nvSpPr>
          <p:cNvPr id="14" name="TextBox 13"/>
          <p:cNvSpPr txBox="1"/>
          <p:nvPr/>
        </p:nvSpPr>
        <p:spPr>
          <a:xfrm>
            <a:off x="8686800" y="2743200"/>
            <a:ext cx="3200400" cy="1371600"/>
          </a:xfrm>
          <a:prstGeom prst="rect">
            <a:avLst/>
          </a:prstGeom>
          <a:solidFill>
            <a:srgbClr val="E09F3E"/>
          </a:solidFill>
        </p:spPr>
        <p:txBody>
          <a:bodyPr wrap="square" anchor="ctr">
            <a:spAutoFit/>
          </a:bodyPr>
          <a:lstStyle/>
          <a:p xmlns:m="http://schemas.openxmlformats.org/officeDocument/2006/math" xmlns:a14="http://schemas.microsoft.com/office/drawing/2010/main">
            <a:pPr algn="ctr">
              <a:defRPr sz="1800" b="0" i="1">
                <a:solidFill>
                  <a:srgbClr val="0B2B4E"/>
                </a:solidFill>
                <a:latin typeface="Cambria Math"/>
              </a:defRPr>
            </a:pPr>
            <a14:m>
              <m:oMathPara>
                <m:oMathParaPr>
                  <m:jc m:val="centerGroup"/>
                </m:oMathParaPr>
                <m:oMath>
                  <m:r>
                    <m:rPr>
                      <m:sty m:val="p"/>
                    </m:rPr>
                    <a:rPr lang="en-US" b="0" i="0" sz="1800">
                      <a:latin typeface="Cambria Math"/>
                      <a:solidFill>
                        <a:srgbClr val="0B2B4E"/>
                      </a:solidFill>
                    </a:rPr>
                    <m:t xml:space="preserve">When </m:t>
                  </m:r>
                  <m:r>
                    <m:rPr>
                      <m:sty m:val="p"/>
                    </m:rPr>
                    <a:rPr lang="en-US" b="0" i="0" sz="1800">
                      <a:latin typeface="Cambria Math"/>
                      <a:solidFill>
                        <a:srgbClr val="0B2B4E"/>
                      </a:solidFill>
                    </a:rPr>
                    <m:t xml:space="preserve">MC</m:t>
                  </m:r>
                  <m:r>
                    <m:rPr>
                      <m:sty m:val="p"/>
                    </m:rPr>
                    <a:rPr lang="en-US" b="0" i="0" sz="1800">
                      <a:latin typeface="Cambria Math"/>
                      <a:solidFill>
                        <a:srgbClr val="0B2B4E"/>
                      </a:solidFill>
                    </a:rPr>
                    <m:t xml:space="preserve"> is constant, it equals </m:t>
                  </m:r>
                  <m:r>
                    <m:rPr>
                      <m:sty m:val="p"/>
                    </m:rPr>
                    <a:rPr lang="en-US" b="0" i="0" sz="1800">
                      <a:latin typeface="Cambria Math"/>
                      <a:solidFill>
                        <a:srgbClr val="0B2B4E"/>
                      </a:solidFill>
                    </a:rPr>
                    <m:t xml:space="preserve">AVC</m:t>
                  </m:r>
                </m:oMath>
              </m:oMathPara>
            </a14:m>
            <a:endParaRPr lang="en-US" sz="1800"/>
          </a:p>
        </p:txBody>
      </p:sp>
      <p:sp>
        <p:nvSpPr>
          <p:cNvPr id="15" name="Rectangle 14"/>
          <p:cNvSpPr/>
          <p:nvPr/>
        </p:nvSpPr>
        <p:spPr>
          <a:xfrm>
            <a:off x="838047" y="5989320"/>
            <a:ext cx="1051560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Per-unit view :  constant marginal cost,  AC falls as fixed cost spreads</a:t>
            </a:r>
          </a:p>
        </p:txBody>
      </p: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9" name="TextBox 18"/>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Cost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More Complex Cost Functions:  When MC Isn't Linear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63_rId1.jpg"/>
          <p:cNvPicPr>
            <a:picLocks noChangeAspect="1"/>
          </p:cNvPicPr>
          <p:nvPr/>
        </p:nvPicPr>
        <p:blipFill>
          <a:blip r:embed="rId2"/>
          <a:stretch>
            <a:fillRect/>
          </a:stretch>
        </p:blipFill>
        <p:spPr>
          <a:xfrm>
            <a:off x="457200" y="1828800"/>
            <a:ext cx="4573709" cy="3291840"/>
          </a:xfrm>
          <a:prstGeom prst="rect">
            <a:avLst/>
          </a:prstGeom>
          <a:effectLst>
            <a:outerShdw blurRad="50800" dist="38100" dir="2700000" algn="tl" rotWithShape="0">
              <a:srgbClr val="000000">
                <a:alpha val="45000"/>
              </a:srgbClr>
            </a:outerShdw>
          </a:effectLst>
        </p:spPr>
      </p:pic>
      <p:pic>
        <p:nvPicPr>
          <p:cNvPr id="8" name="Picture 7" descr="slide63_rId2.jpg"/>
          <p:cNvPicPr>
            <a:picLocks noChangeAspect="1"/>
          </p:cNvPicPr>
          <p:nvPr/>
        </p:nvPicPr>
        <p:blipFill>
          <a:blip r:embed="rId3"/>
          <a:stretch>
            <a:fillRect/>
          </a:stretch>
        </p:blipFill>
        <p:spPr>
          <a:xfrm>
            <a:off x="6400800" y="1828800"/>
            <a:ext cx="4912123" cy="3291840"/>
          </a:xfrm>
          <a:prstGeom prst="rect">
            <a:avLst/>
          </a:prstGeom>
          <a:effectLst>
            <a:outerShdw blurRad="50800" dist="38100" dir="2700000" algn="tl" rotWithShape="0">
              <a:srgbClr val="000000">
                <a:alpha val="45000"/>
              </a:srgbClr>
            </a:outerShdw>
          </a:effectLst>
        </p:spPr>
      </p:pic>
      <p:sp>
        <p:nvSpPr>
          <p:cNvPr id="9" name="TextBox 8"/>
          <p:cNvSpPr txBox="1"/>
          <p:nvPr/>
        </p:nvSpPr>
        <p:spPr>
          <a:xfrm>
            <a:off x="457200" y="5166360"/>
            <a:ext cx="5486400" cy="274320"/>
          </a:xfrm>
          <a:prstGeom prst="rect">
            <a:avLst/>
          </a:prstGeom>
          <a:noFill/>
        </p:spPr>
        <p:txBody>
          <a:bodyPr wrap="square" lIns="0" rIns="0" tIns="0" bIns="0">
            <a:spAutoFit/>
          </a:bodyPr>
          <a:lstStyle/>
          <a:p>
            <a:pPr algn="ctr"/>
            <a:r>
              <a:rPr sz="1400" b="0" i="1">
                <a:solidFill>
                  <a:srgbClr val="555B66"/>
                </a:solidFill>
                <a:latin typeface="Calibri"/>
              </a:rPr>
              <a:t>Total / variable / fixed cost — convex at high Q</a:t>
            </a:r>
          </a:p>
        </p:txBody>
      </p:sp>
      <p:sp>
        <p:nvSpPr>
          <p:cNvPr id="10" name="TextBox 9"/>
          <p:cNvSpPr txBox="1"/>
          <p:nvPr/>
        </p:nvSpPr>
        <p:spPr>
          <a:xfrm>
            <a:off x="6400800" y="5166360"/>
            <a:ext cx="5486400" cy="274320"/>
          </a:xfrm>
          <a:prstGeom prst="rect">
            <a:avLst/>
          </a:prstGeom>
          <a:noFill/>
        </p:spPr>
        <p:txBody>
          <a:bodyPr wrap="square" lIns="0" rIns="0" tIns="0" bIns="0">
            <a:spAutoFit/>
          </a:bodyPr>
          <a:lstStyle/>
          <a:p>
            <a:pPr algn="ctr"/>
            <a:r>
              <a:rPr sz="1400" b="0" i="1">
                <a:solidFill>
                  <a:srgbClr val="555B66"/>
                </a:solidFill>
                <a:latin typeface="Calibri"/>
              </a:rPr>
              <a:t>Marginal cost — U-shape (high at low + high Q)</a:t>
            </a:r>
          </a:p>
        </p:txBody>
      </p:sp>
      <p:sp>
        <p:nvSpPr>
          <p:cNvPr id="11" name="Rectangle 10"/>
          <p:cNvSpPr/>
          <p:nvPr/>
        </p:nvSpPr>
        <p:spPr>
          <a:xfrm>
            <a:off x="609447" y="5943600"/>
            <a:ext cx="1097280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Keep MC linear when possible — use the U-shape only when scale really matters</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5" name="TextBox 14"/>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Agenda</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Part 2.2:  Long-Run Costs &amp; Economies of Scale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548640"/>
          </a:xfrm>
          <a:prstGeom prst="rect">
            <a:avLst/>
          </a:prstGeom>
          <a:noFill/>
        </p:spPr>
        <p:txBody>
          <a:bodyPr wrap="square" lIns="0" rIns="0" tIns="0" bIns="0">
            <a:spAutoFit/>
          </a:bodyPr>
          <a:lstStyle/>
          <a:p>
            <a:pPr algn="l"/>
            <a:r>
              <a:rPr sz="3000" b="1" i="0">
                <a:solidFill>
                  <a:srgbClr val="B0B5BC"/>
                </a:solidFill>
                <a:latin typeface="Calibri"/>
              </a:rPr>
              <a:t>Part 1: Production – Picking the Right Inputs</a:t>
            </a:r>
          </a:p>
        </p:txBody>
      </p:sp>
      <p:sp>
        <p:nvSpPr>
          <p:cNvPr id="8" name="TextBox 7"/>
          <p:cNvSpPr txBox="1"/>
          <p:nvPr/>
        </p:nvSpPr>
        <p:spPr>
          <a:xfrm>
            <a:off x="617759" y="2240280"/>
            <a:ext cx="11321937" cy="1234440"/>
          </a:xfrm>
          <a:prstGeom prst="rect">
            <a:avLst/>
          </a:prstGeom>
          <a:noFill/>
        </p:spPr>
        <p:txBody>
          <a:bodyPr wrap="square" lIns="0" rIns="0" tIns="0" bIns="0">
            <a:spAutoFit/>
          </a:bodyPr>
          <a:lstStyle/>
          <a:p>
            <a:pPr algn="l" marL="457200" indent="-457200">
              <a:buClr>
                <a:srgbClr val="B0B5BC"/>
              </a:buClr>
              <a:buFont typeface="Calibri"/>
              <a:buAutoNum type="alphaLcPeriod"/>
            </a:pPr>
            <a:r>
              <a:rPr sz="2400" b="0">
                <a:solidFill>
                  <a:srgbClr val="B0B5BC"/>
                </a:solidFill>
                <a:latin typeface="Calibri"/>
              </a:rPr>
              <a:t>Production Function</a:t>
            </a:r>
          </a:p>
          <a:p>
            <a:pPr algn="l" marL="457200" indent="-457200">
              <a:spcBef>
                <a:spcPts val="300"/>
              </a:spcBef>
              <a:buClr>
                <a:srgbClr val="B0B5BC"/>
              </a:buClr>
              <a:buFont typeface="Calibri"/>
              <a:buAutoNum type="alphaLcPeriod"/>
            </a:pPr>
            <a:r>
              <a:rPr sz="2400" b="0">
                <a:solidFill>
                  <a:srgbClr val="B0B5BC"/>
                </a:solidFill>
                <a:latin typeface="Calibri"/>
              </a:rPr>
              <a:t>Short Run – Hiring Decisions</a:t>
            </a:r>
          </a:p>
          <a:p>
            <a:pPr algn="l" marL="457200" indent="-457200">
              <a:spcBef>
                <a:spcPts val="300"/>
              </a:spcBef>
              <a:buClr>
                <a:srgbClr val="B0B5BC"/>
              </a:buClr>
              <a:buFont typeface="Calibri"/>
              <a:buAutoNum type="alphaLcPeriod"/>
            </a:pPr>
            <a:r>
              <a:rPr sz="2400" b="0">
                <a:solidFill>
                  <a:srgbClr val="B0B5BC"/>
                </a:solidFill>
                <a:latin typeface="Calibri"/>
              </a:rPr>
              <a:t>Long Run – Optimal Input Mix</a:t>
            </a:r>
          </a:p>
        </p:txBody>
      </p:sp>
      <p:sp>
        <p:nvSpPr>
          <p:cNvPr id="9" name="TextBox 8"/>
          <p:cNvSpPr txBox="1"/>
          <p:nvPr/>
        </p:nvSpPr>
        <p:spPr>
          <a:xfrm>
            <a:off x="251999" y="3611880"/>
            <a:ext cx="11687697" cy="548640"/>
          </a:xfrm>
          <a:prstGeom prst="rect">
            <a:avLst/>
          </a:prstGeom>
          <a:noFill/>
        </p:spPr>
        <p:txBody>
          <a:bodyPr wrap="square" lIns="0" rIns="0" tIns="0" bIns="0">
            <a:spAutoFit/>
          </a:bodyPr>
          <a:lstStyle/>
          <a:p>
            <a:pPr algn="l"/>
            <a:r>
              <a:rPr sz="3000" b="1" i="0">
                <a:solidFill>
                  <a:srgbClr val="0B2B4E"/>
                </a:solidFill>
                <a:latin typeface="Calibri"/>
              </a:rPr>
              <a:t>Part 2: Costs – Producing at the Lowest Price</a:t>
            </a:r>
          </a:p>
        </p:txBody>
      </p:sp>
      <p:sp>
        <p:nvSpPr>
          <p:cNvPr id="10" name="TextBox 9"/>
          <p:cNvSpPr txBox="1"/>
          <p:nvPr/>
        </p:nvSpPr>
        <p:spPr>
          <a:xfrm>
            <a:off x="617759" y="4160520"/>
            <a:ext cx="11321937" cy="1234440"/>
          </a:xfrm>
          <a:prstGeom prst="rect">
            <a:avLst/>
          </a:prstGeom>
          <a:noFill/>
        </p:spPr>
        <p:txBody>
          <a:bodyPr wrap="square" lIns="0" rIns="0" tIns="0" bIns="0">
            <a:spAutoFit/>
          </a:bodyPr>
          <a:lstStyle/>
          <a:p>
            <a:pPr algn="l" marL="457200" indent="-457200">
              <a:buClr>
                <a:srgbClr val="0B2B4E"/>
              </a:buClr>
              <a:buFont typeface="Calibri"/>
              <a:buAutoNum type="alphaLcPeriod"/>
            </a:pPr>
            <a:r>
              <a:rPr sz="2400" b="0">
                <a:solidFill>
                  <a:srgbClr val="0B2B4E"/>
                </a:solidFill>
                <a:latin typeface="Calibri"/>
              </a:rPr>
              <a:t>Cost Concepts</a:t>
            </a:r>
          </a:p>
          <a:p>
            <a:pPr algn="l" marL="457200" indent="-457200">
              <a:spcBef>
                <a:spcPts val="300"/>
              </a:spcBef>
              <a:buClr>
                <a:srgbClr val="0B2B4E"/>
              </a:buClr>
              <a:buFont typeface="Calibri"/>
              <a:buAutoNum type="alphaLcPeriod"/>
            </a:pPr>
            <a:r>
              <a:rPr sz="2400" b="0">
                <a:solidFill>
                  <a:srgbClr val="0B2B4E"/>
                </a:solidFill>
                <a:latin typeface="Calibri"/>
              </a:rPr>
              <a:t>Scale &amp; Scope</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Long-Run &amp; Scale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Short-Run vs. Long-Run Costs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1999" y="1828800"/>
            <a:ext cx="5486400" cy="77724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Calibri"/>
              </a:rPr>
              <a:t>Short Run</a:t>
            </a:r>
          </a:p>
        </p:txBody>
      </p:sp>
      <p:sp>
        <p:nvSpPr>
          <p:cNvPr id="8" name="Rectangle 7"/>
          <p:cNvSpPr/>
          <p:nvPr/>
        </p:nvSpPr>
        <p:spPr>
          <a:xfrm>
            <a:off x="5921279" y="1828800"/>
            <a:ext cx="5486400" cy="77724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Calibri"/>
              </a:rPr>
              <a:t>Long Run</a:t>
            </a:r>
          </a:p>
        </p:txBody>
      </p:sp>
      <p:sp>
        <p:nvSpPr>
          <p:cNvPr id="9" name="TextBox 8"/>
          <p:cNvSpPr txBox="1"/>
          <p:nvPr/>
        </p:nvSpPr>
        <p:spPr>
          <a:xfrm>
            <a:off x="343439" y="2834640"/>
            <a:ext cx="5303520" cy="548640"/>
          </a:xfrm>
          <a:prstGeom prst="rect">
            <a:avLst/>
          </a:prstGeom>
          <a:noFill/>
        </p:spPr>
        <p:txBody>
          <a:bodyPr wrap="square" lIns="0" rIns="0" tIns="0" bIns="0">
            <a:spAutoFit/>
          </a:bodyPr>
          <a:lstStyle/>
          <a:p>
            <a:pPr algn="l"/>
            <a:r>
              <a:rPr sz="1800" b="0" i="0">
                <a:solidFill>
                  <a:srgbClr val="0B2B4E"/>
                </a:solidFill>
                <a:latin typeface="Calibri"/>
              </a:rPr>
              <a:t>Capital  (K)  is FIXED</a:t>
            </a:r>
          </a:p>
        </p:txBody>
      </p:sp>
      <p:sp>
        <p:nvSpPr>
          <p:cNvPr id="10" name="TextBox 9"/>
          <p:cNvSpPr txBox="1"/>
          <p:nvPr/>
        </p:nvSpPr>
        <p:spPr>
          <a:xfrm>
            <a:off x="6012719" y="2834640"/>
            <a:ext cx="5303520" cy="548640"/>
          </a:xfrm>
          <a:prstGeom prst="rect">
            <a:avLst/>
          </a:prstGeom>
          <a:noFill/>
        </p:spPr>
        <p:txBody>
          <a:bodyPr wrap="square" lIns="0" rIns="0" tIns="0" bIns="0">
            <a:spAutoFit/>
          </a:bodyPr>
          <a:lstStyle/>
          <a:p>
            <a:pPr algn="l"/>
            <a:r>
              <a:rPr sz="1800" b="0" i="0">
                <a:solidFill>
                  <a:srgbClr val="0B2B4E"/>
                </a:solidFill>
                <a:latin typeface="Calibri"/>
              </a:rPr>
              <a:t>BOTH K and L flexible</a:t>
            </a:r>
          </a:p>
        </p:txBody>
      </p:sp>
      <p:sp>
        <p:nvSpPr>
          <p:cNvPr id="11" name="TextBox 10"/>
          <p:cNvSpPr txBox="1"/>
          <p:nvPr/>
        </p:nvSpPr>
        <p:spPr>
          <a:xfrm>
            <a:off x="343439" y="3474720"/>
            <a:ext cx="5303520" cy="548640"/>
          </a:xfrm>
          <a:prstGeom prst="rect">
            <a:avLst/>
          </a:prstGeom>
          <a:noFill/>
        </p:spPr>
        <p:txBody>
          <a:bodyPr wrap="square" lIns="0" rIns="0" tIns="0" bIns="0">
            <a:spAutoFit/>
          </a:bodyPr>
          <a:lstStyle/>
          <a:p>
            <a:pPr algn="l"/>
            <a:r>
              <a:rPr sz="1800" b="0" i="0">
                <a:solidFill>
                  <a:srgbClr val="0B2B4E"/>
                </a:solidFill>
                <a:latin typeface="Calibri"/>
              </a:rPr>
              <a:t>Labor  (L)  is flexible</a:t>
            </a:r>
          </a:p>
        </p:txBody>
      </p:sp>
      <p:sp>
        <p:nvSpPr>
          <p:cNvPr id="12" name="TextBox 11"/>
          <p:cNvSpPr txBox="1"/>
          <p:nvPr/>
        </p:nvSpPr>
        <p:spPr>
          <a:xfrm>
            <a:off x="6012719" y="3474720"/>
            <a:ext cx="5303520" cy="548640"/>
          </a:xfrm>
          <a:prstGeom prst="rect">
            <a:avLst/>
          </a:prstGeom>
          <a:noFill/>
        </p:spPr>
        <p:txBody>
          <a:bodyPr wrap="square" lIns="0" rIns="0" tIns="0" bIns="0">
            <a:spAutoFit/>
          </a:bodyPr>
          <a:lstStyle/>
          <a:p>
            <a:pPr algn="l"/>
            <a:r>
              <a:rPr sz="1800" b="0" i="0">
                <a:solidFill>
                  <a:srgbClr val="0B2B4E"/>
                </a:solidFill>
                <a:latin typeface="Calibri"/>
              </a:rPr>
              <a:t>Choose plant size from scratch</a:t>
            </a:r>
          </a:p>
        </p:txBody>
      </p:sp>
      <p:sp>
        <p:nvSpPr>
          <p:cNvPr id="13" name="TextBox 12"/>
          <p:cNvSpPr txBox="1"/>
          <p:nvPr/>
        </p:nvSpPr>
        <p:spPr>
          <a:xfrm>
            <a:off x="343439" y="4114800"/>
            <a:ext cx="5303520" cy="548640"/>
          </a:xfrm>
          <a:prstGeom prst="rect">
            <a:avLst/>
          </a:prstGeom>
          <a:noFill/>
        </p:spPr>
        <p:txBody>
          <a:bodyPr wrap="square" lIns="0" rIns="0" tIns="0" bIns="0">
            <a:spAutoFit/>
          </a:bodyPr>
          <a:lstStyle/>
          <a:p>
            <a:pPr algn="l"/>
            <a:r>
              <a:rPr sz="1800" b="0" i="0">
                <a:solidFill>
                  <a:srgbClr val="0B2B4E"/>
                </a:solidFill>
                <a:latin typeface="Calibri"/>
              </a:rPr>
              <a:t>Plant size already chosen</a:t>
            </a:r>
          </a:p>
        </p:txBody>
      </p:sp>
      <p:sp>
        <p:nvSpPr>
          <p:cNvPr id="14" name="TextBox 13"/>
          <p:cNvSpPr txBox="1"/>
          <p:nvPr/>
        </p:nvSpPr>
        <p:spPr>
          <a:xfrm>
            <a:off x="6012719" y="4114800"/>
            <a:ext cx="5303520" cy="548640"/>
          </a:xfrm>
          <a:prstGeom prst="rect">
            <a:avLst/>
          </a:prstGeom>
          <a:noFill/>
        </p:spPr>
        <p:txBody>
          <a:bodyPr wrap="square" lIns="0" rIns="0" tIns="0" bIns="0">
            <a:spAutoFit/>
          </a:bodyPr>
          <a:lstStyle/>
          <a:p>
            <a:pPr algn="l"/>
            <a:r>
              <a:rPr sz="1800" b="0" i="0">
                <a:solidFill>
                  <a:srgbClr val="0B2B4E"/>
                </a:solidFill>
                <a:latin typeface="Calibri"/>
              </a:rPr>
              <a:t>Pick the optimal input mix for each Q</a:t>
            </a:r>
          </a:p>
        </p:txBody>
      </p:sp>
      <p:sp>
        <p:nvSpPr>
          <p:cNvPr id="15" name="TextBox 14"/>
          <p:cNvSpPr txBox="1"/>
          <p:nvPr/>
        </p:nvSpPr>
        <p:spPr>
          <a:xfrm>
            <a:off x="343439" y="4754880"/>
            <a:ext cx="5303520" cy="548640"/>
          </a:xfrm>
          <a:prstGeom prst="rect">
            <a:avLst/>
          </a:prstGeom>
          <a:noFill/>
        </p:spPr>
        <p:txBody>
          <a:bodyPr wrap="square" lIns="0" rIns="0" tIns="0" bIns="0">
            <a:spAutoFit/>
          </a:bodyPr>
          <a:lstStyle/>
          <a:p>
            <a:pPr algn="l"/>
            <a:r>
              <a:rPr sz="1800" b="0" i="0">
                <a:solidFill>
                  <a:srgbClr val="0B2B4E"/>
                </a:solidFill>
                <a:latin typeface="Calibri"/>
              </a:rPr>
              <a:t>→  Cost of changing Q given the plant you have</a:t>
            </a:r>
          </a:p>
        </p:txBody>
      </p:sp>
      <p:sp>
        <p:nvSpPr>
          <p:cNvPr id="16" name="TextBox 15"/>
          <p:cNvSpPr txBox="1"/>
          <p:nvPr/>
        </p:nvSpPr>
        <p:spPr>
          <a:xfrm>
            <a:off x="6012719" y="4754880"/>
            <a:ext cx="5303520" cy="548640"/>
          </a:xfrm>
          <a:prstGeom prst="rect">
            <a:avLst/>
          </a:prstGeom>
          <a:noFill/>
        </p:spPr>
        <p:txBody>
          <a:bodyPr wrap="square" lIns="0" rIns="0" tIns="0" bIns="0">
            <a:spAutoFit/>
          </a:bodyPr>
          <a:lstStyle/>
          <a:p>
            <a:pPr algn="l"/>
            <a:r>
              <a:rPr sz="1800" b="0" i="0">
                <a:solidFill>
                  <a:srgbClr val="0B2B4E"/>
                </a:solidFill>
                <a:latin typeface="Calibri"/>
              </a:rPr>
              <a:t>→  Lowest cost of producing any Q</a:t>
            </a:r>
          </a:p>
        </p:txBody>
      </p:sp>
      <p:sp>
        <p:nvSpPr>
          <p:cNvPr id="17" name="TextBox 16"/>
          <p:cNvSpPr txBox="1"/>
          <p:nvPr/>
        </p:nvSpPr>
        <p:spPr>
          <a:xfrm>
            <a:off x="2895447" y="5074920"/>
            <a:ext cx="6400800" cy="640080"/>
          </a:xfrm>
          <a:prstGeom prst="rect">
            <a:avLst/>
          </a:prstGeom>
          <a:solidFill>
            <a:srgbClr val="0B2B4E"/>
          </a:solidFill>
        </p:spPr>
        <p:txBody>
          <a:bodyPr wrap="square" anchor="ctr">
            <a:spAutoFit/>
          </a:bodyPr>
          <a:lstStyle/>
          <a:p xmlns:m="http://schemas.openxmlformats.org/officeDocument/2006/math" xmlns:a14="http://schemas.microsoft.com/office/drawing/2010/main">
            <a:pPr algn="ctr">
              <a:defRPr sz="2600" b="0" i="1">
                <a:solidFill>
                  <a:srgbClr val="FFFFFF"/>
                </a:solidFill>
                <a:latin typeface="Cambria Math"/>
              </a:defRPr>
            </a:pPr>
            <a14:m>
              <m:oMathPara>
                <m:oMathParaPr>
                  <m:jc m:val="centerGroup"/>
                </m:oMathParaPr>
                <m:oMath>
                  <m:r>
                    <m:rPr>
                      <m:sty m:val="p"/>
                    </m:rPr>
                    <a:rPr lang="en-US" b="0" i="0" sz="2600">
                      <a:latin typeface="Cambria Math"/>
                      <a:solidFill>
                        <a:srgbClr val="FFFFFF"/>
                      </a:solidFill>
                    </a:rPr>
                    <m:t xml:space="preserve">TC</m:t>
                  </m:r>
                  <m:sSub>
                    <m:sSubPr>
                      <m:ctrlPr>
                        <a:rPr lang="en-US" i="1">
                          <a:latin typeface="Cambria Math"/>
                        </a:rPr>
                      </m:ctrlPr>
                    </m:sSubPr>
                    <m:e>
                      <m:r>
                        <m:rPr>
                          <m:sty m:val="p"/>
                        </m:rPr>
                        <a:rPr lang="en-US" b="0" i="0" sz="2600">
                          <a:latin typeface="Cambria Math"/>
                          <a:solidFill>
                            <a:srgbClr val="FFFFFF"/>
                          </a:solidFill>
                        </a:rPr>
                        <m:t xml:space="preserve"/>
                      </m:r>
                    </m:e>
                    <m:sub>
                      <m:r>
                        <m:rPr>
                          <m:sty m:val="p"/>
                        </m:rPr>
                        <a:rPr lang="en-US" b="0" i="0" sz="2600">
                          <a:latin typeface="Cambria Math"/>
                          <a:solidFill>
                            <a:srgbClr val="FFFFFF"/>
                          </a:solidFill>
                        </a:rPr>
                        <m:t xml:space="preserve">SR</m:t>
                      </m:r>
                    </m:sub>
                  </m:sSub>
                  <m:r>
                    <m:rPr>
                      <m:sty m:val="p"/>
                    </m:rPr>
                    <a:rPr lang="en-US" b="0" i="0" sz="2600">
                      <a:latin typeface="Cambria Math"/>
                      <a:solidFill>
                        <a:srgbClr val="FFFFFF"/>
                      </a:solidFill>
                    </a:rPr>
                    <m:t xml:space="preserve">  ≥  </m:t>
                  </m:r>
                  <m:r>
                    <m:rPr>
                      <m:sty m:val="p"/>
                    </m:rPr>
                    <a:rPr lang="en-US" b="0" i="0" sz="2600">
                      <a:latin typeface="Cambria Math"/>
                      <a:solidFill>
                        <a:srgbClr val="FFFFFF"/>
                      </a:solidFill>
                    </a:rPr>
                    <m:t xml:space="preserve">TC</m:t>
                  </m:r>
                  <m:sSub>
                    <m:sSubPr>
                      <m:ctrlPr>
                        <a:rPr lang="en-US" i="1">
                          <a:latin typeface="Cambria Math"/>
                        </a:rPr>
                      </m:ctrlPr>
                    </m:sSubPr>
                    <m:e>
                      <m:r>
                        <m:rPr>
                          <m:sty m:val="p"/>
                        </m:rPr>
                        <a:rPr lang="en-US" b="0" i="0" sz="2600">
                          <a:latin typeface="Cambria Math"/>
                          <a:solidFill>
                            <a:srgbClr val="FFFFFF"/>
                          </a:solidFill>
                        </a:rPr>
                        <m:t xml:space="preserve"/>
                      </m:r>
                    </m:e>
                    <m:sub>
                      <m:r>
                        <m:rPr>
                          <m:sty m:val="p"/>
                        </m:rPr>
                        <a:rPr lang="en-US" b="0" i="0" sz="2600">
                          <a:latin typeface="Cambria Math"/>
                          <a:solidFill>
                            <a:srgbClr val="FFFFFF"/>
                          </a:solidFill>
                        </a:rPr>
                        <m:t xml:space="preserve">LR</m:t>
                      </m:r>
                    </m:sub>
                  </m:sSub>
                </m:oMath>
              </m:oMathPara>
            </a14:m>
            <a:endParaRPr lang="en-US" sz="2600"/>
          </a:p>
        </p:txBody>
      </p:sp>
      <p:sp>
        <p:nvSpPr>
          <p:cNvPr id="18" name="Rectangle 17"/>
          <p:cNvSpPr/>
          <p:nvPr/>
        </p:nvSpPr>
        <p:spPr>
          <a:xfrm>
            <a:off x="1066647" y="5943600"/>
            <a:ext cx="1005840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Long-run costs are the lower envelope:  more freedom  ⇒  weakly cheaper</a:t>
            </a:r>
          </a:p>
        </p:txBody>
      </p:sp>
      <p:sp>
        <p:nvSpPr>
          <p:cNvPr id="19" name="Rectangle 1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22" name="TextBox 21"/>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Long-Run &amp; Scale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LR Average Cost is the Lower Envelope of SR Curves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1097280" y="5303520"/>
            <a:ext cx="10332720" cy="0"/>
          </a:xfrm>
          <a:prstGeom prst="line">
            <a:avLst/>
          </a:prstGeom>
          <a:ln w="190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097280" y="1920240"/>
            <a:ext cx="0" cy="3383280"/>
          </a:xfrm>
          <a:prstGeom prst="line">
            <a:avLst/>
          </a:prstGeom>
          <a:ln w="190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07040" y="5349240"/>
            <a:ext cx="914400" cy="274320"/>
          </a:xfrm>
          <a:prstGeom prst="rect">
            <a:avLst/>
          </a:prstGeom>
          <a:noFill/>
        </p:spPr>
        <p:txBody>
          <a:bodyPr wrap="square" lIns="0" rIns="0" tIns="0" bIns="0">
            <a:spAutoFit/>
          </a:bodyPr>
          <a:lstStyle/>
          <a:p>
            <a:pPr algn="l"/>
            <a:r>
              <a:rPr sz="1400" b="0" i="1">
                <a:solidFill>
                  <a:srgbClr val="555B66"/>
                </a:solidFill>
                <a:latin typeface="Calibri"/>
              </a:rPr>
              <a:t>Q  (output)</a:t>
            </a:r>
          </a:p>
        </p:txBody>
      </p:sp>
      <p:sp>
        <p:nvSpPr>
          <p:cNvPr id="10" name="TextBox 9"/>
          <p:cNvSpPr txBox="1"/>
          <p:nvPr/>
        </p:nvSpPr>
        <p:spPr>
          <a:xfrm>
            <a:off x="274320" y="1874520"/>
            <a:ext cx="914400" cy="274320"/>
          </a:xfrm>
          <a:prstGeom prst="rect">
            <a:avLst/>
          </a:prstGeom>
          <a:noFill/>
        </p:spPr>
        <p:txBody>
          <a:bodyPr wrap="square" lIns="0" rIns="0" tIns="0" bIns="0">
            <a:spAutoFit/>
          </a:bodyPr>
          <a:lstStyle/>
          <a:p>
            <a:pPr algn="r"/>
            <a:r>
              <a:rPr sz="1400" b="0" i="1">
                <a:solidFill>
                  <a:srgbClr val="555B66"/>
                </a:solidFill>
                <a:latin typeface="Calibri"/>
              </a:rPr>
              <a:t>$ / unit</a:t>
            </a:r>
          </a:p>
        </p:txBody>
      </p:sp>
      <p:sp>
        <p:nvSpPr>
          <p:cNvPr id="11" name="Rectangle 10"/>
          <p:cNvSpPr/>
          <p:nvPr/>
        </p:nvSpPr>
        <p:spPr>
          <a:xfrm>
            <a:off x="1613916" y="2427732"/>
            <a:ext cx="2789834" cy="1353312"/>
          </a:xfrm>
          <a:custGeom>
            <a:avLst/>
            <a:gdLst/>
            <a:ahLst/>
            <a:cxnLst/>
            <a:rect l="0" t="0" r="100000" b="100000"/>
            <a:pathLst>
              <a:path w="100000" h="100000" fill="none" stroke="1">
                <a:moveTo>
                  <a:pt x="0" y="0"/>
                </a:moveTo>
                <a:cubicBezTo>
                  <a:pt x="5000" y="70000"/>
                  <a:pt x="35000" y="100000"/>
                  <a:pt x="50000" y="100000"/>
                </a:cubicBezTo>
                <a:cubicBezTo>
                  <a:pt x="65000" y="100000"/>
                  <a:pt x="95000" y="73750"/>
                  <a:pt x="100000" y="12500"/>
                </a:cubicBezTo>
              </a:path>
            </a:pathLst>
          </a:custGeom>
          <a:noFill/>
          <a:ln w="28575">
            <a:solidFill>
              <a:srgbClr val="555B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85873" y="3369564"/>
            <a:ext cx="1645920" cy="274320"/>
          </a:xfrm>
          <a:prstGeom prst="rect">
            <a:avLst/>
          </a:prstGeom>
          <a:noFill/>
        </p:spPr>
        <p:txBody>
          <a:bodyPr wrap="square" lIns="0" rIns="0" tIns="0" bIns="0">
            <a:spAutoFit/>
          </a:bodyPr>
          <a:lstStyle/>
          <a:p>
            <a:pPr algn="ctr"/>
            <a:r>
              <a:rPr sz="1200" b="0" i="1">
                <a:solidFill>
                  <a:srgbClr val="555B66"/>
                </a:solidFill>
                <a:latin typeface="Calibri"/>
              </a:rPr>
              <a:t>SAC  (small plant)</a:t>
            </a:r>
          </a:p>
        </p:txBody>
      </p:sp>
      <p:sp>
        <p:nvSpPr>
          <p:cNvPr id="13" name="Rectangle 12"/>
          <p:cNvSpPr/>
          <p:nvPr/>
        </p:nvSpPr>
        <p:spPr>
          <a:xfrm>
            <a:off x="4197096" y="2766060"/>
            <a:ext cx="3306470" cy="1353312"/>
          </a:xfrm>
          <a:custGeom>
            <a:avLst/>
            <a:gdLst/>
            <a:ahLst/>
            <a:cxnLst/>
            <a:rect l="0" t="0" r="100000" b="100000"/>
            <a:pathLst>
              <a:path w="100000" h="100000" fill="none" stroke="1">
                <a:moveTo>
                  <a:pt x="0" y="0"/>
                </a:moveTo>
                <a:cubicBezTo>
                  <a:pt x="5000" y="70000"/>
                  <a:pt x="35000" y="100000"/>
                  <a:pt x="50000" y="100000"/>
                </a:cubicBezTo>
                <a:cubicBezTo>
                  <a:pt x="65000" y="100000"/>
                  <a:pt x="95000" y="73750"/>
                  <a:pt x="100000" y="12500"/>
                </a:cubicBezTo>
              </a:path>
            </a:pathLst>
          </a:custGeom>
          <a:noFill/>
          <a:ln w="28575">
            <a:solidFill>
              <a:srgbClr val="555B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7371" y="3707892"/>
            <a:ext cx="1645920" cy="274320"/>
          </a:xfrm>
          <a:prstGeom prst="rect">
            <a:avLst/>
          </a:prstGeom>
          <a:noFill/>
        </p:spPr>
        <p:txBody>
          <a:bodyPr wrap="square" lIns="0" rIns="0" tIns="0" bIns="0">
            <a:spAutoFit/>
          </a:bodyPr>
          <a:lstStyle/>
          <a:p>
            <a:pPr algn="ctr"/>
            <a:r>
              <a:rPr sz="1200" b="0" i="1">
                <a:solidFill>
                  <a:srgbClr val="555B66"/>
                </a:solidFill>
                <a:latin typeface="Calibri"/>
              </a:rPr>
              <a:t>SAC  (medium plant)</a:t>
            </a:r>
          </a:p>
        </p:txBody>
      </p:sp>
      <p:sp>
        <p:nvSpPr>
          <p:cNvPr id="15" name="Rectangle 14"/>
          <p:cNvSpPr/>
          <p:nvPr/>
        </p:nvSpPr>
        <p:spPr>
          <a:xfrm>
            <a:off x="7296912" y="3104388"/>
            <a:ext cx="3616452" cy="1353312"/>
          </a:xfrm>
          <a:custGeom>
            <a:avLst/>
            <a:gdLst/>
            <a:ahLst/>
            <a:cxnLst/>
            <a:rect l="0" t="0" r="100000" b="100000"/>
            <a:pathLst>
              <a:path w="100000" h="100000" fill="none" stroke="1">
                <a:moveTo>
                  <a:pt x="0" y="0"/>
                </a:moveTo>
                <a:cubicBezTo>
                  <a:pt x="5000" y="70000"/>
                  <a:pt x="35000" y="100000"/>
                  <a:pt x="50000" y="100000"/>
                </a:cubicBezTo>
                <a:cubicBezTo>
                  <a:pt x="65000" y="100000"/>
                  <a:pt x="95000" y="73750"/>
                  <a:pt x="100000" y="12500"/>
                </a:cubicBezTo>
              </a:path>
            </a:pathLst>
          </a:custGeom>
          <a:noFill/>
          <a:ln w="28575">
            <a:solidFill>
              <a:srgbClr val="555B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2178" y="4046220"/>
            <a:ext cx="1645920" cy="274320"/>
          </a:xfrm>
          <a:prstGeom prst="rect">
            <a:avLst/>
          </a:prstGeom>
          <a:noFill/>
        </p:spPr>
        <p:txBody>
          <a:bodyPr wrap="square" lIns="0" rIns="0" tIns="0" bIns="0">
            <a:spAutoFit/>
          </a:bodyPr>
          <a:lstStyle/>
          <a:p>
            <a:pPr algn="ctr"/>
            <a:r>
              <a:rPr sz="1200" b="0" i="1">
                <a:solidFill>
                  <a:srgbClr val="555B66"/>
                </a:solidFill>
                <a:latin typeface="Calibri"/>
              </a:rPr>
              <a:t>SAC  (large plant)</a:t>
            </a:r>
          </a:p>
        </p:txBody>
      </p:sp>
      <p:cxnSp>
        <p:nvCxnSpPr>
          <p:cNvPr id="17" name="Connector 16"/>
          <p:cNvCxnSpPr/>
          <p:nvPr/>
        </p:nvCxnSpPr>
        <p:spPr>
          <a:xfrm>
            <a:off x="3008833" y="3781044"/>
            <a:ext cx="2841498" cy="338328"/>
          </a:xfrm>
          <a:prstGeom prst="line">
            <a:avLst/>
          </a:prstGeom>
          <a:ln w="38100">
            <a:solidFill>
              <a:srgbClr val="E09F3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850331" y="4119372"/>
            <a:ext cx="3254807" cy="338328"/>
          </a:xfrm>
          <a:prstGeom prst="line">
            <a:avLst/>
          </a:prstGeom>
          <a:ln w="38100">
            <a:solidFill>
              <a:srgbClr val="E09F3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052560" y="3954780"/>
            <a:ext cx="2286000" cy="274320"/>
          </a:xfrm>
          <a:prstGeom prst="rect">
            <a:avLst/>
          </a:prstGeom>
          <a:noFill/>
        </p:spPr>
        <p:txBody>
          <a:bodyPr wrap="square" lIns="0" rIns="0" tIns="0" bIns="0">
            <a:spAutoFit/>
          </a:bodyPr>
          <a:lstStyle/>
          <a:p>
            <a:pPr algn="l"/>
            <a:r>
              <a:rPr sz="1400" b="1" i="1">
                <a:solidFill>
                  <a:srgbClr val="E09F3E"/>
                </a:solidFill>
                <a:latin typeface="Calibri"/>
              </a:rPr>
              <a:t>LAC  =  lower envelope</a:t>
            </a:r>
          </a:p>
        </p:txBody>
      </p:sp>
      <p:sp>
        <p:nvSpPr>
          <p:cNvPr id="20" name="Rectangle 19"/>
          <p:cNvSpPr/>
          <p:nvPr/>
        </p:nvSpPr>
        <p:spPr>
          <a:xfrm>
            <a:off x="609447" y="5852160"/>
            <a:ext cx="1097280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LR-AC is the lower envelope of all SAC curves:  pick the best plant for each Q</a:t>
            </a:r>
          </a:p>
        </p:txBody>
      </p:sp>
      <p:sp>
        <p:nvSpPr>
          <p:cNvPr id="21" name="Rectangle 2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24" name="TextBox 23"/>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Long-Run &amp; Scale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Economies of Scale:  Three Possible Patterns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502920"/>
          </a:xfrm>
          <a:prstGeom prst="rect">
            <a:avLst/>
          </a:prstGeom>
          <a:noFill/>
        </p:spPr>
        <p:txBody>
          <a:bodyPr wrap="square" lIns="0" rIns="0" tIns="0" bIns="0">
            <a:spAutoFit/>
          </a:bodyPr>
          <a:lstStyle/>
          <a:p>
            <a:pPr algn="ctr"/>
            <a:r>
              <a:rPr sz="2400" b="0" i="1">
                <a:solidFill>
                  <a:srgbClr val="555B66"/>
                </a:solidFill>
                <a:latin typeface="Calibri"/>
              </a:rPr>
              <a:t>What happens to long-run AC as output grows?</a:t>
            </a:r>
          </a:p>
        </p:txBody>
      </p:sp>
      <p:sp>
        <p:nvSpPr>
          <p:cNvPr id="8" name="Rectangle 7"/>
          <p:cNvSpPr/>
          <p:nvPr/>
        </p:nvSpPr>
        <p:spPr>
          <a:xfrm>
            <a:off x="380847" y="2560320"/>
            <a:ext cx="3657600" cy="182880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Economies of Scale
LAC FALLS with Q
(bigger ⇒ cheaper / unit)</a:t>
            </a:r>
          </a:p>
        </p:txBody>
      </p:sp>
      <p:sp>
        <p:nvSpPr>
          <p:cNvPr id="9" name="Rectangle 8"/>
          <p:cNvSpPr/>
          <p:nvPr/>
        </p:nvSpPr>
        <p:spPr>
          <a:xfrm>
            <a:off x="4267047" y="2560320"/>
            <a:ext cx="3657600" cy="1828800"/>
          </a:xfrm>
          <a:prstGeom prst="rect">
            <a:avLst/>
          </a:prstGeom>
          <a:solidFill>
            <a:srgbClr val="555B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Constant Returns
LAC is FLAT in Q
(size doesn't matter)</a:t>
            </a:r>
          </a:p>
        </p:txBody>
      </p:sp>
      <p:sp>
        <p:nvSpPr>
          <p:cNvPr id="10" name="Rectangle 9"/>
          <p:cNvSpPr/>
          <p:nvPr/>
        </p:nvSpPr>
        <p:spPr>
          <a:xfrm>
            <a:off x="8153247" y="2560320"/>
            <a:ext cx="3657600" cy="182880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Diseconomies of Scale
LAC RISES with Q
(too big to manage)</a:t>
            </a:r>
          </a:p>
        </p:txBody>
      </p:sp>
      <p:sp>
        <p:nvSpPr>
          <p:cNvPr id="11" name="TextBox 10"/>
          <p:cNvSpPr txBox="1"/>
          <p:nvPr/>
        </p:nvSpPr>
        <p:spPr>
          <a:xfrm>
            <a:off x="251999" y="4617720"/>
            <a:ext cx="11687697" cy="365760"/>
          </a:xfrm>
          <a:prstGeom prst="rect">
            <a:avLst/>
          </a:prstGeom>
          <a:noFill/>
        </p:spPr>
        <p:txBody>
          <a:bodyPr wrap="square" lIns="0" rIns="0" tIns="0" bIns="0">
            <a:spAutoFit/>
          </a:bodyPr>
          <a:lstStyle/>
          <a:p>
            <a:pPr algn="ctr"/>
            <a:r>
              <a:rPr sz="1800" b="1" i="0">
                <a:solidFill>
                  <a:srgbClr val="0B2B4E"/>
                </a:solidFill>
                <a:latin typeface="Calibri"/>
              </a:rPr>
              <a:t>Why?  Two big drivers of economies of scale:</a:t>
            </a:r>
          </a:p>
        </p:txBody>
      </p:sp>
      <p:sp>
        <p:nvSpPr>
          <p:cNvPr id="12" name="TextBox 11"/>
          <p:cNvSpPr txBox="1"/>
          <p:nvPr/>
        </p:nvSpPr>
        <p:spPr>
          <a:xfrm>
            <a:off x="251999" y="5029200"/>
            <a:ext cx="11687697" cy="365760"/>
          </a:xfrm>
          <a:prstGeom prst="rect">
            <a:avLst/>
          </a:prstGeom>
          <a:noFill/>
        </p:spPr>
        <p:txBody>
          <a:bodyPr wrap="square" lIns="0" rIns="0" tIns="0" bIns="0">
            <a:spAutoFit/>
          </a:bodyPr>
          <a:lstStyle/>
          <a:p>
            <a:pPr algn="ctr"/>
            <a:r>
              <a:rPr sz="1600" b="0" i="1">
                <a:solidFill>
                  <a:srgbClr val="555B66"/>
                </a:solidFill>
                <a:latin typeface="Calibri"/>
              </a:rPr>
              <a:t>(1) input prices fall as you grow      (2) technology favours larger scale (increasing returns)</a:t>
            </a:r>
          </a:p>
        </p:txBody>
      </p:sp>
      <p:sp>
        <p:nvSpPr>
          <p:cNvPr id="13" name="Rectangle 12"/>
          <p:cNvSpPr/>
          <p:nvPr/>
        </p:nvSpPr>
        <p:spPr>
          <a:xfrm>
            <a:off x="609447" y="5852160"/>
            <a:ext cx="1097280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Economies of scale is a COST concept;  returns to scale is a TECHNOLOGY concept</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7" name="TextBox 16"/>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Long-Run &amp; Scale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Technological Reasons for Economies of Scale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572000"/>
          </a:xfrm>
          <a:prstGeom prst="rect">
            <a:avLst/>
          </a:prstGeom>
          <a:noFill/>
        </p:spPr>
        <p:txBody>
          <a:bodyPr wrap="square" lIns="0" rIns="0" tIns="0" bIns="0">
            <a:spAutoFit/>
          </a:bodyPr>
          <a:lstStyle>
            <a:lvl1pPr marL="342900" indent="-342900">
              <a:spcBef>
                <a:spcPts val="10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Specialisation and division of labor</a:t>
            </a:r>
          </a:p>
          <a:p>
            <a:pPr algn="l" lvl="1"/>
            <a:r>
              <a:rPr>
                <a:latin typeface="Calibri"/>
              </a:rPr>
              <a:t>E.g., Ford assembly line vs. one craftsman building the whole car</a:t>
            </a:r>
          </a:p>
          <a:p>
            <a:pPr algn="l"/>
            <a:r>
              <a:rPr>
                <a:latin typeface="Calibri"/>
              </a:rPr>
              <a:t>Lumpiness / indivisibilities of inputs</a:t>
            </a:r>
          </a:p>
          <a:p>
            <a:pPr algn="l" lvl="1"/>
            <a:r>
              <a:rPr>
                <a:latin typeface="Calibri"/>
              </a:rPr>
              <a:t>R&amp;D, network infrastructure, brand investment</a:t>
            </a:r>
          </a:p>
          <a:p>
            <a:pPr algn="l" lvl="1"/>
            <a:r>
              <a:rPr>
                <a:latin typeface="Calibri"/>
              </a:rPr>
              <a:t>Same fixed asset serves more customers as scale grows</a:t>
            </a:r>
          </a:p>
          <a:p>
            <a:pPr algn="l"/>
            <a:r>
              <a:rPr>
                <a:latin typeface="Calibri"/>
              </a:rPr>
              <a:t>Geometry — volume scales faster than surface</a:t>
            </a:r>
          </a:p>
          <a:p>
            <a:pPr algn="l" lvl="1"/>
            <a:r>
              <a:rPr>
                <a:latin typeface="Calibri"/>
              </a:rPr>
              <a:t>Cargo ship, aircraft fuselage, pipeline:  capacity grows with r²</a:t>
            </a:r>
          </a:p>
          <a:p>
            <a:pPr algn="l" lvl="1"/>
            <a:r>
              <a:rPr>
                <a:latin typeface="Calibri"/>
              </a:rPr>
              <a:t>Doubling materials more than doubles useful capacity</a:t>
            </a:r>
          </a:p>
          <a:p>
            <a:pPr algn="l"/>
            <a:r>
              <a:rPr>
                <a:latin typeface="Calibri"/>
              </a:rPr>
              <a:t>Appropriate technology shifts with scale</a:t>
            </a:r>
          </a:p>
          <a:p>
            <a:pPr algn="l" lvl="1"/>
            <a:r>
              <a:rPr>
                <a:latin typeface="Calibri"/>
              </a:rPr>
              <a:t>Big firms can run dedicated lines, automation, AI/data infra</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1" name="TextBox 10"/>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Long-Run &amp; Scale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Economies of Scale in Aviation:  ERJ-145 vs. 787</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2287" y="1783080"/>
            <a:ext cx="5486400" cy="402336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p>
        </p:txBody>
      </p:sp>
      <p:sp>
        <p:nvSpPr>
          <p:cNvPr id="8" name="TextBox 7"/>
          <p:cNvSpPr txBox="1"/>
          <p:nvPr/>
        </p:nvSpPr>
        <p:spPr>
          <a:xfrm>
            <a:off x="472287" y="1874520"/>
            <a:ext cx="5486400" cy="365760"/>
          </a:xfrm>
          <a:prstGeom prst="rect">
            <a:avLst/>
          </a:prstGeom>
          <a:noFill/>
        </p:spPr>
        <p:txBody>
          <a:bodyPr wrap="square" lIns="0" rIns="0" tIns="0" bIns="0">
            <a:spAutoFit/>
          </a:bodyPr>
          <a:lstStyle/>
          <a:p>
            <a:pPr algn="ctr"/>
            <a:r>
              <a:rPr sz="1800" b="1" i="0">
                <a:solidFill>
                  <a:srgbClr val="0B2B4E"/>
                </a:solidFill>
                <a:latin typeface="Calibri"/>
              </a:rPr>
              <a:t>Embraer ERJ-145  ·  Regional Jet</a:t>
            </a:r>
          </a:p>
        </p:txBody>
      </p:sp>
      <p:pic>
        <p:nvPicPr>
          <p:cNvPr id="9" name="Picture 8" descr="slide69_rId1.png"/>
          <p:cNvPicPr>
            <a:picLocks noChangeAspect="1"/>
          </p:cNvPicPr>
          <p:nvPr/>
        </p:nvPicPr>
        <p:blipFill>
          <a:blip r:embed="rId2"/>
          <a:stretch>
            <a:fillRect/>
          </a:stretch>
        </p:blipFill>
        <p:spPr>
          <a:xfrm>
            <a:off x="746607" y="2286000"/>
            <a:ext cx="4937760" cy="1686193"/>
          </a:xfrm>
          <a:prstGeom prst="rect">
            <a:avLst/>
          </a:prstGeom>
          <a:effectLst>
            <a:outerShdw blurRad="50800" dist="38100" dir="2700000" algn="tl" rotWithShape="0">
              <a:srgbClr val="000000">
                <a:alpha val="45000"/>
              </a:srgbClr>
            </a:outerShdw>
          </a:effectLst>
        </p:spPr>
      </p:pic>
      <p:sp>
        <p:nvSpPr>
          <p:cNvPr id="10" name="TextBox 9"/>
          <p:cNvSpPr txBox="1"/>
          <p:nvPr/>
        </p:nvSpPr>
        <p:spPr>
          <a:xfrm>
            <a:off x="838047" y="3977640"/>
            <a:ext cx="4754880" cy="320040"/>
          </a:xfrm>
          <a:prstGeom prst="rect">
            <a:avLst/>
          </a:prstGeom>
          <a:noFill/>
        </p:spPr>
        <p:txBody>
          <a:bodyPr wrap="square" lIns="0" rIns="0" tIns="0" bIns="0">
            <a:spAutoFit/>
          </a:bodyPr>
          <a:lstStyle/>
          <a:p>
            <a:pPr algn="l"/>
            <a:r>
              <a:rPr sz="1600" b="0" i="0">
                <a:solidFill>
                  <a:srgbClr val="0B2B4E"/>
                </a:solidFill>
                <a:latin typeface="Calibri"/>
              </a:rPr>
              <a:t>List price:    ~ $25 M</a:t>
            </a:r>
          </a:p>
        </p:txBody>
      </p:sp>
      <p:sp>
        <p:nvSpPr>
          <p:cNvPr id="11" name="TextBox 10"/>
          <p:cNvSpPr txBox="1"/>
          <p:nvPr/>
        </p:nvSpPr>
        <p:spPr>
          <a:xfrm>
            <a:off x="838047" y="4343400"/>
            <a:ext cx="4754880" cy="320040"/>
          </a:xfrm>
          <a:prstGeom prst="rect">
            <a:avLst/>
          </a:prstGeom>
          <a:noFill/>
        </p:spPr>
        <p:txBody>
          <a:bodyPr wrap="square" lIns="0" rIns="0" tIns="0" bIns="0">
            <a:spAutoFit/>
          </a:bodyPr>
          <a:lstStyle/>
          <a:p>
            <a:pPr algn="l"/>
            <a:r>
              <a:rPr sz="1600" b="0" i="0">
                <a:solidFill>
                  <a:srgbClr val="0B2B4E"/>
                </a:solidFill>
                <a:latin typeface="Calibri"/>
              </a:rPr>
              <a:t>Seats:           50 passengers</a:t>
            </a:r>
          </a:p>
        </p:txBody>
      </p:sp>
      <p:sp>
        <p:nvSpPr>
          <p:cNvPr id="12" name="TextBox 11"/>
          <p:cNvSpPr txBox="1"/>
          <p:nvPr/>
        </p:nvSpPr>
        <p:spPr>
          <a:xfrm>
            <a:off x="838047" y="4709160"/>
            <a:ext cx="4754880" cy="320040"/>
          </a:xfrm>
          <a:prstGeom prst="rect">
            <a:avLst/>
          </a:prstGeom>
          <a:noFill/>
        </p:spPr>
        <p:txBody>
          <a:bodyPr wrap="square" lIns="0" rIns="0" tIns="0" bIns="0">
            <a:spAutoFit/>
          </a:bodyPr>
          <a:lstStyle/>
          <a:p>
            <a:pPr algn="l"/>
            <a:r>
              <a:rPr sz="1600" b="0" i="0">
                <a:solidFill>
                  <a:srgbClr val="0B2B4E"/>
                </a:solidFill>
                <a:latin typeface="Calibri"/>
              </a:rPr>
              <a:t>Cost / flight-hour:    ~ $1,400</a:t>
            </a:r>
          </a:p>
        </p:txBody>
      </p:sp>
      <p:sp>
        <p:nvSpPr>
          <p:cNvPr id="13" name="TextBox 12"/>
          <p:cNvSpPr txBox="1"/>
          <p:nvPr/>
        </p:nvSpPr>
        <p:spPr>
          <a:xfrm>
            <a:off x="838047" y="5074920"/>
            <a:ext cx="4754880" cy="320040"/>
          </a:xfrm>
          <a:prstGeom prst="rect">
            <a:avLst/>
          </a:prstGeom>
          <a:noFill/>
        </p:spPr>
        <p:txBody>
          <a:bodyPr wrap="square" lIns="0" rIns="0" tIns="0" bIns="0">
            <a:spAutoFit/>
          </a:bodyPr>
          <a:lstStyle/>
          <a:p>
            <a:pPr algn="l"/>
            <a:r>
              <a:rPr sz="1600" b="0" i="0">
                <a:solidFill>
                  <a:srgbClr val="0B2B4E"/>
                </a:solidFill>
                <a:latin typeface="Calibri"/>
              </a:rPr>
              <a:t>Cost / passenger-hour:   ≈ $28</a:t>
            </a:r>
          </a:p>
        </p:txBody>
      </p:sp>
      <p:sp>
        <p:nvSpPr>
          <p:cNvPr id="14" name="Rectangle 13"/>
          <p:cNvSpPr/>
          <p:nvPr/>
        </p:nvSpPr>
        <p:spPr>
          <a:xfrm>
            <a:off x="6233007" y="1783080"/>
            <a:ext cx="5486400" cy="402336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p>
        </p:txBody>
      </p:sp>
      <p:sp>
        <p:nvSpPr>
          <p:cNvPr id="15" name="TextBox 14"/>
          <p:cNvSpPr txBox="1"/>
          <p:nvPr/>
        </p:nvSpPr>
        <p:spPr>
          <a:xfrm>
            <a:off x="6233007" y="1874520"/>
            <a:ext cx="5486400" cy="365760"/>
          </a:xfrm>
          <a:prstGeom prst="rect">
            <a:avLst/>
          </a:prstGeom>
          <a:noFill/>
        </p:spPr>
        <p:txBody>
          <a:bodyPr wrap="square" lIns="0" rIns="0" tIns="0" bIns="0">
            <a:spAutoFit/>
          </a:bodyPr>
          <a:lstStyle/>
          <a:p>
            <a:pPr algn="ctr"/>
            <a:r>
              <a:rPr sz="1800" b="1" i="0">
                <a:solidFill>
                  <a:srgbClr val="0B2B4E"/>
                </a:solidFill>
                <a:latin typeface="Calibri"/>
              </a:rPr>
              <a:t>Boeing 787-9  ·  Wide-Body</a:t>
            </a:r>
          </a:p>
        </p:txBody>
      </p:sp>
      <p:pic>
        <p:nvPicPr>
          <p:cNvPr id="16" name="Picture 15" descr="slide69_rId2.jpg"/>
          <p:cNvPicPr>
            <a:picLocks noChangeAspect="1"/>
          </p:cNvPicPr>
          <p:nvPr/>
        </p:nvPicPr>
        <p:blipFill>
          <a:blip r:embed="rId3"/>
          <a:stretch>
            <a:fillRect/>
          </a:stretch>
        </p:blipFill>
        <p:spPr>
          <a:xfrm>
            <a:off x="6507327" y="2286000"/>
            <a:ext cx="4937760" cy="2820221"/>
          </a:xfrm>
          <a:prstGeom prst="rect">
            <a:avLst/>
          </a:prstGeom>
          <a:effectLst>
            <a:outerShdw blurRad="50800" dist="38100" dir="2700000" algn="tl" rotWithShape="0">
              <a:srgbClr val="000000">
                <a:alpha val="45000"/>
              </a:srgbClr>
            </a:outerShdw>
          </a:effectLst>
        </p:spPr>
      </p:pic>
      <p:sp>
        <p:nvSpPr>
          <p:cNvPr id="17" name="TextBox 16"/>
          <p:cNvSpPr txBox="1"/>
          <p:nvPr/>
        </p:nvSpPr>
        <p:spPr>
          <a:xfrm>
            <a:off x="6598767" y="3977640"/>
            <a:ext cx="4754880" cy="320040"/>
          </a:xfrm>
          <a:prstGeom prst="rect">
            <a:avLst/>
          </a:prstGeom>
          <a:noFill/>
        </p:spPr>
        <p:txBody>
          <a:bodyPr wrap="square" lIns="0" rIns="0" tIns="0" bIns="0">
            <a:spAutoFit/>
          </a:bodyPr>
          <a:lstStyle/>
          <a:p>
            <a:pPr algn="l"/>
            <a:r>
              <a:rPr sz="1600" b="0" i="0">
                <a:solidFill>
                  <a:srgbClr val="0B2B4E"/>
                </a:solidFill>
                <a:latin typeface="Calibri"/>
              </a:rPr>
              <a:t>List price:    ~ $290 M</a:t>
            </a:r>
          </a:p>
        </p:txBody>
      </p:sp>
      <p:sp>
        <p:nvSpPr>
          <p:cNvPr id="18" name="TextBox 17"/>
          <p:cNvSpPr txBox="1"/>
          <p:nvPr/>
        </p:nvSpPr>
        <p:spPr>
          <a:xfrm>
            <a:off x="6598767" y="4343400"/>
            <a:ext cx="4754880" cy="320040"/>
          </a:xfrm>
          <a:prstGeom prst="rect">
            <a:avLst/>
          </a:prstGeom>
          <a:noFill/>
        </p:spPr>
        <p:txBody>
          <a:bodyPr wrap="square" lIns="0" rIns="0" tIns="0" bIns="0">
            <a:spAutoFit/>
          </a:bodyPr>
          <a:lstStyle/>
          <a:p>
            <a:pPr algn="l"/>
            <a:r>
              <a:rPr sz="1600" b="0" i="0">
                <a:solidFill>
                  <a:srgbClr val="0B2B4E"/>
                </a:solidFill>
                <a:latin typeface="Calibri"/>
              </a:rPr>
              <a:t>Seats:           ~ 290 passengers</a:t>
            </a:r>
          </a:p>
        </p:txBody>
      </p:sp>
      <p:sp>
        <p:nvSpPr>
          <p:cNvPr id="19" name="TextBox 18"/>
          <p:cNvSpPr txBox="1"/>
          <p:nvPr/>
        </p:nvSpPr>
        <p:spPr>
          <a:xfrm>
            <a:off x="6598767" y="4709160"/>
            <a:ext cx="4754880" cy="320040"/>
          </a:xfrm>
          <a:prstGeom prst="rect">
            <a:avLst/>
          </a:prstGeom>
          <a:noFill/>
        </p:spPr>
        <p:txBody>
          <a:bodyPr wrap="square" lIns="0" rIns="0" tIns="0" bIns="0">
            <a:spAutoFit/>
          </a:bodyPr>
          <a:lstStyle/>
          <a:p>
            <a:pPr algn="l"/>
            <a:r>
              <a:rPr sz="1600" b="0" i="0">
                <a:solidFill>
                  <a:srgbClr val="0B2B4E"/>
                </a:solidFill>
                <a:latin typeface="Calibri"/>
              </a:rPr>
              <a:t>Cost / flight-hour:    ~ $9,000</a:t>
            </a:r>
          </a:p>
        </p:txBody>
      </p:sp>
      <p:sp>
        <p:nvSpPr>
          <p:cNvPr id="20" name="TextBox 19"/>
          <p:cNvSpPr txBox="1"/>
          <p:nvPr/>
        </p:nvSpPr>
        <p:spPr>
          <a:xfrm>
            <a:off x="6598767" y="5074920"/>
            <a:ext cx="4754880" cy="320040"/>
          </a:xfrm>
          <a:prstGeom prst="rect">
            <a:avLst/>
          </a:prstGeom>
          <a:noFill/>
        </p:spPr>
        <p:txBody>
          <a:bodyPr wrap="square" lIns="0" rIns="0" tIns="0" bIns="0">
            <a:spAutoFit/>
          </a:bodyPr>
          <a:lstStyle/>
          <a:p>
            <a:pPr algn="l"/>
            <a:r>
              <a:rPr sz="1600" b="0" i="0">
                <a:solidFill>
                  <a:srgbClr val="0B2B4E"/>
                </a:solidFill>
                <a:latin typeface="Calibri"/>
              </a:rPr>
              <a:t>Cost / passenger-hour:   ≈ $31</a:t>
            </a:r>
          </a:p>
        </p:txBody>
      </p:sp>
      <p:sp>
        <p:nvSpPr>
          <p:cNvPr id="21" name="Rectangle 20"/>
          <p:cNvSpPr/>
          <p:nvPr/>
        </p:nvSpPr>
        <p:spPr>
          <a:xfrm>
            <a:off x="609447" y="5897880"/>
            <a:ext cx="1097280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Bigger plane  →  similar (or lower) cost per passenger-hour:  geometry + load</a:t>
            </a:r>
          </a:p>
        </p:txBody>
      </p:sp>
      <p:sp>
        <p:nvSpPr>
          <p:cNvPr id="22" name="Rectangle 2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25" name="TextBox 24"/>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Long-Run &amp; Scale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Reasons for Diseconomies of Scale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572000"/>
          </a:xfrm>
          <a:prstGeom prst="rect">
            <a:avLst/>
          </a:prstGeom>
          <a:noFill/>
        </p:spPr>
        <p:txBody>
          <a:bodyPr wrap="square" lIns="0" rIns="0" tIns="0" bIns="0">
            <a:spAutoFit/>
          </a:bodyPr>
          <a:lstStyle>
            <a:lvl1pPr marL="342900" indent="-342900">
              <a:spcBef>
                <a:spcPts val="10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Coordination, communication, control  get harder</a:t>
            </a:r>
          </a:p>
          <a:p>
            <a:pPr algn="l" lvl="1"/>
            <a:r>
              <a:rPr>
                <a:latin typeface="Calibri"/>
              </a:rPr>
              <a:t>More layers of management between strategy and the line</a:t>
            </a:r>
          </a:p>
          <a:p>
            <a:pPr algn="l" lvl="1"/>
            <a:r>
              <a:rPr>
                <a:latin typeface="Calibri"/>
              </a:rPr>
              <a:t>Information has to travel up and down a longer chain</a:t>
            </a:r>
          </a:p>
          <a:p>
            <a:pPr algn="l"/>
            <a:r>
              <a:rPr>
                <a:latin typeface="Calibri"/>
              </a:rPr>
              <a:t>Monitoring a bigger workforce is disproportionately costly</a:t>
            </a:r>
          </a:p>
          <a:p>
            <a:pPr algn="l" lvl="1"/>
            <a:r>
              <a:rPr>
                <a:latin typeface="Calibri"/>
              </a:rPr>
              <a:t>Misaligned incentives, free-riding, principal-agent problems</a:t>
            </a:r>
          </a:p>
          <a:p>
            <a:pPr algn="l"/>
            <a:r>
              <a:rPr>
                <a:latin typeface="Calibri"/>
              </a:rPr>
              <a:t>Bureaucracy and staff functions grow super-linearly</a:t>
            </a:r>
          </a:p>
          <a:p>
            <a:pPr algn="l" lvl="1"/>
            <a:r>
              <a:rPr>
                <a:latin typeface="Calibri"/>
              </a:rPr>
              <a:t>HR, accounting, legal, compliance hire to support scale</a:t>
            </a:r>
          </a:p>
          <a:p>
            <a:pPr algn="l"/>
            <a:r>
              <a:rPr>
                <a:latin typeface="Calibri"/>
              </a:rPr>
              <a:t>Real-world signals</a:t>
            </a:r>
          </a:p>
          <a:p>
            <a:pPr algn="l" lvl="1"/>
            <a:r>
              <a:rPr>
                <a:latin typeface="Calibri"/>
              </a:rPr>
              <a:t>Boeing's recent quality issues at scale  (2024-25)</a:t>
            </a:r>
          </a:p>
          <a:p>
            <a:pPr algn="l" lvl="1"/>
            <a:r>
              <a:rPr>
                <a:latin typeface="Calibri"/>
              </a:rPr>
              <a:t>Big-tech reorgs to break ranks into smaller, accountable units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1" name="TextBox 10"/>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Long-Run &amp; Scale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Economies of Scope:  Cheaper Together than Apart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1999" y="1783080"/>
            <a:ext cx="11687697" cy="8229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Economies of scope:   producing 2+ related products together is cheaper than separately</a:t>
            </a:r>
          </a:p>
        </p:txBody>
      </p:sp>
      <p:sp>
        <p:nvSpPr>
          <p:cNvPr id="8" name="TextBox 7"/>
          <p:cNvSpPr txBox="1"/>
          <p:nvPr/>
        </p:nvSpPr>
        <p:spPr>
          <a:xfrm>
            <a:off x="251999" y="2880360"/>
            <a:ext cx="5943600" cy="2560320"/>
          </a:xfrm>
          <a:prstGeom prst="rect">
            <a:avLst/>
          </a:prstGeom>
          <a:noFill/>
        </p:spPr>
        <p:txBody>
          <a:bodyPr wrap="square" lIns="0" rIns="0" tIns="0" bIns="0">
            <a:spAutoFit/>
          </a:bodyPr>
          <a:lstStyle>
            <a:lvl1pPr marL="342900" indent="-342900">
              <a:spcBef>
                <a:spcPts val="10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r>
              <a:rPr>
                <a:latin typeface="Calibri"/>
              </a:rPr>
              <a:t>Shared input production</a:t>
            </a:r>
          </a:p>
          <a:p>
            <a:pPr algn="l"/>
            <a:r>
              <a:rPr>
                <a:latin typeface="Calibri"/>
              </a:rPr>
              <a:t>Shared engineering know-how &amp; R&amp;D</a:t>
            </a:r>
          </a:p>
          <a:p>
            <a:pPr algn="l"/>
            <a:r>
              <a:rPr>
                <a:latin typeface="Calibri"/>
              </a:rPr>
              <a:t>Shared brand, sales channel, marketing</a:t>
            </a:r>
          </a:p>
          <a:p>
            <a:pPr algn="l"/>
            <a:r>
              <a:rPr>
                <a:latin typeface="Calibri"/>
              </a:rPr>
              <a:t>Shared supply chain &amp; customer data</a:t>
            </a:r>
          </a:p>
        </p:txBody>
      </p:sp>
      <p:pic>
        <p:nvPicPr>
          <p:cNvPr id="9" name="Picture 8" descr="slide71_rId1.jpg"/>
          <p:cNvPicPr>
            <a:picLocks noChangeAspect="1"/>
          </p:cNvPicPr>
          <p:nvPr/>
        </p:nvPicPr>
        <p:blipFill>
          <a:blip r:embed="rId2"/>
          <a:stretch>
            <a:fillRect/>
          </a:stretch>
        </p:blipFill>
        <p:spPr>
          <a:xfrm>
            <a:off x="6858000" y="2880360"/>
            <a:ext cx="5029200" cy="2995517"/>
          </a:xfrm>
          <a:prstGeom prst="rect">
            <a:avLst/>
          </a:prstGeom>
          <a:effectLst>
            <a:outerShdw blurRad="50800" dist="38100" dir="2700000" algn="tl" rotWithShape="0">
              <a:srgbClr val="000000">
                <a:alpha val="45000"/>
              </a:srgbClr>
            </a:outerShdw>
          </a:effectLst>
        </p:spPr>
      </p:pic>
      <p:sp>
        <p:nvSpPr>
          <p:cNvPr id="10" name="TextBox 9"/>
          <p:cNvSpPr txBox="1"/>
          <p:nvPr/>
        </p:nvSpPr>
        <p:spPr>
          <a:xfrm>
            <a:off x="6858000" y="5349240"/>
            <a:ext cx="5029200" cy="228600"/>
          </a:xfrm>
          <a:prstGeom prst="rect">
            <a:avLst/>
          </a:prstGeom>
          <a:noFill/>
        </p:spPr>
        <p:txBody>
          <a:bodyPr wrap="square" lIns="0" rIns="0" tIns="0" bIns="0">
            <a:spAutoFit/>
          </a:bodyPr>
          <a:lstStyle/>
          <a:p>
            <a:pPr algn="ctr"/>
            <a:r>
              <a:rPr sz="1100" b="0" i="1">
                <a:solidFill>
                  <a:srgbClr val="555B66"/>
                </a:solidFill>
                <a:latin typeface="Calibri"/>
              </a:rPr>
              <a:t>British Airways A380 + A318  (CC BY-SA, Wikimedia)</a:t>
            </a:r>
          </a:p>
        </p:txBody>
      </p:sp>
      <p:sp>
        <p:nvSpPr>
          <p:cNvPr id="11" name="TextBox 10"/>
          <p:cNvSpPr txBox="1"/>
          <p:nvPr/>
        </p:nvSpPr>
        <p:spPr>
          <a:xfrm>
            <a:off x="6858000" y="2743200"/>
            <a:ext cx="5029200" cy="228600"/>
          </a:xfrm>
          <a:prstGeom prst="rect">
            <a:avLst/>
          </a:prstGeom>
          <a:noFill/>
        </p:spPr>
        <p:txBody>
          <a:bodyPr wrap="square" lIns="0" rIns="0" tIns="0" bIns="0">
            <a:spAutoFit/>
          </a:bodyPr>
          <a:lstStyle/>
          <a:p>
            <a:pPr algn="ctr"/>
            <a:r>
              <a:rPr sz="1200" b="0" i="1">
                <a:solidFill>
                  <a:srgbClr val="0B2B4E"/>
                </a:solidFill>
                <a:latin typeface="Calibri"/>
              </a:rPr>
              <a:t>Example: Airbus's A380 and A318 share engineering, supply chain, brand</a:t>
            </a:r>
          </a:p>
        </p:txBody>
      </p:sp>
      <p:sp>
        <p:nvSpPr>
          <p:cNvPr id="12" name="Rectangle 11"/>
          <p:cNvSpPr/>
          <p:nvPr/>
        </p:nvSpPr>
        <p:spPr>
          <a:xfrm>
            <a:off x="838047" y="5943600"/>
            <a:ext cx="1051560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Scope ≠ scale:  one firm, MANY products  →  cheaper than splitting them up</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6" name="TextBox 15"/>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Long-Run &amp; Scale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Amazon:  Economies of Scale,  Scope,  or Both?</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783080"/>
            <a:ext cx="11687697" cy="502920"/>
          </a:xfrm>
          <a:prstGeom prst="rect">
            <a:avLst/>
          </a:prstGeom>
          <a:noFill/>
        </p:spPr>
        <p:txBody>
          <a:bodyPr wrap="square" lIns="0" rIns="0" tIns="0" bIns="0">
            <a:spAutoFit/>
          </a:bodyPr>
          <a:lstStyle/>
          <a:p>
            <a:pPr algn="ctr"/>
            <a:r>
              <a:rPr sz="2200" b="1" i="1">
                <a:solidFill>
                  <a:srgbClr val="0B2B4E"/>
                </a:solidFill>
                <a:latin typeface="Calibri"/>
              </a:rPr>
              <a:t>Amazon is the textbook case for BOTH at once  —  where exactly?</a:t>
            </a:r>
          </a:p>
        </p:txBody>
      </p:sp>
      <p:sp>
        <p:nvSpPr>
          <p:cNvPr id="8" name="Rectangle 7"/>
          <p:cNvSpPr/>
          <p:nvPr/>
        </p:nvSpPr>
        <p:spPr>
          <a:xfrm>
            <a:off x="472287" y="2468880"/>
            <a:ext cx="5486400" cy="68580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Economies of SCALE</a:t>
            </a:r>
          </a:p>
        </p:txBody>
      </p:sp>
      <p:sp>
        <p:nvSpPr>
          <p:cNvPr id="9" name="Rectangle 8"/>
          <p:cNvSpPr/>
          <p:nvPr/>
        </p:nvSpPr>
        <p:spPr>
          <a:xfrm>
            <a:off x="6233007" y="2468880"/>
            <a:ext cx="5486400" cy="68580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Economies of SCOPE</a:t>
            </a:r>
          </a:p>
        </p:txBody>
      </p:sp>
      <p:sp>
        <p:nvSpPr>
          <p:cNvPr id="10" name="TextBox 9"/>
          <p:cNvSpPr txBox="1"/>
          <p:nvPr/>
        </p:nvSpPr>
        <p:spPr>
          <a:xfrm>
            <a:off x="655167" y="3383280"/>
            <a:ext cx="5120640" cy="457200"/>
          </a:xfrm>
          <a:prstGeom prst="rect">
            <a:avLst/>
          </a:prstGeom>
          <a:noFill/>
        </p:spPr>
        <p:txBody>
          <a:bodyPr wrap="square" lIns="0" rIns="0" tIns="0" bIns="0">
            <a:spAutoFit/>
          </a:bodyPr>
          <a:lstStyle/>
          <a:p>
            <a:pPr algn="l"/>
            <a:r>
              <a:rPr sz="1700" b="0" i="0">
                <a:solidFill>
                  <a:srgbClr val="0B2B4E"/>
                </a:solidFill>
                <a:latin typeface="Calibri"/>
              </a:rPr>
              <a:t>•  AWS — massive data-center fixed costs spread</a:t>
            </a:r>
          </a:p>
        </p:txBody>
      </p:sp>
      <p:sp>
        <p:nvSpPr>
          <p:cNvPr id="11" name="TextBox 10"/>
          <p:cNvSpPr txBox="1"/>
          <p:nvPr/>
        </p:nvSpPr>
        <p:spPr>
          <a:xfrm>
            <a:off x="6415887" y="3383280"/>
            <a:ext cx="5120640" cy="457200"/>
          </a:xfrm>
          <a:prstGeom prst="rect">
            <a:avLst/>
          </a:prstGeom>
          <a:noFill/>
        </p:spPr>
        <p:txBody>
          <a:bodyPr wrap="square" lIns="0" rIns="0" tIns="0" bIns="0">
            <a:spAutoFit/>
          </a:bodyPr>
          <a:lstStyle/>
          <a:p>
            <a:pPr algn="l"/>
            <a:r>
              <a:rPr sz="1700" b="0" i="0">
                <a:solidFill>
                  <a:srgbClr val="0B2B4E"/>
                </a:solidFill>
                <a:latin typeface="Calibri"/>
              </a:rPr>
              <a:t>•  Prime  =  shipping + video + music + grocery</a:t>
            </a:r>
          </a:p>
        </p:txBody>
      </p:sp>
      <p:sp>
        <p:nvSpPr>
          <p:cNvPr id="12" name="TextBox 11"/>
          <p:cNvSpPr txBox="1"/>
          <p:nvPr/>
        </p:nvSpPr>
        <p:spPr>
          <a:xfrm>
            <a:off x="655167" y="3886200"/>
            <a:ext cx="5120640" cy="457200"/>
          </a:xfrm>
          <a:prstGeom prst="rect">
            <a:avLst/>
          </a:prstGeom>
          <a:noFill/>
        </p:spPr>
        <p:txBody>
          <a:bodyPr wrap="square" lIns="0" rIns="0" tIns="0" bIns="0">
            <a:spAutoFit/>
          </a:bodyPr>
          <a:lstStyle/>
          <a:p>
            <a:pPr algn="l"/>
            <a:r>
              <a:rPr sz="1700" b="0" i="0">
                <a:solidFill>
                  <a:srgbClr val="0B2B4E"/>
                </a:solidFill>
                <a:latin typeface="Calibri"/>
              </a:rPr>
              <a:t>•  Fulfilment network density (FBA)</a:t>
            </a:r>
          </a:p>
        </p:txBody>
      </p:sp>
      <p:sp>
        <p:nvSpPr>
          <p:cNvPr id="13" name="TextBox 12"/>
          <p:cNvSpPr txBox="1"/>
          <p:nvPr/>
        </p:nvSpPr>
        <p:spPr>
          <a:xfrm>
            <a:off x="6415887" y="3886200"/>
            <a:ext cx="5120640" cy="457200"/>
          </a:xfrm>
          <a:prstGeom prst="rect">
            <a:avLst/>
          </a:prstGeom>
          <a:noFill/>
        </p:spPr>
        <p:txBody>
          <a:bodyPr wrap="square" lIns="0" rIns="0" tIns="0" bIns="0">
            <a:spAutoFit/>
          </a:bodyPr>
          <a:lstStyle/>
          <a:p>
            <a:pPr algn="l"/>
            <a:r>
              <a:rPr sz="1700" b="0" i="0">
                <a:solidFill>
                  <a:srgbClr val="0B2B4E"/>
                </a:solidFill>
                <a:latin typeface="Calibri"/>
              </a:rPr>
              <a:t>•  Customer data shared across retail/ads/AWS</a:t>
            </a:r>
          </a:p>
        </p:txBody>
      </p:sp>
      <p:sp>
        <p:nvSpPr>
          <p:cNvPr id="14" name="TextBox 13"/>
          <p:cNvSpPr txBox="1"/>
          <p:nvPr/>
        </p:nvSpPr>
        <p:spPr>
          <a:xfrm>
            <a:off x="655167" y="4389120"/>
            <a:ext cx="5120640" cy="457200"/>
          </a:xfrm>
          <a:prstGeom prst="rect">
            <a:avLst/>
          </a:prstGeom>
          <a:noFill/>
        </p:spPr>
        <p:txBody>
          <a:bodyPr wrap="square" lIns="0" rIns="0" tIns="0" bIns="0">
            <a:spAutoFit/>
          </a:bodyPr>
          <a:lstStyle/>
          <a:p>
            <a:pPr algn="l"/>
            <a:r>
              <a:rPr sz="1700" b="0" i="0">
                <a:solidFill>
                  <a:srgbClr val="0B2B4E"/>
                </a:solidFill>
                <a:latin typeface="Calibri"/>
              </a:rPr>
              <a:t>•  Bargaining power with suppliers</a:t>
            </a:r>
          </a:p>
        </p:txBody>
      </p:sp>
      <p:sp>
        <p:nvSpPr>
          <p:cNvPr id="15" name="TextBox 14"/>
          <p:cNvSpPr txBox="1"/>
          <p:nvPr/>
        </p:nvSpPr>
        <p:spPr>
          <a:xfrm>
            <a:off x="6415887" y="4389120"/>
            <a:ext cx="5120640" cy="457200"/>
          </a:xfrm>
          <a:prstGeom prst="rect">
            <a:avLst/>
          </a:prstGeom>
          <a:noFill/>
        </p:spPr>
        <p:txBody>
          <a:bodyPr wrap="square" lIns="0" rIns="0" tIns="0" bIns="0">
            <a:spAutoFit/>
          </a:bodyPr>
          <a:lstStyle/>
          <a:p>
            <a:pPr algn="l"/>
            <a:r>
              <a:rPr sz="1700" b="0" i="0">
                <a:solidFill>
                  <a:srgbClr val="0B2B4E"/>
                </a:solidFill>
                <a:latin typeface="Calibri"/>
              </a:rPr>
              <a:t>•  Devices (Alexa, Kindle) lever the brand</a:t>
            </a:r>
          </a:p>
        </p:txBody>
      </p:sp>
      <p:sp>
        <p:nvSpPr>
          <p:cNvPr id="16" name="Rectangle 15"/>
          <p:cNvSpPr/>
          <p:nvPr/>
        </p:nvSpPr>
        <p:spPr>
          <a:xfrm>
            <a:off x="7367696" y="5715000"/>
            <a:ext cx="4572000" cy="658368"/>
          </a:xfrm>
          <a:custGeom>
            <a:avLst/>
            <a:gdLst/>
            <a:ahLst/>
            <a:cxnLst/>
            <a:rect l="14400" t="0" r="85600" b="100000"/>
            <a:pathLst>
              <a:path w="100000" h="100000">
                <a:moveTo>
                  <a:pt x="19400" y="0"/>
                </a:moveTo>
                <a:lnTo>
                  <a:pt x="95000" y="0"/>
                </a:lnTo>
                <a:cubicBezTo>
                  <a:pt x="100000" y="0"/>
                  <a:pt x="100000" y="0"/>
                  <a:pt x="99280" y="5000"/>
                </a:cubicBezTo>
                <a:lnTo>
                  <a:pt x="86320" y="95000"/>
                </a:lnTo>
                <a:cubicBezTo>
                  <a:pt x="85600" y="100000"/>
                  <a:pt x="85600" y="100000"/>
                  <a:pt x="80600" y="100000"/>
                </a:cubicBezTo>
                <a:lnTo>
                  <a:pt x="5000" y="100000"/>
                </a:lnTo>
                <a:cubicBezTo>
                  <a:pt x="0" y="100000"/>
                  <a:pt x="0" y="100000"/>
                  <a:pt x="720" y="95000"/>
                </a:cubicBezTo>
                <a:lnTo>
                  <a:pt x="13680" y="5000"/>
                </a:lnTo>
                <a:cubicBezTo>
                  <a:pt x="14400" y="0"/>
                  <a:pt x="14400" y="0"/>
                  <a:pt x="194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26064" y="5715000"/>
            <a:ext cx="3255264" cy="658368"/>
          </a:xfrm>
          <a:prstGeom prst="rect">
            <a:avLst/>
          </a:prstGeom>
          <a:noFill/>
        </p:spPr>
        <p:txBody>
          <a:bodyPr wrap="none" anchor="ctr" lIns="45720" rIns="45720" tIns="18288" bIns="18288">
            <a:spAutoFit/>
          </a:bodyPr>
          <a:lstStyle/>
          <a:p>
            <a:pPr algn="ctr"/>
            <a:r>
              <a:rPr sz="2800" b="1">
                <a:solidFill>
                  <a:srgbClr val="0B2B4E"/>
                </a:solidFill>
                <a:latin typeface="Calibri"/>
              </a:rPr>
              <a:t>Discussion Break</a:t>
            </a:r>
          </a:p>
        </p:txBody>
      </p:sp>
      <p:sp>
        <p:nvSpPr>
          <p:cNvPr id="18" name="Rectangle 1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21" name="TextBox 20"/>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Long-Run &amp; Scale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Mini-Case:  Shark Tank Pitch — Group Discussion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783080"/>
            <a:ext cx="11687697" cy="457200"/>
          </a:xfrm>
          <a:prstGeom prst="rect">
            <a:avLst/>
          </a:prstGeom>
          <a:noFill/>
        </p:spPr>
        <p:txBody>
          <a:bodyPr wrap="square" lIns="0" rIns="0" tIns="0" bIns="0">
            <a:spAutoFit/>
          </a:bodyPr>
          <a:lstStyle/>
          <a:p>
            <a:pPr algn="ctr"/>
            <a:r>
              <a:rPr sz="2000" b="1" i="1">
                <a:solidFill>
                  <a:srgbClr val="0B2B4E"/>
                </a:solidFill>
                <a:latin typeface="Calibri"/>
              </a:rPr>
              <a:t>Watch first:   vimeo.com/236977187   (focus 4:50 – 5:40)</a:t>
            </a:r>
          </a:p>
        </p:txBody>
      </p:sp>
      <p:sp>
        <p:nvSpPr>
          <p:cNvPr id="8" name="Rectangle 7"/>
          <p:cNvSpPr/>
          <p:nvPr/>
        </p:nvSpPr>
        <p:spPr>
          <a:xfrm>
            <a:off x="472287" y="2560320"/>
            <a:ext cx="5486400" cy="1828800"/>
          </a:xfrm>
          <a:prstGeom prst="rect">
            <a:avLst/>
          </a:prstGeom>
          <a:solidFill>
            <a:srgbClr val="FFFFFF"/>
          </a:solidFill>
          <a:ln w="254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PollEV  ·  Q1
Are there economies of scale
in this business?</a:t>
            </a:r>
          </a:p>
        </p:txBody>
      </p:sp>
      <p:sp>
        <p:nvSpPr>
          <p:cNvPr id="9" name="Rectangle 8"/>
          <p:cNvSpPr/>
          <p:nvPr/>
        </p:nvSpPr>
        <p:spPr>
          <a:xfrm>
            <a:off x="6233007" y="2560320"/>
            <a:ext cx="5486400" cy="1828800"/>
          </a:xfrm>
          <a:prstGeom prst="rect">
            <a:avLst/>
          </a:prstGeom>
          <a:solidFill>
            <a:srgbClr val="FFFFFF"/>
          </a:solidFill>
          <a:ln w="254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PollEV  ·  Q2
Which deal would you choose?
$100K, royalty 25¢/can   vs.   $75K, 15% equity</a:t>
            </a:r>
          </a:p>
        </p:txBody>
      </p:sp>
      <p:sp>
        <p:nvSpPr>
          <p:cNvPr id="10" name="TextBox 9"/>
          <p:cNvSpPr txBox="1"/>
          <p:nvPr/>
        </p:nvSpPr>
        <p:spPr>
          <a:xfrm>
            <a:off x="251999" y="4663440"/>
            <a:ext cx="11687697" cy="457200"/>
          </a:xfrm>
          <a:prstGeom prst="rect">
            <a:avLst/>
          </a:prstGeom>
          <a:noFill/>
        </p:spPr>
        <p:txBody>
          <a:bodyPr wrap="square" lIns="0" rIns="0" tIns="0" bIns="0">
            <a:spAutoFit/>
          </a:bodyPr>
          <a:lstStyle/>
          <a:p>
            <a:pPr algn="ctr"/>
            <a:r>
              <a:rPr sz="1800" b="0" i="1">
                <a:solidFill>
                  <a:srgbClr val="555B66"/>
                </a:solidFill>
                <a:latin typeface="Calibri"/>
              </a:rPr>
              <a:t>Look for:  volume last year vs. this year,  and average cost per can</a:t>
            </a:r>
          </a:p>
        </p:txBody>
      </p:sp>
      <p:sp>
        <p:nvSpPr>
          <p:cNvPr id="11" name="TextBox 10"/>
          <p:cNvSpPr txBox="1"/>
          <p:nvPr/>
        </p:nvSpPr>
        <p:spPr>
          <a:xfrm>
            <a:off x="251999" y="5074920"/>
            <a:ext cx="11687697" cy="457200"/>
          </a:xfrm>
          <a:prstGeom prst="rect">
            <a:avLst/>
          </a:prstGeom>
          <a:noFill/>
        </p:spPr>
        <p:txBody>
          <a:bodyPr wrap="square" lIns="0" rIns="0" tIns="0" bIns="0">
            <a:spAutoFit/>
          </a:bodyPr>
          <a:lstStyle/>
          <a:p>
            <a:pPr algn="ctr"/>
            <a:r>
              <a:rPr sz="1800" b="0" i="1">
                <a:solidFill>
                  <a:srgbClr val="555B66"/>
                </a:solidFill>
                <a:latin typeface="Calibri"/>
              </a:rPr>
              <a:t>Then estimate profit per can to compare the two deals on an apples-to-apples basis</a:t>
            </a:r>
          </a:p>
        </p:txBody>
      </p:sp>
      <p:sp>
        <p:nvSpPr>
          <p:cNvPr id="12" name="Rectangle 11"/>
          <p:cNvSpPr/>
          <p:nvPr/>
        </p:nvSpPr>
        <p:spPr>
          <a:xfrm>
            <a:off x="7367696" y="5715000"/>
            <a:ext cx="4572000" cy="658368"/>
          </a:xfrm>
          <a:custGeom>
            <a:avLst/>
            <a:gdLst/>
            <a:ahLst/>
            <a:cxnLst/>
            <a:rect l="14400" t="0" r="85600" b="100000"/>
            <a:pathLst>
              <a:path w="100000" h="100000">
                <a:moveTo>
                  <a:pt x="19400" y="0"/>
                </a:moveTo>
                <a:lnTo>
                  <a:pt x="95000" y="0"/>
                </a:lnTo>
                <a:cubicBezTo>
                  <a:pt x="100000" y="0"/>
                  <a:pt x="100000" y="0"/>
                  <a:pt x="99280" y="5000"/>
                </a:cubicBezTo>
                <a:lnTo>
                  <a:pt x="86320" y="95000"/>
                </a:lnTo>
                <a:cubicBezTo>
                  <a:pt x="85600" y="100000"/>
                  <a:pt x="85600" y="100000"/>
                  <a:pt x="80600" y="100000"/>
                </a:cubicBezTo>
                <a:lnTo>
                  <a:pt x="5000" y="100000"/>
                </a:lnTo>
                <a:cubicBezTo>
                  <a:pt x="0" y="100000"/>
                  <a:pt x="0" y="100000"/>
                  <a:pt x="720" y="95000"/>
                </a:cubicBezTo>
                <a:lnTo>
                  <a:pt x="13680" y="5000"/>
                </a:lnTo>
                <a:cubicBezTo>
                  <a:pt x="14400" y="0"/>
                  <a:pt x="14400" y="0"/>
                  <a:pt x="194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26064" y="5715000"/>
            <a:ext cx="3255264" cy="658368"/>
          </a:xfrm>
          <a:prstGeom prst="rect">
            <a:avLst/>
          </a:prstGeom>
          <a:noFill/>
        </p:spPr>
        <p:txBody>
          <a:bodyPr wrap="none" anchor="ctr" lIns="45720" rIns="45720" tIns="18288" bIns="18288">
            <a:spAutoFit/>
          </a:bodyPr>
          <a:lstStyle/>
          <a:p>
            <a:pPr algn="ctr"/>
            <a:r>
              <a:rPr sz="2800" b="1">
                <a:solidFill>
                  <a:srgbClr val="0B2B4E"/>
                </a:solidFill>
                <a:latin typeface="Calibri"/>
              </a:rPr>
              <a:t>Discussion Break</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17" name="TextBox 16"/>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a:solidFill>
                  <a:srgbClr val="FFFFFF"/>
                </a:solidFill>
                <a:latin typeface="Calibri"/>
              </a:rPr>
              <a:t>Module 3 · Costs · Long-Run &amp; Scale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a:solidFill>
                  <a:srgbClr val="0B2B4E"/>
                </a:solidFill>
                <a:latin typeface="Calibri"/>
              </a:rPr>
              <a:t>Shark Tank Solution:  Scale + Deal Comparison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2287" y="1783080"/>
            <a:ext cx="5486400" cy="64008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Volume &amp; average cost</a:t>
            </a:r>
          </a:p>
        </p:txBody>
      </p:sp>
      <p:sp>
        <p:nvSpPr>
          <p:cNvPr id="8" name="TextBox 7"/>
          <p:cNvSpPr txBox="1"/>
          <p:nvPr/>
        </p:nvSpPr>
        <p:spPr>
          <a:xfrm>
            <a:off x="655167" y="2560320"/>
            <a:ext cx="5120640" cy="320040"/>
          </a:xfrm>
          <a:prstGeom prst="rect">
            <a:avLst/>
          </a:prstGeom>
          <a:noFill/>
        </p:spPr>
        <p:txBody>
          <a:bodyPr wrap="square" lIns="0" rIns="0" tIns="0" bIns="0">
            <a:spAutoFit/>
          </a:bodyPr>
          <a:lstStyle/>
          <a:p>
            <a:pPr algn="l"/>
            <a:r>
              <a:rPr sz="1600" b="0" i="0">
                <a:solidFill>
                  <a:srgbClr val="0B2B4E"/>
                </a:solidFill>
                <a:latin typeface="Calibri"/>
              </a:rPr>
              <a:t>Sales last year:     135K cans</a:t>
            </a:r>
          </a:p>
        </p:txBody>
      </p:sp>
      <p:sp>
        <p:nvSpPr>
          <p:cNvPr id="9" name="TextBox 8"/>
          <p:cNvSpPr txBox="1"/>
          <p:nvPr/>
        </p:nvSpPr>
        <p:spPr>
          <a:xfrm>
            <a:off x="655167" y="2926080"/>
            <a:ext cx="5120640" cy="320040"/>
          </a:xfrm>
          <a:prstGeom prst="rect">
            <a:avLst/>
          </a:prstGeom>
          <a:noFill/>
        </p:spPr>
        <p:txBody>
          <a:bodyPr wrap="square" lIns="0" rIns="0" tIns="0" bIns="0">
            <a:spAutoFit/>
          </a:bodyPr>
          <a:lstStyle/>
          <a:p>
            <a:pPr algn="l"/>
            <a:r>
              <a:rPr sz="1600" b="0" i="0">
                <a:solidFill>
                  <a:srgbClr val="0B2B4E"/>
                </a:solidFill>
                <a:latin typeface="Calibri"/>
              </a:rPr>
              <a:t>Sales this year:    300K cans   ↑</a:t>
            </a:r>
          </a:p>
        </p:txBody>
      </p:sp>
      <p:sp>
        <p:nvSpPr>
          <p:cNvPr id="10" name="TextBox 9"/>
          <p:cNvSpPr txBox="1"/>
          <p:nvPr/>
        </p:nvSpPr>
        <p:spPr>
          <a:xfrm>
            <a:off x="655167" y="3291840"/>
            <a:ext cx="5120640" cy="320040"/>
          </a:xfrm>
          <a:prstGeom prst="rect">
            <a:avLst/>
          </a:prstGeom>
          <a:noFill/>
        </p:spPr>
        <p:txBody>
          <a:bodyPr wrap="square" lIns="0" rIns="0" tIns="0" bIns="0">
            <a:spAutoFit/>
          </a:bodyPr>
          <a:lstStyle/>
          <a:p>
            <a:pPr algn="l"/>
            <a:r>
              <a:rPr sz="1600" b="0" i="0">
                <a:solidFill>
                  <a:srgbClr val="0B2B4E"/>
                </a:solidFill>
                <a:latin typeface="Calibri"/>
              </a:rPr>
              <a:t>Avg. cost last yr:   $1.30 / can</a:t>
            </a:r>
          </a:p>
        </p:txBody>
      </p:sp>
      <p:sp>
        <p:nvSpPr>
          <p:cNvPr id="11" name="TextBox 10"/>
          <p:cNvSpPr txBox="1"/>
          <p:nvPr/>
        </p:nvSpPr>
        <p:spPr>
          <a:xfrm>
            <a:off x="655167" y="3657600"/>
            <a:ext cx="5120640" cy="320040"/>
          </a:xfrm>
          <a:prstGeom prst="rect">
            <a:avLst/>
          </a:prstGeom>
          <a:noFill/>
        </p:spPr>
        <p:txBody>
          <a:bodyPr wrap="square" lIns="0" rIns="0" tIns="0" bIns="0">
            <a:spAutoFit/>
          </a:bodyPr>
          <a:lstStyle/>
          <a:p>
            <a:pPr algn="l"/>
            <a:r>
              <a:rPr sz="1600" b="0" i="0">
                <a:solidFill>
                  <a:srgbClr val="0B2B4E"/>
                </a:solidFill>
                <a:latin typeface="Calibri"/>
              </a:rPr>
              <a:t>Avg. cost this yr:   $1.10 / can   ↓</a:t>
            </a:r>
          </a:p>
        </p:txBody>
      </p:sp>
      <p:sp>
        <p:nvSpPr>
          <p:cNvPr id="12" name="TextBox 11"/>
          <p:cNvSpPr txBox="1"/>
          <p:nvPr/>
        </p:nvSpPr>
        <p:spPr>
          <a:xfrm>
            <a:off x="655167" y="4023360"/>
            <a:ext cx="5120640" cy="320040"/>
          </a:xfrm>
          <a:prstGeom prst="rect">
            <a:avLst/>
          </a:prstGeom>
          <a:noFill/>
        </p:spPr>
        <p:txBody>
          <a:bodyPr wrap="square" lIns="0" rIns="0" tIns="0" bIns="0">
            <a:spAutoFit/>
          </a:bodyPr>
          <a:lstStyle/>
          <a:p>
            <a:pPr algn="l"/>
            <a:r>
              <a:rPr sz="1600" b="1" i="0">
                <a:solidFill>
                  <a:srgbClr val="E09F3E"/>
                </a:solidFill>
                <a:latin typeface="Calibri"/>
              </a:rPr>
              <a:t>⇒  AC falls as volume rises  =  Economies of Scale</a:t>
            </a:r>
          </a:p>
        </p:txBody>
      </p:sp>
      <p:sp>
        <p:nvSpPr>
          <p:cNvPr id="13" name="Rectangle 12"/>
          <p:cNvSpPr/>
          <p:nvPr/>
        </p:nvSpPr>
        <p:spPr>
          <a:xfrm>
            <a:off x="6233007" y="1783080"/>
            <a:ext cx="5486400" cy="64008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Deals on a per-can basis</a:t>
            </a:r>
          </a:p>
        </p:txBody>
      </p:sp>
      <p:sp>
        <p:nvSpPr>
          <p:cNvPr id="14" name="TextBox 13"/>
          <p:cNvSpPr txBox="1"/>
          <p:nvPr/>
        </p:nvSpPr>
        <p:spPr>
          <a:xfrm>
            <a:off x="6415887" y="2560320"/>
            <a:ext cx="5120640" cy="320040"/>
          </a:xfrm>
          <a:prstGeom prst="rect">
            <a:avLst/>
          </a:prstGeom>
          <a:noFill/>
        </p:spPr>
        <p:txBody>
          <a:bodyPr wrap="square" lIns="0" rIns="0" tIns="0" bIns="0">
            <a:spAutoFit/>
          </a:bodyPr>
          <a:lstStyle/>
          <a:p>
            <a:pPr algn="l"/>
            <a:r>
              <a:rPr sz="1600" b="0" i="0">
                <a:solidFill>
                  <a:srgbClr val="0B2B4E"/>
                </a:solidFill>
                <a:latin typeface="Calibri"/>
              </a:rPr>
              <a:t>Wholesale price:    $2.69 / can</a:t>
            </a:r>
          </a:p>
        </p:txBody>
      </p:sp>
      <p:sp>
        <p:nvSpPr>
          <p:cNvPr id="15" name="TextBox 14"/>
          <p:cNvSpPr txBox="1"/>
          <p:nvPr/>
        </p:nvSpPr>
        <p:spPr>
          <a:xfrm>
            <a:off x="6415887" y="2926080"/>
            <a:ext cx="5120640" cy="320040"/>
          </a:xfrm>
          <a:prstGeom prst="rect">
            <a:avLst/>
          </a:prstGeom>
          <a:noFill/>
        </p:spPr>
        <p:txBody>
          <a:bodyPr wrap="square" lIns="0" rIns="0" tIns="0" bIns="0">
            <a:spAutoFit/>
          </a:bodyPr>
          <a:lstStyle/>
          <a:p>
            <a:pPr algn="l"/>
            <a:r>
              <a:rPr sz="1600" b="0" i="0">
                <a:solidFill>
                  <a:srgbClr val="0B2B4E"/>
                </a:solidFill>
                <a:latin typeface="Calibri"/>
              </a:rPr>
              <a:t>Profit per can:     $2.69 − $1.10  ≈  $1.50</a:t>
            </a:r>
          </a:p>
        </p:txBody>
      </p:sp>
      <p:sp>
        <p:nvSpPr>
          <p:cNvPr id="16" name="TextBox 15"/>
          <p:cNvSpPr txBox="1"/>
          <p:nvPr/>
        </p:nvSpPr>
        <p:spPr>
          <a:xfrm>
            <a:off x="6415887" y="3291840"/>
            <a:ext cx="5120640" cy="320040"/>
          </a:xfrm>
          <a:prstGeom prst="rect">
            <a:avLst/>
          </a:prstGeom>
          <a:noFill/>
        </p:spPr>
        <p:txBody>
          <a:bodyPr wrap="square" lIns="0" rIns="0" tIns="0" bIns="0">
            <a:spAutoFit/>
          </a:bodyPr>
          <a:lstStyle/>
          <a:p>
            <a:pPr algn="l"/>
            <a:r>
              <a:rPr sz="1600" b="0" i="0">
                <a:solidFill>
                  <a:srgbClr val="0B2B4E"/>
                </a:solidFill>
                <a:latin typeface="Calibri"/>
              </a:rPr>
              <a:t>Deal A:  25¢ royalty / can  =  16.6% of profit</a:t>
            </a:r>
          </a:p>
        </p:txBody>
      </p:sp>
      <p:sp>
        <p:nvSpPr>
          <p:cNvPr id="17" name="TextBox 16"/>
          <p:cNvSpPr txBox="1"/>
          <p:nvPr/>
        </p:nvSpPr>
        <p:spPr>
          <a:xfrm>
            <a:off x="6415887" y="3657600"/>
            <a:ext cx="5120640" cy="320040"/>
          </a:xfrm>
          <a:prstGeom prst="rect">
            <a:avLst/>
          </a:prstGeom>
          <a:noFill/>
        </p:spPr>
        <p:txBody>
          <a:bodyPr wrap="square" lIns="0" rIns="0" tIns="0" bIns="0">
            <a:spAutoFit/>
          </a:bodyPr>
          <a:lstStyle/>
          <a:p>
            <a:pPr algn="l"/>
            <a:r>
              <a:rPr sz="1600" b="0" i="0">
                <a:solidFill>
                  <a:srgbClr val="0B2B4E"/>
                </a:solidFill>
                <a:latin typeface="Calibri"/>
              </a:rPr>
              <a:t>Deal B:  15% equity</a:t>
            </a:r>
          </a:p>
        </p:txBody>
      </p:sp>
      <p:sp>
        <p:nvSpPr>
          <p:cNvPr id="18" name="TextBox 17"/>
          <p:cNvSpPr txBox="1"/>
          <p:nvPr/>
        </p:nvSpPr>
        <p:spPr>
          <a:xfrm>
            <a:off x="6415887" y="4023360"/>
            <a:ext cx="5120640" cy="320040"/>
          </a:xfrm>
          <a:prstGeom prst="rect">
            <a:avLst/>
          </a:prstGeom>
          <a:noFill/>
        </p:spPr>
        <p:txBody>
          <a:bodyPr wrap="square" lIns="0" rIns="0" tIns="0" bIns="0">
            <a:spAutoFit/>
          </a:bodyPr>
          <a:lstStyle/>
          <a:p>
            <a:pPr algn="l"/>
            <a:r>
              <a:rPr sz="1600" b="1" i="0">
                <a:solidFill>
                  <a:srgbClr val="E09F3E"/>
                </a:solidFill>
                <a:latin typeface="Calibri"/>
              </a:rPr>
              <a:t>⇒  Very similar in expected NPV terms</a:t>
            </a:r>
          </a:p>
        </p:txBody>
      </p:sp>
      <p:sp>
        <p:nvSpPr>
          <p:cNvPr id="19" name="Rectangle 18"/>
          <p:cNvSpPr/>
          <p:nvPr/>
        </p:nvSpPr>
        <p:spPr>
          <a:xfrm>
            <a:off x="380847" y="5897880"/>
            <a:ext cx="1143000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EoS is real here.  Royalty and equity deals look similar  —  pick based on control &amp; risk</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23" name="TextBox 22"/>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1999" y="2468880"/>
            <a:ext cx="11687697" cy="1828800"/>
          </a:xfrm>
          <a:prstGeom prst="rect">
            <a:avLst/>
          </a:prstGeom>
          <a:noFill/>
        </p:spPr>
        <p:txBody>
          <a:bodyPr wrap="square" lIns="0" rIns="0" tIns="0" bIns="0">
            <a:spAutoFit/>
          </a:bodyPr>
          <a:lstStyle/>
          <a:p>
            <a:pPr algn="ctr"/>
            <a:r>
              <a:rPr sz="14000" b="1" i="0">
                <a:solidFill>
                  <a:srgbClr val="0B2B4E"/>
                </a:solidFill>
                <a:latin typeface="Calibri"/>
              </a:rPr>
              <a:t>BACKUP</a:t>
            </a:r>
          </a:p>
        </p:txBody>
      </p:sp>
      <p:sp>
        <p:nvSpPr>
          <p:cNvPr id="3" name="Rectangle 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1999" y="6583680"/>
            <a:ext cx="10058400" cy="292608"/>
          </a:xfrm>
          <a:prstGeom prst="rect">
            <a:avLst/>
          </a:prstGeom>
          <a:noFill/>
        </p:spPr>
        <p:txBody>
          <a:bodyPr wrap="square" lIns="0" rIns="0" tIns="0" bIns="0">
            <a:spAutoFit/>
          </a:bodyPr>
          <a:lstStyle/>
          <a:p>
            <a:pPr algn="l"/>
            <a:r>
              <a:rPr sz="1200" b="0" i="0">
                <a:solidFill>
                  <a:srgbClr val="555B66"/>
                </a:solidFill>
                <a:latin typeface="Calibri"/>
              </a:rPr>
              <a:t>Management 405  ·  Module 3  ·  Production and Costs</a:t>
            </a:r>
          </a:p>
        </p:txBody>
      </p:sp>
      <p:sp>
        <p:nvSpPr>
          <p:cNvPr id="6" name="TextBox 5"/>
          <p:cNvSpPr txBox="1"/>
          <p:nvPr/>
        </p:nvSpPr>
        <p:spPr>
          <a:xfrm>
            <a:off x="11430000" y="6583680"/>
            <a:ext cx="548640" cy="292608"/>
          </a:xfrm>
          <a:prstGeom prst="rect">
            <a:avLst/>
          </a:prstGeom>
          <a:noFill/>
        </p:spPr>
        <p:txBody>
          <a:bodyPr wrap="square" lIns="0" rIns="0" tIns="0" bIns="0">
            <a:spAutoFit/>
          </a:bodyPr>
          <a:lstStyle/>
          <a:p>
            <a:pPr algn="r"/>
            <a:r>
              <a:rPr sz="1200" b="0" i="0">
                <a:solidFill>
                  <a:srgbClr val="555B66"/>
                </a:solidFill>
                <a:latin typeface="Calibri"/>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dule 3 - Rivian Plant -- Empt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281928" y="164592"/>
            <a:ext cx="5763463" cy="492861"/>
          </a:xfrm>
          <a:prstGeom prst="rect">
            <a:avLst/>
          </a:prstGeom>
          <a:solidFill>
            <a:srgbClr val="EEECE1"/>
          </a:solidFill>
        </p:spPr>
        <p:txBody>
          <a:bodyPr wrap="square" lIns="0" rIns="0" tIns="0" bIns="0">
            <a:spAutoFit/>
          </a:bodyPr>
          <a:lstStyle/>
          <a:p>
            <a:pPr algn="l"/>
            <a:r>
              <a:rPr sz="3200" b="1" i="0">
                <a:solidFill>
                  <a:srgbClr val="0B2B4E"/>
                </a:solidFill>
                <a:latin typeface="Calibri"/>
              </a:rPr>
              <a:t>Very High MPL in the Rivian Plant</a:t>
            </a:r>
          </a:p>
        </p:txBody>
      </p:sp>
      <p:sp>
        <p:nvSpPr>
          <p:cNvPr id="4" name="BackButton">
            <a:hlinkClick r:id="rId4" action="ppaction://hlinksldjump"/>
          </p:cNvPr>
          <p:cNvSpPr/>
          <p:nvPr/>
        </p:nvSpPr>
        <p:spPr>
          <a:xfrm>
            <a:off x="10750976" y="5943600"/>
            <a:ext cx="1188720" cy="502920"/>
          </a:xfrm>
          <a:prstGeom prst="leftArrow">
            <a:avLst/>
          </a:prstGeom>
          <a:solidFill>
            <a:srgbClr val="D9D9D9"/>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800" b="1">
                <a:solidFill>
                  <a:srgbClr val="0B2B4E"/>
                </a:solidFill>
                <a:latin typeface="Calibri"/>
              </a:rPr>
              <a:t>back</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dule 3 - Rivian Plant -- Crowde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488936" y="0"/>
            <a:ext cx="4702759" cy="984808"/>
          </a:xfrm>
          <a:prstGeom prst="rect">
            <a:avLst/>
          </a:prstGeom>
          <a:solidFill>
            <a:srgbClr val="EEECE1"/>
          </a:solidFill>
        </p:spPr>
        <p:txBody>
          <a:bodyPr wrap="square" lIns="0" rIns="0" tIns="0" bIns="0">
            <a:spAutoFit/>
          </a:bodyPr>
          <a:lstStyle/>
          <a:p>
            <a:pPr algn="l"/>
            <a:r>
              <a:rPr sz="3200" b="1" i="0">
                <a:solidFill>
                  <a:srgbClr val="0B2B4E"/>
                </a:solidFill>
                <a:latin typeface="Calibri"/>
              </a:rPr>
              <a:t>Very Low (or negative) MPL in the Rivian Plant</a:t>
            </a:r>
          </a:p>
        </p:txBody>
      </p:sp>
      <p:sp>
        <p:nvSpPr>
          <p:cNvPr id="4" name="BackButton">
            <a:hlinkClick r:id="rId4" action="ppaction://hlinksldjump"/>
          </p:cNvPr>
          <p:cNvSpPr/>
          <p:nvPr/>
        </p:nvSpPr>
        <p:spPr>
          <a:xfrm>
            <a:off x="10750976" y="6190488"/>
            <a:ext cx="1188720" cy="502920"/>
          </a:xfrm>
          <a:prstGeom prst="leftArrow">
            <a:avLst/>
          </a:prstGeom>
          <a:solidFill>
            <a:srgbClr val="D9D9D9"/>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800" b="1">
                <a:solidFill>
                  <a:srgbClr val="0B2B4E"/>
                </a:solidFill>
                <a:latin typeface="Calibri"/>
              </a:rPr>
              <a:t>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